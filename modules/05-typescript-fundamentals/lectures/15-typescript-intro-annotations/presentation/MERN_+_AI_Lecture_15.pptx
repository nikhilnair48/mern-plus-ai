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A4B136-4846-4FB0-9B0B-CB4750B427A2}">
  <a:tblStyle styleId="{A0A4B136-4846-4FB0-9B0B-CB4750B427A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0f378b85_2_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f60f378b85_2_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60f378b85_2_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0f378b85_2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60f378b85_2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60f378b85_2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60f378b85_2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60f378b85_2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f60f378b85_2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0f378b85_2_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60f378b85_2_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60f378b85_2_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60f378b85_2_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60f378b85_2_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60f378b85_2_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60f378b85_2_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60f378b85_2_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60f378b85_2_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0f378b85_2_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60f378b85_2_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60f378b85_2_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0f378b85_2_1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f60f378b85_2_1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60f378b85_2_1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0f378b85_2_1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f60f378b85_2_1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https://www.typescriptlang.org/docs/handbook/typescript-from-scratch.html</a:t>
            </a:r>
            <a:br>
              <a:rPr lang="en"/>
            </a:br>
            <a:r>
              <a:rPr lang="en"/>
              <a:t>Source: https://www.typescriptlang.org/docs/handbook/typescript-in-5-minutes.html</a:t>
            </a:r>
            <a:endParaRPr/>
          </a:p>
        </p:txBody>
      </p:sp>
      <p:sp>
        <p:nvSpPr>
          <p:cNvPr id="192" name="Google Shape;192;g3f60f378b85_2_1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60f378b85_2_1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f60f378b85_2_1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60f378b85_2_1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0f378b85_2_1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f60f378b85_2_1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https://www.typescriptlang.org/docs/handbook/typescript-from-scratch.html</a:t>
            </a:r>
            <a:endParaRPr/>
          </a:p>
        </p:txBody>
      </p:sp>
      <p:sp>
        <p:nvSpPr>
          <p:cNvPr id="223" name="Google Shape;223;g3f60f378b85_2_1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60f378b85_2_1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60f378b85_2_1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https://devblogs.microsoft.com/typescript/announcing-typescript-7-0/</a:t>
            </a:r>
            <a:endParaRPr/>
          </a:p>
        </p:txBody>
      </p:sp>
      <p:sp>
        <p:nvSpPr>
          <p:cNvPr id="247" name="Google Shape;247;g3f60f378b85_2_1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0f378b85_2_2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60f378b85_2_20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https://www.typescriptlang.org/play/</a:t>
            </a:r>
            <a:br>
              <a:rPr lang="en"/>
            </a:br>
            <a:r>
              <a:rPr lang="en"/>
              <a:t>Source: https://www.typescriptlang.org/_playground-handbook/url-structure.html</a:t>
            </a:r>
            <a:br>
              <a:rPr lang="en"/>
            </a:br>
            <a:r>
              <a:rPr lang="en"/>
              <a:t>Source: https://devblogs.microsoft.com/typescript/announcing-typescript-7-0/</a:t>
            </a:r>
            <a:br>
              <a:rPr lang="en"/>
            </a:br>
            <a:r>
              <a:rPr lang="en"/>
              <a:t>Planned settings: TypeScript 7.0, strict=true, target=ES2020</a:t>
            </a:r>
            <a:endParaRPr/>
          </a:p>
        </p:txBody>
      </p:sp>
      <p:sp>
        <p:nvSpPr>
          <p:cNvPr id="264" name="Google Shape;264;g3f60f378b85_2_20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60f378b85_2_2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f60f378b85_2_2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60f378b85_2_2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0f378b85_2_2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f60f378b85_2_2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https://www.typescriptlang.org/docs/handbook/typescript-from-scratch.html</a:t>
            </a:r>
            <a:endParaRPr/>
          </a:p>
        </p:txBody>
      </p:sp>
      <p:sp>
        <p:nvSpPr>
          <p:cNvPr id="305" name="Google Shape;305;g3f60f378b85_2_2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60f378b85_2_2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f60f378b85_2_2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f60f378b85_2_2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60f378b85_2_2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f60f378b85_2_2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https://www.typescriptlang.org/docs/handbook/2/everyday-types.html</a:t>
            </a:r>
            <a:endParaRPr/>
          </a:p>
        </p:txBody>
      </p:sp>
      <p:sp>
        <p:nvSpPr>
          <p:cNvPr id="341" name="Google Shape;341;g3f60f378b85_2_2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60f378b85_2_2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f60f378b85_2_2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https://www.typescriptlang.org/docs/handbook/type-inference.html</a:t>
            </a:r>
            <a:endParaRPr/>
          </a:p>
        </p:txBody>
      </p:sp>
      <p:sp>
        <p:nvSpPr>
          <p:cNvPr id="354" name="Google Shape;354;g3f60f378b85_2_2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60f378b85_2_3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f60f378b85_2_30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https://www.typescriptlang.org/docs/handbook/2/everyday-types.html</a:t>
            </a:r>
            <a:endParaRPr/>
          </a:p>
        </p:txBody>
      </p:sp>
      <p:sp>
        <p:nvSpPr>
          <p:cNvPr id="371" name="Google Shape;371;g3f60f378b85_2_30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60f378b85_2_3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f60f378b85_2_3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60f378b85_2_3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60f378b85_2_3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f60f378b85_2_3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60f378b85_2_3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60f378b85_2_3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f60f378b85_2_3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60f378b85_2_3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60f378b85_2_3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f60f378b85_2_3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60f378b85_2_3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60f378b85_2_3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f60f378b85_2_3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f60f378b85_2_3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60f378b85_2_3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f60f378b85_2_3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https://www.typescriptlang.org/docs/handbook/type-inference.html</a:t>
            </a:r>
            <a:endParaRPr/>
          </a:p>
        </p:txBody>
      </p:sp>
      <p:sp>
        <p:nvSpPr>
          <p:cNvPr id="466" name="Google Shape;466;g3f60f378b85_2_3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0f378b85_2_4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f60f378b85_2_4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f60f378b85_2_4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60f378b85_2_4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f60f378b85_2_4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60f378b85_2_4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60f378b85_2_4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f60f378b85_2_4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https://www.typescriptlang.org/docs/handbook/2/everyday-types.html</a:t>
            </a:r>
            <a:endParaRPr/>
          </a:p>
        </p:txBody>
      </p:sp>
      <p:sp>
        <p:nvSpPr>
          <p:cNvPr id="502" name="Google Shape;502;g3f60f378b85_2_4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60f378b85_2_4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f60f378b85_2_4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f60f378b85_2_4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60f378b85_2_4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3f60f378b85_2_4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f60f378b85_2_4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60f378b85_2_4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f60f378b85_2_4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https://www.typescriptlang.org/docs/handbook/2/objects.html</a:t>
            </a:r>
            <a:endParaRPr/>
          </a:p>
        </p:txBody>
      </p:sp>
      <p:sp>
        <p:nvSpPr>
          <p:cNvPr id="550" name="Google Shape;550;g3f60f378b85_2_4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60f378b85_2_4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f60f378b85_2_4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f60f378b85_2_4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60f378b85_2_4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f60f378b85_2_4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f60f378b85_2_4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60f378b85_2_5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f60f378b85_2_5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f60f378b85_2_5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60f378b85_2_5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f60f378b85_2_5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f60f378b85_2_5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60f378b85_2_5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f60f378b85_2_5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https://www.typescriptlang.org/docs/handbook/unions-and-intersections.html</a:t>
            </a:r>
            <a:endParaRPr/>
          </a:p>
        </p:txBody>
      </p:sp>
      <p:sp>
        <p:nvSpPr>
          <p:cNvPr id="613" name="Google Shape;613;g3f60f378b85_2_5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60f378b85_2_5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f60f378b85_2_5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60f378b85_2_5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60f378b85_2_5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f60f378b85_2_5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f60f378b85_2_5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60f378b85_2_5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f60f378b85_2_5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https://www.typescriptlang.org/docs/handbook/literal-types.html</a:t>
            </a:r>
            <a:endParaRPr/>
          </a:p>
        </p:txBody>
      </p:sp>
      <p:sp>
        <p:nvSpPr>
          <p:cNvPr id="659" name="Google Shape;659;g3f60f378b85_2_5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60f378b85_2_5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f60f378b85_2_5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f60f378b85_2_5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f60f378b85_2_6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3f60f378b85_2_6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https://www.typescriptlang.org/play/typescript/language/type-widening-and-narrowing.ts.html</a:t>
            </a:r>
            <a:endParaRPr/>
          </a:p>
        </p:txBody>
      </p:sp>
      <p:sp>
        <p:nvSpPr>
          <p:cNvPr id="695" name="Google Shape;695;g3f60f378b85_2_6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f60f378b85_2_6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g3f60f378b85_2_6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f60f378b85_2_6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60f378b85_2_6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f60f378b85_2_6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f60f378b85_2_6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60f378b85_2_6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f60f378b85_2_6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f60f378b85_2_6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60f378b85_2_6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g3f60f378b85_2_6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f60f378b85_2_6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f60f378b85_2_6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f60f378b85_2_6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f60f378b85_2_6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60f378b85_2_6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g3f60f378b85_2_6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f60f378b85_2_6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f60f378b85_2_7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g3f60f378b85_2_7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3f60f378b85_2_7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f60f378b85_2_7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g3f60f378b85_2_7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f60f378b85_2_7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60f378b85_2_7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f60f378b85_2_7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f60f378b85_2_7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f60f378b85_2_7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g3f60f378b85_2_7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g3f60f378b85_2_7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60f378b85_2_7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g3f60f378b85_2_7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f60f378b85_2_7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CTURE_MASTER">
  <p:cSld name="LECTURE_MAST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685800" y="13990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1F5A92"/>
                </a:solidFill>
                <a:latin typeface="Arial"/>
                <a:ea typeface="Arial"/>
                <a:cs typeface="Arial"/>
                <a:sym typeface="Arial"/>
              </a:rPr>
              <a:t>Lecture 15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685800" y="1755648"/>
            <a:ext cx="676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TypeScript fundamentals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685800" y="2487168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Add </a:t>
            </a:r>
            <a:r>
              <a:rPr b="1" i="0" lang="en" sz="1500" u="none" cap="none" strike="noStrike">
                <a:solidFill>
                  <a:srgbClr val="5B6573"/>
                </a:solidFill>
              </a:rPr>
              <a:t>type</a:t>
            </a:r>
            <a:r>
              <a:rPr b="0" i="0" lang="en" sz="150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 information to familiar JavaScript values.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Today's agenda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713232" y="1024128"/>
            <a:ext cx="7543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1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Warm-up: recent JavaScript value flow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0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destructuring, spread and rest, modules, and async results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1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What TypeScript adds to JavaScript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0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syntax, meaning, static feedback, and runtime JavaScript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1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Basic TypeScript types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0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primitive annotations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0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inferred and explicit types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0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typed arrays and tuples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0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union and literal types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1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Practice and apply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70"/>
              <a:buFont typeface="Arial"/>
              <a:buChar char="•"/>
            </a:pPr>
            <a:r>
              <a:rPr b="0" i="0" lang="en" sz="12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Playground activity, optional type repair, and homework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>
            <a:off x="1234440" y="1984248"/>
            <a:ext cx="6675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Warm-up: JavaScript value flow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8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Which values do these bindings receive?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640080" y="914400"/>
            <a:ext cx="4754880" cy="2816352"/>
          </a:xfrm>
          <a:prstGeom prst="roundRect">
            <a:avLst>
              <a:gd fmla="val 1299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 txBox="1"/>
          <p:nvPr/>
        </p:nvSpPr>
        <p:spPr>
          <a:xfrm>
            <a:off x="768096" y="1005840"/>
            <a:ext cx="4498848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booking = {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code: "BK-204",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room: "Studio A",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labels: ["evening", "paid", "confirmed"]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0"/>
              <a:buFont typeface="Arial"/>
              <a:buNone/>
            </a:pPr>
            <a:r>
              <a:t/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{ room, code } = booking;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[firstLabel, secondLabel] = booking.labels;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5596128" y="932688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9"/>
          <p:cNvSpPr/>
          <p:nvPr/>
        </p:nvSpPr>
        <p:spPr>
          <a:xfrm>
            <a:off x="5596128" y="1353312"/>
            <a:ext cx="2788920" cy="523494"/>
          </a:xfrm>
          <a:prstGeom prst="roundRect">
            <a:avLst>
              <a:gd fmla="val 10480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9"/>
          <p:cNvSpPr txBox="1"/>
          <p:nvPr/>
        </p:nvSpPr>
        <p:spPr>
          <a:xfrm>
            <a:off x="5696712" y="1417320"/>
            <a:ext cx="2587752" cy="395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A. room is "BK-204", and firstLabel is "paid".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5596128" y="1949958"/>
            <a:ext cx="2788920" cy="523494"/>
          </a:xfrm>
          <a:prstGeom prst="roundRect">
            <a:avLst>
              <a:gd fmla="val 10480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5696712" y="2013966"/>
            <a:ext cx="2587752" cy="395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B. room is "Studio A", and firstLabel is "confirmed".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5596128" y="2546604"/>
            <a:ext cx="2788920" cy="523494"/>
          </a:xfrm>
          <a:prstGeom prst="roundRect">
            <a:avLst>
              <a:gd fmla="val 10480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5696712" y="2610612"/>
            <a:ext cx="2587752" cy="395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C. room is "Studio A", code is "BK-204", and firstLabel is "evening".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5596128" y="3143250"/>
            <a:ext cx="2788920" cy="523494"/>
          </a:xfrm>
          <a:prstGeom prst="roundRect">
            <a:avLst>
              <a:gd fmla="val 10480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5696712" y="3207258"/>
            <a:ext cx="2587752" cy="395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D. All bindings receive the complete booking object.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C.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Object destructuring matches property names. Array destructuring follows positions, so firstLabel receives position 0.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Does ... expand or collect here?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640080" y="960120"/>
            <a:ext cx="7863840" cy="1115568"/>
          </a:xfrm>
          <a:prstGeom prst="roundRect">
            <a:avLst>
              <a:gd fmla="val 3279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768096" y="1051560"/>
            <a:ext cx="7607808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baseLabels = ["onsite", "paid"];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allLabels = ["priority", ...baseLabels];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[mainLabel, ...otherLabels] = allLabels;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685800" y="222199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685800" y="2596896"/>
            <a:ext cx="3803904" cy="562356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786384" y="2660904"/>
            <a:ext cx="3602736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A. Both uses of ... collect remaining values.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4654296" y="2596896"/>
            <a:ext cx="3803904" cy="562356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4754880" y="2660904"/>
            <a:ext cx="3602736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B. Both uses of ... expand existing values.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685800" y="3268980"/>
            <a:ext cx="3803904" cy="562356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786384" y="3332988"/>
            <a:ext cx="3602736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C. mainLabel receives the complete allLabels array.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4654296" y="3268980"/>
            <a:ext cx="3803904" cy="562356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4754880" y="3332988"/>
            <a:ext cx="3602736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D. The first ... expands baseLabels; the second collects remaining values.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D.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Inside a new array, spread expands values. Inside a destructuring pattern, rest collects the remaining values.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Which import matches the export?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640080" y="914400"/>
            <a:ext cx="4736592" cy="1207008"/>
          </a:xfrm>
          <a:prstGeom prst="roundRect">
            <a:avLst>
              <a:gd fmla="val 3030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768096" y="1005840"/>
            <a:ext cx="44805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// menu-utils.js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export function formatMenuLabel(label) {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return `Menu: ${label}`;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5559552" y="914400"/>
            <a:ext cx="2944368" cy="512064"/>
          </a:xfrm>
          <a:prstGeom prst="roundRect">
            <a:avLst>
              <a:gd fmla="val 10714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5669280" y="996696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Browser module setup used in Lecture 14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5559552" y="1609344"/>
            <a:ext cx="2944368" cy="512064"/>
          </a:xfrm>
          <a:prstGeom prst="roundRect">
            <a:avLst>
              <a:gd fmla="val 1071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5669280" y="169164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function is exported by name from a relative browser module.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640080" y="2304288"/>
            <a:ext cx="7863840" cy="493776"/>
          </a:xfrm>
          <a:prstGeom prst="roundRect">
            <a:avLst>
              <a:gd fmla="val 740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768096" y="2395728"/>
            <a:ext cx="7607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89"/>
              <a:buFont typeface="Courier New"/>
              <a:buNone/>
            </a:pPr>
            <a:r>
              <a:rPr b="0" i="0" lang="en" sz="99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menuLabel = formatMenuLabel("Breakfast");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685800" y="290779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Which import correctly loads the function?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685800" y="3218688"/>
            <a:ext cx="3803904" cy="256032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86384" y="3282696"/>
            <a:ext cx="36027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35"/>
              <a:buFont typeface="Arial"/>
              <a:buNone/>
            </a:pPr>
            <a:r>
              <a:rPr b="0" i="0" lang="en" sz="935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A. import { formatMenuLabel } from "menu-utils";</a:t>
            </a:r>
            <a:endParaRPr b="0" i="0" sz="9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4654296" y="3218688"/>
            <a:ext cx="3803904" cy="256032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754880" y="3282696"/>
            <a:ext cx="36027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35"/>
              <a:buFont typeface="Arial"/>
              <a:buNone/>
            </a:pPr>
            <a:r>
              <a:rPr b="0" i="0" lang="en" sz="935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B. import formatMenuLabel from "./menu-utils.js";</a:t>
            </a:r>
            <a:endParaRPr b="0" i="0" sz="9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685800" y="3584448"/>
            <a:ext cx="3803904" cy="256032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786384" y="3648456"/>
            <a:ext cx="36027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35"/>
              <a:buFont typeface="Arial"/>
              <a:buNone/>
            </a:pPr>
            <a:r>
              <a:rPr b="0" i="0" lang="en" sz="935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C. import { formatLabel } from "./menu-utils.js";</a:t>
            </a:r>
            <a:endParaRPr b="0" i="0" sz="9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4654296" y="3584448"/>
            <a:ext cx="3803904" cy="256032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4754880" y="3648456"/>
            <a:ext cx="36027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35"/>
              <a:buFont typeface="Arial"/>
              <a:buNone/>
            </a:pPr>
            <a:r>
              <a:rPr b="0" i="0" lang="en" sz="935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D. import { formatMenuLabel } from "./menu-utils.js";</a:t>
            </a:r>
            <a:endParaRPr b="0" i="0" sz="9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D.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export is named, so the import uses braces, the exact name, and the relative .js path.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What reaches the second .then()?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640080" y="932688"/>
            <a:ext cx="4800600" cy="2816352"/>
          </a:xfrm>
          <a:prstGeom prst="roundRect">
            <a:avLst>
              <a:gd fmla="val 1299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768096" y="1024128"/>
            <a:ext cx="4544568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reserveSeat()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.then(seatNumber =&gt; {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seatNumber + 1;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})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.then(nextSeat =&gt; {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console.log(nextSeat);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5650992" y="932688"/>
            <a:ext cx="2788920" cy="502920"/>
          </a:xfrm>
          <a:prstGeom prst="roundRect">
            <a:avLst>
              <a:gd fmla="val 10909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5760720" y="1014984"/>
            <a:ext cx="2569464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reserveSeat() fulfils with 6.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5650992" y="16459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What is printed?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5650992" y="1993392"/>
            <a:ext cx="2788920" cy="340614"/>
          </a:xfrm>
          <a:prstGeom prst="roundRect">
            <a:avLst>
              <a:gd fmla="val 16107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5751576" y="2057400"/>
            <a:ext cx="258775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A. 7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5650992" y="2407158"/>
            <a:ext cx="2788920" cy="340614"/>
          </a:xfrm>
          <a:prstGeom prst="roundRect">
            <a:avLst>
              <a:gd fmla="val 16107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5751576" y="2471166"/>
            <a:ext cx="258775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B. 6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5650992" y="2820924"/>
            <a:ext cx="2788920" cy="340614"/>
          </a:xfrm>
          <a:prstGeom prst="roundRect">
            <a:avLst>
              <a:gd fmla="val 16107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5751576" y="2884932"/>
            <a:ext cx="258775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C. seatNumber + 1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5650992" y="3234690"/>
            <a:ext cx="2788920" cy="340614"/>
          </a:xfrm>
          <a:prstGeom prst="roundRect">
            <a:avLst>
              <a:gd fmla="val 16107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5751576" y="3298698"/>
            <a:ext cx="2587752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D. undefined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A.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first callback returns 7. The second callback receives that returned value as nextSeat.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Where does control go after rejection?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640080" y="877824"/>
            <a:ext cx="4956048" cy="3063240"/>
          </a:xfrm>
          <a:prstGeom prst="roundRect">
            <a:avLst>
              <a:gd fmla="val 1194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768096" y="969264"/>
            <a:ext cx="4700016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async function showDriver()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driverStatus.textContent = "Checking driver...";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try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const driver = await loadDriver();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driverStatus.textContent = `Driver: ${driver}`;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} catch (error)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driverStatus.textContent = "Driver unavailable";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showDriver();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5788152" y="932688"/>
            <a:ext cx="2651760" cy="475488"/>
          </a:xfrm>
          <a:prstGeom prst="roundRect">
            <a:avLst>
              <a:gd fmla="val 11538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5897880" y="1014984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loadDriver() rejects.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5788152" y="162763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What is the final text?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5788152" y="1993392"/>
            <a:ext cx="2651760" cy="374904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5888736" y="2057400"/>
            <a:ext cx="24505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A. Checking driver...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5788152" y="2441448"/>
            <a:ext cx="2651760" cy="374904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5888736" y="2505456"/>
            <a:ext cx="24505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B. Driver: undefined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5788152" y="2889504"/>
            <a:ext cx="2651760" cy="374904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5888736" y="2953512"/>
            <a:ext cx="24505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C. Driver unavailable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5788152" y="3337560"/>
            <a:ext cx="2651760" cy="374904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5888736" y="3401568"/>
            <a:ext cx="24505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D. The rejected Promise object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C.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rejected awaited Promise skips the remaining try statement and moves control to catch.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TypeScript starts with JavaScript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24"/>
          <p:cNvCxnSpPr/>
          <p:nvPr/>
        </p:nvCxnSpPr>
        <p:spPr>
          <a:xfrm>
            <a:off x="548640" y="813816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24"/>
          <p:cNvSpPr txBox="1"/>
          <p:nvPr/>
        </p:nvSpPr>
        <p:spPr>
          <a:xfrm>
            <a:off x="685800" y="9326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685800" y="1207008"/>
            <a:ext cx="7772400" cy="530352"/>
          </a:xfrm>
          <a:prstGeom prst="roundRect">
            <a:avLst>
              <a:gd fmla="val 689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813816" y="1298448"/>
            <a:ext cx="7516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 = "Designing for small screens";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685800" y="19019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685800" y="2176272"/>
            <a:ext cx="7772400" cy="530352"/>
          </a:xfrm>
          <a:prstGeom prst="roundRect">
            <a:avLst>
              <a:gd fmla="val 689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813816" y="2267712"/>
            <a:ext cx="7516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episodeTitle: string = "Designing for small screens";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685800" y="2944368"/>
            <a:ext cx="7772400" cy="530352"/>
          </a:xfrm>
          <a:prstGeom prst="roundRect">
            <a:avLst>
              <a:gd fmla="val 10345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795528" y="3026664"/>
            <a:ext cx="75529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adds : string after the binding name. The runtime value is still the same string.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685800" y="3694176"/>
            <a:ext cx="7772400" cy="658368"/>
          </a:xfrm>
          <a:prstGeom prst="roundRect">
            <a:avLst>
              <a:gd fmla="val 8333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795528" y="3776472"/>
            <a:ext cx="75529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is a superset of JavaScript. It contains JavaScript syntax and adds more syntax and language features.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4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Syntax describes the form; semantics describes the meaning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685800" y="950976"/>
            <a:ext cx="7772400" cy="658368"/>
          </a:xfrm>
          <a:prstGeom prst="roundRect">
            <a:avLst>
              <a:gd fmla="val 5556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813816" y="1042416"/>
            <a:ext cx="7516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episodeTitle: string = "Designing for small screens";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25"/>
          <p:cNvGraphicFramePr/>
          <p:nvPr/>
        </p:nvGraphicFramePr>
        <p:xfrm>
          <a:off x="685800" y="18653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1508750"/>
                <a:gridCol w="62636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60"/>
                        <a:buFont typeface="Arial"/>
                        <a:buNone/>
                      </a:pPr>
                      <a:r>
                        <a:rPr b="1" lang="en" sz="11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Term</a:t>
                      </a:r>
                      <a:endParaRPr sz="11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60"/>
                        <a:buFont typeface="Arial"/>
                        <a:buNone/>
                      </a:pPr>
                      <a:r>
                        <a:rPr b="1" lang="en" sz="11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 this declaration</a:t>
                      </a:r>
                      <a:endParaRPr sz="11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30"/>
                        <a:buFont typeface="Arial"/>
                        <a:buNone/>
                      </a:pPr>
                      <a:r>
                        <a:rPr lang="en" sz="113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Syntax</a:t>
                      </a:r>
                      <a:endParaRPr sz="113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30"/>
                        <a:buFont typeface="Arial"/>
                        <a:buNone/>
                      </a:pPr>
                      <a:r>
                        <a:rPr lang="en" sz="113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colon and string are written after episodeTitle.</a:t>
                      </a:r>
                      <a:endParaRPr sz="113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30"/>
                        <a:buFont typeface="Arial"/>
                        <a:buNone/>
                      </a:pPr>
                      <a:r>
                        <a:rPr lang="en" sz="113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Semantics</a:t>
                      </a:r>
                      <a:endParaRPr sz="113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30"/>
                        <a:buFont typeface="Arial"/>
                        <a:buNone/>
                      </a:pPr>
                      <a:r>
                        <a:rPr lang="en" sz="113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episodeTitle is expected to hold string values.</a:t>
                      </a:r>
                      <a:endParaRPr sz="113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25"/>
          <p:cNvSpPr/>
          <p:nvPr/>
        </p:nvSpPr>
        <p:spPr>
          <a:xfrm>
            <a:off x="685800" y="3291840"/>
            <a:ext cx="7772400" cy="530352"/>
          </a:xfrm>
          <a:prstGeom prst="roundRect">
            <a:avLst>
              <a:gd fmla="val 10345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795528" y="3374136"/>
            <a:ext cx="75529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Syntax describes how code is written. Semantics describes what the code means.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749808" y="3913632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AutoNum type="arabicPeriod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Find the familiar JavaScript.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AutoNum type="arabicPeriod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Identify the added TypeScript syntax.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AutoNum type="arabicPeriod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State what meaning or constraint it adds.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Static checking compares code with expected types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685800" y="941832"/>
            <a:ext cx="3794760" cy="603504"/>
          </a:xfrm>
          <a:prstGeom prst="roundRect">
            <a:avLst>
              <a:gd fmla="val 6061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813816" y="1033272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durationMinutes: number = 38;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4681728" y="941832"/>
            <a:ext cx="3776472" cy="603504"/>
          </a:xfrm>
          <a:prstGeom prst="roundRect">
            <a:avLst>
              <a:gd fmla="val 9091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4791456" y="1024128"/>
            <a:ext cx="35570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number records the expected type of durationMinutes.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777240" y="2011680"/>
            <a:ext cx="2148840" cy="1143000"/>
          </a:xfrm>
          <a:prstGeom prst="roundRect">
            <a:avLst>
              <a:gd fmla="val 480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896112" y="2148840"/>
            <a:ext cx="1911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source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896112" y="2487168"/>
            <a:ext cx="19110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code and type information we write.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3017520" y="2395728"/>
            <a:ext cx="310896" cy="347472"/>
          </a:xfrm>
          <a:prstGeom prst="chevron">
            <a:avLst>
              <a:gd fmla="val 50000" name="adj"/>
            </a:avLst>
          </a:prstGeom>
          <a:solidFill>
            <a:srgbClr val="1F5A92"/>
          </a:solidFill>
          <a:ln cap="flat" cmpd="sng" w="12700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3383280" y="2011680"/>
            <a:ext cx="2148840" cy="1143000"/>
          </a:xfrm>
          <a:prstGeom prst="roundRect">
            <a:avLst>
              <a:gd fmla="val 4800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3502152" y="2148840"/>
            <a:ext cx="1911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Static checking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3502152" y="2487168"/>
            <a:ext cx="19110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compares supplied values with expected types.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5623560" y="2395728"/>
            <a:ext cx="310896" cy="347472"/>
          </a:xfrm>
          <a:prstGeom prst="chevron">
            <a:avLst>
              <a:gd fmla="val 50000" name="adj"/>
            </a:avLst>
          </a:prstGeom>
          <a:solidFill>
            <a:srgbClr val="1F5A92"/>
          </a:solidFill>
          <a:ln cap="flat" cmpd="sng" w="12700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5989320" y="2011680"/>
            <a:ext cx="2148840" cy="1143000"/>
          </a:xfrm>
          <a:prstGeom prst="roundRect">
            <a:avLst>
              <a:gd fmla="val 480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6108192" y="2148840"/>
            <a:ext cx="1911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JavaScript runtime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6108192" y="2487168"/>
            <a:ext cx="19110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emitted JavaScript runs later.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777240" y="3493008"/>
            <a:ext cx="7360920" cy="749808"/>
          </a:xfrm>
          <a:prstGeom prst="roundRect">
            <a:avLst>
              <a:gd fmla="val 7317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886968" y="3575304"/>
            <a:ext cx="71414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None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Static checking can reveal incompatible assignments, wrong array element types, and values outside a permitted set before normal execution.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6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TypeScript can be used in frontend and backend code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685800" y="1024128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841248" y="12070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Future frontend work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877824" y="1581912"/>
            <a:ext cx="314553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20"/>
              <a:buFont typeface="Arial"/>
              <a:buChar char="•"/>
            </a:pPr>
            <a:r>
              <a:rPr b="0" i="0" lang="en" sz="11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React can use TypeScript for browser-interface code.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20"/>
              <a:buFont typeface="Arial"/>
              <a:buChar char="•"/>
            </a:pPr>
            <a:r>
              <a:rPr b="0" i="0" lang="en" sz="11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React and TSX begin later in the course.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4846320" y="1024128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5001768" y="12070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Future backend work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5038344" y="1581912"/>
            <a:ext cx="314553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20"/>
              <a:buFont typeface="Arial"/>
              <a:buChar char="•"/>
            </a:pPr>
            <a:r>
              <a:rPr b="0" i="0" lang="en" sz="11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Node.js projects can also use TypeScript.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20"/>
              <a:buFont typeface="Arial"/>
              <a:buChar char="•"/>
            </a:pPr>
            <a:r>
              <a:rPr b="0" i="0" lang="en" sz="11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Node.js implementation and setup begin later.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85800" y="2761488"/>
            <a:ext cx="7772400" cy="694944"/>
          </a:xfrm>
          <a:prstGeom prst="roundRect">
            <a:avLst>
              <a:gd fmla="val 7895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795528" y="2843784"/>
            <a:ext cx="75529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Shared language, separate applications. TypeScript can be used in both codebases. It does not connect the frontend and backend by itself.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685800" y="3730752"/>
            <a:ext cx="777240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795528" y="3813048"/>
            <a:ext cx="75529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Today: values, primitive annotations, inferred and explicit types, arrays, tuples, unions, and literal types. No React code, Node.js setup, or package installation.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Work in TypeScript Playground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8"/>
          <p:cNvCxnSpPr/>
          <p:nvPr/>
        </p:nvCxnSpPr>
        <p:spPr>
          <a:xfrm>
            <a:off x="548640" y="813816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8"/>
          <p:cNvSpPr/>
          <p:nvPr/>
        </p:nvSpPr>
        <p:spPr>
          <a:xfrm>
            <a:off x="685800" y="932688"/>
            <a:ext cx="7772400" cy="530352"/>
          </a:xfrm>
          <a:prstGeom prst="roundRect">
            <a:avLst>
              <a:gd fmla="val 10345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795528" y="1014984"/>
            <a:ext cx="75529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Playground lets us write and check TypeScript in the browser. No installation is required for today’s examples.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685800" y="1673352"/>
            <a:ext cx="7772400" cy="2423160"/>
          </a:xfrm>
          <a:prstGeom prst="roundRect">
            <a:avLst>
              <a:gd fmla="val 2264" name="adj"/>
            </a:avLst>
          </a:prstGeom>
          <a:solidFill>
            <a:srgbClr val="F7F9FB"/>
          </a:solidFill>
          <a:ln cap="flat" cmpd="sng" w="9525">
            <a:solidFill>
              <a:srgbClr val="B9C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850392" y="1810512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TypeScript 7.0   |   strict   |   ES2020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868680" y="2176272"/>
            <a:ext cx="4800600" cy="1298448"/>
          </a:xfrm>
          <a:prstGeom prst="roundRect">
            <a:avLst>
              <a:gd fmla="val 281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996696" y="2267712"/>
            <a:ext cx="454456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episodeTitle: string = "Designing for small screens";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console.log(episodeTitle);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5870448" y="2176272"/>
            <a:ext cx="2368296" cy="713232"/>
          </a:xfrm>
          <a:prstGeom prst="roundRect">
            <a:avLst>
              <a:gd fmla="val 7692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5980176" y="2258568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 information and diagnostics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episodeTitle: string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5870448" y="3017520"/>
            <a:ext cx="2368296" cy="713232"/>
          </a:xfrm>
          <a:prstGeom prst="roundRect">
            <a:avLst>
              <a:gd fmla="val 7692" name="adj"/>
            </a:avLst>
          </a:prstGeom>
          <a:solidFill>
            <a:srgbClr val="F5F7F9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5980176" y="3099816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JavaScript output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 annotation removed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868680" y="3639312"/>
            <a:ext cx="4800600" cy="310896"/>
          </a:xfrm>
          <a:prstGeom prst="roundRect">
            <a:avLst>
              <a:gd fmla="val 17647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978408" y="3721608"/>
            <a:ext cx="45811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Run output: Designing for small screens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Four views answer four different questions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685800" y="1005840"/>
            <a:ext cx="3840480" cy="1143000"/>
          </a:xfrm>
          <a:prstGeom prst="roundRect">
            <a:avLst>
              <a:gd fmla="val 480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822960" y="11612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source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850392" y="1545336"/>
            <a:ext cx="3511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What code did we write?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4617720" y="1005840"/>
            <a:ext cx="3840480" cy="1143000"/>
          </a:xfrm>
          <a:prstGeom prst="roundRect">
            <a:avLst>
              <a:gd fmla="val 4800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4754880" y="11612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 information and diagnostics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4782312" y="1545336"/>
            <a:ext cx="3511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What type does TypeScript expect, and does the code match?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685800" y="2441448"/>
            <a:ext cx="3840480" cy="1143000"/>
          </a:xfrm>
          <a:prstGeom prst="roundRect">
            <a:avLst>
              <a:gd fmla="val 4800" name="adj"/>
            </a:avLst>
          </a:prstGeom>
          <a:solidFill>
            <a:srgbClr val="F5F7F9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 txBox="1"/>
          <p:nvPr/>
        </p:nvSpPr>
        <p:spPr>
          <a:xfrm>
            <a:off x="822960" y="259689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JavaScript output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850392" y="2980944"/>
            <a:ext cx="3511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What code is produced for normal execution?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4617720" y="2441448"/>
            <a:ext cx="3840480" cy="1143000"/>
          </a:xfrm>
          <a:prstGeom prst="roundRect">
            <a:avLst>
              <a:gd fmla="val 4800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4754880" y="259689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Runtime output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4782312" y="2980944"/>
            <a:ext cx="3511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What happened when the JavaScript ran?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685800" y="3886200"/>
            <a:ext cx="777240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95528" y="3968496"/>
            <a:ext cx="7552944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 diagnostic is static TypeScript feedback. Runtime output appears only when the emitted JavaScript runs.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Type annotations do not appear in emitted JavaScript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685800" y="8961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TypeScript source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685800" y="1188720"/>
            <a:ext cx="7772400" cy="749808"/>
          </a:xfrm>
          <a:prstGeom prst="roundRect">
            <a:avLst>
              <a:gd fmla="val 4878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813816" y="1280160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episodeTitle: string = "Designing for small screens";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console.log(episodeTitle);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685800" y="214884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Relevant emitted JavaScript excerpt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0"/>
          <p:cNvSpPr/>
          <p:nvPr/>
        </p:nvSpPr>
        <p:spPr>
          <a:xfrm>
            <a:off x="685800" y="2441448"/>
            <a:ext cx="7772400" cy="749808"/>
          </a:xfrm>
          <a:prstGeom prst="roundRect">
            <a:avLst>
              <a:gd fmla="val 4878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813816" y="2532888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 = "Designing for small screens";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console.log(episodeTitle);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685800" y="3456432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795528" y="3538728"/>
            <a:ext cx="3575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Runtime output: Designing for small screens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4663440" y="3456432"/>
            <a:ext cx="3794760" cy="457200"/>
          </a:xfrm>
          <a:prstGeom prst="roundRect">
            <a:avLst>
              <a:gd fmla="val 1200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4773168" y="3538728"/>
            <a:ext cx="3575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Emitted JavaScript is the JavaScript produced from TypeScript source. The annotation is absent at runtime.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685800" y="4096512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uses : string while checking the source. JavaScript produces the runtime output.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Which statement matches the Playground flow?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685800" y="104241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685800" y="1536192"/>
            <a:ext cx="7772400" cy="507492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786384" y="1600200"/>
            <a:ext cx="7571232" cy="379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A. TypeScript checks the source after JavaScript runs, then keeps annotations in the output.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685800" y="2116836"/>
            <a:ext cx="7772400" cy="507492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786384" y="2180844"/>
            <a:ext cx="7571232" cy="379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B. TypeScript checks the source before runtime, then removes type annotations from the emitted JavaScript.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685800" y="2697480"/>
            <a:ext cx="7772400" cy="507492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786384" y="2761488"/>
            <a:ext cx="7571232" cy="379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C. JavaScript changes the inferred type after the program runs.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685800" y="3278124"/>
            <a:ext cx="7772400" cy="507492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786384" y="3342132"/>
            <a:ext cx="7571232" cy="379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D. Runtime output appears before TypeScript checks the source.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1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B.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checks the source before normal execution. Type annotations are not retained as runtime values.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Primitive types describe familiar JavaScript values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2"/>
          <p:cNvCxnSpPr/>
          <p:nvPr/>
        </p:nvCxnSpPr>
        <p:spPr>
          <a:xfrm>
            <a:off x="548640" y="813816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45" name="Google Shape;345;p32"/>
          <p:cNvGraphicFramePr/>
          <p:nvPr/>
        </p:nvGraphicFramePr>
        <p:xfrm>
          <a:off x="6858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2468875"/>
                <a:gridCol w="13258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20"/>
                        <a:buFont typeface="Arial"/>
                        <a:buNone/>
                      </a:pPr>
                      <a:r>
                        <a:rPr b="1" lang="en" sz="112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11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20"/>
                        <a:buFont typeface="Arial"/>
                        <a:buNone/>
                      </a:pPr>
                      <a:r>
                        <a:rPr b="1" lang="en" sz="112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TypeScript primitive type</a:t>
                      </a:r>
                      <a:endParaRPr sz="11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"Designing for small screens"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false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32"/>
          <p:cNvSpPr/>
          <p:nvPr/>
        </p:nvSpPr>
        <p:spPr>
          <a:xfrm>
            <a:off x="4709160" y="1005840"/>
            <a:ext cx="3749040" cy="1527048"/>
          </a:xfrm>
          <a:prstGeom prst="roundRect">
            <a:avLst>
              <a:gd fmla="val 3593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4818888" y="1088136"/>
            <a:ext cx="3529584" cy="1362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uses the same familiar runtime values.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new question is: What type of value should each binding receive?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685800" y="2788920"/>
            <a:ext cx="7772400" cy="932688"/>
          </a:xfrm>
          <a:prstGeom prst="roundRect">
            <a:avLst>
              <a:gd fmla="val 3922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813816" y="2880360"/>
            <a:ext cx="75163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 = "Designing for small screens";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durationMinutes = 38;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isDownloaded = false;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2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TypeScript can infer types from initial values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685800" y="1024128"/>
            <a:ext cx="4983480" cy="1481328"/>
          </a:xfrm>
          <a:prstGeom prst="roundRect">
            <a:avLst>
              <a:gd fmla="val 2469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813816" y="1115568"/>
            <a:ext cx="472744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 = "Designing for small screens";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durationMinutes = 38;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isDownloaded = false;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5925312" y="1042416"/>
            <a:ext cx="2377440" cy="310896"/>
          </a:xfrm>
          <a:prstGeom prst="roundRect">
            <a:avLst>
              <a:gd fmla="val 17647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5998464" y="1088136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F5A92"/>
                </a:solidFill>
                <a:latin typeface="Arial"/>
                <a:ea typeface="Arial"/>
                <a:cs typeface="Arial"/>
                <a:sym typeface="Arial"/>
              </a:rPr>
              <a:t>episodeTitle: string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5925312" y="1591056"/>
            <a:ext cx="2377440" cy="310896"/>
          </a:xfrm>
          <a:prstGeom prst="roundRect">
            <a:avLst>
              <a:gd fmla="val 17647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5998464" y="1636776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F5A92"/>
                </a:solidFill>
                <a:latin typeface="Arial"/>
                <a:ea typeface="Arial"/>
                <a:cs typeface="Arial"/>
                <a:sym typeface="Arial"/>
              </a:rPr>
              <a:t>durationMinutes: number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5925312" y="2139696"/>
            <a:ext cx="2377440" cy="310896"/>
          </a:xfrm>
          <a:prstGeom prst="roundRect">
            <a:avLst>
              <a:gd fmla="val 17647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5998464" y="2185416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F5A92"/>
                </a:solidFill>
                <a:latin typeface="Arial"/>
                <a:ea typeface="Arial"/>
                <a:cs typeface="Arial"/>
                <a:sym typeface="Arial"/>
              </a:rPr>
              <a:t>isDownloaded: boolean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685800" y="2880360"/>
            <a:ext cx="7772400" cy="621792"/>
          </a:xfrm>
          <a:prstGeom prst="roundRect">
            <a:avLst>
              <a:gd fmla="val 8824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795528" y="2962656"/>
            <a:ext cx="7552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No annotations were written. TypeScript used each initial value to infer the binding’s type.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An annotation states the expected primitive type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685800" y="987552"/>
            <a:ext cx="7772400" cy="1143000"/>
          </a:xfrm>
          <a:prstGeom prst="roundRect">
            <a:avLst>
              <a:gd fmla="val 3200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4"/>
          <p:cNvSpPr txBox="1"/>
          <p:nvPr/>
        </p:nvSpPr>
        <p:spPr>
          <a:xfrm>
            <a:off x="813816" y="1078992"/>
            <a:ext cx="75163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episodeTitle: string = "Designing for small screens";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durationMinutes: number = 38;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isDownloaded: boolean = false;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685800" y="2450592"/>
            <a:ext cx="2487168" cy="512064"/>
          </a:xfrm>
          <a:prstGeom prst="roundRect">
            <a:avLst>
              <a:gd fmla="val 1071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795528" y="2532888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bindingName: type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3364992" y="2450592"/>
            <a:ext cx="5093208" cy="512064"/>
          </a:xfrm>
          <a:prstGeom prst="roundRect">
            <a:avLst>
              <a:gd fmla="val 10714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3474720" y="2532888"/>
            <a:ext cx="4873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An explicit type is a type written by the developer.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749808" y="3291840"/>
            <a:ext cx="7452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Use lowercase primitive type names: string, number, and boolean.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When an initial value is present, it must match the expected type.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 matching assignment can change the value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685800" y="1005840"/>
            <a:ext cx="4617720" cy="1298448"/>
          </a:xfrm>
          <a:prstGeom prst="roundRect">
            <a:avLst>
              <a:gd fmla="val 281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813816" y="1097280"/>
            <a:ext cx="436168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episodeTitle = "Async workflows";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durationMinutes = 42;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isDownloaded = true;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5532120" y="1024128"/>
            <a:ext cx="2834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Char char="•"/>
            </a:pPr>
            <a:r>
              <a:rPr b="0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"Async workflows" is a string.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Char char="•"/>
            </a:pPr>
            <a:r>
              <a:rPr b="0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42 is a number.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Char char="•"/>
            </a:pPr>
            <a:r>
              <a:rPr b="0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true is a boolean value.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685800" y="2788920"/>
            <a:ext cx="7772400" cy="694944"/>
          </a:xfrm>
          <a:prstGeom prst="roundRect">
            <a:avLst>
              <a:gd fmla="val 7895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795528" y="2871216"/>
            <a:ext cx="75529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 primitive annotation does not freeze the original value. It controls the type of values the binding may receive.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5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An incompatible assignment gets a type diagnostic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685800" y="1005840"/>
            <a:ext cx="4663440" cy="1078992"/>
          </a:xfrm>
          <a:prstGeom prst="roundRect">
            <a:avLst>
              <a:gd fmla="val 3390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813816" y="1097280"/>
            <a:ext cx="4407408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 = "Designing for small screens";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episodeTitle = 42;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5532120" y="1005840"/>
            <a:ext cx="2926080" cy="1078992"/>
          </a:xfrm>
          <a:prstGeom prst="roundRect">
            <a:avLst>
              <a:gd fmla="val 5085" name="adj"/>
            </a:avLst>
          </a:prstGeom>
          <a:solidFill>
            <a:srgbClr val="FBEAEA"/>
          </a:solidFill>
          <a:ln cap="flat" cmpd="sng" w="9525">
            <a:solidFill>
              <a:srgbClr val="E7B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5641848" y="1097280"/>
            <a:ext cx="2706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Static TypeScript feedback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TS2322: Type 'number' is not assignable to type 'string'.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685800" y="2395728"/>
            <a:ext cx="1920240" cy="310896"/>
          </a:xfrm>
          <a:prstGeom prst="roundRect">
            <a:avLst>
              <a:gd fmla="val 17647" name="adj"/>
            </a:avLst>
          </a:prstGeom>
          <a:solidFill>
            <a:srgbClr val="FBEA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758952" y="2441448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Flagged value: 42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2788920" y="2395728"/>
            <a:ext cx="5669280" cy="68580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2898648" y="2478024"/>
            <a:ext cx="5449824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TypeScript inferred episodeTitle as a string from its initial value. The later number does not match that inferred type.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685800" y="3429000"/>
            <a:ext cx="7772400" cy="530352"/>
          </a:xfrm>
          <a:prstGeom prst="roundRect">
            <a:avLst>
              <a:gd fmla="val 10345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795528" y="3511296"/>
            <a:ext cx="75529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This is a type diagnostic. The program has not been run.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6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7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Read the diagnostic in four steps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7"/>
          <p:cNvSpPr/>
          <p:nvPr/>
        </p:nvSpPr>
        <p:spPr>
          <a:xfrm>
            <a:off x="685800" y="960120"/>
            <a:ext cx="7772400" cy="603504"/>
          </a:xfrm>
          <a:prstGeom prst="roundRect">
            <a:avLst>
              <a:gd fmla="val 6061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7"/>
          <p:cNvSpPr txBox="1"/>
          <p:nvPr/>
        </p:nvSpPr>
        <p:spPr>
          <a:xfrm>
            <a:off x="813816" y="1051560"/>
            <a:ext cx="75163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episodeTitle = 42;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731520" y="1810512"/>
            <a:ext cx="438912" cy="393192"/>
          </a:xfrm>
          <a:prstGeom prst="roundRect">
            <a:avLst>
              <a:gd fmla="val 13953" name="adj"/>
            </a:avLst>
          </a:prstGeom>
          <a:solidFill>
            <a:srgbClr val="1F5A92"/>
          </a:solidFill>
          <a:ln cap="flat" cmpd="sng" w="9525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7"/>
          <p:cNvSpPr txBox="1"/>
          <p:nvPr/>
        </p:nvSpPr>
        <p:spPr>
          <a:xfrm>
            <a:off x="804672" y="1856232"/>
            <a:ext cx="29260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 txBox="1"/>
          <p:nvPr/>
        </p:nvSpPr>
        <p:spPr>
          <a:xfrm>
            <a:off x="1353312" y="182880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Find the flagged expression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7"/>
          <p:cNvSpPr txBox="1"/>
          <p:nvPr/>
        </p:nvSpPr>
        <p:spPr>
          <a:xfrm>
            <a:off x="5349240" y="18288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F5A92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7"/>
          <p:cNvSpPr/>
          <p:nvPr/>
        </p:nvSpPr>
        <p:spPr>
          <a:xfrm>
            <a:off x="731520" y="2432304"/>
            <a:ext cx="438912" cy="393192"/>
          </a:xfrm>
          <a:prstGeom prst="roundRect">
            <a:avLst>
              <a:gd fmla="val 13953" name="adj"/>
            </a:avLst>
          </a:prstGeom>
          <a:solidFill>
            <a:srgbClr val="1F5A92"/>
          </a:solidFill>
          <a:ln cap="flat" cmpd="sng" w="9525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804672" y="2478024"/>
            <a:ext cx="29260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 txBox="1"/>
          <p:nvPr/>
        </p:nvSpPr>
        <p:spPr>
          <a:xfrm>
            <a:off x="1353312" y="245059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Identify the received type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7"/>
          <p:cNvSpPr txBox="1"/>
          <p:nvPr/>
        </p:nvSpPr>
        <p:spPr>
          <a:xfrm>
            <a:off x="5349240" y="24505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F5A92"/>
                </a:solidFill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731520" y="3054096"/>
            <a:ext cx="438912" cy="393192"/>
          </a:xfrm>
          <a:prstGeom prst="roundRect">
            <a:avLst>
              <a:gd fmla="val 13953" name="adj"/>
            </a:avLst>
          </a:prstGeom>
          <a:solidFill>
            <a:srgbClr val="1F5A92"/>
          </a:solidFill>
          <a:ln cap="flat" cmpd="sng" w="9525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7"/>
          <p:cNvSpPr txBox="1"/>
          <p:nvPr/>
        </p:nvSpPr>
        <p:spPr>
          <a:xfrm>
            <a:off x="804672" y="3099816"/>
            <a:ext cx="29260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7"/>
          <p:cNvSpPr txBox="1"/>
          <p:nvPr/>
        </p:nvSpPr>
        <p:spPr>
          <a:xfrm>
            <a:off x="1353312" y="3072384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Identify the expected type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7"/>
          <p:cNvSpPr txBox="1"/>
          <p:nvPr/>
        </p:nvSpPr>
        <p:spPr>
          <a:xfrm>
            <a:off x="5349240" y="307238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F5A9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731520" y="3675888"/>
            <a:ext cx="438912" cy="393192"/>
          </a:xfrm>
          <a:prstGeom prst="roundRect">
            <a:avLst>
              <a:gd fmla="val 13953" name="adj"/>
            </a:avLst>
          </a:prstGeom>
          <a:solidFill>
            <a:srgbClr val="1F5A92"/>
          </a:solidFill>
          <a:ln cap="flat" cmpd="sng" w="9525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804672" y="3721608"/>
            <a:ext cx="29260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1353312" y="3694176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Choose the smallest valid correction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5349240" y="369417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F5A92"/>
                </a:solidFill>
                <a:latin typeface="Courier New"/>
                <a:ea typeface="Courier New"/>
                <a:cs typeface="Courier New"/>
                <a:sym typeface="Courier New"/>
              </a:rPr>
              <a:t>assign a string value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7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Correct the type mismatch before running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685800" y="960120"/>
            <a:ext cx="7772400" cy="1298448"/>
          </a:xfrm>
          <a:prstGeom prst="roundRect">
            <a:avLst>
              <a:gd fmla="val 281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8"/>
          <p:cNvSpPr txBox="1"/>
          <p:nvPr/>
        </p:nvSpPr>
        <p:spPr>
          <a:xfrm>
            <a:off x="813816" y="1051560"/>
            <a:ext cx="751636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 = "Designing for small screens";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episodeTitle = "Async workflows";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console.log(episodeTitle);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685800" y="2542032"/>
            <a:ext cx="3703320" cy="475488"/>
          </a:xfrm>
          <a:prstGeom prst="roundRect">
            <a:avLst>
              <a:gd fmla="val 11538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795528" y="2624328"/>
            <a:ext cx="34838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Static state: No intended type diagnostic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4709160" y="2542032"/>
            <a:ext cx="3749040" cy="475488"/>
          </a:xfrm>
          <a:prstGeom prst="roundRect">
            <a:avLst>
              <a:gd fmla="val 11538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4818888" y="2624328"/>
            <a:ext cx="3529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Runtime output: Async workflows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685800" y="3364992"/>
            <a:ext cx="7772400" cy="658368"/>
          </a:xfrm>
          <a:prstGeom prst="roundRect">
            <a:avLst>
              <a:gd fmla="val 8333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8"/>
          <p:cNvSpPr txBox="1"/>
          <p:nvPr/>
        </p:nvSpPr>
        <p:spPr>
          <a:xfrm>
            <a:off x="795528" y="3447288"/>
            <a:ext cx="75529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Correcting the assignment removes the static mismatch. The output appears later, when the emitted JavaScript runs.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8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9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const and type annotations answer different questions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685800" y="987552"/>
            <a:ext cx="7772400" cy="1261872"/>
          </a:xfrm>
          <a:prstGeom prst="roundRect">
            <a:avLst>
              <a:gd fmla="val 2899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9"/>
          <p:cNvSpPr txBox="1"/>
          <p:nvPr/>
        </p:nvSpPr>
        <p:spPr>
          <a:xfrm>
            <a:off x="813816" y="1078992"/>
            <a:ext cx="751636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podcastName: string = "Frontend Field Notes";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episodeTitle: string = "Designing for small screens";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episodeTitle = "Async workflows";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9" name="Google Shape;459;p39"/>
          <p:cNvGraphicFramePr/>
          <p:nvPr/>
        </p:nvGraphicFramePr>
        <p:xfrm>
          <a:off x="685800" y="2542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2057400"/>
                <a:gridCol w="57150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" sz="115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 feature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" sz="115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controls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40"/>
                        <a:buFont typeface="Arial"/>
                        <a:buNone/>
                      </a:pPr>
                      <a:r>
                        <a:rPr lang="en" sz="11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40"/>
                        <a:buFont typeface="Arial"/>
                        <a:buNone/>
                      </a:pPr>
                      <a:r>
                        <a:rPr lang="en" sz="11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Whether the binding can receive a new value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40"/>
                        <a:buFont typeface="Arial"/>
                        <a:buNone/>
                      </a:pPr>
                      <a:r>
                        <a:rPr lang="en" sz="11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string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40"/>
                        <a:buFont typeface="Arial"/>
                        <a:buNone/>
                      </a:pPr>
                      <a:r>
                        <a:rPr lang="en" sz="11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type of value the binding may receive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0" name="Google Shape;460;p39"/>
          <p:cNvSpPr/>
          <p:nvPr/>
        </p:nvSpPr>
        <p:spPr>
          <a:xfrm>
            <a:off x="685800" y="3895344"/>
            <a:ext cx="7772400" cy="457200"/>
          </a:xfrm>
          <a:prstGeom prst="roundRect">
            <a:avLst>
              <a:gd fmla="val 12000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9"/>
          <p:cNvSpPr txBox="1"/>
          <p:nvPr/>
        </p:nvSpPr>
        <p:spPr>
          <a:xfrm>
            <a:off x="795528" y="3977640"/>
            <a:ext cx="7552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episodeTitle can be reassigned because it uses let. Its new value must still be a string.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9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Explicit types help when no initial value exists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0"/>
          <p:cNvSpPr/>
          <p:nvPr/>
        </p:nvSpPr>
        <p:spPr>
          <a:xfrm>
            <a:off x="685800" y="987552"/>
            <a:ext cx="4709160" cy="2212848"/>
          </a:xfrm>
          <a:prstGeom prst="roundRect">
            <a:avLst>
              <a:gd fmla="val 1653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0"/>
          <p:cNvSpPr txBox="1"/>
          <p:nvPr/>
        </p:nvSpPr>
        <p:spPr>
          <a:xfrm>
            <a:off x="813816" y="1078992"/>
            <a:ext cx="4453128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selectedEpisode: string;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selectedEpisode = "Async workflows";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console.log(selectedEpisode);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5623560" y="987552"/>
            <a:ext cx="2834640" cy="804672"/>
          </a:xfrm>
          <a:prstGeom prst="roundRect">
            <a:avLst>
              <a:gd fmla="val 6818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5733288" y="1069848"/>
            <a:ext cx="26151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Inferred type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 type determined by TypeScript from the available code.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5623560" y="1975104"/>
            <a:ext cx="2834640" cy="676656"/>
          </a:xfrm>
          <a:prstGeom prst="roundRect">
            <a:avLst>
              <a:gd fmla="val 8108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0"/>
          <p:cNvSpPr txBox="1"/>
          <p:nvPr/>
        </p:nvSpPr>
        <p:spPr>
          <a:xfrm>
            <a:off x="5733288" y="2057400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Explicit type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 type written by the developer.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5623560" y="2852928"/>
            <a:ext cx="2834640" cy="457200"/>
          </a:xfrm>
          <a:prstGeom prst="roundRect">
            <a:avLst>
              <a:gd fmla="val 12000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0"/>
          <p:cNvSpPr txBox="1"/>
          <p:nvPr/>
        </p:nvSpPr>
        <p:spPr>
          <a:xfrm>
            <a:off x="5733288" y="2935224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Runtime output: Async workflows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0"/>
          <p:cNvSpPr txBox="1"/>
          <p:nvPr/>
        </p:nvSpPr>
        <p:spPr>
          <a:xfrm>
            <a:off x="685800" y="3547872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Here, the explicit type records the expectation before a value is assigned. When the initial value already makes the type clear, inference can avoid repetition.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0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1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Checkpoint: Fitness session updates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685800" y="896112"/>
            <a:ext cx="7772400" cy="932688"/>
          </a:xfrm>
          <a:prstGeom prst="roundRect">
            <a:avLst>
              <a:gd fmla="val 3922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1"/>
          <p:cNvSpPr txBox="1"/>
          <p:nvPr/>
        </p:nvSpPr>
        <p:spPr>
          <a:xfrm>
            <a:off x="813816" y="987552"/>
            <a:ext cx="75163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sessionName = "Mobility";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durationMinutes: number = 20;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isComplete: boolean;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1"/>
          <p:cNvSpPr txBox="1"/>
          <p:nvPr/>
        </p:nvSpPr>
        <p:spPr>
          <a:xfrm>
            <a:off x="685800" y="19933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Which update row can be assigned without a type diagnostic?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8" name="Google Shape;488;p41"/>
          <p:cNvGraphicFramePr/>
          <p:nvPr/>
        </p:nvGraphicFramePr>
        <p:xfrm>
          <a:off x="6858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713225"/>
                <a:gridCol w="2514600"/>
                <a:gridCol w="2286000"/>
                <a:gridCol w="225857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b="1"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b="1"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sessionName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b="1"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durationMinutes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b="1"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isComplete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"Strength"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"Strength"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"25"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false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"Strength"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"yes"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9" name="Google Shape;489;p41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1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A.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sessionName expects a string, durationMinutes expects a number, and isComplete expects a boolean.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1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2"/>
          <p:cNvSpPr/>
          <p:nvPr/>
        </p:nvSpPr>
        <p:spPr>
          <a:xfrm>
            <a:off x="1234440" y="1984248"/>
            <a:ext cx="6675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Typed arrays and tuples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2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 typed array applies one type to every element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3"/>
          <p:cNvSpPr/>
          <p:nvPr/>
        </p:nvSpPr>
        <p:spPr>
          <a:xfrm>
            <a:off x="685800" y="960120"/>
            <a:ext cx="4709160" cy="1993392"/>
          </a:xfrm>
          <a:prstGeom prst="roundRect">
            <a:avLst>
              <a:gd fmla="val 1835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3"/>
          <p:cNvSpPr txBox="1"/>
          <p:nvPr/>
        </p:nvSpPr>
        <p:spPr>
          <a:xfrm>
            <a:off x="813816" y="1051560"/>
            <a:ext cx="4453128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queueTitles: string[] = [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"JavaScript modules",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"Async workflows",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"TypeScript basics"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3"/>
          <p:cNvSpPr/>
          <p:nvPr/>
        </p:nvSpPr>
        <p:spPr>
          <a:xfrm>
            <a:off x="5623560" y="960120"/>
            <a:ext cx="2834640" cy="621792"/>
          </a:xfrm>
          <a:prstGeom prst="roundRect">
            <a:avLst>
              <a:gd fmla="val 882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3"/>
          <p:cNvSpPr txBox="1"/>
          <p:nvPr/>
        </p:nvSpPr>
        <p:spPr>
          <a:xfrm>
            <a:off x="5733288" y="1042416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string[] describes an array whose elements are strings.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5623560" y="1783080"/>
            <a:ext cx="274320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Every element is expected to match the same type.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array may contain more or fewer titles.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type does not assign a different role to each position.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685800" y="3401568"/>
            <a:ext cx="7772400" cy="457200"/>
          </a:xfrm>
          <a:prstGeom prst="roundRect">
            <a:avLst>
              <a:gd fmla="val 12000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3"/>
          <p:cNvSpPr txBox="1"/>
          <p:nvPr/>
        </p:nvSpPr>
        <p:spPr>
          <a:xfrm>
            <a:off x="795528" y="3483864"/>
            <a:ext cx="7552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90"/>
              <a:buFont typeface="Courier New"/>
              <a:buNone/>
            </a:pPr>
            <a:r>
              <a:rPr b="0" i="0" lang="en" sz="109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Current state: every title matches string.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3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4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Which value conflicts with the array type?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685800" y="960120"/>
            <a:ext cx="4709160" cy="1993392"/>
          </a:xfrm>
          <a:prstGeom prst="roundRect">
            <a:avLst>
              <a:gd fmla="val 1835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4"/>
          <p:cNvSpPr txBox="1"/>
          <p:nvPr/>
        </p:nvSpPr>
        <p:spPr>
          <a:xfrm>
            <a:off x="813816" y="1051560"/>
            <a:ext cx="4453128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queueTitles: string[] = [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"JavaScript modules",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"Async workflows",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42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4"/>
          <p:cNvSpPr/>
          <p:nvPr/>
        </p:nvSpPr>
        <p:spPr>
          <a:xfrm>
            <a:off x="5623560" y="987552"/>
            <a:ext cx="2359152" cy="310896"/>
          </a:xfrm>
          <a:prstGeom prst="roundRect">
            <a:avLst>
              <a:gd fmla="val 17647" name="adj"/>
            </a:avLst>
          </a:prstGeom>
          <a:solidFill>
            <a:srgbClr val="FBEAEA"/>
          </a:solidFill>
          <a:ln cap="flat" cmpd="sng" w="9525">
            <a:solidFill>
              <a:srgbClr val="E7B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4"/>
          <p:cNvSpPr txBox="1"/>
          <p:nvPr/>
        </p:nvSpPr>
        <p:spPr>
          <a:xfrm>
            <a:off x="5696712" y="103327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Flagged value: 42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4"/>
          <p:cNvSpPr/>
          <p:nvPr/>
        </p:nvSpPr>
        <p:spPr>
          <a:xfrm>
            <a:off x="5623560" y="1517904"/>
            <a:ext cx="2834640" cy="438912"/>
          </a:xfrm>
          <a:prstGeom prst="roundRect">
            <a:avLst>
              <a:gd fmla="val 1250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4"/>
          <p:cNvSpPr txBox="1"/>
          <p:nvPr/>
        </p:nvSpPr>
        <p:spPr>
          <a:xfrm>
            <a:off x="5733288" y="1600200"/>
            <a:ext cx="2615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Expected type: string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4"/>
          <p:cNvSpPr/>
          <p:nvPr/>
        </p:nvSpPr>
        <p:spPr>
          <a:xfrm>
            <a:off x="5623560" y="2121408"/>
            <a:ext cx="2834640" cy="438912"/>
          </a:xfrm>
          <a:prstGeom prst="roundRect">
            <a:avLst>
              <a:gd fmla="val 1250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4"/>
          <p:cNvSpPr txBox="1"/>
          <p:nvPr/>
        </p:nvSpPr>
        <p:spPr>
          <a:xfrm>
            <a:off x="5733288" y="2203704"/>
            <a:ext cx="2615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Received type: number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4"/>
          <p:cNvSpPr/>
          <p:nvPr/>
        </p:nvSpPr>
        <p:spPr>
          <a:xfrm>
            <a:off x="5623560" y="2724912"/>
            <a:ext cx="2834640" cy="786384"/>
          </a:xfrm>
          <a:prstGeom prst="roundRect">
            <a:avLst>
              <a:gd fmla="val 6977" name="adj"/>
            </a:avLst>
          </a:prstGeom>
          <a:solidFill>
            <a:srgbClr val="FBEAEA"/>
          </a:solidFill>
          <a:ln cap="flat" cmpd="sng" w="9525">
            <a:solidFill>
              <a:srgbClr val="E7B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4"/>
          <p:cNvSpPr txBox="1"/>
          <p:nvPr/>
        </p:nvSpPr>
        <p:spPr>
          <a:xfrm>
            <a:off x="5733288" y="2816352"/>
            <a:ext cx="26151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TS2322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Type 'number' is not assignable to type 'string'.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4"/>
          <p:cNvSpPr/>
          <p:nvPr/>
        </p:nvSpPr>
        <p:spPr>
          <a:xfrm>
            <a:off x="685800" y="3328416"/>
            <a:ext cx="4709160" cy="566928"/>
          </a:xfrm>
          <a:prstGeom prst="roundRect">
            <a:avLst>
              <a:gd fmla="val 9677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4"/>
          <p:cNvSpPr txBox="1"/>
          <p:nvPr/>
        </p:nvSpPr>
        <p:spPr>
          <a:xfrm>
            <a:off x="795528" y="3410712"/>
            <a:ext cx="44897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Every element must match the element type described by string[].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4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5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Correct the value without weakening the type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5"/>
          <p:cNvSpPr/>
          <p:nvPr/>
        </p:nvSpPr>
        <p:spPr>
          <a:xfrm>
            <a:off x="685800" y="1005840"/>
            <a:ext cx="4709160" cy="1993392"/>
          </a:xfrm>
          <a:prstGeom prst="roundRect">
            <a:avLst>
              <a:gd fmla="val 1835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5"/>
          <p:cNvSpPr txBox="1"/>
          <p:nvPr/>
        </p:nvSpPr>
        <p:spPr>
          <a:xfrm>
            <a:off x="813816" y="1097280"/>
            <a:ext cx="4453128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queueTitles: string[] = [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"JavaScript modules",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"Async workflows",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"TypeScript basics"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5"/>
          <p:cNvSpPr/>
          <p:nvPr/>
        </p:nvSpPr>
        <p:spPr>
          <a:xfrm>
            <a:off x="5623560" y="1005840"/>
            <a:ext cx="2834640" cy="502920"/>
          </a:xfrm>
          <a:prstGeom prst="roundRect">
            <a:avLst>
              <a:gd fmla="val 10909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5"/>
          <p:cNvSpPr txBox="1"/>
          <p:nvPr/>
        </p:nvSpPr>
        <p:spPr>
          <a:xfrm>
            <a:off x="5733288" y="1088136"/>
            <a:ext cx="2615184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Static state: No intended type diagnostic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5"/>
          <p:cNvSpPr/>
          <p:nvPr/>
        </p:nvSpPr>
        <p:spPr>
          <a:xfrm>
            <a:off x="5623560" y="1783080"/>
            <a:ext cx="2834640" cy="621792"/>
          </a:xfrm>
          <a:prstGeom prst="roundRect">
            <a:avLst>
              <a:gd fmla="val 882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5"/>
          <p:cNvSpPr txBox="1"/>
          <p:nvPr/>
        </p:nvSpPr>
        <p:spPr>
          <a:xfrm>
            <a:off x="5733288" y="1865376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This array is intended to contain episode titles.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5"/>
          <p:cNvSpPr/>
          <p:nvPr/>
        </p:nvSpPr>
        <p:spPr>
          <a:xfrm>
            <a:off x="5623560" y="2633472"/>
            <a:ext cx="2834640" cy="969264"/>
          </a:xfrm>
          <a:prstGeom prst="roundRect">
            <a:avLst>
              <a:gd fmla="val 5660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5"/>
          <p:cNvSpPr txBox="1"/>
          <p:nvPr/>
        </p:nvSpPr>
        <p:spPr>
          <a:xfrm>
            <a:off x="5733288" y="2715768"/>
            <a:ext cx="261518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useful correction is to replace the number with a string. Changing the type to accept unrelated values would weaken the intended constraint.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5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6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 tuple describes specific positions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6"/>
          <p:cNvSpPr/>
          <p:nvPr/>
        </p:nvSpPr>
        <p:spPr>
          <a:xfrm>
            <a:off x="685800" y="1005840"/>
            <a:ext cx="3977640" cy="1572768"/>
          </a:xfrm>
          <a:prstGeom prst="roundRect">
            <a:avLst>
              <a:gd fmla="val 2326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6"/>
          <p:cNvSpPr txBox="1"/>
          <p:nvPr/>
        </p:nvSpPr>
        <p:spPr>
          <a:xfrm>
            <a:off x="813816" y="1097280"/>
            <a:ext cx="3721608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selectedTrack: [number, string] = [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12,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"Mysuru painting"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5" name="Google Shape;555;p46"/>
          <p:cNvGraphicFramePr/>
          <p:nvPr/>
        </p:nvGraphicFramePr>
        <p:xfrm>
          <a:off x="48920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749800"/>
                <a:gridCol w="1170425"/>
                <a:gridCol w="16459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20"/>
                        <a:buFont typeface="Arial"/>
                        <a:buNone/>
                      </a:pPr>
                      <a:r>
                        <a:rPr b="1" lang="en" sz="112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</a:t>
                      </a:r>
                      <a:endParaRPr sz="11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20"/>
                        <a:buFont typeface="Arial"/>
                        <a:buNone/>
                      </a:pPr>
                      <a:r>
                        <a:rPr b="1" lang="en" sz="112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type</a:t>
                      </a:r>
                      <a:endParaRPr sz="11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20"/>
                        <a:buFont typeface="Arial"/>
                        <a:buNone/>
                      </a:pPr>
                      <a:r>
                        <a:rPr b="1" lang="en" sz="112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value</a:t>
                      </a:r>
                      <a:endParaRPr sz="11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"Mysuru painting"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6" name="Google Shape;556;p46"/>
          <p:cNvSpPr/>
          <p:nvPr/>
        </p:nvSpPr>
        <p:spPr>
          <a:xfrm>
            <a:off x="685800" y="2880360"/>
            <a:ext cx="7772400" cy="530352"/>
          </a:xfrm>
          <a:prstGeom prst="roundRect">
            <a:avLst>
              <a:gd fmla="val 10345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6"/>
          <p:cNvSpPr txBox="1"/>
          <p:nvPr/>
        </p:nvSpPr>
        <p:spPr>
          <a:xfrm>
            <a:off x="795528" y="2962656"/>
            <a:ext cx="75529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This tuple type describes two positions and the expected type at each position.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6"/>
          <p:cNvSpPr/>
          <p:nvPr/>
        </p:nvSpPr>
        <p:spPr>
          <a:xfrm>
            <a:off x="685800" y="3675888"/>
            <a:ext cx="7772400" cy="475488"/>
          </a:xfrm>
          <a:prstGeom prst="roundRect">
            <a:avLst>
              <a:gd fmla="val 11538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6"/>
          <p:cNvSpPr txBox="1"/>
          <p:nvPr/>
        </p:nvSpPr>
        <p:spPr>
          <a:xfrm>
            <a:off x="795528" y="3758184"/>
            <a:ext cx="7552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None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Position 0 stores the track number. Position 1 stores the track title.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6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7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Each tuple position has its own expectation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7"/>
          <p:cNvSpPr txBox="1"/>
          <p:nvPr/>
        </p:nvSpPr>
        <p:spPr>
          <a:xfrm>
            <a:off x="685800" y="9144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Invalid state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7"/>
          <p:cNvSpPr/>
          <p:nvPr/>
        </p:nvSpPr>
        <p:spPr>
          <a:xfrm>
            <a:off x="685800" y="1207008"/>
            <a:ext cx="3703320" cy="1481328"/>
          </a:xfrm>
          <a:prstGeom prst="roundRect">
            <a:avLst>
              <a:gd fmla="val 2469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7"/>
          <p:cNvSpPr txBox="1"/>
          <p:nvPr/>
        </p:nvSpPr>
        <p:spPr>
          <a:xfrm>
            <a:off x="813816" y="1298448"/>
            <a:ext cx="344728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selectedTrack: [number, string] = [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"12",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"Mysuru painting"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7"/>
          <p:cNvSpPr/>
          <p:nvPr/>
        </p:nvSpPr>
        <p:spPr>
          <a:xfrm>
            <a:off x="4590288" y="1207008"/>
            <a:ext cx="3867912" cy="786384"/>
          </a:xfrm>
          <a:prstGeom prst="roundRect">
            <a:avLst>
              <a:gd fmla="val 6977" name="adj"/>
            </a:avLst>
          </a:prstGeom>
          <a:solidFill>
            <a:srgbClr val="FBEAEA"/>
          </a:solidFill>
          <a:ln cap="flat" cmpd="sng" w="9525">
            <a:solidFill>
              <a:srgbClr val="E7B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7"/>
          <p:cNvSpPr txBox="1"/>
          <p:nvPr/>
        </p:nvSpPr>
        <p:spPr>
          <a:xfrm>
            <a:off x="4700016" y="1298448"/>
            <a:ext cx="36484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TS2322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Type 'string' is not assignable to type 'number'.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7"/>
          <p:cNvSpPr/>
          <p:nvPr/>
        </p:nvSpPr>
        <p:spPr>
          <a:xfrm>
            <a:off x="4590288" y="2176272"/>
            <a:ext cx="3867912" cy="512064"/>
          </a:xfrm>
          <a:prstGeom prst="roundRect">
            <a:avLst>
              <a:gd fmla="val 10714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7"/>
          <p:cNvSpPr txBox="1"/>
          <p:nvPr/>
        </p:nvSpPr>
        <p:spPr>
          <a:xfrm>
            <a:off x="4700016" y="2258568"/>
            <a:ext cx="36484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Position 0 expects a number, but "12" is a string.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7"/>
          <p:cNvSpPr txBox="1"/>
          <p:nvPr/>
        </p:nvSpPr>
        <p:spPr>
          <a:xfrm>
            <a:off x="685800" y="29718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Corrected state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7"/>
          <p:cNvSpPr/>
          <p:nvPr/>
        </p:nvSpPr>
        <p:spPr>
          <a:xfrm>
            <a:off x="685800" y="3255264"/>
            <a:ext cx="7772400" cy="941832"/>
          </a:xfrm>
          <a:prstGeom prst="roundRect">
            <a:avLst>
              <a:gd fmla="val 3883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7"/>
          <p:cNvSpPr txBox="1"/>
          <p:nvPr/>
        </p:nvSpPr>
        <p:spPr>
          <a:xfrm>
            <a:off x="813816" y="3346704"/>
            <a:ext cx="7516368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selectedTrack: [number, string] = [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12,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"Mysuru painting"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7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8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Arrays and tuples communicate different expectations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4" name="Google Shape;584;p48"/>
          <p:cNvGraphicFramePr/>
          <p:nvPr/>
        </p:nvGraphicFramePr>
        <p:xfrm>
          <a:off x="685800" y="969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3886200"/>
                <a:gridCol w="38862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b="1"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Typed array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10"/>
                        <a:buFont typeface="Arial"/>
                        <a:buNone/>
                      </a:pPr>
                      <a:r>
                        <a:rPr b="1" lang="en" sz="111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Tuple</a:t>
                      </a:r>
                      <a:endParaRPr sz="11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Repeats one element type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Describes the type expected at each position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May contain more or fewer elements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Describes a fixed sequence of positions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 element has the same general role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Different positions may have different roles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 array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Two-position tuple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5" name="Google Shape;585;p48"/>
          <p:cNvSpPr/>
          <p:nvPr/>
        </p:nvSpPr>
        <p:spPr>
          <a:xfrm>
            <a:off x="685800" y="3072384"/>
            <a:ext cx="7772400" cy="749808"/>
          </a:xfrm>
          <a:prstGeom prst="roundRect">
            <a:avLst>
              <a:gd fmla="val 4878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8"/>
          <p:cNvSpPr txBox="1"/>
          <p:nvPr/>
        </p:nvSpPr>
        <p:spPr>
          <a:xfrm>
            <a:off x="813816" y="3163824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languages: string[] = ["English", "Kannada", "Hindi"];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selectedTrack: [number, string] = [12, "Mysuru painting"];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685800" y="4023360"/>
            <a:ext cx="7772400" cy="438912"/>
          </a:xfrm>
          <a:prstGeom prst="roundRect">
            <a:avLst>
              <a:gd fmla="val 12500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8"/>
          <p:cNvSpPr txBox="1"/>
          <p:nvPr/>
        </p:nvSpPr>
        <p:spPr>
          <a:xfrm>
            <a:off x="795528" y="4105656"/>
            <a:ext cx="7552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Array destructuring reads runtime values by position. A tuple describes the expected type at each position.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8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9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Checkpoint: Model the scoreboard data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9"/>
          <p:cNvSpPr/>
          <p:nvPr/>
        </p:nvSpPr>
        <p:spPr>
          <a:xfrm>
            <a:off x="685800" y="914400"/>
            <a:ext cx="7772400" cy="585216"/>
          </a:xfrm>
          <a:prstGeom prst="roundRect">
            <a:avLst>
              <a:gd fmla="val 9375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9"/>
          <p:cNvSpPr txBox="1"/>
          <p:nvPr/>
        </p:nvSpPr>
        <p:spPr>
          <a:xfrm>
            <a:off x="795528" y="996696"/>
            <a:ext cx="75529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 quiz application needs roundScores to hold any number of numeric scores and leader to hold exactly a name followed by a numeric score.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9"/>
          <p:cNvSpPr txBox="1"/>
          <p:nvPr/>
        </p:nvSpPr>
        <p:spPr>
          <a:xfrm>
            <a:off x="685800" y="1673352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Which type pair models both requirements?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99" name="Google Shape;599;p49"/>
          <p:cNvGraphicFramePr/>
          <p:nvPr/>
        </p:nvGraphicFramePr>
        <p:xfrm>
          <a:off x="6858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731525"/>
                <a:gridCol w="3429000"/>
                <a:gridCol w="36118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b="1"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b="1"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roundScores type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b="1"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leader type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[number]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[number, string]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number[]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[string, number]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string[]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[string, string]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[number, number, number]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60"/>
                        <a:buFont typeface="Arial"/>
                        <a:buNone/>
                      </a:pPr>
                      <a:r>
                        <a:rPr lang="en" sz="106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number[]</a:t>
                      </a:r>
                      <a:endParaRPr sz="10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0" name="Google Shape;600;p49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9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B.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number[] models any number of scores. [string, number] models a name at position 0 and a numeric score at position 1.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9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0"/>
          <p:cNvSpPr/>
          <p:nvPr/>
        </p:nvSpPr>
        <p:spPr>
          <a:xfrm>
            <a:off x="1234440" y="1984248"/>
            <a:ext cx="6675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Union and literal types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0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1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 union type permits listed types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1"/>
          <p:cNvSpPr/>
          <p:nvPr/>
        </p:nvSpPr>
        <p:spPr>
          <a:xfrm>
            <a:off x="685800" y="1005840"/>
            <a:ext cx="7772400" cy="658368"/>
          </a:xfrm>
          <a:prstGeom prst="roundRect">
            <a:avLst>
              <a:gd fmla="val 5556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1"/>
          <p:cNvSpPr txBox="1"/>
          <p:nvPr/>
        </p:nvSpPr>
        <p:spPr>
          <a:xfrm>
            <a:off x="813816" y="1097280"/>
            <a:ext cx="7516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episodeReference: string | number = "EP-204";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1"/>
          <p:cNvSpPr txBox="1"/>
          <p:nvPr/>
        </p:nvSpPr>
        <p:spPr>
          <a:xfrm>
            <a:off x="685800" y="1975104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vertical bar separates the permitted types.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1"/>
          <p:cNvSpPr/>
          <p:nvPr/>
        </p:nvSpPr>
        <p:spPr>
          <a:xfrm>
            <a:off x="1965960" y="2633472"/>
            <a:ext cx="1325880" cy="310896"/>
          </a:xfrm>
          <a:prstGeom prst="roundRect">
            <a:avLst>
              <a:gd fmla="val 17647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1"/>
          <p:cNvSpPr txBox="1"/>
          <p:nvPr/>
        </p:nvSpPr>
        <p:spPr>
          <a:xfrm>
            <a:off x="2039112" y="2679192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F5A9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1"/>
          <p:cNvSpPr/>
          <p:nvPr/>
        </p:nvSpPr>
        <p:spPr>
          <a:xfrm>
            <a:off x="5806440" y="2633472"/>
            <a:ext cx="1325880" cy="310896"/>
          </a:xfrm>
          <a:prstGeom prst="roundRect">
            <a:avLst>
              <a:gd fmla="val 17647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1"/>
          <p:cNvSpPr txBox="1"/>
          <p:nvPr/>
        </p:nvSpPr>
        <p:spPr>
          <a:xfrm>
            <a:off x="5879592" y="2679192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F5A92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1"/>
          <p:cNvSpPr txBox="1"/>
          <p:nvPr/>
        </p:nvSpPr>
        <p:spPr>
          <a:xfrm>
            <a:off x="4352544" y="267919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1"/>
          <p:cNvSpPr/>
          <p:nvPr/>
        </p:nvSpPr>
        <p:spPr>
          <a:xfrm>
            <a:off x="685800" y="3337560"/>
            <a:ext cx="7772400" cy="640080"/>
          </a:xfrm>
          <a:prstGeom prst="roundRect">
            <a:avLst>
              <a:gd fmla="val 8571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1"/>
          <p:cNvSpPr txBox="1"/>
          <p:nvPr/>
        </p:nvSpPr>
        <p:spPr>
          <a:xfrm>
            <a:off x="795528" y="3419856"/>
            <a:ext cx="75529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episodeReference may receive a string such as "EP-204" or a number such as 204.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1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2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Each union member remains valid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685800" y="1005840"/>
            <a:ext cx="7772400" cy="1371600"/>
          </a:xfrm>
          <a:prstGeom prst="roundRect">
            <a:avLst>
              <a:gd fmla="val 266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2"/>
          <p:cNvSpPr txBox="1"/>
          <p:nvPr/>
        </p:nvSpPr>
        <p:spPr>
          <a:xfrm>
            <a:off x="813816" y="1097280"/>
            <a:ext cx="75163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episodeReference: string | number = "EP-204";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episodeReference = 204;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episodeReference = "EP-318";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2"/>
          <p:cNvSpPr/>
          <p:nvPr/>
        </p:nvSpPr>
        <p:spPr>
          <a:xfrm>
            <a:off x="685800" y="269748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2"/>
          <p:cNvSpPr txBox="1"/>
          <p:nvPr/>
        </p:nvSpPr>
        <p:spPr>
          <a:xfrm>
            <a:off x="795528" y="2779776"/>
            <a:ext cx="75529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Both later assignments are accepted: 204 is a number, and "EP-318" is a string.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2"/>
          <p:cNvSpPr/>
          <p:nvPr/>
        </p:nvSpPr>
        <p:spPr>
          <a:xfrm>
            <a:off x="685800" y="3584448"/>
            <a:ext cx="7772400" cy="512064"/>
          </a:xfrm>
          <a:prstGeom prst="roundRect">
            <a:avLst>
              <a:gd fmla="val 1071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2"/>
          <p:cNvSpPr txBox="1"/>
          <p:nvPr/>
        </p:nvSpPr>
        <p:spPr>
          <a:xfrm>
            <a:off x="795528" y="3666744"/>
            <a:ext cx="7552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None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At runtime, the assigned value is still an ordinary string or number.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2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3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 union rejects types that are not listed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3"/>
          <p:cNvSpPr/>
          <p:nvPr/>
        </p:nvSpPr>
        <p:spPr>
          <a:xfrm>
            <a:off x="685800" y="987552"/>
            <a:ext cx="4800600" cy="1024128"/>
          </a:xfrm>
          <a:prstGeom prst="roundRect">
            <a:avLst>
              <a:gd fmla="val 3571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3"/>
          <p:cNvSpPr txBox="1"/>
          <p:nvPr/>
        </p:nvSpPr>
        <p:spPr>
          <a:xfrm>
            <a:off x="813816" y="1078992"/>
            <a:ext cx="45445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episodeReference: string | number = "EP-204";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episodeReference = false;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3"/>
          <p:cNvSpPr/>
          <p:nvPr/>
        </p:nvSpPr>
        <p:spPr>
          <a:xfrm>
            <a:off x="5669280" y="987552"/>
            <a:ext cx="2788920" cy="1024128"/>
          </a:xfrm>
          <a:prstGeom prst="roundRect">
            <a:avLst>
              <a:gd fmla="val 5357" name="adj"/>
            </a:avLst>
          </a:prstGeom>
          <a:solidFill>
            <a:srgbClr val="FBEAEA"/>
          </a:solidFill>
          <a:ln cap="flat" cmpd="sng" w="9525">
            <a:solidFill>
              <a:srgbClr val="E7B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3"/>
          <p:cNvSpPr txBox="1"/>
          <p:nvPr/>
        </p:nvSpPr>
        <p:spPr>
          <a:xfrm>
            <a:off x="5779008" y="1078992"/>
            <a:ext cx="2569464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TS2322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B3261E"/>
                </a:solidFill>
                <a:latin typeface="Courier New"/>
                <a:ea typeface="Courier New"/>
                <a:cs typeface="Courier New"/>
                <a:sym typeface="Courier New"/>
              </a:rPr>
              <a:t>Type 'boolean' is not assignable to type 'string | number'.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3"/>
          <p:cNvSpPr/>
          <p:nvPr/>
        </p:nvSpPr>
        <p:spPr>
          <a:xfrm>
            <a:off x="685800" y="2331720"/>
            <a:ext cx="7772400" cy="603504"/>
          </a:xfrm>
          <a:prstGeom prst="roundRect">
            <a:avLst>
              <a:gd fmla="val 9091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53"/>
          <p:cNvSpPr txBox="1"/>
          <p:nvPr/>
        </p:nvSpPr>
        <p:spPr>
          <a:xfrm>
            <a:off x="795528" y="2414016"/>
            <a:ext cx="7552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union does not mean “any value.” It permits only strings and numbers.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3"/>
          <p:cNvSpPr txBox="1"/>
          <p:nvPr/>
        </p:nvSpPr>
        <p:spPr>
          <a:xfrm>
            <a:off x="685800" y="32644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Smallest valid correction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3"/>
          <p:cNvSpPr/>
          <p:nvPr/>
        </p:nvSpPr>
        <p:spPr>
          <a:xfrm>
            <a:off x="685800" y="3547872"/>
            <a:ext cx="7772400" cy="548640"/>
          </a:xfrm>
          <a:prstGeom prst="roundRect">
            <a:avLst>
              <a:gd fmla="val 666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3"/>
          <p:cNvSpPr txBox="1"/>
          <p:nvPr/>
        </p:nvSpPr>
        <p:spPr>
          <a:xfrm>
            <a:off x="813816" y="3639312"/>
            <a:ext cx="7516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episodeReference = 204;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3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4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Literal types restrict a binding to exact values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4"/>
          <p:cNvSpPr/>
          <p:nvPr/>
        </p:nvSpPr>
        <p:spPr>
          <a:xfrm>
            <a:off x="685800" y="987552"/>
            <a:ext cx="7772400" cy="658368"/>
          </a:xfrm>
          <a:prstGeom prst="roundRect">
            <a:avLst>
              <a:gd fmla="val 5556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4"/>
          <p:cNvSpPr txBox="1"/>
          <p:nvPr/>
        </p:nvSpPr>
        <p:spPr>
          <a:xfrm>
            <a:off x="813816" y="1078992"/>
            <a:ext cx="7516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playbackMode: "normal" | "repeat" | "shuffle" = "normal";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4"/>
          <p:cNvSpPr/>
          <p:nvPr/>
        </p:nvSpPr>
        <p:spPr>
          <a:xfrm>
            <a:off x="685800" y="1956816"/>
            <a:ext cx="7772400" cy="585216"/>
          </a:xfrm>
          <a:prstGeom prst="roundRect">
            <a:avLst>
              <a:gd fmla="val 9375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4"/>
          <p:cNvSpPr txBox="1"/>
          <p:nvPr/>
        </p:nvSpPr>
        <p:spPr>
          <a:xfrm>
            <a:off x="795528" y="2039112"/>
            <a:ext cx="75529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 literal type represents one exact value. The union above permits three exact string values.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4"/>
          <p:cNvSpPr/>
          <p:nvPr/>
        </p:nvSpPr>
        <p:spPr>
          <a:xfrm>
            <a:off x="1115568" y="2907792"/>
            <a:ext cx="2011680" cy="310896"/>
          </a:xfrm>
          <a:prstGeom prst="roundRect">
            <a:avLst>
              <a:gd fmla="val 17647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4"/>
          <p:cNvSpPr txBox="1"/>
          <p:nvPr/>
        </p:nvSpPr>
        <p:spPr>
          <a:xfrm>
            <a:off x="1188720" y="29535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"normal"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4"/>
          <p:cNvSpPr/>
          <p:nvPr/>
        </p:nvSpPr>
        <p:spPr>
          <a:xfrm>
            <a:off x="3566160" y="2907792"/>
            <a:ext cx="2011680" cy="310896"/>
          </a:xfrm>
          <a:prstGeom prst="roundRect">
            <a:avLst>
              <a:gd fmla="val 17647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4"/>
          <p:cNvSpPr txBox="1"/>
          <p:nvPr/>
        </p:nvSpPr>
        <p:spPr>
          <a:xfrm>
            <a:off x="3639312" y="29535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"repeat"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4"/>
          <p:cNvSpPr/>
          <p:nvPr/>
        </p:nvSpPr>
        <p:spPr>
          <a:xfrm>
            <a:off x="6016752" y="2907792"/>
            <a:ext cx="2011680" cy="310896"/>
          </a:xfrm>
          <a:prstGeom prst="roundRect">
            <a:avLst>
              <a:gd fmla="val 17647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4"/>
          <p:cNvSpPr txBox="1"/>
          <p:nvPr/>
        </p:nvSpPr>
        <p:spPr>
          <a:xfrm>
            <a:off x="6089904" y="29535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"shuffle"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4"/>
          <p:cNvSpPr/>
          <p:nvPr/>
        </p:nvSpPr>
        <p:spPr>
          <a:xfrm>
            <a:off x="685800" y="3730752"/>
            <a:ext cx="7772400" cy="512064"/>
          </a:xfrm>
          <a:prstGeom prst="roundRect">
            <a:avLst>
              <a:gd fmla="val 10714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4"/>
          <p:cNvSpPr txBox="1"/>
          <p:nvPr/>
        </p:nvSpPr>
        <p:spPr>
          <a:xfrm>
            <a:off x="795528" y="3813048"/>
            <a:ext cx="7552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Another value may still be a string, but it is not one of the permitted values for playbackMode.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4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5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An excluded literal value gets a diagnostic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5"/>
          <p:cNvSpPr txBox="1"/>
          <p:nvPr/>
        </p:nvSpPr>
        <p:spPr>
          <a:xfrm>
            <a:off x="685800" y="9144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Invalid assignment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5"/>
          <p:cNvSpPr/>
          <p:nvPr/>
        </p:nvSpPr>
        <p:spPr>
          <a:xfrm>
            <a:off x="685800" y="1207008"/>
            <a:ext cx="7772400" cy="914400"/>
          </a:xfrm>
          <a:prstGeom prst="roundRect">
            <a:avLst>
              <a:gd fmla="val 4000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5"/>
          <p:cNvSpPr txBox="1"/>
          <p:nvPr/>
        </p:nvSpPr>
        <p:spPr>
          <a:xfrm>
            <a:off x="813816" y="1298448"/>
            <a:ext cx="7516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playbackMode: "normal" | "repeat" | "shuffle" = "normal";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playbackMode = "random";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5"/>
          <p:cNvSpPr/>
          <p:nvPr/>
        </p:nvSpPr>
        <p:spPr>
          <a:xfrm>
            <a:off x="685800" y="2395728"/>
            <a:ext cx="7772400" cy="530352"/>
          </a:xfrm>
          <a:prstGeom prst="roundRect">
            <a:avLst>
              <a:gd fmla="val 10345" name="adj"/>
            </a:avLst>
          </a:prstGeom>
          <a:solidFill>
            <a:srgbClr val="FBEAEA"/>
          </a:solidFill>
          <a:ln cap="flat" cmpd="sng" w="9525">
            <a:solidFill>
              <a:srgbClr val="E7B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/>
        </p:nvSpPr>
        <p:spPr>
          <a:xfrm>
            <a:off x="795528" y="2487168"/>
            <a:ext cx="7552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"random" is not assignable to the permitted playback modes.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55"/>
          <p:cNvSpPr txBox="1"/>
          <p:nvPr/>
        </p:nvSpPr>
        <p:spPr>
          <a:xfrm>
            <a:off x="685800" y="321868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Corrected assignment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5"/>
          <p:cNvSpPr/>
          <p:nvPr/>
        </p:nvSpPr>
        <p:spPr>
          <a:xfrm>
            <a:off x="685800" y="3511296"/>
            <a:ext cx="7772400" cy="548640"/>
          </a:xfrm>
          <a:prstGeom prst="roundRect">
            <a:avLst>
              <a:gd fmla="val 666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5"/>
          <p:cNvSpPr txBox="1"/>
          <p:nvPr/>
        </p:nvSpPr>
        <p:spPr>
          <a:xfrm>
            <a:off x="813816" y="3602736"/>
            <a:ext cx="7516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playbackMode = "shuffle";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5"/>
          <p:cNvSpPr/>
          <p:nvPr/>
        </p:nvSpPr>
        <p:spPr>
          <a:xfrm>
            <a:off x="685800" y="4224528"/>
            <a:ext cx="7772400" cy="365760"/>
          </a:xfrm>
          <a:prstGeom prst="roundRect">
            <a:avLst>
              <a:gd fmla="val 15000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5"/>
          <p:cNvSpPr txBox="1"/>
          <p:nvPr/>
        </p:nvSpPr>
        <p:spPr>
          <a:xfrm>
            <a:off x="795528" y="4306824"/>
            <a:ext cx="7552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corrected value is one of the exact strings listed in the type.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5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6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Inference may be broader than the intended constraint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6"/>
          <p:cNvSpPr txBox="1"/>
          <p:nvPr/>
        </p:nvSpPr>
        <p:spPr>
          <a:xfrm>
            <a:off x="685800" y="94183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Inferred type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6"/>
          <p:cNvSpPr/>
          <p:nvPr/>
        </p:nvSpPr>
        <p:spPr>
          <a:xfrm>
            <a:off x="685800" y="1225296"/>
            <a:ext cx="2514600" cy="548640"/>
          </a:xfrm>
          <a:prstGeom prst="roundRect">
            <a:avLst>
              <a:gd fmla="val 666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6"/>
          <p:cNvSpPr txBox="1"/>
          <p:nvPr/>
        </p:nvSpPr>
        <p:spPr>
          <a:xfrm>
            <a:off x="813816" y="1316736"/>
            <a:ext cx="2258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inferredMode = "normal";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6"/>
          <p:cNvSpPr/>
          <p:nvPr/>
        </p:nvSpPr>
        <p:spPr>
          <a:xfrm>
            <a:off x="685800" y="1965960"/>
            <a:ext cx="2514600" cy="310896"/>
          </a:xfrm>
          <a:prstGeom prst="roundRect">
            <a:avLst>
              <a:gd fmla="val 17647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6"/>
          <p:cNvSpPr txBox="1"/>
          <p:nvPr/>
        </p:nvSpPr>
        <p:spPr>
          <a:xfrm>
            <a:off x="758952" y="2011680"/>
            <a:ext cx="2368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A9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F5A92"/>
                </a:solidFill>
                <a:latin typeface="Arial"/>
                <a:ea typeface="Arial"/>
                <a:cs typeface="Arial"/>
                <a:sym typeface="Arial"/>
              </a:rPr>
              <a:t>inferredMode: string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6"/>
          <p:cNvSpPr txBox="1"/>
          <p:nvPr/>
        </p:nvSpPr>
        <p:spPr>
          <a:xfrm>
            <a:off x="3456432" y="94183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Explicit permitted values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6"/>
          <p:cNvSpPr/>
          <p:nvPr/>
        </p:nvSpPr>
        <p:spPr>
          <a:xfrm>
            <a:off x="3456432" y="1225296"/>
            <a:ext cx="5001768" cy="548640"/>
          </a:xfrm>
          <a:prstGeom prst="roundRect">
            <a:avLst>
              <a:gd fmla="val 6667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6"/>
          <p:cNvSpPr txBox="1"/>
          <p:nvPr/>
        </p:nvSpPr>
        <p:spPr>
          <a:xfrm>
            <a:off x="3584448" y="1316736"/>
            <a:ext cx="4745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playbackMode: "normal" | "repeat" | "shuffle" = "normal";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6"/>
          <p:cNvSpPr/>
          <p:nvPr/>
        </p:nvSpPr>
        <p:spPr>
          <a:xfrm>
            <a:off x="3456432" y="1965960"/>
            <a:ext cx="5001768" cy="438912"/>
          </a:xfrm>
          <a:prstGeom prst="roundRect">
            <a:avLst>
              <a:gd fmla="val 12500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 txBox="1"/>
          <p:nvPr/>
        </p:nvSpPr>
        <p:spPr>
          <a:xfrm>
            <a:off x="3566160" y="2048256"/>
            <a:ext cx="4782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Permitted values: "normal", "repeat", "shuffle"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6"/>
          <p:cNvSpPr/>
          <p:nvPr/>
        </p:nvSpPr>
        <p:spPr>
          <a:xfrm>
            <a:off x="685800" y="2834640"/>
            <a:ext cx="3749040" cy="640080"/>
          </a:xfrm>
          <a:prstGeom prst="roundRect">
            <a:avLst>
              <a:gd fmla="val 8571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6"/>
          <p:cNvSpPr txBox="1"/>
          <p:nvPr/>
        </p:nvSpPr>
        <p:spPr>
          <a:xfrm>
            <a:off x="795528" y="2916936"/>
            <a:ext cx="3529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For the mutable let binding, TypeScript infers the broader type string.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6"/>
          <p:cNvSpPr/>
          <p:nvPr/>
        </p:nvSpPr>
        <p:spPr>
          <a:xfrm>
            <a:off x="4709160" y="2834640"/>
            <a:ext cx="3749040" cy="640080"/>
          </a:xfrm>
          <a:prstGeom prst="roundRect">
            <a:avLst>
              <a:gd fmla="val 8571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6"/>
          <p:cNvSpPr txBox="1"/>
          <p:nvPr/>
        </p:nvSpPr>
        <p:spPr>
          <a:xfrm>
            <a:off x="4818888" y="2916936"/>
            <a:ext cx="3529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explicit literal union communicates that only three exact strings are permitted.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6"/>
          <p:cNvSpPr txBox="1"/>
          <p:nvPr/>
        </p:nvSpPr>
        <p:spPr>
          <a:xfrm>
            <a:off x="685800" y="382219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Use an explicit type when it expresses an intended constraint that the initial value alone does not communicate.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6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Checkpoint: Update the device access state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7"/>
          <p:cNvSpPr/>
          <p:nvPr/>
        </p:nvSpPr>
        <p:spPr>
          <a:xfrm>
            <a:off x="685800" y="914400"/>
            <a:ext cx="7772400" cy="768096"/>
          </a:xfrm>
          <a:prstGeom prst="roundRect">
            <a:avLst>
              <a:gd fmla="val 4762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7"/>
          <p:cNvSpPr txBox="1"/>
          <p:nvPr/>
        </p:nvSpPr>
        <p:spPr>
          <a:xfrm>
            <a:off x="813816" y="1005840"/>
            <a:ext cx="7516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deviceId: string | number = "DV-18";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accessMode: "guest" | "member" | "admin" = "guest";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7"/>
          <p:cNvSpPr txBox="1"/>
          <p:nvPr/>
        </p:nvSpPr>
        <p:spPr>
          <a:xfrm>
            <a:off x="685800" y="1874520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60"/>
              <a:buFont typeface="Arial"/>
              <a:buNone/>
            </a:pPr>
            <a:r>
              <a:rPr b="1" i="0" lang="en" sz="14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Which update pair is accepted for both bindings?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23" name="Google Shape;723;p57"/>
          <p:cNvGraphicFramePr/>
          <p:nvPr/>
        </p:nvGraphicFramePr>
        <p:xfrm>
          <a:off x="685800" y="2267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822950"/>
                <a:gridCol w="3246125"/>
                <a:gridCol w="37033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deviceId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accessMode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false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"admin"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"DV-21"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"staff"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"member"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80"/>
                        <a:buFont typeface="Arial"/>
                        <a:buNone/>
                      </a:pPr>
                      <a:r>
                        <a:rPr lang="en" sz="10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sz="10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4" name="Google Shape;724;p57"/>
          <p:cNvSpPr/>
          <p:nvPr/>
        </p:nvSpPr>
        <p:spPr>
          <a:xfrm>
            <a:off x="685800" y="411480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EAF6EA"/>
          </a:solidFill>
          <a:ln cap="flat" cmpd="sng" w="9525">
            <a:solidFill>
              <a:srgbClr val="A9C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7"/>
          <p:cNvSpPr/>
          <p:nvPr/>
        </p:nvSpPr>
        <p:spPr>
          <a:xfrm>
            <a:off x="822960" y="4206240"/>
            <a:ext cx="7479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Answer: C. </a:t>
            </a: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204 matches string | number, and "member" is one of the permitted literal values.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7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8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Activity: Weather observation station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58"/>
          <p:cNvCxnSpPr/>
          <p:nvPr/>
        </p:nvCxnSpPr>
        <p:spPr>
          <a:xfrm>
            <a:off x="548640" y="813816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p58"/>
          <p:cNvSpPr/>
          <p:nvPr/>
        </p:nvSpPr>
        <p:spPr>
          <a:xfrm>
            <a:off x="685800" y="932688"/>
            <a:ext cx="7772400" cy="512064"/>
          </a:xfrm>
          <a:prstGeom prst="roundRect">
            <a:avLst>
              <a:gd fmla="val 1071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8"/>
          <p:cNvSpPr txBox="1"/>
          <p:nvPr/>
        </p:nvSpPr>
        <p:spPr>
          <a:xfrm>
            <a:off x="795528" y="1014984"/>
            <a:ext cx="7552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60"/>
              <a:buFont typeface="Arial"/>
              <a:buNone/>
            </a:pPr>
            <a:r>
              <a:rPr b="1" i="0" lang="en" sz="126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Add type information to a prepared station report.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8"/>
          <p:cNvSpPr txBox="1"/>
          <p:nvPr/>
        </p:nvSpPr>
        <p:spPr>
          <a:xfrm>
            <a:off x="713232" y="1709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Your goal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8"/>
          <p:cNvSpPr/>
          <p:nvPr/>
        </p:nvSpPr>
        <p:spPr>
          <a:xfrm>
            <a:off x="749808" y="2029968"/>
            <a:ext cx="4983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Char char="•"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inspect an inferred type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Char char="•"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add useful explicit types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Char char="•"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correct one type mismatch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Char char="•"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describe an array and a tuple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Char char="•"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describe permitted types and exact permitted values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70"/>
              <a:buFont typeface="Arial"/>
              <a:buChar char="•"/>
            </a:pPr>
            <a:r>
              <a:rPr b="0" i="0" lang="en" sz="11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finish with valid runtime output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8"/>
          <p:cNvSpPr/>
          <p:nvPr/>
        </p:nvSpPr>
        <p:spPr>
          <a:xfrm>
            <a:off x="6016752" y="1874520"/>
            <a:ext cx="2441448" cy="868680"/>
          </a:xfrm>
          <a:prstGeom prst="roundRect">
            <a:avLst>
              <a:gd fmla="val 6316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8"/>
          <p:cNvSpPr txBox="1"/>
          <p:nvPr/>
        </p:nvSpPr>
        <p:spPr>
          <a:xfrm>
            <a:off x="6126480" y="1956816"/>
            <a:ext cx="2221992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Available time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18 minutes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8"/>
          <p:cNvSpPr/>
          <p:nvPr/>
        </p:nvSpPr>
        <p:spPr>
          <a:xfrm>
            <a:off x="6016752" y="3017520"/>
            <a:ext cx="2441448" cy="841248"/>
          </a:xfrm>
          <a:prstGeom prst="roundRect">
            <a:avLst>
              <a:gd fmla="val 6522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8"/>
          <p:cNvSpPr txBox="1"/>
          <p:nvPr/>
        </p:nvSpPr>
        <p:spPr>
          <a:xfrm>
            <a:off x="6126480" y="3099816"/>
            <a:ext cx="222199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Use the prepared TypeScript Playground starter. No installation or new files are required.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8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9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Start from the prepared station report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9"/>
          <p:cNvSpPr/>
          <p:nvPr/>
        </p:nvSpPr>
        <p:spPr>
          <a:xfrm>
            <a:off x="685800" y="868680"/>
            <a:ext cx="7772400" cy="3218688"/>
          </a:xfrm>
          <a:prstGeom prst="roundRect">
            <a:avLst>
              <a:gd fmla="val 1136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9"/>
          <p:cNvSpPr txBox="1"/>
          <p:nvPr/>
        </p:nvSpPr>
        <p:spPr>
          <a:xfrm>
            <a:off x="813816" y="960120"/>
            <a:ext cx="7516368" cy="3035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stationName = "North campus";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temperature = 27;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isRaining = false;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temperature = "28";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hourlyReadings = [26, 27, 28];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latestReading = ["11:00 AM", 28];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stationReference = "MY-12";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alertLevel = "normal";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console.log(`${stationName} | ${temperature}°C | ${alertLevel}`);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9"/>
          <p:cNvSpPr/>
          <p:nvPr/>
        </p:nvSpPr>
        <p:spPr>
          <a:xfrm>
            <a:off x="685800" y="4206240"/>
            <a:ext cx="7772400" cy="438912"/>
          </a:xfrm>
          <a:prstGeom prst="roundRect">
            <a:avLst>
              <a:gd fmla="val 12500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9"/>
          <p:cNvSpPr txBox="1"/>
          <p:nvPr/>
        </p:nvSpPr>
        <p:spPr>
          <a:xfrm>
            <a:off x="795528" y="4288536"/>
            <a:ext cx="7552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starter contains one intended type mismatch. Do not run the program yet. Complete the tasks in order.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9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0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Tasks 1 and 2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0"/>
          <p:cNvSpPr/>
          <p:nvPr/>
        </p:nvSpPr>
        <p:spPr>
          <a:xfrm>
            <a:off x="685800" y="960120"/>
            <a:ext cx="3703320" cy="3337560"/>
          </a:xfrm>
          <a:prstGeom prst="roundRect">
            <a:avLst>
              <a:gd fmla="val 164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60"/>
          <p:cNvSpPr txBox="1"/>
          <p:nvPr/>
        </p:nvSpPr>
        <p:spPr>
          <a:xfrm>
            <a:off x="868680" y="115214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10"/>
              <a:buFont typeface="Arial"/>
              <a:buNone/>
            </a:pPr>
            <a:r>
              <a:rPr b="1" i="0" lang="en" sz="13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Task 1: Primitive values</a:t>
            </a:r>
            <a:endParaRPr b="0" i="0" sz="13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0"/>
          <p:cNvSpPr/>
          <p:nvPr/>
        </p:nvSpPr>
        <p:spPr>
          <a:xfrm>
            <a:off x="868680" y="1572768"/>
            <a:ext cx="3255264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70"/>
              <a:buFont typeface="Arial"/>
              <a:buChar char="•"/>
            </a:pPr>
            <a:r>
              <a:rPr b="0" i="0" lang="en" sz="10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Hover over stationName.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70"/>
              <a:buFont typeface="Arial"/>
              <a:buChar char="•"/>
            </a:pPr>
            <a:r>
              <a:rPr b="0" i="0" lang="en" sz="10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Record its inferred type.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70"/>
              <a:buFont typeface="Arial"/>
              <a:buChar char="•"/>
            </a:pPr>
            <a:r>
              <a:rPr b="0" i="0" lang="en" sz="10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Add an explicit number type to temperature.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70"/>
              <a:buFont typeface="Arial"/>
              <a:buChar char="•"/>
            </a:pPr>
            <a:r>
              <a:rPr b="0" i="0" lang="en" sz="10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Add an explicit boolean type to isRaining.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70"/>
              <a:buFont typeface="Arial"/>
              <a:buChar char="•"/>
            </a:pPr>
            <a:r>
              <a:rPr b="0" i="0" lang="en" sz="10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Correct the mismatch involving "28".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70"/>
              <a:buFont typeface="Arial"/>
              <a:buChar char="•"/>
            </a:pPr>
            <a:r>
              <a:rPr b="0" i="0" lang="en" sz="10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Keep the meaning of temperature unchanged.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0"/>
          <p:cNvSpPr/>
          <p:nvPr/>
        </p:nvSpPr>
        <p:spPr>
          <a:xfrm>
            <a:off x="868680" y="3767328"/>
            <a:ext cx="3337560" cy="329184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0"/>
          <p:cNvSpPr txBox="1"/>
          <p:nvPr/>
        </p:nvSpPr>
        <p:spPr>
          <a:xfrm>
            <a:off x="978408" y="3849624"/>
            <a:ext cx="3118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89"/>
              <a:buFont typeface="Courier New"/>
              <a:buNone/>
            </a:pPr>
            <a:r>
              <a:rPr b="0" i="0" lang="en" sz="99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Expected result: the primitive mismatch is removed.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0"/>
          <p:cNvSpPr/>
          <p:nvPr/>
        </p:nvSpPr>
        <p:spPr>
          <a:xfrm>
            <a:off x="4709160" y="960120"/>
            <a:ext cx="3749040" cy="3337560"/>
          </a:xfrm>
          <a:prstGeom prst="roundRect">
            <a:avLst>
              <a:gd fmla="val 1644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60"/>
          <p:cNvSpPr txBox="1"/>
          <p:nvPr/>
        </p:nvSpPr>
        <p:spPr>
          <a:xfrm>
            <a:off x="4892040" y="115214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10"/>
              <a:buFont typeface="Arial"/>
              <a:buNone/>
            </a:pPr>
            <a:r>
              <a:rPr b="1" i="0" lang="en" sz="13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Task 2: Collections</a:t>
            </a:r>
            <a:endParaRPr b="0" i="0" sz="13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0"/>
          <p:cNvSpPr/>
          <p:nvPr/>
        </p:nvSpPr>
        <p:spPr>
          <a:xfrm>
            <a:off x="4892040" y="1572768"/>
            <a:ext cx="3273552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Char char="•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 hourlyReadings as an array of numbers.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Char char="•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 latestReading as a tuple.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Char char="•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position 0: string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Char char="•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position 1: number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0"/>
          <p:cNvSpPr/>
          <p:nvPr/>
        </p:nvSpPr>
        <p:spPr>
          <a:xfrm>
            <a:off x="4892040" y="3767328"/>
            <a:ext cx="3383280" cy="329184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60"/>
          <p:cNvSpPr txBox="1"/>
          <p:nvPr/>
        </p:nvSpPr>
        <p:spPr>
          <a:xfrm>
            <a:off x="5001768" y="3849624"/>
            <a:ext cx="31638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89"/>
              <a:buFont typeface="Courier New"/>
              <a:buNone/>
            </a:pPr>
            <a:r>
              <a:rPr b="0" i="0" lang="en" sz="99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Expected result: no new type diagnostic appears.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0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1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Tasks 3 and 4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1"/>
          <p:cNvSpPr/>
          <p:nvPr/>
        </p:nvSpPr>
        <p:spPr>
          <a:xfrm>
            <a:off x="685800" y="950976"/>
            <a:ext cx="3977640" cy="3337560"/>
          </a:xfrm>
          <a:prstGeom prst="roundRect">
            <a:avLst>
              <a:gd fmla="val 1644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61"/>
          <p:cNvSpPr txBox="1"/>
          <p:nvPr/>
        </p:nvSpPr>
        <p:spPr>
          <a:xfrm>
            <a:off x="868680" y="114300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Task 3: Permitted alternatives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61"/>
          <p:cNvSpPr/>
          <p:nvPr/>
        </p:nvSpPr>
        <p:spPr>
          <a:xfrm>
            <a:off x="868680" y="1536192"/>
            <a:ext cx="3520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Char char="•"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Let stationReference accept a string or number.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Char char="•"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Let alertLevel accept only: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Char char="•"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"normal"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Char char="•"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"watch"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80"/>
              <a:buFont typeface="Arial"/>
              <a:buChar char="•"/>
            </a:pPr>
            <a:r>
              <a:rPr b="0" i="0" lang="en" sz="10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"warning"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1"/>
          <p:cNvSpPr/>
          <p:nvPr/>
        </p:nvSpPr>
        <p:spPr>
          <a:xfrm>
            <a:off x="868680" y="3273552"/>
            <a:ext cx="3611880" cy="621792"/>
          </a:xfrm>
          <a:prstGeom prst="roundRect">
            <a:avLst>
              <a:gd fmla="val 5882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1"/>
          <p:cNvSpPr txBox="1"/>
          <p:nvPr/>
        </p:nvSpPr>
        <p:spPr>
          <a:xfrm>
            <a:off x="996696" y="3364992"/>
            <a:ext cx="33558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stationReference = 12;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0"/>
              <a:buFont typeface="Courier New"/>
              <a:buNone/>
            </a:pPr>
            <a:r>
              <a:rPr b="0" i="0" lang="en" sz="101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alertLevel = "watch";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1"/>
          <p:cNvSpPr/>
          <p:nvPr/>
        </p:nvSpPr>
        <p:spPr>
          <a:xfrm>
            <a:off x="4892040" y="950976"/>
            <a:ext cx="3566160" cy="3337560"/>
          </a:xfrm>
          <a:prstGeom prst="roundRect">
            <a:avLst>
              <a:gd fmla="val 1644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1"/>
          <p:cNvSpPr txBox="1"/>
          <p:nvPr/>
        </p:nvSpPr>
        <p:spPr>
          <a:xfrm>
            <a:off x="5074920" y="11430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Task 4: Validate and run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1"/>
          <p:cNvSpPr/>
          <p:nvPr/>
        </p:nvSpPr>
        <p:spPr>
          <a:xfrm>
            <a:off x="5074920" y="1572768"/>
            <a:ext cx="31546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Char char="•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Confirm that no intended type diagnostic remains.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Char char="•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Run the completed program.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90"/>
              <a:buFont typeface="Arial"/>
              <a:buChar char="•"/>
            </a:pPr>
            <a:r>
              <a:rPr b="0" i="0" lang="en" sz="10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Compare the result with the expected output.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1"/>
          <p:cNvSpPr/>
          <p:nvPr/>
        </p:nvSpPr>
        <p:spPr>
          <a:xfrm>
            <a:off x="5074920" y="3044952"/>
            <a:ext cx="3200400" cy="603504"/>
          </a:xfrm>
          <a:prstGeom prst="roundRect">
            <a:avLst>
              <a:gd fmla="val 9091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61"/>
          <p:cNvSpPr txBox="1"/>
          <p:nvPr/>
        </p:nvSpPr>
        <p:spPr>
          <a:xfrm>
            <a:off x="5184648" y="3127248"/>
            <a:ext cx="2980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North campus | 28°C | watch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1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2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Complete the station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685800" y="932688"/>
            <a:ext cx="7772400" cy="420624"/>
          </a:xfrm>
          <a:prstGeom prst="roundRect">
            <a:avLst>
              <a:gd fmla="val 13043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62"/>
          <p:cNvSpPr txBox="1"/>
          <p:nvPr/>
        </p:nvSpPr>
        <p:spPr>
          <a:xfrm>
            <a:off x="795528" y="1014984"/>
            <a:ext cx="7552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Work time: 18 minutes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2"/>
          <p:cNvSpPr/>
          <p:nvPr/>
        </p:nvSpPr>
        <p:spPr>
          <a:xfrm>
            <a:off x="685800" y="1572768"/>
            <a:ext cx="4572000" cy="2542032"/>
          </a:xfrm>
          <a:prstGeom prst="roundRect">
            <a:avLst>
              <a:gd fmla="val 2158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62"/>
          <p:cNvSpPr txBox="1"/>
          <p:nvPr/>
        </p:nvSpPr>
        <p:spPr>
          <a:xfrm>
            <a:off x="868680" y="175564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Completion checklist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62"/>
          <p:cNvSpPr/>
          <p:nvPr/>
        </p:nvSpPr>
        <p:spPr>
          <a:xfrm>
            <a:off x="868680" y="2121408"/>
            <a:ext cx="4160520" cy="17556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stationName remains inferred as string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temperature explicitly expects a number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isRaining explicitly expects a boolean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hourlyReadings is a typed number array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latestReading is a string-and-number tuple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stationReference accepts a string or number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alertLevel permits three exact values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9"/>
              <a:buFont typeface="Arial"/>
              <a:buChar char="•"/>
            </a:pPr>
            <a:r>
              <a:rPr b="0" i="0" lang="en" sz="99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no intended diagnostic remains and output is printed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62"/>
          <p:cNvSpPr/>
          <p:nvPr/>
        </p:nvSpPr>
        <p:spPr>
          <a:xfrm>
            <a:off x="5486400" y="1572768"/>
            <a:ext cx="2971800" cy="1033272"/>
          </a:xfrm>
          <a:prstGeom prst="roundRect">
            <a:avLst>
              <a:gd fmla="val 5310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2"/>
          <p:cNvSpPr txBox="1"/>
          <p:nvPr/>
        </p:nvSpPr>
        <p:spPr>
          <a:xfrm>
            <a:off x="5669280" y="175564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2"/>
          <p:cNvSpPr/>
          <p:nvPr/>
        </p:nvSpPr>
        <p:spPr>
          <a:xfrm>
            <a:off x="5650992" y="2057400"/>
            <a:ext cx="2596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70"/>
              <a:buFont typeface="Arial"/>
              <a:buChar char="•"/>
            </a:pPr>
            <a:r>
              <a:rPr b="0" i="0" lang="en" sz="9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Do not use any.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70"/>
              <a:buFont typeface="Arial"/>
              <a:buChar char="•"/>
            </a:pPr>
            <a:r>
              <a:rPr b="0" i="0" lang="en" sz="9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Do not add object types or functions.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70"/>
              <a:buFont typeface="Arial"/>
              <a:buChar char="•"/>
            </a:pPr>
            <a:r>
              <a:rPr b="0" i="0" lang="en" sz="9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Work only inside the prepared source.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2"/>
          <p:cNvSpPr/>
          <p:nvPr/>
        </p:nvSpPr>
        <p:spPr>
          <a:xfrm>
            <a:off x="5486400" y="2788920"/>
            <a:ext cx="2971800" cy="1325880"/>
          </a:xfrm>
          <a:prstGeom prst="roundRect">
            <a:avLst>
              <a:gd fmla="val 4138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62"/>
          <p:cNvSpPr txBox="1"/>
          <p:nvPr/>
        </p:nvSpPr>
        <p:spPr>
          <a:xfrm>
            <a:off x="5669280" y="297180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When asking for help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62"/>
          <p:cNvSpPr/>
          <p:nvPr/>
        </p:nvSpPr>
        <p:spPr>
          <a:xfrm>
            <a:off x="5687568" y="3337560"/>
            <a:ext cx="24871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30"/>
              <a:buFont typeface="Arial"/>
              <a:buAutoNum type="arabicPeriod"/>
            </a:pPr>
            <a:r>
              <a:rPr b="0" i="0" lang="en" sz="10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flagged line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30"/>
              <a:buFont typeface="Arial"/>
              <a:buAutoNum type="arabicPeriod"/>
            </a:pPr>
            <a:r>
              <a:rPr b="0" i="0" lang="en" sz="10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expected type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30"/>
              <a:buFont typeface="Arial"/>
              <a:buAutoNum type="arabicPeriod"/>
            </a:pPr>
            <a:r>
              <a:rPr b="0" i="0" lang="en" sz="10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received type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62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3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Review: One valid final state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3"/>
          <p:cNvSpPr/>
          <p:nvPr/>
        </p:nvSpPr>
        <p:spPr>
          <a:xfrm>
            <a:off x="685800" y="859536"/>
            <a:ext cx="7772400" cy="3291840"/>
          </a:xfrm>
          <a:prstGeom prst="roundRect">
            <a:avLst>
              <a:gd fmla="val 1111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63"/>
          <p:cNvSpPr txBox="1"/>
          <p:nvPr/>
        </p:nvSpPr>
        <p:spPr>
          <a:xfrm>
            <a:off x="813816" y="950976"/>
            <a:ext cx="751636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stationName = "North campus";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temperature: number = 27;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isRaining: boolean = false;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5"/>
              <a:buFont typeface="Arial"/>
              <a:buNone/>
            </a:pPr>
            <a:r>
              <a:t/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temperature = 28;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5"/>
              <a:buFont typeface="Arial"/>
              <a:buNone/>
            </a:pPr>
            <a:r>
              <a:t/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hourlyReadings: number[] = [26, 27, 28];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latestReading: [string, number] = ["11:00 AM", 28];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5"/>
              <a:buFont typeface="Arial"/>
              <a:buNone/>
            </a:pPr>
            <a:r>
              <a:t/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stationReference: string | number = "MY-12";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stationReference = 12;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5"/>
              <a:buFont typeface="Arial"/>
              <a:buNone/>
            </a:pPr>
            <a:r>
              <a:t/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alertLevel: "normal" | "watch" | "warning" = "normal";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alertLevel = "watch";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5"/>
              <a:buFont typeface="Arial"/>
              <a:buNone/>
            </a:pPr>
            <a:r>
              <a:t/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914"/>
              <a:buFont typeface="Courier New"/>
              <a:buNone/>
            </a:pPr>
            <a:r>
              <a:rPr b="0" i="0" lang="en" sz="915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console.log(`${stationName} | ${temperature}°C | ${alertLevel}`);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63"/>
          <p:cNvSpPr/>
          <p:nvPr/>
        </p:nvSpPr>
        <p:spPr>
          <a:xfrm>
            <a:off x="685800" y="4279392"/>
            <a:ext cx="3749040" cy="329184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63"/>
          <p:cNvSpPr txBox="1"/>
          <p:nvPr/>
        </p:nvSpPr>
        <p:spPr>
          <a:xfrm>
            <a:off x="795528" y="4361688"/>
            <a:ext cx="35295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Static state: No intended type diagnostic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63"/>
          <p:cNvSpPr/>
          <p:nvPr/>
        </p:nvSpPr>
        <p:spPr>
          <a:xfrm>
            <a:off x="4663440" y="4279392"/>
            <a:ext cx="3794760" cy="329184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63"/>
          <p:cNvSpPr txBox="1"/>
          <p:nvPr/>
        </p:nvSpPr>
        <p:spPr>
          <a:xfrm>
            <a:off x="4773168" y="4361688"/>
            <a:ext cx="35753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Runtime output: North campus | 28°C | watch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63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4"/>
          <p:cNvSpPr/>
          <p:nvPr/>
        </p:nvSpPr>
        <p:spPr>
          <a:xfrm>
            <a:off x="548640" y="338328"/>
            <a:ext cx="6446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Homework: Build a parcel sorting console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5" name="Google Shape;825;p64"/>
          <p:cNvCxnSpPr/>
          <p:nvPr/>
        </p:nvCxnSpPr>
        <p:spPr>
          <a:xfrm>
            <a:off x="548640" y="813816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1F5A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64"/>
          <p:cNvSpPr/>
          <p:nvPr/>
        </p:nvSpPr>
        <p:spPr>
          <a:xfrm>
            <a:off x="685800" y="914400"/>
            <a:ext cx="7772400" cy="475488"/>
          </a:xfrm>
          <a:prstGeom prst="roundRect">
            <a:avLst>
              <a:gd fmla="val 11538" name="adj"/>
            </a:avLst>
          </a:prstGeom>
          <a:solidFill>
            <a:srgbClr val="EAF2F8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64"/>
          <p:cNvSpPr txBox="1"/>
          <p:nvPr/>
        </p:nvSpPr>
        <p:spPr>
          <a:xfrm>
            <a:off x="795528" y="996696"/>
            <a:ext cx="7552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Expected effort: 35 to 45 minutes   |   Objective: Describe the values in a small parcel workflow with TypeScript types.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64"/>
          <p:cNvSpPr/>
          <p:nvPr/>
        </p:nvSpPr>
        <p:spPr>
          <a:xfrm>
            <a:off x="685800" y="1591056"/>
            <a:ext cx="5074920" cy="2514600"/>
          </a:xfrm>
          <a:prstGeom prst="roundRect">
            <a:avLst>
              <a:gd fmla="val 2182" name="adj"/>
            </a:avLst>
          </a:prstGeom>
          <a:solidFill>
            <a:srgbClr val="FFFFFF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4"/>
          <p:cNvSpPr txBox="1"/>
          <p:nvPr/>
        </p:nvSpPr>
        <p:spPr>
          <a:xfrm>
            <a:off x="868680" y="1773936"/>
            <a:ext cx="4709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64"/>
          <p:cNvSpPr/>
          <p:nvPr/>
        </p:nvSpPr>
        <p:spPr>
          <a:xfrm>
            <a:off x="859536" y="2103120"/>
            <a:ext cx="4663440" cy="1792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375" wrap="square" tIns="375">
            <a:noAutofit/>
          </a:bodyPr>
          <a:lstStyle/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Keep trackingLabel inferred.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initial value: "PK-4821"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Annotate the primitive bindings.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weightKg: number; isFragile: boolean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Type the collections.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scannedWeights: number[] with 1.8, 2.4, and 3.1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latestScan: [string, number] for label and weight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Model the permitted alternatives.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parcelReference: string | number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parcelState: "received" | "sorted" | "dispatched"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Finish the program.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5334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Char char="•"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set parcelState to "sorted" and print the summary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64"/>
          <p:cNvSpPr/>
          <p:nvPr/>
        </p:nvSpPr>
        <p:spPr>
          <a:xfrm>
            <a:off x="5989320" y="1591056"/>
            <a:ext cx="2468880" cy="1161288"/>
          </a:xfrm>
          <a:prstGeom prst="roundRect">
            <a:avLst>
              <a:gd fmla="val 4724" name="adj"/>
            </a:avLst>
          </a:prstGeom>
          <a:solidFill>
            <a:srgbClr val="EAF6EA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4"/>
          <p:cNvSpPr txBox="1"/>
          <p:nvPr/>
        </p:nvSpPr>
        <p:spPr>
          <a:xfrm>
            <a:off x="6172200" y="177393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Complete state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4"/>
          <p:cNvSpPr txBox="1"/>
          <p:nvPr/>
        </p:nvSpPr>
        <p:spPr>
          <a:xfrm>
            <a:off x="6163056" y="2121408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No intended type diagnostic remains.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64"/>
          <p:cNvSpPr/>
          <p:nvPr/>
        </p:nvSpPr>
        <p:spPr>
          <a:xfrm>
            <a:off x="6144768" y="2450592"/>
            <a:ext cx="2157984" cy="310896"/>
          </a:xfrm>
          <a:prstGeom prst="roundRect">
            <a:avLst>
              <a:gd fmla="val 17647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64"/>
          <p:cNvSpPr txBox="1"/>
          <p:nvPr/>
        </p:nvSpPr>
        <p:spPr>
          <a:xfrm>
            <a:off x="6254496" y="2532888"/>
            <a:ext cx="19385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PK-4821 | 2.4 kg | sorted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64"/>
          <p:cNvSpPr/>
          <p:nvPr/>
        </p:nvSpPr>
        <p:spPr>
          <a:xfrm>
            <a:off x="5989320" y="2971800"/>
            <a:ext cx="2468880" cy="1133856"/>
          </a:xfrm>
          <a:prstGeom prst="roundRect">
            <a:avLst>
              <a:gd fmla="val 4839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4"/>
          <p:cNvSpPr txBox="1"/>
          <p:nvPr/>
        </p:nvSpPr>
        <p:spPr>
          <a:xfrm>
            <a:off x="6172200" y="31546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Submission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64"/>
          <p:cNvSpPr txBox="1"/>
          <p:nvPr/>
        </p:nvSpPr>
        <p:spPr>
          <a:xfrm>
            <a:off x="6163056" y="3511296"/>
            <a:ext cx="21214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Submit the Playground link or completed TypeScript source. Do not use any, object types, or typed functions.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64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5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Optional type repair: Find three mismatches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65"/>
          <p:cNvSpPr/>
          <p:nvPr/>
        </p:nvSpPr>
        <p:spPr>
          <a:xfrm>
            <a:off x="7114032" y="804672"/>
            <a:ext cx="1243584" cy="237744"/>
          </a:xfrm>
          <a:prstGeom prst="roundRect">
            <a:avLst>
              <a:gd fmla="val 23077" name="adj"/>
            </a:avLst>
          </a:prstGeom>
          <a:solidFill>
            <a:srgbClr val="FFF5CC"/>
          </a:solidFill>
          <a:ln cap="flat" cmpd="sng" w="9525">
            <a:solidFill>
              <a:srgbClr val="E6D7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65"/>
          <p:cNvSpPr txBox="1"/>
          <p:nvPr/>
        </p:nvSpPr>
        <p:spPr>
          <a:xfrm>
            <a:off x="7187184" y="850392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B00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996B00"/>
                </a:solidFill>
                <a:latin typeface="Arial"/>
                <a:ea typeface="Arial"/>
                <a:cs typeface="Arial"/>
                <a:sym typeface="Arial"/>
              </a:rPr>
              <a:t>Optional review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65"/>
          <p:cNvSpPr/>
          <p:nvPr/>
        </p:nvSpPr>
        <p:spPr>
          <a:xfrm>
            <a:off x="685800" y="1225296"/>
            <a:ext cx="7772400" cy="1554480"/>
          </a:xfrm>
          <a:prstGeom prst="roundRect">
            <a:avLst>
              <a:gd fmla="val 2353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65"/>
          <p:cNvSpPr txBox="1"/>
          <p:nvPr/>
        </p:nvSpPr>
        <p:spPr>
          <a:xfrm>
            <a:off x="813816" y="1316736"/>
            <a:ext cx="75163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exportCount: number = "24";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exportSize: [number, string] = ["2048", "px"];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exportFormat: "jpg" | "png" | "webp" = "jpeg";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65"/>
          <p:cNvSpPr txBox="1"/>
          <p:nvPr/>
        </p:nvSpPr>
        <p:spPr>
          <a:xfrm>
            <a:off x="685800" y="307238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For each flagged value, identify: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5"/>
          <p:cNvSpPr/>
          <p:nvPr/>
        </p:nvSpPr>
        <p:spPr>
          <a:xfrm>
            <a:off x="731520" y="3438144"/>
            <a:ext cx="49834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AutoNum type="arabicPeriod"/>
            </a:pPr>
            <a:r>
              <a:rPr b="0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expected type or permitted values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AutoNum type="arabicPeriod"/>
            </a:pPr>
            <a:r>
              <a:rPr b="0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received type or value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10"/>
              <a:buFont typeface="Arial"/>
              <a:buAutoNum type="arabicPeriod"/>
            </a:pPr>
            <a:r>
              <a:rPr b="0" i="0" lang="en" sz="111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the smallest valid correction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65"/>
          <p:cNvSpPr/>
          <p:nvPr/>
        </p:nvSpPr>
        <p:spPr>
          <a:xfrm>
            <a:off x="5897880" y="3200400"/>
            <a:ext cx="2560320" cy="786384"/>
          </a:xfrm>
          <a:prstGeom prst="roundRect">
            <a:avLst>
              <a:gd fmla="val 6977" name="adj"/>
            </a:avLst>
          </a:prstGeom>
          <a:solidFill>
            <a:srgbClr val="FFF5CC"/>
          </a:solidFill>
          <a:ln cap="flat" cmpd="sng" w="9525">
            <a:solidFill>
              <a:srgbClr val="D2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5"/>
          <p:cNvSpPr txBox="1"/>
          <p:nvPr/>
        </p:nvSpPr>
        <p:spPr>
          <a:xfrm>
            <a:off x="6007608" y="3282696"/>
            <a:ext cx="234086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139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A3139"/>
                </a:solidFill>
                <a:latin typeface="Arial"/>
                <a:ea typeface="Arial"/>
                <a:cs typeface="Arial"/>
                <a:sym typeface="Arial"/>
              </a:rPr>
              <a:t>Do not run the code until all three mismatches are corrected.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65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6"/>
          <p:cNvSpPr/>
          <p:nvPr/>
        </p:nvSpPr>
        <p:spPr>
          <a:xfrm>
            <a:off x="548640" y="28346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1950"/>
              <a:buFont typeface="Arial"/>
              <a:buNone/>
            </a:pPr>
            <a:r>
              <a:rPr b="1" i="0" lang="en" sz="195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Optional type repair: Corrected state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6"/>
          <p:cNvSpPr/>
          <p:nvPr/>
        </p:nvSpPr>
        <p:spPr>
          <a:xfrm>
            <a:off x="7114032" y="804672"/>
            <a:ext cx="1243584" cy="237744"/>
          </a:xfrm>
          <a:prstGeom prst="roundRect">
            <a:avLst>
              <a:gd fmla="val 23077" name="adj"/>
            </a:avLst>
          </a:prstGeom>
          <a:solidFill>
            <a:srgbClr val="FFF5CC"/>
          </a:solidFill>
          <a:ln cap="flat" cmpd="sng" w="9525">
            <a:solidFill>
              <a:srgbClr val="E6D7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66"/>
          <p:cNvSpPr txBox="1"/>
          <p:nvPr/>
        </p:nvSpPr>
        <p:spPr>
          <a:xfrm>
            <a:off x="7187184" y="850392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B00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996B00"/>
                </a:solidFill>
                <a:latin typeface="Arial"/>
                <a:ea typeface="Arial"/>
                <a:cs typeface="Arial"/>
                <a:sym typeface="Arial"/>
              </a:rPr>
              <a:t>Optional review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66"/>
          <p:cNvSpPr/>
          <p:nvPr/>
        </p:nvSpPr>
        <p:spPr>
          <a:xfrm>
            <a:off x="685800" y="1133856"/>
            <a:ext cx="7772400" cy="1225296"/>
          </a:xfrm>
          <a:prstGeom prst="roundRect">
            <a:avLst>
              <a:gd fmla="val 2985" name="adj"/>
            </a:avLst>
          </a:prstGeom>
          <a:solidFill>
            <a:srgbClr val="101827"/>
          </a:solidFill>
          <a:ln cap="flat" cmpd="sng" w="9525">
            <a:solidFill>
              <a:srgbClr val="263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6"/>
          <p:cNvSpPr txBox="1"/>
          <p:nvPr/>
        </p:nvSpPr>
        <p:spPr>
          <a:xfrm>
            <a:off x="813816" y="1225296"/>
            <a:ext cx="751636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exportCount: number = 24;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exportSize: [number, string] = [2048, "px"];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let exportFormat: "jpg" | "png" | "webp" = "jpg";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5" name="Google Shape;865;p66"/>
          <p:cNvGraphicFramePr/>
          <p:nvPr/>
        </p:nvGraphicFramePr>
        <p:xfrm>
          <a:off x="685800" y="2578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{A0A4B136-4846-4FB0-9B0B-CB4750B427A2}</a:tableStyleId>
              </a:tblPr>
              <a:tblGrid>
                <a:gridCol w="2057400"/>
                <a:gridCol w="1965950"/>
                <a:gridCol w="1874525"/>
                <a:gridCol w="18745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40"/>
                        <a:buFont typeface="Arial"/>
                        <a:buNone/>
                      </a:pPr>
                      <a:r>
                        <a:rPr b="1" lang="en" sz="10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value</a:t>
                      </a:r>
                      <a:endParaRPr sz="10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40"/>
                        <a:buFont typeface="Arial"/>
                        <a:buNone/>
                      </a:pPr>
                      <a:r>
                        <a:rPr b="1" lang="en" sz="10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</a:t>
                      </a:r>
                      <a:endParaRPr sz="10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40"/>
                        <a:buFont typeface="Arial"/>
                        <a:buNone/>
                      </a:pPr>
                      <a:r>
                        <a:rPr b="1" lang="en" sz="10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Received</a:t>
                      </a:r>
                      <a:endParaRPr sz="10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1040"/>
                        <a:buFont typeface="Arial"/>
                        <a:buNone/>
                      </a:pPr>
                      <a:r>
                        <a:rPr b="1" lang="en" sz="104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Correction</a:t>
                      </a:r>
                      <a:endParaRPr sz="10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"24"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"2048" at position 0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2048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"jpeg"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"jpg", "png", or "webp"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excluded literal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139"/>
                        </a:buClr>
                        <a:buSzPts val="980"/>
                        <a:buFont typeface="Arial"/>
                        <a:buNone/>
                      </a:pPr>
                      <a:r>
                        <a:rPr lang="en" sz="980" u="none" cap="none" strike="noStrike">
                          <a:solidFill>
                            <a:srgbClr val="2A313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"jpg"</a:t>
                      </a:r>
                      <a:endParaRPr sz="98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64000" marL="64000">
                    <a:lnL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8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6" name="Google Shape;866;p66"/>
          <p:cNvSpPr/>
          <p:nvPr/>
        </p:nvSpPr>
        <p:spPr>
          <a:xfrm>
            <a:off x="685800" y="4133088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EAF6EA"/>
          </a:solidFill>
          <a:ln cap="flat" cmpd="sng" w="9525">
            <a:solidFill>
              <a:srgbClr val="BAD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6"/>
          <p:cNvSpPr txBox="1"/>
          <p:nvPr/>
        </p:nvSpPr>
        <p:spPr>
          <a:xfrm>
            <a:off x="795528" y="4215384"/>
            <a:ext cx="7552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Static state: No intended type diagnostic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66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7"/>
          <p:cNvSpPr/>
          <p:nvPr/>
        </p:nvSpPr>
        <p:spPr>
          <a:xfrm>
            <a:off x="1234440" y="1984248"/>
            <a:ext cx="6675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32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1E2732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7"/>
          <p:cNvSpPr txBox="1"/>
          <p:nvPr>
            <p:ph idx="4294967295" type="sldNum"/>
          </p:nvPr>
        </p:nvSpPr>
        <p:spPr>
          <a:xfrm>
            <a:off x="502920" y="4782312"/>
            <a:ext cx="3200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5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