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</p:sldIdLst>
  <p:notesMasterIdLst>
    <p:notesMasterId r:id="rId7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notesMaster" Target="notesMasters/notesMaster1.xml"/><Relationship Id="rId76" Type="http://schemas.openxmlformats.org/officeDocument/2006/relationships/presProps" Target="presProps.xml"/><Relationship Id="rId77" Type="http://schemas.openxmlformats.org/officeDocument/2006/relationships/viewProps" Target="viewProps.xml"/><Relationship Id="rId78" Type="http://schemas.openxmlformats.org/officeDocument/2006/relationships/theme" Target="theme/theme1.xml"/><Relationship Id="rId7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MDN Destructuring assignment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MDN Spread syntax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MDN Rest parameters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MDN JavaScript modules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MDN Promise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MDN Promise constructor and Using promises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MDN Promise.prototype.then()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MDN Using promises and Promise.prototype.catch()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MDN Async function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MDN await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0120" y="1508760"/>
            <a:ext cx="246888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5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14</a:t>
            </a:r>
            <a:endParaRPr lang="en-US" sz="1580" dirty="0"/>
          </a:p>
        </p:txBody>
      </p:sp>
      <p:sp>
        <p:nvSpPr>
          <p:cNvPr id="3" name="Text 1"/>
          <p:cNvSpPr/>
          <p:nvPr/>
        </p:nvSpPr>
        <p:spPr>
          <a:xfrm>
            <a:off x="960120" y="1874520"/>
            <a:ext cx="704088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JavaScript patterns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60120" y="2395728"/>
            <a:ext cx="658368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structured data, connect JavaScript files, and handle results that arrive later.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agenda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685800" y="868680"/>
            <a:ext cx="7589520" cy="3703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Warm-up: recent JavaScript syntax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let, const, arrow functions, scope, and template literals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Working with structured data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destructuring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spread and rest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Connecting code across files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named exports and imports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module loading with Live Server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Handling results that arrive later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Promises and .then()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async, await, and error handling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Practice and apply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equipment checkout activity, debug clinic, homework</a:t>
            </a:r>
            <a:endParaRPr lang="en-US" sz="126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1965960"/>
            <a:ext cx="69494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Warm-up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1645920" y="2542032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Recent JavaScript syntax from the previous lecture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1: What does const protect?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3794760" cy="3063240"/>
          </a:xfrm>
          <a:prstGeom prst="rect">
            <a:avLst/>
          </a:prstGeom>
          <a:solidFill>
            <a:srgbClr val="0F172A"/>
          </a:solidFill>
          <a:ln w="8890">
            <a:solidFill>
              <a:srgbClr val="334155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profile =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"Farah",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points: 10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profile.points = 12;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profile =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"Farah",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points: 15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617720" y="841248"/>
            <a:ext cx="388620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statement is correct?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617720" y="1234440"/>
            <a:ext cx="3886200" cy="2514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A. Both updates are allowed because profile stores an object.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B. profile.points = 12 is allowed, but reassigning profile causes an error.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C. profile.points = 12 causes an error, but reassigning profile is allowed.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D. Neither update is allowed because profile uses const.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85800" y="3959352"/>
            <a:ext cx="7726680" cy="822960"/>
          </a:xfrm>
          <a:prstGeom prst="rect">
            <a:avLst/>
          </a:prstGeom>
          <a:solidFill>
            <a:srgbClr val="DCF5E5"/>
          </a:solidFill>
          <a:ln>
            <a:solidFill>
              <a:srgbClr val="A7D8B6"/>
            </a:solidFill>
          </a:ln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B</a:t>
            </a:r>
            <a:endParaRPr lang="en-US" sz="1040" dirty="0"/>
          </a:p>
          <a:p>
            <a:pPr algn="l" indent="0" marL="0">
              <a:buNone/>
            </a:pPr>
            <a:r>
              <a:rPr lang="en-US" sz="104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 prevents reassignment of the binding. It does not prevent changing a property of the object stored in that binding.</a:t>
            </a:r>
            <a:endParaRPr lang="en-US" sz="10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2: What does the arrow function return?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3794760" cy="3063240"/>
          </a:xfrm>
          <a:prstGeom prst="rect">
            <a:avLst/>
          </a:prstGeom>
          <a:solidFill>
            <a:srgbClr val="0F172A"/>
          </a:solidFill>
          <a:ln w="8890">
            <a:solidFill>
              <a:srgbClr val="334155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addFee = price =&gt;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price + 20;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console.log(addFee(100));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617720" y="841248"/>
            <a:ext cx="388620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printed?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617720" y="1234440"/>
            <a:ext cx="3886200" cy="2514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A. 100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B. 120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C. undefined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D. price + 20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4005072"/>
            <a:ext cx="7726680" cy="822960"/>
          </a:xfrm>
          <a:prstGeom prst="rect">
            <a:avLst/>
          </a:prstGeom>
          <a:solidFill>
            <a:srgbClr val="DCF5E5"/>
          </a:solidFill>
          <a:ln>
            <a:solidFill>
              <a:srgbClr val="A7D8B6"/>
            </a:solidFill>
          </a:ln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C</a:t>
            </a:r>
            <a:endParaRPr lang="en-US" sz="1040" dirty="0"/>
          </a:p>
          <a:p>
            <a:pPr algn="l" indent="0" marL="0">
              <a:buNone/>
            </a:pPr>
            <a:r>
              <a:rPr lang="en-US" sz="104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function body uses braces, so it needs return to send a value back. Without return, the function returns undefined.</a:t>
            </a:r>
            <a:endParaRPr lang="en-US" sz="10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3: Where is message available?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3794760" cy="3063240"/>
          </a:xfrm>
          <a:prstGeom prst="rect">
            <a:avLst/>
          </a:prstGeom>
          <a:solidFill>
            <a:srgbClr val="0F172A"/>
          </a:solidFill>
          <a:ln w="8890">
            <a:solidFill>
              <a:srgbClr val="334155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isReady = true;</a:t>
            </a:r>
            <a:endParaRPr lang="en-US" sz="1070" dirty="0"/>
          </a:p>
          <a:p>
            <a:pPr indent="0" marL="0">
              <a:buNone/>
            </a:pP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(isReady) {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message =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"Ready to start";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70" dirty="0"/>
          </a:p>
          <a:p>
            <a:pPr indent="0" marL="0">
              <a:buNone/>
            </a:pP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console.log(message);</a:t>
            </a:r>
            <a:endParaRPr lang="en-US" sz="1070" dirty="0"/>
          </a:p>
        </p:txBody>
      </p:sp>
      <p:sp>
        <p:nvSpPr>
          <p:cNvPr id="4" name="Text 2"/>
          <p:cNvSpPr/>
          <p:nvPr/>
        </p:nvSpPr>
        <p:spPr>
          <a:xfrm>
            <a:off x="4617720" y="841248"/>
            <a:ext cx="388620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happens?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617720" y="1234440"/>
            <a:ext cx="3886200" cy="2514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A. "Ready to start" is printed.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B. true is printed.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C. undefined is printed.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D. An error occurs because message is outside its block.</a:t>
            </a:r>
            <a:endParaRPr lang="en-US" sz="1120" dirty="0"/>
          </a:p>
        </p:txBody>
      </p:sp>
      <p:sp>
        <p:nvSpPr>
          <p:cNvPr id="6" name="Text 4"/>
          <p:cNvSpPr/>
          <p:nvPr/>
        </p:nvSpPr>
        <p:spPr>
          <a:xfrm>
            <a:off x="685800" y="4005072"/>
            <a:ext cx="7726680" cy="822960"/>
          </a:xfrm>
          <a:prstGeom prst="rect">
            <a:avLst/>
          </a:prstGeom>
          <a:solidFill>
            <a:srgbClr val="DCF5E5"/>
          </a:solidFill>
          <a:ln>
            <a:solidFill>
              <a:srgbClr val="A7D8B6"/>
            </a:solidFill>
          </a:ln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D</a:t>
            </a:r>
            <a:endParaRPr lang="en-US" sz="1040" dirty="0"/>
          </a:p>
          <a:p>
            <a:pPr algn="l" indent="0" marL="0">
              <a:buNone/>
            </a:pPr>
            <a:r>
              <a:rPr lang="en-US" sz="104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 is declared inside the if block. Code outside that block cannot use it.</a:t>
            </a:r>
            <a:endParaRPr lang="en-US" sz="10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4: What progress label is created?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3794760" cy="3063240"/>
          </a:xfrm>
          <a:prstGeom prst="rect">
            <a:avLst/>
          </a:prstGeom>
          <a:solidFill>
            <a:srgbClr val="0F172A"/>
          </a:solidFill>
          <a:ln w="8890">
            <a:solidFill>
              <a:srgbClr val="334155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moduleName = "JavaScript";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completedLessons = 3;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progress =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`${moduleName}: ${completedLessons + 1} lessons`;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console.log(progress);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617720" y="841248"/>
            <a:ext cx="388620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printed?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617720" y="1234440"/>
            <a:ext cx="3886200" cy="2514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A. JavaScript: 3 lessons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B. JavaScript: 4 lessons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C. ${moduleName}: 4 lessons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D. moduleName: completedLessons + 1 lessons</a:t>
            </a:r>
            <a:endParaRPr lang="en-US" sz="1120" dirty="0"/>
          </a:p>
        </p:txBody>
      </p:sp>
      <p:sp>
        <p:nvSpPr>
          <p:cNvPr id="6" name="Text 4"/>
          <p:cNvSpPr/>
          <p:nvPr/>
        </p:nvSpPr>
        <p:spPr>
          <a:xfrm>
            <a:off x="685800" y="4005072"/>
            <a:ext cx="7726680" cy="822960"/>
          </a:xfrm>
          <a:prstGeom prst="rect">
            <a:avLst/>
          </a:prstGeom>
          <a:solidFill>
            <a:srgbClr val="DCF5E5"/>
          </a:solidFill>
          <a:ln>
            <a:solidFill>
              <a:srgbClr val="A7D8B6"/>
            </a:solidFill>
          </a:ln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B</a:t>
            </a:r>
            <a:endParaRPr lang="en-US" sz="1040" dirty="0"/>
          </a:p>
          <a:p>
            <a:pPr algn="l" indent="0" marL="0">
              <a:buNone/>
            </a:pPr>
            <a:r>
              <a:rPr lang="en-US" sz="104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 evaluates completedLessons + 1, then inserts the result into the template literal.</a:t>
            </a:r>
            <a:endParaRPr lang="en-US" sz="10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5: Which element owns the listener?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3794760" cy="914400"/>
          </a:xfrm>
          <a:prstGeom prst="rect">
            <a:avLst/>
          </a:prstGeom>
          <a:solidFill>
            <a:srgbClr val="0F172A"/>
          </a:solidFill>
          <a:ln w="8890">
            <a:solidFill>
              <a:srgbClr val="334155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 id="save-button"&gt;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&lt;span&gt;Save changes&lt;/span&gt;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&lt;/button&gt;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1874520"/>
            <a:ext cx="3794760" cy="1645920"/>
          </a:xfrm>
          <a:prstGeom prst="rect">
            <a:avLst/>
          </a:prstGeom>
          <a:solidFill>
            <a:srgbClr val="0F172A"/>
          </a:solidFill>
          <a:ln w="8890">
            <a:solidFill>
              <a:srgbClr val="334155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saveButton.addEventListener("click", event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event.currentTarget.tagName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617720" y="841248"/>
            <a:ext cx="388620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user clicks the words inside the button. What is logged?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617720" y="1234440"/>
            <a:ext cx="3886200" cy="2514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A. SPAN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B. BUTTON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C. SAVE-BUTTON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D. undefined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4005072"/>
            <a:ext cx="7726680" cy="822960"/>
          </a:xfrm>
          <a:prstGeom prst="rect">
            <a:avLst/>
          </a:prstGeom>
          <a:solidFill>
            <a:srgbClr val="DCF5E5"/>
          </a:solidFill>
          <a:ln>
            <a:solidFill>
              <a:srgbClr val="A7D8B6"/>
            </a:solidFill>
          </a:ln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B</a:t>
            </a:r>
            <a:endParaRPr lang="en-US" sz="1040" dirty="0"/>
          </a:p>
          <a:p>
            <a:pPr algn="l" indent="0" marL="0">
              <a:buNone/>
            </a:pPr>
            <a:r>
              <a:rPr lang="en-US" sz="104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event.currentTarget is the element that owns the listener. The listener is registered on the button.</a:t>
            </a:r>
            <a:endParaRPr lang="en-US" sz="10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browser interactions to larger programs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777240" y="1005840"/>
            <a:ext cx="3108960" cy="2011680"/>
          </a:xfrm>
          <a:prstGeom prst="rect">
            <a:avLst/>
          </a:prstGeom>
          <a:solidFill>
            <a:srgbClr val="E5F0FF"/>
          </a:solidFill>
          <a:ln>
            <a:solidFill>
              <a:srgbClr val="B8C4D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select elements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respond to user actions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update visible content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 concise functions and strings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0" y="1417320"/>
            <a:ext cx="3474720" cy="1508760"/>
          </a:xfrm>
          <a:prstGeom prst="roundRect">
            <a:avLst>
              <a:gd name="adj" fmla="val 4848"/>
            </a:avLst>
          </a:prstGeom>
          <a:solidFill>
            <a:srgbClr val="FFF4C2"/>
          </a:solidFill>
          <a:ln w="7620">
            <a:solidFill>
              <a:srgbClr val="B8C4D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663440" y="149047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shift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681728" y="1783080"/>
            <a:ext cx="3255264" cy="1069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modern JavaScript to work with larger data, split code across files, and handle results that arrive later.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starting point: one ticket, one script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594360" y="868680"/>
            <a:ext cx="3063240" cy="1965960"/>
          </a:xfrm>
          <a:prstGeom prst="roundRect">
            <a:avLst>
              <a:gd name="adj" fmla="val 3721"/>
            </a:avLst>
          </a:prstGeom>
          <a:solidFill>
            <a:srgbClr val="E5F0FF"/>
          </a:solidFill>
          <a:ln w="7620">
            <a:solidFill>
              <a:srgbClr val="B8C4D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941832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ticket dashboard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704088" y="1234440"/>
            <a:ext cx="2843784" cy="1527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Status: Ticket not loaded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 ID: SUP-1048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Customer: Asha Menon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Priority: High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 state: Open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886200" y="868680"/>
            <a:ext cx="4526280" cy="2148840"/>
          </a:xfrm>
          <a:prstGeom prst="rect">
            <a:avLst/>
          </a:prstGeom>
          <a:solidFill>
            <a:srgbClr val="0F172A"/>
          </a:solidFill>
          <a:ln w="8890">
            <a:solidFill>
              <a:srgbClr val="334155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supportTicket = {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id: "SUP-1048",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customer: "Asha Menon",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priority: "High",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status: "Open",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summary: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"Cannot sign in after password reset",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tags: ["Login", "Mobile", "Urgent"]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960" dirty="0"/>
          </a:p>
        </p:txBody>
      </p:sp>
      <p:sp>
        <p:nvSpPr>
          <p:cNvPr id="7" name="Shape 5"/>
          <p:cNvSpPr/>
          <p:nvPr/>
        </p:nvSpPr>
        <p:spPr>
          <a:xfrm>
            <a:off x="594360" y="3337560"/>
            <a:ext cx="7818120" cy="868680"/>
          </a:xfrm>
          <a:prstGeom prst="roundRect">
            <a:avLst>
              <a:gd name="adj" fmla="val 8421"/>
            </a:avLst>
          </a:prstGeom>
          <a:solidFill>
            <a:srgbClr val="FFF4C2"/>
          </a:solidFill>
          <a:ln w="7620">
            <a:solidFill>
              <a:srgbClr val="B8C4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3410712"/>
            <a:ext cx="7635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growing code pressures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04088" y="3703320"/>
            <a:ext cx="7598664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Several values come from the same object.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Data, formatting, and page code begin in one file.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Loading a ticket will later become a delayed operation.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1965960"/>
            <a:ext cx="69494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values from structured data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1645920" y="2542032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destructuring to create bindings from arrays and objects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from familiar property and index access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3794760" cy="3108960"/>
          </a:xfrm>
          <a:prstGeom prst="rect">
            <a:avLst/>
          </a:prstGeom>
          <a:solidFill>
            <a:srgbClr val="0F172A"/>
          </a:solidFill>
          <a:ln w="8890">
            <a:solidFill>
              <a:srgbClr val="334155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ticketId =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supportTicket.id;</a:t>
            </a:r>
            <a:endParaRPr lang="en-US" sz="1080" dirty="0"/>
          </a:p>
          <a:p>
            <a:pPr indent="0" marL="0">
              <a:buNone/>
            </a:pP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customerName =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supportTicket.customer;</a:t>
            </a:r>
            <a:endParaRPr lang="en-US" sz="1080" dirty="0"/>
          </a:p>
          <a:p>
            <a:pPr indent="0" marL="0">
              <a:buNone/>
            </a:pP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ticketPriority =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supportTicket.priority;</a:t>
            </a:r>
            <a:endParaRPr lang="en-US" sz="1080" dirty="0"/>
          </a:p>
          <a:p>
            <a:pPr indent="0" marL="0">
              <a:buNone/>
            </a:pP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firstTag =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supportTicket.tags[0];</a:t>
            </a:r>
            <a:endParaRPr lang="en-US" sz="1080" dirty="0"/>
          </a:p>
        </p:txBody>
      </p:sp>
      <p:sp>
        <p:nvSpPr>
          <p:cNvPr id="4" name="Text 2"/>
          <p:cNvSpPr/>
          <p:nvPr/>
        </p:nvSpPr>
        <p:spPr>
          <a:xfrm>
            <a:off x="4617720" y="914400"/>
            <a:ext cx="1897380" cy="384048"/>
          </a:xfrm>
          <a:prstGeom prst="rect">
            <a:avLst/>
          </a:prstGeom>
          <a:solidFill>
            <a:srgbClr val="DDEBFF"/>
          </a:solidFill>
          <a:ln>
            <a:solidFill>
              <a:srgbClr val="B8C4D3"/>
            </a:solidFill>
          </a:ln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Expression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6515100" y="914400"/>
            <a:ext cx="1897380" cy="384048"/>
          </a:xfrm>
          <a:prstGeom prst="rect">
            <a:avLst/>
          </a:prstGeom>
          <a:solidFill>
            <a:srgbClr val="DDEBFF"/>
          </a:solidFill>
          <a:ln>
            <a:solidFill>
              <a:srgbClr val="B8C4D3"/>
            </a:solidFill>
          </a:ln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4617720" y="1298448"/>
            <a:ext cx="18973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B8C4D3"/>
            </a:solidFill>
          </a:ln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supportTicket.id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6515100" y="1298448"/>
            <a:ext cx="18973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B8C4D3"/>
            </a:solidFill>
          </a:ln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"SUP-1048"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4617720" y="1682496"/>
            <a:ext cx="18973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B8C4D3"/>
            </a:solidFill>
          </a:ln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supportTicket.customer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6515100" y="1682496"/>
            <a:ext cx="18973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B8C4D3"/>
            </a:solidFill>
          </a:ln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"Asha Menon"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4617720" y="2066544"/>
            <a:ext cx="18973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B8C4D3"/>
            </a:solidFill>
          </a:ln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supportTicket.priority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6515100" y="2066544"/>
            <a:ext cx="18973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B8C4D3"/>
            </a:solidFill>
          </a:ln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"High"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4617720" y="2450592"/>
            <a:ext cx="18973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B8C4D3"/>
            </a:solidFill>
          </a:ln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supportTicket.tags[0]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6515100" y="2450592"/>
            <a:ext cx="18973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B8C4D3"/>
            </a:solidFill>
          </a:ln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"Login"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4617720" y="3063240"/>
            <a:ext cx="3794760" cy="731520"/>
          </a:xfrm>
          <a:prstGeom prst="roundRect">
            <a:avLst>
              <a:gd name="adj" fmla="val 10000"/>
            </a:avLst>
          </a:prstGeom>
          <a:solidFill>
            <a:srgbClr val="FFF4C2"/>
          </a:solidFill>
          <a:ln w="7620">
            <a:solidFill>
              <a:srgbClr val="B8C4D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3136392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Teaching point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727448" y="3429000"/>
            <a:ext cx="3575304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expression reads one value. Destructuring provides another way to create these bindings.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 destructuring reads by property name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594360" y="841248"/>
            <a:ext cx="3611880" cy="274320"/>
          </a:xfrm>
          <a:prstGeom prst="rect">
            <a:avLst/>
          </a:prstGeom>
          <a:solidFill>
            <a:srgbClr val="E5F0FF"/>
          </a:solidFill>
          <a:ln>
            <a:solidFill>
              <a:srgbClr val="B8C4D3"/>
            </a:solidFill>
          </a:ln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destructuring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94360" y="1152144"/>
            <a:ext cx="3611880" cy="1737360"/>
          </a:xfrm>
          <a:prstGeom prst="rect">
            <a:avLst/>
          </a:prstGeom>
          <a:solidFill>
            <a:srgbClr val="0F172A"/>
          </a:solidFill>
          <a:ln w="8890">
            <a:solidFill>
              <a:srgbClr val="334155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ticketId =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supportTicket.id;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customer =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supportTicket.customer;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priority =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supportTicket.priority;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4434840" y="841248"/>
            <a:ext cx="3977640" cy="274320"/>
          </a:xfrm>
          <a:prstGeom prst="rect">
            <a:avLst/>
          </a:prstGeom>
          <a:solidFill>
            <a:srgbClr val="DCF5E5"/>
          </a:solidFill>
          <a:ln>
            <a:solidFill>
              <a:srgbClr val="B8C4D3"/>
            </a:solidFill>
          </a:ln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object destructuring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434840" y="1152144"/>
            <a:ext cx="3977640" cy="1234440"/>
          </a:xfrm>
          <a:prstGeom prst="rect">
            <a:avLst/>
          </a:prstGeom>
          <a:solidFill>
            <a:srgbClr val="0F172A"/>
          </a:solidFill>
          <a:ln w="8890">
            <a:solidFill>
              <a:srgbClr val="334155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customer,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priority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= supportTicket;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434840" y="2578608"/>
            <a:ext cx="1325880" cy="297180"/>
          </a:xfrm>
          <a:prstGeom prst="rect">
            <a:avLst/>
          </a:prstGeom>
          <a:solidFill>
            <a:srgbClr val="DDEBFF"/>
          </a:solidFill>
          <a:ln>
            <a:solidFill>
              <a:srgbClr val="B8C4D3"/>
            </a:solidFill>
          </a:ln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Binding</a:t>
            </a:r>
            <a:endParaRPr lang="en-US" sz="1020" dirty="0"/>
          </a:p>
        </p:txBody>
      </p:sp>
      <p:sp>
        <p:nvSpPr>
          <p:cNvPr id="9" name="Text 6"/>
          <p:cNvSpPr/>
          <p:nvPr/>
        </p:nvSpPr>
        <p:spPr>
          <a:xfrm>
            <a:off x="5760720" y="2578608"/>
            <a:ext cx="1325880" cy="297180"/>
          </a:xfrm>
          <a:prstGeom prst="rect">
            <a:avLst/>
          </a:prstGeom>
          <a:solidFill>
            <a:srgbClr val="DDEBFF"/>
          </a:solidFill>
          <a:ln>
            <a:solidFill>
              <a:srgbClr val="B8C4D3"/>
            </a:solidFill>
          </a:ln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Matched property</a:t>
            </a:r>
            <a:endParaRPr lang="en-US" sz="1020" dirty="0"/>
          </a:p>
        </p:txBody>
      </p:sp>
      <p:sp>
        <p:nvSpPr>
          <p:cNvPr id="10" name="Text 7"/>
          <p:cNvSpPr/>
          <p:nvPr/>
        </p:nvSpPr>
        <p:spPr>
          <a:xfrm>
            <a:off x="7086600" y="2578608"/>
            <a:ext cx="1325880" cy="297180"/>
          </a:xfrm>
          <a:prstGeom prst="rect">
            <a:avLst/>
          </a:prstGeom>
          <a:solidFill>
            <a:srgbClr val="DDEBFF"/>
          </a:solidFill>
          <a:ln>
            <a:solidFill>
              <a:srgbClr val="B8C4D3"/>
            </a:solidFill>
          </a:ln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</a:t>
            </a:r>
            <a:endParaRPr lang="en-US" sz="1020" dirty="0"/>
          </a:p>
        </p:txBody>
      </p:sp>
      <p:sp>
        <p:nvSpPr>
          <p:cNvPr id="11" name="Text 8"/>
          <p:cNvSpPr/>
          <p:nvPr/>
        </p:nvSpPr>
        <p:spPr>
          <a:xfrm>
            <a:off x="4434840" y="2875788"/>
            <a:ext cx="1325880" cy="297180"/>
          </a:xfrm>
          <a:prstGeom prst="rect">
            <a:avLst/>
          </a:prstGeom>
          <a:solidFill>
            <a:srgbClr val="FFFFFF"/>
          </a:solidFill>
          <a:ln>
            <a:solidFill>
              <a:srgbClr val="B8C4D3"/>
            </a:solidFill>
          </a:ln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</a:t>
            </a:r>
            <a:endParaRPr lang="en-US" sz="1020" dirty="0"/>
          </a:p>
        </p:txBody>
      </p:sp>
      <p:sp>
        <p:nvSpPr>
          <p:cNvPr id="12" name="Text 9"/>
          <p:cNvSpPr/>
          <p:nvPr/>
        </p:nvSpPr>
        <p:spPr>
          <a:xfrm>
            <a:off x="5760720" y="2875788"/>
            <a:ext cx="1325880" cy="297180"/>
          </a:xfrm>
          <a:prstGeom prst="rect">
            <a:avLst/>
          </a:prstGeom>
          <a:solidFill>
            <a:srgbClr val="FFFFFF"/>
          </a:solidFill>
          <a:ln>
            <a:solidFill>
              <a:srgbClr val="B8C4D3"/>
            </a:solidFill>
          </a:ln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</a:t>
            </a:r>
            <a:endParaRPr lang="en-US" sz="1020" dirty="0"/>
          </a:p>
        </p:txBody>
      </p:sp>
      <p:sp>
        <p:nvSpPr>
          <p:cNvPr id="13" name="Text 10"/>
          <p:cNvSpPr/>
          <p:nvPr/>
        </p:nvSpPr>
        <p:spPr>
          <a:xfrm>
            <a:off x="7086600" y="2875788"/>
            <a:ext cx="1325880" cy="297180"/>
          </a:xfrm>
          <a:prstGeom prst="rect">
            <a:avLst/>
          </a:prstGeom>
          <a:solidFill>
            <a:srgbClr val="FFFFFF"/>
          </a:solidFill>
          <a:ln>
            <a:solidFill>
              <a:srgbClr val="B8C4D3"/>
            </a:solidFill>
          </a:ln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"SUP-1048"</a:t>
            </a:r>
            <a:endParaRPr lang="en-US" sz="1020" dirty="0"/>
          </a:p>
        </p:txBody>
      </p:sp>
      <p:sp>
        <p:nvSpPr>
          <p:cNvPr id="14" name="Text 11"/>
          <p:cNvSpPr/>
          <p:nvPr/>
        </p:nvSpPr>
        <p:spPr>
          <a:xfrm>
            <a:off x="4434840" y="3172968"/>
            <a:ext cx="1325880" cy="297180"/>
          </a:xfrm>
          <a:prstGeom prst="rect">
            <a:avLst/>
          </a:prstGeom>
          <a:solidFill>
            <a:srgbClr val="FFFFFF"/>
          </a:solidFill>
          <a:ln>
            <a:solidFill>
              <a:srgbClr val="B8C4D3"/>
            </a:solidFill>
          </a:ln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1020" dirty="0"/>
          </a:p>
        </p:txBody>
      </p:sp>
      <p:sp>
        <p:nvSpPr>
          <p:cNvPr id="15" name="Text 12"/>
          <p:cNvSpPr/>
          <p:nvPr/>
        </p:nvSpPr>
        <p:spPr>
          <a:xfrm>
            <a:off x="5760720" y="3172968"/>
            <a:ext cx="1325880" cy="297180"/>
          </a:xfrm>
          <a:prstGeom prst="rect">
            <a:avLst/>
          </a:prstGeom>
          <a:solidFill>
            <a:srgbClr val="FFFFFF"/>
          </a:solidFill>
          <a:ln>
            <a:solidFill>
              <a:srgbClr val="B8C4D3"/>
            </a:solidFill>
          </a:ln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1020" dirty="0"/>
          </a:p>
        </p:txBody>
      </p:sp>
      <p:sp>
        <p:nvSpPr>
          <p:cNvPr id="16" name="Text 13"/>
          <p:cNvSpPr/>
          <p:nvPr/>
        </p:nvSpPr>
        <p:spPr>
          <a:xfrm>
            <a:off x="7086600" y="3172968"/>
            <a:ext cx="1325880" cy="297180"/>
          </a:xfrm>
          <a:prstGeom prst="rect">
            <a:avLst/>
          </a:prstGeom>
          <a:solidFill>
            <a:srgbClr val="FFFFFF"/>
          </a:solidFill>
          <a:ln>
            <a:solidFill>
              <a:srgbClr val="B8C4D3"/>
            </a:solidFill>
          </a:ln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"Asha Menon"</a:t>
            </a:r>
            <a:endParaRPr lang="en-US" sz="1020" dirty="0"/>
          </a:p>
        </p:txBody>
      </p:sp>
      <p:sp>
        <p:nvSpPr>
          <p:cNvPr id="17" name="Text 14"/>
          <p:cNvSpPr/>
          <p:nvPr/>
        </p:nvSpPr>
        <p:spPr>
          <a:xfrm>
            <a:off x="4434840" y="3470148"/>
            <a:ext cx="1325880" cy="297180"/>
          </a:xfrm>
          <a:prstGeom prst="rect">
            <a:avLst/>
          </a:prstGeom>
          <a:solidFill>
            <a:srgbClr val="FFFFFF"/>
          </a:solidFill>
          <a:ln>
            <a:solidFill>
              <a:srgbClr val="B8C4D3"/>
            </a:solidFill>
          </a:ln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</a:t>
            </a:r>
            <a:endParaRPr lang="en-US" sz="1020" dirty="0"/>
          </a:p>
        </p:txBody>
      </p:sp>
      <p:sp>
        <p:nvSpPr>
          <p:cNvPr id="18" name="Text 15"/>
          <p:cNvSpPr/>
          <p:nvPr/>
        </p:nvSpPr>
        <p:spPr>
          <a:xfrm>
            <a:off x="5760720" y="3470148"/>
            <a:ext cx="1325880" cy="297180"/>
          </a:xfrm>
          <a:prstGeom prst="rect">
            <a:avLst/>
          </a:prstGeom>
          <a:solidFill>
            <a:srgbClr val="FFFFFF"/>
          </a:solidFill>
          <a:ln>
            <a:solidFill>
              <a:srgbClr val="B8C4D3"/>
            </a:solidFill>
          </a:ln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</a:t>
            </a:r>
            <a:endParaRPr lang="en-US" sz="1020" dirty="0"/>
          </a:p>
        </p:txBody>
      </p:sp>
      <p:sp>
        <p:nvSpPr>
          <p:cNvPr id="19" name="Text 16"/>
          <p:cNvSpPr/>
          <p:nvPr/>
        </p:nvSpPr>
        <p:spPr>
          <a:xfrm>
            <a:off x="7086600" y="3470148"/>
            <a:ext cx="1325880" cy="297180"/>
          </a:xfrm>
          <a:prstGeom prst="rect">
            <a:avLst/>
          </a:prstGeom>
          <a:solidFill>
            <a:srgbClr val="FFFFFF"/>
          </a:solidFill>
          <a:ln>
            <a:solidFill>
              <a:srgbClr val="B8C4D3"/>
            </a:solidFill>
          </a:ln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"High"</a:t>
            </a:r>
            <a:endParaRPr lang="en-US" sz="1020" dirty="0"/>
          </a:p>
        </p:txBody>
      </p:sp>
      <p:sp>
        <p:nvSpPr>
          <p:cNvPr id="20" name="Text 17"/>
          <p:cNvSpPr/>
          <p:nvPr/>
        </p:nvSpPr>
        <p:spPr>
          <a:xfrm>
            <a:off x="685800" y="3246120"/>
            <a:ext cx="3429000" cy="685800"/>
          </a:xfrm>
          <a:prstGeom prst="rect">
            <a:avLst/>
          </a:prstGeom>
          <a:solidFill>
            <a:srgbClr val="FFF4C2"/>
          </a:solidFill>
          <a:ln>
            <a:solidFill>
              <a:srgbClr val="B8C4D3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 destructuring matches property names. Property order in the pattern does not control the result.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Array destructuring reads by position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94360" y="868680"/>
            <a:ext cx="3566160" cy="1417320"/>
          </a:xfrm>
          <a:prstGeom prst="rect">
            <a:avLst/>
          </a:prstGeom>
          <a:solidFill>
            <a:srgbClr val="0F172A"/>
          </a:solidFill>
          <a:ln w="8890">
            <a:solidFill>
              <a:srgbClr val="334155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primaryTag =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supportTicket.tags[0];</a:t>
            </a:r>
            <a:endParaRPr lang="en-US" sz="1080" dirty="0"/>
          </a:p>
          <a:p>
            <a:pPr indent="0" marL="0">
              <a:buNone/>
            </a:pP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secondaryTag =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supportTicket.tags[1];</a:t>
            </a:r>
            <a:endParaRPr lang="en-US" sz="1080" dirty="0"/>
          </a:p>
        </p:txBody>
      </p:sp>
      <p:sp>
        <p:nvSpPr>
          <p:cNvPr id="4" name="Text 2"/>
          <p:cNvSpPr/>
          <p:nvPr/>
        </p:nvSpPr>
        <p:spPr>
          <a:xfrm>
            <a:off x="594360" y="2560320"/>
            <a:ext cx="3566160" cy="1143000"/>
          </a:xfrm>
          <a:prstGeom prst="rect">
            <a:avLst/>
          </a:prstGeom>
          <a:solidFill>
            <a:srgbClr val="0F172A"/>
          </a:solidFill>
          <a:ln w="8890">
            <a:solidFill>
              <a:srgbClr val="334155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primaryTag,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secondaryTag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 supportTicket.tags;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480560" y="960120"/>
            <a:ext cx="1295400" cy="457200"/>
          </a:xfrm>
          <a:prstGeom prst="rect">
            <a:avLst/>
          </a:prstGeom>
          <a:solidFill>
            <a:srgbClr val="DDEBFF"/>
          </a:solidFill>
          <a:ln>
            <a:solidFill>
              <a:srgbClr val="B8C4D3"/>
            </a:solidFill>
          </a:ln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775960" y="960120"/>
            <a:ext cx="1295400" cy="457200"/>
          </a:xfrm>
          <a:prstGeom prst="rect">
            <a:avLst/>
          </a:prstGeom>
          <a:solidFill>
            <a:srgbClr val="DDEBFF"/>
          </a:solidFill>
          <a:ln>
            <a:solidFill>
              <a:srgbClr val="B8C4D3"/>
            </a:solidFill>
          </a:ln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Binding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071360" y="960120"/>
            <a:ext cx="1295400" cy="457200"/>
          </a:xfrm>
          <a:prstGeom prst="rect">
            <a:avLst/>
          </a:prstGeom>
          <a:solidFill>
            <a:srgbClr val="DDEBFF"/>
          </a:solidFill>
          <a:ln>
            <a:solidFill>
              <a:srgbClr val="B8C4D3"/>
            </a:solidFill>
          </a:ln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480560" y="1417320"/>
            <a:ext cx="12954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B8C4D3"/>
            </a:solidFill>
          </a:ln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775960" y="1417320"/>
            <a:ext cx="12954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B8C4D3"/>
            </a:solidFill>
          </a:ln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primaryTag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071360" y="1417320"/>
            <a:ext cx="12954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B8C4D3"/>
            </a:solidFill>
          </a:ln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"Login"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480560" y="1874520"/>
            <a:ext cx="12954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B8C4D3"/>
            </a:solidFill>
          </a:ln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775960" y="1874520"/>
            <a:ext cx="12954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B8C4D3"/>
            </a:solidFill>
          </a:ln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secondaryTag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071360" y="1874520"/>
            <a:ext cx="12954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B8C4D3"/>
            </a:solidFill>
          </a:ln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"Mobile"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80560" y="2606040"/>
            <a:ext cx="3886200" cy="960120"/>
          </a:xfrm>
          <a:prstGeom prst="roundRect">
            <a:avLst>
              <a:gd name="adj" fmla="val 7619"/>
            </a:avLst>
          </a:prstGeom>
          <a:solidFill>
            <a:srgbClr val="FFF4C2"/>
          </a:solidFill>
          <a:ln w="7620">
            <a:solidFill>
              <a:srgbClr val="B8C4D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2679192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Teaching point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90288" y="2971800"/>
            <a:ext cx="3666744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Array destructuring follows position. The binding names are chosen by the developer.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values do these bindings receive?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3794760" cy="3063240"/>
          </a:xfrm>
          <a:prstGeom prst="rect">
            <a:avLst/>
          </a:prstGeom>
          <a:solidFill>
            <a:srgbClr val="0F172A"/>
          </a:solidFill>
          <a:ln w="8890">
            <a:solidFill>
              <a:srgbClr val="334155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tags =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["Login", "Mobile", "Urgent"];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firstLabel,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nextLabel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 tags;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firstLabel // ?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nextLabel  // ?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617720" y="841248"/>
            <a:ext cx="388620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 the values.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617720" y="1234440"/>
            <a:ext cx="3886200" cy="2514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A. firstLabel = "Login", nextLabel = "Mobile"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B. firstLabel = "Mobile", nextLabel = "Urgent"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C. firstLabel = "firstLabel", nextLabel = "nextLabel"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D. Both bindings receive the full array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685800" y="4005072"/>
            <a:ext cx="7726680" cy="822960"/>
          </a:xfrm>
          <a:prstGeom prst="rect">
            <a:avLst/>
          </a:prstGeom>
          <a:solidFill>
            <a:srgbClr val="DCF5E5"/>
          </a:solidFill>
          <a:ln>
            <a:solidFill>
              <a:srgbClr val="A7D8B6"/>
            </a:solidFill>
          </a:ln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A</a:t>
            </a:r>
            <a:endParaRPr lang="en-US" sz="1040" dirty="0"/>
          </a:p>
          <a:p>
            <a:pPr algn="l" indent="0" marL="0">
              <a:buNone/>
            </a:pPr>
            <a:r>
              <a:rPr lang="en-US" sz="104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Names do not search the array. The first binding receives position 0, and the second receives position 1.</a:t>
            </a:r>
            <a:endParaRPr lang="en-US" sz="104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collects the remaining array values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94360" y="868680"/>
            <a:ext cx="3794760" cy="2103120"/>
          </a:xfrm>
          <a:prstGeom prst="rect">
            <a:avLst/>
          </a:prstGeom>
          <a:solidFill>
            <a:srgbClr val="0F172A"/>
          </a:solidFill>
          <a:ln w="8890">
            <a:solidFill>
              <a:srgbClr val="334155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tags =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["Login", "Mobile", "Urgent"];</a:t>
            </a:r>
            <a:endParaRPr lang="en-US" sz="1080" dirty="0"/>
          </a:p>
          <a:p>
            <a:pPr indent="0" marL="0">
              <a:buNone/>
            </a:pP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primaryTag,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...otherTags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 tags;</a:t>
            </a:r>
            <a:endParaRPr lang="en-US" sz="1080" dirty="0"/>
          </a:p>
        </p:txBody>
      </p:sp>
      <p:sp>
        <p:nvSpPr>
          <p:cNvPr id="4" name="Shape 2"/>
          <p:cNvSpPr/>
          <p:nvPr/>
        </p:nvSpPr>
        <p:spPr>
          <a:xfrm>
            <a:off x="4617720" y="1005840"/>
            <a:ext cx="1554480" cy="685800"/>
          </a:xfrm>
          <a:prstGeom prst="roundRect">
            <a:avLst>
              <a:gd name="adj" fmla="val 10667"/>
            </a:avLst>
          </a:prstGeom>
          <a:solidFill>
            <a:srgbClr val="DCF5E5"/>
          </a:solidFill>
          <a:ln w="7620">
            <a:solidFill>
              <a:srgbClr val="B8C4D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09160" y="10789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primaryTag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727448" y="1371600"/>
            <a:ext cx="1335024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"Login"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55080" y="1005840"/>
            <a:ext cx="2057400" cy="685800"/>
          </a:xfrm>
          <a:prstGeom prst="roundRect">
            <a:avLst>
              <a:gd name="adj" fmla="val 10667"/>
            </a:avLst>
          </a:prstGeom>
          <a:solidFill>
            <a:srgbClr val="FFF4C2"/>
          </a:solidFill>
          <a:ln w="7620">
            <a:solidFill>
              <a:srgbClr val="B8C4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1078992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otherTags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64808" y="1371600"/>
            <a:ext cx="1837944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["Mobile", "Urgent"]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17720" y="2011680"/>
            <a:ext cx="3794760" cy="1417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primaryTag receives the first value.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...otherTags collects the remaining values into a new array.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 rest element must be the final element in this pattern.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extracted values in the dashboard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4343400" cy="3611880"/>
          </a:xfrm>
          <a:prstGeom prst="rect">
            <a:avLst/>
          </a:prstGeom>
          <a:solidFill>
            <a:srgbClr val="0F172A"/>
          </a:solidFill>
          <a:ln w="8890">
            <a:solidFill>
              <a:srgbClr val="334155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{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id, customer, priority,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status, summary, tags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= supportTicket;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primaryTag,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...otherTags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 tags;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ticketId.textContent = id;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ticketCustomer.textContent = customer;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ticketPriority.textContent = priority;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ticketState.textContent = status;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ticketTags.textContent = primaryTag;</a:t>
            </a:r>
            <a:endParaRPr lang="en-US" sz="880" dirty="0"/>
          </a:p>
        </p:txBody>
      </p:sp>
      <p:sp>
        <p:nvSpPr>
          <p:cNvPr id="4" name="Shape 2"/>
          <p:cNvSpPr/>
          <p:nvPr/>
        </p:nvSpPr>
        <p:spPr>
          <a:xfrm>
            <a:off x="5166360" y="960120"/>
            <a:ext cx="3337560" cy="1828800"/>
          </a:xfrm>
          <a:prstGeom prst="roundRect">
            <a:avLst>
              <a:gd name="adj" fmla="val 4000"/>
            </a:avLst>
          </a:prstGeom>
          <a:solidFill>
            <a:srgbClr val="DCF5E5"/>
          </a:solidFill>
          <a:ln w="7620">
            <a:solidFill>
              <a:srgbClr val="B8C4D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257800" y="1033272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Visible result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276088" y="1325880"/>
            <a:ext cx="3118104" cy="1389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 ID: SUP-1048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Customer: Asha Menon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Priority: High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 state: Open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tag: Login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166360" y="3063240"/>
            <a:ext cx="3337560" cy="731520"/>
          </a:xfrm>
          <a:prstGeom prst="roundRect">
            <a:avLst>
              <a:gd name="adj" fmla="val 10000"/>
            </a:avLst>
          </a:prstGeom>
          <a:solidFill>
            <a:srgbClr val="FFF4C2"/>
          </a:solidFill>
          <a:ln w="7620">
            <a:solidFill>
              <a:srgbClr val="B8C4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57800" y="3136392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changed?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276088" y="3429000"/>
            <a:ext cx="3118104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visible ticket has not changed. Only the way values are assigned has changed.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2148840"/>
            <a:ext cx="69494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Spread expands, rest collects</a:t>
            </a:r>
            <a:endParaRPr lang="en-US" sz="2550" dirty="0"/>
          </a:p>
        </p:txBody>
      </p:sp>
      <p:sp>
        <p:nvSpPr>
          <p:cNvPr id="3" name="Shape 1"/>
          <p:cNvSpPr/>
          <p:nvPr/>
        </p:nvSpPr>
        <p:spPr>
          <a:xfrm>
            <a:off x="914400" y="2788920"/>
            <a:ext cx="3246120" cy="777240"/>
          </a:xfrm>
          <a:prstGeom prst="roundRect">
            <a:avLst>
              <a:gd name="adj" fmla="val 9412"/>
            </a:avLst>
          </a:prstGeom>
          <a:solidFill>
            <a:srgbClr val="E5F0FF"/>
          </a:solidFill>
          <a:ln w="7620">
            <a:solidFill>
              <a:srgbClr val="B8C4D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2862072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Spread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024128" y="3154680"/>
            <a:ext cx="3026664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values expand into a new array or object.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983480" y="2788920"/>
            <a:ext cx="3246120" cy="777240"/>
          </a:xfrm>
          <a:prstGeom prst="roundRect">
            <a:avLst>
              <a:gd name="adj" fmla="val 9412"/>
            </a:avLst>
          </a:prstGeom>
          <a:solidFill>
            <a:srgbClr val="FFF4C2"/>
          </a:solidFill>
          <a:ln w="7620">
            <a:solidFill>
              <a:srgbClr val="B8C4D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74920" y="2862072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93208" y="3154680"/>
            <a:ext cx="3026664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Remaining values collect into one binding.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Array spread creates a new tag list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594360" y="960120"/>
            <a:ext cx="3977640" cy="1874520"/>
          </a:xfrm>
          <a:prstGeom prst="rect">
            <a:avLst/>
          </a:prstGeom>
          <a:solidFill>
            <a:srgbClr val="0F172A"/>
          </a:solidFill>
          <a:ln w="8890">
            <a:solidFill>
              <a:srgbClr val="334155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originalTags =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supportTicket.tags;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updatedTags = [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...originalTags,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"Password reset"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4800600" y="960120"/>
            <a:ext cx="3703320" cy="1234440"/>
          </a:xfrm>
          <a:prstGeom prst="roundRect">
            <a:avLst>
              <a:gd name="adj" fmla="val 5926"/>
            </a:avLst>
          </a:prstGeom>
          <a:solidFill>
            <a:srgbClr val="E5F0FF"/>
          </a:solidFill>
          <a:ln w="7620">
            <a:solidFill>
              <a:srgbClr val="B8C4D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92040" y="1033272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originalTags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910328" y="1325880"/>
            <a:ext cx="3483864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["Login", "Mobile", "Urgent"]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original array still contains three items.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800600" y="2514600"/>
            <a:ext cx="3703320" cy="1371600"/>
          </a:xfrm>
          <a:prstGeom prst="roundRect">
            <a:avLst>
              <a:gd name="adj" fmla="val 5333"/>
            </a:avLst>
          </a:prstGeom>
          <a:solidFill>
            <a:srgbClr val="DCF5E5"/>
          </a:solidFill>
          <a:ln w="7620">
            <a:solidFill>
              <a:srgbClr val="B8C4D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92040" y="2587752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updatedTags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910328" y="2880360"/>
            <a:ext cx="3483864" cy="932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["Login", "Mobile", "Urgent",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"Password reset"]</a:t>
            </a:r>
            <a:endParaRPr lang="en-US" sz="1120" dirty="0"/>
          </a:p>
          <a:p>
            <a:pPr indent="0" marL="0">
              <a:buNone/>
            </a:pP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...originalTags expands the existing items into the new array.</a:t>
            </a:r>
            <a:endParaRPr lang="en-US" sz="112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 spread creates an updated ticket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94360" y="960120"/>
            <a:ext cx="3886200" cy="1600200"/>
          </a:xfrm>
          <a:prstGeom prst="rect">
            <a:avLst/>
          </a:prstGeom>
          <a:solidFill>
            <a:srgbClr val="0F172A"/>
          </a:solidFill>
          <a:ln w="8890">
            <a:solidFill>
              <a:srgbClr val="334155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updatedTicket =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...supportTicket,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status: "In progress",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tags: updatedTags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709160" y="960120"/>
            <a:ext cx="3703320" cy="1417320"/>
          </a:xfrm>
          <a:prstGeom prst="roundRect">
            <a:avLst>
              <a:gd name="adj" fmla="val 5161"/>
            </a:avLst>
          </a:prstGeom>
          <a:solidFill>
            <a:srgbClr val="FFF4C2"/>
          </a:solidFill>
          <a:ln w="7620">
            <a:solidFill>
              <a:srgbClr val="B8C4D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800600" y="1033272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object is created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818888" y="1325880"/>
            <a:ext cx="3483864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Add the properties from supportTicket.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Replace status in the new object.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Replace tags with updatedTags.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2971800"/>
            <a:ext cx="3886200" cy="1143000"/>
          </a:xfrm>
          <a:prstGeom prst="rect">
            <a:avLst/>
          </a:prstGeom>
          <a:solidFill>
            <a:srgbClr val="0F172A"/>
          </a:solidFill>
          <a:ln w="8890">
            <a:solidFill>
              <a:srgbClr val="334155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updatedTicket.status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"In progress"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updatedTicket.tags.length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4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2971800"/>
            <a:ext cx="3703320" cy="914400"/>
          </a:xfrm>
          <a:prstGeom prst="roundRect">
            <a:avLst>
              <a:gd name="adj" fmla="val 8000"/>
            </a:avLst>
          </a:prstGeom>
          <a:solidFill>
            <a:srgbClr val="DCF5E5"/>
          </a:solidFill>
          <a:ln w="7620">
            <a:solidFill>
              <a:srgbClr val="B8C4D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3044952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Replacement rule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818888" y="3337560"/>
            <a:ext cx="3483864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Properties written after ...supportTicket replace same-named properties in the new object.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the original and updated tickets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685800" y="1005840"/>
            <a:ext cx="3474720" cy="1417320"/>
          </a:xfrm>
          <a:prstGeom prst="roundRect">
            <a:avLst>
              <a:gd name="adj" fmla="val 5161"/>
            </a:avLst>
          </a:prstGeom>
          <a:solidFill>
            <a:srgbClr val="E5F0FF"/>
          </a:solidFill>
          <a:ln w="7620">
            <a:solidFill>
              <a:srgbClr val="B8C4D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07899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 ticket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795528" y="1371600"/>
            <a:ext cx="3255264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status: "Open"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tags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Stored in supportTicket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983480" y="1005840"/>
            <a:ext cx="3474720" cy="1417320"/>
          </a:xfrm>
          <a:prstGeom prst="roundRect">
            <a:avLst>
              <a:gd name="adj" fmla="val 5161"/>
            </a:avLst>
          </a:prstGeom>
          <a:solidFill>
            <a:srgbClr val="DCF5E5"/>
          </a:solidFill>
          <a:ln w="7620">
            <a:solidFill>
              <a:srgbClr val="B8C4D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74920" y="107899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Updated ticket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93208" y="1371600"/>
            <a:ext cx="3255264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status: "In progress"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tags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Stored in updatedTicket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2743200"/>
            <a:ext cx="3474720" cy="822960"/>
          </a:xfrm>
          <a:prstGeom prst="rect">
            <a:avLst/>
          </a:prstGeom>
          <a:solidFill>
            <a:srgbClr val="0F172A"/>
          </a:solidFill>
          <a:ln w="8890">
            <a:solidFill>
              <a:srgbClr val="334155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supportTicket === updatedTicket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false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983480" y="2743200"/>
            <a:ext cx="3474720" cy="960120"/>
          </a:xfrm>
          <a:prstGeom prst="roundRect">
            <a:avLst>
              <a:gd name="adj" fmla="val 7619"/>
            </a:avLst>
          </a:prstGeom>
          <a:solidFill>
            <a:srgbClr val="FFF4C2"/>
          </a:solidFill>
          <a:ln w="7620">
            <a:solidFill>
              <a:srgbClr val="B8C4D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74920" y="281635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Shallow-copy limit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93208" y="3108960"/>
            <a:ext cx="3255264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Spread copies one level. Nested arrays or objects remain shared unless the new object replaces them. Here, tags was replaced with updatedTags.</a:t>
            </a:r>
            <a:endParaRPr lang="en-US" sz="114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... changes with context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594360" y="868680"/>
            <a:ext cx="3794760" cy="2148840"/>
          </a:xfrm>
          <a:prstGeom prst="roundRect">
            <a:avLst>
              <a:gd name="adj" fmla="val 3404"/>
            </a:avLst>
          </a:prstGeom>
          <a:solidFill>
            <a:srgbClr val="E5F0FF"/>
          </a:solidFill>
          <a:ln w="7620">
            <a:solidFill>
              <a:srgbClr val="B8C4D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941832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Spread: expand into a destination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704088" y="1234440"/>
            <a:ext cx="3575304" cy="1709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 updatedTags = [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...originalTags,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"Password reset"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];</a:t>
            </a:r>
            <a:endParaRPr lang="en-US" sz="1130" dirty="0"/>
          </a:p>
          <a:p>
            <a:pPr indent="0" marL="0">
              <a:buNone/>
            </a:pP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Destination: [ ... ]</a:t>
            </a:r>
            <a:endParaRPr lang="en-US" sz="1130" dirty="0"/>
          </a:p>
        </p:txBody>
      </p:sp>
      <p:sp>
        <p:nvSpPr>
          <p:cNvPr id="6" name="Shape 4"/>
          <p:cNvSpPr/>
          <p:nvPr/>
        </p:nvSpPr>
        <p:spPr>
          <a:xfrm>
            <a:off x="4617720" y="868680"/>
            <a:ext cx="3794760" cy="2148840"/>
          </a:xfrm>
          <a:prstGeom prst="roundRect">
            <a:avLst>
              <a:gd name="adj" fmla="val 3404"/>
            </a:avLst>
          </a:prstGeom>
          <a:solidFill>
            <a:srgbClr val="FFF4C2"/>
          </a:solidFill>
          <a:ln w="7620">
            <a:solidFill>
              <a:srgbClr val="B8C4D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09160" y="941832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Rest: collect into a binding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727448" y="1234440"/>
            <a:ext cx="3575304" cy="1709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 [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primaryTag,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...otherTags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] = originalTags;</a:t>
            </a:r>
            <a:endParaRPr lang="en-US" sz="1130" dirty="0"/>
          </a:p>
          <a:p>
            <a:pPr indent="0" marL="0">
              <a:buNone/>
            </a:pP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Collected binding: otherTags</a:t>
            </a:r>
            <a:endParaRPr lang="en-US" sz="1130" dirty="0"/>
          </a:p>
        </p:txBody>
      </p:sp>
      <p:sp>
        <p:nvSpPr>
          <p:cNvPr id="9" name="Text 7"/>
          <p:cNvSpPr/>
          <p:nvPr/>
        </p:nvSpPr>
        <p:spPr>
          <a:xfrm>
            <a:off x="822960" y="3291840"/>
            <a:ext cx="2468880" cy="251460"/>
          </a:xfrm>
          <a:prstGeom prst="rect">
            <a:avLst/>
          </a:prstGeom>
          <a:solidFill>
            <a:srgbClr val="DDEBFF"/>
          </a:solidFill>
          <a:ln>
            <a:solidFill>
              <a:srgbClr val="B8C4D3"/>
            </a:solidFill>
          </a:ln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</a:t>
            </a:r>
            <a:endParaRPr lang="en-US" sz="1030" dirty="0"/>
          </a:p>
        </p:txBody>
      </p:sp>
      <p:sp>
        <p:nvSpPr>
          <p:cNvPr id="10" name="Text 8"/>
          <p:cNvSpPr/>
          <p:nvPr/>
        </p:nvSpPr>
        <p:spPr>
          <a:xfrm>
            <a:off x="3291840" y="3291840"/>
            <a:ext cx="2468880" cy="251460"/>
          </a:xfrm>
          <a:prstGeom prst="rect">
            <a:avLst/>
          </a:prstGeom>
          <a:solidFill>
            <a:srgbClr val="DDEBFF"/>
          </a:solidFill>
          <a:ln>
            <a:solidFill>
              <a:srgbClr val="B8C4D3"/>
            </a:solidFill>
          </a:ln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Spread</a:t>
            </a:r>
            <a:endParaRPr lang="en-US" sz="1030" dirty="0"/>
          </a:p>
        </p:txBody>
      </p:sp>
      <p:sp>
        <p:nvSpPr>
          <p:cNvPr id="11" name="Text 9"/>
          <p:cNvSpPr/>
          <p:nvPr/>
        </p:nvSpPr>
        <p:spPr>
          <a:xfrm>
            <a:off x="5760720" y="3291840"/>
            <a:ext cx="2468880" cy="251460"/>
          </a:xfrm>
          <a:prstGeom prst="rect">
            <a:avLst/>
          </a:prstGeom>
          <a:solidFill>
            <a:srgbClr val="DDEBFF"/>
          </a:solidFill>
          <a:ln>
            <a:solidFill>
              <a:srgbClr val="B8C4D3"/>
            </a:solidFill>
          </a:ln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</a:t>
            </a:r>
            <a:endParaRPr lang="en-US" sz="1030" dirty="0"/>
          </a:p>
        </p:txBody>
      </p:sp>
      <p:sp>
        <p:nvSpPr>
          <p:cNvPr id="12" name="Text 10"/>
          <p:cNvSpPr/>
          <p:nvPr/>
        </p:nvSpPr>
        <p:spPr>
          <a:xfrm>
            <a:off x="822960" y="3543300"/>
            <a:ext cx="2468880" cy="251460"/>
          </a:xfrm>
          <a:prstGeom prst="rect">
            <a:avLst/>
          </a:prstGeom>
          <a:solidFill>
            <a:srgbClr val="FFFFFF"/>
          </a:solidFill>
          <a:ln>
            <a:solidFill>
              <a:srgbClr val="B8C4D3"/>
            </a:solidFill>
          </a:ln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happens?</a:t>
            </a:r>
            <a:endParaRPr lang="en-US" sz="1030" dirty="0"/>
          </a:p>
        </p:txBody>
      </p:sp>
      <p:sp>
        <p:nvSpPr>
          <p:cNvPr id="13" name="Text 11"/>
          <p:cNvSpPr/>
          <p:nvPr/>
        </p:nvSpPr>
        <p:spPr>
          <a:xfrm>
            <a:off x="3291840" y="3543300"/>
            <a:ext cx="2468880" cy="251460"/>
          </a:xfrm>
          <a:prstGeom prst="rect">
            <a:avLst/>
          </a:prstGeom>
          <a:solidFill>
            <a:srgbClr val="FFFFFF"/>
          </a:solidFill>
          <a:ln>
            <a:solidFill>
              <a:srgbClr val="B8C4D3"/>
            </a:solidFill>
          </a:ln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Values expand</a:t>
            </a:r>
            <a:endParaRPr lang="en-US" sz="1030" dirty="0"/>
          </a:p>
        </p:txBody>
      </p:sp>
      <p:sp>
        <p:nvSpPr>
          <p:cNvPr id="14" name="Text 12"/>
          <p:cNvSpPr/>
          <p:nvPr/>
        </p:nvSpPr>
        <p:spPr>
          <a:xfrm>
            <a:off x="5760720" y="3543300"/>
            <a:ext cx="2468880" cy="251460"/>
          </a:xfrm>
          <a:prstGeom prst="rect">
            <a:avLst/>
          </a:prstGeom>
          <a:solidFill>
            <a:srgbClr val="FFFFFF"/>
          </a:solidFill>
          <a:ln>
            <a:solidFill>
              <a:srgbClr val="B8C4D3"/>
            </a:solidFill>
          </a:ln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Values collect</a:t>
            </a:r>
            <a:endParaRPr lang="en-US" sz="1030" dirty="0"/>
          </a:p>
        </p:txBody>
      </p:sp>
      <p:sp>
        <p:nvSpPr>
          <p:cNvPr id="15" name="Text 13"/>
          <p:cNvSpPr/>
          <p:nvPr/>
        </p:nvSpPr>
        <p:spPr>
          <a:xfrm>
            <a:off x="822960" y="3794760"/>
            <a:ext cx="2468880" cy="251460"/>
          </a:xfrm>
          <a:prstGeom prst="rect">
            <a:avLst/>
          </a:prstGeom>
          <a:solidFill>
            <a:srgbClr val="FFFFFF"/>
          </a:solidFill>
          <a:ln>
            <a:solidFill>
              <a:srgbClr val="B8C4D3"/>
            </a:solidFill>
          </a:ln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Where?</a:t>
            </a:r>
            <a:endParaRPr lang="en-US" sz="1030" dirty="0"/>
          </a:p>
        </p:txBody>
      </p:sp>
      <p:sp>
        <p:nvSpPr>
          <p:cNvPr id="16" name="Text 14"/>
          <p:cNvSpPr/>
          <p:nvPr/>
        </p:nvSpPr>
        <p:spPr>
          <a:xfrm>
            <a:off x="3291840" y="3794760"/>
            <a:ext cx="2468880" cy="251460"/>
          </a:xfrm>
          <a:prstGeom prst="rect">
            <a:avLst/>
          </a:prstGeom>
          <a:solidFill>
            <a:srgbClr val="FFFFFF"/>
          </a:solidFill>
          <a:ln>
            <a:solidFill>
              <a:srgbClr val="B8C4D3"/>
            </a:solidFill>
          </a:ln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array/object</a:t>
            </a:r>
            <a:endParaRPr lang="en-US" sz="1030" dirty="0"/>
          </a:p>
        </p:txBody>
      </p:sp>
      <p:sp>
        <p:nvSpPr>
          <p:cNvPr id="17" name="Text 15"/>
          <p:cNvSpPr/>
          <p:nvPr/>
        </p:nvSpPr>
        <p:spPr>
          <a:xfrm>
            <a:off x="5760720" y="3794760"/>
            <a:ext cx="2468880" cy="251460"/>
          </a:xfrm>
          <a:prstGeom prst="rect">
            <a:avLst/>
          </a:prstGeom>
          <a:solidFill>
            <a:srgbClr val="FFFFFF"/>
          </a:solidFill>
          <a:ln>
            <a:solidFill>
              <a:srgbClr val="B8C4D3"/>
            </a:solidFill>
          </a:ln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 or parameter list</a:t>
            </a:r>
            <a:endParaRPr lang="en-US" sz="1030" dirty="0"/>
          </a:p>
        </p:txBody>
      </p:sp>
      <p:sp>
        <p:nvSpPr>
          <p:cNvPr id="18" name="Text 16"/>
          <p:cNvSpPr/>
          <p:nvPr/>
        </p:nvSpPr>
        <p:spPr>
          <a:xfrm>
            <a:off x="822960" y="4046220"/>
            <a:ext cx="2468880" cy="251460"/>
          </a:xfrm>
          <a:prstGeom prst="rect">
            <a:avLst/>
          </a:prstGeom>
          <a:solidFill>
            <a:srgbClr val="FFFFFF"/>
          </a:solidFill>
          <a:ln>
            <a:solidFill>
              <a:srgbClr val="B8C4D3"/>
            </a:solidFill>
          </a:ln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Produced here</a:t>
            </a:r>
            <a:endParaRPr lang="en-US" sz="1030" dirty="0"/>
          </a:p>
        </p:txBody>
      </p:sp>
      <p:sp>
        <p:nvSpPr>
          <p:cNvPr id="19" name="Text 17"/>
          <p:cNvSpPr/>
          <p:nvPr/>
        </p:nvSpPr>
        <p:spPr>
          <a:xfrm>
            <a:off x="3291840" y="4046220"/>
            <a:ext cx="2468880" cy="251460"/>
          </a:xfrm>
          <a:prstGeom prst="rect">
            <a:avLst/>
          </a:prstGeom>
          <a:solidFill>
            <a:srgbClr val="FFFFFF"/>
          </a:solidFill>
          <a:ln>
            <a:solidFill>
              <a:srgbClr val="B8C4D3"/>
            </a:solidFill>
          </a:ln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Destination value</a:t>
            </a:r>
            <a:endParaRPr lang="en-US" sz="1030" dirty="0"/>
          </a:p>
        </p:txBody>
      </p:sp>
      <p:sp>
        <p:nvSpPr>
          <p:cNvPr id="20" name="Text 18"/>
          <p:cNvSpPr/>
          <p:nvPr/>
        </p:nvSpPr>
        <p:spPr>
          <a:xfrm>
            <a:off x="5760720" y="4046220"/>
            <a:ext cx="2468880" cy="251460"/>
          </a:xfrm>
          <a:prstGeom prst="rect">
            <a:avLst/>
          </a:prstGeom>
          <a:solidFill>
            <a:srgbClr val="FFFFFF"/>
          </a:solidFill>
          <a:ln>
            <a:solidFill>
              <a:srgbClr val="B8C4D3"/>
            </a:solidFill>
          </a:ln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Collected binding</a:t>
            </a:r>
            <a:endParaRPr lang="en-US" sz="103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parameters collect extra arguments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594360" y="868680"/>
            <a:ext cx="4343400" cy="3200400"/>
          </a:xfrm>
          <a:prstGeom prst="rect">
            <a:avLst/>
          </a:prstGeom>
          <a:solidFill>
            <a:srgbClr val="0F172A"/>
          </a:solidFill>
          <a:ln w="8890">
            <a:solidFill>
              <a:srgbClr val="334155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formatNotes(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firstNote,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...otherNotes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`Primary: ${firstNote}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Others: ${otherNotes.length}`;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formatNotes(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"Customer called",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"Email sent",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"Reset link shared"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80" dirty="0"/>
          </a:p>
        </p:txBody>
      </p:sp>
      <p:sp>
        <p:nvSpPr>
          <p:cNvPr id="5" name="Shape 2"/>
          <p:cNvSpPr/>
          <p:nvPr/>
        </p:nvSpPr>
        <p:spPr>
          <a:xfrm>
            <a:off x="5166360" y="1005840"/>
            <a:ext cx="3291840" cy="1737360"/>
          </a:xfrm>
          <a:prstGeom prst="roundRect">
            <a:avLst>
              <a:gd name="adj" fmla="val 4211"/>
            </a:avLst>
          </a:prstGeom>
          <a:solidFill>
            <a:srgbClr val="DCF5E5"/>
          </a:solidFill>
          <a:ln w="7620">
            <a:solidFill>
              <a:srgbClr val="B8C4D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257800" y="107899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 the function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276088" y="1371600"/>
            <a:ext cx="3072384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firstNote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"Customer called"</a:t>
            </a:r>
            <a:endParaRPr lang="en-US" sz="1180" dirty="0"/>
          </a:p>
          <a:p>
            <a:pPr indent="0" marL="0">
              <a:buNone/>
            </a:pP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otherNotes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["Email sent", "Reset link shared"]</a:t>
            </a:r>
            <a:endParaRPr lang="en-US" sz="1180" dirty="0"/>
          </a:p>
        </p:txBody>
      </p:sp>
      <p:sp>
        <p:nvSpPr>
          <p:cNvPr id="8" name="Shape 5"/>
          <p:cNvSpPr/>
          <p:nvPr/>
        </p:nvSpPr>
        <p:spPr>
          <a:xfrm>
            <a:off x="5166360" y="3017520"/>
            <a:ext cx="3291840" cy="777240"/>
          </a:xfrm>
          <a:prstGeom prst="roundRect">
            <a:avLst>
              <a:gd name="adj" fmla="val 9412"/>
            </a:avLst>
          </a:prstGeom>
          <a:solidFill>
            <a:srgbClr val="FFF4C2"/>
          </a:solidFill>
          <a:ln w="7620">
            <a:solidFill>
              <a:srgbClr val="B8C4D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257800" y="309067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276088" y="3383280"/>
            <a:ext cx="3072384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rest parameter collects the remaining arguments into an array. It must be the final parameter.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Spread or rest?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365760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Classify each use of ...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94360" y="1124712"/>
            <a:ext cx="365760" cy="228600"/>
          </a:xfrm>
          <a:prstGeom prst="rect">
            <a:avLst/>
          </a:prstGeom>
          <a:solidFill>
            <a:srgbClr val="E5F0FF"/>
          </a:solidFill>
          <a:ln>
            <a:solidFill>
              <a:srgbClr val="B8C4D3"/>
            </a:solidFill>
          </a:ln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05840" y="1124712"/>
            <a:ext cx="3429000" cy="1005840"/>
          </a:xfrm>
          <a:prstGeom prst="rect">
            <a:avLst/>
          </a:prstGeom>
          <a:solidFill>
            <a:srgbClr val="0F172A"/>
          </a:solidFill>
          <a:ln w="8890">
            <a:solidFill>
              <a:srgbClr val="334155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copy = {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...supportTicket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960" dirty="0"/>
          </a:p>
        </p:txBody>
      </p:sp>
      <p:sp>
        <p:nvSpPr>
          <p:cNvPr id="6" name="Text 4"/>
          <p:cNvSpPr/>
          <p:nvPr/>
        </p:nvSpPr>
        <p:spPr>
          <a:xfrm>
            <a:off x="4617720" y="1124712"/>
            <a:ext cx="365760" cy="228600"/>
          </a:xfrm>
          <a:prstGeom prst="rect">
            <a:avLst/>
          </a:prstGeom>
          <a:solidFill>
            <a:srgbClr val="E5F0FF"/>
          </a:solidFill>
          <a:ln>
            <a:solidFill>
              <a:srgbClr val="B8C4D3"/>
            </a:solidFill>
          </a:ln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0" y="1124712"/>
            <a:ext cx="3429000" cy="1005840"/>
          </a:xfrm>
          <a:prstGeom prst="rect">
            <a:avLst/>
          </a:prstGeom>
          <a:solidFill>
            <a:srgbClr val="0F172A"/>
          </a:solidFill>
          <a:ln w="8890">
            <a:solidFill>
              <a:srgbClr val="334155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firstTag,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...remainingTags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 tags;</a:t>
            </a:r>
            <a:endParaRPr lang="en-US" sz="960" dirty="0"/>
          </a:p>
        </p:txBody>
      </p:sp>
      <p:sp>
        <p:nvSpPr>
          <p:cNvPr id="8" name="Text 6"/>
          <p:cNvSpPr/>
          <p:nvPr/>
        </p:nvSpPr>
        <p:spPr>
          <a:xfrm>
            <a:off x="594360" y="2450592"/>
            <a:ext cx="365760" cy="228600"/>
          </a:xfrm>
          <a:prstGeom prst="rect">
            <a:avLst/>
          </a:prstGeom>
          <a:solidFill>
            <a:srgbClr val="E5F0FF"/>
          </a:solidFill>
          <a:ln>
            <a:solidFill>
              <a:srgbClr val="B8C4D3"/>
            </a:solidFill>
          </a:ln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2450592"/>
            <a:ext cx="3429000" cy="1005840"/>
          </a:xfrm>
          <a:prstGeom prst="rect">
            <a:avLst/>
          </a:prstGeom>
          <a:solidFill>
            <a:srgbClr val="0F172A"/>
          </a:solidFill>
          <a:ln w="8890">
            <a:solidFill>
              <a:srgbClr val="334155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logMessages(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...messages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console.log(messages);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60" dirty="0"/>
          </a:p>
        </p:txBody>
      </p:sp>
      <p:sp>
        <p:nvSpPr>
          <p:cNvPr id="10" name="Text 8"/>
          <p:cNvSpPr/>
          <p:nvPr/>
        </p:nvSpPr>
        <p:spPr>
          <a:xfrm>
            <a:off x="4617720" y="2450592"/>
            <a:ext cx="365760" cy="228600"/>
          </a:xfrm>
          <a:prstGeom prst="rect">
            <a:avLst/>
          </a:prstGeom>
          <a:solidFill>
            <a:srgbClr val="E5F0FF"/>
          </a:solidFill>
          <a:ln>
            <a:solidFill>
              <a:srgbClr val="B8C4D3"/>
            </a:solidFill>
          </a:ln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0" y="2450592"/>
            <a:ext cx="3429000" cy="1005840"/>
          </a:xfrm>
          <a:prstGeom prst="rect">
            <a:avLst/>
          </a:prstGeom>
          <a:solidFill>
            <a:srgbClr val="0F172A"/>
          </a:solidFill>
          <a:ln w="8890">
            <a:solidFill>
              <a:srgbClr val="334155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allTags = [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"Account",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...tags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960" dirty="0"/>
          </a:p>
        </p:txBody>
      </p:sp>
      <p:sp>
        <p:nvSpPr>
          <p:cNvPr id="12" name="Text 10"/>
          <p:cNvSpPr/>
          <p:nvPr/>
        </p:nvSpPr>
        <p:spPr>
          <a:xfrm>
            <a:off x="685800" y="4160520"/>
            <a:ext cx="7726680" cy="594360"/>
          </a:xfrm>
          <a:prstGeom prst="rect">
            <a:avLst/>
          </a:prstGeom>
          <a:solidFill>
            <a:srgbClr val="DCF5E5"/>
          </a:solidFill>
          <a:ln>
            <a:solidFill>
              <a:srgbClr val="A7D8B6"/>
            </a:solidFill>
          </a:ln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A spread, B rest, C rest, D spread. Look at the surrounding context before naming the role.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Checkpoint: Update an event schedule safely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3886200" cy="3200400"/>
          </a:xfrm>
          <a:prstGeom prst="rect">
            <a:avLst/>
          </a:prstGeom>
          <a:solidFill>
            <a:srgbClr val="0F172A"/>
          </a:solidFill>
          <a:ln w="8890">
            <a:solidFill>
              <a:srgbClr val="334155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event = {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title: "Frontend meetup",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speakers: [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"Kabir",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"Meera",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"Tenzin"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],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room: "A-204"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920" dirty="0"/>
          </a:p>
          <a:p>
            <a:pPr indent="0" marL="0">
              <a:buNone/>
            </a:pP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{ title, room } = event;</a:t>
            </a:r>
            <a:endParaRPr lang="en-US" sz="920" dirty="0"/>
          </a:p>
          <a:p>
            <a:pPr indent="0" marL="0">
              <a:buNone/>
            </a:pP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host,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...guests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 event.speakers;</a:t>
            </a:r>
            <a:endParaRPr lang="en-US" sz="920" dirty="0"/>
          </a:p>
          <a:p>
            <a:pPr indent="0" marL="0">
              <a:buNone/>
            </a:pP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updatedEvent = {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...event,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room: "B-310"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920" dirty="0"/>
          </a:p>
        </p:txBody>
      </p:sp>
      <p:sp>
        <p:nvSpPr>
          <p:cNvPr id="4" name="Text 2"/>
          <p:cNvSpPr/>
          <p:nvPr/>
        </p:nvSpPr>
        <p:spPr>
          <a:xfrm>
            <a:off x="4709160" y="822960"/>
            <a:ext cx="374904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statement is correct?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709160" y="1170432"/>
            <a:ext cx="3749040" cy="2331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A. host is "Meera", and event.room becomes "B-310".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B. host is "Kabir", guests contains "Meera" and "Tenzin", and event.room remains "A-204".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C. guests stores one string, and updatedEvent is the same object as event.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D. room becomes "B-310" because the destructured binding changes with updatedEvent.</a:t>
            </a:r>
            <a:endParaRPr lang="en-US" sz="1030" dirty="0"/>
          </a:p>
        </p:txBody>
      </p:sp>
      <p:sp>
        <p:nvSpPr>
          <p:cNvPr id="6" name="Text 4"/>
          <p:cNvSpPr/>
          <p:nvPr/>
        </p:nvSpPr>
        <p:spPr>
          <a:xfrm>
            <a:off x="4709160" y="3611880"/>
            <a:ext cx="3749040" cy="822960"/>
          </a:xfrm>
          <a:prstGeom prst="rect">
            <a:avLst/>
          </a:prstGeom>
          <a:solidFill>
            <a:srgbClr val="DCF5E5"/>
          </a:solidFill>
          <a:ln>
            <a:solidFill>
              <a:srgbClr val="A7D8B6"/>
            </a:solidFill>
          </a:ln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B</a:t>
            </a:r>
            <a:endParaRPr lang="en-US" sz="980" dirty="0"/>
          </a:p>
          <a:p>
            <a:pPr algn="l" indent="0" marL="0">
              <a:buNone/>
            </a:pPr>
            <a:r>
              <a:rPr lang="en-US" sz="9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Array destructuring follows position. Object spread creates updatedEvent; it does not replace event.</a:t>
            </a:r>
            <a:endParaRPr lang="en-US" sz="98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1965960"/>
            <a:ext cx="69494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JavaScript files with modules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1645920" y="2542032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a value from one file and import it where it is needed</a:t>
            </a:r>
            <a:endParaRPr lang="en-US" sz="13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script now has several responsibilities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4572000" cy="3520440"/>
          </a:xfrm>
          <a:prstGeom prst="rect">
            <a:avLst/>
          </a:prstGeom>
          <a:solidFill>
            <a:srgbClr val="0F172A"/>
          </a:solidFill>
          <a:ln w="8890">
            <a:solidFill>
              <a:srgbClr val="334155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supportTicket = {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id: "SUP-1048",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customer: "Asha Menon",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priority: "High",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status: "Open",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summary: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"Cannot sign in after password reset",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tags: ["Login", "Mobile", "Urgent"]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890" dirty="0"/>
          </a:p>
          <a:p>
            <a:pPr indent="0" marL="0">
              <a:buNone/>
            </a:pP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formatTicketHeading(ticket) {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`${ticket.id} | ${ticket.customer}`;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90" dirty="0"/>
          </a:p>
          <a:p>
            <a:pPr indent="0" marL="0">
              <a:buNone/>
            </a:pP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Select elements and update the page</a:t>
            </a:r>
            <a:endParaRPr lang="en-US" sz="890" dirty="0"/>
          </a:p>
        </p:txBody>
      </p:sp>
      <p:sp>
        <p:nvSpPr>
          <p:cNvPr id="4" name="Shape 2"/>
          <p:cNvSpPr/>
          <p:nvPr/>
        </p:nvSpPr>
        <p:spPr>
          <a:xfrm>
            <a:off x="5394960" y="1005840"/>
            <a:ext cx="2971800" cy="1508760"/>
          </a:xfrm>
          <a:prstGeom prst="roundRect">
            <a:avLst>
              <a:gd name="adj" fmla="val 4848"/>
            </a:avLst>
          </a:prstGeom>
          <a:solidFill>
            <a:srgbClr val="FFF4C2"/>
          </a:solidFill>
          <a:ln w="7620">
            <a:solidFill>
              <a:srgbClr val="B8C4D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0" y="1078992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app.js currently contains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504688" y="1371600"/>
            <a:ext cx="2752344" cy="1069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 data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formatting logic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page-update code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394960" y="2834640"/>
            <a:ext cx="2971800" cy="868680"/>
          </a:xfrm>
          <a:prstGeom prst="roundRect">
            <a:avLst>
              <a:gd name="adj" fmla="val 8421"/>
            </a:avLst>
          </a:prstGeom>
          <a:solidFill>
            <a:srgbClr val="DCF5E5"/>
          </a:solidFill>
          <a:ln w="7620">
            <a:solidFill>
              <a:srgbClr val="B8C4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0" y="2907792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Teaching point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504688" y="3200400"/>
            <a:ext cx="2752344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small single file is not automatically a problem. Separation becomes useful when responsibilities begin to grow.</a:t>
            </a:r>
            <a:endParaRPr lang="en-US" sz="118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modules need a module entry point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685800" y="914400"/>
            <a:ext cx="3657600" cy="1234440"/>
          </a:xfrm>
          <a:prstGeom prst="rect">
            <a:avLst/>
          </a:prstGeom>
          <a:solidFill>
            <a:srgbClr val="0F172A"/>
          </a:solidFill>
          <a:ln w="8890">
            <a:solidFill>
              <a:srgbClr val="334155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&lt;script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type="module"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src="./app.js"&gt;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&lt;/script&gt;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617720" y="914400"/>
            <a:ext cx="3703320" cy="1188720"/>
          </a:xfrm>
          <a:prstGeom prst="rect">
            <a:avLst/>
          </a:prstGeom>
          <a:solidFill>
            <a:srgbClr val="FFF4C2"/>
          </a:solidFill>
          <a:ln>
            <a:solidFill>
              <a:srgbClr val="B8C4D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Open index.html with Live Server.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Confirm the browser address begins with http://.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 not open the page through file://.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960120" y="2788920"/>
            <a:ext cx="7315200" cy="868680"/>
          </a:xfrm>
          <a:prstGeom prst="roundRect">
            <a:avLst>
              <a:gd name="adj" fmla="val 8421"/>
            </a:avLst>
          </a:prstGeom>
          <a:solidFill>
            <a:srgbClr val="DCF5E5"/>
          </a:solidFill>
          <a:ln w="7620">
            <a:solidFill>
              <a:srgbClr val="B8C4D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51560" y="286207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1069848" y="3154680"/>
            <a:ext cx="7095744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type="module" tells the browser that app.js can use import and export. Live Server gives the browser an HTTP origin for the module files.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the ticket data from its own file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920240" cy="274320"/>
          </a:xfrm>
          <a:prstGeom prst="rect">
            <a:avLst/>
          </a:prstGeom>
          <a:solidFill>
            <a:srgbClr val="E5F0FF"/>
          </a:solidFill>
          <a:ln>
            <a:solidFill>
              <a:srgbClr val="B8C4D3"/>
            </a:solidFill>
          </a:ln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ticket-data.js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1152144"/>
            <a:ext cx="4709160" cy="3246120"/>
          </a:xfrm>
          <a:prstGeom prst="rect">
            <a:avLst/>
          </a:prstGeom>
          <a:solidFill>
            <a:srgbClr val="0F172A"/>
          </a:solidFill>
          <a:ln w="8890">
            <a:solidFill>
              <a:srgbClr val="334155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const supportTicket = {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id: "SUP-1048",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customer: "Asha Menon",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priority: "High",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status: "Open",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summary: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"Cannot sign in after password reset",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tags: [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"Login",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"Mobile",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"Urgent"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920" dirty="0"/>
          </a:p>
        </p:txBody>
      </p:sp>
      <p:sp>
        <p:nvSpPr>
          <p:cNvPr id="5" name="Shape 3"/>
          <p:cNvSpPr/>
          <p:nvPr/>
        </p:nvSpPr>
        <p:spPr>
          <a:xfrm>
            <a:off x="5532120" y="1188720"/>
            <a:ext cx="2834640" cy="2423160"/>
          </a:xfrm>
          <a:prstGeom prst="roundRect">
            <a:avLst>
              <a:gd name="adj" fmla="val 3019"/>
            </a:avLst>
          </a:prstGeom>
          <a:solidFill>
            <a:srgbClr val="FFF4C2"/>
          </a:solidFill>
          <a:ln w="7620">
            <a:solidFill>
              <a:srgbClr val="B8C4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23560" y="126187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first line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641848" y="1554480"/>
            <a:ext cx="2615184" cy="1984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const supportTicket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 supportTicket creates the binding.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exposes that named binding to other modules.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Exported name: supportTicket</a:t>
            </a:r>
            <a:endParaRPr lang="en-US" sz="11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the named ticket into app.js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731520" y="896112"/>
            <a:ext cx="7498080" cy="868680"/>
          </a:xfrm>
          <a:prstGeom prst="rect">
            <a:avLst/>
          </a:prstGeom>
          <a:solidFill>
            <a:srgbClr val="0F172A"/>
          </a:solidFill>
          <a:ln w="8890">
            <a:solidFill>
              <a:srgbClr val="334155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supportTicket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from "./ticket-data.js";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1874520"/>
            <a:ext cx="3703320" cy="292608"/>
          </a:xfrm>
          <a:prstGeom prst="rect">
            <a:avLst/>
          </a:prstGeom>
          <a:solidFill>
            <a:srgbClr val="DDEBFF"/>
          </a:solidFill>
          <a:ln>
            <a:solidFill>
              <a:srgbClr val="B8C4D3"/>
            </a:solidFill>
          </a:ln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480560" y="1874520"/>
            <a:ext cx="3703320" cy="292608"/>
          </a:xfrm>
          <a:prstGeom prst="rect">
            <a:avLst/>
          </a:prstGeom>
          <a:solidFill>
            <a:srgbClr val="DDEBFF"/>
          </a:solidFill>
          <a:ln>
            <a:solidFill>
              <a:srgbClr val="B8C4D3"/>
            </a:solidFill>
          </a:ln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2167128"/>
            <a:ext cx="3703320" cy="292608"/>
          </a:xfrm>
          <a:prstGeom prst="rect">
            <a:avLst/>
          </a:prstGeom>
          <a:solidFill>
            <a:srgbClr val="FFFFFF"/>
          </a:solidFill>
          <a:ln>
            <a:solidFill>
              <a:srgbClr val="B8C4D3"/>
            </a:solidFill>
          </a:ln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480560" y="2167128"/>
            <a:ext cx="3703320" cy="292608"/>
          </a:xfrm>
          <a:prstGeom prst="rect">
            <a:avLst/>
          </a:prstGeom>
          <a:solidFill>
            <a:srgbClr val="FFFFFF"/>
          </a:solidFill>
          <a:ln>
            <a:solidFill>
              <a:srgbClr val="B8C4D3"/>
            </a:solidFill>
          </a:ln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a value from another module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2459736"/>
            <a:ext cx="3703320" cy="292608"/>
          </a:xfrm>
          <a:prstGeom prst="rect">
            <a:avLst/>
          </a:prstGeom>
          <a:solidFill>
            <a:srgbClr val="FFFFFF"/>
          </a:solidFill>
          <a:ln>
            <a:solidFill>
              <a:srgbClr val="B8C4D3"/>
            </a:solidFill>
          </a:ln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 supportTicket 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480560" y="2459736"/>
            <a:ext cx="3703320" cy="292608"/>
          </a:xfrm>
          <a:prstGeom prst="rect">
            <a:avLst/>
          </a:prstGeom>
          <a:solidFill>
            <a:srgbClr val="FFFFFF"/>
          </a:solidFill>
          <a:ln>
            <a:solidFill>
              <a:srgbClr val="B8C4D3"/>
            </a:solidFill>
          </a:ln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the named export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2752344"/>
            <a:ext cx="3703320" cy="292608"/>
          </a:xfrm>
          <a:prstGeom prst="rect">
            <a:avLst/>
          </a:prstGeom>
          <a:solidFill>
            <a:srgbClr val="FFFFFF"/>
          </a:solidFill>
          <a:ln>
            <a:solidFill>
              <a:srgbClr val="B8C4D3"/>
            </a:solidFill>
          </a:ln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480560" y="2752344"/>
            <a:ext cx="3703320" cy="292608"/>
          </a:xfrm>
          <a:prstGeom prst="rect">
            <a:avLst/>
          </a:prstGeom>
          <a:solidFill>
            <a:srgbClr val="FFFFFF"/>
          </a:solidFill>
          <a:ln>
            <a:solidFill>
              <a:srgbClr val="B8C4D3"/>
            </a:solidFill>
          </a:ln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the requested value to a module path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3044952"/>
            <a:ext cx="3703320" cy="292608"/>
          </a:xfrm>
          <a:prstGeom prst="rect">
            <a:avLst/>
          </a:prstGeom>
          <a:solidFill>
            <a:srgbClr val="FFFFFF"/>
          </a:solidFill>
          <a:ln>
            <a:solidFill>
              <a:srgbClr val="B8C4D3"/>
            </a:solidFill>
          </a:ln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"./ticket-data.js"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480560" y="3044952"/>
            <a:ext cx="3703320" cy="292608"/>
          </a:xfrm>
          <a:prstGeom prst="rect">
            <a:avLst/>
          </a:prstGeom>
          <a:solidFill>
            <a:srgbClr val="FFFFFF"/>
          </a:solidFill>
          <a:ln>
            <a:solidFill>
              <a:srgbClr val="B8C4D3"/>
            </a:solidFill>
          </a:ln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Locate the exporting file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3611880"/>
            <a:ext cx="7132320" cy="777240"/>
          </a:xfrm>
          <a:prstGeom prst="rect">
            <a:avLst/>
          </a:prstGeom>
          <a:solidFill>
            <a:srgbClr val="DCF5E5"/>
          </a:solidFill>
          <a:ln>
            <a:solidFill>
              <a:srgbClr val="B8C4D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Named imports use braces.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imported name must match the exported name.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relative path begins with ./ and includes the .js extension.</a:t>
            </a:r>
            <a:endParaRPr lang="en-US" sz="12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 the module relationship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685800" y="96012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E5F0FF"/>
          </a:solidFill>
          <a:ln w="7620">
            <a:solidFill>
              <a:srgbClr val="B8C4D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03327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index.html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795528" y="1325880"/>
            <a:ext cx="160934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loads app.js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a module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11880" y="96012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FFF4C2"/>
          </a:solidFill>
          <a:ln w="7620">
            <a:solidFill>
              <a:srgbClr val="B8C4D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03320" y="103327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app.js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721608" y="1325880"/>
            <a:ext cx="160934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supportTicket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46520" y="96012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DCF5E5"/>
          </a:solidFill>
          <a:ln w="7620">
            <a:solidFill>
              <a:srgbClr val="B8C4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103327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ticket-data.js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556248" y="1325880"/>
            <a:ext cx="160934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supportTicket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560320" y="1371600"/>
            <a:ext cx="1051560" cy="0"/>
          </a:xfrm>
          <a:prstGeom prst="line">
            <a:avLst/>
          </a:prstGeom>
          <a:noFill/>
          <a:ln w="1397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440680" y="1371600"/>
            <a:ext cx="1005840" cy="0"/>
          </a:xfrm>
          <a:prstGeom prst="line">
            <a:avLst/>
          </a:prstGeom>
          <a:noFill/>
          <a:ln w="1397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1005840" y="2194560"/>
            <a:ext cx="7132320" cy="1325880"/>
          </a:xfrm>
          <a:prstGeom prst="rect">
            <a:avLst/>
          </a:prstGeom>
          <a:solidFill>
            <a:srgbClr val="0F172A"/>
          </a:solidFill>
          <a:ln w="8890">
            <a:solidFill>
              <a:srgbClr val="334155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ticket-data.js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const supportTicket = { ... };</a:t>
            </a:r>
            <a:endParaRPr lang="en-US" sz="1060" dirty="0"/>
          </a:p>
          <a:p>
            <a:pPr indent="0" marL="0">
              <a:buNone/>
            </a:pP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app.js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supportTicket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from "./ticket-data.js";</a:t>
            </a:r>
            <a:endParaRPr lang="en-US" sz="1060" dirty="0"/>
          </a:p>
        </p:txBody>
      </p:sp>
      <p:sp>
        <p:nvSpPr>
          <p:cNvPr id="15" name="Shape 13"/>
          <p:cNvSpPr/>
          <p:nvPr/>
        </p:nvSpPr>
        <p:spPr>
          <a:xfrm>
            <a:off x="1005840" y="3794760"/>
            <a:ext cx="7132320" cy="502920"/>
          </a:xfrm>
          <a:prstGeom prst="roundRect">
            <a:avLst>
              <a:gd name="adj" fmla="val 14545"/>
            </a:avLst>
          </a:prstGeom>
          <a:solidFill>
            <a:srgbClr val="FFF4C2"/>
          </a:solidFill>
          <a:ln w="7620">
            <a:solidFill>
              <a:srgbClr val="B8C4D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3867912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115568" y="4160520"/>
            <a:ext cx="6912864" cy="64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object is owned by ticket-data.js. The imported binding is available inside app.js.</a:t>
            </a:r>
            <a:endParaRPr lang="en-US" sz="11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useful formatting functions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920240" cy="274320"/>
          </a:xfrm>
          <a:prstGeom prst="rect">
            <a:avLst/>
          </a:prstGeom>
          <a:solidFill>
            <a:srgbClr val="E5F0FF"/>
          </a:solidFill>
          <a:ln>
            <a:solidFill>
              <a:srgbClr val="B8C4D3"/>
            </a:solidFill>
          </a:ln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ticket-utils.js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1170432"/>
            <a:ext cx="4526280" cy="2926080"/>
          </a:xfrm>
          <a:prstGeom prst="rect">
            <a:avLst/>
          </a:prstGeom>
          <a:solidFill>
            <a:srgbClr val="0F172A"/>
          </a:solidFill>
          <a:ln w="8890">
            <a:solidFill>
              <a:srgbClr val="334155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function formatTicketHeading(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ticket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`${ticket.id} | ${ticket.customer}`;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function formatTicketTags(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tags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tags.join(", ");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80" dirty="0"/>
          </a:p>
        </p:txBody>
      </p:sp>
      <p:sp>
        <p:nvSpPr>
          <p:cNvPr id="5" name="Shape 3"/>
          <p:cNvSpPr/>
          <p:nvPr/>
        </p:nvSpPr>
        <p:spPr>
          <a:xfrm>
            <a:off x="5349240" y="1170432"/>
            <a:ext cx="3063240" cy="868680"/>
          </a:xfrm>
          <a:prstGeom prst="roundRect">
            <a:avLst>
              <a:gd name="adj" fmla="val 8421"/>
            </a:avLst>
          </a:prstGeom>
          <a:solidFill>
            <a:srgbClr val="DCF5E5"/>
          </a:solidFill>
          <a:ln w="7620">
            <a:solidFill>
              <a:srgbClr val="B8C4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40680" y="1243584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Named exports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58968" y="1536192"/>
            <a:ext cx="2843784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formatTicketHeading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formatTicketTags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49240" y="2377440"/>
            <a:ext cx="3063240" cy="1234440"/>
          </a:xfrm>
          <a:prstGeom prst="rect">
            <a:avLst/>
          </a:prstGeom>
          <a:solidFill>
            <a:srgbClr val="0F172A"/>
          </a:solidFill>
          <a:ln w="8890">
            <a:solidFill>
              <a:srgbClr val="334155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formatTicketHeading(supportTicket)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"SUP-1048 | Asha Menon"</a:t>
            </a:r>
            <a:endParaRPr lang="en-US" sz="960" dirty="0"/>
          </a:p>
          <a:p>
            <a:pPr indent="0" marL="0">
              <a:buNone/>
            </a:pP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formatTicketTags(supportTicket.tags)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"Login, Mobile, Urgent"</a:t>
            </a:r>
            <a:endParaRPr lang="en-US" sz="96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more than one named function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94360" y="914400"/>
            <a:ext cx="3977640" cy="1051560"/>
          </a:xfrm>
          <a:prstGeom prst="rect">
            <a:avLst/>
          </a:prstGeom>
          <a:solidFill>
            <a:srgbClr val="0F172A"/>
          </a:solidFill>
          <a:ln w="8890">
            <a:solidFill>
              <a:srgbClr val="334155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formatTicketHeading,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formatTicketTags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from "./ticket-utils.js";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2331720"/>
            <a:ext cx="3977640" cy="1828800"/>
          </a:xfrm>
          <a:prstGeom prst="rect">
            <a:avLst/>
          </a:prstGeom>
          <a:solidFill>
            <a:srgbClr val="0F172A"/>
          </a:solidFill>
          <a:ln w="8890">
            <a:solidFill>
              <a:srgbClr val="334155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heading =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formatTicketHeading(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supportTicket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tagLabel =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formatTicketTags(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supportTicket.tags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892040" y="1280160"/>
            <a:ext cx="3337560" cy="1874520"/>
          </a:xfrm>
          <a:prstGeom prst="roundRect">
            <a:avLst>
              <a:gd name="adj" fmla="val 3902"/>
            </a:avLst>
          </a:prstGeom>
          <a:solidFill>
            <a:srgbClr val="FFF4C2"/>
          </a:solidFill>
          <a:ln w="7620">
            <a:solidFill>
              <a:srgbClr val="B8C4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83480" y="1353312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Named imports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01768" y="1645920"/>
            <a:ext cx="3118104" cy="1435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appear inside braces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exported names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request one or several bindings from the module</a:t>
            </a:r>
            <a:endParaRPr lang="en-US" sz="12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dashboard now uses three JavaScript files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594360" y="868680"/>
            <a:ext cx="2788920" cy="2514600"/>
          </a:xfrm>
          <a:prstGeom prst="roundRect">
            <a:avLst>
              <a:gd name="adj" fmla="val 2909"/>
            </a:avLst>
          </a:prstGeom>
          <a:solidFill>
            <a:srgbClr val="E5F0FF"/>
          </a:solidFill>
          <a:ln w="7620">
            <a:solidFill>
              <a:srgbClr val="B8C4D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941832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responsibilities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704088" y="1234440"/>
            <a:ext cx="2569464" cy="2075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ticket-data.js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Owns the ticket object</a:t>
            </a:r>
            <a:endParaRPr lang="en-US" sz="1070" dirty="0"/>
          </a:p>
          <a:p>
            <a:pPr indent="0" marL="0">
              <a:buNone/>
            </a:pP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ticket-utils.js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Owns ticket-formatting functions</a:t>
            </a:r>
            <a:endParaRPr lang="en-US" sz="1070" dirty="0"/>
          </a:p>
          <a:p>
            <a:pPr indent="0" marL="0">
              <a:buNone/>
            </a:pP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app.js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Imports data and functions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Updates the page</a:t>
            </a:r>
            <a:endParaRPr lang="en-US" sz="1070" dirty="0"/>
          </a:p>
        </p:txBody>
      </p:sp>
      <p:sp>
        <p:nvSpPr>
          <p:cNvPr id="6" name="Text 4"/>
          <p:cNvSpPr/>
          <p:nvPr/>
        </p:nvSpPr>
        <p:spPr>
          <a:xfrm>
            <a:off x="3611880" y="868680"/>
            <a:ext cx="4800600" cy="2880360"/>
          </a:xfrm>
          <a:prstGeom prst="rect">
            <a:avLst/>
          </a:prstGeom>
          <a:solidFill>
            <a:srgbClr val="0F172A"/>
          </a:solidFill>
          <a:ln w="8890">
            <a:solidFill>
              <a:srgbClr val="334155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supportTicket }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"./ticket-data.js";</a:t>
            </a:r>
            <a:endParaRPr lang="en-US" sz="930" dirty="0"/>
          </a:p>
          <a:p>
            <a:pPr indent="0" marL="0">
              <a:buNone/>
            </a:pP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formatTicketHeading,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formatTicketTags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from "./ticket-utils.js";</a:t>
            </a:r>
            <a:endParaRPr lang="en-US" sz="930" dirty="0"/>
          </a:p>
          <a:p>
            <a:pPr indent="0" marL="0">
              <a:buNone/>
            </a:pP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ticketHeading.textContent =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formatTicketHeading(supportTicket);</a:t>
            </a:r>
            <a:endParaRPr lang="en-US" sz="930" dirty="0"/>
          </a:p>
          <a:p>
            <a:pPr indent="0" marL="0">
              <a:buNone/>
            </a:pP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ticketTags.textContent =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formatTicketTags(supportTicket.tags);</a:t>
            </a:r>
            <a:endParaRPr lang="en-US" sz="930" dirty="0"/>
          </a:p>
        </p:txBody>
      </p:sp>
      <p:sp>
        <p:nvSpPr>
          <p:cNvPr id="7" name="Shape 5"/>
          <p:cNvSpPr/>
          <p:nvPr/>
        </p:nvSpPr>
        <p:spPr>
          <a:xfrm>
            <a:off x="3611880" y="3886200"/>
            <a:ext cx="4800600" cy="685800"/>
          </a:xfrm>
          <a:prstGeom prst="roundRect">
            <a:avLst>
              <a:gd name="adj" fmla="val 10667"/>
            </a:avLst>
          </a:prstGeom>
          <a:solidFill>
            <a:srgbClr val="DCF5E5"/>
          </a:solidFill>
          <a:ln w="7620">
            <a:solidFill>
              <a:srgbClr val="B8C4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03320" y="3959352"/>
            <a:ext cx="4617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Visible result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721608" y="4251960"/>
            <a:ext cx="4581144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SUP-1048 | Asha Menon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Login, Mobile, Urgent</a:t>
            </a:r>
            <a:endParaRPr lang="en-US" sz="1060" dirty="0"/>
          </a:p>
          <a:p>
            <a:pPr indent="0" marL="0">
              <a:buNone/>
            </a:pP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visible ticket remains the same. The responsibilities now live in separate files.</a:t>
            </a:r>
            <a:endParaRPr lang="en-US" sz="106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Named imports must match the export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94360" y="868680"/>
            <a:ext cx="3611880" cy="1371600"/>
          </a:xfrm>
          <a:prstGeom prst="rect">
            <a:avLst/>
          </a:prstGeom>
          <a:solidFill>
            <a:srgbClr val="0F172A"/>
          </a:solidFill>
          <a:ln w="8890">
            <a:solidFill>
              <a:srgbClr val="334155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ticket-utils.js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function formatTicketTags(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tags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tags.join(", 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480560" y="868680"/>
            <a:ext cx="3840480" cy="2926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import matches the exported name?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343400" y="1261872"/>
            <a:ext cx="320040" cy="228600"/>
          </a:xfrm>
          <a:prstGeom prst="rect">
            <a:avLst/>
          </a:prstGeom>
          <a:solidFill>
            <a:srgbClr val="E5F0FF"/>
          </a:solidFill>
          <a:ln>
            <a:solidFill>
              <a:srgbClr val="B8C4D3"/>
            </a:solidFill>
          </a:ln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672584" y="1261872"/>
            <a:ext cx="1600200" cy="685800"/>
          </a:xfrm>
          <a:prstGeom prst="rect">
            <a:avLst/>
          </a:prstGeom>
          <a:solidFill>
            <a:srgbClr val="0F172A"/>
          </a:solidFill>
          <a:ln w="8890">
            <a:solidFill>
              <a:srgbClr val="334155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formatTicketTags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"./ticket-utils.js";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492240" y="1261872"/>
            <a:ext cx="320040" cy="228600"/>
          </a:xfrm>
          <a:prstGeom prst="rect">
            <a:avLst/>
          </a:prstGeom>
          <a:solidFill>
            <a:srgbClr val="E5F0FF"/>
          </a:solidFill>
          <a:ln>
            <a:solidFill>
              <a:srgbClr val="B8C4D3"/>
            </a:solidFill>
          </a:ln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21424" y="1261872"/>
            <a:ext cx="1600200" cy="685800"/>
          </a:xfrm>
          <a:prstGeom prst="rect">
            <a:avLst/>
          </a:prstGeom>
          <a:solidFill>
            <a:srgbClr val="0F172A"/>
          </a:solidFill>
          <a:ln w="8890">
            <a:solidFill>
              <a:srgbClr val="334155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formatTags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from "./ticket-utils.js";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343400" y="2404872"/>
            <a:ext cx="320040" cy="228600"/>
          </a:xfrm>
          <a:prstGeom prst="rect">
            <a:avLst/>
          </a:prstGeom>
          <a:solidFill>
            <a:srgbClr val="E5F0FF"/>
          </a:solidFill>
          <a:ln>
            <a:solidFill>
              <a:srgbClr val="B8C4D3"/>
            </a:solidFill>
          </a:ln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672584" y="2404872"/>
            <a:ext cx="1600200" cy="685800"/>
          </a:xfrm>
          <a:prstGeom prst="rect">
            <a:avLst/>
          </a:prstGeom>
          <a:solidFill>
            <a:srgbClr val="0F172A"/>
          </a:solidFill>
          <a:ln w="8890">
            <a:solidFill>
              <a:srgbClr val="334155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formatTicketTags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from "./ticket-utils.js";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492240" y="2404872"/>
            <a:ext cx="320040" cy="228600"/>
          </a:xfrm>
          <a:prstGeom prst="rect">
            <a:avLst/>
          </a:prstGeom>
          <a:solidFill>
            <a:srgbClr val="E5F0FF"/>
          </a:solidFill>
          <a:ln>
            <a:solidFill>
              <a:srgbClr val="B8C4D3"/>
            </a:solidFill>
          </a:ln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21424" y="2404872"/>
            <a:ext cx="1600200" cy="685800"/>
          </a:xfrm>
          <a:prstGeom prst="rect">
            <a:avLst/>
          </a:prstGeom>
          <a:solidFill>
            <a:srgbClr val="0F172A"/>
          </a:solidFill>
          <a:ln w="8890">
            <a:solidFill>
              <a:srgbClr val="334155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formatTicketTags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from "ticket-utils";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85800" y="3886200"/>
            <a:ext cx="7726680" cy="777240"/>
          </a:xfrm>
          <a:prstGeom prst="rect">
            <a:avLst/>
          </a:prstGeom>
          <a:solidFill>
            <a:srgbClr val="DCF5E5"/>
          </a:solidFill>
          <a:ln>
            <a:solidFill>
              <a:srgbClr val="A7D8B6"/>
            </a:solidFill>
          </a:ln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C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uses braces, matches the exported name, and uses an explicit relative module path.</a:t>
            </a:r>
            <a:endParaRPr lang="en-US" sz="10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Named and default exports use different syntax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594360" y="868680"/>
            <a:ext cx="3840480" cy="3474720"/>
          </a:xfrm>
          <a:prstGeom prst="roundRect">
            <a:avLst>
              <a:gd name="adj" fmla="val 2105"/>
            </a:avLst>
          </a:prstGeom>
          <a:solidFill>
            <a:srgbClr val="E5F0FF"/>
          </a:solidFill>
          <a:ln w="7620">
            <a:solidFill>
              <a:srgbClr val="B8C4D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9418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Named export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704088" y="1234440"/>
            <a:ext cx="3621024" cy="3035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9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ticket-utils.js</a:t>
            </a: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function formatTicketTags(tags) {</a:t>
            </a: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return tags.join(", ");</a:t>
            </a: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}</a:t>
            </a:r>
            <a:endParaRPr lang="en-US" sz="990" dirty="0"/>
          </a:p>
          <a:p>
            <a:pPr indent="0" marL="0">
              <a:buNone/>
            </a:pP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app.js</a:t>
            </a: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{ formatTicketTags }</a:t>
            </a: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from "./ticket-utils.js";</a:t>
            </a:r>
            <a:endParaRPr lang="en-US" sz="990" dirty="0"/>
          </a:p>
          <a:p>
            <a:pPr indent="0" marL="0">
              <a:buNone/>
            </a:pP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Several named exports.</a:t>
            </a: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must match.</a:t>
            </a: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braces.</a:t>
            </a:r>
            <a:endParaRPr lang="en-US" sz="990" dirty="0"/>
          </a:p>
        </p:txBody>
      </p:sp>
      <p:sp>
        <p:nvSpPr>
          <p:cNvPr id="6" name="Shape 4"/>
          <p:cNvSpPr/>
          <p:nvPr/>
        </p:nvSpPr>
        <p:spPr>
          <a:xfrm>
            <a:off x="4617720" y="868680"/>
            <a:ext cx="3886200" cy="3474720"/>
          </a:xfrm>
          <a:prstGeom prst="roundRect">
            <a:avLst>
              <a:gd name="adj" fmla="val 2105"/>
            </a:avLst>
          </a:prstGeom>
          <a:solidFill>
            <a:srgbClr val="FFF4C2"/>
          </a:solidFill>
          <a:ln w="7620">
            <a:solidFill>
              <a:srgbClr val="B8C4D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09160" y="941832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export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727448" y="1234440"/>
            <a:ext cx="3666744" cy="3035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9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ticket-status.js</a:t>
            </a: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default function formatStatus(status) {</a:t>
            </a: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return `Status: ${status}`;</a:t>
            </a: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}</a:t>
            </a:r>
            <a:endParaRPr lang="en-US" sz="990" dirty="0"/>
          </a:p>
          <a:p>
            <a:pPr indent="0" marL="0">
              <a:buNone/>
            </a:pP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app.js</a:t>
            </a: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buildStatusLabel</a:t>
            </a: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from "./ticket-status.js";</a:t>
            </a:r>
            <a:endParaRPr lang="en-US" sz="990" dirty="0"/>
          </a:p>
          <a:p>
            <a:pPr indent="0" marL="0">
              <a:buNone/>
            </a:pP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default export.</a:t>
            </a: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braces.</a:t>
            </a: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Importing module chooses its local name.</a:t>
            </a:r>
            <a:endParaRPr lang="en-US" sz="99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Checkpoint: Connect a course resource module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3337560" cy="1508760"/>
          </a:xfrm>
          <a:prstGeom prst="rect">
            <a:avLst/>
          </a:prstGeom>
          <a:solidFill>
            <a:srgbClr val="0F172A"/>
          </a:solidFill>
          <a:ln w="8890">
            <a:solidFill>
              <a:srgbClr val="334155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resource-utils.js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function formatResourceTitle(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title,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fileType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`${title} (${fileType})`;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60" dirty="0"/>
          </a:p>
        </p:txBody>
      </p:sp>
      <p:sp>
        <p:nvSpPr>
          <p:cNvPr id="4" name="Text 2"/>
          <p:cNvSpPr/>
          <p:nvPr/>
        </p:nvSpPr>
        <p:spPr>
          <a:xfrm>
            <a:off x="4160520" y="822960"/>
            <a:ext cx="434340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folder is running through Live Server. Which app.js code correctly imports and uses the function?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2450592"/>
            <a:ext cx="274320" cy="228600"/>
          </a:xfrm>
          <a:prstGeom prst="rect">
            <a:avLst/>
          </a:prstGeom>
          <a:solidFill>
            <a:srgbClr val="E5F0FF"/>
          </a:solidFill>
          <a:ln>
            <a:solidFill>
              <a:srgbClr val="B8C4D3"/>
            </a:solidFill>
          </a:ln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41832" y="2450592"/>
            <a:ext cx="3520440" cy="731520"/>
          </a:xfrm>
          <a:prstGeom prst="rect">
            <a:avLst/>
          </a:prstGeom>
          <a:solidFill>
            <a:srgbClr val="0F172A"/>
          </a:solidFill>
          <a:ln w="8890">
            <a:solidFill>
              <a:srgbClr val="334155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formatResourceTitle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"./resource-utils.js";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label =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formatResourceTitle("Flexbox guide", "PDF");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617720" y="2450592"/>
            <a:ext cx="274320" cy="228600"/>
          </a:xfrm>
          <a:prstGeom prst="rect">
            <a:avLst/>
          </a:prstGeom>
          <a:solidFill>
            <a:srgbClr val="E5F0FF"/>
          </a:solidFill>
          <a:ln>
            <a:solidFill>
              <a:srgbClr val="B8C4D3"/>
            </a:solidFill>
          </a:ln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965192" y="2450592"/>
            <a:ext cx="3520440" cy="731520"/>
          </a:xfrm>
          <a:prstGeom prst="rect">
            <a:avLst/>
          </a:prstGeom>
          <a:solidFill>
            <a:srgbClr val="0F172A"/>
          </a:solidFill>
          <a:ln w="8890">
            <a:solidFill>
              <a:srgbClr val="334155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formatResourceTitle }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"./resource-utils.js";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label =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formatResourceTitle("Flexbox guide", "PDF");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94360" y="3209544"/>
            <a:ext cx="274320" cy="228600"/>
          </a:xfrm>
          <a:prstGeom prst="rect">
            <a:avLst/>
          </a:prstGeom>
          <a:solidFill>
            <a:srgbClr val="E5F0FF"/>
          </a:solidFill>
          <a:ln>
            <a:solidFill>
              <a:srgbClr val="B8C4D3"/>
            </a:solidFill>
          </a:ln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41832" y="3209544"/>
            <a:ext cx="3520440" cy="731520"/>
          </a:xfrm>
          <a:prstGeom prst="rect">
            <a:avLst/>
          </a:prstGeom>
          <a:solidFill>
            <a:srgbClr val="0F172A"/>
          </a:solidFill>
          <a:ln w="8890">
            <a:solidFill>
              <a:srgbClr val="334155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formatTitle }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"./resource-utils.js";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label =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formatTitle("Flexbox guide", "PDF");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617720" y="3209544"/>
            <a:ext cx="274320" cy="228600"/>
          </a:xfrm>
          <a:prstGeom prst="rect">
            <a:avLst/>
          </a:prstGeom>
          <a:solidFill>
            <a:srgbClr val="E5F0FF"/>
          </a:solidFill>
          <a:ln>
            <a:solidFill>
              <a:srgbClr val="B8C4D3"/>
            </a:solidFill>
          </a:ln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65192" y="3209544"/>
            <a:ext cx="3520440" cy="731520"/>
          </a:xfrm>
          <a:prstGeom prst="rect">
            <a:avLst/>
          </a:prstGeom>
          <a:solidFill>
            <a:srgbClr val="0F172A"/>
          </a:solidFill>
          <a:ln w="8890">
            <a:solidFill>
              <a:srgbClr val="334155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formatResourceTitle }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"resource-utils";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label =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formatResourceTitle("Flexbox guide", "PDF");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94360" y="4270248"/>
            <a:ext cx="7223760" cy="457200"/>
          </a:xfrm>
          <a:prstGeom prst="rect">
            <a:avLst/>
          </a:prstGeom>
          <a:solidFill>
            <a:srgbClr val="DCF5E5"/>
          </a:solidFill>
          <a:ln>
            <a:solidFill>
              <a:srgbClr val="A7D8B6"/>
            </a:solidFill>
          </a:ln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B</a:t>
            </a:r>
            <a:endParaRPr lang="en-US" sz="940" dirty="0"/>
          </a:p>
          <a:p>
            <a:pPr algn="l" indent="0" marL="0">
              <a:buNone/>
            </a:pPr>
            <a:r>
              <a:rPr lang="en-US" sz="94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function is a named export, so the import uses braces, the exact name, and the relative .js path.</a:t>
            </a:r>
            <a:endParaRPr lang="en-US" sz="94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1965960"/>
            <a:ext cx="69494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do not always arrive immediately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1645920" y="2542032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operations begin now and report success or failure later</a:t>
            </a:r>
            <a:endParaRPr lang="en-US" sz="13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result or later completion?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594360" y="868680"/>
            <a:ext cx="3794760" cy="2240280"/>
          </a:xfrm>
          <a:prstGeom prst="roundRect">
            <a:avLst>
              <a:gd name="adj" fmla="val 3265"/>
            </a:avLst>
          </a:prstGeom>
          <a:solidFill>
            <a:srgbClr val="E5F0FF"/>
          </a:solidFill>
          <a:ln w="7620">
            <a:solidFill>
              <a:srgbClr val="B8C4D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941832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result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704088" y="1234440"/>
            <a:ext cx="3575304" cy="1801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 heading =</a:t>
            </a:r>
            <a:endParaRPr lang="en-US" sz="1160" dirty="0"/>
          </a:p>
          <a:p>
            <a:pPr indent="0" marL="0">
              <a:buNone/>
            </a:pPr>
            <a:r>
              <a:rPr lang="en-US" sz="116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formatTicketHeading(</a:t>
            </a:r>
            <a:endParaRPr lang="en-US" sz="1160" dirty="0"/>
          </a:p>
          <a:p>
            <a:pPr indent="0" marL="0">
              <a:buNone/>
            </a:pPr>
            <a:r>
              <a:rPr lang="en-US" sz="116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supportTicket</a:t>
            </a:r>
            <a:endParaRPr lang="en-US" sz="1160" dirty="0"/>
          </a:p>
          <a:p>
            <a:pPr indent="0" marL="0">
              <a:buNone/>
            </a:pPr>
            <a:r>
              <a:rPr lang="en-US" sz="116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);</a:t>
            </a:r>
            <a:endParaRPr lang="en-US" sz="1160" dirty="0"/>
          </a:p>
          <a:p>
            <a:pPr indent="0" marL="0">
              <a:buNone/>
            </a:pPr>
            <a:endParaRPr lang="en-US" sz="1160" dirty="0"/>
          </a:p>
          <a:p>
            <a:pPr indent="0" marL="0">
              <a:buNone/>
            </a:pPr>
            <a:r>
              <a:rPr lang="en-US" sz="116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heading receives the completed string during this step.</a:t>
            </a:r>
            <a:endParaRPr lang="en-US" sz="1160" dirty="0"/>
          </a:p>
        </p:txBody>
      </p:sp>
      <p:sp>
        <p:nvSpPr>
          <p:cNvPr id="6" name="Shape 4"/>
          <p:cNvSpPr/>
          <p:nvPr/>
        </p:nvSpPr>
        <p:spPr>
          <a:xfrm>
            <a:off x="4617720" y="868680"/>
            <a:ext cx="3794760" cy="2240280"/>
          </a:xfrm>
          <a:prstGeom prst="roundRect">
            <a:avLst>
              <a:gd name="adj" fmla="val 3265"/>
            </a:avLst>
          </a:prstGeom>
          <a:solidFill>
            <a:srgbClr val="FFF4C2"/>
          </a:solidFill>
          <a:ln w="7620">
            <a:solidFill>
              <a:srgbClr val="B8C4D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09160" y="941832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 completion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727448" y="1234440"/>
            <a:ext cx="3575304" cy="1801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 ticketPromise =</a:t>
            </a:r>
            <a:endParaRPr lang="en-US" sz="1160" dirty="0"/>
          </a:p>
          <a:p>
            <a:pPr indent="0" marL="0">
              <a:buNone/>
            </a:pPr>
            <a:r>
              <a:rPr lang="en-US" sz="116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loadTicket(false);</a:t>
            </a:r>
            <a:endParaRPr lang="en-US" sz="1160" dirty="0"/>
          </a:p>
          <a:p>
            <a:pPr indent="0" marL="0">
              <a:buNone/>
            </a:pPr>
            <a:endParaRPr lang="en-US" sz="1160" dirty="0"/>
          </a:p>
          <a:p>
            <a:pPr indent="0" marL="0">
              <a:buNone/>
            </a:pPr>
            <a:r>
              <a:rPr lang="en-US" sz="116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ticketPromise receives a Promise now.</a:t>
            </a:r>
            <a:endParaRPr lang="en-US" sz="1160" dirty="0"/>
          </a:p>
          <a:p>
            <a:pPr indent="0" marL="0">
              <a:buNone/>
            </a:pPr>
            <a:r>
              <a:rPr lang="en-US" sz="116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ticket value arrives after the service completes.</a:t>
            </a:r>
            <a:endParaRPr lang="en-US" sz="1160" dirty="0"/>
          </a:p>
        </p:txBody>
      </p:sp>
      <p:sp>
        <p:nvSpPr>
          <p:cNvPr id="9" name="Text 7"/>
          <p:cNvSpPr/>
          <p:nvPr/>
        </p:nvSpPr>
        <p:spPr>
          <a:xfrm>
            <a:off x="914400" y="3383280"/>
            <a:ext cx="2438400" cy="205740"/>
          </a:xfrm>
          <a:prstGeom prst="rect">
            <a:avLst/>
          </a:prstGeom>
          <a:solidFill>
            <a:srgbClr val="DDEBFF"/>
          </a:solidFill>
          <a:ln>
            <a:solidFill>
              <a:srgbClr val="B8C4D3"/>
            </a:solidFill>
          </a:ln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</a:t>
            </a:r>
            <a:endParaRPr lang="en-US" sz="960" dirty="0"/>
          </a:p>
        </p:txBody>
      </p:sp>
      <p:sp>
        <p:nvSpPr>
          <p:cNvPr id="10" name="Text 8"/>
          <p:cNvSpPr/>
          <p:nvPr/>
        </p:nvSpPr>
        <p:spPr>
          <a:xfrm>
            <a:off x="3352800" y="3383280"/>
            <a:ext cx="2438400" cy="205740"/>
          </a:xfrm>
          <a:prstGeom prst="rect">
            <a:avLst/>
          </a:prstGeom>
          <a:solidFill>
            <a:srgbClr val="DDEBFF"/>
          </a:solidFill>
          <a:ln>
            <a:solidFill>
              <a:srgbClr val="B8C4D3"/>
            </a:solidFill>
          </a:ln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result</a:t>
            </a:r>
            <a:endParaRPr lang="en-US" sz="960" dirty="0"/>
          </a:p>
        </p:txBody>
      </p:sp>
      <p:sp>
        <p:nvSpPr>
          <p:cNvPr id="11" name="Text 9"/>
          <p:cNvSpPr/>
          <p:nvPr/>
        </p:nvSpPr>
        <p:spPr>
          <a:xfrm>
            <a:off x="5791200" y="3383280"/>
            <a:ext cx="2438400" cy="205740"/>
          </a:xfrm>
          <a:prstGeom prst="rect">
            <a:avLst/>
          </a:prstGeom>
          <a:solidFill>
            <a:srgbClr val="DDEBFF"/>
          </a:solidFill>
          <a:ln>
            <a:solidFill>
              <a:srgbClr val="B8C4D3"/>
            </a:solidFill>
          </a:ln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 completion</a:t>
            </a:r>
            <a:endParaRPr lang="en-US" sz="960" dirty="0"/>
          </a:p>
        </p:txBody>
      </p:sp>
      <p:sp>
        <p:nvSpPr>
          <p:cNvPr id="12" name="Text 10"/>
          <p:cNvSpPr/>
          <p:nvPr/>
        </p:nvSpPr>
        <p:spPr>
          <a:xfrm>
            <a:off x="914400" y="3589020"/>
            <a:ext cx="2438400" cy="205740"/>
          </a:xfrm>
          <a:prstGeom prst="rect">
            <a:avLst/>
          </a:prstGeom>
          <a:solidFill>
            <a:srgbClr val="FFFFFF"/>
          </a:solidFill>
          <a:ln>
            <a:solidFill>
              <a:srgbClr val="B8C4D3"/>
            </a:solidFill>
          </a:ln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now</a:t>
            </a:r>
            <a:endParaRPr lang="en-US" sz="960" dirty="0"/>
          </a:p>
        </p:txBody>
      </p:sp>
      <p:sp>
        <p:nvSpPr>
          <p:cNvPr id="13" name="Text 11"/>
          <p:cNvSpPr/>
          <p:nvPr/>
        </p:nvSpPr>
        <p:spPr>
          <a:xfrm>
            <a:off x="3352800" y="3589020"/>
            <a:ext cx="2438400" cy="205740"/>
          </a:xfrm>
          <a:prstGeom prst="rect">
            <a:avLst/>
          </a:prstGeom>
          <a:solidFill>
            <a:srgbClr val="FFFFFF"/>
          </a:solidFill>
          <a:ln>
            <a:solidFill>
              <a:srgbClr val="B8C4D3"/>
            </a:solidFill>
          </a:ln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 value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5791200" y="3589020"/>
            <a:ext cx="2438400" cy="205740"/>
          </a:xfrm>
          <a:prstGeom prst="rect">
            <a:avLst/>
          </a:prstGeom>
          <a:solidFill>
            <a:srgbClr val="FFFFFF"/>
          </a:solidFill>
          <a:ln>
            <a:solidFill>
              <a:srgbClr val="B8C4D3"/>
            </a:solidFill>
          </a:ln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Promise</a:t>
            </a:r>
            <a:endParaRPr lang="en-US" sz="960" dirty="0"/>
          </a:p>
        </p:txBody>
      </p:sp>
      <p:sp>
        <p:nvSpPr>
          <p:cNvPr id="15" name="Text 13"/>
          <p:cNvSpPr/>
          <p:nvPr/>
        </p:nvSpPr>
        <p:spPr>
          <a:xfrm>
            <a:off x="914400" y="3794760"/>
            <a:ext cx="2438400" cy="205740"/>
          </a:xfrm>
          <a:prstGeom prst="rect">
            <a:avLst/>
          </a:prstGeom>
          <a:solidFill>
            <a:srgbClr val="FFFFFF"/>
          </a:solidFill>
          <a:ln>
            <a:solidFill>
              <a:srgbClr val="B8C4D3"/>
            </a:solidFill>
          </a:ln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value arrives</a:t>
            </a:r>
            <a:endParaRPr lang="en-US" sz="960" dirty="0"/>
          </a:p>
        </p:txBody>
      </p:sp>
      <p:sp>
        <p:nvSpPr>
          <p:cNvPr id="16" name="Text 14"/>
          <p:cNvSpPr/>
          <p:nvPr/>
        </p:nvSpPr>
        <p:spPr>
          <a:xfrm>
            <a:off x="3352800" y="3794760"/>
            <a:ext cx="2438400" cy="205740"/>
          </a:xfrm>
          <a:prstGeom prst="rect">
            <a:avLst/>
          </a:prstGeom>
          <a:solidFill>
            <a:srgbClr val="FFFFFF"/>
          </a:solidFill>
          <a:ln>
            <a:solidFill>
              <a:srgbClr val="B8C4D3"/>
            </a:solidFill>
          </a:ln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operation</a:t>
            </a:r>
            <a:endParaRPr lang="en-US" sz="960" dirty="0"/>
          </a:p>
        </p:txBody>
      </p:sp>
      <p:sp>
        <p:nvSpPr>
          <p:cNvPr id="17" name="Text 15"/>
          <p:cNvSpPr/>
          <p:nvPr/>
        </p:nvSpPr>
        <p:spPr>
          <a:xfrm>
            <a:off x="5791200" y="3794760"/>
            <a:ext cx="2438400" cy="205740"/>
          </a:xfrm>
          <a:prstGeom prst="rect">
            <a:avLst/>
          </a:prstGeom>
          <a:solidFill>
            <a:srgbClr val="FFFFFF"/>
          </a:solidFill>
          <a:ln>
            <a:solidFill>
              <a:srgbClr val="B8C4D3"/>
            </a:solidFill>
          </a:ln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completion</a:t>
            </a:r>
            <a:endParaRPr lang="en-US" sz="960" dirty="0"/>
          </a:p>
        </p:txBody>
      </p:sp>
      <p:sp>
        <p:nvSpPr>
          <p:cNvPr id="18" name="Text 16"/>
          <p:cNvSpPr/>
          <p:nvPr/>
        </p:nvSpPr>
        <p:spPr>
          <a:xfrm>
            <a:off x="914400" y="4000500"/>
            <a:ext cx="2438400" cy="205740"/>
          </a:xfrm>
          <a:prstGeom prst="rect">
            <a:avLst/>
          </a:prstGeom>
          <a:solidFill>
            <a:srgbClr val="FFFFFF"/>
          </a:solidFill>
          <a:ln>
            <a:solidFill>
              <a:srgbClr val="B8C4D3"/>
            </a:solidFill>
          </a:ln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fail later</a:t>
            </a:r>
            <a:endParaRPr lang="en-US" sz="960" dirty="0"/>
          </a:p>
        </p:txBody>
      </p:sp>
      <p:sp>
        <p:nvSpPr>
          <p:cNvPr id="19" name="Text 17"/>
          <p:cNvSpPr/>
          <p:nvPr/>
        </p:nvSpPr>
        <p:spPr>
          <a:xfrm>
            <a:off x="3352800" y="4000500"/>
            <a:ext cx="2438400" cy="205740"/>
          </a:xfrm>
          <a:prstGeom prst="rect">
            <a:avLst/>
          </a:prstGeom>
          <a:solidFill>
            <a:srgbClr val="FFFFFF"/>
          </a:solidFill>
          <a:ln>
            <a:solidFill>
              <a:srgbClr val="B8C4D3"/>
            </a:solidFill>
          </a:ln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here</a:t>
            </a:r>
            <a:endParaRPr lang="en-US" sz="960" dirty="0"/>
          </a:p>
        </p:txBody>
      </p:sp>
      <p:sp>
        <p:nvSpPr>
          <p:cNvPr id="20" name="Text 18"/>
          <p:cNvSpPr/>
          <p:nvPr/>
        </p:nvSpPr>
        <p:spPr>
          <a:xfrm>
            <a:off x="5791200" y="4000500"/>
            <a:ext cx="2438400" cy="205740"/>
          </a:xfrm>
          <a:prstGeom prst="rect">
            <a:avLst/>
          </a:prstGeom>
          <a:solidFill>
            <a:srgbClr val="FFFFFF"/>
          </a:solidFill>
          <a:ln>
            <a:solidFill>
              <a:srgbClr val="B8C4D3"/>
            </a:solidFill>
          </a:ln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96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page can show progress while work continues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594360" y="1600200"/>
            <a:ext cx="1234440" cy="685800"/>
          </a:xfrm>
          <a:prstGeom prst="roundRect">
            <a:avLst>
              <a:gd name="adj" fmla="val 10667"/>
            </a:avLst>
          </a:prstGeom>
          <a:solidFill>
            <a:srgbClr val="E5F0FF"/>
          </a:solidFill>
          <a:ln w="7620">
            <a:solidFill>
              <a:srgbClr val="B8C4D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04088" y="1691640"/>
            <a:ext cx="101498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clicks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ticket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2286000" y="1600200"/>
            <a:ext cx="1234440" cy="685800"/>
          </a:xfrm>
          <a:prstGeom prst="roundRect">
            <a:avLst>
              <a:gd name="adj" fmla="val 10667"/>
            </a:avLst>
          </a:prstGeom>
          <a:solidFill>
            <a:srgbClr val="E5F0FF"/>
          </a:solidFill>
          <a:ln w="7620">
            <a:solidFill>
              <a:srgbClr val="B8C4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95728" y="1691640"/>
            <a:ext cx="101498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shows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Loading ticket...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977640" y="1600200"/>
            <a:ext cx="1234440" cy="685800"/>
          </a:xfrm>
          <a:prstGeom prst="roundRect">
            <a:avLst>
              <a:gd name="adj" fmla="val 10667"/>
            </a:avLst>
          </a:prstGeom>
          <a:solidFill>
            <a:srgbClr val="FFF4C2"/>
          </a:solidFill>
          <a:ln w="7620">
            <a:solidFill>
              <a:srgbClr val="B8C4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87368" y="1691640"/>
            <a:ext cx="101498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 service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669280" y="1600200"/>
            <a:ext cx="1234440" cy="685800"/>
          </a:xfrm>
          <a:prstGeom prst="roundRect">
            <a:avLst>
              <a:gd name="adj" fmla="val 10667"/>
            </a:avLst>
          </a:prstGeom>
          <a:solidFill>
            <a:srgbClr val="E5F0FF"/>
          </a:solidFill>
          <a:ln w="7620">
            <a:solidFill>
              <a:srgbClr val="B8C4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79008" y="1691640"/>
            <a:ext cx="101498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settles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360920" y="1600200"/>
            <a:ext cx="1234440" cy="685800"/>
          </a:xfrm>
          <a:prstGeom prst="roundRect">
            <a:avLst>
              <a:gd name="adj" fmla="val 10667"/>
            </a:avLst>
          </a:prstGeom>
          <a:solidFill>
            <a:srgbClr val="E5F0FF"/>
          </a:solidFill>
          <a:ln w="7620">
            <a:solidFill>
              <a:srgbClr val="B8C4D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70648" y="1691640"/>
            <a:ext cx="101498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shows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or failure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0" y="1938528"/>
            <a:ext cx="457200" cy="0"/>
          </a:xfrm>
          <a:prstGeom prst="line">
            <a:avLst/>
          </a:prstGeom>
          <a:noFill/>
          <a:ln w="1397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520440" y="1938528"/>
            <a:ext cx="457200" cy="0"/>
          </a:xfrm>
          <a:prstGeom prst="line">
            <a:avLst/>
          </a:prstGeom>
          <a:noFill/>
          <a:ln w="1397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212080" y="1938528"/>
            <a:ext cx="457200" cy="0"/>
          </a:xfrm>
          <a:prstGeom prst="line">
            <a:avLst/>
          </a:prstGeom>
          <a:noFill/>
          <a:ln w="1397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903720" y="1938528"/>
            <a:ext cx="457200" cy="0"/>
          </a:xfrm>
          <a:prstGeom prst="line">
            <a:avLst/>
          </a:prstGeom>
          <a:noFill/>
          <a:ln w="1397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68680" y="2971800"/>
            <a:ext cx="3383280" cy="731520"/>
          </a:xfrm>
          <a:prstGeom prst="roundRect">
            <a:avLst>
              <a:gd name="adj" fmla="val 10000"/>
            </a:avLst>
          </a:prstGeom>
          <a:solidFill>
            <a:srgbClr val="FFF4C2"/>
          </a:solidFill>
          <a:ln w="7620">
            <a:solidFill>
              <a:srgbClr val="B8C4D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304495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waits for the ticket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78408" y="3337560"/>
            <a:ext cx="3163824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that depends on the ticket must wait for the service result.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00600" y="2971800"/>
            <a:ext cx="3383280" cy="731520"/>
          </a:xfrm>
          <a:prstGeom prst="roundRect">
            <a:avLst>
              <a:gd name="adj" fmla="val 10000"/>
            </a:avLst>
          </a:prstGeom>
          <a:solidFill>
            <a:srgbClr val="DCF5E5"/>
          </a:solidFill>
          <a:ln w="7620">
            <a:solidFill>
              <a:srgbClr val="B8C4D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304495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stays responsive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910328" y="3337560"/>
            <a:ext cx="3163824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page can continue responding while the service is pending.</a:t>
            </a:r>
            <a:endParaRPr lang="en-US" sz="1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Promise tracks later completion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777240" y="868680"/>
            <a:ext cx="740664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Promise represents the eventual completion or failure of an operation.</a:t>
            </a:r>
            <a:endParaRPr lang="en-US" sz="1320" dirty="0"/>
          </a:p>
        </p:txBody>
      </p:sp>
      <p:sp>
        <p:nvSpPr>
          <p:cNvPr id="5" name="Shape 2"/>
          <p:cNvSpPr/>
          <p:nvPr/>
        </p:nvSpPr>
        <p:spPr>
          <a:xfrm>
            <a:off x="868680" y="1783080"/>
            <a:ext cx="2011680" cy="822960"/>
          </a:xfrm>
          <a:prstGeom prst="roundRect">
            <a:avLst>
              <a:gd name="adj" fmla="val 8889"/>
            </a:avLst>
          </a:prstGeom>
          <a:solidFill>
            <a:srgbClr val="FFF4C2"/>
          </a:solidFill>
          <a:ln w="7620">
            <a:solidFill>
              <a:srgbClr val="B8C4D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60120" y="18562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978408" y="2148840"/>
            <a:ext cx="179222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ticket service has not completed.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657600" y="123444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DCF5E5"/>
          </a:solidFill>
          <a:ln w="7620">
            <a:solidFill>
              <a:srgbClr val="B8C4D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749040" y="13075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fulfilled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3767328" y="1600200"/>
            <a:ext cx="1792224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service completed with a ticket.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Visible: Ticket loaded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657600" y="274320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FFE4E6"/>
          </a:solidFill>
          <a:ln w="7620">
            <a:solidFill>
              <a:srgbClr val="B8C4D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749040" y="28163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rejected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3767328" y="3108960"/>
            <a:ext cx="1792224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service completed with an error.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Visible: Ticket could not be loaded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2880360" y="2148840"/>
            <a:ext cx="777240" cy="-411480"/>
          </a:xfrm>
          <a:prstGeom prst="line">
            <a:avLst/>
          </a:prstGeom>
          <a:noFill/>
          <a:ln w="1397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2880360" y="2148840"/>
            <a:ext cx="777240" cy="1097280"/>
          </a:xfrm>
          <a:prstGeom prst="line">
            <a:avLst/>
          </a:prstGeom>
          <a:noFill/>
          <a:ln w="1397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6080760" y="1783080"/>
            <a:ext cx="2286000" cy="1417320"/>
          </a:xfrm>
          <a:prstGeom prst="roundRect">
            <a:avLst>
              <a:gd name="adj" fmla="val 5161"/>
            </a:avLst>
          </a:prstGeom>
          <a:solidFill>
            <a:srgbClr val="E5F0FF"/>
          </a:solidFill>
          <a:ln w="7620">
            <a:solidFill>
              <a:srgbClr val="B8C4D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172200" y="185623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rule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6190488" y="2148840"/>
            <a:ext cx="2066544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Promise begins as pending. It later settles as fulfilled or rejected. After it settles, its state does not change again.</a:t>
            </a:r>
            <a:endParaRPr lang="en-US" sz="11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ticket service returns a Promise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594360" y="777240"/>
            <a:ext cx="2011680" cy="256032"/>
          </a:xfrm>
          <a:prstGeom prst="rect">
            <a:avLst/>
          </a:prstGeom>
          <a:solidFill>
            <a:srgbClr val="E5F0FF"/>
          </a:solidFill>
          <a:ln>
            <a:solidFill>
              <a:srgbClr val="B8C4D3"/>
            </a:solidFill>
          </a:ln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ticket-service.js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94360" y="1097280"/>
            <a:ext cx="4983480" cy="3474720"/>
          </a:xfrm>
          <a:prstGeom prst="rect">
            <a:avLst/>
          </a:prstGeom>
          <a:solidFill>
            <a:srgbClr val="0F172A"/>
          </a:solidFill>
          <a:ln w="8890">
            <a:solidFill>
              <a:srgbClr val="334155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supportTicket }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"./ticket-data.js";</a:t>
            </a:r>
            <a:endParaRPr lang="en-US" sz="840" dirty="0"/>
          </a:p>
          <a:p>
            <a:pPr indent="0" marL="0">
              <a:buNone/>
            </a:pP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function loadTicket(shouldFail) {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new Promise((resolve, reject) =&gt; {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setTimeout(() =&gt; {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if (shouldFail) {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reject(new Error(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"Ticket service unavailable"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));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return;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</a:t>
            </a:r>
            <a:endParaRPr lang="en-US" sz="840" dirty="0"/>
          </a:p>
          <a:p>
            <a:pPr indent="0" marL="0">
              <a:buNone/>
            </a:pP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resolve(supportTicket);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 800);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40" dirty="0"/>
          </a:p>
        </p:txBody>
      </p:sp>
      <p:sp>
        <p:nvSpPr>
          <p:cNvPr id="6" name="Text 3"/>
          <p:cNvSpPr/>
          <p:nvPr/>
        </p:nvSpPr>
        <p:spPr>
          <a:xfrm>
            <a:off x="5806440" y="1097280"/>
            <a:ext cx="2651760" cy="2423160"/>
          </a:xfrm>
          <a:prstGeom prst="rect">
            <a:avLst/>
          </a:prstGeom>
          <a:solidFill>
            <a:srgbClr val="FFF4C2"/>
          </a:solidFill>
          <a:ln>
            <a:solidFill>
              <a:srgbClr val="B8C4D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new Promise(...) creates the Promise.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setTimeout(...) simulates a delayed result.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resolve(supportTicket) fulfils with the ticket.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reject(...) rejects with an error.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shouldFail makes the result predictable.</a:t>
            </a:r>
            <a:endParaRPr lang="en-US" sz="1130" dirty="0"/>
          </a:p>
        </p:txBody>
      </p:sp>
      <p:sp>
        <p:nvSpPr>
          <p:cNvPr id="7" name="Shape 4"/>
          <p:cNvSpPr/>
          <p:nvPr/>
        </p:nvSpPr>
        <p:spPr>
          <a:xfrm>
            <a:off x="5806440" y="3749040"/>
            <a:ext cx="2651760" cy="685800"/>
          </a:xfrm>
          <a:prstGeom prst="roundRect">
            <a:avLst>
              <a:gd name="adj" fmla="val 10667"/>
            </a:avLst>
          </a:prstGeom>
          <a:solidFill>
            <a:srgbClr val="DCF5E5"/>
          </a:solidFill>
          <a:ln w="7620">
            <a:solidFill>
              <a:srgbClr val="B8C4D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97880" y="382219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 boundary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916168" y="4114800"/>
            <a:ext cx="2432304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service is prepared. Learners consume it rather than write it during the activity.</a:t>
            </a:r>
            <a:endParaRPr lang="en-US" sz="10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Promise exists before the ticket arrives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94360" y="868680"/>
            <a:ext cx="4160520" cy="2971800"/>
          </a:xfrm>
          <a:prstGeom prst="rect">
            <a:avLst/>
          </a:prstGeom>
          <a:solidFill>
            <a:srgbClr val="0F172A"/>
          </a:solidFill>
          <a:ln w="8890">
            <a:solidFill>
              <a:srgbClr val="334155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loadTicket }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"./ticket-service.js";</a:t>
            </a:r>
            <a:endParaRPr lang="en-US" sz="1010" dirty="0"/>
          </a:p>
          <a:p>
            <a:pPr indent="0" marL="0">
              <a:buNone/>
            </a:pP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ticketStatus.textContent =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"Loading ticket...";</a:t>
            </a:r>
            <a:endParaRPr lang="en-US" sz="1010" dirty="0"/>
          </a:p>
          <a:p>
            <a:pPr indent="0" marL="0">
              <a:buNone/>
            </a:pP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ticketPromise =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loadTicket(false);</a:t>
            </a:r>
            <a:endParaRPr lang="en-US" sz="1010" dirty="0"/>
          </a:p>
          <a:p>
            <a:pPr indent="0" marL="0">
              <a:buNone/>
            </a:pP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console.log(ticketPromise);</a:t>
            </a:r>
            <a:endParaRPr lang="en-US" sz="1010" dirty="0"/>
          </a:p>
        </p:txBody>
      </p:sp>
      <p:sp>
        <p:nvSpPr>
          <p:cNvPr id="4" name="Shape 2"/>
          <p:cNvSpPr/>
          <p:nvPr/>
        </p:nvSpPr>
        <p:spPr>
          <a:xfrm>
            <a:off x="5074920" y="1051560"/>
            <a:ext cx="3291840" cy="1051560"/>
          </a:xfrm>
          <a:prstGeom prst="roundRect">
            <a:avLst>
              <a:gd name="adj" fmla="val 6957"/>
            </a:avLst>
          </a:prstGeom>
          <a:solidFill>
            <a:srgbClr val="FFF4C2"/>
          </a:solidFill>
          <a:ln w="7620">
            <a:solidFill>
              <a:srgbClr val="B8C4D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66360" y="112471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Console state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184648" y="1417320"/>
            <a:ext cx="3072384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Promise { &lt;pending&gt; }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exact console text may differ by browser.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74920" y="2606040"/>
            <a:ext cx="3291840" cy="960120"/>
          </a:xfrm>
          <a:prstGeom prst="roundRect">
            <a:avLst>
              <a:gd name="adj" fmla="val 7619"/>
            </a:avLst>
          </a:prstGeom>
          <a:solidFill>
            <a:srgbClr val="DCF5E5"/>
          </a:solidFill>
          <a:ln w="7620">
            <a:solidFill>
              <a:srgbClr val="B8C4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66360" y="267919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Teaching point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184648" y="2971800"/>
            <a:ext cx="3072384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loadTicket(false) returns the Promise immediately. The fulfilled ticket will be received through a Promise handler.</a:t>
            </a:r>
            <a:endParaRPr lang="en-US" sz="118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fulfilled Promise passes its value to .then()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594360" y="914400"/>
            <a:ext cx="3337560" cy="1005840"/>
          </a:xfrm>
          <a:prstGeom prst="rect">
            <a:avLst/>
          </a:prstGeom>
          <a:solidFill>
            <a:srgbClr val="0F172A"/>
          </a:solidFill>
          <a:ln w="8890">
            <a:solidFill>
              <a:srgbClr val="334155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ticketPromise.then(ticket =&gt;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console.log(ticket.id);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94360" y="2514600"/>
            <a:ext cx="3337560" cy="502920"/>
          </a:xfrm>
          <a:prstGeom prst="rect">
            <a:avLst/>
          </a:prstGeom>
          <a:solidFill>
            <a:srgbClr val="0F172A"/>
          </a:solidFill>
          <a:ln w="8890">
            <a:solidFill>
              <a:srgbClr val="334155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resolve(supportTicket);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0" y="105156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DCF5E5"/>
          </a:solidFill>
          <a:ln w="7620">
            <a:solidFill>
              <a:srgbClr val="B8C4D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663440" y="112471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Callback argument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681728" y="1417320"/>
            <a:ext cx="1609344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supportTicket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629400" y="1051560"/>
            <a:ext cx="1737360" cy="777240"/>
          </a:xfrm>
          <a:prstGeom prst="roundRect">
            <a:avLst>
              <a:gd name="adj" fmla="val 9412"/>
            </a:avLst>
          </a:prstGeom>
          <a:solidFill>
            <a:srgbClr val="E5F0FF"/>
          </a:solidFill>
          <a:ln w="7620">
            <a:solidFill>
              <a:srgbClr val="B8C4D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720840" y="112471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Visible output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739128" y="1417320"/>
            <a:ext cx="1517904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SUP-1048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931920" y="2761488"/>
            <a:ext cx="640080" cy="-1316736"/>
          </a:xfrm>
          <a:prstGeom prst="line">
            <a:avLst/>
          </a:prstGeom>
          <a:noFill/>
          <a:ln w="1397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6400800" y="1444752"/>
            <a:ext cx="228600" cy="0"/>
          </a:xfrm>
          <a:prstGeom prst="line">
            <a:avLst/>
          </a:prstGeom>
          <a:noFill/>
          <a:ln w="1397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14" name="Text 11"/>
          <p:cNvSpPr/>
          <p:nvPr/>
        </p:nvSpPr>
        <p:spPr>
          <a:xfrm>
            <a:off x="4572000" y="2240280"/>
            <a:ext cx="3794760" cy="1508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Promise fulfils with supportTicket.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.then(...) runs its callback.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callback receives that value as ticket.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callback does not run while the Promise is pending.</a:t>
            </a:r>
            <a:endParaRPr lang="en-US" sz="121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an updated ticket from the first stage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94360" y="868680"/>
            <a:ext cx="4572000" cy="2788920"/>
          </a:xfrm>
          <a:prstGeom prst="rect">
            <a:avLst/>
          </a:prstGeom>
          <a:solidFill>
            <a:srgbClr val="0F172A"/>
          </a:solidFill>
          <a:ln w="8890">
            <a:solidFill>
              <a:srgbClr val="334155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loadTicket(false)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.then(ticket =&gt;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updatedTicket =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...ticket,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status: "In progress"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};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updatedTicket;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020" dirty="0"/>
          </a:p>
        </p:txBody>
      </p:sp>
      <p:sp>
        <p:nvSpPr>
          <p:cNvPr id="4" name="Shape 2"/>
          <p:cNvSpPr/>
          <p:nvPr/>
        </p:nvSpPr>
        <p:spPr>
          <a:xfrm>
            <a:off x="5440680" y="1005840"/>
            <a:ext cx="2834640" cy="822960"/>
          </a:xfrm>
          <a:prstGeom prst="roundRect">
            <a:avLst>
              <a:gd name="adj" fmla="val 8889"/>
            </a:avLst>
          </a:prstGeom>
          <a:solidFill>
            <a:srgbClr val="E5F0FF"/>
          </a:solidFill>
          <a:ln w="7620">
            <a:solidFill>
              <a:srgbClr val="B8C4D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532120" y="107899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Callback receives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550408" y="1371600"/>
            <a:ext cx="261518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ticket.status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"Open"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40680" y="2148840"/>
            <a:ext cx="2834640" cy="822960"/>
          </a:xfrm>
          <a:prstGeom prst="roundRect">
            <a:avLst>
              <a:gd name="adj" fmla="val 8889"/>
            </a:avLst>
          </a:prstGeom>
          <a:solidFill>
            <a:srgbClr val="DCF5E5"/>
          </a:solidFill>
          <a:ln w="7620">
            <a:solidFill>
              <a:srgbClr val="B8C4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532120" y="222199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Callback returns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550408" y="2514600"/>
            <a:ext cx="261518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updatedTicket.status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"In progress"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40680" y="3337560"/>
            <a:ext cx="2834640" cy="594360"/>
          </a:xfrm>
          <a:prstGeom prst="roundRect">
            <a:avLst>
              <a:gd name="adj" fmla="val 12308"/>
            </a:avLst>
          </a:prstGeom>
          <a:solidFill>
            <a:srgbClr val="FFF4C2"/>
          </a:solidFill>
          <a:ln w="7620">
            <a:solidFill>
              <a:srgbClr val="B8C4D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32120" y="341071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Teaching point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550408" y="3703320"/>
            <a:ext cx="2615184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returned value becomes available to the next stage in the chain.</a:t>
            </a:r>
            <a:endParaRPr lang="en-US" sz="11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next .then() receives the returned value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5166360" cy="3474720"/>
          </a:xfrm>
          <a:prstGeom prst="rect">
            <a:avLst/>
          </a:prstGeom>
          <a:solidFill>
            <a:srgbClr val="0F172A"/>
          </a:solidFill>
          <a:ln w="8890">
            <a:solidFill>
              <a:srgbClr val="334155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loadTicket(false)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.then(ticket =&gt; {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updatedTicket = {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...ticket,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status: "In progress"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};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updatedTicket;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.then(updatedTicket =&gt; {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renderTicket(updatedTicket);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ticketStatus.textContent =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"Ticket loaded";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870" dirty="0"/>
          </a:p>
        </p:txBody>
      </p:sp>
      <p:sp>
        <p:nvSpPr>
          <p:cNvPr id="4" name="Text 2"/>
          <p:cNvSpPr/>
          <p:nvPr/>
        </p:nvSpPr>
        <p:spPr>
          <a:xfrm>
            <a:off x="5989320" y="960120"/>
            <a:ext cx="868680" cy="365760"/>
          </a:xfrm>
          <a:prstGeom prst="rect">
            <a:avLst/>
          </a:prstGeom>
          <a:solidFill>
            <a:srgbClr val="DDEBFF"/>
          </a:solidFill>
          <a:ln>
            <a:solidFill>
              <a:srgbClr val="B8C4D3"/>
            </a:solidFill>
          </a:ln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858000" y="960120"/>
            <a:ext cx="868680" cy="365760"/>
          </a:xfrm>
          <a:prstGeom prst="rect">
            <a:avLst/>
          </a:prstGeom>
          <a:solidFill>
            <a:srgbClr val="DDEBFF"/>
          </a:solidFill>
          <a:ln>
            <a:solidFill>
              <a:srgbClr val="B8C4D3"/>
            </a:solidFill>
          </a:ln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726680" y="960120"/>
            <a:ext cx="868680" cy="365760"/>
          </a:xfrm>
          <a:prstGeom prst="rect">
            <a:avLst/>
          </a:prstGeom>
          <a:solidFill>
            <a:srgbClr val="DDEBFF"/>
          </a:solidFill>
          <a:ln>
            <a:solidFill>
              <a:srgbClr val="B8C4D3"/>
            </a:solidFill>
          </a:ln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89320" y="1325880"/>
            <a:ext cx="868680" cy="365760"/>
          </a:xfrm>
          <a:prstGeom prst="rect">
            <a:avLst/>
          </a:prstGeom>
          <a:solidFill>
            <a:srgbClr val="FFFFFF"/>
          </a:solidFill>
          <a:ln>
            <a:solidFill>
              <a:srgbClr val="B8C4D3"/>
            </a:solidFill>
          </a:ln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0" y="1325880"/>
            <a:ext cx="868680" cy="365760"/>
          </a:xfrm>
          <a:prstGeom prst="rect">
            <a:avLst/>
          </a:prstGeom>
          <a:solidFill>
            <a:srgbClr val="FFFFFF"/>
          </a:solidFill>
          <a:ln>
            <a:solidFill>
              <a:srgbClr val="B8C4D3"/>
            </a:solidFill>
          </a:ln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726680" y="1325880"/>
            <a:ext cx="868680" cy="365760"/>
          </a:xfrm>
          <a:prstGeom prst="rect">
            <a:avLst/>
          </a:prstGeom>
          <a:solidFill>
            <a:srgbClr val="FFFFFF"/>
          </a:solidFill>
          <a:ln>
            <a:solidFill>
              <a:srgbClr val="B8C4D3"/>
            </a:solidFill>
          </a:ln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Promise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989320" y="1691640"/>
            <a:ext cx="868680" cy="365760"/>
          </a:xfrm>
          <a:prstGeom prst="rect">
            <a:avLst/>
          </a:prstGeom>
          <a:solidFill>
            <a:srgbClr val="FFFFFF"/>
          </a:solidFill>
          <a:ln>
            <a:solidFill>
              <a:srgbClr val="B8C4D3"/>
            </a:solidFill>
          </a:ln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.then()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858000" y="1691640"/>
            <a:ext cx="868680" cy="365760"/>
          </a:xfrm>
          <a:prstGeom prst="rect">
            <a:avLst/>
          </a:prstGeom>
          <a:solidFill>
            <a:srgbClr val="FFFFFF"/>
          </a:solidFill>
          <a:ln>
            <a:solidFill>
              <a:srgbClr val="B8C4D3"/>
            </a:solidFill>
          </a:ln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ticket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726680" y="1691640"/>
            <a:ext cx="868680" cy="365760"/>
          </a:xfrm>
          <a:prstGeom prst="rect">
            <a:avLst/>
          </a:prstGeom>
          <a:solidFill>
            <a:srgbClr val="FFFFFF"/>
          </a:solidFill>
          <a:ln>
            <a:solidFill>
              <a:srgbClr val="B8C4D3"/>
            </a:solidFill>
          </a:ln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Updated ticket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989320" y="2057400"/>
            <a:ext cx="868680" cy="365760"/>
          </a:xfrm>
          <a:prstGeom prst="rect">
            <a:avLst/>
          </a:prstGeom>
          <a:solidFill>
            <a:srgbClr val="FFFFFF"/>
          </a:solidFill>
          <a:ln>
            <a:solidFill>
              <a:srgbClr val="B8C4D3"/>
            </a:solidFill>
          </a:ln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.then()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858000" y="2057400"/>
            <a:ext cx="868680" cy="365760"/>
          </a:xfrm>
          <a:prstGeom prst="rect">
            <a:avLst/>
          </a:prstGeom>
          <a:solidFill>
            <a:srgbClr val="FFFFFF"/>
          </a:solidFill>
          <a:ln>
            <a:solidFill>
              <a:srgbClr val="B8C4D3"/>
            </a:solidFill>
          </a:ln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Updated ticket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726680" y="2057400"/>
            <a:ext cx="868680" cy="365760"/>
          </a:xfrm>
          <a:prstGeom prst="rect">
            <a:avLst/>
          </a:prstGeom>
          <a:solidFill>
            <a:srgbClr val="FFFFFF"/>
          </a:solidFill>
          <a:ln>
            <a:solidFill>
              <a:srgbClr val="B8C4D3"/>
            </a:solidFill>
          </a:ln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 and status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989320" y="2651760"/>
            <a:ext cx="2606040" cy="822960"/>
          </a:xfrm>
          <a:prstGeom prst="roundRect">
            <a:avLst>
              <a:gd name="adj" fmla="val 8889"/>
            </a:avLst>
          </a:prstGeom>
          <a:solidFill>
            <a:srgbClr val="DCF5E5"/>
          </a:solidFill>
          <a:ln w="7620">
            <a:solidFill>
              <a:srgbClr val="B8C4D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0760" y="272491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Visible result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099048" y="3017520"/>
            <a:ext cx="238658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 state: In progress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message: Ticket loaded</a:t>
            </a:r>
            <a:endParaRPr lang="en-US" sz="1040" dirty="0"/>
          </a:p>
        </p:txBody>
      </p:sp>
      <p:sp>
        <p:nvSpPr>
          <p:cNvPr id="19" name="Shape 17"/>
          <p:cNvSpPr/>
          <p:nvPr/>
        </p:nvSpPr>
        <p:spPr>
          <a:xfrm>
            <a:off x="5989320" y="3703320"/>
            <a:ext cx="2606040" cy="594360"/>
          </a:xfrm>
          <a:prstGeom prst="roundRect">
            <a:avLst>
              <a:gd name="adj" fmla="val 12308"/>
            </a:avLst>
          </a:prstGeom>
          <a:solidFill>
            <a:srgbClr val="FFF4C2"/>
          </a:solidFill>
          <a:ln w="7620">
            <a:solidFill>
              <a:srgbClr val="B8C4D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80760" y="377647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099048" y="4069080"/>
            <a:ext cx="2386584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value returned from one callback determines what the next callback receives.</a:t>
            </a:r>
            <a:endParaRPr lang="en-US" sz="98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return breaks the value flow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594360" y="868680"/>
            <a:ext cx="3840480" cy="3154680"/>
          </a:xfrm>
          <a:prstGeom prst="roundRect">
            <a:avLst>
              <a:gd name="adj" fmla="val 2319"/>
            </a:avLst>
          </a:prstGeom>
          <a:solidFill>
            <a:srgbClr val="FFE4E6"/>
          </a:solidFill>
          <a:ln w="7620">
            <a:solidFill>
              <a:srgbClr val="B8C4D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9418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return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704088" y="1234440"/>
            <a:ext cx="3621024" cy="2715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loadTicket(false)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.then(ticket =&gt;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const updatedTicket =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...ticket,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status: "In progress"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};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})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.then(updatedTicket =&gt;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console.log(updatedTicket);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});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undefined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617720" y="868680"/>
            <a:ext cx="3840480" cy="2240280"/>
          </a:xfrm>
          <a:prstGeom prst="roundRect">
            <a:avLst>
              <a:gd name="adj" fmla="val 3265"/>
            </a:avLst>
          </a:prstGeom>
          <a:solidFill>
            <a:srgbClr val="DCF5E5"/>
          </a:solidFill>
          <a:ln w="7620">
            <a:solidFill>
              <a:srgbClr val="B8C4D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09160" y="9418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Corrected callback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727448" y="1234440"/>
            <a:ext cx="3621024" cy="1801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9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.then(ticket =&gt; {</a:t>
            </a: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const updatedTicket = {</a:t>
            </a: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...ticket,</a:t>
            </a: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status: "In progress"</a:t>
            </a: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};</a:t>
            </a:r>
            <a:endParaRPr lang="en-US" sz="990" dirty="0"/>
          </a:p>
          <a:p>
            <a:pPr indent="0" marL="0">
              <a:buNone/>
            </a:pP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return updatedTicket;</a:t>
            </a: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})</a:t>
            </a:r>
            <a:endParaRPr lang="en-US" sz="990" dirty="0"/>
          </a:p>
        </p:txBody>
      </p:sp>
      <p:sp>
        <p:nvSpPr>
          <p:cNvPr id="9" name="Shape 7"/>
          <p:cNvSpPr/>
          <p:nvPr/>
        </p:nvSpPr>
        <p:spPr>
          <a:xfrm>
            <a:off x="4617720" y="3383280"/>
            <a:ext cx="3840480" cy="685800"/>
          </a:xfrm>
          <a:prstGeom prst="roundRect">
            <a:avLst>
              <a:gd name="adj" fmla="val 10667"/>
            </a:avLst>
          </a:prstGeom>
          <a:solidFill>
            <a:srgbClr val="FFF4C2"/>
          </a:solidFill>
          <a:ln w="7620">
            <a:solidFill>
              <a:srgbClr val="B8C4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34564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727448" y="3749040"/>
            <a:ext cx="3621024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block-bodied arrow function needs return to pass a value to the next stage.</a:t>
            </a:r>
            <a:endParaRPr lang="en-US" sz="12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 rejection with .catch()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594360" y="822960"/>
            <a:ext cx="5120640" cy="3566160"/>
          </a:xfrm>
          <a:prstGeom prst="rect">
            <a:avLst/>
          </a:prstGeom>
          <a:solidFill>
            <a:srgbClr val="0F172A"/>
          </a:solidFill>
          <a:ln w="8890">
            <a:solidFill>
              <a:srgbClr val="334155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loadTicket(true)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.then(ticket =&gt; {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updatedTicket = {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...ticket,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status: "In progress"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};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updatedTicket;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.then(updatedTicket =&gt; {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renderTicket(updatedTicket);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.catch(error =&gt; {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ticketStatus.textContent =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"Ticket could not be loaded";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console.log(error.message);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820" dirty="0"/>
          </a:p>
        </p:txBody>
      </p:sp>
      <p:sp>
        <p:nvSpPr>
          <p:cNvPr id="5" name="Shape 2"/>
          <p:cNvSpPr/>
          <p:nvPr/>
        </p:nvSpPr>
        <p:spPr>
          <a:xfrm>
            <a:off x="5943600" y="960120"/>
            <a:ext cx="2514600" cy="685800"/>
          </a:xfrm>
          <a:prstGeom prst="roundRect">
            <a:avLst>
              <a:gd name="adj" fmla="val 10667"/>
            </a:avLst>
          </a:prstGeom>
          <a:solidFill>
            <a:srgbClr val="FFE4E6"/>
          </a:solidFill>
          <a:ln w="7620">
            <a:solidFill>
              <a:srgbClr val="B8C4D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035040" y="103327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Rejected with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053328" y="1325880"/>
            <a:ext cx="2295144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 service unavailable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943600" y="1965960"/>
            <a:ext cx="2514600" cy="1874520"/>
          </a:xfrm>
          <a:prstGeom prst="rect">
            <a:avLst/>
          </a:prstGeom>
          <a:solidFill>
            <a:srgbClr val="FFF4C2"/>
          </a:solidFill>
          <a:ln>
            <a:solidFill>
              <a:srgbClr val="B8C4D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fulfilment callbacks are skipped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.catch(...) receives the error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page displays the failure state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.catch(...) also handles an error thrown earlier in the chain</a:t>
            </a:r>
            <a:endParaRPr lang="en-US" sz="104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 the success and failure paths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594360" y="914400"/>
            <a:ext cx="3886200" cy="3154680"/>
          </a:xfrm>
          <a:prstGeom prst="roundRect">
            <a:avLst>
              <a:gd name="adj" fmla="val 2319"/>
            </a:avLst>
          </a:prstGeom>
          <a:solidFill>
            <a:srgbClr val="DCF5E5"/>
          </a:solidFill>
          <a:ln w="7620">
            <a:solidFill>
              <a:srgbClr val="B8C4D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987552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path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704088" y="1280160"/>
            <a:ext cx="3666744" cy="2715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loadTicket(false) returns a pending Promise.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Service calls resolve(supportTicket).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First .then() receives open ticket.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It returns updated ticket.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Second .then() displays the updated ticket.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.catch() is skipped.</a:t>
            </a:r>
            <a:endParaRPr lang="en-US" sz="1030" dirty="0"/>
          </a:p>
          <a:p>
            <a:pPr indent="0" marL="0">
              <a:buNone/>
            </a:pP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Visible: Ticket loaded, In progress</a:t>
            </a:r>
            <a:endParaRPr lang="en-US" sz="1030" dirty="0"/>
          </a:p>
        </p:txBody>
      </p:sp>
      <p:sp>
        <p:nvSpPr>
          <p:cNvPr id="6" name="Shape 4"/>
          <p:cNvSpPr/>
          <p:nvPr/>
        </p:nvSpPr>
        <p:spPr>
          <a:xfrm>
            <a:off x="4663440" y="914400"/>
            <a:ext cx="3886200" cy="3154680"/>
          </a:xfrm>
          <a:prstGeom prst="roundRect">
            <a:avLst>
              <a:gd name="adj" fmla="val 2319"/>
            </a:avLst>
          </a:prstGeom>
          <a:solidFill>
            <a:srgbClr val="FFE4E6"/>
          </a:solidFill>
          <a:ln w="7620">
            <a:solidFill>
              <a:srgbClr val="B8C4D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0" y="987552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path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773168" y="1280160"/>
            <a:ext cx="3666744" cy="2715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loadTicket(true) returns a pending Promise.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Service calls reject(...).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Fulfilment callbacks are skipped.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.catch() receives the error.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The page displays the failure state.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Visible: Ticket could not be loaded</a:t>
            </a:r>
            <a:endParaRPr lang="en-US" sz="10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Checkpoint: Trace a document conversion chain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3794760" cy="3063240"/>
          </a:xfrm>
          <a:prstGeom prst="rect">
            <a:avLst/>
          </a:prstGeom>
          <a:solidFill>
            <a:srgbClr val="0F172A"/>
          </a:solidFill>
          <a:ln w="8890">
            <a:solidFill>
              <a:srgbClr val="334155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convertDocument()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.then(fileName =&gt; {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`Ready: ${fileName}`;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.then(message =&gt; {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console.log(message);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980" dirty="0"/>
          </a:p>
        </p:txBody>
      </p:sp>
      <p:sp>
        <p:nvSpPr>
          <p:cNvPr id="4" name="Text 2"/>
          <p:cNvSpPr/>
          <p:nvPr/>
        </p:nvSpPr>
        <p:spPr>
          <a:xfrm>
            <a:off x="4617720" y="841248"/>
            <a:ext cx="388620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convertDocument() fulfils with report.pdf. What is printed?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617720" y="1234440"/>
            <a:ext cx="3886200" cy="2514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A. report.pdf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B. Ready: report.pdf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C. Ready: fileName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D. undefined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3977640"/>
            <a:ext cx="7726680" cy="822960"/>
          </a:xfrm>
          <a:prstGeom prst="rect">
            <a:avLst/>
          </a:prstGeom>
          <a:solidFill>
            <a:srgbClr val="DCF5E5"/>
          </a:solidFill>
          <a:ln>
            <a:solidFill>
              <a:srgbClr val="A7D8B6"/>
            </a:solidFill>
          </a:ln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B</a:t>
            </a:r>
            <a:endParaRPr lang="en-US" sz="1040" dirty="0"/>
          </a:p>
          <a:p>
            <a:pPr algn="l" indent="0" marL="0">
              <a:buNone/>
            </a:pPr>
            <a:r>
              <a:rPr lang="en-US" sz="104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callback receives "report.pdf" and returns "Ready: report.pdf". The second callback receives that returned string.</a:t>
            </a:r>
            <a:endParaRPr lang="en-US" sz="104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1965960"/>
            <a:ext cx="69494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 Promises with async and await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1645920" y="2542032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the same Promise workflow inside one async function</a:t>
            </a:r>
            <a:endParaRPr lang="en-US" sz="13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chain and async function follow the same steps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777240" y="868680"/>
            <a:ext cx="731520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versions consume the same Promise returned by loadTicket(false).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3749040" cy="365760"/>
          </a:xfrm>
          <a:prstGeom prst="rect">
            <a:avLst/>
          </a:prstGeom>
          <a:solidFill>
            <a:srgbClr val="DDEBFF"/>
          </a:solidFill>
          <a:ln>
            <a:solidFill>
              <a:srgbClr val="B8C4D3"/>
            </a:solidFill>
          </a:ln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Promise-chain step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0" y="1417320"/>
            <a:ext cx="3749040" cy="365760"/>
          </a:xfrm>
          <a:prstGeom prst="rect">
            <a:avLst/>
          </a:prstGeom>
          <a:solidFill>
            <a:srgbClr val="DDEBFF"/>
          </a:solidFill>
          <a:ln>
            <a:solidFill>
              <a:srgbClr val="B8C4D3"/>
            </a:solidFill>
          </a:ln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Async-function step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1783080"/>
            <a:ext cx="3749040" cy="365760"/>
          </a:xfrm>
          <a:prstGeom prst="rect">
            <a:avLst/>
          </a:prstGeom>
          <a:solidFill>
            <a:srgbClr val="FFFFFF"/>
          </a:solidFill>
          <a:ln>
            <a:solidFill>
              <a:srgbClr val="B8C4D3"/>
            </a:solidFill>
          </a:ln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.then(ticket =&gt; ...)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0" y="1783080"/>
            <a:ext cx="3749040" cy="365760"/>
          </a:xfrm>
          <a:prstGeom prst="rect">
            <a:avLst/>
          </a:prstGeom>
          <a:solidFill>
            <a:srgbClr val="FFFFFF"/>
          </a:solidFill>
          <a:ln>
            <a:solidFill>
              <a:srgbClr val="B8C4D3"/>
            </a:solidFill>
          </a:ln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 ticket = await loadTicket(false)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148840"/>
            <a:ext cx="3749040" cy="365760"/>
          </a:xfrm>
          <a:prstGeom prst="rect">
            <a:avLst/>
          </a:prstGeom>
          <a:solidFill>
            <a:srgbClr val="FFFFFF"/>
          </a:solidFill>
          <a:ln>
            <a:solidFill>
              <a:srgbClr val="B8C4D3"/>
            </a:solidFill>
          </a:ln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updatedTicket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0" y="2148840"/>
            <a:ext cx="3749040" cy="365760"/>
          </a:xfrm>
          <a:prstGeom prst="rect">
            <a:avLst/>
          </a:prstGeom>
          <a:solidFill>
            <a:srgbClr val="FFFFFF"/>
          </a:solidFill>
          <a:ln>
            <a:solidFill>
              <a:srgbClr val="B8C4D3"/>
            </a:solidFill>
          </a:ln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updatedTicket in a local binding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514600"/>
            <a:ext cx="3749040" cy="365760"/>
          </a:xfrm>
          <a:prstGeom prst="rect">
            <a:avLst/>
          </a:prstGeom>
          <a:solidFill>
            <a:srgbClr val="FFFFFF"/>
          </a:solidFill>
          <a:ln>
            <a:solidFill>
              <a:srgbClr val="B8C4D3"/>
            </a:solidFill>
          </a:ln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.then(...) renders it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0" y="2514600"/>
            <a:ext cx="3749040" cy="365760"/>
          </a:xfrm>
          <a:prstGeom prst="rect">
            <a:avLst/>
          </a:prstGeom>
          <a:solidFill>
            <a:srgbClr val="FFFFFF"/>
          </a:solidFill>
          <a:ln>
            <a:solidFill>
              <a:srgbClr val="B8C4D3"/>
            </a:solidFill>
          </a:ln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next statement renders it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880360"/>
            <a:ext cx="3749040" cy="365760"/>
          </a:xfrm>
          <a:prstGeom prst="rect">
            <a:avLst/>
          </a:prstGeom>
          <a:solidFill>
            <a:srgbClr val="FFFFFF"/>
          </a:solidFill>
          <a:ln>
            <a:solidFill>
              <a:srgbClr val="B8C4D3"/>
            </a:solidFill>
          </a:ln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.catch(error =&gt; ...)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0" y="2880360"/>
            <a:ext cx="3749040" cy="365760"/>
          </a:xfrm>
          <a:prstGeom prst="rect">
            <a:avLst/>
          </a:prstGeom>
          <a:solidFill>
            <a:srgbClr val="FFFFFF"/>
          </a:solidFill>
          <a:ln>
            <a:solidFill>
              <a:srgbClr val="B8C4D3"/>
            </a:solidFill>
          </a:ln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catch (error)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188720" y="3657600"/>
            <a:ext cx="6766560" cy="594360"/>
          </a:xfrm>
          <a:prstGeom prst="roundRect">
            <a:avLst>
              <a:gd name="adj" fmla="val 12308"/>
            </a:avLst>
          </a:prstGeom>
          <a:solidFill>
            <a:srgbClr val="DCF5E5"/>
          </a:solidFill>
          <a:ln w="7620">
            <a:solidFill>
              <a:srgbClr val="B8C4D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80160" y="3730752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idea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298448" y="4023360"/>
            <a:ext cx="6547104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service still returns a Promise. async and await change how the consuming code is written.</a:t>
            </a:r>
            <a:endParaRPr lang="en-US" sz="12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async function always returns a Promise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594360" y="914400"/>
            <a:ext cx="3977640" cy="1645920"/>
          </a:xfrm>
          <a:prstGeom prst="rect">
            <a:avLst/>
          </a:prstGeom>
          <a:solidFill>
            <a:srgbClr val="0F172A"/>
          </a:solidFill>
          <a:ln w="8890">
            <a:solidFill>
              <a:srgbClr val="334155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function createStatus()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"Ticket loaded";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statusPromise =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createStatus();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892040" y="914400"/>
            <a:ext cx="3108960" cy="640080"/>
          </a:xfrm>
          <a:prstGeom prst="roundRect">
            <a:avLst>
              <a:gd name="adj" fmla="val 11429"/>
            </a:avLst>
          </a:prstGeom>
          <a:solidFill>
            <a:srgbClr val="FFF4C2"/>
          </a:solidFill>
          <a:ln w="7620">
            <a:solidFill>
              <a:srgbClr val="B8C4D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983480" y="98755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statusPromise stores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001768" y="1280160"/>
            <a:ext cx="2889504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Promise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892040" y="1965960"/>
            <a:ext cx="3108960" cy="1234440"/>
          </a:xfrm>
          <a:prstGeom prst="rect">
            <a:avLst/>
          </a:prstGeom>
          <a:solidFill>
            <a:srgbClr val="0F172A"/>
          </a:solidFill>
          <a:ln w="8890">
            <a:solidFill>
              <a:srgbClr val="334155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statusPromise.then(status =&gt; {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console.log(status);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30" dirty="0"/>
          </a:p>
          <a:p>
            <a:pPr indent="0" marL="0">
              <a:buNone/>
            </a:pP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Ticket loaded</a:t>
            </a:r>
            <a:endParaRPr lang="en-US" sz="1030" dirty="0"/>
          </a:p>
        </p:txBody>
      </p:sp>
      <p:sp>
        <p:nvSpPr>
          <p:cNvPr id="9" name="Shape 6"/>
          <p:cNvSpPr/>
          <p:nvPr/>
        </p:nvSpPr>
        <p:spPr>
          <a:xfrm>
            <a:off x="777240" y="3611880"/>
            <a:ext cx="7315200" cy="594360"/>
          </a:xfrm>
          <a:prstGeom prst="roundRect">
            <a:avLst>
              <a:gd name="adj" fmla="val 12308"/>
            </a:avLst>
          </a:prstGeom>
          <a:solidFill>
            <a:srgbClr val="DCF5E5"/>
          </a:solidFill>
          <a:ln w="7620">
            <a:solidFill>
              <a:srgbClr val="B8C4D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368503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Teaching point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86968" y="3977640"/>
            <a:ext cx="7095744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returned string becomes the fulfilled value of that Promise.</a:t>
            </a:r>
            <a:endParaRPr lang="en-US" sz="12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await gives the fulfilled value to a binding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594360" y="868680"/>
            <a:ext cx="4206240" cy="3291840"/>
          </a:xfrm>
          <a:prstGeom prst="rect">
            <a:avLst/>
          </a:prstGeom>
          <a:solidFill>
            <a:srgbClr val="0F172A"/>
          </a:solidFill>
          <a:ln w="8890">
            <a:solidFill>
              <a:srgbClr val="334155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function showTicket() {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ticketStatus.textContent =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"Loading ticket...";</a:t>
            </a:r>
            <a:endParaRPr lang="en-US" sz="960" dirty="0"/>
          </a:p>
          <a:p>
            <a:pPr indent="0" marL="0">
              <a:buNone/>
            </a:pP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ticket =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loadTicket(false);</a:t>
            </a:r>
            <a:endParaRPr lang="en-US" sz="960" dirty="0"/>
          </a:p>
          <a:p>
            <a:pPr indent="0" marL="0">
              <a:buNone/>
            </a:pP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console.log(ticket.id);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60" dirty="0"/>
          </a:p>
          <a:p>
            <a:pPr indent="0" marL="0">
              <a:buNone/>
            </a:pP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showTicket();</a:t>
            </a:r>
            <a:endParaRPr lang="en-US" sz="960" dirty="0"/>
          </a:p>
        </p:txBody>
      </p:sp>
      <p:sp>
        <p:nvSpPr>
          <p:cNvPr id="5" name="Shape 2"/>
          <p:cNvSpPr/>
          <p:nvPr/>
        </p:nvSpPr>
        <p:spPr>
          <a:xfrm>
            <a:off x="5074920" y="1005840"/>
            <a:ext cx="3154680" cy="1325880"/>
          </a:xfrm>
          <a:prstGeom prst="roundRect">
            <a:avLst>
              <a:gd name="adj" fmla="val 5517"/>
            </a:avLst>
          </a:prstGeom>
          <a:solidFill>
            <a:srgbClr val="DCF5E5"/>
          </a:solidFill>
          <a:ln w="7620">
            <a:solidFill>
              <a:srgbClr val="B8C4D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166360" y="1078992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fulfilled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184648" y="1371600"/>
            <a:ext cx="2935224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supportTicket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Console output: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SUP-1048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074920" y="2788920"/>
            <a:ext cx="3154680" cy="960120"/>
          </a:xfrm>
          <a:prstGeom prst="roundRect">
            <a:avLst>
              <a:gd name="adj" fmla="val 7619"/>
            </a:avLst>
          </a:prstGeom>
          <a:solidFill>
            <a:srgbClr val="FFF4C2"/>
          </a:solidFill>
          <a:ln w="7620">
            <a:solidFill>
              <a:srgbClr val="B8C4D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166360" y="2862072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of await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184648" y="3154680"/>
            <a:ext cx="2935224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await pauses the dependent steps inside showTicket until the Promise settles. It does not stop the entire browser.</a:t>
            </a:r>
            <a:endParaRPr lang="en-US" sz="114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the successful async workflow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4709160" cy="3611880"/>
          </a:xfrm>
          <a:prstGeom prst="rect">
            <a:avLst/>
          </a:prstGeom>
          <a:solidFill>
            <a:srgbClr val="0F172A"/>
          </a:solidFill>
          <a:ln w="8890">
            <a:solidFill>
              <a:srgbClr val="334155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function showTicket() {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ticketStatus.textContent =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"Loading ticket...";</a:t>
            </a:r>
            <a:endParaRPr lang="en-US" sz="820" dirty="0"/>
          </a:p>
          <a:p>
            <a:pPr indent="0" marL="0">
              <a:buNone/>
            </a:pP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ticket =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loadTicket(false);</a:t>
            </a:r>
            <a:endParaRPr lang="en-US" sz="820" dirty="0"/>
          </a:p>
          <a:p>
            <a:pPr indent="0" marL="0">
              <a:buNone/>
            </a:pP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updatedTicket = {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...ticket,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status: "In progress"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};</a:t>
            </a:r>
            <a:endParaRPr lang="en-US" sz="820" dirty="0"/>
          </a:p>
          <a:p>
            <a:pPr indent="0" marL="0">
              <a:buNone/>
            </a:pP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renderTicket(updatedTicket);</a:t>
            </a:r>
            <a:endParaRPr lang="en-US" sz="820" dirty="0"/>
          </a:p>
          <a:p>
            <a:pPr indent="0" marL="0">
              <a:buNone/>
            </a:pP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ticketStatus.textContent =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"Ticket loaded";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20" dirty="0"/>
          </a:p>
        </p:txBody>
      </p:sp>
      <p:sp>
        <p:nvSpPr>
          <p:cNvPr id="4" name="Shape 2"/>
          <p:cNvSpPr/>
          <p:nvPr/>
        </p:nvSpPr>
        <p:spPr>
          <a:xfrm>
            <a:off x="5532120" y="1234440"/>
            <a:ext cx="2788920" cy="1143000"/>
          </a:xfrm>
          <a:prstGeom prst="roundRect">
            <a:avLst>
              <a:gd name="adj" fmla="val 6400"/>
            </a:avLst>
          </a:prstGeom>
          <a:solidFill>
            <a:srgbClr val="DCF5E5"/>
          </a:solidFill>
          <a:ln w="7620">
            <a:solidFill>
              <a:srgbClr val="B8C4D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23560" y="1307592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Visible sequence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641848" y="1600200"/>
            <a:ext cx="2569464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Loading ticket...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 loaded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 state: In progress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532120" y="2788920"/>
            <a:ext cx="2788920" cy="731520"/>
          </a:xfrm>
          <a:prstGeom prst="roundRect">
            <a:avLst>
              <a:gd name="adj" fmla="val 10000"/>
            </a:avLst>
          </a:prstGeom>
          <a:solidFill>
            <a:srgbClr val="FFF4C2"/>
          </a:solidFill>
          <a:ln w="7620">
            <a:solidFill>
              <a:srgbClr val="B8C4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23560" y="2862072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result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641848" y="3154680"/>
            <a:ext cx="2569464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produces the same successful result as the earlier .then() chain.</a:t>
            </a:r>
            <a:endParaRPr lang="en-US" sz="11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 awaited rejection with try and catch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5349240" cy="3886200"/>
          </a:xfrm>
          <a:prstGeom prst="rect">
            <a:avLst/>
          </a:prstGeom>
          <a:solidFill>
            <a:srgbClr val="0F172A"/>
          </a:solidFill>
          <a:ln w="8890">
            <a:solidFill>
              <a:srgbClr val="334155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function showTicket(shouldFail)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ticketStatus.textContent =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"Loading ticket...";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try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ticket =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await loadTicket(shouldFail);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updatedTicket =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...ticket,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status: "In progress"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};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renderTicket(updatedTicket);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ticketStatus.textContent =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"Ticket loaded";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catch (error)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ticketStatus.textContent =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"Ticket could not be loaded";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console.log(error.message);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172200" y="1051560"/>
            <a:ext cx="2240280" cy="2148840"/>
          </a:xfrm>
          <a:prstGeom prst="rect">
            <a:avLst/>
          </a:prstGeom>
          <a:solidFill>
            <a:srgbClr val="FFF4C2"/>
          </a:solidFill>
          <a:ln>
            <a:solidFill>
              <a:srgbClr val="B8C4D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When loadTicket(true) rejects: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remaining statements in try are skipped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control moves to catch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error contains the rejection reason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page displays the failure state</a:t>
            </a:r>
            <a:endParaRPr lang="en-US" sz="104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.catch() and try/catch handle the same failure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594360" y="914400"/>
            <a:ext cx="3794760" cy="2103120"/>
          </a:xfrm>
          <a:prstGeom prst="roundRect">
            <a:avLst>
              <a:gd name="adj" fmla="val 3478"/>
            </a:avLst>
          </a:prstGeom>
          <a:solidFill>
            <a:srgbClr val="E5F0FF"/>
          </a:solidFill>
          <a:ln w="7620">
            <a:solidFill>
              <a:srgbClr val="B8C4D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987552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Promise-chain form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704088" y="1280160"/>
            <a:ext cx="3575304" cy="1664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loadTicket(true)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.then(ticket =&gt; {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renderTicket(ticket);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})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.catch(error =&gt; {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showLoadError(error);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});</a:t>
            </a:r>
            <a:endParaRPr lang="en-US" sz="980" dirty="0"/>
          </a:p>
        </p:txBody>
      </p:sp>
      <p:sp>
        <p:nvSpPr>
          <p:cNvPr id="6" name="Shape 4"/>
          <p:cNvSpPr/>
          <p:nvPr/>
        </p:nvSpPr>
        <p:spPr>
          <a:xfrm>
            <a:off x="4617720" y="914400"/>
            <a:ext cx="3794760" cy="2103120"/>
          </a:xfrm>
          <a:prstGeom prst="roundRect">
            <a:avLst>
              <a:gd name="adj" fmla="val 3478"/>
            </a:avLst>
          </a:prstGeom>
          <a:solidFill>
            <a:srgbClr val="FFF4C2"/>
          </a:solidFill>
          <a:ln w="7620">
            <a:solidFill>
              <a:srgbClr val="B8C4D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09160" y="987552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Async-function form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727448" y="1280160"/>
            <a:ext cx="3575304" cy="1664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 function showTicket() {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try {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const ticket =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await loadTicket(true);</a:t>
            </a:r>
            <a:endParaRPr lang="en-US" sz="930" dirty="0"/>
          </a:p>
          <a:p>
            <a:pPr indent="0" marL="0">
              <a:buNone/>
            </a:pP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renderTicket(ticket);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} catch (error) {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showLoadError(error);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}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}</a:t>
            </a:r>
            <a:endParaRPr lang="en-US" sz="930" dirty="0"/>
          </a:p>
        </p:txBody>
      </p:sp>
      <p:sp>
        <p:nvSpPr>
          <p:cNvPr id="9" name="Text 7"/>
          <p:cNvSpPr/>
          <p:nvPr/>
        </p:nvSpPr>
        <p:spPr>
          <a:xfrm>
            <a:off x="731520" y="3337560"/>
            <a:ext cx="2560320" cy="205740"/>
          </a:xfrm>
          <a:prstGeom prst="rect">
            <a:avLst/>
          </a:prstGeom>
          <a:solidFill>
            <a:srgbClr val="DDEBFF"/>
          </a:solidFill>
          <a:ln>
            <a:solidFill>
              <a:srgbClr val="B8C4D3"/>
            </a:solidFill>
          </a:ln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Relationship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291840" y="3337560"/>
            <a:ext cx="2560320" cy="205740"/>
          </a:xfrm>
          <a:prstGeom prst="rect">
            <a:avLst/>
          </a:prstGeom>
          <a:solidFill>
            <a:srgbClr val="DDEBFF"/>
          </a:solidFill>
          <a:ln>
            <a:solidFill>
              <a:srgbClr val="B8C4D3"/>
            </a:solidFill>
          </a:ln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Promise chain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852160" y="3337560"/>
            <a:ext cx="2560320" cy="205740"/>
          </a:xfrm>
          <a:prstGeom prst="rect">
            <a:avLst/>
          </a:prstGeom>
          <a:solidFill>
            <a:srgbClr val="DDEBFF"/>
          </a:solidFill>
          <a:ln>
            <a:solidFill>
              <a:srgbClr val="B8C4D3"/>
            </a:solidFill>
          </a:ln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 function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31520" y="3543300"/>
            <a:ext cx="2560320" cy="205740"/>
          </a:xfrm>
          <a:prstGeom prst="rect">
            <a:avLst/>
          </a:prstGeom>
          <a:solidFill>
            <a:srgbClr val="FFFFFF"/>
          </a:solidFill>
          <a:ln>
            <a:solidFill>
              <a:srgbClr val="B8C4D3"/>
            </a:solidFill>
          </a:ln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 fulfilled value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291840" y="3543300"/>
            <a:ext cx="2560320" cy="205740"/>
          </a:xfrm>
          <a:prstGeom prst="rect">
            <a:avLst/>
          </a:prstGeom>
          <a:solidFill>
            <a:srgbClr val="FFFFFF"/>
          </a:solidFill>
          <a:ln>
            <a:solidFill>
              <a:srgbClr val="B8C4D3"/>
            </a:solidFill>
          </a:ln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.then callback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852160" y="3543300"/>
            <a:ext cx="2560320" cy="205740"/>
          </a:xfrm>
          <a:prstGeom prst="rect">
            <a:avLst/>
          </a:prstGeom>
          <a:solidFill>
            <a:srgbClr val="FFFFFF"/>
          </a:solidFill>
          <a:ln>
            <a:solidFill>
              <a:srgbClr val="B8C4D3"/>
            </a:solidFill>
          </a:ln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Binding after await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31520" y="3749040"/>
            <a:ext cx="2560320" cy="205740"/>
          </a:xfrm>
          <a:prstGeom prst="rect">
            <a:avLst/>
          </a:prstGeom>
          <a:solidFill>
            <a:srgbClr val="FFFFFF"/>
          </a:solidFill>
          <a:ln>
            <a:solidFill>
              <a:srgbClr val="B8C4D3"/>
            </a:solidFill>
          </a:ln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 rejected Promise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291840" y="3749040"/>
            <a:ext cx="2560320" cy="205740"/>
          </a:xfrm>
          <a:prstGeom prst="rect">
            <a:avLst/>
          </a:prstGeom>
          <a:solidFill>
            <a:srgbClr val="FFFFFF"/>
          </a:solidFill>
          <a:ln>
            <a:solidFill>
              <a:srgbClr val="B8C4D3"/>
            </a:solidFill>
          </a:ln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.catch(...)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852160" y="3749040"/>
            <a:ext cx="2560320" cy="205740"/>
          </a:xfrm>
          <a:prstGeom prst="rect">
            <a:avLst/>
          </a:prstGeom>
          <a:solidFill>
            <a:srgbClr val="FFFFFF"/>
          </a:solidFill>
          <a:ln>
            <a:solidFill>
              <a:srgbClr val="B8C4D3"/>
            </a:solidFill>
          </a:ln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catch block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31520" y="3954780"/>
            <a:ext cx="2560320" cy="205740"/>
          </a:xfrm>
          <a:prstGeom prst="rect">
            <a:avLst/>
          </a:prstGeom>
          <a:solidFill>
            <a:srgbClr val="FFFFFF"/>
          </a:solidFill>
          <a:ln>
            <a:solidFill>
              <a:srgbClr val="B8C4D3"/>
            </a:solidFill>
          </a:ln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Underlying operation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291840" y="3954780"/>
            <a:ext cx="2560320" cy="205740"/>
          </a:xfrm>
          <a:prstGeom prst="rect">
            <a:avLst/>
          </a:prstGeom>
          <a:solidFill>
            <a:srgbClr val="FFFFFF"/>
          </a:solidFill>
          <a:ln>
            <a:solidFill>
              <a:srgbClr val="B8C4D3"/>
            </a:solidFill>
          </a:ln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Promise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852160" y="3954780"/>
            <a:ext cx="2560320" cy="205740"/>
          </a:xfrm>
          <a:prstGeom prst="rect">
            <a:avLst/>
          </a:prstGeom>
          <a:solidFill>
            <a:srgbClr val="FFFFFF"/>
          </a:solidFill>
          <a:ln>
            <a:solidFill>
              <a:srgbClr val="B8C4D3"/>
            </a:solidFill>
          </a:ln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Promise</a:t>
            </a:r>
            <a:endParaRPr lang="en-US" sz="9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Checkpoint: Handle a schedule-loading failure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3794760" cy="3063240"/>
          </a:xfrm>
          <a:prstGeom prst="rect">
            <a:avLst/>
          </a:prstGeom>
          <a:solidFill>
            <a:srgbClr val="0F172A"/>
          </a:solidFill>
          <a:ln w="8890">
            <a:solidFill>
              <a:srgbClr val="334155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function showSchedule() {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try {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schedule =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await loadClassSchedule();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scheduleStatus.textContent =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schedule.title;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catch (error) {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scheduleStatus.textContent =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"Schedule unavailable";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showSchedule();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4617720" y="841248"/>
            <a:ext cx="388620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loadClassSchedule() rejects. What becomes visible inside scheduleStatus?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617720" y="1234440"/>
            <a:ext cx="3886200" cy="2514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A. The rejected Promise object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B. schedule.title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C. Schedule unavailable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D. undefined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85800" y="4005072"/>
            <a:ext cx="7726680" cy="822960"/>
          </a:xfrm>
          <a:prstGeom prst="rect">
            <a:avLst/>
          </a:prstGeom>
          <a:solidFill>
            <a:srgbClr val="DCF5E5"/>
          </a:solidFill>
          <a:ln>
            <a:solidFill>
              <a:srgbClr val="A7D8B6"/>
            </a:solidFill>
          </a:ln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C</a:t>
            </a:r>
            <a:endParaRPr lang="en-US" sz="1040" dirty="0"/>
          </a:p>
          <a:p>
            <a:pPr algn="l" indent="0" marL="0">
              <a:buNone/>
            </a:pPr>
            <a:r>
              <a:rPr lang="en-US" sz="104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rejected awaited Promise transfers control to catch. The success update is skipped.</a:t>
            </a:r>
            <a:endParaRPr lang="en-US" sz="104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Activity: Complete an equipment checkout request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594360" y="868680"/>
            <a:ext cx="2971800" cy="3108960"/>
          </a:xfrm>
          <a:prstGeom prst="roundRect">
            <a:avLst>
              <a:gd name="adj" fmla="val 2462"/>
            </a:avLst>
          </a:prstGeom>
          <a:solidFill>
            <a:srgbClr val="E5F0FF"/>
          </a:solidFill>
          <a:ln w="7620">
            <a:solidFill>
              <a:srgbClr val="B8C4D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941832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task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704088" y="1234440"/>
            <a:ext cx="2752344" cy="2670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coding time: 14 minutes</a:t>
            </a:r>
            <a:endParaRPr lang="en-US" sz="1120" dirty="0"/>
          </a:p>
          <a:p>
            <a:pPr indent="0" marL="0">
              <a:buNone/>
            </a:pP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the prepared service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Await the checkout request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Destructure the required fields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an approved copy with spread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 success or failure</a:t>
            </a:r>
            <a:endParaRPr lang="en-US" sz="1120" dirty="0"/>
          </a:p>
        </p:txBody>
      </p:sp>
      <p:sp>
        <p:nvSpPr>
          <p:cNvPr id="6" name="Shape 4"/>
          <p:cNvSpPr/>
          <p:nvPr/>
        </p:nvSpPr>
        <p:spPr>
          <a:xfrm>
            <a:off x="3794760" y="868680"/>
            <a:ext cx="2240280" cy="2103120"/>
          </a:xfrm>
          <a:prstGeom prst="roundRect">
            <a:avLst>
              <a:gd name="adj" fmla="val 3478"/>
            </a:avLst>
          </a:prstGeom>
          <a:solidFill>
            <a:srgbClr val="FFF4C2"/>
          </a:solidFill>
          <a:ln w="7620">
            <a:solidFill>
              <a:srgbClr val="B8C4D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86200" y="941832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files and runtime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904488" y="1234440"/>
            <a:ext cx="2020824" cy="1664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index.html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app.js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equipment-service.js</a:t>
            </a:r>
            <a:endParaRPr lang="en-US" sz="1060" dirty="0"/>
          </a:p>
          <a:p>
            <a:pPr indent="0" marL="0">
              <a:buNone/>
            </a:pP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index.html with Live Server. Confirm http://. Work only in the marked sections of app.js.</a:t>
            </a:r>
            <a:endParaRPr lang="en-US" sz="1060" dirty="0"/>
          </a:p>
        </p:txBody>
      </p:sp>
      <p:sp>
        <p:nvSpPr>
          <p:cNvPr id="9" name="Shape 7"/>
          <p:cNvSpPr/>
          <p:nvPr/>
        </p:nvSpPr>
        <p:spPr>
          <a:xfrm>
            <a:off x="6263640" y="868680"/>
            <a:ext cx="2240280" cy="1600200"/>
          </a:xfrm>
          <a:prstGeom prst="roundRect">
            <a:avLst>
              <a:gd name="adj" fmla="val 4571"/>
            </a:avLst>
          </a:prstGeom>
          <a:solidFill>
            <a:srgbClr val="DCF5E5"/>
          </a:solidFill>
          <a:ln w="7620">
            <a:solidFill>
              <a:srgbClr val="B8C4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55080" y="941832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success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373368" y="1234440"/>
            <a:ext cx="2020824" cy="1161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EQ-2047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Requester: Naveen Rao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Item: USB microphone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Duration: 3 days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Status: Approved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6263640" y="2834640"/>
            <a:ext cx="2240280" cy="685800"/>
          </a:xfrm>
          <a:prstGeom prst="roundRect">
            <a:avLst>
              <a:gd name="adj" fmla="val 10667"/>
            </a:avLst>
          </a:prstGeom>
          <a:solidFill>
            <a:srgbClr val="FFE4E6"/>
          </a:solidFill>
          <a:ln w="7620">
            <a:solidFill>
              <a:srgbClr val="B8C4D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2907792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failure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373368" y="3200400"/>
            <a:ext cx="2020824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Checkout request could not be loaded</a:t>
            </a:r>
            <a:endParaRPr lang="en-US" sz="107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 1: Import the checkout service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94360" y="914400"/>
            <a:ext cx="3749040" cy="1463040"/>
          </a:xfrm>
          <a:prstGeom prst="rect">
            <a:avLst/>
          </a:prstGeom>
          <a:solidFill>
            <a:srgbClr val="0F172A"/>
          </a:solidFill>
          <a:ln w="8890">
            <a:solidFill>
              <a:srgbClr val="334155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equipment-service.js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function loadCheckoutRequest(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shouldFail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Prepared Promise service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10" dirty="0"/>
          </a:p>
        </p:txBody>
      </p:sp>
      <p:sp>
        <p:nvSpPr>
          <p:cNvPr id="4" name="Text 2"/>
          <p:cNvSpPr/>
          <p:nvPr/>
        </p:nvSpPr>
        <p:spPr>
          <a:xfrm>
            <a:off x="4572000" y="914400"/>
            <a:ext cx="384048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the named import in app.js: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0" y="1353312"/>
            <a:ext cx="3840480" cy="914400"/>
          </a:xfrm>
          <a:prstGeom prst="rect">
            <a:avLst/>
          </a:prstGeom>
          <a:solidFill>
            <a:srgbClr val="0F172A"/>
          </a:solidFill>
          <a:ln w="8890">
            <a:solidFill>
              <a:srgbClr val="334155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__________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from "./equipment-service.js";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0" y="2560320"/>
            <a:ext cx="3840480" cy="1234440"/>
          </a:xfrm>
          <a:prstGeom prst="rect">
            <a:avLst/>
          </a:prstGeom>
          <a:solidFill>
            <a:srgbClr val="FFF4C2"/>
          </a:solidFill>
          <a:ln>
            <a:solidFill>
              <a:srgbClr val="B8C4D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imported name matches exported name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braces are used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relative path includes ./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filename includes .js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module error appears</a:t>
            </a:r>
            <a:endParaRPr lang="en-US" sz="1120" dirty="0"/>
          </a:p>
        </p:txBody>
      </p:sp>
      <p:sp>
        <p:nvSpPr>
          <p:cNvPr id="7" name="Text 5"/>
          <p:cNvSpPr/>
          <p:nvPr/>
        </p:nvSpPr>
        <p:spPr>
          <a:xfrm>
            <a:off x="685800" y="4041648"/>
            <a:ext cx="7726680" cy="640080"/>
          </a:xfrm>
          <a:prstGeom prst="rect">
            <a:avLst/>
          </a:prstGeom>
          <a:solidFill>
            <a:srgbClr val="DCF5E5"/>
          </a:solidFill>
          <a:ln>
            <a:solidFill>
              <a:srgbClr val="A7D8B6"/>
            </a:solidFill>
          </a:ln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Review: import { loadCheckoutRequest } from "./equipment-service.js";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Learners do not edit equipment-service.js.</a:t>
            </a:r>
            <a:endParaRPr lang="en-US" sz="102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 2: Await and destructure the request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94360" y="868680"/>
            <a:ext cx="4251960" cy="2834640"/>
          </a:xfrm>
          <a:prstGeom prst="rect">
            <a:avLst/>
          </a:prstGeom>
          <a:solidFill>
            <a:srgbClr val="0F172A"/>
          </a:solidFill>
          <a:ln w="8890">
            <a:solidFill>
              <a:srgbClr val="334155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function showCheckoutRequest(shouldFail)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checkoutStatus.textContent =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"Loading checkout request...";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try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Await the request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Destructure the required fields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catch (error)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Complete failure update later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74920" y="914400"/>
            <a:ext cx="3429000" cy="2057400"/>
          </a:xfrm>
          <a:prstGeom prst="roundRect">
            <a:avLst>
              <a:gd name="adj" fmla="val 3556"/>
            </a:avLst>
          </a:prstGeom>
          <a:solidFill>
            <a:srgbClr val="DCF5E5"/>
          </a:solidFill>
          <a:ln w="7620">
            <a:solidFill>
              <a:srgbClr val="B8C4D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66360" y="987552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 result inside try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184648" y="1280160"/>
            <a:ext cx="3209544" cy="1618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 request =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await loadCheckoutRequest(shouldFail);</a:t>
            </a:r>
            <a:endParaRPr lang="en-US" sz="930" dirty="0"/>
          </a:p>
          <a:p>
            <a:pPr indent="0" marL="0">
              <a:buNone/>
            </a:pP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 {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requestId, requester, item,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duration, status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} = request;</a:t>
            </a:r>
            <a:endParaRPr lang="en-US" sz="930" dirty="0"/>
          </a:p>
        </p:txBody>
      </p:sp>
      <p:sp>
        <p:nvSpPr>
          <p:cNvPr id="7" name="Shape 5"/>
          <p:cNvSpPr/>
          <p:nvPr/>
        </p:nvSpPr>
        <p:spPr>
          <a:xfrm>
            <a:off x="5074920" y="3246120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FF4C2"/>
          </a:solidFill>
          <a:ln w="7620">
            <a:solidFill>
              <a:srgbClr val="B8C4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66360" y="3319272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Completion check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184648" y="3611880"/>
            <a:ext cx="3209544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stores the fulfilled object.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five bindings receive values from matching properties.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Repeated property access is not needed for these values.</a:t>
            </a:r>
            <a:endParaRPr lang="en-US" sz="106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 3: Create the approved copy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94360" y="914400"/>
            <a:ext cx="4023360" cy="1828800"/>
          </a:xfrm>
          <a:prstGeom prst="rect">
            <a:avLst/>
          </a:prstGeom>
          <a:solidFill>
            <a:srgbClr val="0F172A"/>
          </a:solidFill>
          <a:ln w="8890">
            <a:solidFill>
              <a:srgbClr val="334155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"Pending"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approvedRequest =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...request,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status: "Approved"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846320" y="914400"/>
            <a:ext cx="3474720" cy="1463040"/>
          </a:xfrm>
          <a:prstGeom prst="rect">
            <a:avLst/>
          </a:prstGeom>
          <a:solidFill>
            <a:srgbClr val="0F172A"/>
          </a:solidFill>
          <a:ln w="8890">
            <a:solidFill>
              <a:srgbClr val="334155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"Pending"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approvedRequest.status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"Approved"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14400" y="3154680"/>
            <a:ext cx="3657600" cy="182880"/>
          </a:xfrm>
          <a:prstGeom prst="rect">
            <a:avLst/>
          </a:prstGeom>
          <a:solidFill>
            <a:srgbClr val="DDEBFF"/>
          </a:solidFill>
          <a:ln>
            <a:solidFill>
              <a:srgbClr val="B8C4D3"/>
            </a:solidFill>
          </a:ln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Property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572000" y="3154680"/>
            <a:ext cx="3657600" cy="182880"/>
          </a:xfrm>
          <a:prstGeom prst="rect">
            <a:avLst/>
          </a:prstGeom>
          <a:solidFill>
            <a:srgbClr val="DDEBFF"/>
          </a:solidFill>
          <a:ln>
            <a:solidFill>
              <a:srgbClr val="B8C4D3"/>
            </a:solidFill>
          </a:ln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14400" y="3337560"/>
            <a:ext cx="3657600" cy="182880"/>
          </a:xfrm>
          <a:prstGeom prst="rect">
            <a:avLst/>
          </a:prstGeom>
          <a:solidFill>
            <a:srgbClr val="FFFFFF"/>
          </a:solidFill>
          <a:ln>
            <a:solidFill>
              <a:srgbClr val="B8C4D3"/>
            </a:solidFill>
          </a:ln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requestId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0" y="3337560"/>
            <a:ext cx="3657600" cy="182880"/>
          </a:xfrm>
          <a:prstGeom prst="rect">
            <a:avLst/>
          </a:prstGeom>
          <a:solidFill>
            <a:srgbClr val="FFFFFF"/>
          </a:solidFill>
          <a:ln>
            <a:solidFill>
              <a:srgbClr val="B8C4D3"/>
            </a:solidFill>
          </a:ln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"EQ-2047"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14400" y="3520440"/>
            <a:ext cx="3657600" cy="182880"/>
          </a:xfrm>
          <a:prstGeom prst="rect">
            <a:avLst/>
          </a:prstGeom>
          <a:solidFill>
            <a:srgbClr val="FFFFFF"/>
          </a:solidFill>
          <a:ln>
            <a:solidFill>
              <a:srgbClr val="B8C4D3"/>
            </a:solidFill>
          </a:ln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requester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0" y="3520440"/>
            <a:ext cx="3657600" cy="182880"/>
          </a:xfrm>
          <a:prstGeom prst="rect">
            <a:avLst/>
          </a:prstGeom>
          <a:solidFill>
            <a:srgbClr val="FFFFFF"/>
          </a:solidFill>
          <a:ln>
            <a:solidFill>
              <a:srgbClr val="B8C4D3"/>
            </a:solidFill>
          </a:ln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"Naveen Rao"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14400" y="3703320"/>
            <a:ext cx="3657600" cy="182880"/>
          </a:xfrm>
          <a:prstGeom prst="rect">
            <a:avLst/>
          </a:prstGeom>
          <a:solidFill>
            <a:srgbClr val="FFFFFF"/>
          </a:solidFill>
          <a:ln>
            <a:solidFill>
              <a:srgbClr val="B8C4D3"/>
            </a:solidFill>
          </a:ln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0" y="3703320"/>
            <a:ext cx="3657600" cy="182880"/>
          </a:xfrm>
          <a:prstGeom prst="rect">
            <a:avLst/>
          </a:prstGeom>
          <a:solidFill>
            <a:srgbClr val="FFFFFF"/>
          </a:solidFill>
          <a:ln>
            <a:solidFill>
              <a:srgbClr val="B8C4D3"/>
            </a:solidFill>
          </a:ln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"USB microphone"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14400" y="3886200"/>
            <a:ext cx="3657600" cy="182880"/>
          </a:xfrm>
          <a:prstGeom prst="rect">
            <a:avLst/>
          </a:prstGeom>
          <a:solidFill>
            <a:srgbClr val="FFFFFF"/>
          </a:solidFill>
          <a:ln>
            <a:solidFill>
              <a:srgbClr val="B8C4D3"/>
            </a:solidFill>
          </a:ln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duration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0" y="3886200"/>
            <a:ext cx="3657600" cy="182880"/>
          </a:xfrm>
          <a:prstGeom prst="rect">
            <a:avLst/>
          </a:prstGeom>
          <a:solidFill>
            <a:srgbClr val="FFFFFF"/>
          </a:solidFill>
          <a:ln>
            <a:solidFill>
              <a:srgbClr val="B8C4D3"/>
            </a:solidFill>
          </a:ln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"3 days"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14400" y="4251960"/>
            <a:ext cx="731520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approvedRequest for the visible result. Do not reassign request.</a:t>
            </a:r>
            <a:endParaRPr lang="en-US" sz="12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 4: Display success and failure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594360" y="868680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DCF5E5"/>
          </a:solidFill>
          <a:ln w="7620">
            <a:solidFill>
              <a:srgbClr val="B8C4D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9418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path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704088" y="1234440"/>
            <a:ext cx="3621024" cy="1389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renderCheckoutRequest(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approvedRequest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);</a:t>
            </a:r>
            <a:endParaRPr lang="en-US" sz="1010" dirty="0"/>
          </a:p>
          <a:p>
            <a:pPr indent="0" marL="0">
              <a:buNone/>
            </a:pP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checkoutStatus.textContent =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"Checkout request loaded";</a:t>
            </a:r>
            <a:endParaRPr lang="en-US" sz="1010" dirty="0"/>
          </a:p>
        </p:txBody>
      </p:sp>
      <p:sp>
        <p:nvSpPr>
          <p:cNvPr id="6" name="Shape 4"/>
          <p:cNvSpPr/>
          <p:nvPr/>
        </p:nvSpPr>
        <p:spPr>
          <a:xfrm>
            <a:off x="4617720" y="868680"/>
            <a:ext cx="3886200" cy="1828800"/>
          </a:xfrm>
          <a:prstGeom prst="roundRect">
            <a:avLst>
              <a:gd name="adj" fmla="val 4000"/>
            </a:avLst>
          </a:prstGeom>
          <a:solidFill>
            <a:srgbClr val="FFE4E6"/>
          </a:solidFill>
          <a:ln w="7620">
            <a:solidFill>
              <a:srgbClr val="B8C4D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09160" y="941832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path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727448" y="1234440"/>
            <a:ext cx="3666744" cy="1389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catch (error) {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checkoutStatus.textContent =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"Checkout request could not be loaded";</a:t>
            </a:r>
            <a:endParaRPr lang="en-US" sz="1010" dirty="0"/>
          </a:p>
          <a:p>
            <a:pPr indent="0" marL="0">
              <a:buNone/>
            </a:pP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console.log(error.message);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}</a:t>
            </a:r>
            <a:endParaRPr lang="en-US" sz="1010" dirty="0"/>
          </a:p>
        </p:txBody>
      </p:sp>
      <p:sp>
        <p:nvSpPr>
          <p:cNvPr id="9" name="Shape 7"/>
          <p:cNvSpPr/>
          <p:nvPr/>
        </p:nvSpPr>
        <p:spPr>
          <a:xfrm>
            <a:off x="594360" y="3063240"/>
            <a:ext cx="3840480" cy="1051560"/>
          </a:xfrm>
          <a:prstGeom prst="roundRect">
            <a:avLst>
              <a:gd name="adj" fmla="val 6957"/>
            </a:avLst>
          </a:prstGeom>
          <a:solidFill>
            <a:srgbClr val="E5F0FF"/>
          </a:solidFill>
          <a:ln w="7620">
            <a:solidFill>
              <a:srgbClr val="B8C4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1363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one path at a time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04088" y="3429000"/>
            <a:ext cx="3621024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showCheckoutRequest(false);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or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showCheckoutRequest(true);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prepared controls, or temporarily leave only one test call active in app.js.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617720" y="3063240"/>
            <a:ext cx="3886200" cy="1051560"/>
          </a:xfrm>
          <a:prstGeom prst="rect">
            <a:avLst/>
          </a:prstGeom>
          <a:solidFill>
            <a:srgbClr val="FFF4C2"/>
          </a:solidFill>
          <a:ln>
            <a:solidFill>
              <a:srgbClr val="B8C4D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success displays the approved request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failure displays the error state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undefined value appears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unhandled rejection appears</a:t>
            </a:r>
            <a:endParaRPr lang="en-US" sz="108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 review: Trace one checkout request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94360" y="868680"/>
            <a:ext cx="2011680" cy="325755"/>
          </a:xfrm>
          <a:prstGeom prst="rect">
            <a:avLst/>
          </a:prstGeom>
          <a:solidFill>
            <a:srgbClr val="DDEBFF"/>
          </a:solidFill>
          <a:ln>
            <a:solidFill>
              <a:srgbClr val="B8C4D3"/>
            </a:solidFill>
          </a:ln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path</a:t>
            </a:r>
            <a:endParaRPr lang="en-US" sz="940" dirty="0"/>
          </a:p>
        </p:txBody>
      </p:sp>
      <p:sp>
        <p:nvSpPr>
          <p:cNvPr id="4" name="Text 2"/>
          <p:cNvSpPr/>
          <p:nvPr/>
        </p:nvSpPr>
        <p:spPr>
          <a:xfrm>
            <a:off x="2606040" y="868680"/>
            <a:ext cx="2011680" cy="325755"/>
          </a:xfrm>
          <a:prstGeom prst="rect">
            <a:avLst/>
          </a:prstGeom>
          <a:solidFill>
            <a:srgbClr val="DDEBFF"/>
          </a:solidFill>
          <a:ln>
            <a:solidFill>
              <a:srgbClr val="B8C4D3"/>
            </a:solidFill>
          </a:ln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or action</a:t>
            </a:r>
            <a:endParaRPr lang="en-US" sz="940" dirty="0"/>
          </a:p>
        </p:txBody>
      </p:sp>
      <p:sp>
        <p:nvSpPr>
          <p:cNvPr id="5" name="Text 3"/>
          <p:cNvSpPr/>
          <p:nvPr/>
        </p:nvSpPr>
        <p:spPr>
          <a:xfrm>
            <a:off x="594360" y="1194435"/>
            <a:ext cx="2011680" cy="325755"/>
          </a:xfrm>
          <a:prstGeom prst="rect">
            <a:avLst/>
          </a:prstGeom>
          <a:solidFill>
            <a:srgbClr val="FFFFFF"/>
          </a:solidFill>
          <a:ln>
            <a:solidFill>
              <a:srgbClr val="B8C4D3"/>
            </a:solidFill>
          </a:ln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Named import</a:t>
            </a:r>
            <a:endParaRPr lang="en-US" sz="940" dirty="0"/>
          </a:p>
        </p:txBody>
      </p:sp>
      <p:sp>
        <p:nvSpPr>
          <p:cNvPr id="6" name="Text 4"/>
          <p:cNvSpPr/>
          <p:nvPr/>
        </p:nvSpPr>
        <p:spPr>
          <a:xfrm>
            <a:off x="2606040" y="1194435"/>
            <a:ext cx="2011680" cy="325755"/>
          </a:xfrm>
          <a:prstGeom prst="rect">
            <a:avLst/>
          </a:prstGeom>
          <a:solidFill>
            <a:srgbClr val="FFFFFF"/>
          </a:solidFill>
          <a:ln>
            <a:solidFill>
              <a:srgbClr val="B8C4D3"/>
            </a:solidFill>
          </a:ln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loadCheckoutRequest</a:t>
            </a:r>
            <a:endParaRPr lang="en-US" sz="940" dirty="0"/>
          </a:p>
        </p:txBody>
      </p:sp>
      <p:sp>
        <p:nvSpPr>
          <p:cNvPr id="7" name="Text 5"/>
          <p:cNvSpPr/>
          <p:nvPr/>
        </p:nvSpPr>
        <p:spPr>
          <a:xfrm>
            <a:off x="594360" y="1520190"/>
            <a:ext cx="2011680" cy="325755"/>
          </a:xfrm>
          <a:prstGeom prst="rect">
            <a:avLst/>
          </a:prstGeom>
          <a:solidFill>
            <a:srgbClr val="FFFFFF"/>
          </a:solidFill>
          <a:ln>
            <a:solidFill>
              <a:srgbClr val="B8C4D3"/>
            </a:solidFill>
          </a:ln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call</a:t>
            </a:r>
            <a:endParaRPr lang="en-US" sz="940" dirty="0"/>
          </a:p>
        </p:txBody>
      </p:sp>
      <p:sp>
        <p:nvSpPr>
          <p:cNvPr id="8" name="Text 6"/>
          <p:cNvSpPr/>
          <p:nvPr/>
        </p:nvSpPr>
        <p:spPr>
          <a:xfrm>
            <a:off x="2606040" y="1520190"/>
            <a:ext cx="2011680" cy="325755"/>
          </a:xfrm>
          <a:prstGeom prst="rect">
            <a:avLst/>
          </a:prstGeom>
          <a:solidFill>
            <a:srgbClr val="FFFFFF"/>
          </a:solidFill>
          <a:ln>
            <a:solidFill>
              <a:srgbClr val="B8C4D3"/>
            </a:solidFill>
          </a:ln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loadCheckoutRequest(false)</a:t>
            </a:r>
            <a:endParaRPr lang="en-US" sz="940" dirty="0"/>
          </a:p>
        </p:txBody>
      </p:sp>
      <p:sp>
        <p:nvSpPr>
          <p:cNvPr id="9" name="Text 7"/>
          <p:cNvSpPr/>
          <p:nvPr/>
        </p:nvSpPr>
        <p:spPr>
          <a:xfrm>
            <a:off x="594360" y="1845945"/>
            <a:ext cx="2011680" cy="325755"/>
          </a:xfrm>
          <a:prstGeom prst="rect">
            <a:avLst/>
          </a:prstGeom>
          <a:solidFill>
            <a:srgbClr val="FFFFFF"/>
          </a:solidFill>
          <a:ln>
            <a:solidFill>
              <a:srgbClr val="B8C4D3"/>
            </a:solidFill>
          </a:ln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Awaited value</a:t>
            </a:r>
            <a:endParaRPr lang="en-US" sz="940" dirty="0"/>
          </a:p>
        </p:txBody>
      </p:sp>
      <p:sp>
        <p:nvSpPr>
          <p:cNvPr id="10" name="Text 8"/>
          <p:cNvSpPr/>
          <p:nvPr/>
        </p:nvSpPr>
        <p:spPr>
          <a:xfrm>
            <a:off x="2606040" y="1845945"/>
            <a:ext cx="2011680" cy="325755"/>
          </a:xfrm>
          <a:prstGeom prst="rect">
            <a:avLst/>
          </a:prstGeom>
          <a:solidFill>
            <a:srgbClr val="FFFFFF"/>
          </a:solidFill>
          <a:ln>
            <a:solidFill>
              <a:srgbClr val="B8C4D3"/>
            </a:solidFill>
          </a:ln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Checkout request object</a:t>
            </a:r>
            <a:endParaRPr lang="en-US" sz="940" dirty="0"/>
          </a:p>
        </p:txBody>
      </p:sp>
      <p:sp>
        <p:nvSpPr>
          <p:cNvPr id="11" name="Text 9"/>
          <p:cNvSpPr/>
          <p:nvPr/>
        </p:nvSpPr>
        <p:spPr>
          <a:xfrm>
            <a:off x="594360" y="2171700"/>
            <a:ext cx="2011680" cy="325755"/>
          </a:xfrm>
          <a:prstGeom prst="rect">
            <a:avLst/>
          </a:prstGeom>
          <a:solidFill>
            <a:srgbClr val="FFFFFF"/>
          </a:solidFill>
          <a:ln>
            <a:solidFill>
              <a:srgbClr val="B8C4D3"/>
            </a:solidFill>
          </a:ln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Destructured requester</a:t>
            </a:r>
            <a:endParaRPr lang="en-US" sz="940" dirty="0"/>
          </a:p>
        </p:txBody>
      </p:sp>
      <p:sp>
        <p:nvSpPr>
          <p:cNvPr id="12" name="Text 10"/>
          <p:cNvSpPr/>
          <p:nvPr/>
        </p:nvSpPr>
        <p:spPr>
          <a:xfrm>
            <a:off x="2606040" y="2171700"/>
            <a:ext cx="2011680" cy="325755"/>
          </a:xfrm>
          <a:prstGeom prst="rect">
            <a:avLst/>
          </a:prstGeom>
          <a:solidFill>
            <a:srgbClr val="FFFFFF"/>
          </a:solidFill>
          <a:ln>
            <a:solidFill>
              <a:srgbClr val="B8C4D3"/>
            </a:solidFill>
          </a:ln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"Naveen Rao"</a:t>
            </a:r>
            <a:endParaRPr lang="en-US" sz="940" dirty="0"/>
          </a:p>
        </p:txBody>
      </p:sp>
      <p:sp>
        <p:nvSpPr>
          <p:cNvPr id="13" name="Text 11"/>
          <p:cNvSpPr/>
          <p:nvPr/>
        </p:nvSpPr>
        <p:spPr>
          <a:xfrm>
            <a:off x="594360" y="2497455"/>
            <a:ext cx="2011680" cy="325755"/>
          </a:xfrm>
          <a:prstGeom prst="rect">
            <a:avLst/>
          </a:prstGeom>
          <a:solidFill>
            <a:srgbClr val="FFFFFF"/>
          </a:solidFill>
          <a:ln>
            <a:solidFill>
              <a:srgbClr val="B8C4D3"/>
            </a:solidFill>
          </a:ln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 status</a:t>
            </a:r>
            <a:endParaRPr lang="en-US" sz="940" dirty="0"/>
          </a:p>
        </p:txBody>
      </p:sp>
      <p:sp>
        <p:nvSpPr>
          <p:cNvPr id="14" name="Text 12"/>
          <p:cNvSpPr/>
          <p:nvPr/>
        </p:nvSpPr>
        <p:spPr>
          <a:xfrm>
            <a:off x="2606040" y="2497455"/>
            <a:ext cx="2011680" cy="325755"/>
          </a:xfrm>
          <a:prstGeom prst="rect">
            <a:avLst/>
          </a:prstGeom>
          <a:solidFill>
            <a:srgbClr val="FFFFFF"/>
          </a:solidFill>
          <a:ln>
            <a:solidFill>
              <a:srgbClr val="B8C4D3"/>
            </a:solidFill>
          </a:ln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"Pending"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2823210"/>
            <a:ext cx="2011680" cy="325755"/>
          </a:xfrm>
          <a:prstGeom prst="rect">
            <a:avLst/>
          </a:prstGeom>
          <a:solidFill>
            <a:srgbClr val="FFFFFF"/>
          </a:solidFill>
          <a:ln>
            <a:solidFill>
              <a:srgbClr val="B8C4D3"/>
            </a:solidFill>
          </a:ln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Copied status</a:t>
            </a:r>
            <a:endParaRPr lang="en-US" sz="940" dirty="0"/>
          </a:p>
        </p:txBody>
      </p:sp>
      <p:sp>
        <p:nvSpPr>
          <p:cNvPr id="16" name="Text 14"/>
          <p:cNvSpPr/>
          <p:nvPr/>
        </p:nvSpPr>
        <p:spPr>
          <a:xfrm>
            <a:off x="2606040" y="2823210"/>
            <a:ext cx="2011680" cy="325755"/>
          </a:xfrm>
          <a:prstGeom prst="rect">
            <a:avLst/>
          </a:prstGeom>
          <a:solidFill>
            <a:srgbClr val="FFFFFF"/>
          </a:solidFill>
          <a:ln>
            <a:solidFill>
              <a:srgbClr val="B8C4D3"/>
            </a:solidFill>
          </a:ln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"Approved"</a:t>
            </a:r>
            <a:endParaRPr lang="en-US" sz="940" dirty="0"/>
          </a:p>
        </p:txBody>
      </p:sp>
      <p:sp>
        <p:nvSpPr>
          <p:cNvPr id="17" name="Text 15"/>
          <p:cNvSpPr/>
          <p:nvPr/>
        </p:nvSpPr>
        <p:spPr>
          <a:xfrm>
            <a:off x="594360" y="3148965"/>
            <a:ext cx="2011680" cy="325755"/>
          </a:xfrm>
          <a:prstGeom prst="rect">
            <a:avLst/>
          </a:prstGeom>
          <a:solidFill>
            <a:srgbClr val="FFFFFF"/>
          </a:solidFill>
          <a:ln>
            <a:solidFill>
              <a:srgbClr val="B8C4D3"/>
            </a:solidFill>
          </a:ln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message</a:t>
            </a:r>
            <a:endParaRPr lang="en-US" sz="940" dirty="0"/>
          </a:p>
        </p:txBody>
      </p:sp>
      <p:sp>
        <p:nvSpPr>
          <p:cNvPr id="18" name="Text 16"/>
          <p:cNvSpPr/>
          <p:nvPr/>
        </p:nvSpPr>
        <p:spPr>
          <a:xfrm>
            <a:off x="2606040" y="3148965"/>
            <a:ext cx="2011680" cy="325755"/>
          </a:xfrm>
          <a:prstGeom prst="rect">
            <a:avLst/>
          </a:prstGeom>
          <a:solidFill>
            <a:srgbClr val="FFFFFF"/>
          </a:solidFill>
          <a:ln>
            <a:solidFill>
              <a:srgbClr val="B8C4D3"/>
            </a:solidFill>
          </a:ln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Checkout request loaded</a:t>
            </a:r>
            <a:endParaRPr lang="en-US" sz="940" dirty="0"/>
          </a:p>
        </p:txBody>
      </p:sp>
      <p:sp>
        <p:nvSpPr>
          <p:cNvPr id="19" name="Text 17"/>
          <p:cNvSpPr/>
          <p:nvPr/>
        </p:nvSpPr>
        <p:spPr>
          <a:xfrm>
            <a:off x="4800600" y="868680"/>
            <a:ext cx="1851660" cy="335280"/>
          </a:xfrm>
          <a:prstGeom prst="rect">
            <a:avLst/>
          </a:prstGeom>
          <a:solidFill>
            <a:srgbClr val="DDEBFF"/>
          </a:solidFill>
          <a:ln>
            <a:solidFill>
              <a:srgbClr val="B8C4D3"/>
            </a:solidFill>
          </a:ln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path</a:t>
            </a:r>
            <a:endParaRPr lang="en-US" sz="960" dirty="0"/>
          </a:p>
        </p:txBody>
      </p:sp>
      <p:sp>
        <p:nvSpPr>
          <p:cNvPr id="20" name="Text 18"/>
          <p:cNvSpPr/>
          <p:nvPr/>
        </p:nvSpPr>
        <p:spPr>
          <a:xfrm>
            <a:off x="6652260" y="868680"/>
            <a:ext cx="1851660" cy="335280"/>
          </a:xfrm>
          <a:prstGeom prst="rect">
            <a:avLst/>
          </a:prstGeom>
          <a:solidFill>
            <a:srgbClr val="DDEBFF"/>
          </a:solidFill>
          <a:ln>
            <a:solidFill>
              <a:srgbClr val="B8C4D3"/>
            </a:solidFill>
          </a:ln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or action</a:t>
            </a:r>
            <a:endParaRPr lang="en-US" sz="960" dirty="0"/>
          </a:p>
        </p:txBody>
      </p:sp>
      <p:sp>
        <p:nvSpPr>
          <p:cNvPr id="21" name="Text 19"/>
          <p:cNvSpPr/>
          <p:nvPr/>
        </p:nvSpPr>
        <p:spPr>
          <a:xfrm>
            <a:off x="4800600" y="1203960"/>
            <a:ext cx="1851660" cy="335280"/>
          </a:xfrm>
          <a:prstGeom prst="rect">
            <a:avLst/>
          </a:prstGeom>
          <a:solidFill>
            <a:srgbClr val="FFFFFF"/>
          </a:solidFill>
          <a:ln>
            <a:solidFill>
              <a:srgbClr val="B8C4D3"/>
            </a:solidFill>
          </a:ln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call</a:t>
            </a:r>
            <a:endParaRPr lang="en-US" sz="960" dirty="0"/>
          </a:p>
        </p:txBody>
      </p:sp>
      <p:sp>
        <p:nvSpPr>
          <p:cNvPr id="22" name="Text 20"/>
          <p:cNvSpPr/>
          <p:nvPr/>
        </p:nvSpPr>
        <p:spPr>
          <a:xfrm>
            <a:off x="6652260" y="1203960"/>
            <a:ext cx="1851660" cy="335280"/>
          </a:xfrm>
          <a:prstGeom prst="rect">
            <a:avLst/>
          </a:prstGeom>
          <a:solidFill>
            <a:srgbClr val="FFFFFF"/>
          </a:solidFill>
          <a:ln>
            <a:solidFill>
              <a:srgbClr val="B8C4D3"/>
            </a:solidFill>
          </a:ln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loadCheckoutRequest(true)</a:t>
            </a:r>
            <a:endParaRPr lang="en-US" sz="960" dirty="0"/>
          </a:p>
        </p:txBody>
      </p:sp>
      <p:sp>
        <p:nvSpPr>
          <p:cNvPr id="23" name="Text 21"/>
          <p:cNvSpPr/>
          <p:nvPr/>
        </p:nvSpPr>
        <p:spPr>
          <a:xfrm>
            <a:off x="4800600" y="1539240"/>
            <a:ext cx="1851660" cy="335280"/>
          </a:xfrm>
          <a:prstGeom prst="rect">
            <a:avLst/>
          </a:prstGeom>
          <a:solidFill>
            <a:srgbClr val="FFFFFF"/>
          </a:solidFill>
          <a:ln>
            <a:solidFill>
              <a:srgbClr val="B8C4D3"/>
            </a:solidFill>
          </a:ln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Promise result</a:t>
            </a:r>
            <a:endParaRPr lang="en-US" sz="960" dirty="0"/>
          </a:p>
        </p:txBody>
      </p:sp>
      <p:sp>
        <p:nvSpPr>
          <p:cNvPr id="24" name="Text 22"/>
          <p:cNvSpPr/>
          <p:nvPr/>
        </p:nvSpPr>
        <p:spPr>
          <a:xfrm>
            <a:off x="6652260" y="1539240"/>
            <a:ext cx="1851660" cy="335280"/>
          </a:xfrm>
          <a:prstGeom prst="rect">
            <a:avLst/>
          </a:prstGeom>
          <a:solidFill>
            <a:srgbClr val="FFFFFF"/>
          </a:solidFill>
          <a:ln>
            <a:solidFill>
              <a:srgbClr val="B8C4D3"/>
            </a:solidFill>
          </a:ln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Rejected</a:t>
            </a:r>
            <a:endParaRPr lang="en-US" sz="960" dirty="0"/>
          </a:p>
        </p:txBody>
      </p:sp>
      <p:sp>
        <p:nvSpPr>
          <p:cNvPr id="25" name="Text 23"/>
          <p:cNvSpPr/>
          <p:nvPr/>
        </p:nvSpPr>
        <p:spPr>
          <a:xfrm>
            <a:off x="4800600" y="1874520"/>
            <a:ext cx="1851660" cy="335280"/>
          </a:xfrm>
          <a:prstGeom prst="rect">
            <a:avLst/>
          </a:prstGeom>
          <a:solidFill>
            <a:srgbClr val="FFFFFF"/>
          </a:solidFill>
          <a:ln>
            <a:solidFill>
              <a:srgbClr val="B8C4D3"/>
            </a:solidFill>
          </a:ln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Remaining try statements</a:t>
            </a:r>
            <a:endParaRPr lang="en-US" sz="960" dirty="0"/>
          </a:p>
        </p:txBody>
      </p:sp>
      <p:sp>
        <p:nvSpPr>
          <p:cNvPr id="26" name="Text 24"/>
          <p:cNvSpPr/>
          <p:nvPr/>
        </p:nvSpPr>
        <p:spPr>
          <a:xfrm>
            <a:off x="6652260" y="1874520"/>
            <a:ext cx="1851660" cy="335280"/>
          </a:xfrm>
          <a:prstGeom prst="rect">
            <a:avLst/>
          </a:prstGeom>
          <a:solidFill>
            <a:srgbClr val="FFFFFF"/>
          </a:solidFill>
          <a:ln>
            <a:solidFill>
              <a:srgbClr val="B8C4D3"/>
            </a:solidFill>
          </a:ln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Skipped</a:t>
            </a:r>
            <a:endParaRPr lang="en-US" sz="960" dirty="0"/>
          </a:p>
        </p:txBody>
      </p:sp>
      <p:sp>
        <p:nvSpPr>
          <p:cNvPr id="27" name="Text 25"/>
          <p:cNvSpPr/>
          <p:nvPr/>
        </p:nvSpPr>
        <p:spPr>
          <a:xfrm>
            <a:off x="4800600" y="2209800"/>
            <a:ext cx="1851660" cy="335280"/>
          </a:xfrm>
          <a:prstGeom prst="rect">
            <a:avLst/>
          </a:prstGeom>
          <a:solidFill>
            <a:srgbClr val="FFFFFF"/>
          </a:solidFill>
          <a:ln>
            <a:solidFill>
              <a:srgbClr val="B8C4D3"/>
            </a:solidFill>
          </a:ln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handler</a:t>
            </a:r>
            <a:endParaRPr lang="en-US" sz="960" dirty="0"/>
          </a:p>
        </p:txBody>
      </p:sp>
      <p:sp>
        <p:nvSpPr>
          <p:cNvPr id="28" name="Text 26"/>
          <p:cNvSpPr/>
          <p:nvPr/>
        </p:nvSpPr>
        <p:spPr>
          <a:xfrm>
            <a:off x="6652260" y="2209800"/>
            <a:ext cx="1851660" cy="335280"/>
          </a:xfrm>
          <a:prstGeom prst="rect">
            <a:avLst/>
          </a:prstGeom>
          <a:solidFill>
            <a:srgbClr val="FFFFFF"/>
          </a:solidFill>
          <a:ln>
            <a:solidFill>
              <a:srgbClr val="B8C4D3"/>
            </a:solidFill>
          </a:ln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catch (error)</a:t>
            </a:r>
            <a:endParaRPr lang="en-US" sz="960" dirty="0"/>
          </a:p>
        </p:txBody>
      </p:sp>
      <p:sp>
        <p:nvSpPr>
          <p:cNvPr id="29" name="Text 27"/>
          <p:cNvSpPr/>
          <p:nvPr/>
        </p:nvSpPr>
        <p:spPr>
          <a:xfrm>
            <a:off x="4800600" y="2545080"/>
            <a:ext cx="1851660" cy="335280"/>
          </a:xfrm>
          <a:prstGeom prst="rect">
            <a:avLst/>
          </a:prstGeom>
          <a:solidFill>
            <a:srgbClr val="FFFFFF"/>
          </a:solidFill>
          <a:ln>
            <a:solidFill>
              <a:srgbClr val="B8C4D3"/>
            </a:solidFill>
          </a:ln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message</a:t>
            </a:r>
            <a:endParaRPr lang="en-US" sz="960" dirty="0"/>
          </a:p>
        </p:txBody>
      </p:sp>
      <p:sp>
        <p:nvSpPr>
          <p:cNvPr id="30" name="Text 28"/>
          <p:cNvSpPr/>
          <p:nvPr/>
        </p:nvSpPr>
        <p:spPr>
          <a:xfrm>
            <a:off x="6652260" y="2545080"/>
            <a:ext cx="1851660" cy="335280"/>
          </a:xfrm>
          <a:prstGeom prst="rect">
            <a:avLst/>
          </a:prstGeom>
          <a:solidFill>
            <a:srgbClr val="FFFFFF"/>
          </a:solidFill>
          <a:ln>
            <a:solidFill>
              <a:srgbClr val="B8C4D3"/>
            </a:solidFill>
          </a:ln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Checkout request could not be loaded</a:t>
            </a:r>
            <a:endParaRPr lang="en-US" sz="960" dirty="0"/>
          </a:p>
        </p:txBody>
      </p:sp>
      <p:sp>
        <p:nvSpPr>
          <p:cNvPr id="31" name="Text 29"/>
          <p:cNvSpPr/>
          <p:nvPr/>
        </p:nvSpPr>
        <p:spPr>
          <a:xfrm>
            <a:off x="4800600" y="3246120"/>
            <a:ext cx="3703320" cy="868680"/>
          </a:xfrm>
          <a:prstGeom prst="rect">
            <a:avLst/>
          </a:prstGeom>
          <a:solidFill>
            <a:srgbClr val="DCF5E5"/>
          </a:solidFill>
          <a:ln>
            <a:solidFill>
              <a:srgbClr val="B8C4D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named imports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async and await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object destructuring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object spread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try and catch</a:t>
            </a:r>
            <a:endParaRPr lang="en-US" sz="112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1965960"/>
            <a:ext cx="69494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 clinic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1645920" y="2542032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the cause before changing the code</a:t>
            </a:r>
            <a:endParaRPr lang="en-US" sz="135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imported name does not exist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3794760" cy="3063240"/>
          </a:xfrm>
          <a:prstGeom prst="rect">
            <a:avLst/>
          </a:prstGeom>
          <a:solidFill>
            <a:srgbClr val="0F172A"/>
          </a:solidFill>
          <a:ln w="8890">
            <a:solidFill>
              <a:srgbClr val="334155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profile-utils.js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function formatProfileTheme(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theme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`Theme: ${theme}`;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app.js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formatTheme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from "./profile-utils.js";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617720" y="841248"/>
            <a:ext cx="388620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caused the problem?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617720" y="1234440"/>
            <a:ext cx="3886200" cy="2514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A. Named exports cannot contain functions.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B. The imported name does not match the exported name.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C. The module path must omit the .js extension.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D. formatProfileTheme must be called inside the import statement.</a:t>
            </a:r>
            <a:endParaRPr lang="en-US" sz="1070" dirty="0"/>
          </a:p>
        </p:txBody>
      </p:sp>
      <p:sp>
        <p:nvSpPr>
          <p:cNvPr id="6" name="Text 4"/>
          <p:cNvSpPr/>
          <p:nvPr/>
        </p:nvSpPr>
        <p:spPr>
          <a:xfrm>
            <a:off x="685800" y="3950208"/>
            <a:ext cx="7726680" cy="822960"/>
          </a:xfrm>
          <a:prstGeom prst="rect">
            <a:avLst/>
          </a:prstGeom>
          <a:solidFill>
            <a:srgbClr val="DCF5E5"/>
          </a:solidFill>
          <a:ln>
            <a:solidFill>
              <a:srgbClr val="A7D8B6"/>
            </a:solidFill>
          </a:ln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B</a:t>
            </a:r>
            <a:endParaRPr lang="en-US" sz="1040" dirty="0"/>
          </a:p>
          <a:p>
            <a:pPr algn="l" indent="0" marL="0">
              <a:buNone/>
            </a:pPr>
            <a:r>
              <a:rPr lang="en-US" sz="104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module exports formatProfileTheme, but app.js requests formatTheme. Correct import: import { formatProfileTheme } from "./profile-utils.js";</a:t>
            </a:r>
            <a:endParaRPr lang="en-US" sz="104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next stage receives undefined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3794760" cy="3063240"/>
          </a:xfrm>
          <a:prstGeom prst="rect">
            <a:avLst/>
          </a:prstGeom>
          <a:solidFill>
            <a:srgbClr val="0F172A"/>
          </a:solidFill>
          <a:ln w="8890">
            <a:solidFill>
              <a:srgbClr val="334155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loadProfile()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.then(profile =&gt; {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updatedProfile = {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...profile,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theme: "Dark"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};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.then(updatedProfile =&gt; {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console.log(updatedProfile);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profileStatus.textContent =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updatedProfile.theme;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870" dirty="0"/>
          </a:p>
        </p:txBody>
      </p:sp>
      <p:sp>
        <p:nvSpPr>
          <p:cNvPr id="4" name="Text 2"/>
          <p:cNvSpPr/>
          <p:nvPr/>
        </p:nvSpPr>
        <p:spPr>
          <a:xfrm>
            <a:off x="4617720" y="841248"/>
            <a:ext cx="388620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missing from the first callback?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617720" y="1234440"/>
            <a:ext cx="3886200" cy="2514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A. await loadProfile()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B. return updatedProfile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C. catch (updatedProfile)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D. export updatedProfile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85800" y="3950208"/>
            <a:ext cx="7726680" cy="822960"/>
          </a:xfrm>
          <a:prstGeom prst="rect">
            <a:avLst/>
          </a:prstGeom>
          <a:solidFill>
            <a:srgbClr val="DCF5E5"/>
          </a:solidFill>
          <a:ln>
            <a:solidFill>
              <a:srgbClr val="A7D8B6"/>
            </a:solidFill>
          </a:ln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B</a:t>
            </a:r>
            <a:endParaRPr lang="en-US" sz="1040" dirty="0"/>
          </a:p>
          <a:p>
            <a:pPr algn="l" indent="0" marL="0">
              <a:buNone/>
            </a:pPr>
            <a:r>
              <a:rPr lang="en-US" sz="104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callback uses a block body but does not return the new object. The next callback receives undefined.</a:t>
            </a:r>
            <a:endParaRPr lang="en-US" sz="104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await is outside an async function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3794760" cy="3063240"/>
          </a:xfrm>
          <a:prstGeom prst="rect">
            <a:avLst/>
          </a:prstGeom>
          <a:solidFill>
            <a:srgbClr val="0F172A"/>
          </a:solidFill>
          <a:ln w="8890">
            <a:solidFill>
              <a:srgbClr val="334155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showProfile()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profile =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loadProfile();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renderProfile(profile);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617720" y="841248"/>
            <a:ext cx="388620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correction is required?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617720" y="1234440"/>
            <a:ext cx="3886200" cy="2514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A. Add async before the function declaration.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B. Add .then() after renderProfile.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C. Move await into loadProfile.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D. Replace const with let.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85800" y="4005072"/>
            <a:ext cx="7726680" cy="822960"/>
          </a:xfrm>
          <a:prstGeom prst="rect">
            <a:avLst/>
          </a:prstGeom>
          <a:solidFill>
            <a:srgbClr val="DCF5E5"/>
          </a:solidFill>
          <a:ln>
            <a:solidFill>
              <a:srgbClr val="A7D8B6"/>
            </a:solidFill>
          </a:ln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A</a:t>
            </a:r>
            <a:endParaRPr lang="en-US" sz="1040" dirty="0"/>
          </a:p>
          <a:p>
            <a:pPr algn="l" indent="0" marL="0">
              <a:buNone/>
            </a:pPr>
            <a:r>
              <a:rPr lang="en-US" sz="104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this lecture’s browser code, await is used inside an async function.</a:t>
            </a:r>
            <a:endParaRPr lang="en-US" sz="104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the complete Lecture 14 flow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594360" y="868680"/>
            <a:ext cx="2514600" cy="1920240"/>
          </a:xfrm>
          <a:prstGeom prst="roundRect">
            <a:avLst>
              <a:gd name="adj" fmla="val 3810"/>
            </a:avLst>
          </a:prstGeom>
          <a:solidFill>
            <a:srgbClr val="E5F0FF"/>
          </a:solidFill>
          <a:ln w="7620">
            <a:solidFill>
              <a:srgbClr val="B8C4D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94183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data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704088" y="1234440"/>
            <a:ext cx="2295144" cy="1481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 destructuring reads by property name.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Array destructuring reads by position.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Spread expands values into a new array or object.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collects remaining values.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310128" y="868680"/>
            <a:ext cx="2514600" cy="1920240"/>
          </a:xfrm>
          <a:prstGeom prst="roundRect">
            <a:avLst>
              <a:gd name="adj" fmla="val 3810"/>
            </a:avLst>
          </a:prstGeom>
          <a:solidFill>
            <a:srgbClr val="FFF4C2"/>
          </a:solidFill>
          <a:ln w="7620">
            <a:solidFill>
              <a:srgbClr val="B8C4D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01568" y="94183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 modules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419856" y="1234440"/>
            <a:ext cx="2295144" cy="1481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exporting module exposes a binding.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named import uses braces and the exact exported name.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modules run through a module entry point and Live Server.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016752" y="868680"/>
            <a:ext cx="2514600" cy="1920240"/>
          </a:xfrm>
          <a:prstGeom prst="roundRect">
            <a:avLst>
              <a:gd name="adj" fmla="val 3810"/>
            </a:avLst>
          </a:prstGeom>
          <a:solidFill>
            <a:srgbClr val="DCF5E5"/>
          </a:solidFill>
          <a:ln w="7620">
            <a:solidFill>
              <a:srgbClr val="B8C4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08192" y="94183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Asynchronous results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126480" y="1234440"/>
            <a:ext cx="2295144" cy="1481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Promise represents later completion or failure.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.then() receives a fulfilled value.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Callback returns feed the next stage.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await receives the fulfilled value inside an async function.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catch handles rejection.</a:t>
            </a:r>
            <a:endParaRPr lang="en-US" sz="960" dirty="0"/>
          </a:p>
        </p:txBody>
      </p:sp>
      <p:sp>
        <p:nvSpPr>
          <p:cNvPr id="12" name="Text 10"/>
          <p:cNvSpPr/>
          <p:nvPr/>
        </p:nvSpPr>
        <p:spPr>
          <a:xfrm>
            <a:off x="777240" y="3246120"/>
            <a:ext cx="5029200" cy="960120"/>
          </a:xfrm>
          <a:prstGeom prst="rect">
            <a:avLst/>
          </a:prstGeom>
          <a:solidFill>
            <a:srgbClr val="0F172A"/>
          </a:solidFill>
          <a:ln w="8890">
            <a:solidFill>
              <a:srgbClr val="334155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 destructuring uses __________.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 destructuring uses __________.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Spread __________ values.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 __________ values.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rejected awaited Promise moves to __________.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6126480" y="3291840"/>
            <a:ext cx="2240280" cy="731520"/>
          </a:xfrm>
          <a:prstGeom prst="rect">
            <a:avLst/>
          </a:prstGeom>
          <a:solidFill>
            <a:srgbClr val="DCF5E5"/>
          </a:solidFill>
          <a:ln>
            <a:solidFill>
              <a:srgbClr val="A7D8B6"/>
            </a:solidFill>
          </a:ln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property names · positions · expands · collects · catch block</a:t>
            </a:r>
            <a:endParaRPr lang="en-US" sz="11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Homework: Build a maintenance request tracker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594360" y="868680"/>
            <a:ext cx="3063240" cy="2651760"/>
          </a:xfrm>
          <a:prstGeom prst="roundRect">
            <a:avLst>
              <a:gd name="adj" fmla="val 2759"/>
            </a:avLst>
          </a:prstGeom>
          <a:solidFill>
            <a:srgbClr val="E5F0FF"/>
          </a:solidFill>
          <a:ln w="7620">
            <a:solidFill>
              <a:srgbClr val="B8C4D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941832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maintenance request tracker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704088" y="1234440"/>
            <a:ext cx="2843784" cy="2212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effort: 45 to 60 minutes</a:t>
            </a:r>
            <a:endParaRPr lang="en-US" sz="1080" dirty="0"/>
          </a:p>
          <a:p>
            <a:pPr indent="0" marL="0">
              <a:buNone/>
            </a:pP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files: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index.html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app.js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maintenance-service.js</a:t>
            </a:r>
            <a:endParaRPr lang="en-US" sz="1080" dirty="0"/>
          </a:p>
          <a:p>
            <a:pPr indent="0" marL="0">
              <a:buNone/>
            </a:pP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only inside marked sections of app.js. Run with Live Server.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3886200" y="868680"/>
            <a:ext cx="4480560" cy="1234440"/>
          </a:xfrm>
          <a:prstGeom prst="rect">
            <a:avLst/>
          </a:prstGeom>
          <a:solidFill>
            <a:srgbClr val="FFF4C2"/>
          </a:solidFill>
          <a:ln>
            <a:solidFill>
              <a:srgbClr val="B8C4D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display a loading state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load the request through a prepared Promise service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display a scheduled copy when loading succeeds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display an error state when loading fails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886200" y="2331720"/>
            <a:ext cx="2240280" cy="1417320"/>
          </a:xfrm>
          <a:prstGeom prst="roundRect">
            <a:avLst>
              <a:gd name="adj" fmla="val 5161"/>
            </a:avLst>
          </a:prstGeom>
          <a:solidFill>
            <a:srgbClr val="DCF5E5"/>
          </a:solidFill>
          <a:ln w="7620">
            <a:solidFill>
              <a:srgbClr val="B8C4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77640" y="2404872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success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995928" y="2697480"/>
            <a:ext cx="2020824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MT-3185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Resident: Devika Sen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Area: Kitchen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Issue: Tap leak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Priority: Medium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Status: Scheduled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6309360" y="2331720"/>
            <a:ext cx="2057400" cy="685800"/>
          </a:xfrm>
          <a:prstGeom prst="roundRect">
            <a:avLst>
              <a:gd name="adj" fmla="val 10667"/>
            </a:avLst>
          </a:prstGeom>
          <a:solidFill>
            <a:srgbClr val="FFE4E6"/>
          </a:solidFill>
          <a:ln w="7620">
            <a:solidFill>
              <a:srgbClr val="B8C4D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2404872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failure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19088" y="2697480"/>
            <a:ext cx="1837944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 request could not be loaded</a:t>
            </a:r>
            <a:endParaRPr lang="en-US" sz="106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Homework implementation requirements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594360" y="868680"/>
            <a:ext cx="2514600" cy="868680"/>
          </a:xfrm>
          <a:prstGeom prst="roundRect">
            <a:avLst>
              <a:gd name="adj" fmla="val 8421"/>
            </a:avLst>
          </a:prstGeom>
          <a:solidFill>
            <a:srgbClr val="E5F0FF"/>
          </a:solidFill>
          <a:ln w="7620">
            <a:solidFill>
              <a:srgbClr val="B8C4D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94183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the service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704088" y="1234440"/>
            <a:ext cx="2295144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loadMaintenanceRequest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./maintenance-service.js</a:t>
            </a:r>
            <a:endParaRPr lang="en-US" sz="1030" dirty="0"/>
          </a:p>
        </p:txBody>
      </p:sp>
      <p:sp>
        <p:nvSpPr>
          <p:cNvPr id="6" name="Shape 4"/>
          <p:cNvSpPr/>
          <p:nvPr/>
        </p:nvSpPr>
        <p:spPr>
          <a:xfrm>
            <a:off x="3310128" y="86868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FFF4C2"/>
          </a:solidFill>
          <a:ln w="7620">
            <a:solidFill>
              <a:srgbClr val="B8C4D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01568" y="94183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the request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419856" y="1234440"/>
            <a:ext cx="229514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or complete async showMaintenanceRequest(shouldFail).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 Loading maintenance request...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Await the prepared service inside try.</a:t>
            </a:r>
            <a:endParaRPr lang="en-US" sz="960" dirty="0"/>
          </a:p>
        </p:txBody>
      </p:sp>
      <p:sp>
        <p:nvSpPr>
          <p:cNvPr id="9" name="Shape 7"/>
          <p:cNvSpPr/>
          <p:nvPr/>
        </p:nvSpPr>
        <p:spPr>
          <a:xfrm>
            <a:off x="6016752" y="868680"/>
            <a:ext cx="2514600" cy="868680"/>
          </a:xfrm>
          <a:prstGeom prst="roundRect">
            <a:avLst>
              <a:gd name="adj" fmla="val 8421"/>
            </a:avLst>
          </a:prstGeom>
          <a:solidFill>
            <a:srgbClr val="E5F0FF"/>
          </a:solidFill>
          <a:ln w="7620">
            <a:solidFill>
              <a:srgbClr val="B8C4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08192" y="94183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the values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126480" y="1234440"/>
            <a:ext cx="2295144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Destructure requestId, resident, area, issue, priority, status.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77240" y="2514600"/>
            <a:ext cx="3520440" cy="1005840"/>
          </a:xfrm>
          <a:prstGeom prst="rect">
            <a:avLst/>
          </a:prstGeom>
          <a:solidFill>
            <a:srgbClr val="0F172A"/>
          </a:solidFill>
          <a:ln w="8890">
            <a:solidFill>
              <a:srgbClr val="334155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scheduledRequest =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...request,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status: "Scheduled"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17720" y="2514600"/>
            <a:ext cx="3749040" cy="1005840"/>
          </a:xfrm>
          <a:prstGeom prst="roundRect">
            <a:avLst>
              <a:gd name="adj" fmla="val 7273"/>
            </a:avLst>
          </a:prstGeom>
          <a:solidFill>
            <a:srgbClr val="DCF5E5"/>
          </a:solidFill>
          <a:ln w="7620">
            <a:solidFill>
              <a:srgbClr val="B8C4D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258775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 both results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727448" y="2880360"/>
            <a:ext cx="3529584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Success: Maintenance request loaded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Failure: Maintenance request could not be loaded</a:t>
            </a:r>
            <a:endParaRPr lang="en-US" sz="11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Homework completion and submission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94360" y="868680"/>
            <a:ext cx="3977640" cy="2514600"/>
          </a:xfrm>
          <a:prstGeom prst="rect">
            <a:avLst/>
          </a:prstGeom>
          <a:solidFill>
            <a:srgbClr val="DCF5E5"/>
          </a:solidFill>
          <a:ln>
            <a:solidFill>
              <a:srgbClr val="B8C4D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page runs through Live Server.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named import works without a module error.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success control displays the scheduled request.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original request status remains Reported.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displayed copy uses Scheduled.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failure control displays the required error state.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undefined value appears.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unhandled rejection appears in the console.</a:t>
            </a:r>
            <a:endParaRPr lang="en-US" sz="970" dirty="0"/>
          </a:p>
        </p:txBody>
      </p:sp>
      <p:sp>
        <p:nvSpPr>
          <p:cNvPr id="4" name="Shape 2"/>
          <p:cNvSpPr/>
          <p:nvPr/>
        </p:nvSpPr>
        <p:spPr>
          <a:xfrm>
            <a:off x="4800600" y="868680"/>
            <a:ext cx="3657600" cy="2011680"/>
          </a:xfrm>
          <a:prstGeom prst="roundRect">
            <a:avLst>
              <a:gd name="adj" fmla="val 3636"/>
            </a:avLst>
          </a:prstGeom>
          <a:solidFill>
            <a:srgbClr val="E5F0FF"/>
          </a:solidFill>
          <a:ln w="7620">
            <a:solidFill>
              <a:srgbClr val="B8C4D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892040" y="94183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910328" y="1234440"/>
            <a:ext cx="3438144" cy="1572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index.html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app.js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maintenance-service.js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successful scheduled request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service failure state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Folder: lecture-14-maintenance-request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800600" y="3246120"/>
            <a:ext cx="3657600" cy="731520"/>
          </a:xfrm>
          <a:prstGeom prst="rect">
            <a:avLst/>
          </a:prstGeom>
          <a:solidFill>
            <a:srgbClr val="0F172A"/>
          </a:solidFill>
          <a:ln w="8890">
            <a:solidFill>
              <a:srgbClr val="334155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showMaintenanceRequest(false);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showMaintenanceRequest(true);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800600" y="4023360"/>
            <a:ext cx="365760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one result at a time. Do not leave both calls running together in the final application.</a:t>
            </a:r>
            <a:endParaRPr lang="en-US" sz="105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TypeScript fundamentals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777240" y="1143000"/>
            <a:ext cx="3017520" cy="548640"/>
          </a:xfrm>
          <a:prstGeom prst="rect">
            <a:avLst/>
          </a:prstGeom>
          <a:solidFill>
            <a:srgbClr val="0F172A"/>
          </a:solidFill>
          <a:ln w="8890">
            <a:solidFill>
              <a:srgbClr val="334155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priority = "High";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77240" y="1874520"/>
            <a:ext cx="3017520" cy="822960"/>
          </a:xfrm>
          <a:prstGeom prst="roundRect">
            <a:avLst>
              <a:gd name="adj" fmla="val 8889"/>
            </a:avLst>
          </a:prstGeom>
          <a:solidFill>
            <a:srgbClr val="E5F0FF"/>
          </a:solidFill>
          <a:ln w="7620">
            <a:solidFill>
              <a:srgbClr val="B8C4D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94767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 today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886968" y="2240280"/>
            <a:ext cx="279806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 stores and uses values at runtime.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0" y="1143000"/>
            <a:ext cx="3474720" cy="914400"/>
          </a:xfrm>
          <a:prstGeom prst="roundRect">
            <a:avLst>
              <a:gd name="adj" fmla="val 8000"/>
            </a:avLst>
          </a:prstGeom>
          <a:solidFill>
            <a:srgbClr val="FFF4C2"/>
          </a:solidFill>
          <a:ln w="7620">
            <a:solidFill>
              <a:srgbClr val="B8C4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121615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 next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681728" y="1508760"/>
            <a:ext cx="3255264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 begins adding explicit information about the values our code expects.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0" y="2423160"/>
            <a:ext cx="3474720" cy="1234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TypeScript setup and purpose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basic type annotations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arrays and tuples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union and literal types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type inference and explicit types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14400" y="3886200"/>
            <a:ext cx="731520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14 remains JavaScript. No TypeScript syntax is required for today’s activity or homework.</a:t>
            </a:r>
            <a:endParaRPr lang="en-US" sz="1250" dirty="0"/>
          </a:p>
          <a:p>
            <a:pPr algn="ctr" indent="0" marL="0">
              <a:buNone/>
            </a:pP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questions?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73</Slides>
  <Notes>73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73</vt:i4>
      </vt:variant>
    </vt:vector>
  </HeadingPairs>
  <TitlesOfParts>
    <vt:vector size="7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</vt:vector>
  </TitlesOfParts>
  <Company>GUVI / HCL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14: Advanced JavaScript patterns</dc:title>
  <dc:subject>FSD MERN Plus AI Lecture 14</dc:subject>
  <dc:creator>OpenAI</dc:creator>
  <cp:lastModifiedBy>OpenAI</cp:lastModifiedBy>
  <cp:revision>1</cp:revision>
  <dcterms:created xsi:type="dcterms:W3CDTF">2026-07-25T21:03:36Z</dcterms:created>
  <dcterms:modified xsi:type="dcterms:W3CDTF">2026-07-25T21:03:36Z</dcterms:modified>
</cp:coreProperties>
</file>