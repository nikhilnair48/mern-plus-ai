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Sources,https://developer.mozilla.org/en-US/docs/Web/API/Document_Object_Model/Introduction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Sources,https://developer.mozilla.org/en-US/docs/Web/API/Document/getElementById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Sources,https://developer.mozilla.org/en-US/docs/Web/API/Document/querySelector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Sources,https://developer.mozilla.org/en-US/docs/Web/API/EventTarget/addEventListener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Sources,https://developer.mozilla.org/en-US/docs/Web/API/Event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Sources,https://developer.mozilla.org/en-US/docs/Web/API/Event/target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Sources,https://developer.mozilla.org/en-US/docs/Web/API/Element/input_event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Sources,https://developer.mozilla.org/en-US/docs/Web/API/Node/textContent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Sources,https://developer.mozilla.org/en-US/docs/Web/API/Document/createElement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Sources,https://developer.mozilla.org/en-US/docs/Web/API/Element/append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Sources,https://developer.mozilla.org/en-US/docs/Web/API/Element/remove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Sources,https://developer.mozilla.org/en-US/docs/Web/API/Element/innerHTML,https://developer.mozilla.org/en-US/docs/Web/API/Node/textContent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RSE_MASTER">
    <p:bg>
      <p:bgPr>
        <a:solidFill>
          <a:srgbClr val="FFFFFF"/>
        </a:solidFill>
      </p:bgPr>
    </p:bg>
    <p:spTree>
      <p:nvGrpSpPr>
        <p:cNvPr id="1" name=""/>
        <p:cNvGrpSpPr/>
        <p:nvPr/>
      </p:nvGrpSpPr>
      <p:grpSpPr>
        <a:xfrm>
          <a:off x="0" y="0"/>
          <a:ext cx="0" cy="0"/>
          <a:chOff x="0" y="0"/>
          <a:chExt cx="0" cy="0"/>
        </a:xfrm>
      </p:grpSpPr>
      <p:pic>
        <p:nvPicPr>
          <p:cNvPr id="2" name="Image 0" descr="/mnt/data/lecture13_unzip/ppt/media/image.png">    </p:cNvPr>
          <p:cNvPicPr>
            <a:picLocks noChangeAspect="1"/>
          </p:cNvPicPr>
          <p:nvPr/>
        </p:nvPicPr>
        <p:blipFill>
          <a:blip r:embed="rId1"/>
          <a:stretch>
            <a:fillRect/>
          </a:stretch>
        </p:blipFill>
        <p:spPr>
          <a:xfrm>
            <a:off x="0" y="0"/>
            <a:ext cx="9144000" cy="5143500"/>
          </a:xfrm>
          <a:prstGeom prst="rect">
            <a:avLst/>
          </a:prstGeom>
        </p:spPr>
      </p:pic>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85800" y="1847088"/>
            <a:ext cx="5943600" cy="228600"/>
          </a:xfrm>
          <a:prstGeom prst="rect">
            <a:avLst/>
          </a:prstGeom>
          <a:noFill/>
          <a:ln/>
        </p:spPr>
        <p:txBody>
          <a:bodyPr wrap="square" lIns="0" tIns="0" rIns="0" bIns="0" rtlCol="0" anchor="t">
            <a:normAutofit/>
          </a:bodyPr>
          <a:lstStyle/>
          <a:p>
            <a:pPr algn="l" indent="0" marL="0">
              <a:lnSpc>
                <a:spcPct val="105000"/>
              </a:lnSpc>
              <a:buNone/>
            </a:pPr>
            <a:r>
              <a:rPr lang="en-US" sz="1575" dirty="0">
                <a:solidFill>
                  <a:srgbClr val="334155"/>
                </a:solidFill>
                <a:latin typeface="Arial" pitchFamily="34" charset="0"/>
                <a:ea typeface="Arial" pitchFamily="34" charset="-122"/>
                <a:cs typeface="Arial" pitchFamily="34" charset="-120"/>
              </a:rPr>
              <a:t>Lecture 12</a:t>
            </a:r>
            <a:endParaRPr lang="en-US" sz="1575" dirty="0"/>
          </a:p>
        </p:txBody>
      </p:sp>
      <p:sp>
        <p:nvSpPr>
          <p:cNvPr id="3" name="Text 1"/>
          <p:cNvSpPr/>
          <p:nvPr/>
        </p:nvSpPr>
        <p:spPr>
          <a:xfrm>
            <a:off x="685800" y="2121408"/>
            <a:ext cx="6583680" cy="411480"/>
          </a:xfrm>
          <a:prstGeom prst="rect">
            <a:avLst/>
          </a:prstGeom>
          <a:noFill/>
          <a:ln/>
        </p:spPr>
        <p:txBody>
          <a:bodyPr wrap="square" lIns="0" tIns="0" rIns="0" bIns="0" rtlCol="0" anchor="t">
            <a:normAutofit/>
          </a:bodyPr>
          <a:lstStyle/>
          <a:p>
            <a:pPr algn="l" indent="0" marL="0">
              <a:lnSpc>
                <a:spcPct val="105000"/>
              </a:lnSpc>
              <a:buNone/>
            </a:pPr>
            <a:r>
              <a:rPr lang="en-US" sz="2625" b="1" dirty="0">
                <a:solidFill>
                  <a:srgbClr val="111827"/>
                </a:solidFill>
                <a:latin typeface="Arial" pitchFamily="34" charset="0"/>
                <a:ea typeface="Arial" pitchFamily="34" charset="-122"/>
                <a:cs typeface="Arial" pitchFamily="34" charset="-120"/>
              </a:rPr>
              <a:t>JavaScript and the page</a:t>
            </a:r>
            <a:endParaRPr lang="en-US" sz="2625" dirty="0"/>
          </a:p>
        </p:txBody>
      </p:sp>
      <p:sp>
        <p:nvSpPr>
          <p:cNvPr id="4" name="Text 2"/>
          <p:cNvSpPr/>
          <p:nvPr/>
        </p:nvSpPr>
        <p:spPr>
          <a:xfrm>
            <a:off x="685800" y="2633472"/>
            <a:ext cx="6766560" cy="320040"/>
          </a:xfrm>
          <a:prstGeom prst="rect">
            <a:avLst/>
          </a:prstGeom>
          <a:noFill/>
          <a:ln/>
        </p:spPr>
        <p:txBody>
          <a:bodyPr wrap="square" lIns="0" tIns="0" rIns="0" bIns="0" rtlCol="0" anchor="t">
            <a:normAutofit/>
          </a:bodyPr>
          <a:lstStyle/>
          <a:p>
            <a:pPr algn="l" indent="0" marL="0">
              <a:lnSpc>
                <a:spcPct val="105000"/>
              </a:lnSpc>
              <a:buNone/>
            </a:pPr>
            <a:r>
              <a:rPr lang="en-US" sz="1350" dirty="0">
                <a:solidFill>
                  <a:srgbClr val="334155"/>
                </a:solidFill>
                <a:latin typeface="Arial" pitchFamily="34" charset="0"/>
                <a:ea typeface="Arial" pitchFamily="34" charset="-122"/>
                <a:cs typeface="Arial" pitchFamily="34" charset="-120"/>
              </a:rPr>
              <a:t>Select page elements, respond to user actions, and update visible content.</a:t>
            </a:r>
            <a:endParaRPr lang="en-US" sz="135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Today’s agenda</a:t>
            </a:r>
            <a:endParaRPr lang="en-US" sz="2100" dirty="0"/>
          </a:p>
        </p:txBody>
      </p:sp>
      <p:sp>
        <p:nvSpPr>
          <p:cNvPr id="3" name="Text 1"/>
          <p:cNvSpPr/>
          <p:nvPr/>
        </p:nvSpPr>
        <p:spPr>
          <a:xfrm>
            <a:off x="777240" y="960120"/>
            <a:ext cx="3474720" cy="237744"/>
          </a:xfrm>
          <a:prstGeom prst="rect">
            <a:avLst/>
          </a:prstGeom>
          <a:noFill/>
          <a:ln/>
        </p:spPr>
        <p:txBody>
          <a:bodyPr wrap="square" lIns="0" tIns="0" rIns="0" bIns="0" rtlCol="0" anchor="t">
            <a:normAutofit/>
          </a:bodyPr>
          <a:lstStyle/>
          <a:p>
            <a:pPr algn="l" indent="0" marL="0">
              <a:lnSpc>
                <a:spcPct val="105000"/>
              </a:lnSpc>
              <a:buNone/>
            </a:pPr>
            <a:r>
              <a:rPr lang="en-US" sz="1350" b="1" dirty="0">
                <a:solidFill>
                  <a:srgbClr val="111827"/>
                </a:solidFill>
                <a:latin typeface="Arial" pitchFamily="34" charset="0"/>
                <a:ea typeface="Arial" pitchFamily="34" charset="-122"/>
                <a:cs typeface="Arial" pitchFamily="34" charset="-120"/>
              </a:rPr>
              <a:t>JavaScript warm-up</a:t>
            </a:r>
            <a:endParaRPr lang="en-US" sz="1350" dirty="0"/>
          </a:p>
        </p:txBody>
      </p:sp>
      <p:sp>
        <p:nvSpPr>
          <p:cNvPr id="4" name="Text 2"/>
          <p:cNvSpPr/>
          <p:nvPr/>
        </p:nvSpPr>
        <p:spPr>
          <a:xfrm>
            <a:off x="868680" y="1289304"/>
            <a:ext cx="3291840" cy="219456"/>
          </a:xfrm>
          <a:prstGeom prst="rect">
            <a:avLst/>
          </a:prstGeom>
          <a:noFill/>
          <a:ln/>
        </p:spPr>
        <p:txBody>
          <a:bodyPr wrap="square" lIns="0" tIns="0" rIns="0" bIns="0" rtlCol="0" anchor="ctr">
            <a:normAutofit/>
          </a:bodyPr>
          <a:lstStyle/>
          <a:p>
            <a:r>
              <a:rPr lang="en-US" sz="1200" dirty="0">
                <a:solidFill>
                  <a:srgbClr val="111827"/>
                </a:solidFill>
                <a:latin typeface="Arial" pitchFamily="34" charset="0"/>
                <a:ea typeface="Arial" pitchFamily="34" charset="-122"/>
                <a:cs typeface="Arial" pitchFamily="34" charset="-120"/>
              </a:rPr>
              <a:t>Variables, values, and functions</a:t>
            </a:r>
            <a:endParaRPr lang="en-US" sz="1200" dirty="0"/>
          </a:p>
        </p:txBody>
      </p:sp>
      <p:sp>
        <p:nvSpPr>
          <p:cNvPr id="5" name="Text 3"/>
          <p:cNvSpPr/>
          <p:nvPr/>
        </p:nvSpPr>
        <p:spPr>
          <a:xfrm>
            <a:off x="868680" y="1517904"/>
            <a:ext cx="3291840" cy="219456"/>
          </a:xfrm>
          <a:prstGeom prst="rect">
            <a:avLst/>
          </a:prstGeom>
          <a:noFill/>
          <a:ln/>
        </p:spPr>
        <p:txBody>
          <a:bodyPr wrap="square" lIns="0" tIns="0" rIns="0" bIns="0" rtlCol="0" anchor="ctr">
            <a:normAutofit/>
          </a:bodyPr>
          <a:lstStyle/>
          <a:p>
            <a:r>
              <a:rPr lang="en-US" sz="1200" dirty="0">
                <a:solidFill>
                  <a:srgbClr val="111827"/>
                </a:solidFill>
                <a:latin typeface="Arial" pitchFamily="34" charset="0"/>
                <a:ea typeface="Arial" pitchFamily="34" charset="-122"/>
                <a:cs typeface="Arial" pitchFamily="34" charset="-120"/>
              </a:rPr>
              <a:t>Function references and function calls</a:t>
            </a:r>
            <a:endParaRPr lang="en-US" sz="1200" dirty="0"/>
          </a:p>
        </p:txBody>
      </p:sp>
      <p:sp>
        <p:nvSpPr>
          <p:cNvPr id="6" name="Text 4"/>
          <p:cNvSpPr/>
          <p:nvPr/>
        </p:nvSpPr>
        <p:spPr>
          <a:xfrm>
            <a:off x="777240" y="2148840"/>
            <a:ext cx="3474720" cy="237744"/>
          </a:xfrm>
          <a:prstGeom prst="rect">
            <a:avLst/>
          </a:prstGeom>
          <a:noFill/>
          <a:ln/>
        </p:spPr>
        <p:txBody>
          <a:bodyPr wrap="square" lIns="0" tIns="0" rIns="0" bIns="0" rtlCol="0" anchor="t">
            <a:normAutofit/>
          </a:bodyPr>
          <a:lstStyle/>
          <a:p>
            <a:pPr algn="l" indent="0" marL="0">
              <a:lnSpc>
                <a:spcPct val="105000"/>
              </a:lnSpc>
              <a:buNone/>
            </a:pPr>
            <a:r>
              <a:rPr lang="en-US" sz="1350" b="1" dirty="0">
                <a:solidFill>
                  <a:srgbClr val="111827"/>
                </a:solidFill>
                <a:latin typeface="Arial" pitchFamily="34" charset="0"/>
                <a:ea typeface="Arial" pitchFamily="34" charset="-122"/>
                <a:cs typeface="Arial" pitchFamily="34" charset="-120"/>
              </a:rPr>
              <a:t>The DOM and page elements</a:t>
            </a:r>
            <a:endParaRPr lang="en-US" sz="1350" dirty="0"/>
          </a:p>
        </p:txBody>
      </p:sp>
      <p:sp>
        <p:nvSpPr>
          <p:cNvPr id="7" name="Text 5"/>
          <p:cNvSpPr/>
          <p:nvPr/>
        </p:nvSpPr>
        <p:spPr>
          <a:xfrm>
            <a:off x="868680" y="2478024"/>
            <a:ext cx="3291840" cy="219456"/>
          </a:xfrm>
          <a:prstGeom prst="rect">
            <a:avLst/>
          </a:prstGeom>
          <a:noFill/>
          <a:ln/>
        </p:spPr>
        <p:txBody>
          <a:bodyPr wrap="square" lIns="0" tIns="0" rIns="0" bIns="0" rtlCol="0" anchor="ctr">
            <a:normAutofit/>
          </a:bodyPr>
          <a:lstStyle/>
          <a:p>
            <a:r>
              <a:rPr lang="en-US" sz="1200" dirty="0">
                <a:solidFill>
                  <a:srgbClr val="111827"/>
                </a:solidFill>
                <a:latin typeface="Arial" pitchFamily="34" charset="0"/>
                <a:ea typeface="Arial" pitchFamily="34" charset="-122"/>
                <a:cs typeface="Arial" pitchFamily="34" charset="-120"/>
              </a:rPr>
              <a:t>From HTML to browser objects</a:t>
            </a:r>
            <a:endParaRPr lang="en-US" sz="1200" dirty="0"/>
          </a:p>
        </p:txBody>
      </p:sp>
      <p:sp>
        <p:nvSpPr>
          <p:cNvPr id="8" name="Text 6"/>
          <p:cNvSpPr/>
          <p:nvPr/>
        </p:nvSpPr>
        <p:spPr>
          <a:xfrm>
            <a:off x="868680" y="2706624"/>
            <a:ext cx="3291840" cy="219456"/>
          </a:xfrm>
          <a:prstGeom prst="rect">
            <a:avLst/>
          </a:prstGeom>
          <a:noFill/>
          <a:ln/>
        </p:spPr>
        <p:txBody>
          <a:bodyPr wrap="square" lIns="0" tIns="0" rIns="0" bIns="0" rtlCol="0" anchor="ctr">
            <a:normAutofit/>
          </a:bodyPr>
          <a:lstStyle/>
          <a:p>
            <a:r>
              <a:rPr lang="en-US" sz="1200" dirty="0">
                <a:solidFill>
                  <a:srgbClr val="111827"/>
                </a:solidFill>
                <a:latin typeface="Arial" pitchFamily="34" charset="0"/>
                <a:ea typeface="Arial" pitchFamily="34" charset="-122"/>
                <a:cs typeface="Arial" pitchFamily="34" charset="-120"/>
              </a:rPr>
              <a:t>getElementById, querySelector, and null</a:t>
            </a:r>
            <a:endParaRPr lang="en-US" sz="1200" dirty="0"/>
          </a:p>
        </p:txBody>
      </p:sp>
      <p:sp>
        <p:nvSpPr>
          <p:cNvPr id="9" name="Text 7"/>
          <p:cNvSpPr/>
          <p:nvPr/>
        </p:nvSpPr>
        <p:spPr>
          <a:xfrm>
            <a:off x="777240" y="3337560"/>
            <a:ext cx="3474720" cy="237744"/>
          </a:xfrm>
          <a:prstGeom prst="rect">
            <a:avLst/>
          </a:prstGeom>
          <a:noFill/>
          <a:ln/>
        </p:spPr>
        <p:txBody>
          <a:bodyPr wrap="square" lIns="0" tIns="0" rIns="0" bIns="0" rtlCol="0" anchor="t">
            <a:normAutofit/>
          </a:bodyPr>
          <a:lstStyle/>
          <a:p>
            <a:pPr algn="l" indent="0" marL="0">
              <a:lnSpc>
                <a:spcPct val="105000"/>
              </a:lnSpc>
              <a:buNone/>
            </a:pPr>
            <a:r>
              <a:rPr lang="en-US" sz="1350" b="1" dirty="0">
                <a:solidFill>
                  <a:srgbClr val="111827"/>
                </a:solidFill>
                <a:latin typeface="Arial" pitchFamily="34" charset="0"/>
                <a:ea typeface="Arial" pitchFamily="34" charset="-122"/>
                <a:cs typeface="Arial" pitchFamily="34" charset="-120"/>
              </a:rPr>
              <a:t>Events and handlers</a:t>
            </a:r>
            <a:endParaRPr lang="en-US" sz="1350" dirty="0"/>
          </a:p>
        </p:txBody>
      </p:sp>
      <p:sp>
        <p:nvSpPr>
          <p:cNvPr id="10" name="Text 8"/>
          <p:cNvSpPr/>
          <p:nvPr/>
        </p:nvSpPr>
        <p:spPr>
          <a:xfrm>
            <a:off x="868680" y="3666744"/>
            <a:ext cx="3291840" cy="219456"/>
          </a:xfrm>
          <a:prstGeom prst="rect">
            <a:avLst/>
          </a:prstGeom>
          <a:noFill/>
          <a:ln/>
        </p:spPr>
        <p:txBody>
          <a:bodyPr wrap="square" lIns="0" tIns="0" rIns="0" bIns="0" rtlCol="0" anchor="ctr">
            <a:normAutofit/>
          </a:bodyPr>
          <a:lstStyle/>
          <a:p>
            <a:r>
              <a:rPr lang="en-US" sz="1200" dirty="0">
                <a:solidFill>
                  <a:srgbClr val="111827"/>
                </a:solidFill>
                <a:latin typeface="Arial" pitchFamily="34" charset="0"/>
                <a:ea typeface="Arial" pitchFamily="34" charset="-122"/>
                <a:cs typeface="Arial" pitchFamily="34" charset="-120"/>
              </a:rPr>
              <a:t>Listener registration and handler execution</a:t>
            </a:r>
            <a:endParaRPr lang="en-US" sz="1200" dirty="0"/>
          </a:p>
        </p:txBody>
      </p:sp>
      <p:sp>
        <p:nvSpPr>
          <p:cNvPr id="11" name="Text 9"/>
          <p:cNvSpPr/>
          <p:nvPr/>
        </p:nvSpPr>
        <p:spPr>
          <a:xfrm>
            <a:off x="868680" y="3895344"/>
            <a:ext cx="3291840" cy="219456"/>
          </a:xfrm>
          <a:prstGeom prst="rect">
            <a:avLst/>
          </a:prstGeom>
          <a:noFill/>
          <a:ln/>
        </p:spPr>
        <p:txBody>
          <a:bodyPr wrap="square" lIns="0" tIns="0" rIns="0" bIns="0" rtlCol="0" anchor="ctr">
            <a:normAutofit/>
          </a:bodyPr>
          <a:lstStyle/>
          <a:p>
            <a:r>
              <a:rPr lang="en-US" sz="1200" dirty="0">
                <a:solidFill>
                  <a:srgbClr val="111827"/>
                </a:solidFill>
                <a:latin typeface="Arial" pitchFamily="34" charset="0"/>
                <a:ea typeface="Arial" pitchFamily="34" charset="-122"/>
                <a:cs typeface="Arial" pitchFamily="34" charset="-120"/>
              </a:rPr>
              <a:t>click, input, and event information</a:t>
            </a:r>
            <a:endParaRPr lang="en-US" sz="1200" dirty="0"/>
          </a:p>
        </p:txBody>
      </p:sp>
      <p:sp>
        <p:nvSpPr>
          <p:cNvPr id="12" name="Text 10"/>
          <p:cNvSpPr/>
          <p:nvPr/>
        </p:nvSpPr>
        <p:spPr>
          <a:xfrm>
            <a:off x="4572000" y="1234440"/>
            <a:ext cx="3474720" cy="237744"/>
          </a:xfrm>
          <a:prstGeom prst="rect">
            <a:avLst/>
          </a:prstGeom>
          <a:noFill/>
          <a:ln/>
        </p:spPr>
        <p:txBody>
          <a:bodyPr wrap="square" lIns="0" tIns="0" rIns="0" bIns="0" rtlCol="0" anchor="t">
            <a:normAutofit/>
          </a:bodyPr>
          <a:lstStyle/>
          <a:p>
            <a:pPr algn="l" indent="0" marL="0">
              <a:lnSpc>
                <a:spcPct val="105000"/>
              </a:lnSpc>
              <a:buNone/>
            </a:pPr>
            <a:r>
              <a:rPr lang="en-US" sz="1350" b="1" dirty="0">
                <a:solidFill>
                  <a:srgbClr val="111827"/>
                </a:solidFill>
                <a:latin typeface="Arial" pitchFamily="34" charset="0"/>
                <a:ea typeface="Arial" pitchFamily="34" charset="-122"/>
                <a:cs typeface="Arial" pitchFamily="34" charset="-120"/>
              </a:rPr>
              <a:t>Changing page content</a:t>
            </a:r>
            <a:endParaRPr lang="en-US" sz="1350" dirty="0"/>
          </a:p>
        </p:txBody>
      </p:sp>
      <p:sp>
        <p:nvSpPr>
          <p:cNvPr id="13" name="Text 11"/>
          <p:cNvSpPr/>
          <p:nvPr/>
        </p:nvSpPr>
        <p:spPr>
          <a:xfrm>
            <a:off x="4663440" y="1563624"/>
            <a:ext cx="3291840" cy="219456"/>
          </a:xfrm>
          <a:prstGeom prst="rect">
            <a:avLst/>
          </a:prstGeom>
          <a:noFill/>
          <a:ln/>
        </p:spPr>
        <p:txBody>
          <a:bodyPr wrap="square" lIns="0" tIns="0" rIns="0" bIns="0" rtlCol="0" anchor="ctr">
            <a:normAutofit/>
          </a:bodyPr>
          <a:lstStyle/>
          <a:p>
            <a:r>
              <a:rPr lang="en-US" sz="1200" dirty="0">
                <a:solidFill>
                  <a:srgbClr val="111827"/>
                </a:solidFill>
                <a:latin typeface="Arial" pitchFamily="34" charset="0"/>
                <a:ea typeface="Arial" pitchFamily="34" charset="-122"/>
                <a:cs typeface="Arial" pitchFamily="34" charset="-120"/>
              </a:rPr>
              <a:t>Update existing content</a:t>
            </a:r>
            <a:endParaRPr lang="en-US" sz="1200" dirty="0"/>
          </a:p>
        </p:txBody>
      </p:sp>
      <p:sp>
        <p:nvSpPr>
          <p:cNvPr id="14" name="Text 12"/>
          <p:cNvSpPr/>
          <p:nvPr/>
        </p:nvSpPr>
        <p:spPr>
          <a:xfrm>
            <a:off x="4663440" y="1792224"/>
            <a:ext cx="3291840" cy="219456"/>
          </a:xfrm>
          <a:prstGeom prst="rect">
            <a:avLst/>
          </a:prstGeom>
          <a:noFill/>
          <a:ln/>
        </p:spPr>
        <p:txBody>
          <a:bodyPr wrap="square" lIns="0" tIns="0" rIns="0" bIns="0" rtlCol="0" anchor="ctr">
            <a:normAutofit/>
          </a:bodyPr>
          <a:lstStyle/>
          <a:p>
            <a:r>
              <a:rPr lang="en-US" sz="1200" dirty="0">
                <a:solidFill>
                  <a:srgbClr val="111827"/>
                </a:solidFill>
                <a:latin typeface="Arial" pitchFamily="34" charset="0"/>
                <a:ea typeface="Arial" pitchFamily="34" charset="-122"/>
                <a:cs typeface="Arial" pitchFamily="34" charset="-120"/>
              </a:rPr>
              <a:t>Create, insert, and remove elements</a:t>
            </a:r>
            <a:endParaRPr lang="en-US" sz="1200" dirty="0"/>
          </a:p>
        </p:txBody>
      </p:sp>
      <p:sp>
        <p:nvSpPr>
          <p:cNvPr id="15" name="Text 13"/>
          <p:cNvSpPr/>
          <p:nvPr/>
        </p:nvSpPr>
        <p:spPr>
          <a:xfrm>
            <a:off x="4572000" y="2697480"/>
            <a:ext cx="3474720" cy="237744"/>
          </a:xfrm>
          <a:prstGeom prst="rect">
            <a:avLst/>
          </a:prstGeom>
          <a:noFill/>
          <a:ln/>
        </p:spPr>
        <p:txBody>
          <a:bodyPr wrap="square" lIns="0" tIns="0" rIns="0" bIns="0" rtlCol="0" anchor="t">
            <a:normAutofit/>
          </a:bodyPr>
          <a:lstStyle/>
          <a:p>
            <a:pPr algn="l" indent="0" marL="0">
              <a:lnSpc>
                <a:spcPct val="105000"/>
              </a:lnSpc>
              <a:buNone/>
            </a:pPr>
            <a:r>
              <a:rPr lang="en-US" sz="1350" b="1" dirty="0">
                <a:solidFill>
                  <a:srgbClr val="111827"/>
                </a:solidFill>
                <a:latin typeface="Arial" pitchFamily="34" charset="0"/>
                <a:ea typeface="Arial" pitchFamily="34" charset="-122"/>
                <a:cs typeface="Arial" pitchFamily="34" charset="-120"/>
              </a:rPr>
              <a:t>Practice and apply</a:t>
            </a:r>
            <a:endParaRPr lang="en-US" sz="1350" dirty="0"/>
          </a:p>
        </p:txBody>
      </p:sp>
      <p:sp>
        <p:nvSpPr>
          <p:cNvPr id="16" name="Text 14"/>
          <p:cNvSpPr/>
          <p:nvPr/>
        </p:nvSpPr>
        <p:spPr>
          <a:xfrm>
            <a:off x="4663440" y="3026664"/>
            <a:ext cx="3291840" cy="219456"/>
          </a:xfrm>
          <a:prstGeom prst="rect">
            <a:avLst/>
          </a:prstGeom>
          <a:noFill/>
          <a:ln/>
        </p:spPr>
        <p:txBody>
          <a:bodyPr wrap="square" lIns="0" tIns="0" rIns="0" bIns="0" rtlCol="0" anchor="ctr">
            <a:normAutofit/>
          </a:bodyPr>
          <a:lstStyle/>
          <a:p>
            <a:r>
              <a:rPr lang="en-US" sz="1200" dirty="0">
                <a:solidFill>
                  <a:srgbClr val="111827"/>
                </a:solidFill>
                <a:latin typeface="Arial" pitchFamily="34" charset="0"/>
                <a:ea typeface="Arial" pitchFamily="34" charset="-122"/>
                <a:cs typeface="Arial" pitchFamily="34" charset="-120"/>
              </a:rPr>
              <a:t>Reading-list manager</a:t>
            </a:r>
            <a:endParaRPr lang="en-US" sz="1200" dirty="0"/>
          </a:p>
        </p:txBody>
      </p:sp>
      <p:sp>
        <p:nvSpPr>
          <p:cNvPr id="17" name="Text 15"/>
          <p:cNvSpPr/>
          <p:nvPr/>
        </p:nvSpPr>
        <p:spPr>
          <a:xfrm>
            <a:off x="4663440" y="3255264"/>
            <a:ext cx="3291840" cy="219456"/>
          </a:xfrm>
          <a:prstGeom prst="rect">
            <a:avLst/>
          </a:prstGeom>
          <a:noFill/>
          <a:ln/>
        </p:spPr>
        <p:txBody>
          <a:bodyPr wrap="square" lIns="0" tIns="0" rIns="0" bIns="0" rtlCol="0" anchor="ctr">
            <a:normAutofit/>
          </a:bodyPr>
          <a:lstStyle/>
          <a:p>
            <a:r>
              <a:rPr lang="en-US" sz="1200" dirty="0">
                <a:solidFill>
                  <a:srgbClr val="111827"/>
                </a:solidFill>
                <a:latin typeface="Arial" pitchFamily="34" charset="0"/>
                <a:ea typeface="Arial" pitchFamily="34" charset="-122"/>
                <a:cs typeface="Arial" pitchFamily="34" charset="-120"/>
              </a:rPr>
              <a:t>Debug clinic and homework</a:t>
            </a:r>
            <a:endParaRPr lang="en-US" sz="120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285646" y="2048256"/>
            <a:ext cx="6572707" cy="502920"/>
          </a:xfrm>
          <a:prstGeom prst="rect">
            <a:avLst/>
          </a:prstGeom>
          <a:noFill/>
          <a:ln/>
        </p:spPr>
        <p:txBody>
          <a:bodyPr wrap="square" lIns="0" tIns="0" rIns="0" bIns="0" rtlCol="0" anchor="ctr"/>
          <a:lstStyle/>
          <a:p>
            <a:pPr algn="ctr" indent="0" marL="0">
              <a:buNone/>
            </a:pPr>
            <a:r>
              <a:rPr lang="en-US" sz="2550" b="1" dirty="0">
                <a:solidFill>
                  <a:srgbClr val="111827"/>
                </a:solidFill>
                <a:latin typeface="Arial" pitchFamily="34" charset="0"/>
                <a:ea typeface="Arial" pitchFamily="34" charset="-122"/>
                <a:cs typeface="Arial" pitchFamily="34" charset="-120"/>
              </a:rPr>
              <a:t>Warm-up</a:t>
            </a:r>
            <a:endParaRPr lang="en-US" sz="255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Question 1: Declaration and assignment</a:t>
            </a:r>
            <a:endParaRPr lang="en-US" sz="2100" dirty="0"/>
          </a:p>
        </p:txBody>
      </p:sp>
      <p:sp>
        <p:nvSpPr>
          <p:cNvPr id="3" name="Shape 1"/>
          <p:cNvSpPr/>
          <p:nvPr/>
        </p:nvSpPr>
        <p:spPr>
          <a:xfrm>
            <a:off x="685800" y="1234440"/>
            <a:ext cx="3886200" cy="2011680"/>
          </a:xfrm>
          <a:prstGeom prst="rect">
            <a:avLst/>
          </a:prstGeom>
          <a:solidFill>
            <a:srgbClr val="0F172A"/>
          </a:solidFill>
          <a:ln w="12700">
            <a:solidFill>
              <a:srgbClr val="0F172A"/>
            </a:solidFill>
            <a:prstDash val="solid"/>
          </a:ln>
        </p:spPr>
      </p:sp>
      <p:sp>
        <p:nvSpPr>
          <p:cNvPr id="4" name="Text 2"/>
          <p:cNvSpPr/>
          <p:nvPr/>
        </p:nvSpPr>
        <p:spPr>
          <a:xfrm>
            <a:off x="813816" y="1344168"/>
            <a:ext cx="3630168" cy="1792224"/>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Courier New" pitchFamily="34" charset="0"/>
                <a:ea typeface="Courier New" pitchFamily="34" charset="-122"/>
                <a:cs typeface="Courier New" pitchFamily="34" charset="-120"/>
              </a:rPr>
              <a:t>let orderCount;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orderCount = 3;</a:t>
            </a:r>
            <a:endParaRPr lang="en-US" sz="1100" dirty="0"/>
          </a:p>
        </p:txBody>
      </p:sp>
      <p:sp>
        <p:nvSpPr>
          <p:cNvPr id="5" name="Text 3"/>
          <p:cNvSpPr/>
          <p:nvPr/>
        </p:nvSpPr>
        <p:spPr>
          <a:xfrm>
            <a:off x="4892040" y="1143000"/>
            <a:ext cx="3611880" cy="548640"/>
          </a:xfrm>
          <a:prstGeom prst="rect">
            <a:avLst/>
          </a:prstGeom>
          <a:noFill/>
          <a:ln/>
        </p:spPr>
        <p:txBody>
          <a:bodyPr wrap="square" lIns="0" tIns="0" rIns="0" bIns="0" rtlCol="0" anchor="t">
            <a:normAutofit/>
          </a:bodyPr>
          <a:lstStyle/>
          <a:p>
            <a:pPr algn="l" indent="0" marL="0">
              <a:lnSpc>
                <a:spcPct val="105000"/>
              </a:lnSpc>
              <a:buNone/>
            </a:pPr>
            <a:r>
              <a:rPr lang="en-US" sz="1260" b="1" dirty="0">
                <a:solidFill>
                  <a:srgbClr val="111827"/>
                </a:solidFill>
                <a:latin typeface="Arial" pitchFamily="34" charset="0"/>
                <a:ea typeface="Arial" pitchFamily="34" charset="-122"/>
                <a:cs typeface="Arial" pitchFamily="34" charset="-120"/>
              </a:rPr>
              <a:t>Which statement is correct?</a:t>
            </a:r>
            <a:endParaRPr lang="en-US" sz="1260" dirty="0"/>
          </a:p>
        </p:txBody>
      </p:sp>
      <p:sp>
        <p:nvSpPr>
          <p:cNvPr id="6" name="Text 4"/>
          <p:cNvSpPr/>
          <p:nvPr/>
        </p:nvSpPr>
        <p:spPr>
          <a:xfrm>
            <a:off x="4892040" y="1783080"/>
            <a:ext cx="3611880" cy="2103120"/>
          </a:xfrm>
          <a:prstGeom prst="rect">
            <a:avLst/>
          </a:prstGeom>
          <a:noFill/>
          <a:ln/>
        </p:spPr>
        <p:txBody>
          <a:bodyPr wrap="square" lIns="381" tIns="381" rIns="381" bIns="381" rtlCol="0" anchor="t">
            <a:normAutofit/>
          </a:bodyPr>
          <a:lstStyle/>
          <a:p>
            <a:pPr indent="0" marL="0">
              <a:buNone/>
            </a:pPr>
            <a:r>
              <a:rPr lang="en-US" sz="1200" dirty="0">
                <a:solidFill>
                  <a:srgbClr val="111827"/>
                </a:solidFill>
                <a:latin typeface="Arial" pitchFamily="34" charset="0"/>
                <a:ea typeface="Arial" pitchFamily="34" charset="-122"/>
                <a:cs typeface="Arial" pitchFamily="34" charset="-120"/>
              </a:rPr>
              <a:t>A. orderCount stores the string "3".</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B. orderCount is declared first, then assigned the number 3.</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C. orderCount cannot change because it uses let.</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D. The second line calls a function named orderCount.</a:t>
            </a:r>
            <a:endParaRPr lang="en-US" sz="1200" dirty="0"/>
          </a:p>
        </p:txBody>
      </p:sp>
      <p:sp>
        <p:nvSpPr>
          <p:cNvPr id="7" name="Shape 5"/>
          <p:cNvSpPr/>
          <p:nvPr/>
        </p:nvSpPr>
        <p:spPr>
          <a:xfrm>
            <a:off x="685800" y="4160520"/>
            <a:ext cx="7269480" cy="457200"/>
          </a:xfrm>
          <a:prstGeom prst="roundRect">
            <a:avLst>
              <a:gd name="adj" fmla="val 12000"/>
            </a:avLst>
          </a:prstGeom>
          <a:solidFill>
            <a:srgbClr val="DCFCE7"/>
          </a:solidFill>
          <a:ln w="12700">
            <a:solidFill>
              <a:srgbClr val="86EFAC"/>
            </a:solidFill>
            <a:prstDash val="solid"/>
          </a:ln>
        </p:spPr>
      </p:sp>
      <p:sp>
        <p:nvSpPr>
          <p:cNvPr id="8" name="Text 6"/>
          <p:cNvSpPr/>
          <p:nvPr/>
        </p:nvSpPr>
        <p:spPr>
          <a:xfrm>
            <a:off x="795528" y="4224528"/>
            <a:ext cx="7050024" cy="310896"/>
          </a:xfrm>
          <a:prstGeom prst="rect">
            <a:avLst/>
          </a:prstGeom>
          <a:noFill/>
          <a:ln/>
        </p:spPr>
        <p:txBody>
          <a:bodyPr wrap="square" lIns="0" tIns="0" rIns="0" bIns="0" rtlCol="0" anchor="ctr">
            <a:normAutofit/>
          </a:bodyPr>
          <a:lstStyle/>
          <a:p>
            <a:pPr indent="0" marL="0">
              <a:buNone/>
            </a:pPr>
            <a:r>
              <a:rPr lang="en-US" sz="1020" dirty="0">
                <a:solidFill>
                  <a:srgbClr val="111827"/>
                </a:solidFill>
                <a:latin typeface="Arial" pitchFamily="34" charset="0"/>
                <a:ea typeface="Arial" pitchFamily="34" charset="-122"/>
                <a:cs typeface="Arial" pitchFamily="34" charset="-120"/>
              </a:rPr>
              <a:t>Answer: B</a:t>
            </a:r>
            <a:endParaRPr lang="en-US" sz="1020" dirty="0"/>
          </a:p>
          <a:p>
            <a:pPr indent="0" marL="0">
              <a:buNone/>
            </a:pPr>
            <a:r>
              <a:rPr lang="en-US" sz="1020" dirty="0">
                <a:solidFill>
                  <a:srgbClr val="111827"/>
                </a:solidFill>
                <a:latin typeface="Arial" pitchFamily="34" charset="0"/>
                <a:ea typeface="Arial" pitchFamily="34" charset="-122"/>
                <a:cs typeface="Arial" pitchFamily="34" charset="-120"/>
              </a:rPr>
              <a:t>The first line declares the variable. The second line assigns the number 3.</a:t>
            </a:r>
            <a:endParaRPr lang="en-US" sz="102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Question 2: Value and data type</a:t>
            </a:r>
            <a:endParaRPr lang="en-US" sz="2100" dirty="0"/>
          </a:p>
        </p:txBody>
      </p:sp>
      <p:sp>
        <p:nvSpPr>
          <p:cNvPr id="3" name="Shape 1"/>
          <p:cNvSpPr/>
          <p:nvPr/>
        </p:nvSpPr>
        <p:spPr>
          <a:xfrm>
            <a:off x="685800" y="1234440"/>
            <a:ext cx="3886200" cy="2011680"/>
          </a:xfrm>
          <a:prstGeom prst="rect">
            <a:avLst/>
          </a:prstGeom>
          <a:solidFill>
            <a:srgbClr val="0F172A"/>
          </a:solidFill>
          <a:ln w="12700">
            <a:solidFill>
              <a:srgbClr val="0F172A"/>
            </a:solidFill>
            <a:prstDash val="solid"/>
          </a:ln>
        </p:spPr>
      </p:sp>
      <p:sp>
        <p:nvSpPr>
          <p:cNvPr id="4" name="Text 2"/>
          <p:cNvSpPr/>
          <p:nvPr/>
        </p:nvSpPr>
        <p:spPr>
          <a:xfrm>
            <a:off x="813816" y="1344168"/>
            <a:ext cx="3630168" cy="1792224"/>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Courier New" pitchFamily="34" charset="0"/>
                <a:ea typeface="Courier New" pitchFamily="34" charset="-122"/>
                <a:cs typeface="Courier New" pitchFamily="34" charset="-120"/>
              </a:rPr>
              <a:t>const isCafeOpen = false;</a:t>
            </a:r>
            <a:endParaRPr lang="en-US" sz="1100" dirty="0"/>
          </a:p>
        </p:txBody>
      </p:sp>
      <p:sp>
        <p:nvSpPr>
          <p:cNvPr id="5" name="Text 3"/>
          <p:cNvSpPr/>
          <p:nvPr/>
        </p:nvSpPr>
        <p:spPr>
          <a:xfrm>
            <a:off x="4892040" y="1143000"/>
            <a:ext cx="3611880" cy="548640"/>
          </a:xfrm>
          <a:prstGeom prst="rect">
            <a:avLst/>
          </a:prstGeom>
          <a:noFill/>
          <a:ln/>
        </p:spPr>
        <p:txBody>
          <a:bodyPr wrap="square" lIns="0" tIns="0" rIns="0" bIns="0" rtlCol="0" anchor="t">
            <a:normAutofit/>
          </a:bodyPr>
          <a:lstStyle/>
          <a:p>
            <a:pPr algn="l" indent="0" marL="0">
              <a:lnSpc>
                <a:spcPct val="105000"/>
              </a:lnSpc>
              <a:buNone/>
            </a:pPr>
            <a:r>
              <a:rPr lang="en-US" sz="1260" b="1" dirty="0">
                <a:solidFill>
                  <a:srgbClr val="111827"/>
                </a:solidFill>
                <a:latin typeface="Arial" pitchFamily="34" charset="0"/>
                <a:ea typeface="Arial" pitchFamily="34" charset="-122"/>
                <a:cs typeface="Arial" pitchFamily="34" charset="-120"/>
              </a:rPr>
              <a:t>What is the data type of the stored value?</a:t>
            </a:r>
            <a:endParaRPr lang="en-US" sz="1260" dirty="0"/>
          </a:p>
        </p:txBody>
      </p:sp>
      <p:sp>
        <p:nvSpPr>
          <p:cNvPr id="6" name="Text 4"/>
          <p:cNvSpPr/>
          <p:nvPr/>
        </p:nvSpPr>
        <p:spPr>
          <a:xfrm>
            <a:off x="4892040" y="1783080"/>
            <a:ext cx="3611880" cy="2103120"/>
          </a:xfrm>
          <a:prstGeom prst="rect">
            <a:avLst/>
          </a:prstGeom>
          <a:noFill/>
          <a:ln/>
        </p:spPr>
        <p:txBody>
          <a:bodyPr wrap="square" lIns="381" tIns="381" rIns="381" bIns="381" rtlCol="0" anchor="t">
            <a:normAutofit/>
          </a:bodyPr>
          <a:lstStyle/>
          <a:p>
            <a:pPr indent="0" marL="0">
              <a:buNone/>
            </a:pPr>
            <a:r>
              <a:rPr lang="en-US" sz="1200" dirty="0">
                <a:solidFill>
                  <a:srgbClr val="111827"/>
                </a:solidFill>
                <a:latin typeface="Arial" pitchFamily="34" charset="0"/>
                <a:ea typeface="Arial" pitchFamily="34" charset="-122"/>
                <a:cs typeface="Arial" pitchFamily="34" charset="-120"/>
              </a:rPr>
              <a:t>A. String</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B. Number</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C. Undefined</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D. Boolean</a:t>
            </a:r>
            <a:endParaRPr lang="en-US" sz="1200" dirty="0"/>
          </a:p>
        </p:txBody>
      </p:sp>
      <p:sp>
        <p:nvSpPr>
          <p:cNvPr id="7" name="Shape 5"/>
          <p:cNvSpPr/>
          <p:nvPr/>
        </p:nvSpPr>
        <p:spPr>
          <a:xfrm>
            <a:off x="685800" y="4160520"/>
            <a:ext cx="7269480" cy="457200"/>
          </a:xfrm>
          <a:prstGeom prst="roundRect">
            <a:avLst>
              <a:gd name="adj" fmla="val 12000"/>
            </a:avLst>
          </a:prstGeom>
          <a:solidFill>
            <a:srgbClr val="DCFCE7"/>
          </a:solidFill>
          <a:ln w="12700">
            <a:solidFill>
              <a:srgbClr val="86EFAC"/>
            </a:solidFill>
            <a:prstDash val="solid"/>
          </a:ln>
        </p:spPr>
      </p:sp>
      <p:sp>
        <p:nvSpPr>
          <p:cNvPr id="8" name="Text 6"/>
          <p:cNvSpPr/>
          <p:nvPr/>
        </p:nvSpPr>
        <p:spPr>
          <a:xfrm>
            <a:off x="795528" y="4224528"/>
            <a:ext cx="7050024" cy="310896"/>
          </a:xfrm>
          <a:prstGeom prst="rect">
            <a:avLst/>
          </a:prstGeom>
          <a:noFill/>
          <a:ln/>
        </p:spPr>
        <p:txBody>
          <a:bodyPr wrap="square" lIns="0" tIns="0" rIns="0" bIns="0" rtlCol="0" anchor="ctr">
            <a:normAutofit/>
          </a:bodyPr>
          <a:lstStyle/>
          <a:p>
            <a:pPr indent="0" marL="0">
              <a:buNone/>
            </a:pPr>
            <a:r>
              <a:rPr lang="en-US" sz="1020" dirty="0">
                <a:solidFill>
                  <a:srgbClr val="111827"/>
                </a:solidFill>
                <a:latin typeface="Arial" pitchFamily="34" charset="0"/>
                <a:ea typeface="Arial" pitchFamily="34" charset="-122"/>
                <a:cs typeface="Arial" pitchFamily="34" charset="-120"/>
              </a:rPr>
              <a:t>Answer: D</a:t>
            </a:r>
            <a:endParaRPr lang="en-US" sz="1020" dirty="0"/>
          </a:p>
          <a:p>
            <a:pPr indent="0" marL="0">
              <a:buNone/>
            </a:pPr>
            <a:r>
              <a:rPr lang="en-US" sz="1020" dirty="0">
                <a:solidFill>
                  <a:srgbClr val="111827"/>
                </a:solidFill>
                <a:latin typeface="Arial" pitchFamily="34" charset="0"/>
                <a:ea typeface="Arial" pitchFamily="34" charset="-122"/>
                <a:cs typeface="Arial" pitchFamily="34" charset="-120"/>
              </a:rPr>
              <a:t>false is a Boolean value.</a:t>
            </a:r>
            <a:endParaRPr lang="en-US" sz="102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Question 3: Identify the parameter and argument</a:t>
            </a:r>
            <a:endParaRPr lang="en-US" sz="2100" dirty="0"/>
          </a:p>
        </p:txBody>
      </p:sp>
      <p:sp>
        <p:nvSpPr>
          <p:cNvPr id="3" name="Shape 1"/>
          <p:cNvSpPr/>
          <p:nvPr/>
        </p:nvSpPr>
        <p:spPr>
          <a:xfrm>
            <a:off x="685800" y="1234440"/>
            <a:ext cx="3886200" cy="2011680"/>
          </a:xfrm>
          <a:prstGeom prst="rect">
            <a:avLst/>
          </a:prstGeom>
          <a:solidFill>
            <a:srgbClr val="0F172A"/>
          </a:solidFill>
          <a:ln w="12700">
            <a:solidFill>
              <a:srgbClr val="0F172A"/>
            </a:solidFill>
            <a:prstDash val="solid"/>
          </a:ln>
        </p:spPr>
      </p:sp>
      <p:sp>
        <p:nvSpPr>
          <p:cNvPr id="4" name="Text 2"/>
          <p:cNvSpPr/>
          <p:nvPr/>
        </p:nvSpPr>
        <p:spPr>
          <a:xfrm>
            <a:off x="813816" y="1344168"/>
            <a:ext cx="3630168" cy="179222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function greetCustomer(name)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return "Hello, " + name;</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greetCustomer("Asha");</a:t>
            </a:r>
            <a:endParaRPr lang="en-US" sz="1088" dirty="0"/>
          </a:p>
        </p:txBody>
      </p:sp>
      <p:sp>
        <p:nvSpPr>
          <p:cNvPr id="5" name="Text 3"/>
          <p:cNvSpPr/>
          <p:nvPr/>
        </p:nvSpPr>
        <p:spPr>
          <a:xfrm>
            <a:off x="4892040" y="1143000"/>
            <a:ext cx="3611880" cy="548640"/>
          </a:xfrm>
          <a:prstGeom prst="rect">
            <a:avLst/>
          </a:prstGeom>
          <a:noFill/>
          <a:ln/>
        </p:spPr>
        <p:txBody>
          <a:bodyPr wrap="square" lIns="0" tIns="0" rIns="0" bIns="0" rtlCol="0" anchor="t">
            <a:normAutofit/>
          </a:bodyPr>
          <a:lstStyle/>
          <a:p>
            <a:pPr algn="l" indent="0" marL="0">
              <a:lnSpc>
                <a:spcPct val="105000"/>
              </a:lnSpc>
              <a:buNone/>
            </a:pPr>
            <a:r>
              <a:rPr lang="en-US" sz="1260" b="1" dirty="0">
                <a:solidFill>
                  <a:srgbClr val="111827"/>
                </a:solidFill>
                <a:latin typeface="Arial" pitchFamily="34" charset="0"/>
                <a:ea typeface="Arial" pitchFamily="34" charset="-122"/>
                <a:cs typeface="Arial" pitchFamily="34" charset="-120"/>
              </a:rPr>
              <a:t>Which statement is correct?</a:t>
            </a:r>
            <a:endParaRPr lang="en-US" sz="1260" dirty="0"/>
          </a:p>
        </p:txBody>
      </p:sp>
      <p:sp>
        <p:nvSpPr>
          <p:cNvPr id="6" name="Text 4"/>
          <p:cNvSpPr/>
          <p:nvPr/>
        </p:nvSpPr>
        <p:spPr>
          <a:xfrm>
            <a:off x="4892040" y="1783080"/>
            <a:ext cx="3611880" cy="2103120"/>
          </a:xfrm>
          <a:prstGeom prst="rect">
            <a:avLst/>
          </a:prstGeom>
          <a:noFill/>
          <a:ln/>
        </p:spPr>
        <p:txBody>
          <a:bodyPr wrap="square" lIns="381" tIns="381" rIns="381" bIns="381" rtlCol="0" anchor="t">
            <a:normAutofit/>
          </a:bodyPr>
          <a:lstStyle/>
          <a:p>
            <a:pPr indent="0" marL="0">
              <a:buNone/>
            </a:pPr>
            <a:r>
              <a:rPr lang="en-US" sz="1200" dirty="0">
                <a:solidFill>
                  <a:srgbClr val="111827"/>
                </a:solidFill>
                <a:latin typeface="Arial" pitchFamily="34" charset="0"/>
                <a:ea typeface="Arial" pitchFamily="34" charset="-122"/>
                <a:cs typeface="Arial" pitchFamily="34" charset="-120"/>
              </a:rPr>
              <a:t>A. name is the parameter, and "Asha" is the argument.</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B. greetCustomer is the argument, and name is the return value.</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C. "Hello, " is the function name, and name is the argument.</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D. return is the parameter, and "Asha" is the function body.</a:t>
            </a:r>
            <a:endParaRPr lang="en-US" sz="1200" dirty="0"/>
          </a:p>
        </p:txBody>
      </p:sp>
      <p:sp>
        <p:nvSpPr>
          <p:cNvPr id="7" name="Shape 5"/>
          <p:cNvSpPr/>
          <p:nvPr/>
        </p:nvSpPr>
        <p:spPr>
          <a:xfrm>
            <a:off x="685800" y="4160520"/>
            <a:ext cx="7269480" cy="457200"/>
          </a:xfrm>
          <a:prstGeom prst="roundRect">
            <a:avLst>
              <a:gd name="adj" fmla="val 12000"/>
            </a:avLst>
          </a:prstGeom>
          <a:solidFill>
            <a:srgbClr val="DCFCE7"/>
          </a:solidFill>
          <a:ln w="12700">
            <a:solidFill>
              <a:srgbClr val="86EFAC"/>
            </a:solidFill>
            <a:prstDash val="solid"/>
          </a:ln>
        </p:spPr>
      </p:sp>
      <p:sp>
        <p:nvSpPr>
          <p:cNvPr id="8" name="Text 6"/>
          <p:cNvSpPr/>
          <p:nvPr/>
        </p:nvSpPr>
        <p:spPr>
          <a:xfrm>
            <a:off x="795528" y="4224528"/>
            <a:ext cx="7050024" cy="310896"/>
          </a:xfrm>
          <a:prstGeom prst="rect">
            <a:avLst/>
          </a:prstGeom>
          <a:noFill/>
          <a:ln/>
        </p:spPr>
        <p:txBody>
          <a:bodyPr wrap="square" lIns="0" tIns="0" rIns="0" bIns="0" rtlCol="0" anchor="ctr">
            <a:normAutofit/>
          </a:bodyPr>
          <a:lstStyle/>
          <a:p>
            <a:pPr indent="0" marL="0">
              <a:buNone/>
            </a:pPr>
            <a:r>
              <a:rPr lang="en-US" sz="1020" dirty="0">
                <a:solidFill>
                  <a:srgbClr val="111827"/>
                </a:solidFill>
                <a:latin typeface="Arial" pitchFamily="34" charset="0"/>
                <a:ea typeface="Arial" pitchFamily="34" charset="-122"/>
                <a:cs typeface="Arial" pitchFamily="34" charset="-120"/>
              </a:rPr>
              <a:t>Answer: A</a:t>
            </a:r>
            <a:endParaRPr lang="en-US" sz="1020" dirty="0"/>
          </a:p>
          <a:p>
            <a:pPr indent="0" marL="0">
              <a:buNone/>
            </a:pPr>
            <a:r>
              <a:rPr lang="en-US" sz="1020" dirty="0">
                <a:solidFill>
                  <a:srgbClr val="111827"/>
                </a:solidFill>
                <a:latin typeface="Arial" pitchFamily="34" charset="0"/>
                <a:ea typeface="Arial" pitchFamily="34" charset="-122"/>
                <a:cs typeface="Arial" pitchFamily="34" charset="-120"/>
              </a:rPr>
              <a:t>name is declared in the definition. "Asha" is supplied in the call.</a:t>
            </a:r>
            <a:endParaRPr lang="en-US" sz="102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Question 4: Trace the return value</a:t>
            </a:r>
            <a:endParaRPr lang="en-US" sz="2100" dirty="0"/>
          </a:p>
        </p:txBody>
      </p:sp>
      <p:sp>
        <p:nvSpPr>
          <p:cNvPr id="3" name="Shape 1"/>
          <p:cNvSpPr/>
          <p:nvPr/>
        </p:nvSpPr>
        <p:spPr>
          <a:xfrm>
            <a:off x="685800" y="1234440"/>
            <a:ext cx="3886200" cy="2011680"/>
          </a:xfrm>
          <a:prstGeom prst="rect">
            <a:avLst/>
          </a:prstGeom>
          <a:solidFill>
            <a:srgbClr val="0F172A"/>
          </a:solidFill>
          <a:ln w="12700">
            <a:solidFill>
              <a:srgbClr val="0F172A"/>
            </a:solidFill>
            <a:prstDash val="solid"/>
          </a:ln>
        </p:spPr>
      </p:sp>
      <p:sp>
        <p:nvSpPr>
          <p:cNvPr id="4" name="Text 2"/>
          <p:cNvSpPr/>
          <p:nvPr/>
        </p:nvSpPr>
        <p:spPr>
          <a:xfrm>
            <a:off x="813816" y="1344168"/>
            <a:ext cx="3630168" cy="179222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function formatOrder(item)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return "Order: " + item;</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const label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formatOrder("Masala chai");</a:t>
            </a:r>
            <a:endParaRPr lang="en-US" sz="1088" dirty="0"/>
          </a:p>
        </p:txBody>
      </p:sp>
      <p:sp>
        <p:nvSpPr>
          <p:cNvPr id="5" name="Text 3"/>
          <p:cNvSpPr/>
          <p:nvPr/>
        </p:nvSpPr>
        <p:spPr>
          <a:xfrm>
            <a:off x="4892040" y="1143000"/>
            <a:ext cx="3611880" cy="548640"/>
          </a:xfrm>
          <a:prstGeom prst="rect">
            <a:avLst/>
          </a:prstGeom>
          <a:noFill/>
          <a:ln/>
        </p:spPr>
        <p:txBody>
          <a:bodyPr wrap="square" lIns="0" tIns="0" rIns="0" bIns="0" rtlCol="0" anchor="t">
            <a:normAutofit/>
          </a:bodyPr>
          <a:lstStyle/>
          <a:p>
            <a:pPr algn="l" indent="0" marL="0">
              <a:lnSpc>
                <a:spcPct val="105000"/>
              </a:lnSpc>
              <a:buNone/>
            </a:pPr>
            <a:r>
              <a:rPr lang="en-US" sz="1260" b="1" dirty="0">
                <a:solidFill>
                  <a:srgbClr val="111827"/>
                </a:solidFill>
                <a:latin typeface="Arial" pitchFamily="34" charset="0"/>
                <a:ea typeface="Arial" pitchFamily="34" charset="-122"/>
                <a:cs typeface="Arial" pitchFamily="34" charset="-120"/>
              </a:rPr>
              <a:t>What value is stored in label?</a:t>
            </a:r>
            <a:endParaRPr lang="en-US" sz="1260" dirty="0"/>
          </a:p>
        </p:txBody>
      </p:sp>
      <p:sp>
        <p:nvSpPr>
          <p:cNvPr id="6" name="Text 4"/>
          <p:cNvSpPr/>
          <p:nvPr/>
        </p:nvSpPr>
        <p:spPr>
          <a:xfrm>
            <a:off x="4892040" y="1783080"/>
            <a:ext cx="3611880" cy="2103120"/>
          </a:xfrm>
          <a:prstGeom prst="rect">
            <a:avLst/>
          </a:prstGeom>
          <a:noFill/>
          <a:ln/>
        </p:spPr>
        <p:txBody>
          <a:bodyPr wrap="square" lIns="381" tIns="381" rIns="381" bIns="381" rtlCol="0" anchor="t">
            <a:normAutofit/>
          </a:bodyPr>
          <a:lstStyle/>
          <a:p>
            <a:pPr indent="0" marL="0">
              <a:buNone/>
            </a:pPr>
            <a:r>
              <a:rPr lang="en-US" sz="1200" dirty="0">
                <a:solidFill>
                  <a:srgbClr val="111827"/>
                </a:solidFill>
                <a:latin typeface="Arial" pitchFamily="34" charset="0"/>
                <a:ea typeface="Arial" pitchFamily="34" charset="-122"/>
                <a:cs typeface="Arial" pitchFamily="34" charset="-120"/>
              </a:rPr>
              <a:t>A. item</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B. "Masala chai"</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C. "Order: Masala chai"</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D. undefined</a:t>
            </a:r>
            <a:endParaRPr lang="en-US" sz="1200" dirty="0"/>
          </a:p>
        </p:txBody>
      </p:sp>
      <p:sp>
        <p:nvSpPr>
          <p:cNvPr id="7" name="Shape 5"/>
          <p:cNvSpPr/>
          <p:nvPr/>
        </p:nvSpPr>
        <p:spPr>
          <a:xfrm>
            <a:off x="685800" y="4160520"/>
            <a:ext cx="7269480" cy="457200"/>
          </a:xfrm>
          <a:prstGeom prst="roundRect">
            <a:avLst>
              <a:gd name="adj" fmla="val 12000"/>
            </a:avLst>
          </a:prstGeom>
          <a:solidFill>
            <a:srgbClr val="DCFCE7"/>
          </a:solidFill>
          <a:ln w="12700">
            <a:solidFill>
              <a:srgbClr val="86EFAC"/>
            </a:solidFill>
            <a:prstDash val="solid"/>
          </a:ln>
        </p:spPr>
      </p:sp>
      <p:sp>
        <p:nvSpPr>
          <p:cNvPr id="8" name="Text 6"/>
          <p:cNvSpPr/>
          <p:nvPr/>
        </p:nvSpPr>
        <p:spPr>
          <a:xfrm>
            <a:off x="795528" y="4224528"/>
            <a:ext cx="7050024" cy="310896"/>
          </a:xfrm>
          <a:prstGeom prst="rect">
            <a:avLst/>
          </a:prstGeom>
          <a:noFill/>
          <a:ln/>
        </p:spPr>
        <p:txBody>
          <a:bodyPr wrap="square" lIns="0" tIns="0" rIns="0" bIns="0" rtlCol="0" anchor="ctr">
            <a:normAutofit/>
          </a:bodyPr>
          <a:lstStyle/>
          <a:p>
            <a:pPr indent="0" marL="0">
              <a:buNone/>
            </a:pPr>
            <a:r>
              <a:rPr lang="en-US" sz="1020" dirty="0">
                <a:solidFill>
                  <a:srgbClr val="111827"/>
                </a:solidFill>
                <a:latin typeface="Arial" pitchFamily="34" charset="0"/>
                <a:ea typeface="Arial" pitchFamily="34" charset="-122"/>
                <a:cs typeface="Arial" pitchFamily="34" charset="-120"/>
              </a:rPr>
              <a:t>Answer: C</a:t>
            </a:r>
            <a:endParaRPr lang="en-US" sz="1020" dirty="0"/>
          </a:p>
          <a:p>
            <a:pPr indent="0" marL="0">
              <a:buNone/>
            </a:pPr>
            <a:r>
              <a:rPr lang="en-US" sz="1020" dirty="0">
                <a:solidFill>
                  <a:srgbClr val="111827"/>
                </a:solidFill>
                <a:latin typeface="Arial" pitchFamily="34" charset="0"/>
                <a:ea typeface="Arial" pitchFamily="34" charset="-122"/>
                <a:cs typeface="Arial" pitchFamily="34" charset="-120"/>
              </a:rPr>
              <a:t>The argument becomes item, then the function returns the combined string.</a:t>
            </a:r>
            <a:endParaRPr lang="en-US" sz="102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Question 5: Function reference or function call?</a:t>
            </a:r>
            <a:endParaRPr lang="en-US" sz="2100" dirty="0"/>
          </a:p>
        </p:txBody>
      </p:sp>
      <p:sp>
        <p:nvSpPr>
          <p:cNvPr id="3" name="Shape 1"/>
          <p:cNvSpPr/>
          <p:nvPr/>
        </p:nvSpPr>
        <p:spPr>
          <a:xfrm>
            <a:off x="685800" y="1234440"/>
            <a:ext cx="3886200" cy="2011680"/>
          </a:xfrm>
          <a:prstGeom prst="rect">
            <a:avLst/>
          </a:prstGeom>
          <a:solidFill>
            <a:srgbClr val="0F172A"/>
          </a:solidFill>
          <a:ln w="12700">
            <a:solidFill>
              <a:srgbClr val="0F172A"/>
            </a:solidFill>
            <a:prstDash val="solid"/>
          </a:ln>
        </p:spPr>
      </p:sp>
      <p:sp>
        <p:nvSpPr>
          <p:cNvPr id="4" name="Text 2"/>
          <p:cNvSpPr/>
          <p:nvPr/>
        </p:nvSpPr>
        <p:spPr>
          <a:xfrm>
            <a:off x="813816" y="1344168"/>
            <a:ext cx="3630168" cy="1792224"/>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Courier New" pitchFamily="34" charset="0"/>
                <a:ea typeface="Courier New" pitchFamily="34" charset="-122"/>
                <a:cs typeface="Courier New" pitchFamily="34" charset="-120"/>
              </a:rPr>
              <a:t>function showMessage()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console.log("Order received");</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5" name="Text 3"/>
          <p:cNvSpPr/>
          <p:nvPr/>
        </p:nvSpPr>
        <p:spPr>
          <a:xfrm>
            <a:off x="4892040" y="1143000"/>
            <a:ext cx="3611880" cy="548640"/>
          </a:xfrm>
          <a:prstGeom prst="rect">
            <a:avLst/>
          </a:prstGeom>
          <a:noFill/>
          <a:ln/>
        </p:spPr>
        <p:txBody>
          <a:bodyPr wrap="square" lIns="0" tIns="0" rIns="0" bIns="0" rtlCol="0" anchor="t">
            <a:normAutofit/>
          </a:bodyPr>
          <a:lstStyle/>
          <a:p>
            <a:pPr algn="l" indent="0" marL="0">
              <a:lnSpc>
                <a:spcPct val="105000"/>
              </a:lnSpc>
              <a:buNone/>
            </a:pPr>
            <a:r>
              <a:rPr lang="en-US" sz="1260" b="1" dirty="0">
                <a:solidFill>
                  <a:srgbClr val="111827"/>
                </a:solidFill>
                <a:latin typeface="Arial" pitchFamily="34" charset="0"/>
                <a:ea typeface="Arial" pitchFamily="34" charset="-122"/>
                <a:cs typeface="Arial" pitchFamily="34" charset="-120"/>
              </a:rPr>
              <a:t>Which expression refers to the function without running it?</a:t>
            </a:r>
            <a:endParaRPr lang="en-US" sz="1260" dirty="0"/>
          </a:p>
        </p:txBody>
      </p:sp>
      <p:sp>
        <p:nvSpPr>
          <p:cNvPr id="6" name="Text 4"/>
          <p:cNvSpPr/>
          <p:nvPr/>
        </p:nvSpPr>
        <p:spPr>
          <a:xfrm>
            <a:off x="4892040" y="1783080"/>
            <a:ext cx="3611880" cy="2103120"/>
          </a:xfrm>
          <a:prstGeom prst="rect">
            <a:avLst/>
          </a:prstGeom>
          <a:noFill/>
          <a:ln/>
        </p:spPr>
        <p:txBody>
          <a:bodyPr wrap="square" lIns="381" tIns="381" rIns="381" bIns="381" rtlCol="0" anchor="t">
            <a:normAutofit/>
          </a:bodyPr>
          <a:lstStyle/>
          <a:p>
            <a:pPr indent="0" marL="0">
              <a:buNone/>
            </a:pPr>
            <a:r>
              <a:rPr lang="en-US" sz="1200" dirty="0">
                <a:solidFill>
                  <a:srgbClr val="111827"/>
                </a:solidFill>
                <a:latin typeface="Arial" pitchFamily="34" charset="0"/>
                <a:ea typeface="Arial" pitchFamily="34" charset="-122"/>
                <a:cs typeface="Arial" pitchFamily="34" charset="-120"/>
              </a:rPr>
              <a:t>A. showMessage()</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B. showMessage</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C. "showMessage"</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D. function()</a:t>
            </a:r>
            <a:endParaRPr lang="en-US" sz="1200" dirty="0"/>
          </a:p>
        </p:txBody>
      </p:sp>
      <p:sp>
        <p:nvSpPr>
          <p:cNvPr id="7" name="Shape 5"/>
          <p:cNvSpPr/>
          <p:nvPr/>
        </p:nvSpPr>
        <p:spPr>
          <a:xfrm>
            <a:off x="685800" y="4160520"/>
            <a:ext cx="7269480" cy="457200"/>
          </a:xfrm>
          <a:prstGeom prst="roundRect">
            <a:avLst>
              <a:gd name="adj" fmla="val 12000"/>
            </a:avLst>
          </a:prstGeom>
          <a:solidFill>
            <a:srgbClr val="DCFCE7"/>
          </a:solidFill>
          <a:ln w="12700">
            <a:solidFill>
              <a:srgbClr val="86EFAC"/>
            </a:solidFill>
            <a:prstDash val="solid"/>
          </a:ln>
        </p:spPr>
      </p:sp>
      <p:sp>
        <p:nvSpPr>
          <p:cNvPr id="8" name="Text 6"/>
          <p:cNvSpPr/>
          <p:nvPr/>
        </p:nvSpPr>
        <p:spPr>
          <a:xfrm>
            <a:off x="795528" y="4224528"/>
            <a:ext cx="7050024" cy="310896"/>
          </a:xfrm>
          <a:prstGeom prst="rect">
            <a:avLst/>
          </a:prstGeom>
          <a:noFill/>
          <a:ln/>
        </p:spPr>
        <p:txBody>
          <a:bodyPr wrap="square" lIns="0" tIns="0" rIns="0" bIns="0" rtlCol="0" anchor="ctr">
            <a:normAutofit/>
          </a:bodyPr>
          <a:lstStyle/>
          <a:p>
            <a:pPr indent="0" marL="0">
              <a:buNone/>
            </a:pPr>
            <a:r>
              <a:rPr lang="en-US" sz="1020" dirty="0">
                <a:solidFill>
                  <a:srgbClr val="111827"/>
                </a:solidFill>
                <a:latin typeface="Arial" pitchFamily="34" charset="0"/>
                <a:ea typeface="Arial" pitchFamily="34" charset="-122"/>
                <a:cs typeface="Arial" pitchFamily="34" charset="-120"/>
              </a:rPr>
              <a:t>Answer: B</a:t>
            </a:r>
            <a:endParaRPr lang="en-US" sz="1020" dirty="0"/>
          </a:p>
          <a:p>
            <a:pPr indent="0" marL="0">
              <a:buNone/>
            </a:pPr>
            <a:r>
              <a:rPr lang="en-US" sz="1020" dirty="0">
                <a:solidFill>
                  <a:srgbClr val="111827"/>
                </a:solidFill>
                <a:latin typeface="Arial" pitchFamily="34" charset="0"/>
                <a:ea typeface="Arial" pitchFamily="34" charset="-122"/>
                <a:cs typeface="Arial" pitchFamily="34" charset="-120"/>
              </a:rPr>
              <a:t>showMessage is a function reference. showMessage() calls the function immediately.</a:t>
            </a:r>
            <a:endParaRPr lang="en-US" sz="102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285646" y="2048256"/>
            <a:ext cx="6572707" cy="502920"/>
          </a:xfrm>
          <a:prstGeom prst="rect">
            <a:avLst/>
          </a:prstGeom>
          <a:noFill/>
          <a:ln/>
        </p:spPr>
        <p:txBody>
          <a:bodyPr wrap="square" lIns="0" tIns="0" rIns="0" bIns="0" rtlCol="0" anchor="ctr"/>
          <a:lstStyle/>
          <a:p>
            <a:pPr algn="ctr" indent="0" marL="0">
              <a:buNone/>
            </a:pPr>
            <a:r>
              <a:rPr lang="en-US" sz="2550" b="1" dirty="0">
                <a:solidFill>
                  <a:srgbClr val="111827"/>
                </a:solidFill>
                <a:latin typeface="Arial" pitchFamily="34" charset="0"/>
                <a:ea typeface="Arial" pitchFamily="34" charset="-122"/>
                <a:cs typeface="Arial" pitchFamily="34" charset="-120"/>
              </a:rPr>
              <a:t>JavaScript and the webpage</a:t>
            </a:r>
            <a:endParaRPr lang="en-US" sz="2550" dirty="0"/>
          </a:p>
        </p:txBody>
      </p:sp>
      <p:sp>
        <p:nvSpPr>
          <p:cNvPr id="3" name="Text 1"/>
          <p:cNvSpPr/>
          <p:nvPr/>
        </p:nvSpPr>
        <p:spPr>
          <a:xfrm>
            <a:off x="1828800" y="2615184"/>
            <a:ext cx="5486400" cy="320040"/>
          </a:xfrm>
          <a:prstGeom prst="rect">
            <a:avLst/>
          </a:prstGeom>
          <a:noFill/>
          <a:ln/>
        </p:spPr>
        <p:txBody>
          <a:bodyPr wrap="square" lIns="0" tIns="0" rIns="0" bIns="0" rtlCol="0" anchor="ctr"/>
          <a:lstStyle/>
          <a:p>
            <a:pPr algn="ctr" indent="0" marL="0">
              <a:buNone/>
            </a:pPr>
            <a:r>
              <a:rPr lang="en-US" sz="1350" dirty="0">
                <a:solidFill>
                  <a:srgbClr val="334155"/>
                </a:solidFill>
                <a:latin typeface="Arial" pitchFamily="34" charset="0"/>
                <a:ea typeface="Arial" pitchFamily="34" charset="-122"/>
                <a:cs typeface="Arial" pitchFamily="34" charset="-120"/>
              </a:rPr>
              <a:t>Connect JavaScript code to visible page elements.</a:t>
            </a:r>
            <a:endParaRPr lang="en-US" sz="135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The page appears, but it cannot respond</a:t>
            </a:r>
            <a:endParaRPr lang="en-US" sz="2100" dirty="0"/>
          </a:p>
        </p:txBody>
      </p:sp>
      <p:sp>
        <p:nvSpPr>
          <p:cNvPr id="3" name="Shape 1"/>
          <p:cNvSpPr/>
          <p:nvPr/>
        </p:nvSpPr>
        <p:spPr>
          <a:xfrm>
            <a:off x="685800" y="1005840"/>
            <a:ext cx="2926080" cy="3108960"/>
          </a:xfrm>
          <a:prstGeom prst="roundRect">
            <a:avLst>
              <a:gd name="adj" fmla="val 1875"/>
            </a:avLst>
          </a:prstGeom>
          <a:solidFill>
            <a:srgbClr val="FFFFFF"/>
          </a:solidFill>
          <a:ln w="12700">
            <a:solidFill>
              <a:srgbClr val="94A3B8"/>
            </a:solidFill>
            <a:prstDash val="solid"/>
          </a:ln>
        </p:spPr>
      </p:sp>
      <p:sp>
        <p:nvSpPr>
          <p:cNvPr id="4" name="Shape 2"/>
          <p:cNvSpPr/>
          <p:nvPr/>
        </p:nvSpPr>
        <p:spPr>
          <a:xfrm>
            <a:off x="704088" y="1024128"/>
            <a:ext cx="2889504" cy="256032"/>
          </a:xfrm>
          <a:prstGeom prst="rect">
            <a:avLst/>
          </a:prstGeom>
          <a:solidFill>
            <a:srgbClr val="F8FAFC"/>
          </a:solidFill>
          <a:ln w="12700">
            <a:solidFill>
              <a:srgbClr val="F8FAFC"/>
            </a:solidFill>
            <a:prstDash val="solid"/>
          </a:ln>
        </p:spPr>
      </p:sp>
      <p:sp>
        <p:nvSpPr>
          <p:cNvPr id="5" name="Text 3"/>
          <p:cNvSpPr/>
          <p:nvPr/>
        </p:nvSpPr>
        <p:spPr>
          <a:xfrm>
            <a:off x="850392" y="1389888"/>
            <a:ext cx="2596896" cy="228600"/>
          </a:xfrm>
          <a:prstGeom prst="rect">
            <a:avLst/>
          </a:prstGeom>
          <a:noFill/>
          <a:ln/>
        </p:spPr>
        <p:txBody>
          <a:bodyPr wrap="square" lIns="0" tIns="0" rIns="0" bIns="0" rtlCol="0" anchor="t">
            <a:normAutofit/>
          </a:bodyPr>
          <a:lstStyle/>
          <a:p>
            <a:pPr algn="l" indent="0" marL="0">
              <a:lnSpc>
                <a:spcPct val="105000"/>
              </a:lnSpc>
              <a:buNone/>
            </a:pPr>
            <a:r>
              <a:rPr lang="en-US" sz="1280" b="1" dirty="0">
                <a:solidFill>
                  <a:srgbClr val="111827"/>
                </a:solidFill>
                <a:latin typeface="Arial" pitchFamily="34" charset="0"/>
                <a:ea typeface="Arial" pitchFamily="34" charset="-122"/>
                <a:cs typeface="Arial" pitchFamily="34" charset="-120"/>
              </a:rPr>
              <a:t>Café order queue</a:t>
            </a:r>
            <a:endParaRPr lang="en-US" sz="1280" dirty="0"/>
          </a:p>
        </p:txBody>
      </p:sp>
      <p:sp>
        <p:nvSpPr>
          <p:cNvPr id="6" name="Shape 4"/>
          <p:cNvSpPr/>
          <p:nvPr/>
        </p:nvSpPr>
        <p:spPr>
          <a:xfrm>
            <a:off x="850392" y="1719072"/>
            <a:ext cx="2596896" cy="329184"/>
          </a:xfrm>
          <a:prstGeom prst="roundRect">
            <a:avLst>
              <a:gd name="adj" fmla="val 13889"/>
            </a:avLst>
          </a:prstGeom>
          <a:solidFill>
            <a:srgbClr val="EFF6FF"/>
          </a:solidFill>
          <a:ln w="12700">
            <a:solidFill>
              <a:srgbClr val="CBD5E1"/>
            </a:solidFill>
            <a:prstDash val="solid"/>
          </a:ln>
        </p:spPr>
      </p:sp>
      <p:sp>
        <p:nvSpPr>
          <p:cNvPr id="7" name="Text 5"/>
          <p:cNvSpPr/>
          <p:nvPr/>
        </p:nvSpPr>
        <p:spPr>
          <a:xfrm>
            <a:off x="950976" y="1792224"/>
            <a:ext cx="2395728" cy="182880"/>
          </a:xfrm>
          <a:prstGeom prst="rect">
            <a:avLst/>
          </a:prstGeom>
          <a:noFill/>
          <a:ln/>
        </p:spPr>
        <p:txBody>
          <a:bodyPr wrap="square" lIns="0" tIns="0" rIns="0" bIns="0" rtlCol="0" anchor="ctr">
            <a:normAutofit/>
          </a:bodyPr>
          <a:lstStyle/>
          <a:p>
            <a:pPr algn="ctr" indent="0" marL="0">
              <a:buNone/>
            </a:pPr>
            <a:r>
              <a:rPr lang="en-US" sz="1080" dirty="0">
                <a:solidFill>
                  <a:srgbClr val="111827"/>
                </a:solidFill>
                <a:latin typeface="Arial" pitchFamily="34" charset="0"/>
                <a:ea typeface="Arial" pitchFamily="34" charset="-122"/>
                <a:cs typeface="Arial" pitchFamily="34" charset="-120"/>
              </a:rPr>
              <a:t>No new orders</a:t>
            </a:r>
            <a:endParaRPr lang="en-US" sz="1080" dirty="0"/>
          </a:p>
        </p:txBody>
      </p:sp>
      <p:sp>
        <p:nvSpPr>
          <p:cNvPr id="8" name="Shape 6"/>
          <p:cNvSpPr/>
          <p:nvPr/>
        </p:nvSpPr>
        <p:spPr>
          <a:xfrm>
            <a:off x="850392" y="2139696"/>
            <a:ext cx="2596896" cy="292608"/>
          </a:xfrm>
          <a:prstGeom prst="roundRect">
            <a:avLst>
              <a:gd name="adj" fmla="val 15625"/>
            </a:avLst>
          </a:prstGeom>
          <a:solidFill>
            <a:srgbClr val="F3F4F6"/>
          </a:solidFill>
          <a:ln w="12700">
            <a:solidFill>
              <a:srgbClr val="CBD5E1"/>
            </a:solidFill>
            <a:prstDash val="solid"/>
          </a:ln>
        </p:spPr>
      </p:sp>
      <p:sp>
        <p:nvSpPr>
          <p:cNvPr id="9" name="Text 7"/>
          <p:cNvSpPr/>
          <p:nvPr/>
        </p:nvSpPr>
        <p:spPr>
          <a:xfrm>
            <a:off x="950976" y="2212848"/>
            <a:ext cx="2395728" cy="146304"/>
          </a:xfrm>
          <a:prstGeom prst="rect">
            <a:avLst/>
          </a:prstGeom>
          <a:noFill/>
          <a:ln/>
        </p:spPr>
        <p:txBody>
          <a:bodyPr wrap="square" lIns="0" tIns="0" rIns="0" bIns="0" rtlCol="0" anchor="ctr">
            <a:normAutofit/>
          </a:bodyPr>
          <a:lstStyle/>
          <a:p>
            <a:pPr algn="ctr" indent="0" marL="0">
              <a:buNone/>
            </a:pPr>
            <a:r>
              <a:rPr lang="en-US" sz="1040" dirty="0">
                <a:solidFill>
                  <a:srgbClr val="334155"/>
                </a:solidFill>
                <a:latin typeface="Arial" pitchFamily="34" charset="0"/>
                <a:ea typeface="Arial" pitchFamily="34" charset="-122"/>
                <a:cs typeface="Arial" pitchFamily="34" charset="-120"/>
              </a:rPr>
              <a:t>No orders in the queue</a:t>
            </a:r>
            <a:endParaRPr lang="en-US" sz="1040" dirty="0"/>
          </a:p>
        </p:txBody>
      </p:sp>
      <p:sp>
        <p:nvSpPr>
          <p:cNvPr id="10" name="Shape 8"/>
          <p:cNvSpPr/>
          <p:nvPr/>
        </p:nvSpPr>
        <p:spPr>
          <a:xfrm>
            <a:off x="850392" y="3639312"/>
            <a:ext cx="1216152" cy="292608"/>
          </a:xfrm>
          <a:prstGeom prst="roundRect">
            <a:avLst>
              <a:gd name="adj" fmla="val 15625"/>
            </a:avLst>
          </a:prstGeom>
          <a:solidFill>
            <a:srgbClr val="DBEAFE"/>
          </a:solidFill>
          <a:ln w="12700">
            <a:solidFill>
              <a:srgbClr val="93C5FD"/>
            </a:solidFill>
            <a:prstDash val="solid"/>
          </a:ln>
        </p:spPr>
      </p:sp>
      <p:sp>
        <p:nvSpPr>
          <p:cNvPr id="11" name="Text 9"/>
          <p:cNvSpPr/>
          <p:nvPr/>
        </p:nvSpPr>
        <p:spPr>
          <a:xfrm>
            <a:off x="950976" y="3712464"/>
            <a:ext cx="1014984" cy="146304"/>
          </a:xfrm>
          <a:prstGeom prst="rect">
            <a:avLst/>
          </a:prstGeom>
          <a:noFill/>
          <a:ln/>
        </p:spPr>
        <p:txBody>
          <a:bodyPr wrap="square" lIns="0" tIns="0" rIns="0" bIns="0" rtlCol="0" anchor="ctr">
            <a:normAutofit/>
          </a:bodyPr>
          <a:lstStyle/>
          <a:p>
            <a:pPr algn="ctr" indent="0" marL="0">
              <a:buNone/>
            </a:pPr>
            <a:r>
              <a:rPr lang="en-US" sz="980" dirty="0">
                <a:solidFill>
                  <a:srgbClr val="111827"/>
                </a:solidFill>
                <a:latin typeface="Arial" pitchFamily="34" charset="0"/>
                <a:ea typeface="Arial" pitchFamily="34" charset="-122"/>
                <a:cs typeface="Arial" pitchFamily="34" charset="-120"/>
              </a:rPr>
              <a:t>Add order</a:t>
            </a:r>
            <a:endParaRPr lang="en-US" sz="980" dirty="0"/>
          </a:p>
        </p:txBody>
      </p:sp>
      <p:sp>
        <p:nvSpPr>
          <p:cNvPr id="12" name="Shape 10"/>
          <p:cNvSpPr/>
          <p:nvPr/>
        </p:nvSpPr>
        <p:spPr>
          <a:xfrm>
            <a:off x="2231136" y="3639312"/>
            <a:ext cx="1216152" cy="292608"/>
          </a:xfrm>
          <a:prstGeom prst="roundRect">
            <a:avLst>
              <a:gd name="adj" fmla="val 15625"/>
            </a:avLst>
          </a:prstGeom>
          <a:solidFill>
            <a:srgbClr val="F3F4F6"/>
          </a:solidFill>
          <a:ln w="12700">
            <a:solidFill>
              <a:srgbClr val="CBD5E1"/>
            </a:solidFill>
            <a:prstDash val="solid"/>
          </a:ln>
        </p:spPr>
      </p:sp>
      <p:sp>
        <p:nvSpPr>
          <p:cNvPr id="13" name="Text 11"/>
          <p:cNvSpPr/>
          <p:nvPr/>
        </p:nvSpPr>
        <p:spPr>
          <a:xfrm>
            <a:off x="2331720" y="3712464"/>
            <a:ext cx="1014984" cy="146304"/>
          </a:xfrm>
          <a:prstGeom prst="rect">
            <a:avLst/>
          </a:prstGeom>
          <a:noFill/>
          <a:ln/>
        </p:spPr>
        <p:txBody>
          <a:bodyPr wrap="square" lIns="0" tIns="0" rIns="0" bIns="0" rtlCol="0" anchor="ctr">
            <a:normAutofit/>
          </a:bodyPr>
          <a:lstStyle/>
          <a:p>
            <a:pPr algn="ctr" indent="0" marL="0">
              <a:buNone/>
            </a:pPr>
            <a:r>
              <a:rPr lang="en-US" sz="980" dirty="0">
                <a:solidFill>
                  <a:srgbClr val="111827"/>
                </a:solidFill>
                <a:latin typeface="Arial" pitchFamily="34" charset="0"/>
                <a:ea typeface="Arial" pitchFamily="34" charset="-122"/>
                <a:cs typeface="Arial" pitchFamily="34" charset="-120"/>
              </a:rPr>
              <a:t>Serve next</a:t>
            </a:r>
            <a:endParaRPr lang="en-US" sz="980" dirty="0"/>
          </a:p>
        </p:txBody>
      </p:sp>
      <p:sp>
        <p:nvSpPr>
          <p:cNvPr id="14" name="Shape 12"/>
          <p:cNvSpPr/>
          <p:nvPr/>
        </p:nvSpPr>
        <p:spPr>
          <a:xfrm>
            <a:off x="3977640" y="960120"/>
            <a:ext cx="4480560" cy="2743200"/>
          </a:xfrm>
          <a:prstGeom prst="rect">
            <a:avLst/>
          </a:prstGeom>
          <a:solidFill>
            <a:srgbClr val="0F172A"/>
          </a:solidFill>
          <a:ln w="12700">
            <a:solidFill>
              <a:srgbClr val="0F172A"/>
            </a:solidFill>
            <a:prstDash val="solid"/>
          </a:ln>
        </p:spPr>
      </p:sp>
      <p:sp>
        <p:nvSpPr>
          <p:cNvPr id="15" name="Text 13"/>
          <p:cNvSpPr/>
          <p:nvPr/>
        </p:nvSpPr>
        <p:spPr>
          <a:xfrm>
            <a:off x="4105656" y="1069848"/>
            <a:ext cx="4224528" cy="252374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&lt;h1&gt;Café order queue&lt;/h1&gt;</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&lt;p id="order-status"&gt;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No new orders</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&lt;/p&gt;</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&lt;button id="add-order"&gt;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Add order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&lt;/button&gt;</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&lt;button id="serve-next"&gt;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Serve next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&lt;/button&gt;</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&lt;ul id="order-list"&gt;&lt;/ul&gt;</a:t>
            </a:r>
            <a:endParaRPr lang="en-US" sz="1088" dirty="0"/>
          </a:p>
        </p:txBody>
      </p:sp>
      <p:sp>
        <p:nvSpPr>
          <p:cNvPr id="16" name="Shape 14"/>
          <p:cNvSpPr/>
          <p:nvPr/>
        </p:nvSpPr>
        <p:spPr>
          <a:xfrm>
            <a:off x="3977640" y="3822192"/>
            <a:ext cx="4480560" cy="320040"/>
          </a:xfrm>
          <a:prstGeom prst="roundRect">
            <a:avLst>
              <a:gd name="adj" fmla="val 14286"/>
            </a:avLst>
          </a:prstGeom>
          <a:solidFill>
            <a:srgbClr val="FEF3C7"/>
          </a:solidFill>
          <a:ln w="12700">
            <a:solidFill>
              <a:srgbClr val="CBD5E1"/>
            </a:solidFill>
            <a:prstDash val="solid"/>
          </a:ln>
        </p:spPr>
      </p:sp>
      <p:sp>
        <p:nvSpPr>
          <p:cNvPr id="17" name="Text 15"/>
          <p:cNvSpPr/>
          <p:nvPr/>
        </p:nvSpPr>
        <p:spPr>
          <a:xfrm>
            <a:off x="4078224" y="3895344"/>
            <a:ext cx="4279392" cy="173736"/>
          </a:xfrm>
          <a:prstGeom prst="rect">
            <a:avLst/>
          </a:prstGeom>
          <a:noFill/>
          <a:ln/>
        </p:spPr>
        <p:txBody>
          <a:bodyPr wrap="square" lIns="0" tIns="0" rIns="0" bIns="0" rtlCol="0" anchor="ctr">
            <a:normAutofit/>
          </a:bodyPr>
          <a:lstStyle/>
          <a:p>
            <a:pPr algn="ctr" indent="0" marL="0">
              <a:buNone/>
            </a:pPr>
            <a:r>
              <a:rPr lang="en-US" sz="1120" dirty="0">
                <a:solidFill>
                  <a:srgbClr val="111827"/>
                </a:solidFill>
                <a:latin typeface="Arial" pitchFamily="34" charset="0"/>
                <a:ea typeface="Arial" pitchFamily="34" charset="-122"/>
                <a:cs typeface="Arial" pitchFamily="34" charset="-120"/>
              </a:rPr>
              <a:t>Prediction: What changes when Add order is clicked?</a:t>
            </a:r>
            <a:endParaRPr lang="en-US" sz="1120" dirty="0"/>
          </a:p>
        </p:txBody>
      </p:sp>
      <p:sp>
        <p:nvSpPr>
          <p:cNvPr id="18" name="Shape 16"/>
          <p:cNvSpPr/>
          <p:nvPr/>
        </p:nvSpPr>
        <p:spPr>
          <a:xfrm>
            <a:off x="685800" y="4160520"/>
            <a:ext cx="7269480" cy="457200"/>
          </a:xfrm>
          <a:prstGeom prst="roundRect">
            <a:avLst>
              <a:gd name="adj" fmla="val 12000"/>
            </a:avLst>
          </a:prstGeom>
          <a:solidFill>
            <a:srgbClr val="DCFCE7"/>
          </a:solidFill>
          <a:ln w="12700">
            <a:solidFill>
              <a:srgbClr val="86EFAC"/>
            </a:solidFill>
            <a:prstDash val="solid"/>
          </a:ln>
        </p:spPr>
      </p:sp>
      <p:sp>
        <p:nvSpPr>
          <p:cNvPr id="19" name="Text 17"/>
          <p:cNvSpPr/>
          <p:nvPr/>
        </p:nvSpPr>
        <p:spPr>
          <a:xfrm>
            <a:off x="795528" y="4224528"/>
            <a:ext cx="7050024" cy="310896"/>
          </a:xfrm>
          <a:prstGeom prst="rect">
            <a:avLst/>
          </a:prstGeom>
          <a:noFill/>
          <a:ln/>
        </p:spPr>
        <p:txBody>
          <a:bodyPr wrap="square" lIns="0" tIns="0" rIns="0" bIns="0" rtlCol="0" anchor="ctr">
            <a:normAutofit/>
          </a:bodyPr>
          <a:lstStyle/>
          <a:p>
            <a:pPr indent="0" marL="0">
              <a:buNone/>
            </a:pPr>
            <a:r>
              <a:rPr lang="en-US" sz="1020" dirty="0">
                <a:solidFill>
                  <a:srgbClr val="111827"/>
                </a:solidFill>
                <a:latin typeface="Arial" pitchFamily="34" charset="0"/>
                <a:ea typeface="Arial" pitchFamily="34" charset="-122"/>
                <a:cs typeface="Arial" pitchFamily="34" charset="-120"/>
              </a:rPr>
              <a:t>Answer: Nothing changes yet.</a:t>
            </a:r>
            <a:endParaRPr lang="en-US" sz="1020" dirty="0"/>
          </a:p>
          <a:p>
            <a:pPr indent="0" marL="0">
              <a:buNone/>
            </a:pPr>
            <a:r>
              <a:rPr lang="en-US" sz="1020" dirty="0">
                <a:solidFill>
                  <a:srgbClr val="111827"/>
                </a:solidFill>
                <a:latin typeface="Arial" pitchFamily="34" charset="0"/>
                <a:ea typeface="Arial" pitchFamily="34" charset="-122"/>
                <a:cs typeface="Arial" pitchFamily="34" charset="-120"/>
              </a:rPr>
              <a:t>The HTML provides elements, but no JavaScript behaviour has been connected.</a:t>
            </a:r>
            <a:endParaRPr lang="en-US" sz="102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From user action to page update</a:t>
            </a:r>
            <a:endParaRPr lang="en-US" sz="2100" dirty="0"/>
          </a:p>
        </p:txBody>
      </p:sp>
      <p:sp>
        <p:nvSpPr>
          <p:cNvPr id="3" name="Shape 1"/>
          <p:cNvSpPr/>
          <p:nvPr/>
        </p:nvSpPr>
        <p:spPr>
          <a:xfrm>
            <a:off x="685800" y="960120"/>
            <a:ext cx="4663440" cy="3520440"/>
          </a:xfrm>
          <a:prstGeom prst="rect">
            <a:avLst/>
          </a:prstGeom>
          <a:solidFill>
            <a:srgbClr val="0F172A"/>
          </a:solidFill>
          <a:ln w="12700">
            <a:solidFill>
              <a:srgbClr val="0F172A"/>
            </a:solidFill>
            <a:prstDash val="solid"/>
          </a:ln>
        </p:spPr>
      </p:sp>
      <p:sp>
        <p:nvSpPr>
          <p:cNvPr id="4" name="Text 2"/>
          <p:cNvSpPr/>
          <p:nvPr/>
        </p:nvSpPr>
        <p:spPr>
          <a:xfrm>
            <a:off x="813816" y="1069848"/>
            <a:ext cx="4407408" cy="330098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const statusMessage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document.getElementById("order-status");</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const addOrderButton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document.querySelector("#add-order");</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function handleAddOrder()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statusMessage.textContent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"New order received";</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addOrderButton.addEventListener(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"click",</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handleAddOrder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5" name="Shape 3"/>
          <p:cNvSpPr/>
          <p:nvPr/>
        </p:nvSpPr>
        <p:spPr>
          <a:xfrm>
            <a:off x="5623560" y="1051560"/>
            <a:ext cx="2651760" cy="512064"/>
          </a:xfrm>
          <a:prstGeom prst="roundRect">
            <a:avLst>
              <a:gd name="adj" fmla="val 8929"/>
            </a:avLst>
          </a:prstGeom>
          <a:solidFill>
            <a:srgbClr val="EFF6FF"/>
          </a:solidFill>
          <a:ln w="12700">
            <a:solidFill>
              <a:srgbClr val="CBD5E1"/>
            </a:solidFill>
            <a:prstDash val="solid"/>
          </a:ln>
        </p:spPr>
      </p:sp>
      <p:sp>
        <p:nvSpPr>
          <p:cNvPr id="6" name="Text 4"/>
          <p:cNvSpPr/>
          <p:nvPr/>
        </p:nvSpPr>
        <p:spPr>
          <a:xfrm>
            <a:off x="5724144" y="1124712"/>
            <a:ext cx="2450592" cy="365760"/>
          </a:xfrm>
          <a:prstGeom prst="rect">
            <a:avLst/>
          </a:prstGeom>
          <a:noFill/>
          <a:ln/>
        </p:spPr>
        <p:txBody>
          <a:bodyPr wrap="square" lIns="0" tIns="0" rIns="0" bIns="0" rtlCol="0" anchor="ctr">
            <a:normAutofit/>
          </a:bodyPr>
          <a:lstStyle/>
          <a:p>
            <a:pPr algn="l" indent="0" marL="0">
              <a:buNone/>
            </a:pPr>
            <a:r>
              <a:rPr lang="en-US" sz="1100" dirty="0">
                <a:solidFill>
                  <a:srgbClr val="111827"/>
                </a:solidFill>
                <a:latin typeface="Arial" pitchFamily="34" charset="0"/>
                <a:ea typeface="Arial" pitchFamily="34" charset="-122"/>
                <a:cs typeface="Arial" pitchFamily="34" charset="-120"/>
              </a:rPr>
              <a:t>1. Select</a:t>
            </a:r>
            <a:endParaRPr lang="en-US" sz="1100" dirty="0"/>
          </a:p>
          <a:p>
            <a:pPr algn="l" indent="0" marL="0">
              <a:buNone/>
            </a:pPr>
            <a:r>
              <a:rPr lang="en-US" sz="1100" dirty="0">
                <a:solidFill>
                  <a:srgbClr val="111827"/>
                </a:solidFill>
                <a:latin typeface="Arial" pitchFamily="34" charset="0"/>
                <a:ea typeface="Arial" pitchFamily="34" charset="-122"/>
                <a:cs typeface="Arial" pitchFamily="34" charset="-120"/>
              </a:rPr>
              <a:t>Find the elements</a:t>
            </a:r>
            <a:endParaRPr lang="en-US" sz="1100" dirty="0"/>
          </a:p>
        </p:txBody>
      </p:sp>
      <p:sp>
        <p:nvSpPr>
          <p:cNvPr id="7" name="Shape 5"/>
          <p:cNvSpPr/>
          <p:nvPr/>
        </p:nvSpPr>
        <p:spPr>
          <a:xfrm>
            <a:off x="5623560" y="1901952"/>
            <a:ext cx="2651760" cy="512064"/>
          </a:xfrm>
          <a:prstGeom prst="roundRect">
            <a:avLst>
              <a:gd name="adj" fmla="val 8929"/>
            </a:avLst>
          </a:prstGeom>
          <a:solidFill>
            <a:srgbClr val="F5F3FF"/>
          </a:solidFill>
          <a:ln w="12700">
            <a:solidFill>
              <a:srgbClr val="CBD5E1"/>
            </a:solidFill>
            <a:prstDash val="solid"/>
          </a:ln>
        </p:spPr>
      </p:sp>
      <p:sp>
        <p:nvSpPr>
          <p:cNvPr id="8" name="Text 6"/>
          <p:cNvSpPr/>
          <p:nvPr/>
        </p:nvSpPr>
        <p:spPr>
          <a:xfrm>
            <a:off x="5724144" y="1975104"/>
            <a:ext cx="2450592" cy="365760"/>
          </a:xfrm>
          <a:prstGeom prst="rect">
            <a:avLst/>
          </a:prstGeom>
          <a:noFill/>
          <a:ln/>
        </p:spPr>
        <p:txBody>
          <a:bodyPr wrap="square" lIns="0" tIns="0" rIns="0" bIns="0" rtlCol="0" anchor="ctr">
            <a:normAutofit/>
          </a:bodyPr>
          <a:lstStyle/>
          <a:p>
            <a:pPr algn="l" indent="0" marL="0">
              <a:buNone/>
            </a:pPr>
            <a:r>
              <a:rPr lang="en-US" sz="1100" dirty="0">
                <a:solidFill>
                  <a:srgbClr val="111827"/>
                </a:solidFill>
                <a:latin typeface="Arial" pitchFamily="34" charset="0"/>
                <a:ea typeface="Arial" pitchFamily="34" charset="-122"/>
                <a:cs typeface="Arial" pitchFamily="34" charset="-120"/>
              </a:rPr>
              <a:t>2. Listen</a:t>
            </a:r>
            <a:endParaRPr lang="en-US" sz="1100" dirty="0"/>
          </a:p>
          <a:p>
            <a:pPr algn="l" indent="0" marL="0">
              <a:buNone/>
            </a:pPr>
            <a:r>
              <a:rPr lang="en-US" sz="1100" dirty="0">
                <a:solidFill>
                  <a:srgbClr val="111827"/>
                </a:solidFill>
                <a:latin typeface="Arial" pitchFamily="34" charset="0"/>
                <a:ea typeface="Arial" pitchFamily="34" charset="-122"/>
                <a:cs typeface="Arial" pitchFamily="34" charset="-120"/>
              </a:rPr>
              <a:t>Register the event</a:t>
            </a:r>
            <a:endParaRPr lang="en-US" sz="1100" dirty="0"/>
          </a:p>
        </p:txBody>
      </p:sp>
      <p:sp>
        <p:nvSpPr>
          <p:cNvPr id="9" name="Shape 7"/>
          <p:cNvSpPr/>
          <p:nvPr/>
        </p:nvSpPr>
        <p:spPr>
          <a:xfrm>
            <a:off x="5623560" y="2752344"/>
            <a:ext cx="2651760" cy="512064"/>
          </a:xfrm>
          <a:prstGeom prst="roundRect">
            <a:avLst>
              <a:gd name="adj" fmla="val 8929"/>
            </a:avLst>
          </a:prstGeom>
          <a:solidFill>
            <a:srgbClr val="EFF6FF"/>
          </a:solidFill>
          <a:ln w="12700">
            <a:solidFill>
              <a:srgbClr val="CBD5E1"/>
            </a:solidFill>
            <a:prstDash val="solid"/>
          </a:ln>
        </p:spPr>
      </p:sp>
      <p:sp>
        <p:nvSpPr>
          <p:cNvPr id="10" name="Text 8"/>
          <p:cNvSpPr/>
          <p:nvPr/>
        </p:nvSpPr>
        <p:spPr>
          <a:xfrm>
            <a:off x="5724144" y="2825496"/>
            <a:ext cx="2450592" cy="365760"/>
          </a:xfrm>
          <a:prstGeom prst="rect">
            <a:avLst/>
          </a:prstGeom>
          <a:noFill/>
          <a:ln/>
        </p:spPr>
        <p:txBody>
          <a:bodyPr wrap="square" lIns="0" tIns="0" rIns="0" bIns="0" rtlCol="0" anchor="ctr">
            <a:normAutofit/>
          </a:bodyPr>
          <a:lstStyle/>
          <a:p>
            <a:pPr algn="l" indent="0" marL="0">
              <a:buNone/>
            </a:pPr>
            <a:r>
              <a:rPr lang="en-US" sz="1100" dirty="0">
                <a:solidFill>
                  <a:srgbClr val="111827"/>
                </a:solidFill>
                <a:latin typeface="Arial" pitchFamily="34" charset="0"/>
                <a:ea typeface="Arial" pitchFamily="34" charset="-122"/>
                <a:cs typeface="Arial" pitchFamily="34" charset="-120"/>
              </a:rPr>
              <a:t>3. Run</a:t>
            </a:r>
            <a:endParaRPr lang="en-US" sz="1100" dirty="0"/>
          </a:p>
          <a:p>
            <a:pPr algn="l" indent="0" marL="0">
              <a:buNone/>
            </a:pPr>
            <a:r>
              <a:rPr lang="en-US" sz="1100" dirty="0">
                <a:solidFill>
                  <a:srgbClr val="111827"/>
                </a:solidFill>
                <a:latin typeface="Arial" pitchFamily="34" charset="0"/>
                <a:ea typeface="Arial" pitchFamily="34" charset="-122"/>
                <a:cs typeface="Arial" pitchFamily="34" charset="-120"/>
              </a:rPr>
              <a:t>Use the handler</a:t>
            </a:r>
            <a:endParaRPr lang="en-US" sz="1100" dirty="0"/>
          </a:p>
        </p:txBody>
      </p:sp>
      <p:sp>
        <p:nvSpPr>
          <p:cNvPr id="11" name="Shape 9"/>
          <p:cNvSpPr/>
          <p:nvPr/>
        </p:nvSpPr>
        <p:spPr>
          <a:xfrm>
            <a:off x="5623560" y="3602736"/>
            <a:ext cx="2651760" cy="512064"/>
          </a:xfrm>
          <a:prstGeom prst="roundRect">
            <a:avLst>
              <a:gd name="adj" fmla="val 8929"/>
            </a:avLst>
          </a:prstGeom>
          <a:solidFill>
            <a:srgbClr val="F5F3FF"/>
          </a:solidFill>
          <a:ln w="12700">
            <a:solidFill>
              <a:srgbClr val="CBD5E1"/>
            </a:solidFill>
            <a:prstDash val="solid"/>
          </a:ln>
        </p:spPr>
      </p:sp>
      <p:sp>
        <p:nvSpPr>
          <p:cNvPr id="12" name="Text 10"/>
          <p:cNvSpPr/>
          <p:nvPr/>
        </p:nvSpPr>
        <p:spPr>
          <a:xfrm>
            <a:off x="5724144" y="3675888"/>
            <a:ext cx="2450592" cy="365760"/>
          </a:xfrm>
          <a:prstGeom prst="rect">
            <a:avLst/>
          </a:prstGeom>
          <a:noFill/>
          <a:ln/>
        </p:spPr>
        <p:txBody>
          <a:bodyPr wrap="square" lIns="0" tIns="0" rIns="0" bIns="0" rtlCol="0" anchor="ctr">
            <a:normAutofit/>
          </a:bodyPr>
          <a:lstStyle/>
          <a:p>
            <a:pPr algn="l" indent="0" marL="0">
              <a:buNone/>
            </a:pPr>
            <a:r>
              <a:rPr lang="en-US" sz="1100" dirty="0">
                <a:solidFill>
                  <a:srgbClr val="111827"/>
                </a:solidFill>
                <a:latin typeface="Arial" pitchFamily="34" charset="0"/>
                <a:ea typeface="Arial" pitchFamily="34" charset="-122"/>
                <a:cs typeface="Arial" pitchFamily="34" charset="-120"/>
              </a:rPr>
              <a:t>4. Update</a:t>
            </a:r>
            <a:endParaRPr lang="en-US" sz="1100" dirty="0"/>
          </a:p>
          <a:p>
            <a:pPr algn="l" indent="0" marL="0">
              <a:buNone/>
            </a:pPr>
            <a:r>
              <a:rPr lang="en-US" sz="1100" dirty="0">
                <a:solidFill>
                  <a:srgbClr val="111827"/>
                </a:solidFill>
                <a:latin typeface="Arial" pitchFamily="34" charset="0"/>
                <a:ea typeface="Arial" pitchFamily="34" charset="-122"/>
                <a:cs typeface="Arial" pitchFamily="34" charset="-120"/>
              </a:rPr>
              <a:t>Change the page</a:t>
            </a:r>
            <a:endParaRPr lang="en-US" sz="110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The browser represents the page as objects</a:t>
            </a:r>
            <a:endParaRPr lang="en-US" sz="2100" dirty="0"/>
          </a:p>
        </p:txBody>
      </p:sp>
      <p:sp>
        <p:nvSpPr>
          <p:cNvPr id="4" name="Shape 1"/>
          <p:cNvSpPr/>
          <p:nvPr/>
        </p:nvSpPr>
        <p:spPr>
          <a:xfrm>
            <a:off x="685800" y="1097280"/>
            <a:ext cx="3703320" cy="1828800"/>
          </a:xfrm>
          <a:prstGeom prst="rect">
            <a:avLst/>
          </a:prstGeom>
          <a:solidFill>
            <a:srgbClr val="0F172A"/>
          </a:solidFill>
          <a:ln w="12700">
            <a:solidFill>
              <a:srgbClr val="0F172A"/>
            </a:solidFill>
            <a:prstDash val="solid"/>
          </a:ln>
        </p:spPr>
      </p:sp>
      <p:sp>
        <p:nvSpPr>
          <p:cNvPr id="5" name="Text 2"/>
          <p:cNvSpPr/>
          <p:nvPr/>
        </p:nvSpPr>
        <p:spPr>
          <a:xfrm>
            <a:off x="813816" y="1207008"/>
            <a:ext cx="3447288" cy="160934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&lt;body&gt;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&lt;h1&gt;Café order queue&lt;/h1&gt;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&lt;p id="order-status"&gt;No new orders&lt;/p&gt;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&lt;button id="add-order"&gt;Add order&lt;/button&gt;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&lt;/body&gt;</a:t>
            </a:r>
            <a:endParaRPr lang="en-US" sz="1088" dirty="0"/>
          </a:p>
        </p:txBody>
      </p:sp>
      <p:sp>
        <p:nvSpPr>
          <p:cNvPr id="6" name="Shape 3"/>
          <p:cNvSpPr/>
          <p:nvPr/>
        </p:nvSpPr>
        <p:spPr>
          <a:xfrm>
            <a:off x="4663440" y="1143000"/>
            <a:ext cx="3474720" cy="1691640"/>
          </a:xfrm>
          <a:prstGeom prst="roundRect">
            <a:avLst>
              <a:gd name="adj" fmla="val 2703"/>
            </a:avLst>
          </a:prstGeom>
          <a:solidFill>
            <a:srgbClr val="F3F4F6"/>
          </a:solidFill>
          <a:ln w="12700">
            <a:solidFill>
              <a:srgbClr val="CBD5E1"/>
            </a:solidFill>
            <a:prstDash val="solid"/>
          </a:ln>
        </p:spPr>
      </p:sp>
      <p:sp>
        <p:nvSpPr>
          <p:cNvPr id="7" name="Text 4"/>
          <p:cNvSpPr/>
          <p:nvPr/>
        </p:nvSpPr>
        <p:spPr>
          <a:xfrm>
            <a:off x="4764024" y="1216152"/>
            <a:ext cx="3273552" cy="1545336"/>
          </a:xfrm>
          <a:prstGeom prst="rect">
            <a:avLst/>
          </a:prstGeom>
          <a:noFill/>
          <a:ln/>
        </p:spPr>
        <p:txBody>
          <a:bodyPr wrap="square" lIns="0" tIns="0" rIns="0" bIns="0" rtlCol="0" anchor="ctr">
            <a:normAutofit/>
          </a:bodyPr>
          <a:lstStyle/>
          <a:p>
            <a:pPr algn="l" indent="0" marL="0">
              <a:buNone/>
            </a:pPr>
            <a:r>
              <a:rPr lang="en-US" sz="1150" dirty="0">
                <a:solidFill>
                  <a:srgbClr val="111827"/>
                </a:solidFill>
                <a:latin typeface="Courier New" pitchFamily="34" charset="0"/>
                <a:ea typeface="Courier New" pitchFamily="34" charset="-122"/>
                <a:cs typeface="Courier New" pitchFamily="34" charset="-120"/>
              </a:rPr>
              <a:t>document</a:t>
            </a:r>
            <a:endParaRPr lang="en-US" sz="1150" dirty="0"/>
          </a:p>
          <a:p>
            <a:pPr algn="l" indent="0" marL="0">
              <a:buNone/>
            </a:pPr>
            <a:r>
              <a:rPr lang="en-US" sz="1150" dirty="0">
                <a:solidFill>
                  <a:srgbClr val="111827"/>
                </a:solidFill>
                <a:latin typeface="Courier New" pitchFamily="34" charset="0"/>
                <a:ea typeface="Courier New" pitchFamily="34" charset="-122"/>
                <a:cs typeface="Courier New" pitchFamily="34" charset="-120"/>
              </a:rPr>
              <a:t>  body</a:t>
            </a:r>
            <a:endParaRPr lang="en-US" sz="1150" dirty="0"/>
          </a:p>
          <a:p>
            <a:pPr algn="l" indent="0" marL="0">
              <a:buNone/>
            </a:pPr>
            <a:r>
              <a:rPr lang="en-US" sz="1150" dirty="0">
                <a:solidFill>
                  <a:srgbClr val="111827"/>
                </a:solidFill>
                <a:latin typeface="Courier New" pitchFamily="34" charset="0"/>
                <a:ea typeface="Courier New" pitchFamily="34" charset="-122"/>
                <a:cs typeface="Courier New" pitchFamily="34" charset="-120"/>
              </a:rPr>
              <a:t>    h1</a:t>
            </a:r>
            <a:endParaRPr lang="en-US" sz="1150" dirty="0"/>
          </a:p>
          <a:p>
            <a:pPr algn="l" indent="0" marL="0">
              <a:buNone/>
            </a:pPr>
            <a:r>
              <a:rPr lang="en-US" sz="1150" dirty="0">
                <a:solidFill>
                  <a:srgbClr val="111827"/>
                </a:solidFill>
                <a:latin typeface="Courier New" pitchFamily="34" charset="0"/>
                <a:ea typeface="Courier New" pitchFamily="34" charset="-122"/>
                <a:cs typeface="Courier New" pitchFamily="34" charset="-120"/>
              </a:rPr>
              <a:t>    p#order-status</a:t>
            </a:r>
            <a:endParaRPr lang="en-US" sz="1150" dirty="0"/>
          </a:p>
          <a:p>
            <a:pPr algn="l" indent="0" marL="0">
              <a:buNone/>
            </a:pPr>
            <a:r>
              <a:rPr lang="en-US" sz="1150" dirty="0">
                <a:solidFill>
                  <a:srgbClr val="111827"/>
                </a:solidFill>
                <a:latin typeface="Courier New" pitchFamily="34" charset="0"/>
                <a:ea typeface="Courier New" pitchFamily="34" charset="-122"/>
                <a:cs typeface="Courier New" pitchFamily="34" charset="-120"/>
              </a:rPr>
              <a:t>    button#add-order</a:t>
            </a:r>
            <a:endParaRPr lang="en-US" sz="1150" dirty="0"/>
          </a:p>
        </p:txBody>
      </p:sp>
      <p:sp>
        <p:nvSpPr>
          <p:cNvPr id="8" name="Text 5"/>
          <p:cNvSpPr/>
          <p:nvPr/>
        </p:nvSpPr>
        <p:spPr>
          <a:xfrm>
            <a:off x="685800" y="3246120"/>
            <a:ext cx="2926080" cy="228600"/>
          </a:xfrm>
          <a:prstGeom prst="rect">
            <a:avLst/>
          </a:prstGeom>
          <a:noFill/>
          <a:ln/>
        </p:spPr>
        <p:txBody>
          <a:bodyPr wrap="square" lIns="0" tIns="0" rIns="0" bIns="0" rtlCol="0" anchor="t">
            <a:normAutofit/>
          </a:bodyPr>
          <a:lstStyle/>
          <a:p>
            <a:pPr algn="l" indent="0" marL="0">
              <a:lnSpc>
                <a:spcPct val="105000"/>
              </a:lnSpc>
              <a:buNone/>
            </a:pPr>
            <a:r>
              <a:rPr lang="en-US" sz="1425" b="1" dirty="0">
                <a:solidFill>
                  <a:srgbClr val="111827"/>
                </a:solidFill>
                <a:latin typeface="Arial" pitchFamily="34" charset="0"/>
                <a:ea typeface="Arial" pitchFamily="34" charset="-122"/>
                <a:cs typeface="Arial" pitchFamily="34" charset="-120"/>
              </a:rPr>
              <a:t>Document Object Model</a:t>
            </a:r>
            <a:endParaRPr lang="en-US" sz="1425" dirty="0"/>
          </a:p>
        </p:txBody>
      </p:sp>
      <p:sp>
        <p:nvSpPr>
          <p:cNvPr id="9" name="Text 6"/>
          <p:cNvSpPr/>
          <p:nvPr/>
        </p:nvSpPr>
        <p:spPr>
          <a:xfrm>
            <a:off x="685800" y="3566160"/>
            <a:ext cx="7406640" cy="548640"/>
          </a:xfrm>
          <a:prstGeom prst="rect">
            <a:avLst/>
          </a:prstGeom>
          <a:noFill/>
          <a:ln/>
        </p:spPr>
        <p:txBody>
          <a:bodyPr wrap="square" lIns="0" tIns="0" rIns="0" bIns="0" rtlCol="0" anchor="t">
            <a:normAutofit/>
          </a:bodyPr>
          <a:lstStyle/>
          <a:p>
            <a:pPr algn="l" indent="0" marL="0">
              <a:lnSpc>
                <a:spcPct val="105000"/>
              </a:lnSpc>
              <a:buNone/>
            </a:pPr>
            <a:r>
              <a:rPr lang="en-US" sz="1310" dirty="0">
                <a:solidFill>
                  <a:srgbClr val="334155"/>
                </a:solidFill>
                <a:latin typeface="Arial" pitchFamily="34" charset="0"/>
                <a:ea typeface="Arial" pitchFamily="34" charset="-122"/>
                <a:cs typeface="Arial" pitchFamily="34" charset="-120"/>
              </a:rPr>
              <a:t>The browser represents the HTML document as a tree of objects. JavaScript starts from document to access and change these page objects.</a:t>
            </a:r>
            <a:endParaRPr lang="en-US" sz="1310" dirty="0"/>
          </a:p>
        </p:txBody>
      </p:sp>
      <p:sp>
        <p:nvSpPr>
          <p:cNvPr id="10" name="Shape 7"/>
          <p:cNvSpPr/>
          <p:nvPr/>
        </p:nvSpPr>
        <p:spPr>
          <a:xfrm>
            <a:off x="4434840" y="1938528"/>
            <a:ext cx="182880" cy="0"/>
          </a:xfrm>
          <a:prstGeom prst="line">
            <a:avLst/>
          </a:prstGeom>
          <a:noFill/>
          <a:ln w="15875">
            <a:solidFill>
              <a:srgbClr val="2563EB"/>
            </a:solidFill>
            <a:prstDash val="solid"/>
            <a:headEnd type="none"/>
            <a:tailEnd type="triangle"/>
          </a:ln>
        </p:spPr>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1285646" y="2048256"/>
            <a:ext cx="6572707" cy="502920"/>
          </a:xfrm>
          <a:prstGeom prst="rect">
            <a:avLst/>
          </a:prstGeom>
          <a:noFill/>
          <a:ln/>
        </p:spPr>
        <p:txBody>
          <a:bodyPr wrap="square" lIns="0" tIns="0" rIns="0" bIns="0" rtlCol="0" anchor="ctr"/>
          <a:lstStyle/>
          <a:p>
            <a:pPr algn="ctr" indent="0" marL="0">
              <a:buNone/>
            </a:pPr>
            <a:r>
              <a:rPr lang="en-US" sz="2550" b="1" dirty="0">
                <a:solidFill>
                  <a:srgbClr val="111827"/>
                </a:solidFill>
                <a:latin typeface="Arial" pitchFamily="34" charset="0"/>
                <a:ea typeface="Arial" pitchFamily="34" charset="-122"/>
                <a:cs typeface="Arial" pitchFamily="34" charset="-120"/>
              </a:rPr>
              <a:t>Selecting page elements</a:t>
            </a:r>
            <a:endParaRPr lang="en-US" sz="2550" dirty="0"/>
          </a:p>
        </p:txBody>
      </p:sp>
      <p:sp>
        <p:nvSpPr>
          <p:cNvPr id="3" name="Text 1"/>
          <p:cNvSpPr/>
          <p:nvPr/>
        </p:nvSpPr>
        <p:spPr>
          <a:xfrm>
            <a:off x="1828800" y="2615184"/>
            <a:ext cx="5486400" cy="320040"/>
          </a:xfrm>
          <a:prstGeom prst="rect">
            <a:avLst/>
          </a:prstGeom>
          <a:noFill/>
          <a:ln/>
        </p:spPr>
        <p:txBody>
          <a:bodyPr wrap="square" lIns="0" tIns="0" rIns="0" bIns="0" rtlCol="0" anchor="ctr"/>
          <a:lstStyle/>
          <a:p>
            <a:pPr algn="ctr" indent="0" marL="0">
              <a:buNone/>
            </a:pPr>
            <a:r>
              <a:rPr lang="en-US" sz="1350" dirty="0">
                <a:solidFill>
                  <a:srgbClr val="334155"/>
                </a:solidFill>
                <a:latin typeface="Arial" pitchFamily="34" charset="0"/>
                <a:ea typeface="Arial" pitchFamily="34" charset="-122"/>
                <a:cs typeface="Arial" pitchFamily="34" charset="-120"/>
              </a:rPr>
              <a:t>Find an existing element before reading or changing it.</a:t>
            </a:r>
            <a:endParaRPr lang="en-US" sz="135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Select an element by its ID</a:t>
            </a:r>
            <a:endParaRPr lang="en-US" sz="2100" dirty="0"/>
          </a:p>
        </p:txBody>
      </p:sp>
      <p:sp>
        <p:nvSpPr>
          <p:cNvPr id="4" name="Shape 1"/>
          <p:cNvSpPr/>
          <p:nvPr/>
        </p:nvSpPr>
        <p:spPr>
          <a:xfrm>
            <a:off x="685800" y="1051560"/>
            <a:ext cx="3108960" cy="1051560"/>
          </a:xfrm>
          <a:prstGeom prst="rect">
            <a:avLst/>
          </a:prstGeom>
          <a:solidFill>
            <a:srgbClr val="0F172A"/>
          </a:solidFill>
          <a:ln w="12700">
            <a:solidFill>
              <a:srgbClr val="0F172A"/>
            </a:solidFill>
            <a:prstDash val="solid"/>
          </a:ln>
        </p:spPr>
      </p:sp>
      <p:sp>
        <p:nvSpPr>
          <p:cNvPr id="5" name="Text 2"/>
          <p:cNvSpPr/>
          <p:nvPr/>
        </p:nvSpPr>
        <p:spPr>
          <a:xfrm>
            <a:off x="813816" y="1161288"/>
            <a:ext cx="2852928" cy="83210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&lt;p id="order-status"&gt;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No new orders</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&lt;/p&gt;</a:t>
            </a:r>
            <a:endParaRPr lang="en-US" sz="1088" dirty="0"/>
          </a:p>
        </p:txBody>
      </p:sp>
      <p:sp>
        <p:nvSpPr>
          <p:cNvPr id="6" name="Shape 3"/>
          <p:cNvSpPr/>
          <p:nvPr/>
        </p:nvSpPr>
        <p:spPr>
          <a:xfrm>
            <a:off x="685800" y="2423160"/>
            <a:ext cx="3840480" cy="1005840"/>
          </a:xfrm>
          <a:prstGeom prst="rect">
            <a:avLst/>
          </a:prstGeom>
          <a:solidFill>
            <a:srgbClr val="0F172A"/>
          </a:solidFill>
          <a:ln w="12700">
            <a:solidFill>
              <a:srgbClr val="0F172A"/>
            </a:solidFill>
            <a:prstDash val="solid"/>
          </a:ln>
        </p:spPr>
      </p:sp>
      <p:sp>
        <p:nvSpPr>
          <p:cNvPr id="7" name="Text 4"/>
          <p:cNvSpPr/>
          <p:nvPr/>
        </p:nvSpPr>
        <p:spPr>
          <a:xfrm>
            <a:off x="813816" y="2532888"/>
            <a:ext cx="3584448" cy="78638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const statusMessage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document.getElementById("order-status");</a:t>
            </a:r>
            <a:endParaRPr lang="en-US" sz="1088" dirty="0"/>
          </a:p>
        </p:txBody>
      </p:sp>
      <p:sp>
        <p:nvSpPr>
          <p:cNvPr id="8" name="Shape 5"/>
          <p:cNvSpPr/>
          <p:nvPr/>
        </p:nvSpPr>
        <p:spPr>
          <a:xfrm>
            <a:off x="3749040" y="1600200"/>
            <a:ext cx="685800" cy="0"/>
          </a:xfrm>
          <a:prstGeom prst="line">
            <a:avLst/>
          </a:prstGeom>
          <a:noFill/>
          <a:ln w="15875">
            <a:solidFill>
              <a:srgbClr val="2563EB"/>
            </a:solidFill>
            <a:prstDash val="solid"/>
            <a:headEnd type="none"/>
            <a:tailEnd type="triangle"/>
          </a:ln>
        </p:spPr>
      </p:sp>
      <p:sp>
        <p:nvSpPr>
          <p:cNvPr id="9" name="Shape 6"/>
          <p:cNvSpPr/>
          <p:nvPr/>
        </p:nvSpPr>
        <p:spPr>
          <a:xfrm>
            <a:off x="4526280" y="1325880"/>
            <a:ext cx="3566160" cy="530352"/>
          </a:xfrm>
          <a:prstGeom prst="roundRect">
            <a:avLst>
              <a:gd name="adj" fmla="val 8621"/>
            </a:avLst>
          </a:prstGeom>
          <a:solidFill>
            <a:srgbClr val="DCFCE7"/>
          </a:solidFill>
          <a:ln w="12700">
            <a:solidFill>
              <a:srgbClr val="CBD5E1"/>
            </a:solidFill>
            <a:prstDash val="solid"/>
          </a:ln>
        </p:spPr>
      </p:sp>
      <p:sp>
        <p:nvSpPr>
          <p:cNvPr id="10" name="Text 7"/>
          <p:cNvSpPr/>
          <p:nvPr/>
        </p:nvSpPr>
        <p:spPr>
          <a:xfrm>
            <a:off x="4626864" y="1399032"/>
            <a:ext cx="3364992" cy="384048"/>
          </a:xfrm>
          <a:prstGeom prst="rect">
            <a:avLst/>
          </a:prstGeom>
          <a:noFill/>
          <a:ln/>
        </p:spPr>
        <p:txBody>
          <a:bodyPr wrap="square" lIns="0" tIns="0" rIns="0" bIns="0" rtlCol="0" anchor="ctr">
            <a:normAutofit/>
          </a:bodyPr>
          <a:lstStyle/>
          <a:p>
            <a:pPr algn="l" indent="0" marL="0">
              <a:buNone/>
            </a:pPr>
            <a:r>
              <a:rPr lang="en-US" sz="1200" dirty="0">
                <a:solidFill>
                  <a:srgbClr val="111827"/>
                </a:solidFill>
                <a:latin typeface="Arial" pitchFamily="34" charset="0"/>
                <a:ea typeface="Arial" pitchFamily="34" charset="-122"/>
                <a:cs typeface="Arial" pitchFamily="34" charset="-120"/>
              </a:rPr>
              <a:t>statusMessage refers to the paragraph element.</a:t>
            </a:r>
            <a:endParaRPr lang="en-US" sz="1200" dirty="0"/>
          </a:p>
        </p:txBody>
      </p:sp>
      <p:sp>
        <p:nvSpPr>
          <p:cNvPr id="11" name="Text 8"/>
          <p:cNvSpPr/>
          <p:nvPr/>
        </p:nvSpPr>
        <p:spPr>
          <a:xfrm>
            <a:off x="4617720" y="2148840"/>
            <a:ext cx="3657600" cy="219456"/>
          </a:xfrm>
          <a:prstGeom prst="rect">
            <a:avLst/>
          </a:prstGeom>
          <a:noFill/>
          <a:ln/>
        </p:spPr>
        <p:txBody>
          <a:bodyPr wrap="square" lIns="0" tIns="0" rIns="0" bIns="0" rtlCol="0" anchor="ctr">
            <a:normAutofit/>
          </a:bodyPr>
          <a:lstStyle/>
          <a:p>
            <a:r>
              <a:rPr lang="en-US" sz="1220" dirty="0">
                <a:solidFill>
                  <a:srgbClr val="111827"/>
                </a:solidFill>
                <a:latin typeface="Arial" pitchFamily="34" charset="0"/>
                <a:ea typeface="Arial" pitchFamily="34" charset="-122"/>
                <a:cs typeface="Arial" pitchFamily="34" charset="-120"/>
              </a:rPr>
              <a:t>document represents the current webpage.</a:t>
            </a:r>
            <a:endParaRPr lang="en-US" sz="1220" dirty="0"/>
          </a:p>
        </p:txBody>
      </p:sp>
      <p:sp>
        <p:nvSpPr>
          <p:cNvPr id="12" name="Text 9"/>
          <p:cNvSpPr/>
          <p:nvPr/>
        </p:nvSpPr>
        <p:spPr>
          <a:xfrm>
            <a:off x="4617720" y="2409444"/>
            <a:ext cx="3657600" cy="219456"/>
          </a:xfrm>
          <a:prstGeom prst="rect">
            <a:avLst/>
          </a:prstGeom>
          <a:noFill/>
          <a:ln/>
        </p:spPr>
        <p:txBody>
          <a:bodyPr wrap="square" lIns="0" tIns="0" rIns="0" bIns="0" rtlCol="0" anchor="ctr">
            <a:normAutofit/>
          </a:bodyPr>
          <a:lstStyle/>
          <a:p>
            <a:r>
              <a:rPr lang="en-US" sz="1220" dirty="0">
                <a:solidFill>
                  <a:srgbClr val="111827"/>
                </a:solidFill>
                <a:latin typeface="Arial" pitchFamily="34" charset="0"/>
                <a:ea typeface="Arial" pitchFamily="34" charset="-122"/>
                <a:cs typeface="Arial" pitchFamily="34" charset="-120"/>
              </a:rPr>
              <a:t>getElementById(...) searches for the ID value.</a:t>
            </a:r>
            <a:endParaRPr lang="en-US" sz="1220" dirty="0"/>
          </a:p>
        </p:txBody>
      </p:sp>
      <p:sp>
        <p:nvSpPr>
          <p:cNvPr id="13" name="Text 10"/>
          <p:cNvSpPr/>
          <p:nvPr/>
        </p:nvSpPr>
        <p:spPr>
          <a:xfrm>
            <a:off x="4617720" y="2670048"/>
            <a:ext cx="3657600" cy="219456"/>
          </a:xfrm>
          <a:prstGeom prst="rect">
            <a:avLst/>
          </a:prstGeom>
          <a:noFill/>
          <a:ln/>
        </p:spPr>
        <p:txBody>
          <a:bodyPr wrap="square" lIns="0" tIns="0" rIns="0" bIns="0" rtlCol="0" anchor="ctr">
            <a:normAutofit/>
          </a:bodyPr>
          <a:lstStyle/>
          <a:p>
            <a:r>
              <a:rPr lang="en-US" sz="1220" dirty="0">
                <a:solidFill>
                  <a:srgbClr val="111827"/>
                </a:solidFill>
                <a:latin typeface="Arial" pitchFamily="34" charset="0"/>
                <a:ea typeface="Arial" pitchFamily="34" charset="-122"/>
                <a:cs typeface="Arial" pitchFamily="34" charset="-120"/>
              </a:rPr>
              <a:t>"order-status" matches the paragraph’s id.</a:t>
            </a:r>
            <a:endParaRPr lang="en-US" sz="1220" dirty="0"/>
          </a:p>
        </p:txBody>
      </p:sp>
      <p:sp>
        <p:nvSpPr>
          <p:cNvPr id="14" name="Text 11"/>
          <p:cNvSpPr/>
          <p:nvPr/>
        </p:nvSpPr>
        <p:spPr>
          <a:xfrm>
            <a:off x="4617720" y="2930652"/>
            <a:ext cx="3657600" cy="219456"/>
          </a:xfrm>
          <a:prstGeom prst="rect">
            <a:avLst/>
          </a:prstGeom>
          <a:noFill/>
          <a:ln/>
        </p:spPr>
        <p:txBody>
          <a:bodyPr wrap="square" lIns="0" tIns="0" rIns="0" bIns="0" rtlCol="0" anchor="ctr">
            <a:normAutofit/>
          </a:bodyPr>
          <a:lstStyle/>
          <a:p>
            <a:r>
              <a:rPr lang="en-US" sz="1220" dirty="0">
                <a:solidFill>
                  <a:srgbClr val="111827"/>
                </a:solidFill>
                <a:latin typeface="Arial" pitchFamily="34" charset="0"/>
                <a:ea typeface="Arial" pitchFamily="34" charset="-122"/>
                <a:cs typeface="Arial" pitchFamily="34" charset="-120"/>
              </a:rPr>
              <a:t>Pass the ID value without #.</a:t>
            </a:r>
            <a:endParaRPr lang="en-US" sz="122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Select an element with a CSS selector</a:t>
            </a:r>
            <a:endParaRPr lang="en-US" sz="2100" dirty="0"/>
          </a:p>
        </p:txBody>
      </p:sp>
      <p:sp>
        <p:nvSpPr>
          <p:cNvPr id="4" name="Shape 1"/>
          <p:cNvSpPr/>
          <p:nvPr/>
        </p:nvSpPr>
        <p:spPr>
          <a:xfrm>
            <a:off x="685800" y="1051560"/>
            <a:ext cx="3291840" cy="1005840"/>
          </a:xfrm>
          <a:prstGeom prst="rect">
            <a:avLst/>
          </a:prstGeom>
          <a:solidFill>
            <a:srgbClr val="0F172A"/>
          </a:solidFill>
          <a:ln w="12700">
            <a:solidFill>
              <a:srgbClr val="0F172A"/>
            </a:solidFill>
            <a:prstDash val="solid"/>
          </a:ln>
        </p:spPr>
      </p:sp>
      <p:sp>
        <p:nvSpPr>
          <p:cNvPr id="5" name="Text 2"/>
          <p:cNvSpPr/>
          <p:nvPr/>
        </p:nvSpPr>
        <p:spPr>
          <a:xfrm>
            <a:off x="813816" y="1161288"/>
            <a:ext cx="3035808" cy="78638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&lt;button id="add-order"&gt;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Add order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&lt;/button&gt;</a:t>
            </a:r>
            <a:endParaRPr lang="en-US" sz="1088" dirty="0"/>
          </a:p>
        </p:txBody>
      </p:sp>
      <p:sp>
        <p:nvSpPr>
          <p:cNvPr id="6" name="Shape 3"/>
          <p:cNvSpPr/>
          <p:nvPr/>
        </p:nvSpPr>
        <p:spPr>
          <a:xfrm>
            <a:off x="685800" y="2423160"/>
            <a:ext cx="4114800" cy="1005840"/>
          </a:xfrm>
          <a:prstGeom prst="rect">
            <a:avLst/>
          </a:prstGeom>
          <a:solidFill>
            <a:srgbClr val="0F172A"/>
          </a:solidFill>
          <a:ln w="12700">
            <a:solidFill>
              <a:srgbClr val="0F172A"/>
            </a:solidFill>
            <a:prstDash val="solid"/>
          </a:ln>
        </p:spPr>
      </p:sp>
      <p:sp>
        <p:nvSpPr>
          <p:cNvPr id="7" name="Text 4"/>
          <p:cNvSpPr/>
          <p:nvPr/>
        </p:nvSpPr>
        <p:spPr>
          <a:xfrm>
            <a:off x="813816" y="2532888"/>
            <a:ext cx="3858768" cy="78638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const addOrderButton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document.querySelector("#add-order");</a:t>
            </a:r>
            <a:endParaRPr lang="en-US" sz="1088" dirty="0"/>
          </a:p>
        </p:txBody>
      </p:sp>
      <p:sp>
        <p:nvSpPr>
          <p:cNvPr id="8" name="Text 5"/>
          <p:cNvSpPr/>
          <p:nvPr/>
        </p:nvSpPr>
        <p:spPr>
          <a:xfrm>
            <a:off x="4983480" y="1115568"/>
            <a:ext cx="3200400" cy="502920"/>
          </a:xfrm>
          <a:prstGeom prst="rect">
            <a:avLst/>
          </a:prstGeom>
          <a:noFill/>
          <a:ln/>
        </p:spPr>
        <p:txBody>
          <a:bodyPr wrap="square" lIns="635" tIns="635" rIns="635" bIns="635" rtlCol="0" anchor="t">
            <a:normAutofit/>
          </a:bodyPr>
          <a:lstStyle/>
          <a:p>
            <a:pPr algn="l" indent="0" marL="0">
              <a:lnSpc>
                <a:spcPct val="105000"/>
              </a:lnSpc>
              <a:buNone/>
            </a:pPr>
            <a:r>
              <a:rPr lang="en-US" sz="1310" dirty="0">
                <a:solidFill>
                  <a:srgbClr val="334155"/>
                </a:solidFill>
                <a:latin typeface="Arial" pitchFamily="34" charset="0"/>
                <a:ea typeface="Arial" pitchFamily="34" charset="-122"/>
                <a:cs typeface="Arial" pitchFamily="34" charset="-120"/>
              </a:rPr>
              <a:t>querySelector accepts a CSS selector and returns the first matching element.</a:t>
            </a:r>
            <a:endParaRPr lang="en-US" sz="1310" dirty="0"/>
          </a:p>
        </p:txBody>
      </p:sp>
      <p:sp>
        <p:nvSpPr>
          <p:cNvPr id="9" name="Text 6"/>
          <p:cNvSpPr/>
          <p:nvPr/>
        </p:nvSpPr>
        <p:spPr>
          <a:xfrm>
            <a:off x="4983480" y="1920240"/>
            <a:ext cx="3200400" cy="228600"/>
          </a:xfrm>
          <a:prstGeom prst="rect">
            <a:avLst/>
          </a:prstGeom>
          <a:noFill/>
          <a:ln/>
        </p:spPr>
        <p:txBody>
          <a:bodyPr wrap="square" lIns="0" tIns="0" rIns="0" bIns="0" rtlCol="0" anchor="t">
            <a:normAutofit/>
          </a:bodyPr>
          <a:lstStyle/>
          <a:p>
            <a:pPr algn="l" indent="0" marL="0">
              <a:lnSpc>
                <a:spcPct val="105000"/>
              </a:lnSpc>
              <a:buNone/>
            </a:pPr>
            <a:r>
              <a:rPr lang="en-US" sz="1425" b="1" dirty="0">
                <a:solidFill>
                  <a:srgbClr val="111827"/>
                </a:solidFill>
                <a:latin typeface="Arial" pitchFamily="34" charset="0"/>
                <a:ea typeface="Arial" pitchFamily="34" charset="-122"/>
                <a:cs typeface="Arial" pitchFamily="34" charset="-120"/>
              </a:rPr>
              <a:t>Other valid selectors</a:t>
            </a:r>
            <a:endParaRPr lang="en-US" sz="1425" dirty="0"/>
          </a:p>
        </p:txBody>
      </p:sp>
      <p:sp>
        <p:nvSpPr>
          <p:cNvPr id="10" name="Shape 7"/>
          <p:cNvSpPr/>
          <p:nvPr/>
        </p:nvSpPr>
        <p:spPr>
          <a:xfrm>
            <a:off x="4983480" y="2267712"/>
            <a:ext cx="3337560" cy="868680"/>
          </a:xfrm>
          <a:prstGeom prst="rect">
            <a:avLst/>
          </a:prstGeom>
          <a:solidFill>
            <a:srgbClr val="0F172A"/>
          </a:solidFill>
          <a:ln w="12700">
            <a:solidFill>
              <a:srgbClr val="0F172A"/>
            </a:solidFill>
            <a:prstDash val="solid"/>
          </a:ln>
        </p:spPr>
      </p:sp>
      <p:sp>
        <p:nvSpPr>
          <p:cNvPr id="11" name="Text 8"/>
          <p:cNvSpPr/>
          <p:nvPr/>
        </p:nvSpPr>
        <p:spPr>
          <a:xfrm>
            <a:off x="5111496" y="2377440"/>
            <a:ext cx="3081528" cy="64922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document.querySelector(".order-card");</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document.querySelector("button");</a:t>
            </a:r>
            <a:endParaRPr lang="en-US" sz="1088" dirty="0"/>
          </a:p>
        </p:txBody>
      </p:sp>
      <p:sp>
        <p:nvSpPr>
          <p:cNvPr id="12" name="Shape 9"/>
          <p:cNvSpPr/>
          <p:nvPr/>
        </p:nvSpPr>
        <p:spPr>
          <a:xfrm>
            <a:off x="4983480" y="3429000"/>
            <a:ext cx="3337560" cy="411480"/>
          </a:xfrm>
          <a:prstGeom prst="roundRect">
            <a:avLst>
              <a:gd name="adj" fmla="val 11111"/>
            </a:avLst>
          </a:prstGeom>
          <a:solidFill>
            <a:srgbClr val="EFF6FF"/>
          </a:solidFill>
          <a:ln w="12700">
            <a:solidFill>
              <a:srgbClr val="CBD5E1"/>
            </a:solidFill>
            <a:prstDash val="solid"/>
          </a:ln>
        </p:spPr>
      </p:sp>
      <p:sp>
        <p:nvSpPr>
          <p:cNvPr id="13" name="Text 10"/>
          <p:cNvSpPr/>
          <p:nvPr/>
        </p:nvSpPr>
        <p:spPr>
          <a:xfrm>
            <a:off x="5084064" y="3502152"/>
            <a:ext cx="3136392" cy="265176"/>
          </a:xfrm>
          <a:prstGeom prst="rect">
            <a:avLst/>
          </a:prstGeom>
          <a:noFill/>
          <a:ln/>
        </p:spPr>
        <p:txBody>
          <a:bodyPr wrap="square" lIns="0" tIns="0" rIns="0" bIns="0" rtlCol="0" anchor="ctr">
            <a:normAutofit/>
          </a:bodyPr>
          <a:lstStyle/>
          <a:p>
            <a:pPr algn="l" indent="0" marL="0">
              <a:buNone/>
            </a:pPr>
            <a:r>
              <a:rPr lang="en-US" sz="1130" dirty="0">
                <a:solidFill>
                  <a:srgbClr val="111827"/>
                </a:solidFill>
                <a:latin typeface="Arial" pitchFamily="34" charset="0"/>
                <a:ea typeface="Arial" pitchFamily="34" charset="-122"/>
                <a:cs typeface="Arial" pitchFamily="34" charset="-120"/>
              </a:rPr>
              <a:t>Use # when an ID is written as a CSS selector.</a:t>
            </a:r>
            <a:endParaRPr lang="en-US" sz="113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The selector syntax depends on the method</a:t>
            </a:r>
            <a:endParaRPr lang="en-US" sz="2100" dirty="0"/>
          </a:p>
        </p:txBody>
      </p:sp>
      <p:sp>
        <p:nvSpPr>
          <p:cNvPr id="3" name="Shape 1"/>
          <p:cNvSpPr/>
          <p:nvPr/>
        </p:nvSpPr>
        <p:spPr>
          <a:xfrm>
            <a:off x="777240" y="1051560"/>
            <a:ext cx="3520440" cy="320040"/>
          </a:xfrm>
          <a:prstGeom prst="roundRect">
            <a:avLst>
              <a:gd name="adj" fmla="val 14286"/>
            </a:avLst>
          </a:prstGeom>
          <a:solidFill>
            <a:srgbClr val="EFF6FF"/>
          </a:solidFill>
          <a:ln w="12700">
            <a:solidFill>
              <a:srgbClr val="CBD5E1"/>
            </a:solidFill>
            <a:prstDash val="solid"/>
          </a:ln>
        </p:spPr>
      </p:sp>
      <p:sp>
        <p:nvSpPr>
          <p:cNvPr id="4" name="Text 2"/>
          <p:cNvSpPr/>
          <p:nvPr/>
        </p:nvSpPr>
        <p:spPr>
          <a:xfrm>
            <a:off x="877824" y="1124712"/>
            <a:ext cx="3319272" cy="173736"/>
          </a:xfrm>
          <a:prstGeom prst="rect">
            <a:avLst/>
          </a:prstGeom>
          <a:noFill/>
          <a:ln/>
        </p:spPr>
        <p:txBody>
          <a:bodyPr wrap="square" lIns="0" tIns="0" rIns="0" bIns="0" rtlCol="0" anchor="ctr">
            <a:normAutofit/>
          </a:bodyPr>
          <a:lstStyle/>
          <a:p>
            <a:pPr algn="ctr" indent="0" marL="0">
              <a:buNone/>
            </a:pPr>
            <a:r>
              <a:rPr lang="en-US" sz="1240" b="1" dirty="0">
                <a:solidFill>
                  <a:srgbClr val="111827"/>
                </a:solidFill>
                <a:latin typeface="Arial" pitchFamily="34" charset="0"/>
                <a:ea typeface="Arial" pitchFamily="34" charset="-122"/>
                <a:cs typeface="Arial" pitchFamily="34" charset="-120"/>
              </a:rPr>
              <a:t>getElementById</a:t>
            </a:r>
            <a:endParaRPr lang="en-US" sz="1240" dirty="0"/>
          </a:p>
        </p:txBody>
      </p:sp>
      <p:sp>
        <p:nvSpPr>
          <p:cNvPr id="5" name="Shape 3"/>
          <p:cNvSpPr/>
          <p:nvPr/>
        </p:nvSpPr>
        <p:spPr>
          <a:xfrm>
            <a:off x="777240" y="1554480"/>
            <a:ext cx="3520440" cy="914400"/>
          </a:xfrm>
          <a:prstGeom prst="rect">
            <a:avLst/>
          </a:prstGeom>
          <a:solidFill>
            <a:srgbClr val="0F172A"/>
          </a:solidFill>
          <a:ln w="12700">
            <a:solidFill>
              <a:srgbClr val="0F172A"/>
            </a:solidFill>
            <a:prstDash val="solid"/>
          </a:ln>
        </p:spPr>
      </p:sp>
      <p:sp>
        <p:nvSpPr>
          <p:cNvPr id="6" name="Text 4"/>
          <p:cNvSpPr/>
          <p:nvPr/>
        </p:nvSpPr>
        <p:spPr>
          <a:xfrm>
            <a:off x="905256" y="1664208"/>
            <a:ext cx="3264408" cy="69494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document.getElementById(</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"order-status"</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7" name="Text 5"/>
          <p:cNvSpPr/>
          <p:nvPr/>
        </p:nvSpPr>
        <p:spPr>
          <a:xfrm>
            <a:off x="914400" y="2697480"/>
            <a:ext cx="3200400" cy="219456"/>
          </a:xfrm>
          <a:prstGeom prst="rect">
            <a:avLst/>
          </a:prstGeom>
          <a:noFill/>
          <a:ln/>
        </p:spPr>
        <p:txBody>
          <a:bodyPr wrap="square" lIns="0" tIns="0" rIns="0" bIns="0" rtlCol="0" anchor="ctr">
            <a:normAutofit/>
          </a:bodyPr>
          <a:lstStyle/>
          <a:p>
            <a:r>
              <a:rPr lang="en-US" sz="1240" dirty="0">
                <a:solidFill>
                  <a:srgbClr val="111827"/>
                </a:solidFill>
                <a:latin typeface="Arial" pitchFamily="34" charset="0"/>
                <a:ea typeface="Arial" pitchFamily="34" charset="-122"/>
                <a:cs typeface="Arial" pitchFamily="34" charset="-120"/>
              </a:rPr>
              <a:t>Input: ID value</a:t>
            </a:r>
            <a:endParaRPr lang="en-US" sz="1240" dirty="0"/>
          </a:p>
        </p:txBody>
      </p:sp>
      <p:sp>
        <p:nvSpPr>
          <p:cNvPr id="8" name="Text 6"/>
          <p:cNvSpPr/>
          <p:nvPr/>
        </p:nvSpPr>
        <p:spPr>
          <a:xfrm>
            <a:off x="914400" y="2958084"/>
            <a:ext cx="3200400" cy="219456"/>
          </a:xfrm>
          <a:prstGeom prst="rect">
            <a:avLst/>
          </a:prstGeom>
          <a:noFill/>
          <a:ln/>
        </p:spPr>
        <p:txBody>
          <a:bodyPr wrap="square" lIns="0" tIns="0" rIns="0" bIns="0" rtlCol="0" anchor="ctr">
            <a:normAutofit/>
          </a:bodyPr>
          <a:lstStyle/>
          <a:p>
            <a:r>
              <a:rPr lang="en-US" sz="1240" dirty="0">
                <a:solidFill>
                  <a:srgbClr val="111827"/>
                </a:solidFill>
                <a:latin typeface="Arial" pitchFamily="34" charset="0"/>
                <a:ea typeface="Arial" pitchFamily="34" charset="-122"/>
                <a:cs typeface="Arial" pitchFamily="34" charset="-120"/>
              </a:rPr>
              <a:t>Do not include #</a:t>
            </a:r>
            <a:endParaRPr lang="en-US" sz="1240" dirty="0"/>
          </a:p>
        </p:txBody>
      </p:sp>
      <p:sp>
        <p:nvSpPr>
          <p:cNvPr id="9" name="Shape 7"/>
          <p:cNvSpPr/>
          <p:nvPr/>
        </p:nvSpPr>
        <p:spPr>
          <a:xfrm>
            <a:off x="4846320" y="1051560"/>
            <a:ext cx="3520440" cy="320040"/>
          </a:xfrm>
          <a:prstGeom prst="roundRect">
            <a:avLst>
              <a:gd name="adj" fmla="val 14286"/>
            </a:avLst>
          </a:prstGeom>
          <a:solidFill>
            <a:srgbClr val="F5F3FF"/>
          </a:solidFill>
          <a:ln w="12700">
            <a:solidFill>
              <a:srgbClr val="CBD5E1"/>
            </a:solidFill>
            <a:prstDash val="solid"/>
          </a:ln>
        </p:spPr>
      </p:sp>
      <p:sp>
        <p:nvSpPr>
          <p:cNvPr id="10" name="Text 8"/>
          <p:cNvSpPr/>
          <p:nvPr/>
        </p:nvSpPr>
        <p:spPr>
          <a:xfrm>
            <a:off x="4946904" y="1124712"/>
            <a:ext cx="3319272" cy="173736"/>
          </a:xfrm>
          <a:prstGeom prst="rect">
            <a:avLst/>
          </a:prstGeom>
          <a:noFill/>
          <a:ln/>
        </p:spPr>
        <p:txBody>
          <a:bodyPr wrap="square" lIns="0" tIns="0" rIns="0" bIns="0" rtlCol="0" anchor="ctr">
            <a:normAutofit/>
          </a:bodyPr>
          <a:lstStyle/>
          <a:p>
            <a:pPr algn="ctr" indent="0" marL="0">
              <a:buNone/>
            </a:pPr>
            <a:r>
              <a:rPr lang="en-US" sz="1240" b="1" dirty="0">
                <a:solidFill>
                  <a:srgbClr val="111827"/>
                </a:solidFill>
                <a:latin typeface="Arial" pitchFamily="34" charset="0"/>
                <a:ea typeface="Arial" pitchFamily="34" charset="-122"/>
                <a:cs typeface="Arial" pitchFamily="34" charset="-120"/>
              </a:rPr>
              <a:t>querySelector</a:t>
            </a:r>
            <a:endParaRPr lang="en-US" sz="1240" dirty="0"/>
          </a:p>
        </p:txBody>
      </p:sp>
      <p:sp>
        <p:nvSpPr>
          <p:cNvPr id="11" name="Shape 9"/>
          <p:cNvSpPr/>
          <p:nvPr/>
        </p:nvSpPr>
        <p:spPr>
          <a:xfrm>
            <a:off x="4846320" y="1554480"/>
            <a:ext cx="3520440" cy="914400"/>
          </a:xfrm>
          <a:prstGeom prst="rect">
            <a:avLst/>
          </a:prstGeom>
          <a:solidFill>
            <a:srgbClr val="0F172A"/>
          </a:solidFill>
          <a:ln w="12700">
            <a:solidFill>
              <a:srgbClr val="0F172A"/>
            </a:solidFill>
            <a:prstDash val="solid"/>
          </a:ln>
        </p:spPr>
      </p:sp>
      <p:sp>
        <p:nvSpPr>
          <p:cNvPr id="12" name="Text 10"/>
          <p:cNvSpPr/>
          <p:nvPr/>
        </p:nvSpPr>
        <p:spPr>
          <a:xfrm>
            <a:off x="4974336" y="1664208"/>
            <a:ext cx="3264408" cy="69494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document.querySelector(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"#order-status"</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13" name="Text 11"/>
          <p:cNvSpPr/>
          <p:nvPr/>
        </p:nvSpPr>
        <p:spPr>
          <a:xfrm>
            <a:off x="4983480" y="2697480"/>
            <a:ext cx="3200400" cy="219456"/>
          </a:xfrm>
          <a:prstGeom prst="rect">
            <a:avLst/>
          </a:prstGeom>
          <a:noFill/>
          <a:ln/>
        </p:spPr>
        <p:txBody>
          <a:bodyPr wrap="square" lIns="0" tIns="0" rIns="0" bIns="0" rtlCol="0" anchor="ctr">
            <a:normAutofit/>
          </a:bodyPr>
          <a:lstStyle/>
          <a:p>
            <a:r>
              <a:rPr lang="en-US" sz="1240" dirty="0">
                <a:solidFill>
                  <a:srgbClr val="111827"/>
                </a:solidFill>
                <a:latin typeface="Arial" pitchFamily="34" charset="0"/>
                <a:ea typeface="Arial" pitchFamily="34" charset="-122"/>
                <a:cs typeface="Arial" pitchFamily="34" charset="-120"/>
              </a:rPr>
              <a:t>Input: CSS selector</a:t>
            </a:r>
            <a:endParaRPr lang="en-US" sz="1240" dirty="0"/>
          </a:p>
        </p:txBody>
      </p:sp>
      <p:sp>
        <p:nvSpPr>
          <p:cNvPr id="14" name="Text 12"/>
          <p:cNvSpPr/>
          <p:nvPr/>
        </p:nvSpPr>
        <p:spPr>
          <a:xfrm>
            <a:off x="4983480" y="2958084"/>
            <a:ext cx="3200400" cy="219456"/>
          </a:xfrm>
          <a:prstGeom prst="rect">
            <a:avLst/>
          </a:prstGeom>
          <a:noFill/>
          <a:ln/>
        </p:spPr>
        <p:txBody>
          <a:bodyPr wrap="square" lIns="0" tIns="0" rIns="0" bIns="0" rtlCol="0" anchor="ctr">
            <a:normAutofit/>
          </a:bodyPr>
          <a:lstStyle/>
          <a:p>
            <a:r>
              <a:rPr lang="en-US" sz="1240" dirty="0">
                <a:solidFill>
                  <a:srgbClr val="111827"/>
                </a:solidFill>
                <a:latin typeface="Arial" pitchFamily="34" charset="0"/>
                <a:ea typeface="Arial" pitchFamily="34" charset="-122"/>
                <a:cs typeface="Arial" pitchFamily="34" charset="-120"/>
              </a:rPr>
              <a:t>Include # for an ID selector</a:t>
            </a:r>
            <a:endParaRPr lang="en-US" sz="1240" dirty="0"/>
          </a:p>
        </p:txBody>
      </p:sp>
      <p:sp>
        <p:nvSpPr>
          <p:cNvPr id="15" name="Shape 13"/>
          <p:cNvSpPr/>
          <p:nvPr/>
        </p:nvSpPr>
        <p:spPr>
          <a:xfrm>
            <a:off x="1371600" y="3749040"/>
            <a:ext cx="6400800" cy="457200"/>
          </a:xfrm>
          <a:prstGeom prst="roundRect">
            <a:avLst>
              <a:gd name="adj" fmla="val 10000"/>
            </a:avLst>
          </a:prstGeom>
          <a:solidFill>
            <a:srgbClr val="F3F4F6"/>
          </a:solidFill>
          <a:ln w="12700">
            <a:solidFill>
              <a:srgbClr val="CBD5E1"/>
            </a:solidFill>
            <a:prstDash val="solid"/>
          </a:ln>
        </p:spPr>
      </p:sp>
      <p:sp>
        <p:nvSpPr>
          <p:cNvPr id="16" name="Text 14"/>
          <p:cNvSpPr/>
          <p:nvPr/>
        </p:nvSpPr>
        <p:spPr>
          <a:xfrm>
            <a:off x="1472184" y="3822192"/>
            <a:ext cx="6199632" cy="310896"/>
          </a:xfrm>
          <a:prstGeom prst="rect">
            <a:avLst/>
          </a:prstGeom>
          <a:noFill/>
          <a:ln/>
        </p:spPr>
        <p:txBody>
          <a:bodyPr wrap="square" lIns="0" tIns="0" rIns="0" bIns="0" rtlCol="0" anchor="ctr">
            <a:normAutofit/>
          </a:bodyPr>
          <a:lstStyle/>
          <a:p>
            <a:pPr algn="ctr" indent="0" marL="0">
              <a:buNone/>
            </a:pPr>
            <a:r>
              <a:rPr lang="en-US" sz="1230" dirty="0">
                <a:solidFill>
                  <a:srgbClr val="111827"/>
                </a:solidFill>
                <a:latin typeface="Arial" pitchFamily="34" charset="0"/>
                <a:ea typeface="Arial" pitchFamily="34" charset="-122"/>
                <a:cs typeface="Arial" pitchFamily="34" charset="-120"/>
              </a:rPr>
              <a:t>Both methods can return a reference to the same paragraph. Both return null when no element matches.</a:t>
            </a:r>
            <a:endParaRPr lang="en-US" sz="123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A missing match returns null</a:t>
            </a:r>
            <a:endParaRPr lang="en-US" sz="2100" dirty="0"/>
          </a:p>
        </p:txBody>
      </p:sp>
      <p:sp>
        <p:nvSpPr>
          <p:cNvPr id="3" name="Shape 1"/>
          <p:cNvSpPr/>
          <p:nvPr/>
        </p:nvSpPr>
        <p:spPr>
          <a:xfrm>
            <a:off x="685800" y="1051560"/>
            <a:ext cx="3383280" cy="1005840"/>
          </a:xfrm>
          <a:prstGeom prst="rect">
            <a:avLst/>
          </a:prstGeom>
          <a:solidFill>
            <a:srgbClr val="0F172A"/>
          </a:solidFill>
          <a:ln w="12700">
            <a:solidFill>
              <a:srgbClr val="0F172A"/>
            </a:solidFill>
            <a:prstDash val="solid"/>
          </a:ln>
        </p:spPr>
      </p:sp>
      <p:sp>
        <p:nvSpPr>
          <p:cNvPr id="4" name="Text 2"/>
          <p:cNvSpPr/>
          <p:nvPr/>
        </p:nvSpPr>
        <p:spPr>
          <a:xfrm>
            <a:off x="813816" y="1161288"/>
            <a:ext cx="3127248" cy="78638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&lt;button id="add-order"&gt;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Add order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&lt;/button&gt;</a:t>
            </a:r>
            <a:endParaRPr lang="en-US" sz="1088" dirty="0"/>
          </a:p>
        </p:txBody>
      </p:sp>
      <p:sp>
        <p:nvSpPr>
          <p:cNvPr id="5" name="Shape 3"/>
          <p:cNvSpPr/>
          <p:nvPr/>
        </p:nvSpPr>
        <p:spPr>
          <a:xfrm>
            <a:off x="685800" y="2423160"/>
            <a:ext cx="3794760" cy="1508760"/>
          </a:xfrm>
          <a:prstGeom prst="rect">
            <a:avLst/>
          </a:prstGeom>
          <a:solidFill>
            <a:srgbClr val="0F172A"/>
          </a:solidFill>
          <a:ln w="12700">
            <a:solidFill>
              <a:srgbClr val="0F172A"/>
            </a:solidFill>
            <a:prstDash val="solid"/>
          </a:ln>
        </p:spPr>
      </p:sp>
      <p:sp>
        <p:nvSpPr>
          <p:cNvPr id="6" name="Text 4"/>
          <p:cNvSpPr/>
          <p:nvPr/>
        </p:nvSpPr>
        <p:spPr>
          <a:xfrm>
            <a:off x="813816" y="2532888"/>
            <a:ext cx="3538728" cy="128930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const saveButton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document.querySelector("#save-order");</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console.log(saveButton);</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null</a:t>
            </a:r>
            <a:endParaRPr lang="en-US" sz="1088" dirty="0"/>
          </a:p>
        </p:txBody>
      </p:sp>
      <p:sp>
        <p:nvSpPr>
          <p:cNvPr id="7" name="Shape 5"/>
          <p:cNvSpPr/>
          <p:nvPr/>
        </p:nvSpPr>
        <p:spPr>
          <a:xfrm>
            <a:off x="4800600" y="1234440"/>
            <a:ext cx="2880360" cy="640080"/>
          </a:xfrm>
          <a:prstGeom prst="roundRect">
            <a:avLst>
              <a:gd name="adj" fmla="val 7143"/>
            </a:avLst>
          </a:prstGeom>
          <a:solidFill>
            <a:srgbClr val="DCFCE7"/>
          </a:solidFill>
          <a:ln w="12700">
            <a:solidFill>
              <a:srgbClr val="CBD5E1"/>
            </a:solidFill>
            <a:prstDash val="solid"/>
          </a:ln>
        </p:spPr>
      </p:sp>
      <p:sp>
        <p:nvSpPr>
          <p:cNvPr id="8" name="Text 6"/>
          <p:cNvSpPr/>
          <p:nvPr/>
        </p:nvSpPr>
        <p:spPr>
          <a:xfrm>
            <a:off x="4901184" y="1307592"/>
            <a:ext cx="2679192" cy="493776"/>
          </a:xfrm>
          <a:prstGeom prst="rect">
            <a:avLst/>
          </a:prstGeom>
          <a:noFill/>
          <a:ln/>
        </p:spPr>
        <p:txBody>
          <a:bodyPr wrap="square" lIns="0" tIns="0" rIns="0" bIns="0" rtlCol="0" anchor="ctr">
            <a:normAutofit/>
          </a:bodyPr>
          <a:lstStyle/>
          <a:p>
            <a:pPr algn="ctr" indent="0" marL="0">
              <a:buNone/>
            </a:pPr>
            <a:r>
              <a:rPr lang="en-US" sz="1310" dirty="0">
                <a:solidFill>
                  <a:srgbClr val="111827"/>
                </a:solidFill>
                <a:latin typeface="Arial" pitchFamily="34" charset="0"/>
                <a:ea typeface="Arial" pitchFamily="34" charset="-122"/>
                <a:cs typeface="Arial" pitchFamily="34" charset="-120"/>
              </a:rPr>
              <a:t>HTML contains</a:t>
            </a:r>
            <a:endParaRPr lang="en-US" sz="1310" dirty="0"/>
          </a:p>
          <a:p>
            <a:pPr algn="ctr" indent="0" marL="0">
              <a:buNone/>
            </a:pPr>
            <a:r>
              <a:rPr lang="en-US" sz="1310" dirty="0">
                <a:solidFill>
                  <a:srgbClr val="111827"/>
                </a:solidFill>
                <a:latin typeface="Arial" pitchFamily="34" charset="0"/>
                <a:ea typeface="Arial" pitchFamily="34" charset="-122"/>
                <a:cs typeface="Arial" pitchFamily="34" charset="-120"/>
              </a:rPr>
              <a:t>add-order</a:t>
            </a:r>
            <a:endParaRPr lang="en-US" sz="1310" dirty="0"/>
          </a:p>
        </p:txBody>
      </p:sp>
      <p:sp>
        <p:nvSpPr>
          <p:cNvPr id="9" name="Shape 7"/>
          <p:cNvSpPr/>
          <p:nvPr/>
        </p:nvSpPr>
        <p:spPr>
          <a:xfrm>
            <a:off x="4800600" y="2148840"/>
            <a:ext cx="2880360" cy="640080"/>
          </a:xfrm>
          <a:prstGeom prst="roundRect">
            <a:avLst>
              <a:gd name="adj" fmla="val 7143"/>
            </a:avLst>
          </a:prstGeom>
          <a:solidFill>
            <a:srgbClr val="FEE2E2"/>
          </a:solidFill>
          <a:ln w="12700">
            <a:solidFill>
              <a:srgbClr val="CBD5E1"/>
            </a:solidFill>
            <a:prstDash val="solid"/>
          </a:ln>
        </p:spPr>
      </p:sp>
      <p:sp>
        <p:nvSpPr>
          <p:cNvPr id="10" name="Text 8"/>
          <p:cNvSpPr/>
          <p:nvPr/>
        </p:nvSpPr>
        <p:spPr>
          <a:xfrm>
            <a:off x="4901184" y="2221992"/>
            <a:ext cx="2679192" cy="493776"/>
          </a:xfrm>
          <a:prstGeom prst="rect">
            <a:avLst/>
          </a:prstGeom>
          <a:noFill/>
          <a:ln/>
        </p:spPr>
        <p:txBody>
          <a:bodyPr wrap="square" lIns="0" tIns="0" rIns="0" bIns="0" rtlCol="0" anchor="ctr">
            <a:normAutofit/>
          </a:bodyPr>
          <a:lstStyle/>
          <a:p>
            <a:pPr algn="ctr" indent="0" marL="0">
              <a:buNone/>
            </a:pPr>
            <a:r>
              <a:rPr lang="en-US" sz="1310" dirty="0">
                <a:solidFill>
                  <a:srgbClr val="111827"/>
                </a:solidFill>
                <a:latin typeface="Arial" pitchFamily="34" charset="0"/>
                <a:ea typeface="Arial" pitchFamily="34" charset="-122"/>
                <a:cs typeface="Arial" pitchFamily="34" charset="-120"/>
              </a:rPr>
              <a:t>Selector searches for</a:t>
            </a:r>
            <a:endParaRPr lang="en-US" sz="1310" dirty="0"/>
          </a:p>
          <a:p>
            <a:pPr algn="ctr" indent="0" marL="0">
              <a:buNone/>
            </a:pPr>
            <a:r>
              <a:rPr lang="en-US" sz="1310" dirty="0">
                <a:solidFill>
                  <a:srgbClr val="111827"/>
                </a:solidFill>
                <a:latin typeface="Arial" pitchFamily="34" charset="0"/>
                <a:ea typeface="Arial" pitchFamily="34" charset="-122"/>
                <a:cs typeface="Arial" pitchFamily="34" charset="-120"/>
              </a:rPr>
              <a:t>save-order</a:t>
            </a:r>
            <a:endParaRPr lang="en-US" sz="1310" dirty="0"/>
          </a:p>
        </p:txBody>
      </p:sp>
      <p:sp>
        <p:nvSpPr>
          <p:cNvPr id="11" name="Text 9"/>
          <p:cNvSpPr/>
          <p:nvPr/>
        </p:nvSpPr>
        <p:spPr>
          <a:xfrm>
            <a:off x="4617720" y="3246120"/>
            <a:ext cx="3474720" cy="685800"/>
          </a:xfrm>
          <a:prstGeom prst="rect">
            <a:avLst/>
          </a:prstGeom>
          <a:noFill/>
          <a:ln/>
        </p:spPr>
        <p:txBody>
          <a:bodyPr wrap="square" lIns="635" tIns="635" rIns="635" bIns="635" rtlCol="0" anchor="t">
            <a:normAutofit/>
          </a:bodyPr>
          <a:lstStyle/>
          <a:p>
            <a:pPr algn="l" indent="0" marL="0">
              <a:lnSpc>
                <a:spcPct val="105000"/>
              </a:lnSpc>
              <a:buNone/>
            </a:pPr>
            <a:r>
              <a:rPr lang="en-US" sz="1260" dirty="0">
                <a:solidFill>
                  <a:srgbClr val="334155"/>
                </a:solidFill>
                <a:latin typeface="Arial" pitchFamily="34" charset="0"/>
                <a:ea typeface="Arial" pitchFamily="34" charset="-122"/>
                <a:cs typeface="Arial" pitchFamily="34" charset="-120"/>
              </a:rPr>
              <a:t>null means that no matching element was found. Check that the selector matches the HTML before using the result as an element.</a:t>
            </a:r>
            <a:endParaRPr lang="en-US" sz="126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Checkpoint: Which elements are selected?</a:t>
            </a:r>
            <a:endParaRPr lang="en-US" sz="2100" dirty="0"/>
          </a:p>
        </p:txBody>
      </p:sp>
      <p:sp>
        <p:nvSpPr>
          <p:cNvPr id="3" name="Shape 1"/>
          <p:cNvSpPr/>
          <p:nvPr/>
        </p:nvSpPr>
        <p:spPr>
          <a:xfrm>
            <a:off x="685800" y="960120"/>
            <a:ext cx="3886200" cy="1143000"/>
          </a:xfrm>
          <a:prstGeom prst="rect">
            <a:avLst/>
          </a:prstGeom>
          <a:solidFill>
            <a:srgbClr val="0F172A"/>
          </a:solidFill>
          <a:ln w="12700">
            <a:solidFill>
              <a:srgbClr val="0F172A"/>
            </a:solidFill>
            <a:prstDash val="solid"/>
          </a:ln>
        </p:spPr>
      </p:sp>
      <p:sp>
        <p:nvSpPr>
          <p:cNvPr id="4" name="Text 2"/>
          <p:cNvSpPr/>
          <p:nvPr/>
        </p:nvSpPr>
        <p:spPr>
          <a:xfrm>
            <a:off x="813816" y="1069848"/>
            <a:ext cx="3630168" cy="92354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&lt;section class="delivery-panel"&gt;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&lt;h2 id="delivery-title"&gt;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Order 1048</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&lt;/h2&gt;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&lt;p class="delivery-status"&gt;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Preparing</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&lt;/p&gt;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&lt;/section&gt;</a:t>
            </a:r>
            <a:endParaRPr lang="en-US" sz="1088" dirty="0"/>
          </a:p>
        </p:txBody>
      </p:sp>
      <p:sp>
        <p:nvSpPr>
          <p:cNvPr id="5" name="Shape 3"/>
          <p:cNvSpPr/>
          <p:nvPr/>
        </p:nvSpPr>
        <p:spPr>
          <a:xfrm>
            <a:off x="685800" y="2240280"/>
            <a:ext cx="3886200" cy="1463040"/>
          </a:xfrm>
          <a:prstGeom prst="rect">
            <a:avLst/>
          </a:prstGeom>
          <a:solidFill>
            <a:srgbClr val="0F172A"/>
          </a:solidFill>
          <a:ln w="12700">
            <a:solidFill>
              <a:srgbClr val="0F172A"/>
            </a:solidFill>
            <a:prstDash val="solid"/>
          </a:ln>
        </p:spPr>
      </p:sp>
      <p:sp>
        <p:nvSpPr>
          <p:cNvPr id="6" name="Text 4"/>
          <p:cNvSpPr/>
          <p:nvPr/>
        </p:nvSpPr>
        <p:spPr>
          <a:xfrm>
            <a:off x="813816" y="2350008"/>
            <a:ext cx="3630168" cy="124358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const title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document.getElementById(</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"delivery-title"</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const status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document.querySelector(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".delivery-status"</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a:t>
            </a:r>
            <a:endParaRPr lang="en-US" sz="1088" dirty="0"/>
          </a:p>
        </p:txBody>
      </p:sp>
      <p:sp>
        <p:nvSpPr>
          <p:cNvPr id="7" name="Text 5"/>
          <p:cNvSpPr/>
          <p:nvPr/>
        </p:nvSpPr>
        <p:spPr>
          <a:xfrm>
            <a:off x="4892040" y="1143000"/>
            <a:ext cx="3611880" cy="548640"/>
          </a:xfrm>
          <a:prstGeom prst="rect">
            <a:avLst/>
          </a:prstGeom>
          <a:noFill/>
          <a:ln/>
        </p:spPr>
        <p:txBody>
          <a:bodyPr wrap="square" lIns="0" tIns="0" rIns="0" bIns="0" rtlCol="0" anchor="t">
            <a:normAutofit/>
          </a:bodyPr>
          <a:lstStyle/>
          <a:p>
            <a:pPr algn="l" indent="0" marL="0">
              <a:lnSpc>
                <a:spcPct val="105000"/>
              </a:lnSpc>
              <a:buNone/>
            </a:pPr>
            <a:r>
              <a:rPr lang="en-US" sz="1260" b="1" dirty="0">
                <a:solidFill>
                  <a:srgbClr val="111827"/>
                </a:solidFill>
                <a:latin typeface="Arial" pitchFamily="34" charset="0"/>
                <a:ea typeface="Arial" pitchFamily="34" charset="-122"/>
                <a:cs typeface="Arial" pitchFamily="34" charset="-120"/>
              </a:rPr>
              <a:t>Which statement is correct?</a:t>
            </a:r>
            <a:endParaRPr lang="en-US" sz="1260" dirty="0"/>
          </a:p>
        </p:txBody>
      </p:sp>
      <p:sp>
        <p:nvSpPr>
          <p:cNvPr id="8" name="Text 6"/>
          <p:cNvSpPr/>
          <p:nvPr/>
        </p:nvSpPr>
        <p:spPr>
          <a:xfrm>
            <a:off x="4892040" y="1783080"/>
            <a:ext cx="3611880" cy="2103120"/>
          </a:xfrm>
          <a:prstGeom prst="rect">
            <a:avLst/>
          </a:prstGeom>
          <a:noFill/>
          <a:ln/>
        </p:spPr>
        <p:txBody>
          <a:bodyPr wrap="square" lIns="381" tIns="381" rIns="381" bIns="381" rtlCol="0" anchor="t">
            <a:normAutofit/>
          </a:bodyPr>
          <a:lstStyle/>
          <a:p>
            <a:pPr indent="0" marL="0">
              <a:buNone/>
            </a:pPr>
            <a:r>
              <a:rPr lang="en-US" sz="1200" dirty="0">
                <a:solidFill>
                  <a:srgbClr val="111827"/>
                </a:solidFill>
                <a:latin typeface="Arial" pitchFamily="34" charset="0"/>
                <a:ea typeface="Arial" pitchFamily="34" charset="-122"/>
                <a:cs typeface="Arial" pitchFamily="34" charset="-120"/>
              </a:rPr>
              <a:t>A. title stores the section, and status stores the heading.</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B. Both variables store the paragraph.</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C. title stores the heading, and status stores the paragraph.</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D. Both variables store text strings instead of elements.</a:t>
            </a:r>
            <a:endParaRPr lang="en-US" sz="1200" dirty="0"/>
          </a:p>
        </p:txBody>
      </p:sp>
      <p:sp>
        <p:nvSpPr>
          <p:cNvPr id="9" name="Shape 7"/>
          <p:cNvSpPr/>
          <p:nvPr/>
        </p:nvSpPr>
        <p:spPr>
          <a:xfrm>
            <a:off x="685800" y="4160520"/>
            <a:ext cx="7269480" cy="457200"/>
          </a:xfrm>
          <a:prstGeom prst="roundRect">
            <a:avLst>
              <a:gd name="adj" fmla="val 12000"/>
            </a:avLst>
          </a:prstGeom>
          <a:solidFill>
            <a:srgbClr val="DCFCE7"/>
          </a:solidFill>
          <a:ln w="12700">
            <a:solidFill>
              <a:srgbClr val="86EFAC"/>
            </a:solidFill>
            <a:prstDash val="solid"/>
          </a:ln>
        </p:spPr>
      </p:sp>
      <p:sp>
        <p:nvSpPr>
          <p:cNvPr id="10" name="Text 8"/>
          <p:cNvSpPr/>
          <p:nvPr/>
        </p:nvSpPr>
        <p:spPr>
          <a:xfrm>
            <a:off x="795528" y="4224528"/>
            <a:ext cx="7050024" cy="310896"/>
          </a:xfrm>
          <a:prstGeom prst="rect">
            <a:avLst/>
          </a:prstGeom>
          <a:noFill/>
          <a:ln/>
        </p:spPr>
        <p:txBody>
          <a:bodyPr wrap="square" lIns="0" tIns="0" rIns="0" bIns="0" rtlCol="0" anchor="ctr">
            <a:normAutofit/>
          </a:bodyPr>
          <a:lstStyle/>
          <a:p>
            <a:pPr indent="0" marL="0">
              <a:buNone/>
            </a:pPr>
            <a:r>
              <a:rPr lang="en-US" sz="1020" dirty="0">
                <a:solidFill>
                  <a:srgbClr val="111827"/>
                </a:solidFill>
                <a:latin typeface="Arial" pitchFamily="34" charset="0"/>
                <a:ea typeface="Arial" pitchFamily="34" charset="-122"/>
                <a:cs typeface="Arial" pitchFamily="34" charset="-120"/>
              </a:rPr>
              <a:t>Answer: C</a:t>
            </a:r>
            <a:endParaRPr lang="en-US" sz="1020" dirty="0"/>
          </a:p>
          <a:p>
            <a:pPr indent="0" marL="0">
              <a:buNone/>
            </a:pPr>
            <a:r>
              <a:rPr lang="en-US" sz="1020" dirty="0">
                <a:solidFill>
                  <a:srgbClr val="111827"/>
                </a:solidFill>
                <a:latin typeface="Arial" pitchFamily="34" charset="0"/>
                <a:ea typeface="Arial" pitchFamily="34" charset="-122"/>
                <a:cs typeface="Arial" pitchFamily="34" charset="-120"/>
              </a:rPr>
              <a:t>title refers to the &lt;h2&gt;. status refers to the &lt;p&gt;.</a:t>
            </a:r>
            <a:endParaRPr lang="en-US" sz="102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1285646" y="2048256"/>
            <a:ext cx="6572707" cy="502920"/>
          </a:xfrm>
          <a:prstGeom prst="rect">
            <a:avLst/>
          </a:prstGeom>
          <a:noFill/>
          <a:ln/>
        </p:spPr>
        <p:txBody>
          <a:bodyPr wrap="square" lIns="0" tIns="0" rIns="0" bIns="0" rtlCol="0" anchor="ctr"/>
          <a:lstStyle/>
          <a:p>
            <a:pPr algn="ctr" indent="0" marL="0">
              <a:buNone/>
            </a:pPr>
            <a:r>
              <a:rPr lang="en-US" sz="2550" b="1" dirty="0">
                <a:solidFill>
                  <a:srgbClr val="111827"/>
                </a:solidFill>
                <a:latin typeface="Arial" pitchFamily="34" charset="0"/>
                <a:ea typeface="Arial" pitchFamily="34" charset="-122"/>
                <a:cs typeface="Arial" pitchFamily="34" charset="-120"/>
              </a:rPr>
              <a:t>Responding to user actions</a:t>
            </a:r>
            <a:endParaRPr lang="en-US" sz="2550" dirty="0"/>
          </a:p>
        </p:txBody>
      </p:sp>
      <p:sp>
        <p:nvSpPr>
          <p:cNvPr id="3" name="Text 1"/>
          <p:cNvSpPr/>
          <p:nvPr/>
        </p:nvSpPr>
        <p:spPr>
          <a:xfrm>
            <a:off x="1828800" y="2615184"/>
            <a:ext cx="5486400" cy="320040"/>
          </a:xfrm>
          <a:prstGeom prst="rect">
            <a:avLst/>
          </a:prstGeom>
          <a:noFill/>
          <a:ln/>
        </p:spPr>
        <p:txBody>
          <a:bodyPr wrap="square" lIns="0" tIns="0" rIns="0" bIns="0" rtlCol="0" anchor="ctr"/>
          <a:lstStyle/>
          <a:p>
            <a:pPr algn="ctr" indent="0" marL="0">
              <a:buNone/>
            </a:pPr>
            <a:r>
              <a:rPr lang="en-US" sz="1350" dirty="0">
                <a:solidFill>
                  <a:srgbClr val="334155"/>
                </a:solidFill>
                <a:latin typeface="Arial" pitchFamily="34" charset="0"/>
                <a:ea typeface="Arial" pitchFamily="34" charset="-122"/>
                <a:cs typeface="Arial" pitchFamily="34" charset="-120"/>
              </a:rPr>
              <a:t>Run JavaScript when something happens on the page.</a:t>
            </a:r>
            <a:endParaRPr lang="en-US" sz="135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Event handlers contain the response code</a:t>
            </a:r>
            <a:endParaRPr lang="en-US" sz="2100" dirty="0"/>
          </a:p>
        </p:txBody>
      </p:sp>
      <p:sp>
        <p:nvSpPr>
          <p:cNvPr id="3" name="Shape 1"/>
          <p:cNvSpPr/>
          <p:nvPr/>
        </p:nvSpPr>
        <p:spPr>
          <a:xfrm>
            <a:off x="685800" y="1051560"/>
            <a:ext cx="3200400" cy="914400"/>
          </a:xfrm>
          <a:prstGeom prst="rect">
            <a:avLst/>
          </a:prstGeom>
          <a:solidFill>
            <a:srgbClr val="0F172A"/>
          </a:solidFill>
          <a:ln w="12700">
            <a:solidFill>
              <a:srgbClr val="0F172A"/>
            </a:solidFill>
            <a:prstDash val="solid"/>
          </a:ln>
        </p:spPr>
      </p:sp>
      <p:sp>
        <p:nvSpPr>
          <p:cNvPr id="4" name="Text 2"/>
          <p:cNvSpPr/>
          <p:nvPr/>
        </p:nvSpPr>
        <p:spPr>
          <a:xfrm>
            <a:off x="813816" y="1161288"/>
            <a:ext cx="2944368" cy="69494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&lt;p id="order-status"&gt;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No new orders</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&lt;/p&gt;</a:t>
            </a:r>
            <a:endParaRPr lang="en-US" sz="1088" dirty="0"/>
          </a:p>
        </p:txBody>
      </p:sp>
      <p:sp>
        <p:nvSpPr>
          <p:cNvPr id="5" name="Shape 3"/>
          <p:cNvSpPr/>
          <p:nvPr/>
        </p:nvSpPr>
        <p:spPr>
          <a:xfrm>
            <a:off x="685800" y="2240280"/>
            <a:ext cx="3749040" cy="1325880"/>
          </a:xfrm>
          <a:prstGeom prst="rect">
            <a:avLst/>
          </a:prstGeom>
          <a:solidFill>
            <a:srgbClr val="0F172A"/>
          </a:solidFill>
          <a:ln w="12700">
            <a:solidFill>
              <a:srgbClr val="0F172A"/>
            </a:solidFill>
            <a:prstDash val="solid"/>
          </a:ln>
        </p:spPr>
      </p:sp>
      <p:sp>
        <p:nvSpPr>
          <p:cNvPr id="6" name="Text 4"/>
          <p:cNvSpPr/>
          <p:nvPr/>
        </p:nvSpPr>
        <p:spPr>
          <a:xfrm>
            <a:off x="813816" y="2350008"/>
            <a:ext cx="3493008" cy="110642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function handleAddOrder()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statusMessage.textContent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"New order received";</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7" name="Text 5"/>
          <p:cNvSpPr/>
          <p:nvPr/>
        </p:nvSpPr>
        <p:spPr>
          <a:xfrm>
            <a:off x="4617720" y="1097280"/>
            <a:ext cx="3474720" cy="777240"/>
          </a:xfrm>
          <a:prstGeom prst="rect">
            <a:avLst/>
          </a:prstGeom>
          <a:noFill/>
          <a:ln/>
        </p:spPr>
        <p:txBody>
          <a:bodyPr wrap="square" lIns="635" tIns="635" rIns="635" bIns="635" rtlCol="0" anchor="t">
            <a:normAutofit/>
          </a:bodyPr>
          <a:lstStyle/>
          <a:p>
            <a:pPr algn="l" indent="0" marL="0">
              <a:lnSpc>
                <a:spcPct val="105000"/>
              </a:lnSpc>
              <a:buNone/>
            </a:pPr>
            <a:r>
              <a:rPr lang="en-US" sz="1280" dirty="0">
                <a:solidFill>
                  <a:srgbClr val="334155"/>
                </a:solidFill>
                <a:latin typeface="Arial" pitchFamily="34" charset="0"/>
                <a:ea typeface="Arial" pitchFamily="34" charset="-122"/>
                <a:cs typeface="Arial" pitchFamily="34" charset="-120"/>
              </a:rPr>
              <a:t>handleAddOrder is a named function. Its body contains the instructions that should run after the click. Defining the function does not run it.</a:t>
            </a:r>
            <a:endParaRPr lang="en-US" sz="1280" dirty="0"/>
          </a:p>
        </p:txBody>
      </p:sp>
      <p:sp>
        <p:nvSpPr>
          <p:cNvPr id="8" name="Shape 6"/>
          <p:cNvSpPr/>
          <p:nvPr/>
        </p:nvSpPr>
        <p:spPr>
          <a:xfrm>
            <a:off x="4617720" y="2240280"/>
            <a:ext cx="1691640" cy="822960"/>
          </a:xfrm>
          <a:prstGeom prst="roundRect">
            <a:avLst>
              <a:gd name="adj" fmla="val 5556"/>
            </a:avLst>
          </a:prstGeom>
          <a:solidFill>
            <a:srgbClr val="F3F4F6"/>
          </a:solidFill>
          <a:ln w="12700">
            <a:solidFill>
              <a:srgbClr val="CBD5E1"/>
            </a:solidFill>
            <a:prstDash val="solid"/>
          </a:ln>
        </p:spPr>
      </p:sp>
      <p:sp>
        <p:nvSpPr>
          <p:cNvPr id="9" name="Text 7"/>
          <p:cNvSpPr/>
          <p:nvPr/>
        </p:nvSpPr>
        <p:spPr>
          <a:xfrm>
            <a:off x="4718304" y="2313432"/>
            <a:ext cx="1490472" cy="676656"/>
          </a:xfrm>
          <a:prstGeom prst="rect">
            <a:avLst/>
          </a:prstGeom>
          <a:noFill/>
          <a:ln/>
        </p:spPr>
        <p:txBody>
          <a:bodyPr wrap="square" lIns="0" tIns="0" rIns="0" bIns="0" rtlCol="0" anchor="ctr">
            <a:normAutofit/>
          </a:bodyPr>
          <a:lstStyle/>
          <a:p>
            <a:pPr algn="ctr" indent="0" marL="0">
              <a:buNone/>
            </a:pPr>
            <a:r>
              <a:rPr lang="en-US" sz="1100" dirty="0">
                <a:solidFill>
                  <a:srgbClr val="111827"/>
                </a:solidFill>
                <a:latin typeface="Arial" pitchFamily="34" charset="0"/>
                <a:ea typeface="Arial" pitchFamily="34" charset="-122"/>
                <a:cs typeface="Arial" pitchFamily="34" charset="-120"/>
              </a:rPr>
              <a:t>Before the handler runs</a:t>
            </a:r>
            <a:endParaRPr lang="en-US" sz="1100" dirty="0"/>
          </a:p>
          <a:p>
            <a:pPr algn="ctr" indent="0" marL="0">
              <a:buNone/>
            </a:pPr>
            <a:r>
              <a:rPr lang="en-US" sz="1100" dirty="0">
                <a:solidFill>
                  <a:srgbClr val="111827"/>
                </a:solidFill>
                <a:latin typeface="Arial" pitchFamily="34" charset="0"/>
                <a:ea typeface="Arial" pitchFamily="34" charset="-122"/>
                <a:cs typeface="Arial" pitchFamily="34" charset="-120"/>
              </a:rPr>
              <a:t>No new orders</a:t>
            </a:r>
            <a:endParaRPr lang="en-US" sz="1100" dirty="0"/>
          </a:p>
        </p:txBody>
      </p:sp>
      <p:sp>
        <p:nvSpPr>
          <p:cNvPr id="10" name="Shape 8"/>
          <p:cNvSpPr/>
          <p:nvPr/>
        </p:nvSpPr>
        <p:spPr>
          <a:xfrm>
            <a:off x="6446520" y="2240280"/>
            <a:ext cx="1828800" cy="822960"/>
          </a:xfrm>
          <a:prstGeom prst="roundRect">
            <a:avLst>
              <a:gd name="adj" fmla="val 5556"/>
            </a:avLst>
          </a:prstGeom>
          <a:solidFill>
            <a:srgbClr val="DCFCE7"/>
          </a:solidFill>
          <a:ln w="12700">
            <a:solidFill>
              <a:srgbClr val="CBD5E1"/>
            </a:solidFill>
            <a:prstDash val="solid"/>
          </a:ln>
        </p:spPr>
      </p:sp>
      <p:sp>
        <p:nvSpPr>
          <p:cNvPr id="11" name="Text 9"/>
          <p:cNvSpPr/>
          <p:nvPr/>
        </p:nvSpPr>
        <p:spPr>
          <a:xfrm>
            <a:off x="6547104" y="2313432"/>
            <a:ext cx="1627632" cy="676656"/>
          </a:xfrm>
          <a:prstGeom prst="rect">
            <a:avLst/>
          </a:prstGeom>
          <a:noFill/>
          <a:ln/>
        </p:spPr>
        <p:txBody>
          <a:bodyPr wrap="square" lIns="0" tIns="0" rIns="0" bIns="0" rtlCol="0" anchor="ctr">
            <a:normAutofit/>
          </a:bodyPr>
          <a:lstStyle/>
          <a:p>
            <a:pPr algn="ctr" indent="0" marL="0">
              <a:buNone/>
            </a:pPr>
            <a:r>
              <a:rPr lang="en-US" sz="1100" dirty="0">
                <a:solidFill>
                  <a:srgbClr val="111827"/>
                </a:solidFill>
                <a:latin typeface="Arial" pitchFamily="34" charset="0"/>
                <a:ea typeface="Arial" pitchFamily="34" charset="-122"/>
                <a:cs typeface="Arial" pitchFamily="34" charset="-120"/>
              </a:rPr>
              <a:t>After the handler runs</a:t>
            </a:r>
            <a:endParaRPr lang="en-US" sz="1100" dirty="0"/>
          </a:p>
          <a:p>
            <a:pPr algn="ctr" indent="0" marL="0">
              <a:buNone/>
            </a:pPr>
            <a:r>
              <a:rPr lang="en-US" sz="1100" dirty="0">
                <a:solidFill>
                  <a:srgbClr val="111827"/>
                </a:solidFill>
                <a:latin typeface="Arial" pitchFamily="34" charset="0"/>
                <a:ea typeface="Arial" pitchFamily="34" charset="-122"/>
                <a:cs typeface="Arial" pitchFamily="34" charset="-120"/>
              </a:rPr>
              <a:t>New order received</a:t>
            </a:r>
            <a:endParaRPr lang="en-US" sz="110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A listener connects an event to a handler</a:t>
            </a:r>
            <a:endParaRPr lang="en-US" sz="2100" dirty="0"/>
          </a:p>
        </p:txBody>
      </p:sp>
      <p:sp>
        <p:nvSpPr>
          <p:cNvPr id="4" name="Shape 1"/>
          <p:cNvSpPr/>
          <p:nvPr/>
        </p:nvSpPr>
        <p:spPr>
          <a:xfrm>
            <a:off x="685800" y="1051560"/>
            <a:ext cx="3383280" cy="914400"/>
          </a:xfrm>
          <a:prstGeom prst="rect">
            <a:avLst/>
          </a:prstGeom>
          <a:solidFill>
            <a:srgbClr val="0F172A"/>
          </a:solidFill>
          <a:ln w="12700">
            <a:solidFill>
              <a:srgbClr val="0F172A"/>
            </a:solidFill>
            <a:prstDash val="solid"/>
          </a:ln>
        </p:spPr>
      </p:sp>
      <p:sp>
        <p:nvSpPr>
          <p:cNvPr id="5" name="Text 2"/>
          <p:cNvSpPr/>
          <p:nvPr/>
        </p:nvSpPr>
        <p:spPr>
          <a:xfrm>
            <a:off x="813816" y="1161288"/>
            <a:ext cx="3127248" cy="69494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&lt;button id="add-order"&gt;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Add order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&lt;/button&gt;</a:t>
            </a:r>
            <a:endParaRPr lang="en-US" sz="1088" dirty="0"/>
          </a:p>
        </p:txBody>
      </p:sp>
      <p:sp>
        <p:nvSpPr>
          <p:cNvPr id="6" name="Shape 3"/>
          <p:cNvSpPr/>
          <p:nvPr/>
        </p:nvSpPr>
        <p:spPr>
          <a:xfrm>
            <a:off x="685800" y="2423160"/>
            <a:ext cx="3977640" cy="1234440"/>
          </a:xfrm>
          <a:prstGeom prst="rect">
            <a:avLst/>
          </a:prstGeom>
          <a:solidFill>
            <a:srgbClr val="0F172A"/>
          </a:solidFill>
          <a:ln w="12700">
            <a:solidFill>
              <a:srgbClr val="0F172A"/>
            </a:solidFill>
            <a:prstDash val="solid"/>
          </a:ln>
        </p:spPr>
      </p:sp>
      <p:sp>
        <p:nvSpPr>
          <p:cNvPr id="7" name="Text 4"/>
          <p:cNvSpPr/>
          <p:nvPr/>
        </p:nvSpPr>
        <p:spPr>
          <a:xfrm>
            <a:off x="813816" y="2532888"/>
            <a:ext cx="3721608" cy="101498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addOrderButton.addEventListener(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"click",</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handleAddOrder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8" name="Shape 5"/>
          <p:cNvSpPr/>
          <p:nvPr/>
        </p:nvSpPr>
        <p:spPr>
          <a:xfrm>
            <a:off x="4983480" y="1097280"/>
            <a:ext cx="2926080" cy="566928"/>
          </a:xfrm>
          <a:prstGeom prst="roundRect">
            <a:avLst>
              <a:gd name="adj" fmla="val 8065"/>
            </a:avLst>
          </a:prstGeom>
          <a:solidFill>
            <a:srgbClr val="EFF6FF"/>
          </a:solidFill>
          <a:ln w="12700">
            <a:solidFill>
              <a:srgbClr val="CBD5E1"/>
            </a:solidFill>
            <a:prstDash val="solid"/>
          </a:ln>
        </p:spPr>
      </p:sp>
      <p:sp>
        <p:nvSpPr>
          <p:cNvPr id="9" name="Text 6"/>
          <p:cNvSpPr/>
          <p:nvPr/>
        </p:nvSpPr>
        <p:spPr>
          <a:xfrm>
            <a:off x="5084064" y="1170432"/>
            <a:ext cx="2724912" cy="420624"/>
          </a:xfrm>
          <a:prstGeom prst="rect">
            <a:avLst/>
          </a:prstGeom>
          <a:noFill/>
          <a:ln/>
        </p:spPr>
        <p:txBody>
          <a:bodyPr wrap="square" lIns="0" tIns="0" rIns="0" bIns="0" rtlCol="0" anchor="ctr">
            <a:normAutofit/>
          </a:bodyPr>
          <a:lstStyle/>
          <a:p>
            <a:pPr algn="l" indent="0" marL="0">
              <a:buNone/>
            </a:pPr>
            <a:r>
              <a:rPr lang="en-US" sz="1130" dirty="0">
                <a:solidFill>
                  <a:srgbClr val="111827"/>
                </a:solidFill>
                <a:latin typeface="Arial" pitchFamily="34" charset="0"/>
                <a:ea typeface="Arial" pitchFamily="34" charset="-122"/>
                <a:cs typeface="Arial" pitchFamily="34" charset="-120"/>
              </a:rPr>
              <a:t>addOrderButton</a:t>
            </a:r>
            <a:endParaRPr lang="en-US" sz="1130" dirty="0"/>
          </a:p>
          <a:p>
            <a:pPr algn="l" indent="0" marL="0">
              <a:buNone/>
            </a:pPr>
            <a:r>
              <a:rPr lang="en-US" sz="1130" dirty="0">
                <a:solidFill>
                  <a:srgbClr val="111827"/>
                </a:solidFill>
                <a:latin typeface="Arial" pitchFamily="34" charset="0"/>
                <a:ea typeface="Arial" pitchFamily="34" charset="-122"/>
                <a:cs typeface="Arial" pitchFamily="34" charset="-120"/>
              </a:rPr>
              <a:t>Element receiving the action</a:t>
            </a:r>
            <a:endParaRPr lang="en-US" sz="1130" dirty="0"/>
          </a:p>
        </p:txBody>
      </p:sp>
      <p:sp>
        <p:nvSpPr>
          <p:cNvPr id="10" name="Shape 7"/>
          <p:cNvSpPr/>
          <p:nvPr/>
        </p:nvSpPr>
        <p:spPr>
          <a:xfrm>
            <a:off x="4983480" y="1920240"/>
            <a:ext cx="2926080" cy="566928"/>
          </a:xfrm>
          <a:prstGeom prst="roundRect">
            <a:avLst>
              <a:gd name="adj" fmla="val 8065"/>
            </a:avLst>
          </a:prstGeom>
          <a:solidFill>
            <a:srgbClr val="F5F3FF"/>
          </a:solidFill>
          <a:ln w="12700">
            <a:solidFill>
              <a:srgbClr val="CBD5E1"/>
            </a:solidFill>
            <a:prstDash val="solid"/>
          </a:ln>
        </p:spPr>
      </p:sp>
      <p:sp>
        <p:nvSpPr>
          <p:cNvPr id="11" name="Text 8"/>
          <p:cNvSpPr/>
          <p:nvPr/>
        </p:nvSpPr>
        <p:spPr>
          <a:xfrm>
            <a:off x="5084064" y="1993392"/>
            <a:ext cx="2724912" cy="420624"/>
          </a:xfrm>
          <a:prstGeom prst="rect">
            <a:avLst/>
          </a:prstGeom>
          <a:noFill/>
          <a:ln/>
        </p:spPr>
        <p:txBody>
          <a:bodyPr wrap="square" lIns="0" tIns="0" rIns="0" bIns="0" rtlCol="0" anchor="ctr">
            <a:normAutofit/>
          </a:bodyPr>
          <a:lstStyle/>
          <a:p>
            <a:pPr algn="l" indent="0" marL="0">
              <a:buNone/>
            </a:pPr>
            <a:r>
              <a:rPr lang="en-US" sz="1130" dirty="0">
                <a:solidFill>
                  <a:srgbClr val="111827"/>
                </a:solidFill>
                <a:latin typeface="Arial" pitchFamily="34" charset="0"/>
                <a:ea typeface="Arial" pitchFamily="34" charset="-122"/>
                <a:cs typeface="Arial" pitchFamily="34" charset="-120"/>
              </a:rPr>
              <a:t>"click"</a:t>
            </a:r>
            <a:endParaRPr lang="en-US" sz="1130" dirty="0"/>
          </a:p>
          <a:p>
            <a:pPr algn="l" indent="0" marL="0">
              <a:buNone/>
            </a:pPr>
            <a:r>
              <a:rPr lang="en-US" sz="1130" dirty="0">
                <a:solidFill>
                  <a:srgbClr val="111827"/>
                </a:solidFill>
                <a:latin typeface="Arial" pitchFamily="34" charset="0"/>
                <a:ea typeface="Arial" pitchFamily="34" charset="-122"/>
                <a:cs typeface="Arial" pitchFamily="34" charset="-120"/>
              </a:rPr>
              <a:t>Event to listen for</a:t>
            </a:r>
            <a:endParaRPr lang="en-US" sz="1130" dirty="0"/>
          </a:p>
        </p:txBody>
      </p:sp>
      <p:sp>
        <p:nvSpPr>
          <p:cNvPr id="12" name="Shape 9"/>
          <p:cNvSpPr/>
          <p:nvPr/>
        </p:nvSpPr>
        <p:spPr>
          <a:xfrm>
            <a:off x="4983480" y="2743200"/>
            <a:ext cx="2926080" cy="566928"/>
          </a:xfrm>
          <a:prstGeom prst="roundRect">
            <a:avLst>
              <a:gd name="adj" fmla="val 8065"/>
            </a:avLst>
          </a:prstGeom>
          <a:solidFill>
            <a:srgbClr val="DCFCE7"/>
          </a:solidFill>
          <a:ln w="12700">
            <a:solidFill>
              <a:srgbClr val="CBD5E1"/>
            </a:solidFill>
            <a:prstDash val="solid"/>
          </a:ln>
        </p:spPr>
      </p:sp>
      <p:sp>
        <p:nvSpPr>
          <p:cNvPr id="13" name="Text 10"/>
          <p:cNvSpPr/>
          <p:nvPr/>
        </p:nvSpPr>
        <p:spPr>
          <a:xfrm>
            <a:off x="5084064" y="2816352"/>
            <a:ext cx="2724912" cy="420624"/>
          </a:xfrm>
          <a:prstGeom prst="rect">
            <a:avLst/>
          </a:prstGeom>
          <a:noFill/>
          <a:ln/>
        </p:spPr>
        <p:txBody>
          <a:bodyPr wrap="square" lIns="0" tIns="0" rIns="0" bIns="0" rtlCol="0" anchor="ctr">
            <a:normAutofit/>
          </a:bodyPr>
          <a:lstStyle/>
          <a:p>
            <a:pPr algn="l" indent="0" marL="0">
              <a:buNone/>
            </a:pPr>
            <a:r>
              <a:rPr lang="en-US" sz="1130" dirty="0">
                <a:solidFill>
                  <a:srgbClr val="111827"/>
                </a:solidFill>
                <a:latin typeface="Arial" pitchFamily="34" charset="0"/>
                <a:ea typeface="Arial" pitchFamily="34" charset="-122"/>
                <a:cs typeface="Arial" pitchFamily="34" charset="-120"/>
              </a:rPr>
              <a:t>handleAddOrder</a:t>
            </a:r>
            <a:endParaRPr lang="en-US" sz="1130" dirty="0"/>
          </a:p>
          <a:p>
            <a:pPr algn="l" indent="0" marL="0">
              <a:buNone/>
            </a:pPr>
            <a:r>
              <a:rPr lang="en-US" sz="1130" dirty="0">
                <a:solidFill>
                  <a:srgbClr val="111827"/>
                </a:solidFill>
                <a:latin typeface="Arial" pitchFamily="34" charset="0"/>
                <a:ea typeface="Arial" pitchFamily="34" charset="-122"/>
                <a:cs typeface="Arial" pitchFamily="34" charset="-120"/>
              </a:rPr>
              <a:t>Function to run</a:t>
            </a:r>
            <a:endParaRPr lang="en-US" sz="1130" dirty="0"/>
          </a:p>
        </p:txBody>
      </p:sp>
      <p:sp>
        <p:nvSpPr>
          <p:cNvPr id="14" name="Text 11"/>
          <p:cNvSpPr/>
          <p:nvPr/>
        </p:nvSpPr>
        <p:spPr>
          <a:xfrm>
            <a:off x="4983480" y="3703320"/>
            <a:ext cx="2926080" cy="320040"/>
          </a:xfrm>
          <a:prstGeom prst="rect">
            <a:avLst/>
          </a:prstGeom>
          <a:noFill/>
          <a:ln/>
        </p:spPr>
        <p:txBody>
          <a:bodyPr wrap="square" lIns="635" tIns="635" rIns="635" bIns="635" rtlCol="0" anchor="t">
            <a:normAutofit/>
          </a:bodyPr>
          <a:lstStyle/>
          <a:p>
            <a:pPr algn="ctr" indent="0" marL="0">
              <a:lnSpc>
                <a:spcPct val="105000"/>
              </a:lnSpc>
              <a:buNone/>
            </a:pPr>
            <a:r>
              <a:rPr lang="en-US" sz="1240" dirty="0">
                <a:solidFill>
                  <a:srgbClr val="334155"/>
                </a:solidFill>
                <a:latin typeface="Arial" pitchFamily="34" charset="0"/>
                <a:ea typeface="Arial" pitchFamily="34" charset="-122"/>
                <a:cs typeface="Arial" pitchFamily="34" charset="-120"/>
              </a:rPr>
              <a:t>The browser registers the listener and waits for the click.</a:t>
            </a:r>
            <a:endParaRPr lang="en-US" sz="124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Pass the handler without calling it</a:t>
            </a:r>
            <a:endParaRPr lang="en-US" sz="2100" dirty="0"/>
          </a:p>
        </p:txBody>
      </p:sp>
      <p:sp>
        <p:nvSpPr>
          <p:cNvPr id="3" name="Shape 1"/>
          <p:cNvSpPr/>
          <p:nvPr/>
        </p:nvSpPr>
        <p:spPr>
          <a:xfrm>
            <a:off x="685800" y="960120"/>
            <a:ext cx="3749040" cy="274320"/>
          </a:xfrm>
          <a:prstGeom prst="roundRect">
            <a:avLst>
              <a:gd name="adj" fmla="val 16667"/>
            </a:avLst>
          </a:prstGeom>
          <a:solidFill>
            <a:srgbClr val="DCFCE7"/>
          </a:solidFill>
          <a:ln w="12700">
            <a:solidFill>
              <a:srgbClr val="CBD5E1"/>
            </a:solidFill>
            <a:prstDash val="solid"/>
          </a:ln>
        </p:spPr>
      </p:sp>
      <p:sp>
        <p:nvSpPr>
          <p:cNvPr id="4" name="Text 2"/>
          <p:cNvSpPr/>
          <p:nvPr/>
        </p:nvSpPr>
        <p:spPr>
          <a:xfrm>
            <a:off x="786384" y="1033272"/>
            <a:ext cx="3547872" cy="128016"/>
          </a:xfrm>
          <a:prstGeom prst="rect">
            <a:avLst/>
          </a:prstGeom>
          <a:noFill/>
          <a:ln/>
        </p:spPr>
        <p:txBody>
          <a:bodyPr wrap="square" lIns="0" tIns="0" rIns="0" bIns="0" rtlCol="0" anchor="ctr">
            <a:normAutofit/>
          </a:bodyPr>
          <a:lstStyle/>
          <a:p>
            <a:pPr algn="ctr" indent="0" marL="0">
              <a:buNone/>
            </a:pPr>
            <a:r>
              <a:rPr lang="en-US" sz="1240" b="1" dirty="0">
                <a:solidFill>
                  <a:srgbClr val="111827"/>
                </a:solidFill>
                <a:latin typeface="Arial" pitchFamily="34" charset="0"/>
                <a:ea typeface="Arial" pitchFamily="34" charset="-122"/>
                <a:cs typeface="Arial" pitchFamily="34" charset="-120"/>
              </a:rPr>
              <a:t>Pass the function</a:t>
            </a:r>
            <a:endParaRPr lang="en-US" sz="1240" dirty="0"/>
          </a:p>
        </p:txBody>
      </p:sp>
      <p:sp>
        <p:nvSpPr>
          <p:cNvPr id="5" name="Shape 3"/>
          <p:cNvSpPr/>
          <p:nvPr/>
        </p:nvSpPr>
        <p:spPr>
          <a:xfrm>
            <a:off x="685800" y="1417320"/>
            <a:ext cx="3749040" cy="1051560"/>
          </a:xfrm>
          <a:prstGeom prst="rect">
            <a:avLst/>
          </a:prstGeom>
          <a:solidFill>
            <a:srgbClr val="0F172A"/>
          </a:solidFill>
          <a:ln w="12700">
            <a:solidFill>
              <a:srgbClr val="0F172A"/>
            </a:solidFill>
            <a:prstDash val="solid"/>
          </a:ln>
        </p:spPr>
      </p:sp>
      <p:sp>
        <p:nvSpPr>
          <p:cNvPr id="6" name="Text 4"/>
          <p:cNvSpPr/>
          <p:nvPr/>
        </p:nvSpPr>
        <p:spPr>
          <a:xfrm>
            <a:off x="813816" y="1527048"/>
            <a:ext cx="3493008" cy="83210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addOrderButton.addEventListener(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"click",</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handleAddOrder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7" name="Text 5"/>
          <p:cNvSpPr/>
          <p:nvPr/>
        </p:nvSpPr>
        <p:spPr>
          <a:xfrm>
            <a:off x="822960" y="2606040"/>
            <a:ext cx="3474720" cy="274320"/>
          </a:xfrm>
          <a:prstGeom prst="rect">
            <a:avLst/>
          </a:prstGeom>
          <a:noFill/>
          <a:ln/>
        </p:spPr>
        <p:txBody>
          <a:bodyPr wrap="square" lIns="635" tIns="635" rIns="635" bIns="635" rtlCol="0" anchor="t">
            <a:normAutofit/>
          </a:bodyPr>
          <a:lstStyle/>
          <a:p>
            <a:pPr algn="ctr" indent="0" marL="0">
              <a:lnSpc>
                <a:spcPct val="105000"/>
              </a:lnSpc>
              <a:buNone/>
            </a:pPr>
            <a:r>
              <a:rPr lang="en-US" sz="1200" dirty="0">
                <a:solidFill>
                  <a:srgbClr val="334155"/>
                </a:solidFill>
                <a:latin typeface="Arial" pitchFamily="34" charset="0"/>
                <a:ea typeface="Arial" pitchFamily="34" charset="-122"/>
                <a:cs typeface="Arial" pitchFamily="34" charset="-120"/>
              </a:rPr>
              <a:t>The browser can run the function after a future click.</a:t>
            </a:r>
            <a:endParaRPr lang="en-US" sz="1200" dirty="0"/>
          </a:p>
        </p:txBody>
      </p:sp>
      <p:sp>
        <p:nvSpPr>
          <p:cNvPr id="8" name="Shape 6"/>
          <p:cNvSpPr/>
          <p:nvPr/>
        </p:nvSpPr>
        <p:spPr>
          <a:xfrm>
            <a:off x="4709160" y="960120"/>
            <a:ext cx="3749040" cy="274320"/>
          </a:xfrm>
          <a:prstGeom prst="roundRect">
            <a:avLst>
              <a:gd name="adj" fmla="val 16667"/>
            </a:avLst>
          </a:prstGeom>
          <a:solidFill>
            <a:srgbClr val="FEE2E2"/>
          </a:solidFill>
          <a:ln w="12700">
            <a:solidFill>
              <a:srgbClr val="CBD5E1"/>
            </a:solidFill>
            <a:prstDash val="solid"/>
          </a:ln>
        </p:spPr>
      </p:sp>
      <p:sp>
        <p:nvSpPr>
          <p:cNvPr id="9" name="Text 7"/>
          <p:cNvSpPr/>
          <p:nvPr/>
        </p:nvSpPr>
        <p:spPr>
          <a:xfrm>
            <a:off x="4809744" y="1033272"/>
            <a:ext cx="3547872" cy="128016"/>
          </a:xfrm>
          <a:prstGeom prst="rect">
            <a:avLst/>
          </a:prstGeom>
          <a:noFill/>
          <a:ln/>
        </p:spPr>
        <p:txBody>
          <a:bodyPr wrap="square" lIns="0" tIns="0" rIns="0" bIns="0" rtlCol="0" anchor="ctr">
            <a:normAutofit/>
          </a:bodyPr>
          <a:lstStyle/>
          <a:p>
            <a:pPr algn="ctr" indent="0" marL="0">
              <a:buNone/>
            </a:pPr>
            <a:r>
              <a:rPr lang="en-US" sz="1240" b="1" dirty="0">
                <a:solidFill>
                  <a:srgbClr val="111827"/>
                </a:solidFill>
                <a:latin typeface="Arial" pitchFamily="34" charset="0"/>
                <a:ea typeface="Arial" pitchFamily="34" charset="-122"/>
                <a:cs typeface="Arial" pitchFamily="34" charset="-120"/>
              </a:rPr>
              <a:t>Call the function immediately</a:t>
            </a:r>
            <a:endParaRPr lang="en-US" sz="1240" dirty="0"/>
          </a:p>
        </p:txBody>
      </p:sp>
      <p:sp>
        <p:nvSpPr>
          <p:cNvPr id="10" name="Shape 8"/>
          <p:cNvSpPr/>
          <p:nvPr/>
        </p:nvSpPr>
        <p:spPr>
          <a:xfrm>
            <a:off x="4709160" y="1417320"/>
            <a:ext cx="3749040" cy="1051560"/>
          </a:xfrm>
          <a:prstGeom prst="rect">
            <a:avLst/>
          </a:prstGeom>
          <a:solidFill>
            <a:srgbClr val="0F172A"/>
          </a:solidFill>
          <a:ln w="12700">
            <a:solidFill>
              <a:srgbClr val="0F172A"/>
            </a:solidFill>
            <a:prstDash val="solid"/>
          </a:ln>
        </p:spPr>
      </p:sp>
      <p:sp>
        <p:nvSpPr>
          <p:cNvPr id="11" name="Text 9"/>
          <p:cNvSpPr/>
          <p:nvPr/>
        </p:nvSpPr>
        <p:spPr>
          <a:xfrm>
            <a:off x="4837176" y="1527048"/>
            <a:ext cx="3493008" cy="83210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addOrderButton.addEventListener(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"click",</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handleAddOrder()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12" name="Text 10"/>
          <p:cNvSpPr/>
          <p:nvPr/>
        </p:nvSpPr>
        <p:spPr>
          <a:xfrm>
            <a:off x="4846320" y="2606040"/>
            <a:ext cx="3474720" cy="274320"/>
          </a:xfrm>
          <a:prstGeom prst="rect">
            <a:avLst/>
          </a:prstGeom>
          <a:noFill/>
          <a:ln/>
        </p:spPr>
        <p:txBody>
          <a:bodyPr wrap="square" lIns="635" tIns="635" rIns="635" bIns="635" rtlCol="0" anchor="t">
            <a:normAutofit/>
          </a:bodyPr>
          <a:lstStyle/>
          <a:p>
            <a:pPr algn="ctr" indent="0" marL="0">
              <a:lnSpc>
                <a:spcPct val="105000"/>
              </a:lnSpc>
              <a:buNone/>
            </a:pPr>
            <a:r>
              <a:rPr lang="en-US" sz="1200" dirty="0">
                <a:solidFill>
                  <a:srgbClr val="334155"/>
                </a:solidFill>
                <a:latin typeface="Arial" pitchFamily="34" charset="0"/>
                <a:ea typeface="Arial" pitchFamily="34" charset="-122"/>
                <a:cs typeface="Arial" pitchFamily="34" charset="-120"/>
              </a:rPr>
              <a:t>The parentheses run the function while this line is evaluated.</a:t>
            </a:r>
            <a:endParaRPr lang="en-US" sz="1200" dirty="0"/>
          </a:p>
        </p:txBody>
      </p:sp>
      <p:sp>
        <p:nvSpPr>
          <p:cNvPr id="13" name="Shape 11"/>
          <p:cNvSpPr/>
          <p:nvPr/>
        </p:nvSpPr>
        <p:spPr>
          <a:xfrm>
            <a:off x="1463040" y="3429000"/>
            <a:ext cx="2651760" cy="502920"/>
          </a:xfrm>
          <a:prstGeom prst="roundRect">
            <a:avLst>
              <a:gd name="adj" fmla="val 9091"/>
            </a:avLst>
          </a:prstGeom>
          <a:solidFill>
            <a:srgbClr val="F3F4F6"/>
          </a:solidFill>
          <a:ln w="12700">
            <a:solidFill>
              <a:srgbClr val="CBD5E1"/>
            </a:solidFill>
            <a:prstDash val="solid"/>
          </a:ln>
        </p:spPr>
      </p:sp>
      <p:sp>
        <p:nvSpPr>
          <p:cNvPr id="14" name="Text 12"/>
          <p:cNvSpPr/>
          <p:nvPr/>
        </p:nvSpPr>
        <p:spPr>
          <a:xfrm>
            <a:off x="1563624" y="3502152"/>
            <a:ext cx="2450592" cy="356616"/>
          </a:xfrm>
          <a:prstGeom prst="rect">
            <a:avLst/>
          </a:prstGeom>
          <a:noFill/>
          <a:ln/>
        </p:spPr>
        <p:txBody>
          <a:bodyPr wrap="square" lIns="0" tIns="0" rIns="0" bIns="0" rtlCol="0" anchor="ctr">
            <a:normAutofit/>
          </a:bodyPr>
          <a:lstStyle/>
          <a:p>
            <a:pPr algn="ctr" indent="0" marL="0">
              <a:buNone/>
            </a:pPr>
            <a:r>
              <a:rPr lang="en-US" sz="1160" dirty="0">
                <a:solidFill>
                  <a:srgbClr val="111827"/>
                </a:solidFill>
                <a:latin typeface="Arial" pitchFamily="34" charset="0"/>
                <a:ea typeface="Arial" pitchFamily="34" charset="-122"/>
                <a:cs typeface="Arial" pitchFamily="34" charset="-120"/>
              </a:rPr>
              <a:t>handleAddOrder</a:t>
            </a:r>
            <a:endParaRPr lang="en-US" sz="1160" dirty="0"/>
          </a:p>
          <a:p>
            <a:pPr algn="ctr" indent="0" marL="0">
              <a:buNone/>
            </a:pPr>
            <a:r>
              <a:rPr lang="en-US" sz="1160" dirty="0">
                <a:solidFill>
                  <a:srgbClr val="111827"/>
                </a:solidFill>
                <a:latin typeface="Arial" pitchFamily="34" charset="0"/>
                <a:ea typeface="Arial" pitchFamily="34" charset="-122"/>
                <a:cs typeface="Arial" pitchFamily="34" charset="-120"/>
              </a:rPr>
              <a:t>Function reference</a:t>
            </a:r>
            <a:endParaRPr lang="en-US" sz="1160" dirty="0"/>
          </a:p>
        </p:txBody>
      </p:sp>
      <p:sp>
        <p:nvSpPr>
          <p:cNvPr id="15" name="Shape 13"/>
          <p:cNvSpPr/>
          <p:nvPr/>
        </p:nvSpPr>
        <p:spPr>
          <a:xfrm>
            <a:off x="5029200" y="3429000"/>
            <a:ext cx="2651760" cy="502920"/>
          </a:xfrm>
          <a:prstGeom prst="roundRect">
            <a:avLst>
              <a:gd name="adj" fmla="val 9091"/>
            </a:avLst>
          </a:prstGeom>
          <a:solidFill>
            <a:srgbClr val="F3F4F6"/>
          </a:solidFill>
          <a:ln w="12700">
            <a:solidFill>
              <a:srgbClr val="CBD5E1"/>
            </a:solidFill>
            <a:prstDash val="solid"/>
          </a:ln>
        </p:spPr>
      </p:sp>
      <p:sp>
        <p:nvSpPr>
          <p:cNvPr id="16" name="Text 14"/>
          <p:cNvSpPr/>
          <p:nvPr/>
        </p:nvSpPr>
        <p:spPr>
          <a:xfrm>
            <a:off x="5129784" y="3502152"/>
            <a:ext cx="2450592" cy="356616"/>
          </a:xfrm>
          <a:prstGeom prst="rect">
            <a:avLst/>
          </a:prstGeom>
          <a:noFill/>
          <a:ln/>
        </p:spPr>
        <p:txBody>
          <a:bodyPr wrap="square" lIns="0" tIns="0" rIns="0" bIns="0" rtlCol="0" anchor="ctr">
            <a:normAutofit/>
          </a:bodyPr>
          <a:lstStyle/>
          <a:p>
            <a:pPr algn="ctr" indent="0" marL="0">
              <a:buNone/>
            </a:pPr>
            <a:r>
              <a:rPr lang="en-US" sz="1160" dirty="0">
                <a:solidFill>
                  <a:srgbClr val="111827"/>
                </a:solidFill>
                <a:latin typeface="Arial" pitchFamily="34" charset="0"/>
                <a:ea typeface="Arial" pitchFamily="34" charset="-122"/>
                <a:cs typeface="Arial" pitchFamily="34" charset="-120"/>
              </a:rPr>
              <a:t>handleAddOrder()</a:t>
            </a:r>
            <a:endParaRPr lang="en-US" sz="1160" dirty="0"/>
          </a:p>
          <a:p>
            <a:pPr algn="ctr" indent="0" marL="0">
              <a:buNone/>
            </a:pPr>
            <a:r>
              <a:rPr lang="en-US" sz="1160" dirty="0">
                <a:solidFill>
                  <a:srgbClr val="111827"/>
                </a:solidFill>
                <a:latin typeface="Arial" pitchFamily="34" charset="0"/>
                <a:ea typeface="Arial" pitchFamily="34" charset="-122"/>
                <a:cs typeface="Arial" pitchFamily="34" charset="-120"/>
              </a:rPr>
              <a:t>Function call</a:t>
            </a:r>
            <a:endParaRPr lang="en-US" sz="116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The browser waits after registration</a:t>
            </a:r>
            <a:endParaRPr lang="en-US" sz="2100" dirty="0"/>
          </a:p>
        </p:txBody>
      </p:sp>
      <p:sp>
        <p:nvSpPr>
          <p:cNvPr id="3" name="Shape 1"/>
          <p:cNvSpPr/>
          <p:nvPr/>
        </p:nvSpPr>
        <p:spPr>
          <a:xfrm>
            <a:off x="685800" y="1097280"/>
            <a:ext cx="3246120" cy="1828800"/>
          </a:xfrm>
          <a:prstGeom prst="rect">
            <a:avLst/>
          </a:prstGeom>
          <a:solidFill>
            <a:srgbClr val="0F172A"/>
          </a:solidFill>
          <a:ln w="12700">
            <a:solidFill>
              <a:srgbClr val="0F172A"/>
            </a:solidFill>
            <a:prstDash val="solid"/>
          </a:ln>
        </p:spPr>
      </p:sp>
      <p:sp>
        <p:nvSpPr>
          <p:cNvPr id="4" name="Text 2"/>
          <p:cNvSpPr/>
          <p:nvPr/>
        </p:nvSpPr>
        <p:spPr>
          <a:xfrm>
            <a:off x="813816" y="1207008"/>
            <a:ext cx="2990088" cy="160934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const addOrderButton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document.querySelector("#add-order");</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addOrderButton.addEventListener(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"click",</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handleAddOrder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5" name="Shape 3"/>
          <p:cNvSpPr/>
          <p:nvPr/>
        </p:nvSpPr>
        <p:spPr>
          <a:xfrm>
            <a:off x="4251960" y="1051560"/>
            <a:ext cx="914400" cy="685800"/>
          </a:xfrm>
          <a:prstGeom prst="roundRect">
            <a:avLst>
              <a:gd name="adj" fmla="val 6667"/>
            </a:avLst>
          </a:prstGeom>
          <a:solidFill>
            <a:srgbClr val="EFF6FF"/>
          </a:solidFill>
          <a:ln w="12700">
            <a:solidFill>
              <a:srgbClr val="CBD5E1"/>
            </a:solidFill>
            <a:prstDash val="solid"/>
          </a:ln>
        </p:spPr>
      </p:sp>
      <p:sp>
        <p:nvSpPr>
          <p:cNvPr id="6" name="Text 4"/>
          <p:cNvSpPr/>
          <p:nvPr/>
        </p:nvSpPr>
        <p:spPr>
          <a:xfrm>
            <a:off x="4352544" y="1124712"/>
            <a:ext cx="713232" cy="539496"/>
          </a:xfrm>
          <a:prstGeom prst="rect">
            <a:avLst/>
          </a:prstGeom>
          <a:noFill/>
          <a:ln/>
        </p:spPr>
        <p:txBody>
          <a:bodyPr wrap="square" lIns="0" tIns="0" rIns="0" bIns="0" rtlCol="0" anchor="ctr">
            <a:normAutofit/>
          </a:bodyPr>
          <a:lstStyle/>
          <a:p>
            <a:pPr algn="ctr" indent="0" marL="0">
              <a:buNone/>
            </a:pPr>
            <a:r>
              <a:rPr lang="en-US" sz="970" dirty="0">
                <a:solidFill>
                  <a:srgbClr val="111827"/>
                </a:solidFill>
                <a:latin typeface="Arial" pitchFamily="34" charset="0"/>
                <a:ea typeface="Arial" pitchFamily="34" charset="-122"/>
                <a:cs typeface="Arial" pitchFamily="34" charset="-120"/>
              </a:rPr>
              <a:t>1</a:t>
            </a:r>
            <a:endParaRPr lang="en-US" sz="970" dirty="0"/>
          </a:p>
          <a:p>
            <a:pPr algn="ctr" indent="0" marL="0">
              <a:buNone/>
            </a:pPr>
            <a:r>
              <a:rPr lang="en-US" sz="970" dirty="0">
                <a:solidFill>
                  <a:srgbClr val="111827"/>
                </a:solidFill>
                <a:latin typeface="Arial" pitchFamily="34" charset="0"/>
                <a:ea typeface="Arial" pitchFamily="34" charset="-122"/>
                <a:cs typeface="Arial" pitchFamily="34" charset="-120"/>
              </a:rPr>
              <a:t>Page loads</a:t>
            </a:r>
            <a:endParaRPr lang="en-US" sz="970" dirty="0"/>
          </a:p>
        </p:txBody>
      </p:sp>
      <p:sp>
        <p:nvSpPr>
          <p:cNvPr id="7" name="Shape 5"/>
          <p:cNvSpPr/>
          <p:nvPr/>
        </p:nvSpPr>
        <p:spPr>
          <a:xfrm>
            <a:off x="5184648" y="1389888"/>
            <a:ext cx="82296" cy="0"/>
          </a:xfrm>
          <a:prstGeom prst="line">
            <a:avLst/>
          </a:prstGeom>
          <a:noFill/>
          <a:ln w="15875">
            <a:solidFill>
              <a:srgbClr val="2563EB"/>
            </a:solidFill>
            <a:prstDash val="solid"/>
            <a:headEnd type="none"/>
            <a:tailEnd type="triangle"/>
          </a:ln>
        </p:spPr>
      </p:sp>
      <p:sp>
        <p:nvSpPr>
          <p:cNvPr id="8" name="Shape 6"/>
          <p:cNvSpPr/>
          <p:nvPr/>
        </p:nvSpPr>
        <p:spPr>
          <a:xfrm>
            <a:off x="5285232" y="1051560"/>
            <a:ext cx="914400" cy="685800"/>
          </a:xfrm>
          <a:prstGeom prst="roundRect">
            <a:avLst>
              <a:gd name="adj" fmla="val 6667"/>
            </a:avLst>
          </a:prstGeom>
          <a:solidFill>
            <a:srgbClr val="EFF6FF"/>
          </a:solidFill>
          <a:ln w="12700">
            <a:solidFill>
              <a:srgbClr val="CBD5E1"/>
            </a:solidFill>
            <a:prstDash val="solid"/>
          </a:ln>
        </p:spPr>
      </p:sp>
      <p:sp>
        <p:nvSpPr>
          <p:cNvPr id="9" name="Text 7"/>
          <p:cNvSpPr/>
          <p:nvPr/>
        </p:nvSpPr>
        <p:spPr>
          <a:xfrm>
            <a:off x="5385816" y="1124712"/>
            <a:ext cx="713232" cy="539496"/>
          </a:xfrm>
          <a:prstGeom prst="rect">
            <a:avLst/>
          </a:prstGeom>
          <a:noFill/>
          <a:ln/>
        </p:spPr>
        <p:txBody>
          <a:bodyPr wrap="square" lIns="0" tIns="0" rIns="0" bIns="0" rtlCol="0" anchor="ctr">
            <a:normAutofit/>
          </a:bodyPr>
          <a:lstStyle/>
          <a:p>
            <a:pPr algn="ctr" indent="0" marL="0">
              <a:buNone/>
            </a:pPr>
            <a:r>
              <a:rPr lang="en-US" sz="970" dirty="0">
                <a:solidFill>
                  <a:srgbClr val="111827"/>
                </a:solidFill>
                <a:latin typeface="Arial" pitchFamily="34" charset="0"/>
                <a:ea typeface="Arial" pitchFamily="34" charset="-122"/>
                <a:cs typeface="Arial" pitchFamily="34" charset="-120"/>
              </a:rPr>
              <a:t>2</a:t>
            </a:r>
            <a:endParaRPr lang="en-US" sz="970" dirty="0"/>
          </a:p>
          <a:p>
            <a:pPr algn="ctr" indent="0" marL="0">
              <a:buNone/>
            </a:pPr>
            <a:r>
              <a:rPr lang="en-US" sz="970" dirty="0">
                <a:solidFill>
                  <a:srgbClr val="111827"/>
                </a:solidFill>
                <a:latin typeface="Arial" pitchFamily="34" charset="0"/>
                <a:ea typeface="Arial" pitchFamily="34" charset="-122"/>
                <a:cs typeface="Arial" pitchFamily="34" charset="-120"/>
              </a:rPr>
              <a:t>Select button</a:t>
            </a:r>
            <a:endParaRPr lang="en-US" sz="970" dirty="0"/>
          </a:p>
        </p:txBody>
      </p:sp>
      <p:sp>
        <p:nvSpPr>
          <p:cNvPr id="10" name="Shape 8"/>
          <p:cNvSpPr/>
          <p:nvPr/>
        </p:nvSpPr>
        <p:spPr>
          <a:xfrm>
            <a:off x="6217920" y="1389888"/>
            <a:ext cx="82296" cy="0"/>
          </a:xfrm>
          <a:prstGeom prst="line">
            <a:avLst/>
          </a:prstGeom>
          <a:noFill/>
          <a:ln w="15875">
            <a:solidFill>
              <a:srgbClr val="2563EB"/>
            </a:solidFill>
            <a:prstDash val="solid"/>
            <a:headEnd type="none"/>
            <a:tailEnd type="triangle"/>
          </a:ln>
        </p:spPr>
      </p:sp>
      <p:sp>
        <p:nvSpPr>
          <p:cNvPr id="11" name="Shape 9"/>
          <p:cNvSpPr/>
          <p:nvPr/>
        </p:nvSpPr>
        <p:spPr>
          <a:xfrm>
            <a:off x="6318504" y="1051560"/>
            <a:ext cx="914400" cy="685800"/>
          </a:xfrm>
          <a:prstGeom prst="roundRect">
            <a:avLst>
              <a:gd name="adj" fmla="val 6667"/>
            </a:avLst>
          </a:prstGeom>
          <a:solidFill>
            <a:srgbClr val="EFF6FF"/>
          </a:solidFill>
          <a:ln w="12700">
            <a:solidFill>
              <a:srgbClr val="CBD5E1"/>
            </a:solidFill>
            <a:prstDash val="solid"/>
          </a:ln>
        </p:spPr>
      </p:sp>
      <p:sp>
        <p:nvSpPr>
          <p:cNvPr id="12" name="Text 10"/>
          <p:cNvSpPr/>
          <p:nvPr/>
        </p:nvSpPr>
        <p:spPr>
          <a:xfrm>
            <a:off x="6419088" y="1124712"/>
            <a:ext cx="713232" cy="539496"/>
          </a:xfrm>
          <a:prstGeom prst="rect">
            <a:avLst/>
          </a:prstGeom>
          <a:noFill/>
          <a:ln/>
        </p:spPr>
        <p:txBody>
          <a:bodyPr wrap="square" lIns="0" tIns="0" rIns="0" bIns="0" rtlCol="0" anchor="ctr">
            <a:normAutofit/>
          </a:bodyPr>
          <a:lstStyle/>
          <a:p>
            <a:pPr algn="ctr" indent="0" marL="0">
              <a:buNone/>
            </a:pPr>
            <a:r>
              <a:rPr lang="en-US" sz="970" dirty="0">
                <a:solidFill>
                  <a:srgbClr val="111827"/>
                </a:solidFill>
                <a:latin typeface="Arial" pitchFamily="34" charset="0"/>
                <a:ea typeface="Arial" pitchFamily="34" charset="-122"/>
                <a:cs typeface="Arial" pitchFamily="34" charset="-120"/>
              </a:rPr>
              <a:t>3</a:t>
            </a:r>
            <a:endParaRPr lang="en-US" sz="970" dirty="0"/>
          </a:p>
          <a:p>
            <a:pPr algn="ctr" indent="0" marL="0">
              <a:buNone/>
            </a:pPr>
            <a:r>
              <a:rPr lang="en-US" sz="970" dirty="0">
                <a:solidFill>
                  <a:srgbClr val="111827"/>
                </a:solidFill>
                <a:latin typeface="Arial" pitchFamily="34" charset="0"/>
                <a:ea typeface="Arial" pitchFamily="34" charset="-122"/>
                <a:cs typeface="Arial" pitchFamily="34" charset="-120"/>
              </a:rPr>
              <a:t>Register listener</a:t>
            </a:r>
            <a:endParaRPr lang="en-US" sz="970" dirty="0"/>
          </a:p>
        </p:txBody>
      </p:sp>
      <p:sp>
        <p:nvSpPr>
          <p:cNvPr id="13" name="Shape 11"/>
          <p:cNvSpPr/>
          <p:nvPr/>
        </p:nvSpPr>
        <p:spPr>
          <a:xfrm>
            <a:off x="7251192" y="1389888"/>
            <a:ext cx="82296" cy="0"/>
          </a:xfrm>
          <a:prstGeom prst="line">
            <a:avLst/>
          </a:prstGeom>
          <a:noFill/>
          <a:ln w="15875">
            <a:solidFill>
              <a:srgbClr val="2563EB"/>
            </a:solidFill>
            <a:prstDash val="solid"/>
            <a:headEnd type="none"/>
            <a:tailEnd type="triangle"/>
          </a:ln>
        </p:spPr>
      </p:sp>
      <p:sp>
        <p:nvSpPr>
          <p:cNvPr id="14" name="Shape 12"/>
          <p:cNvSpPr/>
          <p:nvPr/>
        </p:nvSpPr>
        <p:spPr>
          <a:xfrm>
            <a:off x="7351776" y="1051560"/>
            <a:ext cx="914400" cy="685800"/>
          </a:xfrm>
          <a:prstGeom prst="roundRect">
            <a:avLst>
              <a:gd name="adj" fmla="val 6667"/>
            </a:avLst>
          </a:prstGeom>
          <a:solidFill>
            <a:srgbClr val="FEF3C7"/>
          </a:solidFill>
          <a:ln w="12700">
            <a:solidFill>
              <a:srgbClr val="CBD5E1"/>
            </a:solidFill>
            <a:prstDash val="solid"/>
          </a:ln>
        </p:spPr>
      </p:sp>
      <p:sp>
        <p:nvSpPr>
          <p:cNvPr id="15" name="Text 13"/>
          <p:cNvSpPr/>
          <p:nvPr/>
        </p:nvSpPr>
        <p:spPr>
          <a:xfrm>
            <a:off x="7452360" y="1124712"/>
            <a:ext cx="713232" cy="539496"/>
          </a:xfrm>
          <a:prstGeom prst="rect">
            <a:avLst/>
          </a:prstGeom>
          <a:noFill/>
          <a:ln/>
        </p:spPr>
        <p:txBody>
          <a:bodyPr wrap="square" lIns="0" tIns="0" rIns="0" bIns="0" rtlCol="0" anchor="ctr">
            <a:normAutofit/>
          </a:bodyPr>
          <a:lstStyle/>
          <a:p>
            <a:pPr algn="ctr" indent="0" marL="0">
              <a:buNone/>
            </a:pPr>
            <a:r>
              <a:rPr lang="en-US" sz="970" dirty="0">
                <a:solidFill>
                  <a:srgbClr val="111827"/>
                </a:solidFill>
                <a:latin typeface="Arial" pitchFamily="34" charset="0"/>
                <a:ea typeface="Arial" pitchFamily="34" charset="-122"/>
                <a:cs typeface="Arial" pitchFamily="34" charset="-120"/>
              </a:rPr>
              <a:t>4</a:t>
            </a:r>
            <a:endParaRPr lang="en-US" sz="970" dirty="0"/>
          </a:p>
          <a:p>
            <a:pPr algn="ctr" indent="0" marL="0">
              <a:buNone/>
            </a:pPr>
            <a:r>
              <a:rPr lang="en-US" sz="970" dirty="0">
                <a:solidFill>
                  <a:srgbClr val="111827"/>
                </a:solidFill>
                <a:latin typeface="Arial" pitchFamily="34" charset="0"/>
                <a:ea typeface="Arial" pitchFamily="34" charset="-122"/>
                <a:cs typeface="Arial" pitchFamily="34" charset="-120"/>
              </a:rPr>
              <a:t>Browser waits</a:t>
            </a:r>
            <a:endParaRPr lang="en-US" sz="970" dirty="0"/>
          </a:p>
        </p:txBody>
      </p:sp>
      <p:sp>
        <p:nvSpPr>
          <p:cNvPr id="16" name="Shape 14"/>
          <p:cNvSpPr/>
          <p:nvPr/>
        </p:nvSpPr>
        <p:spPr>
          <a:xfrm>
            <a:off x="8284464" y="1389888"/>
            <a:ext cx="82296" cy="0"/>
          </a:xfrm>
          <a:prstGeom prst="line">
            <a:avLst/>
          </a:prstGeom>
          <a:noFill/>
          <a:ln w="15875">
            <a:solidFill>
              <a:srgbClr val="2563EB"/>
            </a:solidFill>
            <a:prstDash val="solid"/>
            <a:headEnd type="none"/>
            <a:tailEnd type="triangle"/>
          </a:ln>
        </p:spPr>
      </p:sp>
      <p:sp>
        <p:nvSpPr>
          <p:cNvPr id="17" name="Shape 15"/>
          <p:cNvSpPr/>
          <p:nvPr/>
        </p:nvSpPr>
        <p:spPr>
          <a:xfrm>
            <a:off x="4251960" y="2103120"/>
            <a:ext cx="914400" cy="685800"/>
          </a:xfrm>
          <a:prstGeom prst="roundRect">
            <a:avLst>
              <a:gd name="adj" fmla="val 6667"/>
            </a:avLst>
          </a:prstGeom>
          <a:solidFill>
            <a:srgbClr val="DCFCE7"/>
          </a:solidFill>
          <a:ln w="12700">
            <a:solidFill>
              <a:srgbClr val="CBD5E1"/>
            </a:solidFill>
            <a:prstDash val="solid"/>
          </a:ln>
        </p:spPr>
      </p:sp>
      <p:sp>
        <p:nvSpPr>
          <p:cNvPr id="18" name="Text 16"/>
          <p:cNvSpPr/>
          <p:nvPr/>
        </p:nvSpPr>
        <p:spPr>
          <a:xfrm>
            <a:off x="4352544" y="2176272"/>
            <a:ext cx="713232" cy="539496"/>
          </a:xfrm>
          <a:prstGeom prst="rect">
            <a:avLst/>
          </a:prstGeom>
          <a:noFill/>
          <a:ln/>
        </p:spPr>
        <p:txBody>
          <a:bodyPr wrap="square" lIns="0" tIns="0" rIns="0" bIns="0" rtlCol="0" anchor="ctr">
            <a:normAutofit/>
          </a:bodyPr>
          <a:lstStyle/>
          <a:p>
            <a:pPr algn="ctr" indent="0" marL="0">
              <a:buNone/>
            </a:pPr>
            <a:r>
              <a:rPr lang="en-US" sz="970" dirty="0">
                <a:solidFill>
                  <a:srgbClr val="111827"/>
                </a:solidFill>
                <a:latin typeface="Arial" pitchFamily="34" charset="0"/>
                <a:ea typeface="Arial" pitchFamily="34" charset="-122"/>
                <a:cs typeface="Arial" pitchFamily="34" charset="-120"/>
              </a:rPr>
              <a:t>5</a:t>
            </a:r>
            <a:endParaRPr lang="en-US" sz="970" dirty="0"/>
          </a:p>
          <a:p>
            <a:pPr algn="ctr" indent="0" marL="0">
              <a:buNone/>
            </a:pPr>
            <a:r>
              <a:rPr lang="en-US" sz="970" dirty="0">
                <a:solidFill>
                  <a:srgbClr val="111827"/>
                </a:solidFill>
                <a:latin typeface="Arial" pitchFamily="34" charset="0"/>
                <a:ea typeface="Arial" pitchFamily="34" charset="-122"/>
                <a:cs typeface="Arial" pitchFamily="34" charset="-120"/>
              </a:rPr>
              <a:t>User clicks</a:t>
            </a:r>
            <a:endParaRPr lang="en-US" sz="970" dirty="0"/>
          </a:p>
        </p:txBody>
      </p:sp>
      <p:sp>
        <p:nvSpPr>
          <p:cNvPr id="19" name="Shape 17"/>
          <p:cNvSpPr/>
          <p:nvPr/>
        </p:nvSpPr>
        <p:spPr>
          <a:xfrm>
            <a:off x="5184648" y="2441448"/>
            <a:ext cx="82296" cy="0"/>
          </a:xfrm>
          <a:prstGeom prst="line">
            <a:avLst/>
          </a:prstGeom>
          <a:noFill/>
          <a:ln w="15875">
            <a:solidFill>
              <a:srgbClr val="2563EB"/>
            </a:solidFill>
            <a:prstDash val="solid"/>
            <a:headEnd type="none"/>
            <a:tailEnd type="triangle"/>
          </a:ln>
        </p:spPr>
      </p:sp>
      <p:sp>
        <p:nvSpPr>
          <p:cNvPr id="20" name="Shape 18"/>
          <p:cNvSpPr/>
          <p:nvPr/>
        </p:nvSpPr>
        <p:spPr>
          <a:xfrm>
            <a:off x="5285232" y="2103120"/>
            <a:ext cx="914400" cy="685800"/>
          </a:xfrm>
          <a:prstGeom prst="roundRect">
            <a:avLst>
              <a:gd name="adj" fmla="val 6667"/>
            </a:avLst>
          </a:prstGeom>
          <a:solidFill>
            <a:srgbClr val="DCFCE7"/>
          </a:solidFill>
          <a:ln w="12700">
            <a:solidFill>
              <a:srgbClr val="CBD5E1"/>
            </a:solidFill>
            <a:prstDash val="solid"/>
          </a:ln>
        </p:spPr>
      </p:sp>
      <p:sp>
        <p:nvSpPr>
          <p:cNvPr id="21" name="Text 19"/>
          <p:cNvSpPr/>
          <p:nvPr/>
        </p:nvSpPr>
        <p:spPr>
          <a:xfrm>
            <a:off x="5385816" y="2176272"/>
            <a:ext cx="713232" cy="539496"/>
          </a:xfrm>
          <a:prstGeom prst="rect">
            <a:avLst/>
          </a:prstGeom>
          <a:noFill/>
          <a:ln/>
        </p:spPr>
        <p:txBody>
          <a:bodyPr wrap="square" lIns="0" tIns="0" rIns="0" bIns="0" rtlCol="0" anchor="ctr">
            <a:normAutofit/>
          </a:bodyPr>
          <a:lstStyle/>
          <a:p>
            <a:pPr algn="ctr" indent="0" marL="0">
              <a:buNone/>
            </a:pPr>
            <a:r>
              <a:rPr lang="en-US" sz="970" dirty="0">
                <a:solidFill>
                  <a:srgbClr val="111827"/>
                </a:solidFill>
                <a:latin typeface="Arial" pitchFamily="34" charset="0"/>
                <a:ea typeface="Arial" pitchFamily="34" charset="-122"/>
                <a:cs typeface="Arial" pitchFamily="34" charset="-120"/>
              </a:rPr>
              <a:t>6</a:t>
            </a:r>
            <a:endParaRPr lang="en-US" sz="970" dirty="0"/>
          </a:p>
          <a:p>
            <a:pPr algn="ctr" indent="0" marL="0">
              <a:buNone/>
            </a:pPr>
            <a:r>
              <a:rPr lang="en-US" sz="970" dirty="0">
                <a:solidFill>
                  <a:srgbClr val="111827"/>
                </a:solidFill>
                <a:latin typeface="Arial" pitchFamily="34" charset="0"/>
                <a:ea typeface="Arial" pitchFamily="34" charset="-122"/>
                <a:cs typeface="Arial" pitchFamily="34" charset="-120"/>
              </a:rPr>
              <a:t>Run handler</a:t>
            </a:r>
            <a:endParaRPr lang="en-US" sz="970" dirty="0"/>
          </a:p>
        </p:txBody>
      </p:sp>
      <p:sp>
        <p:nvSpPr>
          <p:cNvPr id="22" name="Shape 20"/>
          <p:cNvSpPr/>
          <p:nvPr/>
        </p:nvSpPr>
        <p:spPr>
          <a:xfrm>
            <a:off x="6217920" y="2441448"/>
            <a:ext cx="82296" cy="0"/>
          </a:xfrm>
          <a:prstGeom prst="line">
            <a:avLst/>
          </a:prstGeom>
          <a:noFill/>
          <a:ln w="15875">
            <a:solidFill>
              <a:srgbClr val="2563EB"/>
            </a:solidFill>
            <a:prstDash val="solid"/>
            <a:headEnd type="none"/>
            <a:tailEnd type="triangle"/>
          </a:ln>
        </p:spPr>
      </p:sp>
      <p:sp>
        <p:nvSpPr>
          <p:cNvPr id="23" name="Shape 21"/>
          <p:cNvSpPr/>
          <p:nvPr/>
        </p:nvSpPr>
        <p:spPr>
          <a:xfrm>
            <a:off x="6318504" y="2103120"/>
            <a:ext cx="914400" cy="685800"/>
          </a:xfrm>
          <a:prstGeom prst="roundRect">
            <a:avLst>
              <a:gd name="adj" fmla="val 6667"/>
            </a:avLst>
          </a:prstGeom>
          <a:solidFill>
            <a:srgbClr val="DCFCE7"/>
          </a:solidFill>
          <a:ln w="12700">
            <a:solidFill>
              <a:srgbClr val="CBD5E1"/>
            </a:solidFill>
            <a:prstDash val="solid"/>
          </a:ln>
        </p:spPr>
      </p:sp>
      <p:sp>
        <p:nvSpPr>
          <p:cNvPr id="24" name="Text 22"/>
          <p:cNvSpPr/>
          <p:nvPr/>
        </p:nvSpPr>
        <p:spPr>
          <a:xfrm>
            <a:off x="6419088" y="2176272"/>
            <a:ext cx="713232" cy="539496"/>
          </a:xfrm>
          <a:prstGeom prst="rect">
            <a:avLst/>
          </a:prstGeom>
          <a:noFill/>
          <a:ln/>
        </p:spPr>
        <p:txBody>
          <a:bodyPr wrap="square" lIns="0" tIns="0" rIns="0" bIns="0" rtlCol="0" anchor="ctr">
            <a:normAutofit/>
          </a:bodyPr>
          <a:lstStyle/>
          <a:p>
            <a:pPr algn="ctr" indent="0" marL="0">
              <a:buNone/>
            </a:pPr>
            <a:r>
              <a:rPr lang="en-US" sz="970" dirty="0">
                <a:solidFill>
                  <a:srgbClr val="111827"/>
                </a:solidFill>
                <a:latin typeface="Arial" pitchFamily="34" charset="0"/>
                <a:ea typeface="Arial" pitchFamily="34" charset="-122"/>
                <a:cs typeface="Arial" pitchFamily="34" charset="-120"/>
              </a:rPr>
              <a:t>7</a:t>
            </a:r>
            <a:endParaRPr lang="en-US" sz="970" dirty="0"/>
          </a:p>
          <a:p>
            <a:pPr algn="ctr" indent="0" marL="0">
              <a:buNone/>
            </a:pPr>
            <a:r>
              <a:rPr lang="en-US" sz="970" dirty="0">
                <a:solidFill>
                  <a:srgbClr val="111827"/>
                </a:solidFill>
                <a:latin typeface="Arial" pitchFamily="34" charset="0"/>
                <a:ea typeface="Arial" pitchFamily="34" charset="-122"/>
                <a:cs typeface="Arial" pitchFamily="34" charset="-120"/>
              </a:rPr>
              <a:t>Update page</a:t>
            </a:r>
            <a:endParaRPr lang="en-US" sz="970" dirty="0"/>
          </a:p>
        </p:txBody>
      </p:sp>
      <p:sp>
        <p:nvSpPr>
          <p:cNvPr id="25" name="Text 23"/>
          <p:cNvSpPr/>
          <p:nvPr/>
        </p:nvSpPr>
        <p:spPr>
          <a:xfrm>
            <a:off x="4251960" y="3429000"/>
            <a:ext cx="4023360" cy="320040"/>
          </a:xfrm>
          <a:prstGeom prst="rect">
            <a:avLst/>
          </a:prstGeom>
          <a:noFill/>
          <a:ln/>
        </p:spPr>
        <p:txBody>
          <a:bodyPr wrap="square" lIns="635" tIns="635" rIns="635" bIns="635" rtlCol="0" anchor="t">
            <a:normAutofit/>
          </a:bodyPr>
          <a:lstStyle/>
          <a:p>
            <a:pPr algn="ctr" indent="0" marL="0">
              <a:lnSpc>
                <a:spcPct val="105000"/>
              </a:lnSpc>
              <a:buNone/>
            </a:pPr>
            <a:r>
              <a:rPr lang="en-US" sz="1260" b="1" dirty="0">
                <a:solidFill>
                  <a:srgbClr val="334155"/>
                </a:solidFill>
                <a:latin typeface="Arial" pitchFamily="34" charset="0"/>
                <a:ea typeface="Arial" pitchFamily="34" charset="-122"/>
                <a:cs typeface="Arial" pitchFamily="34" charset="-120"/>
              </a:rPr>
              <a:t>Registering a listener does not run the handler.</a:t>
            </a:r>
            <a:endParaRPr lang="en-US" sz="126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A click updates the café status</a:t>
            </a:r>
            <a:endParaRPr lang="en-US" sz="2100" dirty="0"/>
          </a:p>
        </p:txBody>
      </p:sp>
      <p:sp>
        <p:nvSpPr>
          <p:cNvPr id="3" name="Shape 1"/>
          <p:cNvSpPr/>
          <p:nvPr/>
        </p:nvSpPr>
        <p:spPr>
          <a:xfrm>
            <a:off x="685800" y="932688"/>
            <a:ext cx="5074920" cy="3547872"/>
          </a:xfrm>
          <a:prstGeom prst="rect">
            <a:avLst/>
          </a:prstGeom>
          <a:solidFill>
            <a:srgbClr val="0F172A"/>
          </a:solidFill>
          <a:ln w="12700">
            <a:solidFill>
              <a:srgbClr val="0F172A"/>
            </a:solidFill>
            <a:prstDash val="solid"/>
          </a:ln>
        </p:spPr>
      </p:sp>
      <p:sp>
        <p:nvSpPr>
          <p:cNvPr id="4" name="Text 2"/>
          <p:cNvSpPr/>
          <p:nvPr/>
        </p:nvSpPr>
        <p:spPr>
          <a:xfrm>
            <a:off x="813816" y="1042416"/>
            <a:ext cx="4818888" cy="3328416"/>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const statusMessage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document.getElementById(</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"order-status"</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const addOrderButton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document.querySelector(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"#add-order"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function handleAddOrder()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statusMessage.textContent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"New order received";</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addOrderButton.addEventListener(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"click",</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handleAddOrder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5" name="Text 3"/>
          <p:cNvSpPr/>
          <p:nvPr/>
        </p:nvSpPr>
        <p:spPr>
          <a:xfrm>
            <a:off x="5989320" y="1051560"/>
            <a:ext cx="2560320" cy="228600"/>
          </a:xfrm>
          <a:prstGeom prst="rect">
            <a:avLst/>
          </a:prstGeom>
          <a:noFill/>
          <a:ln/>
        </p:spPr>
        <p:txBody>
          <a:bodyPr wrap="square" lIns="0" tIns="0" rIns="0" bIns="0" rtlCol="0" anchor="t">
            <a:normAutofit/>
          </a:bodyPr>
          <a:lstStyle/>
          <a:p>
            <a:pPr algn="l" indent="0" marL="0">
              <a:lnSpc>
                <a:spcPct val="105000"/>
              </a:lnSpc>
              <a:buNone/>
            </a:pPr>
            <a:r>
              <a:rPr lang="en-US" sz="1350" b="1" dirty="0">
                <a:solidFill>
                  <a:srgbClr val="111827"/>
                </a:solidFill>
                <a:latin typeface="Arial" pitchFamily="34" charset="0"/>
                <a:ea typeface="Arial" pitchFamily="34" charset="-122"/>
                <a:cs typeface="Arial" pitchFamily="34" charset="-120"/>
              </a:rPr>
              <a:t>Predict before running</a:t>
            </a:r>
            <a:endParaRPr lang="en-US" sz="1350" dirty="0"/>
          </a:p>
        </p:txBody>
      </p:sp>
      <p:sp>
        <p:nvSpPr>
          <p:cNvPr id="6" name="Text 4"/>
          <p:cNvSpPr/>
          <p:nvPr/>
        </p:nvSpPr>
        <p:spPr>
          <a:xfrm>
            <a:off x="6035040" y="1417320"/>
            <a:ext cx="2377440" cy="219456"/>
          </a:xfrm>
          <a:prstGeom prst="rect">
            <a:avLst/>
          </a:prstGeom>
          <a:noFill/>
          <a:ln/>
        </p:spPr>
        <p:txBody>
          <a:bodyPr wrap="square" lIns="0" tIns="0" rIns="0" bIns="0" rtlCol="0" anchor="ctr">
            <a:normAutofit/>
          </a:bodyPr>
          <a:lstStyle/>
          <a:p>
            <a:r>
              <a:rPr lang="en-US" sz="1140" dirty="0">
                <a:solidFill>
                  <a:srgbClr val="111827"/>
                </a:solidFill>
                <a:latin typeface="Arial" pitchFamily="34" charset="0"/>
                <a:ea typeface="Arial" pitchFamily="34" charset="-122"/>
                <a:cs typeface="Arial" pitchFamily="34" charset="-120"/>
              </a:rPr>
              <a:t>What appears when the page loads?</a:t>
            </a:r>
            <a:endParaRPr lang="en-US" sz="1140" dirty="0"/>
          </a:p>
        </p:txBody>
      </p:sp>
      <p:sp>
        <p:nvSpPr>
          <p:cNvPr id="7" name="Text 5"/>
          <p:cNvSpPr/>
          <p:nvPr/>
        </p:nvSpPr>
        <p:spPr>
          <a:xfrm>
            <a:off x="6035040" y="1677924"/>
            <a:ext cx="2377440" cy="219456"/>
          </a:xfrm>
          <a:prstGeom prst="rect">
            <a:avLst/>
          </a:prstGeom>
          <a:noFill/>
          <a:ln/>
        </p:spPr>
        <p:txBody>
          <a:bodyPr wrap="square" lIns="0" tIns="0" rIns="0" bIns="0" rtlCol="0" anchor="ctr">
            <a:normAutofit/>
          </a:bodyPr>
          <a:lstStyle/>
          <a:p>
            <a:r>
              <a:rPr lang="en-US" sz="1140" dirty="0">
                <a:solidFill>
                  <a:srgbClr val="111827"/>
                </a:solidFill>
                <a:latin typeface="Arial" pitchFamily="34" charset="0"/>
                <a:ea typeface="Arial" pitchFamily="34" charset="-122"/>
                <a:cs typeface="Arial" pitchFamily="34" charset="-120"/>
              </a:rPr>
              <a:t>What changes after the click?</a:t>
            </a:r>
            <a:endParaRPr lang="en-US" sz="1140" dirty="0"/>
          </a:p>
        </p:txBody>
      </p:sp>
      <p:sp>
        <p:nvSpPr>
          <p:cNvPr id="8" name="Text 6"/>
          <p:cNvSpPr/>
          <p:nvPr/>
        </p:nvSpPr>
        <p:spPr>
          <a:xfrm>
            <a:off x="6035040" y="1938528"/>
            <a:ext cx="2377440" cy="219456"/>
          </a:xfrm>
          <a:prstGeom prst="rect">
            <a:avLst/>
          </a:prstGeom>
          <a:noFill/>
          <a:ln/>
        </p:spPr>
        <p:txBody>
          <a:bodyPr wrap="square" lIns="0" tIns="0" rIns="0" bIns="0" rtlCol="0" anchor="ctr">
            <a:normAutofit/>
          </a:bodyPr>
          <a:lstStyle/>
          <a:p>
            <a:r>
              <a:rPr lang="en-US" sz="1140" dirty="0">
                <a:solidFill>
                  <a:srgbClr val="111827"/>
                </a:solidFill>
                <a:latin typeface="Arial" pitchFamily="34" charset="0"/>
                <a:ea typeface="Arial" pitchFamily="34" charset="-122"/>
                <a:cs typeface="Arial" pitchFamily="34" charset="-120"/>
              </a:rPr>
              <a:t>Which line connects the button to the handler?</a:t>
            </a:r>
            <a:endParaRPr lang="en-US" sz="1140" dirty="0"/>
          </a:p>
        </p:txBody>
      </p:sp>
      <p:sp>
        <p:nvSpPr>
          <p:cNvPr id="9" name="Shape 7"/>
          <p:cNvSpPr/>
          <p:nvPr/>
        </p:nvSpPr>
        <p:spPr>
          <a:xfrm>
            <a:off x="5989320" y="2971800"/>
            <a:ext cx="2468880" cy="685800"/>
          </a:xfrm>
          <a:prstGeom prst="roundRect">
            <a:avLst>
              <a:gd name="adj" fmla="val 6667"/>
            </a:avLst>
          </a:prstGeom>
          <a:solidFill>
            <a:srgbClr val="DCFCE7"/>
          </a:solidFill>
          <a:ln w="12700">
            <a:solidFill>
              <a:srgbClr val="CBD5E1"/>
            </a:solidFill>
            <a:prstDash val="solid"/>
          </a:ln>
        </p:spPr>
      </p:sp>
      <p:sp>
        <p:nvSpPr>
          <p:cNvPr id="10" name="Text 8"/>
          <p:cNvSpPr/>
          <p:nvPr/>
        </p:nvSpPr>
        <p:spPr>
          <a:xfrm>
            <a:off x="6089904" y="3044952"/>
            <a:ext cx="2267712" cy="539496"/>
          </a:xfrm>
          <a:prstGeom prst="rect">
            <a:avLst/>
          </a:prstGeom>
          <a:noFill/>
          <a:ln/>
        </p:spPr>
        <p:txBody>
          <a:bodyPr wrap="square" lIns="0" tIns="0" rIns="0" bIns="0" rtlCol="0" anchor="ctr">
            <a:normAutofit/>
          </a:bodyPr>
          <a:lstStyle/>
          <a:p>
            <a:pPr algn="ctr" indent="0" marL="0">
              <a:buNone/>
            </a:pPr>
            <a:r>
              <a:rPr lang="en-US" sz="1200" dirty="0">
                <a:solidFill>
                  <a:srgbClr val="111827"/>
                </a:solidFill>
                <a:latin typeface="Arial" pitchFamily="34" charset="0"/>
                <a:ea typeface="Arial" pitchFamily="34" charset="-122"/>
                <a:cs typeface="Arial" pitchFamily="34" charset="-120"/>
              </a:rPr>
              <a:t>Result after the click</a:t>
            </a:r>
            <a:endParaRPr lang="en-US" sz="1200" dirty="0"/>
          </a:p>
          <a:p>
            <a:pPr algn="ctr" indent="0" marL="0">
              <a:buNone/>
            </a:pPr>
            <a:r>
              <a:rPr lang="en-US" sz="1200" dirty="0">
                <a:solidFill>
                  <a:srgbClr val="111827"/>
                </a:solidFill>
                <a:latin typeface="Arial" pitchFamily="34" charset="0"/>
                <a:ea typeface="Arial" pitchFamily="34" charset="-122"/>
                <a:cs typeface="Arial" pitchFamily="34" charset="-120"/>
              </a:rPr>
              <a:t>New order received</a:t>
            </a:r>
            <a:endParaRPr lang="en-US" sz="120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Checkpoint: When does the handler run?</a:t>
            </a:r>
            <a:endParaRPr lang="en-US" sz="2100" dirty="0"/>
          </a:p>
        </p:txBody>
      </p:sp>
      <p:sp>
        <p:nvSpPr>
          <p:cNvPr id="3" name="Shape 1"/>
          <p:cNvSpPr/>
          <p:nvPr/>
        </p:nvSpPr>
        <p:spPr>
          <a:xfrm>
            <a:off x="685800" y="1234440"/>
            <a:ext cx="3886200" cy="2011680"/>
          </a:xfrm>
          <a:prstGeom prst="rect">
            <a:avLst/>
          </a:prstGeom>
          <a:solidFill>
            <a:srgbClr val="0F172A"/>
          </a:solidFill>
          <a:ln w="12700">
            <a:solidFill>
              <a:srgbClr val="0F172A"/>
            </a:solidFill>
            <a:prstDash val="solid"/>
          </a:ln>
        </p:spPr>
      </p:sp>
      <p:sp>
        <p:nvSpPr>
          <p:cNvPr id="4" name="Text 2"/>
          <p:cNvSpPr/>
          <p:nvPr/>
        </p:nvSpPr>
        <p:spPr>
          <a:xfrm>
            <a:off x="813816" y="1344168"/>
            <a:ext cx="3630168" cy="179222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function confirmBooking()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bookingStatus.textContent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"Booking confirmed";</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confirmButton.addEventListener(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"click",</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confirmBooking</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5" name="Text 3"/>
          <p:cNvSpPr/>
          <p:nvPr/>
        </p:nvSpPr>
        <p:spPr>
          <a:xfrm>
            <a:off x="4892040" y="1143000"/>
            <a:ext cx="3611880" cy="548640"/>
          </a:xfrm>
          <a:prstGeom prst="rect">
            <a:avLst/>
          </a:prstGeom>
          <a:noFill/>
          <a:ln/>
        </p:spPr>
        <p:txBody>
          <a:bodyPr wrap="square" lIns="0" tIns="0" rIns="0" bIns="0" rtlCol="0" anchor="t">
            <a:normAutofit/>
          </a:bodyPr>
          <a:lstStyle/>
          <a:p>
            <a:pPr algn="l" indent="0" marL="0">
              <a:lnSpc>
                <a:spcPct val="105000"/>
              </a:lnSpc>
              <a:buNone/>
            </a:pPr>
            <a:r>
              <a:rPr lang="en-US" sz="1260" b="1" dirty="0">
                <a:solidFill>
                  <a:srgbClr val="111827"/>
                </a:solidFill>
                <a:latin typeface="Arial" pitchFamily="34" charset="0"/>
                <a:ea typeface="Arial" pitchFamily="34" charset="-122"/>
                <a:cs typeface="Arial" pitchFamily="34" charset="-120"/>
              </a:rPr>
              <a:t>When does confirmBooking run?</a:t>
            </a:r>
            <a:endParaRPr lang="en-US" sz="1260" dirty="0"/>
          </a:p>
        </p:txBody>
      </p:sp>
      <p:sp>
        <p:nvSpPr>
          <p:cNvPr id="6" name="Text 4"/>
          <p:cNvSpPr/>
          <p:nvPr/>
        </p:nvSpPr>
        <p:spPr>
          <a:xfrm>
            <a:off x="4892040" y="1783080"/>
            <a:ext cx="3611880" cy="2103120"/>
          </a:xfrm>
          <a:prstGeom prst="rect">
            <a:avLst/>
          </a:prstGeom>
          <a:noFill/>
          <a:ln/>
        </p:spPr>
        <p:txBody>
          <a:bodyPr wrap="square" lIns="381" tIns="381" rIns="381" bIns="381" rtlCol="0" anchor="t">
            <a:normAutofit/>
          </a:bodyPr>
          <a:lstStyle/>
          <a:p>
            <a:pPr indent="0" marL="0">
              <a:buNone/>
            </a:pPr>
            <a:r>
              <a:rPr lang="en-US" sz="1200" dirty="0">
                <a:solidFill>
                  <a:srgbClr val="111827"/>
                </a:solidFill>
                <a:latin typeface="Arial" pitchFamily="34" charset="0"/>
                <a:ea typeface="Arial" pitchFamily="34" charset="-122"/>
                <a:cs typeface="Arial" pitchFamily="34" charset="-120"/>
              </a:rPr>
              <a:t>A. While the function is being defined</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B. When bookingStatus is selected</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C. When the listener is registered</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D. When confirmButton receives a click</a:t>
            </a:r>
            <a:endParaRPr lang="en-US" sz="1200" dirty="0"/>
          </a:p>
        </p:txBody>
      </p:sp>
      <p:sp>
        <p:nvSpPr>
          <p:cNvPr id="7" name="Shape 5"/>
          <p:cNvSpPr/>
          <p:nvPr/>
        </p:nvSpPr>
        <p:spPr>
          <a:xfrm>
            <a:off x="685800" y="4160520"/>
            <a:ext cx="7269480" cy="457200"/>
          </a:xfrm>
          <a:prstGeom prst="roundRect">
            <a:avLst>
              <a:gd name="adj" fmla="val 12000"/>
            </a:avLst>
          </a:prstGeom>
          <a:solidFill>
            <a:srgbClr val="DCFCE7"/>
          </a:solidFill>
          <a:ln w="12700">
            <a:solidFill>
              <a:srgbClr val="86EFAC"/>
            </a:solidFill>
            <a:prstDash val="solid"/>
          </a:ln>
        </p:spPr>
      </p:sp>
      <p:sp>
        <p:nvSpPr>
          <p:cNvPr id="8" name="Text 6"/>
          <p:cNvSpPr/>
          <p:nvPr/>
        </p:nvSpPr>
        <p:spPr>
          <a:xfrm>
            <a:off x="795528" y="4224528"/>
            <a:ext cx="7050024" cy="310896"/>
          </a:xfrm>
          <a:prstGeom prst="rect">
            <a:avLst/>
          </a:prstGeom>
          <a:noFill/>
          <a:ln/>
        </p:spPr>
        <p:txBody>
          <a:bodyPr wrap="square" lIns="0" tIns="0" rIns="0" bIns="0" rtlCol="0" anchor="ctr">
            <a:normAutofit/>
          </a:bodyPr>
          <a:lstStyle/>
          <a:p>
            <a:pPr indent="0" marL="0">
              <a:buNone/>
            </a:pPr>
            <a:r>
              <a:rPr lang="en-US" sz="1020" dirty="0">
                <a:solidFill>
                  <a:srgbClr val="111827"/>
                </a:solidFill>
                <a:latin typeface="Arial" pitchFamily="34" charset="0"/>
                <a:ea typeface="Arial" pitchFamily="34" charset="-122"/>
                <a:cs typeface="Arial" pitchFamily="34" charset="-120"/>
              </a:rPr>
              <a:t>Answer: D</a:t>
            </a:r>
            <a:endParaRPr lang="en-US" sz="1020" dirty="0"/>
          </a:p>
          <a:p>
            <a:pPr indent="0" marL="0">
              <a:buNone/>
            </a:pPr>
            <a:r>
              <a:rPr lang="en-US" sz="1020" dirty="0">
                <a:solidFill>
                  <a:srgbClr val="111827"/>
                </a:solidFill>
                <a:latin typeface="Arial" pitchFamily="34" charset="0"/>
                <a:ea typeface="Arial" pitchFamily="34" charset="-122"/>
                <a:cs typeface="Arial" pitchFamily="34" charset="-120"/>
              </a:rPr>
              <a:t>The listener registers the function. The browser runs it after the click.</a:t>
            </a:r>
            <a:endParaRPr lang="en-US" sz="102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The browser passes event information</a:t>
            </a:r>
            <a:endParaRPr lang="en-US" sz="2100" dirty="0"/>
          </a:p>
        </p:txBody>
      </p:sp>
      <p:sp>
        <p:nvSpPr>
          <p:cNvPr id="4" name="Shape 1"/>
          <p:cNvSpPr/>
          <p:nvPr/>
        </p:nvSpPr>
        <p:spPr>
          <a:xfrm>
            <a:off x="777240" y="1325880"/>
            <a:ext cx="2194560" cy="685800"/>
          </a:xfrm>
          <a:prstGeom prst="roundRect">
            <a:avLst>
              <a:gd name="adj" fmla="val 6667"/>
            </a:avLst>
          </a:prstGeom>
          <a:solidFill>
            <a:srgbClr val="EFF6FF"/>
          </a:solidFill>
          <a:ln w="12700">
            <a:solidFill>
              <a:srgbClr val="CBD5E1"/>
            </a:solidFill>
            <a:prstDash val="solid"/>
          </a:ln>
        </p:spPr>
      </p:sp>
      <p:sp>
        <p:nvSpPr>
          <p:cNvPr id="5" name="Text 2"/>
          <p:cNvSpPr/>
          <p:nvPr/>
        </p:nvSpPr>
        <p:spPr>
          <a:xfrm>
            <a:off x="877824" y="1399032"/>
            <a:ext cx="1993392" cy="539496"/>
          </a:xfrm>
          <a:prstGeom prst="rect">
            <a:avLst/>
          </a:prstGeom>
          <a:noFill/>
          <a:ln/>
        </p:spPr>
        <p:txBody>
          <a:bodyPr wrap="square" lIns="0" tIns="0" rIns="0" bIns="0" rtlCol="0" anchor="ctr">
            <a:normAutofit/>
          </a:bodyPr>
          <a:lstStyle/>
          <a:p>
            <a:pPr algn="ctr" indent="0" marL="0">
              <a:buNone/>
            </a:pPr>
            <a:r>
              <a:rPr lang="en-US" sz="1200" dirty="0">
                <a:solidFill>
                  <a:srgbClr val="111827"/>
                </a:solidFill>
                <a:latin typeface="Arial" pitchFamily="34" charset="0"/>
                <a:ea typeface="Arial" pitchFamily="34" charset="-122"/>
                <a:cs typeface="Arial" pitchFamily="34" charset="-120"/>
              </a:rPr>
              <a:t>Add order button clicked</a:t>
            </a:r>
            <a:endParaRPr lang="en-US" sz="1200" dirty="0"/>
          </a:p>
        </p:txBody>
      </p:sp>
      <p:sp>
        <p:nvSpPr>
          <p:cNvPr id="6" name="Shape 3"/>
          <p:cNvSpPr/>
          <p:nvPr/>
        </p:nvSpPr>
        <p:spPr>
          <a:xfrm>
            <a:off x="3246120" y="1143000"/>
            <a:ext cx="2743200" cy="1188720"/>
          </a:xfrm>
          <a:prstGeom prst="rect">
            <a:avLst/>
          </a:prstGeom>
          <a:solidFill>
            <a:srgbClr val="0F172A"/>
          </a:solidFill>
          <a:ln w="12700">
            <a:solidFill>
              <a:srgbClr val="0F172A"/>
            </a:solidFill>
            <a:prstDash val="solid"/>
          </a:ln>
        </p:spPr>
      </p:sp>
      <p:sp>
        <p:nvSpPr>
          <p:cNvPr id="7" name="Text 4"/>
          <p:cNvSpPr/>
          <p:nvPr/>
        </p:nvSpPr>
        <p:spPr>
          <a:xfrm>
            <a:off x="3374136" y="1252728"/>
            <a:ext cx="2487168" cy="96926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function inspectAddOrder(event)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console.log(event);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8" name="Shape 5"/>
          <p:cNvSpPr/>
          <p:nvPr/>
        </p:nvSpPr>
        <p:spPr>
          <a:xfrm>
            <a:off x="6309360" y="1143000"/>
            <a:ext cx="2194560" cy="1188720"/>
          </a:xfrm>
          <a:prstGeom prst="roundRect">
            <a:avLst>
              <a:gd name="adj" fmla="val 3846"/>
            </a:avLst>
          </a:prstGeom>
          <a:solidFill>
            <a:srgbClr val="F3F4F6"/>
          </a:solidFill>
          <a:ln w="12700">
            <a:solidFill>
              <a:srgbClr val="CBD5E1"/>
            </a:solidFill>
            <a:prstDash val="solid"/>
          </a:ln>
        </p:spPr>
      </p:sp>
      <p:sp>
        <p:nvSpPr>
          <p:cNvPr id="9" name="Text 6"/>
          <p:cNvSpPr/>
          <p:nvPr/>
        </p:nvSpPr>
        <p:spPr>
          <a:xfrm>
            <a:off x="6409944" y="1216152"/>
            <a:ext cx="1993392" cy="1042416"/>
          </a:xfrm>
          <a:prstGeom prst="rect">
            <a:avLst/>
          </a:prstGeom>
          <a:noFill/>
          <a:ln/>
        </p:spPr>
        <p:txBody>
          <a:bodyPr wrap="square" lIns="0" tIns="0" rIns="0" bIns="0" rtlCol="0" anchor="ctr">
            <a:normAutofit/>
          </a:bodyPr>
          <a:lstStyle/>
          <a:p>
            <a:pPr algn="l" indent="0" marL="0">
              <a:buNone/>
            </a:pPr>
            <a:r>
              <a:rPr lang="en-US" sz="1000" dirty="0">
                <a:solidFill>
                  <a:srgbClr val="111827"/>
                </a:solidFill>
                <a:latin typeface="Courier New" pitchFamily="34" charset="0"/>
                <a:ea typeface="Courier New" pitchFamily="34" charset="-122"/>
                <a:cs typeface="Courier New" pitchFamily="34" charset="-120"/>
              </a:rPr>
              <a:t>event</a:t>
            </a:r>
            <a:endParaRPr lang="en-US" sz="1000" dirty="0"/>
          </a:p>
          <a:p>
            <a:pPr algn="l" indent="0" marL="0">
              <a:buNone/>
            </a:pPr>
            <a:r>
              <a:rPr lang="en-US" sz="1000" dirty="0">
                <a:solidFill>
                  <a:srgbClr val="111827"/>
                </a:solidFill>
                <a:latin typeface="Courier New" pitchFamily="34" charset="0"/>
                <a:ea typeface="Courier New" pitchFamily="34" charset="-122"/>
                <a:cs typeface="Courier New" pitchFamily="34" charset="-120"/>
              </a:rPr>
              <a:t>  type: "click"</a:t>
            </a:r>
            <a:endParaRPr lang="en-US" sz="1000" dirty="0"/>
          </a:p>
          <a:p>
            <a:pPr algn="l" indent="0" marL="0">
              <a:buNone/>
            </a:pPr>
            <a:r>
              <a:rPr lang="en-US" sz="1000" dirty="0">
                <a:solidFill>
                  <a:srgbClr val="111827"/>
                </a:solidFill>
                <a:latin typeface="Courier New" pitchFamily="34" charset="0"/>
                <a:ea typeface="Courier New" pitchFamily="34" charset="-122"/>
                <a:cs typeface="Courier New" pitchFamily="34" charset="-120"/>
              </a:rPr>
              <a:t>  target: button#add-order</a:t>
            </a:r>
            <a:endParaRPr lang="en-US" sz="1000" dirty="0"/>
          </a:p>
        </p:txBody>
      </p:sp>
      <p:sp>
        <p:nvSpPr>
          <p:cNvPr id="10" name="Shape 7"/>
          <p:cNvSpPr/>
          <p:nvPr/>
        </p:nvSpPr>
        <p:spPr>
          <a:xfrm>
            <a:off x="2971800" y="1664208"/>
            <a:ext cx="246888" cy="0"/>
          </a:xfrm>
          <a:prstGeom prst="line">
            <a:avLst/>
          </a:prstGeom>
          <a:noFill/>
          <a:ln w="15875">
            <a:solidFill>
              <a:srgbClr val="2563EB"/>
            </a:solidFill>
            <a:prstDash val="solid"/>
            <a:headEnd type="none"/>
            <a:tailEnd type="triangle"/>
          </a:ln>
        </p:spPr>
      </p:sp>
      <p:sp>
        <p:nvSpPr>
          <p:cNvPr id="11" name="Shape 8"/>
          <p:cNvSpPr/>
          <p:nvPr/>
        </p:nvSpPr>
        <p:spPr>
          <a:xfrm>
            <a:off x="5989320" y="1664208"/>
            <a:ext cx="292608" cy="0"/>
          </a:xfrm>
          <a:prstGeom prst="line">
            <a:avLst/>
          </a:prstGeom>
          <a:noFill/>
          <a:ln w="15875">
            <a:solidFill>
              <a:srgbClr val="2563EB"/>
            </a:solidFill>
            <a:prstDash val="solid"/>
            <a:headEnd type="none"/>
            <a:tailEnd type="triangle"/>
          </a:ln>
        </p:spPr>
      </p:sp>
      <p:sp>
        <p:nvSpPr>
          <p:cNvPr id="12" name="Text 9"/>
          <p:cNvSpPr/>
          <p:nvPr/>
        </p:nvSpPr>
        <p:spPr>
          <a:xfrm>
            <a:off x="1097280" y="2926080"/>
            <a:ext cx="6949440" cy="777240"/>
          </a:xfrm>
          <a:prstGeom prst="rect">
            <a:avLst/>
          </a:prstGeom>
          <a:noFill/>
          <a:ln/>
        </p:spPr>
        <p:txBody>
          <a:bodyPr wrap="square" lIns="635" tIns="635" rIns="635" bIns="635" rtlCol="0" anchor="t">
            <a:normAutofit/>
          </a:bodyPr>
          <a:lstStyle/>
          <a:p>
            <a:pPr algn="ctr" indent="0" marL="0">
              <a:lnSpc>
                <a:spcPct val="105000"/>
              </a:lnSpc>
              <a:buNone/>
            </a:pPr>
            <a:r>
              <a:rPr lang="en-US" sz="1280" dirty="0">
                <a:solidFill>
                  <a:srgbClr val="334155"/>
                </a:solidFill>
                <a:latin typeface="Arial" pitchFamily="34" charset="0"/>
                <a:ea typeface="Arial" pitchFamily="34" charset="-122"/>
                <a:cs typeface="Arial" pitchFamily="34" charset="-120"/>
              </a:rPr>
              <a:t>When the click occurs, the browser creates an event object and passes it to the handler. The parameter name event is chosen by the developer. The parameter can be omitted when the handler does not need event information.</a:t>
            </a:r>
            <a:endParaRPr lang="en-US" sz="128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type and target describe the event</a:t>
            </a:r>
            <a:endParaRPr lang="en-US" sz="2100" dirty="0"/>
          </a:p>
        </p:txBody>
      </p:sp>
      <p:sp>
        <p:nvSpPr>
          <p:cNvPr id="4" name="Shape 1"/>
          <p:cNvSpPr/>
          <p:nvPr/>
        </p:nvSpPr>
        <p:spPr>
          <a:xfrm>
            <a:off x="685800" y="1005840"/>
            <a:ext cx="3200400" cy="868680"/>
          </a:xfrm>
          <a:prstGeom prst="rect">
            <a:avLst/>
          </a:prstGeom>
          <a:solidFill>
            <a:srgbClr val="0F172A"/>
          </a:solidFill>
          <a:ln w="12700">
            <a:solidFill>
              <a:srgbClr val="0F172A"/>
            </a:solidFill>
            <a:prstDash val="solid"/>
          </a:ln>
        </p:spPr>
      </p:sp>
      <p:sp>
        <p:nvSpPr>
          <p:cNvPr id="5" name="Text 2"/>
          <p:cNvSpPr/>
          <p:nvPr/>
        </p:nvSpPr>
        <p:spPr>
          <a:xfrm>
            <a:off x="813816" y="1115568"/>
            <a:ext cx="2944368" cy="64922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&lt;button id="add-order"&gt;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Add order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&lt;/button&gt;</a:t>
            </a:r>
            <a:endParaRPr lang="en-US" sz="1088" dirty="0"/>
          </a:p>
        </p:txBody>
      </p:sp>
      <p:sp>
        <p:nvSpPr>
          <p:cNvPr id="6" name="Shape 3"/>
          <p:cNvSpPr/>
          <p:nvPr/>
        </p:nvSpPr>
        <p:spPr>
          <a:xfrm>
            <a:off x="685800" y="2240280"/>
            <a:ext cx="4023360" cy="1325880"/>
          </a:xfrm>
          <a:prstGeom prst="rect">
            <a:avLst/>
          </a:prstGeom>
          <a:solidFill>
            <a:srgbClr val="0F172A"/>
          </a:solidFill>
          <a:ln w="12700">
            <a:solidFill>
              <a:srgbClr val="0F172A"/>
            </a:solidFill>
            <a:prstDash val="solid"/>
          </a:ln>
        </p:spPr>
      </p:sp>
      <p:sp>
        <p:nvSpPr>
          <p:cNvPr id="7" name="Text 4"/>
          <p:cNvSpPr/>
          <p:nvPr/>
        </p:nvSpPr>
        <p:spPr>
          <a:xfrm>
            <a:off x="813816" y="2350008"/>
            <a:ext cx="3767328" cy="110642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function inspectAddOrder(event)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console.log(event.type);</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console.log(event.target);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8" name="Shape 5"/>
          <p:cNvSpPr/>
          <p:nvPr/>
        </p:nvSpPr>
        <p:spPr>
          <a:xfrm>
            <a:off x="5074920" y="1188720"/>
            <a:ext cx="2651760" cy="594360"/>
          </a:xfrm>
          <a:prstGeom prst="roundRect">
            <a:avLst>
              <a:gd name="adj" fmla="val 7692"/>
            </a:avLst>
          </a:prstGeom>
          <a:solidFill>
            <a:srgbClr val="EFF6FF"/>
          </a:solidFill>
          <a:ln w="12700">
            <a:solidFill>
              <a:srgbClr val="CBD5E1"/>
            </a:solidFill>
            <a:prstDash val="solid"/>
          </a:ln>
        </p:spPr>
      </p:sp>
      <p:sp>
        <p:nvSpPr>
          <p:cNvPr id="9" name="Text 6"/>
          <p:cNvSpPr/>
          <p:nvPr/>
        </p:nvSpPr>
        <p:spPr>
          <a:xfrm>
            <a:off x="5175504" y="1261872"/>
            <a:ext cx="2450592" cy="448056"/>
          </a:xfrm>
          <a:prstGeom prst="rect">
            <a:avLst/>
          </a:prstGeom>
          <a:noFill/>
          <a:ln/>
        </p:spPr>
        <p:txBody>
          <a:bodyPr wrap="square" lIns="0" tIns="0" rIns="0" bIns="0" rtlCol="0" anchor="ctr">
            <a:normAutofit/>
          </a:bodyPr>
          <a:lstStyle/>
          <a:p>
            <a:pPr algn="ctr" indent="0" marL="0">
              <a:buNone/>
            </a:pPr>
            <a:r>
              <a:rPr lang="en-US" sz="1120" dirty="0">
                <a:solidFill>
                  <a:srgbClr val="111827"/>
                </a:solidFill>
                <a:latin typeface="Courier New" pitchFamily="34" charset="0"/>
                <a:ea typeface="Courier New" pitchFamily="34" charset="-122"/>
                <a:cs typeface="Courier New" pitchFamily="34" charset="-120"/>
              </a:rPr>
              <a:t>event.type</a:t>
            </a:r>
            <a:endParaRPr lang="en-US" sz="1120" dirty="0"/>
          </a:p>
          <a:p>
            <a:pPr algn="ctr" indent="0" marL="0">
              <a:buNone/>
            </a:pPr>
            <a:r>
              <a:rPr lang="en-US" sz="1120" dirty="0">
                <a:solidFill>
                  <a:srgbClr val="111827"/>
                </a:solidFill>
                <a:latin typeface="Courier New" pitchFamily="34" charset="0"/>
                <a:ea typeface="Courier New" pitchFamily="34" charset="-122"/>
                <a:cs typeface="Courier New" pitchFamily="34" charset="-120"/>
              </a:rPr>
              <a:t>"click"</a:t>
            </a:r>
            <a:endParaRPr lang="en-US" sz="1120" dirty="0"/>
          </a:p>
        </p:txBody>
      </p:sp>
      <p:sp>
        <p:nvSpPr>
          <p:cNvPr id="10" name="Shape 7"/>
          <p:cNvSpPr/>
          <p:nvPr/>
        </p:nvSpPr>
        <p:spPr>
          <a:xfrm>
            <a:off x="5074920" y="2057400"/>
            <a:ext cx="2651760" cy="594360"/>
          </a:xfrm>
          <a:prstGeom prst="roundRect">
            <a:avLst>
              <a:gd name="adj" fmla="val 7692"/>
            </a:avLst>
          </a:prstGeom>
          <a:solidFill>
            <a:srgbClr val="F5F3FF"/>
          </a:solidFill>
          <a:ln w="12700">
            <a:solidFill>
              <a:srgbClr val="CBD5E1"/>
            </a:solidFill>
            <a:prstDash val="solid"/>
          </a:ln>
        </p:spPr>
      </p:sp>
      <p:sp>
        <p:nvSpPr>
          <p:cNvPr id="11" name="Text 8"/>
          <p:cNvSpPr/>
          <p:nvPr/>
        </p:nvSpPr>
        <p:spPr>
          <a:xfrm>
            <a:off x="5175504" y="2130552"/>
            <a:ext cx="2450592" cy="448056"/>
          </a:xfrm>
          <a:prstGeom prst="rect">
            <a:avLst/>
          </a:prstGeom>
          <a:noFill/>
          <a:ln/>
        </p:spPr>
        <p:txBody>
          <a:bodyPr wrap="square" lIns="0" tIns="0" rIns="0" bIns="0" rtlCol="0" anchor="ctr">
            <a:normAutofit/>
          </a:bodyPr>
          <a:lstStyle/>
          <a:p>
            <a:pPr algn="ctr" indent="0" marL="0">
              <a:buNone/>
            </a:pPr>
            <a:r>
              <a:rPr lang="en-US" sz="1120" dirty="0">
                <a:solidFill>
                  <a:srgbClr val="111827"/>
                </a:solidFill>
                <a:latin typeface="Courier New" pitchFamily="34" charset="0"/>
                <a:ea typeface="Courier New" pitchFamily="34" charset="-122"/>
                <a:cs typeface="Courier New" pitchFamily="34" charset="-120"/>
              </a:rPr>
              <a:t>event.target</a:t>
            </a:r>
            <a:endParaRPr lang="en-US" sz="1120" dirty="0"/>
          </a:p>
          <a:p>
            <a:pPr algn="ctr" indent="0" marL="0">
              <a:buNone/>
            </a:pPr>
            <a:r>
              <a:rPr lang="en-US" sz="1120" dirty="0">
                <a:solidFill>
                  <a:srgbClr val="111827"/>
                </a:solidFill>
                <a:latin typeface="Courier New" pitchFamily="34" charset="0"/>
                <a:ea typeface="Courier New" pitchFamily="34" charset="-122"/>
                <a:cs typeface="Courier New" pitchFamily="34" charset="-120"/>
              </a:rPr>
              <a:t>button#add-order</a:t>
            </a:r>
            <a:endParaRPr lang="en-US" sz="1120" dirty="0"/>
          </a:p>
        </p:txBody>
      </p:sp>
      <p:sp>
        <p:nvSpPr>
          <p:cNvPr id="12" name="Text 9"/>
          <p:cNvSpPr/>
          <p:nvPr/>
        </p:nvSpPr>
        <p:spPr>
          <a:xfrm>
            <a:off x="5074920" y="3108960"/>
            <a:ext cx="3017520" cy="219456"/>
          </a:xfrm>
          <a:prstGeom prst="rect">
            <a:avLst/>
          </a:prstGeom>
          <a:noFill/>
          <a:ln/>
        </p:spPr>
        <p:txBody>
          <a:bodyPr wrap="square" lIns="0" tIns="0" rIns="0" bIns="0" rtlCol="0" anchor="ctr">
            <a:normAutofit/>
          </a:bodyPr>
          <a:lstStyle/>
          <a:p>
            <a:r>
              <a:rPr lang="en-US" sz="1200" dirty="0">
                <a:solidFill>
                  <a:srgbClr val="111827"/>
                </a:solidFill>
                <a:latin typeface="Arial" pitchFamily="34" charset="0"/>
                <a:ea typeface="Arial" pitchFamily="34" charset="-122"/>
                <a:cs typeface="Arial" pitchFamily="34" charset="-120"/>
              </a:rPr>
              <a:t>event.type identifies the event.</a:t>
            </a:r>
            <a:endParaRPr lang="en-US" sz="1200" dirty="0"/>
          </a:p>
        </p:txBody>
      </p:sp>
      <p:sp>
        <p:nvSpPr>
          <p:cNvPr id="13" name="Text 10"/>
          <p:cNvSpPr/>
          <p:nvPr/>
        </p:nvSpPr>
        <p:spPr>
          <a:xfrm>
            <a:off x="5074920" y="3369564"/>
            <a:ext cx="3017520" cy="219456"/>
          </a:xfrm>
          <a:prstGeom prst="rect">
            <a:avLst/>
          </a:prstGeom>
          <a:noFill/>
          <a:ln/>
        </p:spPr>
        <p:txBody>
          <a:bodyPr wrap="square" lIns="0" tIns="0" rIns="0" bIns="0" rtlCol="0" anchor="ctr">
            <a:normAutofit/>
          </a:bodyPr>
          <a:lstStyle/>
          <a:p>
            <a:r>
              <a:rPr lang="en-US" sz="1200" dirty="0">
                <a:solidFill>
                  <a:srgbClr val="111827"/>
                </a:solidFill>
                <a:latin typeface="Arial" pitchFamily="34" charset="0"/>
                <a:ea typeface="Arial" pitchFamily="34" charset="-122"/>
                <a:cs typeface="Arial" pitchFamily="34" charset="-120"/>
              </a:rPr>
              <a:t>event.target identifies where the event started.</a:t>
            </a:r>
            <a:endParaRPr lang="en-US" sz="1200" dirty="0"/>
          </a:p>
        </p:txBody>
      </p:sp>
      <p:sp>
        <p:nvSpPr>
          <p:cNvPr id="14" name="Text 11"/>
          <p:cNvSpPr/>
          <p:nvPr/>
        </p:nvSpPr>
        <p:spPr>
          <a:xfrm>
            <a:off x="5074920" y="3630168"/>
            <a:ext cx="3017520" cy="219456"/>
          </a:xfrm>
          <a:prstGeom prst="rect">
            <a:avLst/>
          </a:prstGeom>
          <a:noFill/>
          <a:ln/>
        </p:spPr>
        <p:txBody>
          <a:bodyPr wrap="square" lIns="0" tIns="0" rIns="0" bIns="0" rtlCol="0" anchor="ctr">
            <a:normAutofit/>
          </a:bodyPr>
          <a:lstStyle/>
          <a:p>
            <a:r>
              <a:rPr lang="en-US" sz="1200" dirty="0">
                <a:solidFill>
                  <a:srgbClr val="111827"/>
                </a:solidFill>
                <a:latin typeface="Arial" pitchFamily="34" charset="0"/>
                <a:ea typeface="Arial" pitchFamily="34" charset="-122"/>
                <a:cs typeface="Arial" pitchFamily="34" charset="-120"/>
              </a:rPr>
              <a:t>The click starts on the Add order button.</a:t>
            </a:r>
            <a:endParaRPr lang="en-US" sz="120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The input event runs as text changes</a:t>
            </a:r>
            <a:endParaRPr lang="en-US" sz="2100" dirty="0"/>
          </a:p>
        </p:txBody>
      </p:sp>
      <p:sp>
        <p:nvSpPr>
          <p:cNvPr id="4" name="Shape 1"/>
          <p:cNvSpPr/>
          <p:nvPr/>
        </p:nvSpPr>
        <p:spPr>
          <a:xfrm>
            <a:off x="685800" y="932688"/>
            <a:ext cx="5029200" cy="3566160"/>
          </a:xfrm>
          <a:prstGeom prst="rect">
            <a:avLst/>
          </a:prstGeom>
          <a:solidFill>
            <a:srgbClr val="0F172A"/>
          </a:solidFill>
          <a:ln w="12700">
            <a:solidFill>
              <a:srgbClr val="0F172A"/>
            </a:solidFill>
            <a:prstDash val="solid"/>
          </a:ln>
        </p:spPr>
      </p:sp>
      <p:sp>
        <p:nvSpPr>
          <p:cNvPr id="5" name="Text 2"/>
          <p:cNvSpPr/>
          <p:nvPr/>
        </p:nvSpPr>
        <p:spPr>
          <a:xfrm>
            <a:off x="813816" y="1042416"/>
            <a:ext cx="4773168" cy="334670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const messageInput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document.querySelector(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"#message-input"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const messagePreview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document.querySelector(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"#message-preview"</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function handleMessageInput(event)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messagePreview.textContent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event.target.value;</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messageInput.addEventListener(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"input",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handleMessageInput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6" name="Shape 3"/>
          <p:cNvSpPr/>
          <p:nvPr/>
        </p:nvSpPr>
        <p:spPr>
          <a:xfrm>
            <a:off x="5989320" y="1005840"/>
            <a:ext cx="2560320" cy="1234440"/>
          </a:xfrm>
          <a:prstGeom prst="rect">
            <a:avLst/>
          </a:prstGeom>
          <a:solidFill>
            <a:srgbClr val="0F172A"/>
          </a:solidFill>
          <a:ln w="12700">
            <a:solidFill>
              <a:srgbClr val="0F172A"/>
            </a:solidFill>
            <a:prstDash val="solid"/>
          </a:ln>
        </p:spPr>
      </p:sp>
      <p:sp>
        <p:nvSpPr>
          <p:cNvPr id="7" name="Text 4"/>
          <p:cNvSpPr/>
          <p:nvPr/>
        </p:nvSpPr>
        <p:spPr>
          <a:xfrm>
            <a:off x="6117336" y="1115568"/>
            <a:ext cx="2304288" cy="101498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&lt;input id="message-input"&gt;</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&lt;p id="message-preview"&gt;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Your message will appear here.</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&lt;/p&gt;</a:t>
            </a:r>
            <a:endParaRPr lang="en-US" sz="1088" dirty="0"/>
          </a:p>
        </p:txBody>
      </p:sp>
      <p:sp>
        <p:nvSpPr>
          <p:cNvPr id="8" name="Shape 5"/>
          <p:cNvSpPr/>
          <p:nvPr/>
        </p:nvSpPr>
        <p:spPr>
          <a:xfrm>
            <a:off x="5989320" y="2514600"/>
            <a:ext cx="2560320" cy="594360"/>
          </a:xfrm>
          <a:prstGeom prst="roundRect">
            <a:avLst>
              <a:gd name="adj" fmla="val 7692"/>
            </a:avLst>
          </a:prstGeom>
          <a:solidFill>
            <a:srgbClr val="DCFCE7"/>
          </a:solidFill>
          <a:ln w="12700">
            <a:solidFill>
              <a:srgbClr val="CBD5E1"/>
            </a:solidFill>
            <a:prstDash val="solid"/>
          </a:ln>
        </p:spPr>
      </p:sp>
      <p:sp>
        <p:nvSpPr>
          <p:cNvPr id="9" name="Text 6"/>
          <p:cNvSpPr/>
          <p:nvPr/>
        </p:nvSpPr>
        <p:spPr>
          <a:xfrm>
            <a:off x="6089904" y="2587752"/>
            <a:ext cx="2359152" cy="448056"/>
          </a:xfrm>
          <a:prstGeom prst="rect">
            <a:avLst/>
          </a:prstGeom>
          <a:noFill/>
          <a:ln/>
        </p:spPr>
        <p:txBody>
          <a:bodyPr wrap="square" lIns="0" tIns="0" rIns="0" bIns="0" rtlCol="0" anchor="ctr">
            <a:normAutofit/>
          </a:bodyPr>
          <a:lstStyle/>
          <a:p>
            <a:pPr algn="ctr" indent="0" marL="0">
              <a:buNone/>
            </a:pPr>
            <a:r>
              <a:rPr lang="en-US" sz="1140" dirty="0">
                <a:solidFill>
                  <a:srgbClr val="111827"/>
                </a:solidFill>
                <a:latin typeface="Arial" pitchFamily="34" charset="0"/>
                <a:ea typeface="Arial" pitchFamily="34" charset="-122"/>
                <a:cs typeface="Arial" pitchFamily="34" charset="-120"/>
              </a:rPr>
              <a:t>Input:  Asha Menon</a:t>
            </a:r>
            <a:endParaRPr lang="en-US" sz="1140" dirty="0"/>
          </a:p>
          <a:p>
            <a:pPr algn="ctr" indent="0" marL="0">
              <a:buNone/>
            </a:pPr>
            <a:r>
              <a:rPr lang="en-US" sz="1140" dirty="0">
                <a:solidFill>
                  <a:srgbClr val="111827"/>
                </a:solidFill>
                <a:latin typeface="Arial" pitchFamily="34" charset="0"/>
                <a:ea typeface="Arial" pitchFamily="34" charset="-122"/>
                <a:cs typeface="Arial" pitchFamily="34" charset="-120"/>
              </a:rPr>
              <a:t>Preview: Asha Menon</a:t>
            </a:r>
            <a:endParaRPr lang="en-US" sz="1140" dirty="0"/>
          </a:p>
        </p:txBody>
      </p:sp>
      <p:sp>
        <p:nvSpPr>
          <p:cNvPr id="10" name="Text 7"/>
          <p:cNvSpPr/>
          <p:nvPr/>
        </p:nvSpPr>
        <p:spPr>
          <a:xfrm>
            <a:off x="6080760" y="3383280"/>
            <a:ext cx="2331720" cy="219456"/>
          </a:xfrm>
          <a:prstGeom prst="rect">
            <a:avLst/>
          </a:prstGeom>
          <a:noFill/>
          <a:ln/>
        </p:spPr>
        <p:txBody>
          <a:bodyPr wrap="square" lIns="0" tIns="0" rIns="0" bIns="0" rtlCol="0" anchor="ctr">
            <a:normAutofit/>
          </a:bodyPr>
          <a:lstStyle/>
          <a:p>
            <a:r>
              <a:rPr lang="en-US" sz="1020" dirty="0">
                <a:solidFill>
                  <a:srgbClr val="111827"/>
                </a:solidFill>
                <a:latin typeface="Arial" pitchFamily="34" charset="0"/>
                <a:ea typeface="Arial" pitchFamily="34" charset="-122"/>
                <a:cs typeface="Arial" pitchFamily="34" charset="-120"/>
              </a:rPr>
              <a:t>input runs when the field value changes.</a:t>
            </a:r>
            <a:endParaRPr lang="en-US" sz="1020" dirty="0"/>
          </a:p>
        </p:txBody>
      </p:sp>
      <p:sp>
        <p:nvSpPr>
          <p:cNvPr id="11" name="Text 8"/>
          <p:cNvSpPr/>
          <p:nvPr/>
        </p:nvSpPr>
        <p:spPr>
          <a:xfrm>
            <a:off x="6080760" y="3643884"/>
            <a:ext cx="2331720" cy="219456"/>
          </a:xfrm>
          <a:prstGeom prst="rect">
            <a:avLst/>
          </a:prstGeom>
          <a:noFill/>
          <a:ln/>
        </p:spPr>
        <p:txBody>
          <a:bodyPr wrap="square" lIns="0" tIns="0" rIns="0" bIns="0" rtlCol="0" anchor="ctr">
            <a:normAutofit/>
          </a:bodyPr>
          <a:lstStyle/>
          <a:p>
            <a:r>
              <a:rPr lang="en-US" sz="1020" dirty="0">
                <a:solidFill>
                  <a:srgbClr val="111827"/>
                </a:solidFill>
                <a:latin typeface="Arial" pitchFamily="34" charset="0"/>
                <a:ea typeface="Arial" pitchFamily="34" charset="-122"/>
                <a:cs typeface="Arial" pitchFamily="34" charset="-120"/>
              </a:rPr>
              <a:t>event.target is the input element.</a:t>
            </a:r>
            <a:endParaRPr lang="en-US" sz="1020" dirty="0"/>
          </a:p>
        </p:txBody>
      </p:sp>
      <p:sp>
        <p:nvSpPr>
          <p:cNvPr id="12" name="Text 9"/>
          <p:cNvSpPr/>
          <p:nvPr/>
        </p:nvSpPr>
        <p:spPr>
          <a:xfrm>
            <a:off x="6080760" y="3904488"/>
            <a:ext cx="2331720" cy="219456"/>
          </a:xfrm>
          <a:prstGeom prst="rect">
            <a:avLst/>
          </a:prstGeom>
          <a:noFill/>
          <a:ln/>
        </p:spPr>
        <p:txBody>
          <a:bodyPr wrap="square" lIns="0" tIns="0" rIns="0" bIns="0" rtlCol="0" anchor="ctr">
            <a:normAutofit/>
          </a:bodyPr>
          <a:lstStyle/>
          <a:p>
            <a:r>
              <a:rPr lang="en-US" sz="1020" dirty="0">
                <a:solidFill>
                  <a:srgbClr val="111827"/>
                </a:solidFill>
                <a:latin typeface="Arial" pitchFamily="34" charset="0"/>
                <a:ea typeface="Arial" pitchFamily="34" charset="-122"/>
                <a:cs typeface="Arial" pitchFamily="34" charset="-120"/>
              </a:rPr>
              <a:t>event.target.value contains the current text.</a:t>
            </a:r>
            <a:endParaRPr lang="en-US" sz="102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Checkpoint: Which value reaches the preview?</a:t>
            </a:r>
            <a:endParaRPr lang="en-US" sz="2100" dirty="0"/>
          </a:p>
        </p:txBody>
      </p:sp>
      <p:sp>
        <p:nvSpPr>
          <p:cNvPr id="3" name="Shape 1"/>
          <p:cNvSpPr/>
          <p:nvPr/>
        </p:nvSpPr>
        <p:spPr>
          <a:xfrm>
            <a:off x="685800" y="1234440"/>
            <a:ext cx="3886200" cy="2011680"/>
          </a:xfrm>
          <a:prstGeom prst="rect">
            <a:avLst/>
          </a:prstGeom>
          <a:solidFill>
            <a:srgbClr val="0F172A"/>
          </a:solidFill>
          <a:ln w="12700">
            <a:solidFill>
              <a:srgbClr val="0F172A"/>
            </a:solidFill>
            <a:prstDash val="solid"/>
          </a:ln>
        </p:spPr>
      </p:sp>
      <p:sp>
        <p:nvSpPr>
          <p:cNvPr id="4" name="Text 2"/>
          <p:cNvSpPr/>
          <p:nvPr/>
        </p:nvSpPr>
        <p:spPr>
          <a:xfrm>
            <a:off x="813816" y="1344168"/>
            <a:ext cx="3630168" cy="179222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function handleNameInput(event)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namePreview.textContent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event.target.value;</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nameInput.addEventListener(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"input",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handleNameInput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5" name="Text 3"/>
          <p:cNvSpPr/>
          <p:nvPr/>
        </p:nvSpPr>
        <p:spPr>
          <a:xfrm>
            <a:off x="4892040" y="1143000"/>
            <a:ext cx="3611880" cy="548640"/>
          </a:xfrm>
          <a:prstGeom prst="rect">
            <a:avLst/>
          </a:prstGeom>
          <a:noFill/>
          <a:ln/>
        </p:spPr>
        <p:txBody>
          <a:bodyPr wrap="square" lIns="0" tIns="0" rIns="0" bIns="0" rtlCol="0" anchor="t">
            <a:normAutofit/>
          </a:bodyPr>
          <a:lstStyle/>
          <a:p>
            <a:pPr algn="l" indent="0" marL="0">
              <a:lnSpc>
                <a:spcPct val="105000"/>
              </a:lnSpc>
              <a:buNone/>
            </a:pPr>
            <a:r>
              <a:rPr lang="en-US" sz="1260" b="1" dirty="0">
                <a:solidFill>
                  <a:srgbClr val="111827"/>
                </a:solidFill>
                <a:latin typeface="Arial" pitchFamily="34" charset="0"/>
                <a:ea typeface="Arial" pitchFamily="34" charset="-122"/>
                <a:cs typeface="Arial" pitchFamily="34" charset="-120"/>
              </a:rPr>
              <a:t>The user types: Asha Menon</a:t>
            </a:r>
            <a:endParaRPr lang="en-US" sz="1260" dirty="0"/>
          </a:p>
          <a:p>
            <a:pPr algn="l" indent="0" marL="0">
              <a:lnSpc>
                <a:spcPct val="105000"/>
              </a:lnSpc>
              <a:buNone/>
            </a:pPr>
            <a:r>
              <a:rPr lang="en-US" sz="1260" b="1" dirty="0">
                <a:solidFill>
                  <a:srgbClr val="111827"/>
                </a:solidFill>
                <a:latin typeface="Arial" pitchFamily="34" charset="0"/>
                <a:ea typeface="Arial" pitchFamily="34" charset="-122"/>
                <a:cs typeface="Arial" pitchFamily="34" charset="-120"/>
              </a:rPr>
              <a:t>What appears inside namePreview?</a:t>
            </a:r>
            <a:endParaRPr lang="en-US" sz="1260" dirty="0"/>
          </a:p>
        </p:txBody>
      </p:sp>
      <p:sp>
        <p:nvSpPr>
          <p:cNvPr id="6" name="Text 4"/>
          <p:cNvSpPr/>
          <p:nvPr/>
        </p:nvSpPr>
        <p:spPr>
          <a:xfrm>
            <a:off x="4892040" y="1783080"/>
            <a:ext cx="3611880" cy="2103120"/>
          </a:xfrm>
          <a:prstGeom prst="rect">
            <a:avLst/>
          </a:prstGeom>
          <a:noFill/>
          <a:ln/>
        </p:spPr>
        <p:txBody>
          <a:bodyPr wrap="square" lIns="381" tIns="381" rIns="381" bIns="381" rtlCol="0" anchor="t">
            <a:normAutofit/>
          </a:bodyPr>
          <a:lstStyle/>
          <a:p>
            <a:pPr indent="0" marL="0">
              <a:buNone/>
            </a:pPr>
            <a:r>
              <a:rPr lang="en-US" sz="1200" dirty="0">
                <a:solidFill>
                  <a:srgbClr val="111827"/>
                </a:solidFill>
                <a:latin typeface="Arial" pitchFamily="34" charset="0"/>
                <a:ea typeface="Arial" pitchFamily="34" charset="-122"/>
                <a:cs typeface="Arial" pitchFamily="34" charset="-120"/>
              </a:rPr>
              <a:t>A. "input"</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B. The input element</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C. Asha Menon</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D. undefined</a:t>
            </a:r>
            <a:endParaRPr lang="en-US" sz="1200" dirty="0"/>
          </a:p>
        </p:txBody>
      </p:sp>
      <p:sp>
        <p:nvSpPr>
          <p:cNvPr id="7" name="Shape 5"/>
          <p:cNvSpPr/>
          <p:nvPr/>
        </p:nvSpPr>
        <p:spPr>
          <a:xfrm>
            <a:off x="685800" y="4160520"/>
            <a:ext cx="7269480" cy="457200"/>
          </a:xfrm>
          <a:prstGeom prst="roundRect">
            <a:avLst>
              <a:gd name="adj" fmla="val 12000"/>
            </a:avLst>
          </a:prstGeom>
          <a:solidFill>
            <a:srgbClr val="DCFCE7"/>
          </a:solidFill>
          <a:ln w="12700">
            <a:solidFill>
              <a:srgbClr val="86EFAC"/>
            </a:solidFill>
            <a:prstDash val="solid"/>
          </a:ln>
        </p:spPr>
      </p:sp>
      <p:sp>
        <p:nvSpPr>
          <p:cNvPr id="8" name="Text 6"/>
          <p:cNvSpPr/>
          <p:nvPr/>
        </p:nvSpPr>
        <p:spPr>
          <a:xfrm>
            <a:off x="795528" y="4224528"/>
            <a:ext cx="7050024" cy="310896"/>
          </a:xfrm>
          <a:prstGeom prst="rect">
            <a:avLst/>
          </a:prstGeom>
          <a:noFill/>
          <a:ln/>
        </p:spPr>
        <p:txBody>
          <a:bodyPr wrap="square" lIns="0" tIns="0" rIns="0" bIns="0" rtlCol="0" anchor="ctr">
            <a:normAutofit/>
          </a:bodyPr>
          <a:lstStyle/>
          <a:p>
            <a:pPr indent="0" marL="0">
              <a:buNone/>
            </a:pPr>
            <a:r>
              <a:rPr lang="en-US" sz="1020" dirty="0">
                <a:solidFill>
                  <a:srgbClr val="111827"/>
                </a:solidFill>
                <a:latin typeface="Arial" pitchFamily="34" charset="0"/>
                <a:ea typeface="Arial" pitchFamily="34" charset="-122"/>
                <a:cs typeface="Arial" pitchFamily="34" charset="-120"/>
              </a:rPr>
              <a:t>Answer: C</a:t>
            </a:r>
            <a:endParaRPr lang="en-US" sz="1020" dirty="0"/>
          </a:p>
          <a:p>
            <a:pPr indent="0" marL="0">
              <a:buNone/>
            </a:pPr>
            <a:r>
              <a:rPr lang="en-US" sz="1020" dirty="0">
                <a:solidFill>
                  <a:srgbClr val="111827"/>
                </a:solidFill>
                <a:latin typeface="Arial" pitchFamily="34" charset="0"/>
                <a:ea typeface="Arial" pitchFamily="34" charset="-122"/>
                <a:cs typeface="Arial" pitchFamily="34" charset="-120"/>
              </a:rPr>
              <a:t>event.target.value contains the current text entered in the input.</a:t>
            </a:r>
            <a:endParaRPr lang="en-US" sz="102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1285646" y="2048256"/>
            <a:ext cx="6572707" cy="502920"/>
          </a:xfrm>
          <a:prstGeom prst="rect">
            <a:avLst/>
          </a:prstGeom>
          <a:noFill/>
          <a:ln/>
        </p:spPr>
        <p:txBody>
          <a:bodyPr wrap="square" lIns="0" tIns="0" rIns="0" bIns="0" rtlCol="0" anchor="ctr"/>
          <a:lstStyle/>
          <a:p>
            <a:pPr algn="ctr" indent="0" marL="0">
              <a:buNone/>
            </a:pPr>
            <a:r>
              <a:rPr lang="en-US" sz="2550" b="1" dirty="0">
                <a:solidFill>
                  <a:srgbClr val="111827"/>
                </a:solidFill>
                <a:latin typeface="Arial" pitchFamily="34" charset="0"/>
                <a:ea typeface="Arial" pitchFamily="34" charset="-122"/>
                <a:cs typeface="Arial" pitchFamily="34" charset="-120"/>
              </a:rPr>
              <a:t>Changing page content</a:t>
            </a:r>
            <a:endParaRPr lang="en-US" sz="2550" dirty="0"/>
          </a:p>
        </p:txBody>
      </p:sp>
      <p:sp>
        <p:nvSpPr>
          <p:cNvPr id="3" name="Text 1"/>
          <p:cNvSpPr/>
          <p:nvPr/>
        </p:nvSpPr>
        <p:spPr>
          <a:xfrm>
            <a:off x="1828800" y="2615184"/>
            <a:ext cx="5486400" cy="320040"/>
          </a:xfrm>
          <a:prstGeom prst="rect">
            <a:avLst/>
          </a:prstGeom>
          <a:noFill/>
          <a:ln/>
        </p:spPr>
        <p:txBody>
          <a:bodyPr wrap="square" lIns="0" tIns="0" rIns="0" bIns="0" rtlCol="0" anchor="ctr"/>
          <a:lstStyle/>
          <a:p>
            <a:pPr algn="ctr" indent="0" marL="0">
              <a:buNone/>
            </a:pPr>
            <a:r>
              <a:rPr lang="en-US" sz="1350" dirty="0">
                <a:solidFill>
                  <a:srgbClr val="334155"/>
                </a:solidFill>
                <a:latin typeface="Arial" pitchFamily="34" charset="0"/>
                <a:ea typeface="Arial" pitchFamily="34" charset="-122"/>
                <a:cs typeface="Arial" pitchFamily="34" charset="-120"/>
              </a:rPr>
              <a:t>Update existing elements and create new ones.</a:t>
            </a:r>
            <a:endParaRPr lang="en-US" sz="135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textContent replaces existing text</a:t>
            </a:r>
            <a:endParaRPr lang="en-US" sz="2100" dirty="0"/>
          </a:p>
        </p:txBody>
      </p:sp>
      <p:sp>
        <p:nvSpPr>
          <p:cNvPr id="4" name="Shape 1"/>
          <p:cNvSpPr/>
          <p:nvPr/>
        </p:nvSpPr>
        <p:spPr>
          <a:xfrm>
            <a:off x="685800" y="1234440"/>
            <a:ext cx="2331720" cy="868680"/>
          </a:xfrm>
          <a:prstGeom prst="rect">
            <a:avLst/>
          </a:prstGeom>
          <a:solidFill>
            <a:srgbClr val="0F172A"/>
          </a:solidFill>
          <a:ln w="12700">
            <a:solidFill>
              <a:srgbClr val="0F172A"/>
            </a:solidFill>
            <a:prstDash val="solid"/>
          </a:ln>
        </p:spPr>
      </p:sp>
      <p:sp>
        <p:nvSpPr>
          <p:cNvPr id="5" name="Text 2"/>
          <p:cNvSpPr/>
          <p:nvPr/>
        </p:nvSpPr>
        <p:spPr>
          <a:xfrm>
            <a:off x="813816" y="1344168"/>
            <a:ext cx="2075688" cy="64922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&lt;p id="order-status"&gt;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No new orders</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&lt;/p&gt;</a:t>
            </a:r>
            <a:endParaRPr lang="en-US" sz="1088" dirty="0"/>
          </a:p>
        </p:txBody>
      </p:sp>
      <p:sp>
        <p:nvSpPr>
          <p:cNvPr id="6" name="Shape 3"/>
          <p:cNvSpPr/>
          <p:nvPr/>
        </p:nvSpPr>
        <p:spPr>
          <a:xfrm>
            <a:off x="3337560" y="1234440"/>
            <a:ext cx="2743200" cy="868680"/>
          </a:xfrm>
          <a:prstGeom prst="rect">
            <a:avLst/>
          </a:prstGeom>
          <a:solidFill>
            <a:srgbClr val="0F172A"/>
          </a:solidFill>
          <a:ln w="12700">
            <a:solidFill>
              <a:srgbClr val="0F172A"/>
            </a:solidFill>
            <a:prstDash val="solid"/>
          </a:ln>
        </p:spPr>
      </p:sp>
      <p:sp>
        <p:nvSpPr>
          <p:cNvPr id="7" name="Text 4"/>
          <p:cNvSpPr/>
          <p:nvPr/>
        </p:nvSpPr>
        <p:spPr>
          <a:xfrm>
            <a:off x="3465576" y="1344168"/>
            <a:ext cx="2487168" cy="64922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statusMessage.textContent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"New order received";</a:t>
            </a:r>
            <a:endParaRPr lang="en-US" sz="1088" dirty="0"/>
          </a:p>
        </p:txBody>
      </p:sp>
      <p:sp>
        <p:nvSpPr>
          <p:cNvPr id="8" name="Shape 5"/>
          <p:cNvSpPr/>
          <p:nvPr/>
        </p:nvSpPr>
        <p:spPr>
          <a:xfrm>
            <a:off x="6400800" y="1234440"/>
            <a:ext cx="2057400" cy="868680"/>
          </a:xfrm>
          <a:prstGeom prst="rect">
            <a:avLst/>
          </a:prstGeom>
          <a:solidFill>
            <a:srgbClr val="0F172A"/>
          </a:solidFill>
          <a:ln w="12700">
            <a:solidFill>
              <a:srgbClr val="0F172A"/>
            </a:solidFill>
            <a:prstDash val="solid"/>
          </a:ln>
        </p:spPr>
      </p:sp>
      <p:sp>
        <p:nvSpPr>
          <p:cNvPr id="9" name="Text 6"/>
          <p:cNvSpPr/>
          <p:nvPr/>
        </p:nvSpPr>
        <p:spPr>
          <a:xfrm>
            <a:off x="6528816" y="1344168"/>
            <a:ext cx="1801368" cy="64922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&lt;p id="order-status"&gt;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New order received</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&lt;/p&gt;</a:t>
            </a:r>
            <a:endParaRPr lang="en-US" sz="1088" dirty="0"/>
          </a:p>
        </p:txBody>
      </p:sp>
      <p:sp>
        <p:nvSpPr>
          <p:cNvPr id="10" name="Shape 7"/>
          <p:cNvSpPr/>
          <p:nvPr/>
        </p:nvSpPr>
        <p:spPr>
          <a:xfrm>
            <a:off x="2999232" y="1664208"/>
            <a:ext cx="310896" cy="0"/>
          </a:xfrm>
          <a:prstGeom prst="line">
            <a:avLst/>
          </a:prstGeom>
          <a:noFill/>
          <a:ln w="15875">
            <a:solidFill>
              <a:srgbClr val="2563EB"/>
            </a:solidFill>
            <a:prstDash val="solid"/>
            <a:headEnd type="none"/>
            <a:tailEnd type="triangle"/>
          </a:ln>
        </p:spPr>
      </p:sp>
      <p:sp>
        <p:nvSpPr>
          <p:cNvPr id="11" name="Shape 8"/>
          <p:cNvSpPr/>
          <p:nvPr/>
        </p:nvSpPr>
        <p:spPr>
          <a:xfrm>
            <a:off x="6108192" y="1664208"/>
            <a:ext cx="265176" cy="0"/>
          </a:xfrm>
          <a:prstGeom prst="line">
            <a:avLst/>
          </a:prstGeom>
          <a:noFill/>
          <a:ln w="15875">
            <a:solidFill>
              <a:srgbClr val="2563EB"/>
            </a:solidFill>
            <a:prstDash val="solid"/>
            <a:headEnd type="none"/>
            <a:tailEnd type="triangle"/>
          </a:ln>
        </p:spPr>
      </p:sp>
      <p:sp>
        <p:nvSpPr>
          <p:cNvPr id="12" name="Text 9"/>
          <p:cNvSpPr/>
          <p:nvPr/>
        </p:nvSpPr>
        <p:spPr>
          <a:xfrm>
            <a:off x="1371600" y="2834640"/>
            <a:ext cx="6400800" cy="457200"/>
          </a:xfrm>
          <a:prstGeom prst="rect">
            <a:avLst/>
          </a:prstGeom>
          <a:noFill/>
          <a:ln/>
        </p:spPr>
        <p:txBody>
          <a:bodyPr wrap="square" lIns="635" tIns="635" rIns="635" bIns="635" rtlCol="0" anchor="t">
            <a:normAutofit/>
          </a:bodyPr>
          <a:lstStyle/>
          <a:p>
            <a:pPr algn="ctr" indent="0" marL="0">
              <a:lnSpc>
                <a:spcPct val="105000"/>
              </a:lnSpc>
              <a:buNone/>
            </a:pPr>
            <a:r>
              <a:rPr lang="en-US" sz="1300" dirty="0">
                <a:solidFill>
                  <a:srgbClr val="334155"/>
                </a:solidFill>
                <a:latin typeface="Arial" pitchFamily="34" charset="0"/>
                <a:ea typeface="Arial" pitchFamily="34" charset="-122"/>
                <a:cs typeface="Arial" pitchFamily="34" charset="-120"/>
              </a:rPr>
              <a:t>statusMessage refers to the selected paragraph. textContent replaces the text inside the element.</a:t>
            </a:r>
            <a:endParaRPr lang="en-US" sz="130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createElement creates a detached element</a:t>
            </a:r>
            <a:endParaRPr lang="en-US" sz="2100" dirty="0"/>
          </a:p>
        </p:txBody>
      </p:sp>
      <p:sp>
        <p:nvSpPr>
          <p:cNvPr id="4" name="Shape 1"/>
          <p:cNvSpPr/>
          <p:nvPr/>
        </p:nvSpPr>
        <p:spPr>
          <a:xfrm>
            <a:off x="777240" y="1143000"/>
            <a:ext cx="2926080" cy="548640"/>
          </a:xfrm>
          <a:prstGeom prst="rect">
            <a:avLst/>
          </a:prstGeom>
          <a:solidFill>
            <a:srgbClr val="0F172A"/>
          </a:solidFill>
          <a:ln w="12700">
            <a:solidFill>
              <a:srgbClr val="0F172A"/>
            </a:solidFill>
            <a:prstDash val="solid"/>
          </a:ln>
        </p:spPr>
      </p:sp>
      <p:sp>
        <p:nvSpPr>
          <p:cNvPr id="5" name="Text 2"/>
          <p:cNvSpPr/>
          <p:nvPr/>
        </p:nvSpPr>
        <p:spPr>
          <a:xfrm>
            <a:off x="905256" y="1252728"/>
            <a:ext cx="2670048" cy="32918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&lt;ul id="order-list"&gt;&lt;/ul&gt;</a:t>
            </a:r>
            <a:endParaRPr lang="en-US" sz="1088" dirty="0"/>
          </a:p>
        </p:txBody>
      </p:sp>
      <p:sp>
        <p:nvSpPr>
          <p:cNvPr id="6" name="Shape 3"/>
          <p:cNvSpPr/>
          <p:nvPr/>
        </p:nvSpPr>
        <p:spPr>
          <a:xfrm>
            <a:off x="777240" y="1828800"/>
            <a:ext cx="2926080" cy="1005840"/>
          </a:xfrm>
          <a:prstGeom prst="roundRect">
            <a:avLst>
              <a:gd name="adj" fmla="val 4545"/>
            </a:avLst>
          </a:prstGeom>
          <a:solidFill>
            <a:srgbClr val="F3F4F6"/>
          </a:solidFill>
          <a:ln w="12700">
            <a:solidFill>
              <a:srgbClr val="CBD5E1"/>
            </a:solidFill>
            <a:prstDash val="solid"/>
          </a:ln>
        </p:spPr>
      </p:sp>
      <p:sp>
        <p:nvSpPr>
          <p:cNvPr id="7" name="Text 4"/>
          <p:cNvSpPr/>
          <p:nvPr/>
        </p:nvSpPr>
        <p:spPr>
          <a:xfrm>
            <a:off x="877824" y="1901952"/>
            <a:ext cx="2724912" cy="859536"/>
          </a:xfrm>
          <a:prstGeom prst="rect">
            <a:avLst/>
          </a:prstGeom>
          <a:noFill/>
          <a:ln/>
        </p:spPr>
        <p:txBody>
          <a:bodyPr wrap="square" lIns="0" tIns="0" rIns="0" bIns="0" rtlCol="0" anchor="ctr">
            <a:normAutofit/>
          </a:bodyPr>
          <a:lstStyle/>
          <a:p>
            <a:pPr algn="ctr" indent="0" marL="0">
              <a:buNone/>
            </a:pPr>
            <a:r>
              <a:rPr lang="en-US" sz="1200" dirty="0">
                <a:solidFill>
                  <a:srgbClr val="111827"/>
                </a:solidFill>
                <a:latin typeface="Arial" pitchFamily="34" charset="0"/>
                <a:ea typeface="Arial" pitchFamily="34" charset="-122"/>
                <a:cs typeface="Arial" pitchFamily="34" charset="-120"/>
              </a:rPr>
              <a:t>orderList</a:t>
            </a:r>
            <a:endParaRPr lang="en-US" sz="1200" dirty="0"/>
          </a:p>
          <a:p>
            <a:pPr algn="ctr" indent="0" marL="0">
              <a:buNone/>
            </a:pPr>
            <a:r>
              <a:rPr lang="en-US" sz="1200" dirty="0">
                <a:solidFill>
                  <a:srgbClr val="111827"/>
                </a:solidFill>
                <a:latin typeface="Arial" pitchFamily="34" charset="0"/>
                <a:ea typeface="Arial" pitchFamily="34" charset="-122"/>
                <a:cs typeface="Arial" pitchFamily="34" charset="-120"/>
              </a:rPr>
              <a:t>no child elements</a:t>
            </a:r>
            <a:endParaRPr lang="en-US" sz="1200" dirty="0"/>
          </a:p>
        </p:txBody>
      </p:sp>
      <p:sp>
        <p:nvSpPr>
          <p:cNvPr id="8" name="Shape 5"/>
          <p:cNvSpPr/>
          <p:nvPr/>
        </p:nvSpPr>
        <p:spPr>
          <a:xfrm>
            <a:off x="3977640" y="1143000"/>
            <a:ext cx="3154680" cy="822960"/>
          </a:xfrm>
          <a:prstGeom prst="rect">
            <a:avLst/>
          </a:prstGeom>
          <a:solidFill>
            <a:srgbClr val="0F172A"/>
          </a:solidFill>
          <a:ln w="12700">
            <a:solidFill>
              <a:srgbClr val="0F172A"/>
            </a:solidFill>
            <a:prstDash val="solid"/>
          </a:ln>
        </p:spPr>
      </p:sp>
      <p:sp>
        <p:nvSpPr>
          <p:cNvPr id="9" name="Text 6"/>
          <p:cNvSpPr/>
          <p:nvPr/>
        </p:nvSpPr>
        <p:spPr>
          <a:xfrm>
            <a:off x="4105656" y="1252728"/>
            <a:ext cx="2898648" cy="60350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const orderItem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document.createElement("li");</a:t>
            </a:r>
            <a:endParaRPr lang="en-US" sz="1088" dirty="0"/>
          </a:p>
        </p:txBody>
      </p:sp>
      <p:sp>
        <p:nvSpPr>
          <p:cNvPr id="10" name="Shape 7"/>
          <p:cNvSpPr/>
          <p:nvPr/>
        </p:nvSpPr>
        <p:spPr>
          <a:xfrm>
            <a:off x="5715000" y="2560320"/>
            <a:ext cx="2148840" cy="685800"/>
          </a:xfrm>
          <a:prstGeom prst="roundRect">
            <a:avLst>
              <a:gd name="adj" fmla="val 6667"/>
            </a:avLst>
          </a:prstGeom>
          <a:solidFill>
            <a:srgbClr val="FEF3C7"/>
          </a:solidFill>
          <a:ln w="12700">
            <a:solidFill>
              <a:srgbClr val="CBD5E1"/>
            </a:solidFill>
            <a:prstDash val="solid"/>
          </a:ln>
        </p:spPr>
      </p:sp>
      <p:sp>
        <p:nvSpPr>
          <p:cNvPr id="11" name="Text 8"/>
          <p:cNvSpPr/>
          <p:nvPr/>
        </p:nvSpPr>
        <p:spPr>
          <a:xfrm>
            <a:off x="5815584" y="2633472"/>
            <a:ext cx="1947672" cy="539496"/>
          </a:xfrm>
          <a:prstGeom prst="rect">
            <a:avLst/>
          </a:prstGeom>
          <a:noFill/>
          <a:ln/>
        </p:spPr>
        <p:txBody>
          <a:bodyPr wrap="square" lIns="0" tIns="0" rIns="0" bIns="0" rtlCol="0" anchor="ctr">
            <a:normAutofit/>
          </a:bodyPr>
          <a:lstStyle/>
          <a:p>
            <a:pPr algn="ctr" indent="0" marL="0">
              <a:buNone/>
            </a:pPr>
            <a:r>
              <a:rPr lang="en-US" sz="1200" dirty="0">
                <a:solidFill>
                  <a:srgbClr val="111827"/>
                </a:solidFill>
                <a:latin typeface="Arial" pitchFamily="34" charset="0"/>
                <a:ea typeface="Arial" pitchFamily="34" charset="-122"/>
                <a:cs typeface="Arial" pitchFamily="34" charset="-120"/>
              </a:rPr>
              <a:t>orderItem</a:t>
            </a:r>
            <a:endParaRPr lang="en-US" sz="1200" dirty="0"/>
          </a:p>
          <a:p>
            <a:pPr algn="ctr" indent="0" marL="0">
              <a:buNone/>
            </a:pPr>
            <a:r>
              <a:rPr lang="en-US" sz="1200" dirty="0">
                <a:solidFill>
                  <a:srgbClr val="111827"/>
                </a:solidFill>
                <a:latin typeface="Arial" pitchFamily="34" charset="0"/>
                <a:ea typeface="Arial" pitchFamily="34" charset="-122"/>
                <a:cs typeface="Arial" pitchFamily="34" charset="-120"/>
              </a:rPr>
              <a:t>li, detached</a:t>
            </a:r>
            <a:endParaRPr lang="en-US" sz="1200" dirty="0"/>
          </a:p>
        </p:txBody>
      </p:sp>
      <p:sp>
        <p:nvSpPr>
          <p:cNvPr id="12" name="Shape 9"/>
          <p:cNvSpPr/>
          <p:nvPr/>
        </p:nvSpPr>
        <p:spPr>
          <a:xfrm>
            <a:off x="5486400" y="1965960"/>
            <a:ext cx="1051560" cy="548640"/>
          </a:xfrm>
          <a:prstGeom prst="line">
            <a:avLst/>
          </a:prstGeom>
          <a:noFill/>
          <a:ln w="15875">
            <a:solidFill>
              <a:srgbClr val="2563EB"/>
            </a:solidFill>
            <a:prstDash val="solid"/>
            <a:headEnd type="none"/>
            <a:tailEnd type="triangle"/>
          </a:ln>
        </p:spPr>
      </p:sp>
      <p:sp>
        <p:nvSpPr>
          <p:cNvPr id="13" name="Text 10"/>
          <p:cNvSpPr/>
          <p:nvPr/>
        </p:nvSpPr>
        <p:spPr>
          <a:xfrm>
            <a:off x="1097280" y="3794760"/>
            <a:ext cx="6766560" cy="438912"/>
          </a:xfrm>
          <a:prstGeom prst="rect">
            <a:avLst/>
          </a:prstGeom>
          <a:noFill/>
          <a:ln/>
        </p:spPr>
        <p:txBody>
          <a:bodyPr wrap="square" lIns="635" tIns="635" rIns="635" bIns="635" rtlCol="0" anchor="t">
            <a:normAutofit/>
          </a:bodyPr>
          <a:lstStyle/>
          <a:p>
            <a:pPr algn="ctr" indent="0" marL="0">
              <a:lnSpc>
                <a:spcPct val="105000"/>
              </a:lnSpc>
              <a:buNone/>
            </a:pPr>
            <a:r>
              <a:rPr lang="en-US" sz="1280" dirty="0">
                <a:solidFill>
                  <a:srgbClr val="334155"/>
                </a:solidFill>
                <a:latin typeface="Arial" pitchFamily="34" charset="0"/>
                <a:ea typeface="Arial" pitchFamily="34" charset="-122"/>
                <a:cs typeface="Arial" pitchFamily="34" charset="-120"/>
              </a:rPr>
              <a:t>The browser creates a new li element. The visible list remains empty because the element has not been inserted into orderList.</a:t>
            </a:r>
            <a:endParaRPr lang="en-US" sz="128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Prepare the element before inserting it</a:t>
            </a:r>
            <a:endParaRPr lang="en-US" sz="2100" dirty="0"/>
          </a:p>
        </p:txBody>
      </p:sp>
      <p:sp>
        <p:nvSpPr>
          <p:cNvPr id="3" name="Shape 1"/>
          <p:cNvSpPr/>
          <p:nvPr/>
        </p:nvSpPr>
        <p:spPr>
          <a:xfrm>
            <a:off x="777240" y="1143000"/>
            <a:ext cx="4206240" cy="868680"/>
          </a:xfrm>
          <a:prstGeom prst="rect">
            <a:avLst/>
          </a:prstGeom>
          <a:solidFill>
            <a:srgbClr val="0F172A"/>
          </a:solidFill>
          <a:ln w="12700">
            <a:solidFill>
              <a:srgbClr val="0F172A"/>
            </a:solidFill>
            <a:prstDash val="solid"/>
          </a:ln>
        </p:spPr>
      </p:sp>
      <p:sp>
        <p:nvSpPr>
          <p:cNvPr id="4" name="Text 2"/>
          <p:cNvSpPr/>
          <p:nvPr/>
        </p:nvSpPr>
        <p:spPr>
          <a:xfrm>
            <a:off x="905256" y="1252728"/>
            <a:ext cx="3950208" cy="64922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orderItem.textContent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"Masala chai and vegetable sandwich";</a:t>
            </a:r>
            <a:endParaRPr lang="en-US" sz="1088" dirty="0"/>
          </a:p>
        </p:txBody>
      </p:sp>
      <p:sp>
        <p:nvSpPr>
          <p:cNvPr id="5" name="Shape 3"/>
          <p:cNvSpPr/>
          <p:nvPr/>
        </p:nvSpPr>
        <p:spPr>
          <a:xfrm>
            <a:off x="777240" y="2240280"/>
            <a:ext cx="2926080" cy="1005840"/>
          </a:xfrm>
          <a:prstGeom prst="roundRect">
            <a:avLst>
              <a:gd name="adj" fmla="val 4545"/>
            </a:avLst>
          </a:prstGeom>
          <a:solidFill>
            <a:srgbClr val="F3F4F6"/>
          </a:solidFill>
          <a:ln w="12700">
            <a:solidFill>
              <a:srgbClr val="CBD5E1"/>
            </a:solidFill>
            <a:prstDash val="solid"/>
          </a:ln>
        </p:spPr>
      </p:sp>
      <p:sp>
        <p:nvSpPr>
          <p:cNvPr id="6" name="Text 4"/>
          <p:cNvSpPr/>
          <p:nvPr/>
        </p:nvSpPr>
        <p:spPr>
          <a:xfrm>
            <a:off x="877824" y="2313432"/>
            <a:ext cx="2724912" cy="859536"/>
          </a:xfrm>
          <a:prstGeom prst="rect">
            <a:avLst/>
          </a:prstGeom>
          <a:noFill/>
          <a:ln/>
        </p:spPr>
        <p:txBody>
          <a:bodyPr wrap="square" lIns="0" tIns="0" rIns="0" bIns="0" rtlCol="0" anchor="ctr">
            <a:normAutofit/>
          </a:bodyPr>
          <a:lstStyle/>
          <a:p>
            <a:pPr algn="ctr" indent="0" marL="0">
              <a:buNone/>
            </a:pPr>
            <a:r>
              <a:rPr lang="en-US" sz="1200" dirty="0">
                <a:solidFill>
                  <a:srgbClr val="111827"/>
                </a:solidFill>
                <a:latin typeface="Arial" pitchFamily="34" charset="0"/>
                <a:ea typeface="Arial" pitchFamily="34" charset="-122"/>
                <a:cs typeface="Arial" pitchFamily="34" charset="-120"/>
              </a:rPr>
              <a:t>orderList</a:t>
            </a:r>
            <a:endParaRPr lang="en-US" sz="1200" dirty="0"/>
          </a:p>
          <a:p>
            <a:pPr algn="ctr" indent="0" marL="0">
              <a:buNone/>
            </a:pPr>
            <a:r>
              <a:rPr lang="en-US" sz="1200" dirty="0">
                <a:solidFill>
                  <a:srgbClr val="111827"/>
                </a:solidFill>
                <a:latin typeface="Arial" pitchFamily="34" charset="0"/>
                <a:ea typeface="Arial" pitchFamily="34" charset="-122"/>
                <a:cs typeface="Arial" pitchFamily="34" charset="-120"/>
              </a:rPr>
              <a:t>no child elements</a:t>
            </a:r>
            <a:endParaRPr lang="en-US" sz="1200" dirty="0"/>
          </a:p>
        </p:txBody>
      </p:sp>
      <p:sp>
        <p:nvSpPr>
          <p:cNvPr id="7" name="Shape 5"/>
          <p:cNvSpPr/>
          <p:nvPr/>
        </p:nvSpPr>
        <p:spPr>
          <a:xfrm>
            <a:off x="4800600" y="2057400"/>
            <a:ext cx="3154680" cy="1143000"/>
          </a:xfrm>
          <a:prstGeom prst="roundRect">
            <a:avLst>
              <a:gd name="adj" fmla="val 4000"/>
            </a:avLst>
          </a:prstGeom>
          <a:solidFill>
            <a:srgbClr val="FEF3C7"/>
          </a:solidFill>
          <a:ln w="12700">
            <a:solidFill>
              <a:srgbClr val="CBD5E1"/>
            </a:solidFill>
            <a:prstDash val="solid"/>
          </a:ln>
        </p:spPr>
      </p:sp>
      <p:sp>
        <p:nvSpPr>
          <p:cNvPr id="8" name="Text 6"/>
          <p:cNvSpPr/>
          <p:nvPr/>
        </p:nvSpPr>
        <p:spPr>
          <a:xfrm>
            <a:off x="4901184" y="2130552"/>
            <a:ext cx="2953512" cy="996696"/>
          </a:xfrm>
          <a:prstGeom prst="rect">
            <a:avLst/>
          </a:prstGeom>
          <a:noFill/>
          <a:ln/>
        </p:spPr>
        <p:txBody>
          <a:bodyPr wrap="square" lIns="0" tIns="0" rIns="0" bIns="0" rtlCol="0" anchor="ctr">
            <a:normAutofit/>
          </a:bodyPr>
          <a:lstStyle/>
          <a:p>
            <a:pPr algn="ctr" indent="0" marL="0">
              <a:buNone/>
            </a:pPr>
            <a:r>
              <a:rPr lang="en-US" sz="1020" dirty="0">
                <a:solidFill>
                  <a:srgbClr val="111827"/>
                </a:solidFill>
                <a:latin typeface="Courier New" pitchFamily="34" charset="0"/>
                <a:ea typeface="Courier New" pitchFamily="34" charset="-122"/>
                <a:cs typeface="Courier New" pitchFamily="34" charset="-120"/>
              </a:rPr>
              <a:t>&lt;li&gt;</a:t>
            </a:r>
            <a:endParaRPr lang="en-US" sz="1020" dirty="0"/>
          </a:p>
          <a:p>
            <a:pPr algn="ctr" indent="0" marL="0">
              <a:buNone/>
            </a:pPr>
            <a:r>
              <a:rPr lang="en-US" sz="1020" dirty="0">
                <a:solidFill>
                  <a:srgbClr val="111827"/>
                </a:solidFill>
                <a:latin typeface="Courier New" pitchFamily="34" charset="0"/>
                <a:ea typeface="Courier New" pitchFamily="34" charset="-122"/>
                <a:cs typeface="Courier New" pitchFamily="34" charset="-120"/>
              </a:rPr>
              <a:t>Masala chai and vegetable sandwich</a:t>
            </a:r>
            <a:endParaRPr lang="en-US" sz="1020" dirty="0"/>
          </a:p>
          <a:p>
            <a:pPr algn="ctr" indent="0" marL="0">
              <a:buNone/>
            </a:pPr>
            <a:r>
              <a:rPr lang="en-US" sz="1020" dirty="0">
                <a:solidFill>
                  <a:srgbClr val="111827"/>
                </a:solidFill>
                <a:latin typeface="Courier New" pitchFamily="34" charset="0"/>
                <a:ea typeface="Courier New" pitchFamily="34" charset="-122"/>
                <a:cs typeface="Courier New" pitchFamily="34" charset="-120"/>
              </a:rPr>
              <a:t>&lt;/li&gt;</a:t>
            </a:r>
            <a:endParaRPr lang="en-US" sz="1020" dirty="0"/>
          </a:p>
        </p:txBody>
      </p:sp>
      <p:sp>
        <p:nvSpPr>
          <p:cNvPr id="9" name="Text 7"/>
          <p:cNvSpPr/>
          <p:nvPr/>
        </p:nvSpPr>
        <p:spPr>
          <a:xfrm>
            <a:off x="1097280" y="3703320"/>
            <a:ext cx="6766560" cy="438912"/>
          </a:xfrm>
          <a:prstGeom prst="rect">
            <a:avLst/>
          </a:prstGeom>
          <a:noFill/>
          <a:ln/>
        </p:spPr>
        <p:txBody>
          <a:bodyPr wrap="square" lIns="635" tIns="635" rIns="635" bIns="635" rtlCol="0" anchor="t">
            <a:normAutofit/>
          </a:bodyPr>
          <a:lstStyle/>
          <a:p>
            <a:pPr algn="ctr" indent="0" marL="0">
              <a:lnSpc>
                <a:spcPct val="105000"/>
              </a:lnSpc>
              <a:buNone/>
            </a:pPr>
            <a:r>
              <a:rPr lang="en-US" sz="1280" dirty="0">
                <a:solidFill>
                  <a:srgbClr val="334155"/>
                </a:solidFill>
                <a:latin typeface="Arial" pitchFamily="34" charset="0"/>
                <a:ea typeface="Arial" pitchFamily="34" charset="-122"/>
                <a:cs typeface="Arial" pitchFamily="34" charset="-120"/>
              </a:rPr>
              <a:t>The element contains text, but it is still outside orderList. It will not appear on the page until it is inserted into the document.</a:t>
            </a:r>
            <a:endParaRPr lang="en-US" sz="128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append inserts the element into the list</a:t>
            </a:r>
            <a:endParaRPr lang="en-US" sz="2100" dirty="0"/>
          </a:p>
        </p:txBody>
      </p:sp>
      <p:sp>
        <p:nvSpPr>
          <p:cNvPr id="4" name="Shape 1"/>
          <p:cNvSpPr/>
          <p:nvPr/>
        </p:nvSpPr>
        <p:spPr>
          <a:xfrm>
            <a:off x="777240" y="1005840"/>
            <a:ext cx="3291840" cy="548640"/>
          </a:xfrm>
          <a:prstGeom prst="rect">
            <a:avLst/>
          </a:prstGeom>
          <a:solidFill>
            <a:srgbClr val="0F172A"/>
          </a:solidFill>
          <a:ln w="12700">
            <a:solidFill>
              <a:srgbClr val="0F172A"/>
            </a:solidFill>
            <a:prstDash val="solid"/>
          </a:ln>
        </p:spPr>
      </p:sp>
      <p:sp>
        <p:nvSpPr>
          <p:cNvPr id="5" name="Text 2"/>
          <p:cNvSpPr/>
          <p:nvPr/>
        </p:nvSpPr>
        <p:spPr>
          <a:xfrm>
            <a:off x="905256" y="1115568"/>
            <a:ext cx="3035808" cy="329184"/>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Courier New" pitchFamily="34" charset="0"/>
                <a:ea typeface="Courier New" pitchFamily="34" charset="-122"/>
                <a:cs typeface="Courier New" pitchFamily="34" charset="-120"/>
              </a:rPr>
              <a:t>orderList.append(orderItem);</a:t>
            </a:r>
            <a:endParaRPr lang="en-US" sz="1100" dirty="0"/>
          </a:p>
        </p:txBody>
      </p:sp>
      <p:sp>
        <p:nvSpPr>
          <p:cNvPr id="6" name="Shape 3"/>
          <p:cNvSpPr/>
          <p:nvPr/>
        </p:nvSpPr>
        <p:spPr>
          <a:xfrm>
            <a:off x="777240" y="1874520"/>
            <a:ext cx="3246120" cy="548640"/>
          </a:xfrm>
          <a:prstGeom prst="rect">
            <a:avLst/>
          </a:prstGeom>
          <a:solidFill>
            <a:srgbClr val="0F172A"/>
          </a:solidFill>
          <a:ln w="12700">
            <a:solidFill>
              <a:srgbClr val="0F172A"/>
            </a:solidFill>
            <a:prstDash val="solid"/>
          </a:ln>
        </p:spPr>
      </p:sp>
      <p:sp>
        <p:nvSpPr>
          <p:cNvPr id="7" name="Text 4"/>
          <p:cNvSpPr/>
          <p:nvPr/>
        </p:nvSpPr>
        <p:spPr>
          <a:xfrm>
            <a:off x="905256" y="1984248"/>
            <a:ext cx="2990088" cy="32918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&lt;ul id="order-list"&gt;&lt;/ul&gt;</a:t>
            </a:r>
            <a:endParaRPr lang="en-US" sz="1088" dirty="0"/>
          </a:p>
        </p:txBody>
      </p:sp>
      <p:sp>
        <p:nvSpPr>
          <p:cNvPr id="8" name="Text 5"/>
          <p:cNvSpPr/>
          <p:nvPr/>
        </p:nvSpPr>
        <p:spPr>
          <a:xfrm>
            <a:off x="1371600" y="1627632"/>
            <a:ext cx="2103120" cy="228600"/>
          </a:xfrm>
          <a:prstGeom prst="rect">
            <a:avLst/>
          </a:prstGeom>
          <a:noFill/>
          <a:ln/>
        </p:spPr>
        <p:txBody>
          <a:bodyPr wrap="square" lIns="0" tIns="0" rIns="0" bIns="0" rtlCol="0" anchor="t">
            <a:normAutofit/>
          </a:bodyPr>
          <a:lstStyle/>
          <a:p>
            <a:pPr algn="ctr" indent="0" marL="0">
              <a:lnSpc>
                <a:spcPct val="105000"/>
              </a:lnSpc>
              <a:buNone/>
            </a:pPr>
            <a:r>
              <a:rPr lang="en-US" sz="1130" b="1" dirty="0">
                <a:solidFill>
                  <a:srgbClr val="111827"/>
                </a:solidFill>
                <a:latin typeface="Arial" pitchFamily="34" charset="0"/>
                <a:ea typeface="Arial" pitchFamily="34" charset="-122"/>
                <a:cs typeface="Arial" pitchFamily="34" charset="-120"/>
              </a:rPr>
              <a:t>Before append</a:t>
            </a:r>
            <a:endParaRPr lang="en-US" sz="1130" dirty="0"/>
          </a:p>
        </p:txBody>
      </p:sp>
      <p:sp>
        <p:nvSpPr>
          <p:cNvPr id="9" name="Shape 6"/>
          <p:cNvSpPr/>
          <p:nvPr/>
        </p:nvSpPr>
        <p:spPr>
          <a:xfrm>
            <a:off x="4617720" y="1508760"/>
            <a:ext cx="3474720" cy="1508760"/>
          </a:xfrm>
          <a:prstGeom prst="rect">
            <a:avLst/>
          </a:prstGeom>
          <a:solidFill>
            <a:srgbClr val="0F172A"/>
          </a:solidFill>
          <a:ln w="12700">
            <a:solidFill>
              <a:srgbClr val="0F172A"/>
            </a:solidFill>
            <a:prstDash val="solid"/>
          </a:ln>
        </p:spPr>
      </p:sp>
      <p:sp>
        <p:nvSpPr>
          <p:cNvPr id="10" name="Text 7"/>
          <p:cNvSpPr/>
          <p:nvPr/>
        </p:nvSpPr>
        <p:spPr>
          <a:xfrm>
            <a:off x="4745736" y="1618488"/>
            <a:ext cx="3218688" cy="128930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&lt;ul id="order-list"&gt;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&lt;li&gt;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Masala chai and vegetable sandwich</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&lt;/li&gt;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&lt;/ul&gt;</a:t>
            </a:r>
            <a:endParaRPr lang="en-US" sz="1088" dirty="0"/>
          </a:p>
        </p:txBody>
      </p:sp>
      <p:sp>
        <p:nvSpPr>
          <p:cNvPr id="11" name="Text 8"/>
          <p:cNvSpPr/>
          <p:nvPr/>
        </p:nvSpPr>
        <p:spPr>
          <a:xfrm>
            <a:off x="5257800" y="1261872"/>
            <a:ext cx="2103120" cy="228600"/>
          </a:xfrm>
          <a:prstGeom prst="rect">
            <a:avLst/>
          </a:prstGeom>
          <a:noFill/>
          <a:ln/>
        </p:spPr>
        <p:txBody>
          <a:bodyPr wrap="square" lIns="0" tIns="0" rIns="0" bIns="0" rtlCol="0" anchor="t">
            <a:normAutofit/>
          </a:bodyPr>
          <a:lstStyle/>
          <a:p>
            <a:pPr algn="ctr" indent="0" marL="0">
              <a:lnSpc>
                <a:spcPct val="105000"/>
              </a:lnSpc>
              <a:buNone/>
            </a:pPr>
            <a:r>
              <a:rPr lang="en-US" sz="1130" b="1" dirty="0">
                <a:solidFill>
                  <a:srgbClr val="111827"/>
                </a:solidFill>
                <a:latin typeface="Arial" pitchFamily="34" charset="0"/>
                <a:ea typeface="Arial" pitchFamily="34" charset="-122"/>
                <a:cs typeface="Arial" pitchFamily="34" charset="-120"/>
              </a:rPr>
              <a:t>After append</a:t>
            </a:r>
            <a:endParaRPr lang="en-US" sz="1130" dirty="0"/>
          </a:p>
        </p:txBody>
      </p:sp>
      <p:sp>
        <p:nvSpPr>
          <p:cNvPr id="12" name="Shape 9"/>
          <p:cNvSpPr/>
          <p:nvPr/>
        </p:nvSpPr>
        <p:spPr>
          <a:xfrm>
            <a:off x="4160520" y="2148840"/>
            <a:ext cx="365760" cy="0"/>
          </a:xfrm>
          <a:prstGeom prst="line">
            <a:avLst/>
          </a:prstGeom>
          <a:noFill/>
          <a:ln w="15875">
            <a:solidFill>
              <a:srgbClr val="2563EB"/>
            </a:solidFill>
            <a:prstDash val="solid"/>
            <a:headEnd type="none"/>
            <a:tailEnd type="triangle"/>
          </a:ln>
        </p:spPr>
      </p:sp>
      <p:sp>
        <p:nvSpPr>
          <p:cNvPr id="13" name="Text 10"/>
          <p:cNvSpPr/>
          <p:nvPr/>
        </p:nvSpPr>
        <p:spPr>
          <a:xfrm>
            <a:off x="1097280" y="3703320"/>
            <a:ext cx="6766560" cy="438912"/>
          </a:xfrm>
          <a:prstGeom prst="rect">
            <a:avLst/>
          </a:prstGeom>
          <a:noFill/>
          <a:ln/>
        </p:spPr>
        <p:txBody>
          <a:bodyPr wrap="square" lIns="635" tIns="635" rIns="635" bIns="635" rtlCol="0" anchor="t">
            <a:normAutofit/>
          </a:bodyPr>
          <a:lstStyle/>
          <a:p>
            <a:pPr algn="ctr" indent="0" marL="0">
              <a:lnSpc>
                <a:spcPct val="105000"/>
              </a:lnSpc>
              <a:buNone/>
            </a:pPr>
            <a:r>
              <a:rPr lang="en-US" sz="1280" dirty="0">
                <a:solidFill>
                  <a:srgbClr val="334155"/>
                </a:solidFill>
                <a:latin typeface="Arial" pitchFamily="34" charset="0"/>
                <a:ea typeface="Arial" pitchFamily="34" charset="-122"/>
                <a:cs typeface="Arial" pitchFamily="34" charset="-120"/>
              </a:rPr>
              <a:t>append inserts orderItem as the final child of orderList. The order becomes visible after this line runs.</a:t>
            </a:r>
            <a:endParaRPr lang="en-US" sz="128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The handler creates, inserts, and reports the order</a:t>
            </a:r>
            <a:endParaRPr lang="en-US" sz="2100" dirty="0"/>
          </a:p>
        </p:txBody>
      </p:sp>
      <p:sp>
        <p:nvSpPr>
          <p:cNvPr id="3" name="Shape 1"/>
          <p:cNvSpPr/>
          <p:nvPr/>
        </p:nvSpPr>
        <p:spPr>
          <a:xfrm>
            <a:off x="685800" y="914400"/>
            <a:ext cx="4754880" cy="3337560"/>
          </a:xfrm>
          <a:prstGeom prst="rect">
            <a:avLst/>
          </a:prstGeom>
          <a:solidFill>
            <a:srgbClr val="0F172A"/>
          </a:solidFill>
          <a:ln w="12700">
            <a:solidFill>
              <a:srgbClr val="0F172A"/>
            </a:solidFill>
            <a:prstDash val="solid"/>
          </a:ln>
        </p:spPr>
      </p:sp>
      <p:sp>
        <p:nvSpPr>
          <p:cNvPr id="4" name="Text 2"/>
          <p:cNvSpPr/>
          <p:nvPr/>
        </p:nvSpPr>
        <p:spPr>
          <a:xfrm>
            <a:off x="813816" y="1024128"/>
            <a:ext cx="4498848" cy="311810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function handleAddOrder()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const orderItem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document.createElement("li");</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orderItem.textContent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"Masala chai and vegetable sandwich";</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orderList.append(orderItem);</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statusMessage.textContent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"New order added";</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5" name="Text 3"/>
          <p:cNvSpPr/>
          <p:nvPr/>
        </p:nvSpPr>
        <p:spPr>
          <a:xfrm>
            <a:off x="5715000" y="1051560"/>
            <a:ext cx="2468880" cy="228600"/>
          </a:xfrm>
          <a:prstGeom prst="rect">
            <a:avLst/>
          </a:prstGeom>
          <a:noFill/>
          <a:ln/>
        </p:spPr>
        <p:txBody>
          <a:bodyPr wrap="square" lIns="0" tIns="0" rIns="0" bIns="0" rtlCol="0" anchor="t">
            <a:normAutofit/>
          </a:bodyPr>
          <a:lstStyle/>
          <a:p>
            <a:pPr algn="l" indent="0" marL="0">
              <a:lnSpc>
                <a:spcPct val="105000"/>
              </a:lnSpc>
              <a:buNone/>
            </a:pPr>
            <a:r>
              <a:rPr lang="en-US" sz="1350" b="1" dirty="0">
                <a:solidFill>
                  <a:srgbClr val="111827"/>
                </a:solidFill>
                <a:latin typeface="Arial" pitchFamily="34" charset="0"/>
                <a:ea typeface="Arial" pitchFamily="34" charset="-122"/>
                <a:cs typeface="Arial" pitchFamily="34" charset="-120"/>
              </a:rPr>
              <a:t>Handler responsibilities</a:t>
            </a:r>
            <a:endParaRPr lang="en-US" sz="1350" dirty="0"/>
          </a:p>
        </p:txBody>
      </p:sp>
      <p:sp>
        <p:nvSpPr>
          <p:cNvPr id="6" name="Text 4"/>
          <p:cNvSpPr/>
          <p:nvPr/>
        </p:nvSpPr>
        <p:spPr>
          <a:xfrm>
            <a:off x="5806440" y="1417320"/>
            <a:ext cx="2560320" cy="219456"/>
          </a:xfrm>
          <a:prstGeom prst="rect">
            <a:avLst/>
          </a:prstGeom>
          <a:noFill/>
          <a:ln/>
        </p:spPr>
        <p:txBody>
          <a:bodyPr wrap="square" lIns="0" tIns="0" rIns="0" bIns="0" rtlCol="0" anchor="ctr">
            <a:normAutofit/>
          </a:bodyPr>
          <a:lstStyle/>
          <a:p>
            <a:r>
              <a:rPr lang="en-US" sz="1130" dirty="0">
                <a:solidFill>
                  <a:srgbClr val="111827"/>
                </a:solidFill>
                <a:latin typeface="Arial" pitchFamily="34" charset="0"/>
                <a:ea typeface="Arial" pitchFamily="34" charset="-122"/>
                <a:cs typeface="Arial" pitchFamily="34" charset="-120"/>
              </a:rPr>
              <a:t>Create the li.</a:t>
            </a:r>
            <a:endParaRPr lang="en-US" sz="1130" dirty="0"/>
          </a:p>
        </p:txBody>
      </p:sp>
      <p:sp>
        <p:nvSpPr>
          <p:cNvPr id="7" name="Text 5"/>
          <p:cNvSpPr/>
          <p:nvPr/>
        </p:nvSpPr>
        <p:spPr>
          <a:xfrm>
            <a:off x="5806440" y="1677924"/>
            <a:ext cx="2560320" cy="219456"/>
          </a:xfrm>
          <a:prstGeom prst="rect">
            <a:avLst/>
          </a:prstGeom>
          <a:noFill/>
          <a:ln/>
        </p:spPr>
        <p:txBody>
          <a:bodyPr wrap="square" lIns="0" tIns="0" rIns="0" bIns="0" rtlCol="0" anchor="ctr">
            <a:normAutofit/>
          </a:bodyPr>
          <a:lstStyle/>
          <a:p>
            <a:r>
              <a:rPr lang="en-US" sz="1130" dirty="0">
                <a:solidFill>
                  <a:srgbClr val="111827"/>
                </a:solidFill>
                <a:latin typeface="Arial" pitchFamily="34" charset="0"/>
                <a:ea typeface="Arial" pitchFamily="34" charset="-122"/>
                <a:cs typeface="Arial" pitchFamily="34" charset="-120"/>
              </a:rPr>
              <a:t>Set its text.</a:t>
            </a:r>
            <a:endParaRPr lang="en-US" sz="1130" dirty="0"/>
          </a:p>
        </p:txBody>
      </p:sp>
      <p:sp>
        <p:nvSpPr>
          <p:cNvPr id="8" name="Text 6"/>
          <p:cNvSpPr/>
          <p:nvPr/>
        </p:nvSpPr>
        <p:spPr>
          <a:xfrm>
            <a:off x="5806440" y="1938528"/>
            <a:ext cx="2560320" cy="219456"/>
          </a:xfrm>
          <a:prstGeom prst="rect">
            <a:avLst/>
          </a:prstGeom>
          <a:noFill/>
          <a:ln/>
        </p:spPr>
        <p:txBody>
          <a:bodyPr wrap="square" lIns="0" tIns="0" rIns="0" bIns="0" rtlCol="0" anchor="ctr">
            <a:normAutofit/>
          </a:bodyPr>
          <a:lstStyle/>
          <a:p>
            <a:r>
              <a:rPr lang="en-US" sz="1130" dirty="0">
                <a:solidFill>
                  <a:srgbClr val="111827"/>
                </a:solidFill>
                <a:latin typeface="Arial" pitchFamily="34" charset="0"/>
                <a:ea typeface="Arial" pitchFamily="34" charset="-122"/>
                <a:cs typeface="Arial" pitchFamily="34" charset="-120"/>
              </a:rPr>
              <a:t>Insert it into the list.</a:t>
            </a:r>
            <a:endParaRPr lang="en-US" sz="1130" dirty="0"/>
          </a:p>
        </p:txBody>
      </p:sp>
      <p:sp>
        <p:nvSpPr>
          <p:cNvPr id="9" name="Text 7"/>
          <p:cNvSpPr/>
          <p:nvPr/>
        </p:nvSpPr>
        <p:spPr>
          <a:xfrm>
            <a:off x="5806440" y="2199132"/>
            <a:ext cx="2560320" cy="219456"/>
          </a:xfrm>
          <a:prstGeom prst="rect">
            <a:avLst/>
          </a:prstGeom>
          <a:noFill/>
          <a:ln/>
        </p:spPr>
        <p:txBody>
          <a:bodyPr wrap="square" lIns="0" tIns="0" rIns="0" bIns="0" rtlCol="0" anchor="ctr">
            <a:normAutofit/>
          </a:bodyPr>
          <a:lstStyle/>
          <a:p>
            <a:r>
              <a:rPr lang="en-US" sz="1130" dirty="0">
                <a:solidFill>
                  <a:srgbClr val="111827"/>
                </a:solidFill>
                <a:latin typeface="Arial" pitchFamily="34" charset="0"/>
                <a:ea typeface="Arial" pitchFamily="34" charset="-122"/>
                <a:cs typeface="Arial" pitchFamily="34" charset="-120"/>
              </a:rPr>
              <a:t>Update the status.</a:t>
            </a:r>
            <a:endParaRPr lang="en-US" sz="1130" dirty="0"/>
          </a:p>
        </p:txBody>
      </p:sp>
      <p:sp>
        <p:nvSpPr>
          <p:cNvPr id="10" name="Shape 8"/>
          <p:cNvSpPr/>
          <p:nvPr/>
        </p:nvSpPr>
        <p:spPr>
          <a:xfrm>
            <a:off x="5715000" y="2743200"/>
            <a:ext cx="2651760" cy="1051560"/>
          </a:xfrm>
          <a:prstGeom prst="roundRect">
            <a:avLst>
              <a:gd name="adj" fmla="val 4348"/>
            </a:avLst>
          </a:prstGeom>
          <a:solidFill>
            <a:srgbClr val="DCFCE7"/>
          </a:solidFill>
          <a:ln w="12700">
            <a:solidFill>
              <a:srgbClr val="CBD5E1"/>
            </a:solidFill>
            <a:prstDash val="solid"/>
          </a:ln>
        </p:spPr>
      </p:sp>
      <p:sp>
        <p:nvSpPr>
          <p:cNvPr id="11" name="Text 9"/>
          <p:cNvSpPr/>
          <p:nvPr/>
        </p:nvSpPr>
        <p:spPr>
          <a:xfrm>
            <a:off x="5815584" y="2816352"/>
            <a:ext cx="2450592" cy="905256"/>
          </a:xfrm>
          <a:prstGeom prst="rect">
            <a:avLst/>
          </a:prstGeom>
          <a:noFill/>
          <a:ln/>
        </p:spPr>
        <p:txBody>
          <a:bodyPr wrap="square" lIns="0" tIns="0" rIns="0" bIns="0" rtlCol="0" anchor="ctr">
            <a:normAutofit/>
          </a:bodyPr>
          <a:lstStyle/>
          <a:p>
            <a:pPr algn="ctr" indent="0" marL="0">
              <a:buNone/>
            </a:pPr>
            <a:r>
              <a:rPr lang="en-US" sz="1080" dirty="0">
                <a:solidFill>
                  <a:srgbClr val="111827"/>
                </a:solidFill>
                <a:latin typeface="Arial" pitchFamily="34" charset="0"/>
                <a:ea typeface="Arial" pitchFamily="34" charset="-122"/>
                <a:cs typeface="Arial" pitchFamily="34" charset="-120"/>
              </a:rPr>
              <a:t>Status</a:t>
            </a:r>
            <a:endParaRPr lang="en-US" sz="1080" dirty="0"/>
          </a:p>
          <a:p>
            <a:pPr algn="ctr" indent="0" marL="0">
              <a:buNone/>
            </a:pPr>
            <a:r>
              <a:rPr lang="en-US" sz="1080" dirty="0">
                <a:solidFill>
                  <a:srgbClr val="111827"/>
                </a:solidFill>
                <a:latin typeface="Arial" pitchFamily="34" charset="0"/>
                <a:ea typeface="Arial" pitchFamily="34" charset="-122"/>
                <a:cs typeface="Arial" pitchFamily="34" charset="-120"/>
              </a:rPr>
              <a:t>New order added</a:t>
            </a:r>
            <a:endParaRPr lang="en-US" sz="1080" dirty="0"/>
          </a:p>
          <a:p>
            <a:pPr algn="ctr" indent="0" marL="0">
              <a:buNone/>
            </a:pPr>
            <a:endParaRPr lang="en-US" sz="1080" dirty="0"/>
          </a:p>
          <a:p>
            <a:pPr algn="ctr" indent="0" marL="0">
              <a:buNone/>
            </a:pPr>
            <a:r>
              <a:rPr lang="en-US" sz="1080" dirty="0">
                <a:solidFill>
                  <a:srgbClr val="111827"/>
                </a:solidFill>
                <a:latin typeface="Arial" pitchFamily="34" charset="0"/>
                <a:ea typeface="Arial" pitchFamily="34" charset="-122"/>
                <a:cs typeface="Arial" pitchFamily="34" charset="-120"/>
              </a:rPr>
              <a:t>Order list</a:t>
            </a:r>
            <a:endParaRPr lang="en-US" sz="1080" dirty="0"/>
          </a:p>
          <a:p>
            <a:pPr algn="ctr" indent="0" marL="0">
              <a:buNone/>
            </a:pPr>
            <a:r>
              <a:rPr lang="en-US" sz="1080" dirty="0">
                <a:solidFill>
                  <a:srgbClr val="111827"/>
                </a:solidFill>
                <a:latin typeface="Arial" pitchFamily="34" charset="0"/>
                <a:ea typeface="Arial" pitchFamily="34" charset="-122"/>
                <a:cs typeface="Arial" pitchFamily="34" charset="-120"/>
              </a:rPr>
              <a:t>1. Masala chai and vegetable sandwich</a:t>
            </a:r>
            <a:endParaRPr lang="en-US" sz="108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Checkpoint: Which line displays the item?</a:t>
            </a:r>
            <a:endParaRPr lang="en-US" sz="2100" dirty="0"/>
          </a:p>
        </p:txBody>
      </p:sp>
      <p:sp>
        <p:nvSpPr>
          <p:cNvPr id="3" name="Shape 1"/>
          <p:cNvSpPr/>
          <p:nvPr/>
        </p:nvSpPr>
        <p:spPr>
          <a:xfrm>
            <a:off x="685800" y="1234440"/>
            <a:ext cx="3886200" cy="2011680"/>
          </a:xfrm>
          <a:prstGeom prst="rect">
            <a:avLst/>
          </a:prstGeom>
          <a:solidFill>
            <a:srgbClr val="0F172A"/>
          </a:solidFill>
          <a:ln w="12700">
            <a:solidFill>
              <a:srgbClr val="0F172A"/>
            </a:solidFill>
            <a:prstDash val="solid"/>
          </a:ln>
        </p:spPr>
      </p:sp>
      <p:sp>
        <p:nvSpPr>
          <p:cNvPr id="4" name="Text 2"/>
          <p:cNvSpPr/>
          <p:nvPr/>
        </p:nvSpPr>
        <p:spPr>
          <a:xfrm>
            <a:off x="813816" y="1344168"/>
            <a:ext cx="3630168" cy="179222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const notice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document.createElement("li");</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notice.textContent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"Workshop moved to Room 204";</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noticeList.append(notice);</a:t>
            </a:r>
            <a:endParaRPr lang="en-US" sz="1088" dirty="0"/>
          </a:p>
        </p:txBody>
      </p:sp>
      <p:sp>
        <p:nvSpPr>
          <p:cNvPr id="5" name="Text 3"/>
          <p:cNvSpPr/>
          <p:nvPr/>
        </p:nvSpPr>
        <p:spPr>
          <a:xfrm>
            <a:off x="4892040" y="1143000"/>
            <a:ext cx="3611880" cy="548640"/>
          </a:xfrm>
          <a:prstGeom prst="rect">
            <a:avLst/>
          </a:prstGeom>
          <a:noFill/>
          <a:ln/>
        </p:spPr>
        <p:txBody>
          <a:bodyPr wrap="square" lIns="0" tIns="0" rIns="0" bIns="0" rtlCol="0" anchor="t">
            <a:normAutofit/>
          </a:bodyPr>
          <a:lstStyle/>
          <a:p>
            <a:pPr algn="l" indent="0" marL="0">
              <a:lnSpc>
                <a:spcPct val="105000"/>
              </a:lnSpc>
              <a:buNone/>
            </a:pPr>
            <a:r>
              <a:rPr lang="en-US" sz="1260" b="1" dirty="0">
                <a:solidFill>
                  <a:srgbClr val="111827"/>
                </a:solidFill>
                <a:latin typeface="Arial" pitchFamily="34" charset="0"/>
                <a:ea typeface="Arial" pitchFamily="34" charset="-122"/>
                <a:cs typeface="Arial" pitchFamily="34" charset="-120"/>
              </a:rPr>
              <a:t>Which line makes the notice visible on the page?</a:t>
            </a:r>
            <a:endParaRPr lang="en-US" sz="1260" dirty="0"/>
          </a:p>
        </p:txBody>
      </p:sp>
      <p:sp>
        <p:nvSpPr>
          <p:cNvPr id="6" name="Text 4"/>
          <p:cNvSpPr/>
          <p:nvPr/>
        </p:nvSpPr>
        <p:spPr>
          <a:xfrm>
            <a:off x="4892040" y="1783080"/>
            <a:ext cx="3611880" cy="2103120"/>
          </a:xfrm>
          <a:prstGeom prst="rect">
            <a:avLst/>
          </a:prstGeom>
          <a:noFill/>
          <a:ln/>
        </p:spPr>
        <p:txBody>
          <a:bodyPr wrap="square" lIns="381" tIns="381" rIns="381" bIns="381" rtlCol="0" anchor="t">
            <a:normAutofit/>
          </a:bodyPr>
          <a:lstStyle/>
          <a:p>
            <a:pPr indent="0" marL="0">
              <a:buNone/>
            </a:pPr>
            <a:r>
              <a:rPr lang="en-US" sz="1200" dirty="0">
                <a:solidFill>
                  <a:srgbClr val="111827"/>
                </a:solidFill>
                <a:latin typeface="Arial" pitchFamily="34" charset="0"/>
                <a:ea typeface="Arial" pitchFamily="34" charset="-122"/>
                <a:cs typeface="Arial" pitchFamily="34" charset="-120"/>
              </a:rPr>
              <a:t>A. const notice = ...</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B. document.createElement("li")</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C. notice.textContent = ...</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D. noticeList.append(notice)</a:t>
            </a:r>
            <a:endParaRPr lang="en-US" sz="1200" dirty="0"/>
          </a:p>
        </p:txBody>
      </p:sp>
      <p:sp>
        <p:nvSpPr>
          <p:cNvPr id="7" name="Shape 5"/>
          <p:cNvSpPr/>
          <p:nvPr/>
        </p:nvSpPr>
        <p:spPr>
          <a:xfrm>
            <a:off x="685800" y="4160520"/>
            <a:ext cx="7269480" cy="457200"/>
          </a:xfrm>
          <a:prstGeom prst="roundRect">
            <a:avLst>
              <a:gd name="adj" fmla="val 12000"/>
            </a:avLst>
          </a:prstGeom>
          <a:solidFill>
            <a:srgbClr val="DCFCE7"/>
          </a:solidFill>
          <a:ln w="12700">
            <a:solidFill>
              <a:srgbClr val="86EFAC"/>
            </a:solidFill>
            <a:prstDash val="solid"/>
          </a:ln>
        </p:spPr>
      </p:sp>
      <p:sp>
        <p:nvSpPr>
          <p:cNvPr id="8" name="Text 6"/>
          <p:cNvSpPr/>
          <p:nvPr/>
        </p:nvSpPr>
        <p:spPr>
          <a:xfrm>
            <a:off x="795528" y="4224528"/>
            <a:ext cx="7050024" cy="310896"/>
          </a:xfrm>
          <a:prstGeom prst="rect">
            <a:avLst/>
          </a:prstGeom>
          <a:noFill/>
          <a:ln/>
        </p:spPr>
        <p:txBody>
          <a:bodyPr wrap="square" lIns="0" tIns="0" rIns="0" bIns="0" rtlCol="0" anchor="ctr">
            <a:normAutofit/>
          </a:bodyPr>
          <a:lstStyle/>
          <a:p>
            <a:pPr indent="0" marL="0">
              <a:buNone/>
            </a:pPr>
            <a:r>
              <a:rPr lang="en-US" sz="1020" dirty="0">
                <a:solidFill>
                  <a:srgbClr val="111827"/>
                </a:solidFill>
                <a:latin typeface="Arial" pitchFamily="34" charset="0"/>
                <a:ea typeface="Arial" pitchFamily="34" charset="-122"/>
                <a:cs typeface="Arial" pitchFamily="34" charset="-120"/>
              </a:rPr>
              <a:t>Answer: D</a:t>
            </a:r>
            <a:endParaRPr lang="en-US" sz="1020" dirty="0"/>
          </a:p>
          <a:p>
            <a:pPr indent="0" marL="0">
              <a:buNone/>
            </a:pPr>
            <a:r>
              <a:rPr lang="en-US" sz="1020" dirty="0">
                <a:solidFill>
                  <a:srgbClr val="111827"/>
                </a:solidFill>
                <a:latin typeface="Arial" pitchFamily="34" charset="0"/>
                <a:ea typeface="Arial" pitchFamily="34" charset="-122"/>
                <a:cs typeface="Arial" pitchFamily="34" charset="-120"/>
              </a:rPr>
              <a:t>append inserts the prepared element into the visible document.</a:t>
            </a:r>
            <a:endParaRPr lang="en-US" sz="102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Select the first order before removing it</a:t>
            </a:r>
            <a:endParaRPr lang="en-US" sz="2100" dirty="0"/>
          </a:p>
        </p:txBody>
      </p:sp>
      <p:sp>
        <p:nvSpPr>
          <p:cNvPr id="3" name="Shape 1"/>
          <p:cNvSpPr/>
          <p:nvPr/>
        </p:nvSpPr>
        <p:spPr>
          <a:xfrm>
            <a:off x="685800" y="1051560"/>
            <a:ext cx="3337560" cy="1280160"/>
          </a:xfrm>
          <a:prstGeom prst="rect">
            <a:avLst/>
          </a:prstGeom>
          <a:solidFill>
            <a:srgbClr val="0F172A"/>
          </a:solidFill>
          <a:ln w="12700">
            <a:solidFill>
              <a:srgbClr val="0F172A"/>
            </a:solidFill>
            <a:prstDash val="solid"/>
          </a:ln>
        </p:spPr>
      </p:sp>
      <p:sp>
        <p:nvSpPr>
          <p:cNvPr id="4" name="Text 2"/>
          <p:cNvSpPr/>
          <p:nvPr/>
        </p:nvSpPr>
        <p:spPr>
          <a:xfrm>
            <a:off x="813816" y="1161288"/>
            <a:ext cx="3081528" cy="106070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&lt;ul id="order-list"&gt;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&lt;li&gt;Masala chai&lt;/li&gt;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&lt;li&gt;Vegetable sandwich&lt;/li&gt;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&lt;/ul&gt;</a:t>
            </a:r>
            <a:endParaRPr lang="en-US" sz="1088" dirty="0"/>
          </a:p>
        </p:txBody>
      </p:sp>
      <p:sp>
        <p:nvSpPr>
          <p:cNvPr id="5" name="Shape 3"/>
          <p:cNvSpPr/>
          <p:nvPr/>
        </p:nvSpPr>
        <p:spPr>
          <a:xfrm>
            <a:off x="4572000" y="1097280"/>
            <a:ext cx="3291840" cy="822960"/>
          </a:xfrm>
          <a:prstGeom prst="rect">
            <a:avLst/>
          </a:prstGeom>
          <a:solidFill>
            <a:srgbClr val="0F172A"/>
          </a:solidFill>
          <a:ln w="12700">
            <a:solidFill>
              <a:srgbClr val="0F172A"/>
            </a:solidFill>
            <a:prstDash val="solid"/>
          </a:ln>
        </p:spPr>
      </p:sp>
      <p:sp>
        <p:nvSpPr>
          <p:cNvPr id="6" name="Text 4"/>
          <p:cNvSpPr/>
          <p:nvPr/>
        </p:nvSpPr>
        <p:spPr>
          <a:xfrm>
            <a:off x="4700016" y="1207008"/>
            <a:ext cx="3035808" cy="60350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const firstOrder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orderList.querySelector("li");</a:t>
            </a:r>
            <a:endParaRPr lang="en-US" sz="1088" dirty="0"/>
          </a:p>
        </p:txBody>
      </p:sp>
      <p:sp>
        <p:nvSpPr>
          <p:cNvPr id="7" name="Shape 5"/>
          <p:cNvSpPr/>
          <p:nvPr/>
        </p:nvSpPr>
        <p:spPr>
          <a:xfrm>
            <a:off x="4572000" y="2331720"/>
            <a:ext cx="3291840" cy="566928"/>
          </a:xfrm>
          <a:prstGeom prst="roundRect">
            <a:avLst>
              <a:gd name="adj" fmla="val 8065"/>
            </a:avLst>
          </a:prstGeom>
          <a:solidFill>
            <a:srgbClr val="DCFCE7"/>
          </a:solidFill>
          <a:ln w="12700">
            <a:solidFill>
              <a:srgbClr val="CBD5E1"/>
            </a:solidFill>
            <a:prstDash val="solid"/>
          </a:ln>
        </p:spPr>
      </p:sp>
      <p:sp>
        <p:nvSpPr>
          <p:cNvPr id="8" name="Text 6"/>
          <p:cNvSpPr/>
          <p:nvPr/>
        </p:nvSpPr>
        <p:spPr>
          <a:xfrm>
            <a:off x="4672584" y="2404872"/>
            <a:ext cx="3090672" cy="420624"/>
          </a:xfrm>
          <a:prstGeom prst="rect">
            <a:avLst/>
          </a:prstGeom>
          <a:noFill/>
          <a:ln/>
        </p:spPr>
        <p:txBody>
          <a:bodyPr wrap="square" lIns="0" tIns="0" rIns="0" bIns="0" rtlCol="0" anchor="ctr">
            <a:normAutofit/>
          </a:bodyPr>
          <a:lstStyle/>
          <a:p>
            <a:pPr algn="ctr" indent="0" marL="0">
              <a:buNone/>
            </a:pPr>
            <a:r>
              <a:rPr lang="en-US" sz="1080" dirty="0">
                <a:solidFill>
                  <a:srgbClr val="111827"/>
                </a:solidFill>
                <a:latin typeface="Courier New" pitchFamily="34" charset="0"/>
                <a:ea typeface="Courier New" pitchFamily="34" charset="-122"/>
                <a:cs typeface="Courier New" pitchFamily="34" charset="-120"/>
              </a:rPr>
              <a:t>firstOrder refers to</a:t>
            </a:r>
            <a:endParaRPr lang="en-US" sz="1080" dirty="0"/>
          </a:p>
          <a:p>
            <a:pPr algn="ctr" indent="0" marL="0">
              <a:buNone/>
            </a:pPr>
            <a:r>
              <a:rPr lang="en-US" sz="1080" dirty="0">
                <a:solidFill>
                  <a:srgbClr val="111827"/>
                </a:solidFill>
                <a:latin typeface="Courier New" pitchFamily="34" charset="0"/>
                <a:ea typeface="Courier New" pitchFamily="34" charset="-122"/>
                <a:cs typeface="Courier New" pitchFamily="34" charset="-120"/>
              </a:rPr>
              <a:t>&lt;li&gt;Masala chai&lt;/li&gt;</a:t>
            </a:r>
            <a:endParaRPr lang="en-US" sz="1080" dirty="0"/>
          </a:p>
        </p:txBody>
      </p:sp>
      <p:sp>
        <p:nvSpPr>
          <p:cNvPr id="9" name="Text 7"/>
          <p:cNvSpPr/>
          <p:nvPr/>
        </p:nvSpPr>
        <p:spPr>
          <a:xfrm>
            <a:off x="1097280" y="3520440"/>
            <a:ext cx="6766560" cy="502920"/>
          </a:xfrm>
          <a:prstGeom prst="rect">
            <a:avLst/>
          </a:prstGeom>
          <a:noFill/>
          <a:ln/>
        </p:spPr>
        <p:txBody>
          <a:bodyPr wrap="square" lIns="635" tIns="635" rIns="635" bIns="635" rtlCol="0" anchor="t">
            <a:normAutofit/>
          </a:bodyPr>
          <a:lstStyle/>
          <a:p>
            <a:pPr algn="ctr" indent="0" marL="0">
              <a:lnSpc>
                <a:spcPct val="105000"/>
              </a:lnSpc>
              <a:buNone/>
            </a:pPr>
            <a:r>
              <a:rPr lang="en-US" sz="1280" dirty="0">
                <a:solidFill>
                  <a:srgbClr val="334155"/>
                </a:solidFill>
                <a:latin typeface="Arial" pitchFamily="34" charset="0"/>
                <a:ea typeface="Arial" pitchFamily="34" charset="-122"/>
                <a:cs typeface="Arial" pitchFamily="34" charset="-120"/>
              </a:rPr>
              <a:t>querySelector("li") searches inside orderList. It returns the first matching li or null when the list is empty.</a:t>
            </a:r>
            <a:endParaRPr lang="en-US" sz="1280" dirty="0"/>
          </a:p>
        </p:txBody>
      </p:sp>
      <p:sp>
        <p:nvSpPr>
          <p:cNvPr id="10" name="Shape 8"/>
          <p:cNvSpPr/>
          <p:nvPr/>
        </p:nvSpPr>
        <p:spPr>
          <a:xfrm>
            <a:off x="4069080" y="1737360"/>
            <a:ext cx="457200" cy="868680"/>
          </a:xfrm>
          <a:prstGeom prst="line">
            <a:avLst/>
          </a:prstGeom>
          <a:noFill/>
          <a:ln w="15875">
            <a:solidFill>
              <a:srgbClr val="2563EB"/>
            </a:solidFill>
            <a:prstDash val="solid"/>
            <a:headEnd type="none"/>
            <a:tailEnd type="triangle"/>
          </a:ln>
        </p:spPr>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Remove the order only when it exists</a:t>
            </a:r>
            <a:endParaRPr lang="en-US" sz="2100" dirty="0"/>
          </a:p>
        </p:txBody>
      </p:sp>
      <p:sp>
        <p:nvSpPr>
          <p:cNvPr id="4" name="Shape 1"/>
          <p:cNvSpPr/>
          <p:nvPr/>
        </p:nvSpPr>
        <p:spPr>
          <a:xfrm>
            <a:off x="685800" y="868680"/>
            <a:ext cx="4846320" cy="3611880"/>
          </a:xfrm>
          <a:prstGeom prst="rect">
            <a:avLst/>
          </a:prstGeom>
          <a:solidFill>
            <a:srgbClr val="0F172A"/>
          </a:solidFill>
          <a:ln w="12700">
            <a:solidFill>
              <a:srgbClr val="0F172A"/>
            </a:solidFill>
            <a:prstDash val="solid"/>
          </a:ln>
        </p:spPr>
      </p:sp>
      <p:sp>
        <p:nvSpPr>
          <p:cNvPr id="5" name="Text 2"/>
          <p:cNvSpPr/>
          <p:nvPr/>
        </p:nvSpPr>
        <p:spPr>
          <a:xfrm>
            <a:off x="813816" y="978408"/>
            <a:ext cx="4590288" cy="339242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function handleServeNext()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const firstOrder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orderList.querySelector("li");</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if (firstOrder)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firstOrder.remove();</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statusMessage.textContent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"Next order served";</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 else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statusMessage.textContent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"No orders to serve";</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6" name="Shape 3"/>
          <p:cNvSpPr/>
          <p:nvPr/>
        </p:nvSpPr>
        <p:spPr>
          <a:xfrm>
            <a:off x="5760720" y="1188720"/>
            <a:ext cx="2560320" cy="914400"/>
          </a:xfrm>
          <a:prstGeom prst="roundRect">
            <a:avLst>
              <a:gd name="adj" fmla="val 5000"/>
            </a:avLst>
          </a:prstGeom>
          <a:solidFill>
            <a:srgbClr val="DCFCE7"/>
          </a:solidFill>
          <a:ln w="12700">
            <a:solidFill>
              <a:srgbClr val="CBD5E1"/>
            </a:solidFill>
            <a:prstDash val="solid"/>
          </a:ln>
        </p:spPr>
      </p:sp>
      <p:sp>
        <p:nvSpPr>
          <p:cNvPr id="7" name="Text 4"/>
          <p:cNvSpPr/>
          <p:nvPr/>
        </p:nvSpPr>
        <p:spPr>
          <a:xfrm>
            <a:off x="5861304" y="1261872"/>
            <a:ext cx="2359152" cy="768096"/>
          </a:xfrm>
          <a:prstGeom prst="rect">
            <a:avLst/>
          </a:prstGeom>
          <a:noFill/>
          <a:ln/>
        </p:spPr>
        <p:txBody>
          <a:bodyPr wrap="square" lIns="0" tIns="0" rIns="0" bIns="0" rtlCol="0" anchor="ctr">
            <a:normAutofit/>
          </a:bodyPr>
          <a:lstStyle/>
          <a:p>
            <a:pPr algn="ctr" indent="0" marL="0">
              <a:buNone/>
            </a:pPr>
            <a:r>
              <a:rPr lang="en-US" sz="1100" dirty="0">
                <a:solidFill>
                  <a:srgbClr val="111827"/>
                </a:solidFill>
                <a:latin typeface="Arial" pitchFamily="34" charset="0"/>
                <a:ea typeface="Arial" pitchFamily="34" charset="-122"/>
                <a:cs typeface="Arial" pitchFamily="34" charset="-120"/>
              </a:rPr>
              <a:t>When an order exists</a:t>
            </a:r>
            <a:endParaRPr lang="en-US" sz="1100" dirty="0"/>
          </a:p>
          <a:p>
            <a:pPr algn="ctr" indent="0" marL="0">
              <a:buNone/>
            </a:pPr>
            <a:r>
              <a:rPr lang="en-US" sz="1100" dirty="0">
                <a:solidFill>
                  <a:srgbClr val="111827"/>
                </a:solidFill>
                <a:latin typeface="Arial" pitchFamily="34" charset="0"/>
                <a:ea typeface="Arial" pitchFamily="34" charset="-122"/>
                <a:cs typeface="Arial" pitchFamily="34" charset="-120"/>
              </a:rPr>
              <a:t>The first li is removed.</a:t>
            </a:r>
            <a:endParaRPr lang="en-US" sz="1100" dirty="0"/>
          </a:p>
          <a:p>
            <a:pPr algn="ctr" indent="0" marL="0">
              <a:buNone/>
            </a:pPr>
            <a:r>
              <a:rPr lang="en-US" sz="1100" dirty="0">
                <a:solidFill>
                  <a:srgbClr val="111827"/>
                </a:solidFill>
                <a:latin typeface="Arial" pitchFamily="34" charset="0"/>
                <a:ea typeface="Arial" pitchFamily="34" charset="-122"/>
                <a:cs typeface="Arial" pitchFamily="34" charset="-120"/>
              </a:rPr>
              <a:t>Status: Next order served</a:t>
            </a:r>
            <a:endParaRPr lang="en-US" sz="1100" dirty="0"/>
          </a:p>
        </p:txBody>
      </p:sp>
      <p:sp>
        <p:nvSpPr>
          <p:cNvPr id="8" name="Shape 5"/>
          <p:cNvSpPr/>
          <p:nvPr/>
        </p:nvSpPr>
        <p:spPr>
          <a:xfrm>
            <a:off x="5760720" y="2514600"/>
            <a:ext cx="2560320" cy="960120"/>
          </a:xfrm>
          <a:prstGeom prst="roundRect">
            <a:avLst>
              <a:gd name="adj" fmla="val 4762"/>
            </a:avLst>
          </a:prstGeom>
          <a:solidFill>
            <a:srgbClr val="FEF3C7"/>
          </a:solidFill>
          <a:ln w="12700">
            <a:solidFill>
              <a:srgbClr val="CBD5E1"/>
            </a:solidFill>
            <a:prstDash val="solid"/>
          </a:ln>
        </p:spPr>
      </p:sp>
      <p:sp>
        <p:nvSpPr>
          <p:cNvPr id="9" name="Text 6"/>
          <p:cNvSpPr/>
          <p:nvPr/>
        </p:nvSpPr>
        <p:spPr>
          <a:xfrm>
            <a:off x="5861304" y="2587752"/>
            <a:ext cx="2359152" cy="813816"/>
          </a:xfrm>
          <a:prstGeom prst="rect">
            <a:avLst/>
          </a:prstGeom>
          <a:noFill/>
          <a:ln/>
        </p:spPr>
        <p:txBody>
          <a:bodyPr wrap="square" lIns="0" tIns="0" rIns="0" bIns="0" rtlCol="0" anchor="ctr">
            <a:normAutofit/>
          </a:bodyPr>
          <a:lstStyle/>
          <a:p>
            <a:pPr algn="ctr" indent="0" marL="0">
              <a:buNone/>
            </a:pPr>
            <a:r>
              <a:rPr lang="en-US" sz="1100" dirty="0">
                <a:solidFill>
                  <a:srgbClr val="111827"/>
                </a:solidFill>
                <a:latin typeface="Arial" pitchFamily="34" charset="0"/>
                <a:ea typeface="Arial" pitchFamily="34" charset="-122"/>
                <a:cs typeface="Arial" pitchFamily="34" charset="-120"/>
              </a:rPr>
              <a:t>When the list is empty</a:t>
            </a:r>
            <a:endParaRPr lang="en-US" sz="1100" dirty="0"/>
          </a:p>
          <a:p>
            <a:pPr algn="ctr" indent="0" marL="0">
              <a:buNone/>
            </a:pPr>
            <a:r>
              <a:rPr lang="en-US" sz="1100" dirty="0">
                <a:solidFill>
                  <a:srgbClr val="111827"/>
                </a:solidFill>
                <a:latin typeface="Arial" pitchFamily="34" charset="0"/>
                <a:ea typeface="Arial" pitchFamily="34" charset="-122"/>
                <a:cs typeface="Arial" pitchFamily="34" charset="-120"/>
              </a:rPr>
              <a:t>firstOrder is null.</a:t>
            </a:r>
            <a:endParaRPr lang="en-US" sz="1100" dirty="0"/>
          </a:p>
          <a:p>
            <a:pPr algn="ctr" indent="0" marL="0">
              <a:buNone/>
            </a:pPr>
            <a:r>
              <a:rPr lang="en-US" sz="1100" dirty="0">
                <a:solidFill>
                  <a:srgbClr val="111827"/>
                </a:solidFill>
                <a:latin typeface="Arial" pitchFamily="34" charset="0"/>
                <a:ea typeface="Arial" pitchFamily="34" charset="-122"/>
                <a:cs typeface="Arial" pitchFamily="34" charset="-120"/>
              </a:rPr>
              <a:t>Status: No orders to serve</a:t>
            </a:r>
            <a:endParaRPr lang="en-US" sz="110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Compare textContent and innerHTML</a:t>
            </a:r>
            <a:endParaRPr lang="en-US" sz="2100" dirty="0"/>
          </a:p>
        </p:txBody>
      </p:sp>
      <p:sp>
        <p:nvSpPr>
          <p:cNvPr id="4" name="Shape 1"/>
          <p:cNvSpPr/>
          <p:nvPr/>
        </p:nvSpPr>
        <p:spPr>
          <a:xfrm>
            <a:off x="777240" y="1005840"/>
            <a:ext cx="3657600" cy="292608"/>
          </a:xfrm>
          <a:prstGeom prst="roundRect">
            <a:avLst>
              <a:gd name="adj" fmla="val 15625"/>
            </a:avLst>
          </a:prstGeom>
          <a:solidFill>
            <a:srgbClr val="EFF6FF"/>
          </a:solidFill>
          <a:ln w="12700">
            <a:solidFill>
              <a:srgbClr val="CBD5E1"/>
            </a:solidFill>
            <a:prstDash val="solid"/>
          </a:ln>
        </p:spPr>
      </p:sp>
      <p:sp>
        <p:nvSpPr>
          <p:cNvPr id="5" name="Text 2"/>
          <p:cNvSpPr/>
          <p:nvPr/>
        </p:nvSpPr>
        <p:spPr>
          <a:xfrm>
            <a:off x="877824" y="1078992"/>
            <a:ext cx="3456432" cy="146304"/>
          </a:xfrm>
          <a:prstGeom prst="rect">
            <a:avLst/>
          </a:prstGeom>
          <a:noFill/>
          <a:ln/>
        </p:spPr>
        <p:txBody>
          <a:bodyPr wrap="square" lIns="0" tIns="0" rIns="0" bIns="0" rtlCol="0" anchor="ctr">
            <a:normAutofit/>
          </a:bodyPr>
          <a:lstStyle/>
          <a:p>
            <a:pPr algn="ctr" indent="0" marL="0">
              <a:buNone/>
            </a:pPr>
            <a:r>
              <a:rPr lang="en-US" sz="1240" b="1" dirty="0">
                <a:solidFill>
                  <a:srgbClr val="111827"/>
                </a:solidFill>
                <a:latin typeface="Arial" pitchFamily="34" charset="0"/>
                <a:ea typeface="Arial" pitchFamily="34" charset="-122"/>
                <a:cs typeface="Arial" pitchFamily="34" charset="-120"/>
              </a:rPr>
              <a:t>Display a string as text</a:t>
            </a:r>
            <a:endParaRPr lang="en-US" sz="1240" dirty="0"/>
          </a:p>
        </p:txBody>
      </p:sp>
      <p:sp>
        <p:nvSpPr>
          <p:cNvPr id="6" name="Shape 3"/>
          <p:cNvSpPr/>
          <p:nvPr/>
        </p:nvSpPr>
        <p:spPr>
          <a:xfrm>
            <a:off x="777240" y="1508760"/>
            <a:ext cx="3657600" cy="868680"/>
          </a:xfrm>
          <a:prstGeom prst="rect">
            <a:avLst/>
          </a:prstGeom>
          <a:solidFill>
            <a:srgbClr val="0F172A"/>
          </a:solidFill>
          <a:ln w="12700">
            <a:solidFill>
              <a:srgbClr val="0F172A"/>
            </a:solidFill>
            <a:prstDash val="solid"/>
          </a:ln>
        </p:spPr>
      </p:sp>
      <p:sp>
        <p:nvSpPr>
          <p:cNvPr id="7" name="Text 4"/>
          <p:cNvSpPr/>
          <p:nvPr/>
        </p:nvSpPr>
        <p:spPr>
          <a:xfrm>
            <a:off x="905256" y="1618488"/>
            <a:ext cx="3401568" cy="64922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statusMessage.textContent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"&lt;strong&gt;Order ready&lt;/strong&gt;";</a:t>
            </a:r>
            <a:endParaRPr lang="en-US" sz="1088" dirty="0"/>
          </a:p>
        </p:txBody>
      </p:sp>
      <p:sp>
        <p:nvSpPr>
          <p:cNvPr id="8" name="Shape 5"/>
          <p:cNvSpPr/>
          <p:nvPr/>
        </p:nvSpPr>
        <p:spPr>
          <a:xfrm>
            <a:off x="777240" y="2651760"/>
            <a:ext cx="3657600" cy="457200"/>
          </a:xfrm>
          <a:prstGeom prst="roundRect">
            <a:avLst>
              <a:gd name="adj" fmla="val 10000"/>
            </a:avLst>
          </a:prstGeom>
          <a:solidFill>
            <a:srgbClr val="F3F4F6"/>
          </a:solidFill>
          <a:ln w="12700">
            <a:solidFill>
              <a:srgbClr val="CBD5E1"/>
            </a:solidFill>
            <a:prstDash val="solid"/>
          </a:ln>
        </p:spPr>
      </p:sp>
      <p:sp>
        <p:nvSpPr>
          <p:cNvPr id="9" name="Text 6"/>
          <p:cNvSpPr/>
          <p:nvPr/>
        </p:nvSpPr>
        <p:spPr>
          <a:xfrm>
            <a:off x="877824" y="2724912"/>
            <a:ext cx="3456432" cy="310896"/>
          </a:xfrm>
          <a:prstGeom prst="rect">
            <a:avLst/>
          </a:prstGeom>
          <a:noFill/>
          <a:ln/>
        </p:spPr>
        <p:txBody>
          <a:bodyPr wrap="square" lIns="0" tIns="0" rIns="0" bIns="0" rtlCol="0" anchor="ctr">
            <a:normAutofit/>
          </a:bodyPr>
          <a:lstStyle/>
          <a:p>
            <a:pPr algn="ctr" indent="0" marL="0">
              <a:buNone/>
            </a:pPr>
            <a:r>
              <a:rPr lang="en-US" sz="1080" dirty="0">
                <a:solidFill>
                  <a:srgbClr val="111827"/>
                </a:solidFill>
                <a:latin typeface="Courier New" pitchFamily="34" charset="0"/>
                <a:ea typeface="Courier New" pitchFamily="34" charset="-122"/>
                <a:cs typeface="Courier New" pitchFamily="34" charset="-120"/>
              </a:rPr>
              <a:t>&lt;strong&gt;Order ready&lt;/strong&gt;</a:t>
            </a:r>
            <a:endParaRPr lang="en-US" sz="1080" dirty="0"/>
          </a:p>
        </p:txBody>
      </p:sp>
      <p:sp>
        <p:nvSpPr>
          <p:cNvPr id="10" name="Shape 7"/>
          <p:cNvSpPr/>
          <p:nvPr/>
        </p:nvSpPr>
        <p:spPr>
          <a:xfrm>
            <a:off x="4709160" y="1005840"/>
            <a:ext cx="3657600" cy="292608"/>
          </a:xfrm>
          <a:prstGeom prst="roundRect">
            <a:avLst>
              <a:gd name="adj" fmla="val 15625"/>
            </a:avLst>
          </a:prstGeom>
          <a:solidFill>
            <a:srgbClr val="F5F3FF"/>
          </a:solidFill>
          <a:ln w="12700">
            <a:solidFill>
              <a:srgbClr val="CBD5E1"/>
            </a:solidFill>
            <a:prstDash val="solid"/>
          </a:ln>
        </p:spPr>
      </p:sp>
      <p:sp>
        <p:nvSpPr>
          <p:cNvPr id="11" name="Text 8"/>
          <p:cNvSpPr/>
          <p:nvPr/>
        </p:nvSpPr>
        <p:spPr>
          <a:xfrm>
            <a:off x="4809744" y="1078992"/>
            <a:ext cx="3456432" cy="146304"/>
          </a:xfrm>
          <a:prstGeom prst="rect">
            <a:avLst/>
          </a:prstGeom>
          <a:noFill/>
          <a:ln/>
        </p:spPr>
        <p:txBody>
          <a:bodyPr wrap="square" lIns="0" tIns="0" rIns="0" bIns="0" rtlCol="0" anchor="ctr">
            <a:normAutofit/>
          </a:bodyPr>
          <a:lstStyle/>
          <a:p>
            <a:pPr algn="ctr" indent="0" marL="0">
              <a:buNone/>
            </a:pPr>
            <a:r>
              <a:rPr lang="en-US" sz="1240" b="1" dirty="0">
                <a:solidFill>
                  <a:srgbClr val="111827"/>
                </a:solidFill>
                <a:latin typeface="Arial" pitchFamily="34" charset="0"/>
                <a:ea typeface="Arial" pitchFamily="34" charset="-122"/>
                <a:cs typeface="Arial" pitchFamily="34" charset="-120"/>
              </a:rPr>
              <a:t>Parse controlled markup</a:t>
            </a:r>
            <a:endParaRPr lang="en-US" sz="1240" dirty="0"/>
          </a:p>
        </p:txBody>
      </p:sp>
      <p:sp>
        <p:nvSpPr>
          <p:cNvPr id="12" name="Shape 9"/>
          <p:cNvSpPr/>
          <p:nvPr/>
        </p:nvSpPr>
        <p:spPr>
          <a:xfrm>
            <a:off x="4709160" y="1508760"/>
            <a:ext cx="3657600" cy="868680"/>
          </a:xfrm>
          <a:prstGeom prst="rect">
            <a:avLst/>
          </a:prstGeom>
          <a:solidFill>
            <a:srgbClr val="0F172A"/>
          </a:solidFill>
          <a:ln w="12700">
            <a:solidFill>
              <a:srgbClr val="0F172A"/>
            </a:solidFill>
            <a:prstDash val="solid"/>
          </a:ln>
        </p:spPr>
      </p:sp>
      <p:sp>
        <p:nvSpPr>
          <p:cNvPr id="13" name="Text 10"/>
          <p:cNvSpPr/>
          <p:nvPr/>
        </p:nvSpPr>
        <p:spPr>
          <a:xfrm>
            <a:off x="4837176" y="1618488"/>
            <a:ext cx="3401568" cy="64922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statusMessage.innerHTML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"&lt;strong&gt;Order ready&lt;/strong&gt;";</a:t>
            </a:r>
            <a:endParaRPr lang="en-US" sz="1088" dirty="0"/>
          </a:p>
        </p:txBody>
      </p:sp>
      <p:sp>
        <p:nvSpPr>
          <p:cNvPr id="14" name="Shape 11"/>
          <p:cNvSpPr/>
          <p:nvPr/>
        </p:nvSpPr>
        <p:spPr>
          <a:xfrm>
            <a:off x="4709160" y="2651760"/>
            <a:ext cx="3657600" cy="457200"/>
          </a:xfrm>
          <a:prstGeom prst="roundRect">
            <a:avLst>
              <a:gd name="adj" fmla="val 10000"/>
            </a:avLst>
          </a:prstGeom>
          <a:solidFill>
            <a:srgbClr val="F3F4F6"/>
          </a:solidFill>
          <a:ln w="12700">
            <a:solidFill>
              <a:srgbClr val="CBD5E1"/>
            </a:solidFill>
            <a:prstDash val="solid"/>
          </a:ln>
        </p:spPr>
      </p:sp>
      <p:sp>
        <p:nvSpPr>
          <p:cNvPr id="15" name="Text 12"/>
          <p:cNvSpPr/>
          <p:nvPr/>
        </p:nvSpPr>
        <p:spPr>
          <a:xfrm>
            <a:off x="4809744" y="2724912"/>
            <a:ext cx="3456432" cy="310896"/>
          </a:xfrm>
          <a:prstGeom prst="rect">
            <a:avLst/>
          </a:prstGeom>
          <a:noFill/>
          <a:ln/>
        </p:spPr>
        <p:txBody>
          <a:bodyPr wrap="square" lIns="0" tIns="0" rIns="0" bIns="0" rtlCol="0" anchor="ctr">
            <a:normAutofit/>
          </a:bodyPr>
          <a:lstStyle/>
          <a:p>
            <a:pPr algn="ctr" indent="0" marL="0">
              <a:buNone/>
            </a:pPr>
            <a:r>
              <a:rPr lang="en-US" sz="1250" b="1" dirty="0">
                <a:solidFill>
                  <a:srgbClr val="111827"/>
                </a:solidFill>
                <a:latin typeface="Arial" pitchFamily="34" charset="0"/>
                <a:ea typeface="Arial" pitchFamily="34" charset="-122"/>
                <a:cs typeface="Arial" pitchFamily="34" charset="-120"/>
              </a:rPr>
              <a:t>Order ready</a:t>
            </a:r>
            <a:endParaRPr lang="en-US" sz="1250" dirty="0"/>
          </a:p>
        </p:txBody>
      </p:sp>
      <p:sp>
        <p:nvSpPr>
          <p:cNvPr id="16" name="Shape 13"/>
          <p:cNvSpPr/>
          <p:nvPr/>
        </p:nvSpPr>
        <p:spPr>
          <a:xfrm>
            <a:off x="1188720" y="3840480"/>
            <a:ext cx="6766560" cy="411480"/>
          </a:xfrm>
          <a:prstGeom prst="roundRect">
            <a:avLst>
              <a:gd name="adj" fmla="val 11111"/>
            </a:avLst>
          </a:prstGeom>
          <a:solidFill>
            <a:srgbClr val="FEF3C7"/>
          </a:solidFill>
          <a:ln w="12700">
            <a:solidFill>
              <a:srgbClr val="CBD5E1"/>
            </a:solidFill>
            <a:prstDash val="solid"/>
          </a:ln>
        </p:spPr>
      </p:sp>
      <p:sp>
        <p:nvSpPr>
          <p:cNvPr id="17" name="Text 14"/>
          <p:cNvSpPr/>
          <p:nvPr/>
        </p:nvSpPr>
        <p:spPr>
          <a:xfrm>
            <a:off x="1289304" y="3913632"/>
            <a:ext cx="6565392" cy="265176"/>
          </a:xfrm>
          <a:prstGeom prst="rect">
            <a:avLst/>
          </a:prstGeom>
          <a:noFill/>
          <a:ln/>
        </p:spPr>
        <p:txBody>
          <a:bodyPr wrap="square" lIns="0" tIns="0" rIns="0" bIns="0" rtlCol="0" anchor="ctr">
            <a:normAutofit/>
          </a:bodyPr>
          <a:lstStyle/>
          <a:p>
            <a:pPr algn="ctr" indent="0" marL="0">
              <a:buNone/>
            </a:pPr>
            <a:r>
              <a:rPr lang="en-US" sz="1100" dirty="0">
                <a:solidFill>
                  <a:srgbClr val="111827"/>
                </a:solidFill>
                <a:latin typeface="Arial" pitchFamily="34" charset="0"/>
                <a:ea typeface="Arial" pitchFamily="34" charset="-122"/>
                <a:cs typeface="Arial" pitchFamily="34" charset="-120"/>
              </a:rPr>
              <a:t>Use textContent for ordinary text. Use innerHTML only for markup controlled by the application. Do not insert untrusted input with innerHTML.</a:t>
            </a:r>
            <a:endParaRPr lang="en-US" sz="110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Checkpoint: Which property matches plain text?</a:t>
            </a:r>
            <a:endParaRPr lang="en-US" sz="2100" dirty="0"/>
          </a:p>
        </p:txBody>
      </p:sp>
      <p:sp>
        <p:nvSpPr>
          <p:cNvPr id="3" name="Shape 1"/>
          <p:cNvSpPr/>
          <p:nvPr/>
        </p:nvSpPr>
        <p:spPr>
          <a:xfrm>
            <a:off x="685800" y="1234440"/>
            <a:ext cx="3886200" cy="2011680"/>
          </a:xfrm>
          <a:prstGeom prst="rect">
            <a:avLst/>
          </a:prstGeom>
          <a:solidFill>
            <a:srgbClr val="0F172A"/>
          </a:solidFill>
          <a:ln w="12700">
            <a:solidFill>
              <a:srgbClr val="0F172A"/>
            </a:solidFill>
            <a:prstDash val="solid"/>
          </a:ln>
        </p:spPr>
      </p:sp>
      <p:sp>
        <p:nvSpPr>
          <p:cNvPr id="4" name="Text 2"/>
          <p:cNvSpPr/>
          <p:nvPr/>
        </p:nvSpPr>
        <p:spPr>
          <a:xfrm>
            <a:off x="813816" y="1344168"/>
            <a:ext cx="3630168" cy="1792224"/>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Courier New" pitchFamily="34" charset="0"/>
                <a:ea typeface="Courier New" pitchFamily="34" charset="-122"/>
                <a:cs typeface="Courier New" pitchFamily="34" charset="-120"/>
              </a:rPr>
              <a:t>const displayName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"Asha Menon";</a:t>
            </a:r>
            <a:endParaRPr lang="en-US" sz="1100" dirty="0"/>
          </a:p>
        </p:txBody>
      </p:sp>
      <p:sp>
        <p:nvSpPr>
          <p:cNvPr id="5" name="Text 3"/>
          <p:cNvSpPr/>
          <p:nvPr/>
        </p:nvSpPr>
        <p:spPr>
          <a:xfrm>
            <a:off x="4892040" y="1143000"/>
            <a:ext cx="3611880" cy="548640"/>
          </a:xfrm>
          <a:prstGeom prst="rect">
            <a:avLst/>
          </a:prstGeom>
          <a:noFill/>
          <a:ln/>
        </p:spPr>
        <p:txBody>
          <a:bodyPr wrap="square" lIns="0" tIns="0" rIns="0" bIns="0" rtlCol="0" anchor="t">
            <a:normAutofit/>
          </a:bodyPr>
          <a:lstStyle/>
          <a:p>
            <a:pPr algn="l" indent="0" marL="0">
              <a:lnSpc>
                <a:spcPct val="105000"/>
              </a:lnSpc>
              <a:buNone/>
            </a:pPr>
            <a:r>
              <a:rPr lang="en-US" sz="1260" b="1" dirty="0">
                <a:solidFill>
                  <a:srgbClr val="111827"/>
                </a:solidFill>
                <a:latin typeface="Arial" pitchFamily="34" charset="0"/>
                <a:ea typeface="Arial" pitchFamily="34" charset="-122"/>
                <a:cs typeface="Arial" pitchFamily="34" charset="-120"/>
              </a:rPr>
              <a:t>A profile page receives the display name as ordinary text. Which update matches the requirement?</a:t>
            </a:r>
            <a:endParaRPr lang="en-US" sz="1260" dirty="0"/>
          </a:p>
        </p:txBody>
      </p:sp>
      <p:sp>
        <p:nvSpPr>
          <p:cNvPr id="6" name="Text 4"/>
          <p:cNvSpPr/>
          <p:nvPr/>
        </p:nvSpPr>
        <p:spPr>
          <a:xfrm>
            <a:off x="4892040" y="1783080"/>
            <a:ext cx="3611880" cy="2103120"/>
          </a:xfrm>
          <a:prstGeom prst="rect">
            <a:avLst/>
          </a:prstGeom>
          <a:noFill/>
          <a:ln/>
        </p:spPr>
        <p:txBody>
          <a:bodyPr wrap="square" lIns="381" tIns="381" rIns="381" bIns="381" rtlCol="0" anchor="t">
            <a:normAutofit/>
          </a:bodyPr>
          <a:lstStyle/>
          <a:p>
            <a:pPr indent="0" marL="0">
              <a:buNone/>
            </a:pPr>
            <a:r>
              <a:rPr lang="en-US" sz="1200" dirty="0">
                <a:solidFill>
                  <a:srgbClr val="111827"/>
                </a:solidFill>
                <a:latin typeface="Arial" pitchFamily="34" charset="0"/>
                <a:ea typeface="Arial" pitchFamily="34" charset="-122"/>
                <a:cs typeface="Arial" pitchFamily="34" charset="-120"/>
              </a:rPr>
              <a:t>A. profileName.innerHTML = displayName;</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B. profileName.textContent = displayName;</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C. profileName.value = displayName;</a:t>
            </a:r>
            <a:endParaRPr lang="en-US" sz="1200" dirty="0"/>
          </a:p>
          <a:p>
            <a:pPr indent="0" marL="0">
              <a:buNone/>
            </a:pPr>
            <a:r>
              <a:rPr lang="en-US" sz="1200" dirty="0">
                <a:solidFill>
                  <a:srgbClr val="111827"/>
                </a:solidFill>
                <a:latin typeface="Arial" pitchFamily="34" charset="0"/>
                <a:ea typeface="Arial" pitchFamily="34" charset="-122"/>
                <a:cs typeface="Arial" pitchFamily="34" charset="-120"/>
              </a:rPr>
              <a:t>D. profileName.remove();</a:t>
            </a:r>
            <a:endParaRPr lang="en-US" sz="1200" dirty="0"/>
          </a:p>
        </p:txBody>
      </p:sp>
      <p:sp>
        <p:nvSpPr>
          <p:cNvPr id="7" name="Shape 5"/>
          <p:cNvSpPr/>
          <p:nvPr/>
        </p:nvSpPr>
        <p:spPr>
          <a:xfrm>
            <a:off x="685800" y="4160520"/>
            <a:ext cx="7269480" cy="457200"/>
          </a:xfrm>
          <a:prstGeom prst="roundRect">
            <a:avLst>
              <a:gd name="adj" fmla="val 12000"/>
            </a:avLst>
          </a:prstGeom>
          <a:solidFill>
            <a:srgbClr val="DCFCE7"/>
          </a:solidFill>
          <a:ln w="12700">
            <a:solidFill>
              <a:srgbClr val="86EFAC"/>
            </a:solidFill>
            <a:prstDash val="solid"/>
          </a:ln>
        </p:spPr>
      </p:sp>
      <p:sp>
        <p:nvSpPr>
          <p:cNvPr id="8" name="Text 6"/>
          <p:cNvSpPr/>
          <p:nvPr/>
        </p:nvSpPr>
        <p:spPr>
          <a:xfrm>
            <a:off x="795528" y="4224528"/>
            <a:ext cx="7050024" cy="310896"/>
          </a:xfrm>
          <a:prstGeom prst="rect">
            <a:avLst/>
          </a:prstGeom>
          <a:noFill/>
          <a:ln/>
        </p:spPr>
        <p:txBody>
          <a:bodyPr wrap="square" lIns="0" tIns="0" rIns="0" bIns="0" rtlCol="0" anchor="ctr">
            <a:normAutofit/>
          </a:bodyPr>
          <a:lstStyle/>
          <a:p>
            <a:pPr indent="0" marL="0">
              <a:buNone/>
            </a:pPr>
            <a:r>
              <a:rPr lang="en-US" sz="1020" dirty="0">
                <a:solidFill>
                  <a:srgbClr val="111827"/>
                </a:solidFill>
                <a:latin typeface="Arial" pitchFamily="34" charset="0"/>
                <a:ea typeface="Arial" pitchFamily="34" charset="-122"/>
                <a:cs typeface="Arial" pitchFamily="34" charset="-120"/>
              </a:rPr>
              <a:t>Answer: B</a:t>
            </a:r>
            <a:endParaRPr lang="en-US" sz="1020" dirty="0"/>
          </a:p>
          <a:p>
            <a:pPr indent="0" marL="0">
              <a:buNone/>
            </a:pPr>
            <a:r>
              <a:rPr lang="en-US" sz="1020" dirty="0">
                <a:solidFill>
                  <a:srgbClr val="111827"/>
                </a:solidFill>
                <a:latin typeface="Arial" pitchFamily="34" charset="0"/>
                <a:ea typeface="Arial" pitchFamily="34" charset="-122"/>
                <a:cs typeface="Arial" pitchFamily="34" charset="-120"/>
              </a:rPr>
              <a:t>The value is ordinary text, so textContent matches the requirement.</a:t>
            </a:r>
            <a:endParaRPr lang="en-US" sz="102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Build a reading-list manager</a:t>
            </a:r>
            <a:endParaRPr lang="en-US" sz="2100" dirty="0"/>
          </a:p>
        </p:txBody>
      </p:sp>
      <p:sp>
        <p:nvSpPr>
          <p:cNvPr id="3" name="Shape 1"/>
          <p:cNvSpPr/>
          <p:nvPr/>
        </p:nvSpPr>
        <p:spPr>
          <a:xfrm>
            <a:off x="685800" y="822960"/>
            <a:ext cx="2103120" cy="292608"/>
          </a:xfrm>
          <a:prstGeom prst="roundRect">
            <a:avLst>
              <a:gd name="adj" fmla="val 15625"/>
            </a:avLst>
          </a:prstGeom>
          <a:solidFill>
            <a:srgbClr val="FEF3C7"/>
          </a:solidFill>
          <a:ln w="12700">
            <a:solidFill>
              <a:srgbClr val="CBD5E1">
                <a:alpha val="75000"/>
              </a:srgbClr>
            </a:solidFill>
            <a:prstDash val="solid"/>
          </a:ln>
        </p:spPr>
      </p:sp>
      <p:sp>
        <p:nvSpPr>
          <p:cNvPr id="4" name="Text 2"/>
          <p:cNvSpPr/>
          <p:nvPr/>
        </p:nvSpPr>
        <p:spPr>
          <a:xfrm>
            <a:off x="731520" y="850392"/>
            <a:ext cx="2011680" cy="256032"/>
          </a:xfrm>
          <a:prstGeom prst="rect">
            <a:avLst/>
          </a:prstGeom>
          <a:noFill/>
          <a:ln/>
        </p:spPr>
        <p:txBody>
          <a:bodyPr wrap="square" lIns="0" tIns="0" rIns="0" bIns="0" rtlCol="0" anchor="t">
            <a:normAutofit/>
          </a:bodyPr>
          <a:lstStyle/>
          <a:p>
            <a:pPr algn="ctr" indent="0" marL="0">
              <a:lnSpc>
                <a:spcPct val="105000"/>
              </a:lnSpc>
              <a:buNone/>
            </a:pPr>
            <a:r>
              <a:rPr lang="en-US" sz="930" b="1" dirty="0">
                <a:solidFill>
                  <a:srgbClr val="334155"/>
                </a:solidFill>
                <a:latin typeface="Arial" pitchFamily="34" charset="0"/>
                <a:ea typeface="Arial" pitchFamily="34" charset="-122"/>
                <a:cs typeface="Arial" pitchFamily="34" charset="-120"/>
              </a:rPr>
              <a:t>Available coding time: 15 minutes</a:t>
            </a:r>
            <a:endParaRPr lang="en-US" sz="930" dirty="0"/>
          </a:p>
        </p:txBody>
      </p:sp>
      <p:sp>
        <p:nvSpPr>
          <p:cNvPr id="5" name="Shape 3"/>
          <p:cNvSpPr/>
          <p:nvPr/>
        </p:nvSpPr>
        <p:spPr>
          <a:xfrm>
            <a:off x="685800" y="1234440"/>
            <a:ext cx="3337560" cy="2423160"/>
          </a:xfrm>
          <a:prstGeom prst="roundRect">
            <a:avLst>
              <a:gd name="adj" fmla="val 2264"/>
            </a:avLst>
          </a:prstGeom>
          <a:solidFill>
            <a:srgbClr val="FFFFFF"/>
          </a:solidFill>
          <a:ln w="12700">
            <a:solidFill>
              <a:srgbClr val="94A3B8"/>
            </a:solidFill>
            <a:prstDash val="solid"/>
          </a:ln>
        </p:spPr>
      </p:sp>
      <p:sp>
        <p:nvSpPr>
          <p:cNvPr id="6" name="Shape 4"/>
          <p:cNvSpPr/>
          <p:nvPr/>
        </p:nvSpPr>
        <p:spPr>
          <a:xfrm>
            <a:off x="704088" y="1252728"/>
            <a:ext cx="3300984" cy="256032"/>
          </a:xfrm>
          <a:prstGeom prst="rect">
            <a:avLst/>
          </a:prstGeom>
          <a:solidFill>
            <a:srgbClr val="F8FAFC"/>
          </a:solidFill>
          <a:ln w="12700">
            <a:solidFill>
              <a:srgbClr val="F8FAFC"/>
            </a:solidFill>
            <a:prstDash val="solid"/>
          </a:ln>
        </p:spPr>
      </p:sp>
      <p:sp>
        <p:nvSpPr>
          <p:cNvPr id="7" name="Text 5"/>
          <p:cNvSpPr/>
          <p:nvPr/>
        </p:nvSpPr>
        <p:spPr>
          <a:xfrm>
            <a:off x="850392" y="1618488"/>
            <a:ext cx="3008376" cy="228600"/>
          </a:xfrm>
          <a:prstGeom prst="rect">
            <a:avLst/>
          </a:prstGeom>
          <a:noFill/>
          <a:ln/>
        </p:spPr>
        <p:txBody>
          <a:bodyPr wrap="square" lIns="0" tIns="0" rIns="0" bIns="0" rtlCol="0" anchor="t">
            <a:normAutofit/>
          </a:bodyPr>
          <a:lstStyle/>
          <a:p>
            <a:pPr algn="l" indent="0" marL="0">
              <a:lnSpc>
                <a:spcPct val="105000"/>
              </a:lnSpc>
              <a:buNone/>
            </a:pPr>
            <a:r>
              <a:rPr lang="en-US" sz="1280" b="1" dirty="0">
                <a:solidFill>
                  <a:srgbClr val="111827"/>
                </a:solidFill>
                <a:latin typeface="Arial" pitchFamily="34" charset="0"/>
                <a:ea typeface="Arial" pitchFamily="34" charset="-122"/>
                <a:cs typeface="Arial" pitchFamily="34" charset="-120"/>
              </a:rPr>
              <a:t>Reading-list manager</a:t>
            </a:r>
            <a:endParaRPr lang="en-US" sz="1280" dirty="0"/>
          </a:p>
        </p:txBody>
      </p:sp>
      <p:sp>
        <p:nvSpPr>
          <p:cNvPr id="8" name="Shape 6"/>
          <p:cNvSpPr/>
          <p:nvPr/>
        </p:nvSpPr>
        <p:spPr>
          <a:xfrm>
            <a:off x="850392" y="1947672"/>
            <a:ext cx="3008376" cy="329184"/>
          </a:xfrm>
          <a:prstGeom prst="roundRect">
            <a:avLst>
              <a:gd name="adj" fmla="val 13889"/>
            </a:avLst>
          </a:prstGeom>
          <a:solidFill>
            <a:srgbClr val="EFF6FF"/>
          </a:solidFill>
          <a:ln w="12700">
            <a:solidFill>
              <a:srgbClr val="CBD5E1"/>
            </a:solidFill>
            <a:prstDash val="solid"/>
          </a:ln>
        </p:spPr>
      </p:sp>
      <p:sp>
        <p:nvSpPr>
          <p:cNvPr id="9" name="Text 7"/>
          <p:cNvSpPr/>
          <p:nvPr/>
        </p:nvSpPr>
        <p:spPr>
          <a:xfrm>
            <a:off x="950976" y="2020824"/>
            <a:ext cx="2807208" cy="182880"/>
          </a:xfrm>
          <a:prstGeom prst="rect">
            <a:avLst/>
          </a:prstGeom>
          <a:noFill/>
          <a:ln/>
        </p:spPr>
        <p:txBody>
          <a:bodyPr wrap="square" lIns="0" tIns="0" rIns="0" bIns="0" rtlCol="0" anchor="ctr">
            <a:normAutofit/>
          </a:bodyPr>
          <a:lstStyle/>
          <a:p>
            <a:pPr algn="ctr" indent="0" marL="0">
              <a:buNone/>
            </a:pPr>
            <a:r>
              <a:rPr lang="en-US" sz="1080" dirty="0">
                <a:solidFill>
                  <a:srgbClr val="111827"/>
                </a:solidFill>
                <a:latin typeface="Arial" pitchFamily="34" charset="0"/>
                <a:ea typeface="Arial" pitchFamily="34" charset="-122"/>
                <a:cs typeface="Arial" pitchFamily="34" charset="-120"/>
              </a:rPr>
              <a:t>Your reading list has one book.</a:t>
            </a:r>
            <a:endParaRPr lang="en-US" sz="1080" dirty="0"/>
          </a:p>
        </p:txBody>
      </p:sp>
      <p:sp>
        <p:nvSpPr>
          <p:cNvPr id="10" name="Text 8"/>
          <p:cNvSpPr/>
          <p:nvPr/>
        </p:nvSpPr>
        <p:spPr>
          <a:xfrm>
            <a:off x="978408" y="2368296"/>
            <a:ext cx="2752344" cy="201168"/>
          </a:xfrm>
          <a:prstGeom prst="rect">
            <a:avLst/>
          </a:prstGeom>
          <a:noFill/>
          <a:ln/>
        </p:spPr>
        <p:txBody>
          <a:bodyPr wrap="square" lIns="0" tIns="0" rIns="0" bIns="0" rtlCol="0" anchor="t">
            <a:normAutofit/>
          </a:bodyPr>
          <a:lstStyle/>
          <a:p>
            <a:pPr algn="l" indent="0" marL="0">
              <a:lnSpc>
                <a:spcPct val="105000"/>
              </a:lnSpc>
              <a:buNone/>
            </a:pPr>
            <a:r>
              <a:rPr lang="en-US" sz="1080" dirty="0">
                <a:solidFill>
                  <a:srgbClr val="111827"/>
                </a:solidFill>
                <a:latin typeface="Arial" pitchFamily="34" charset="0"/>
                <a:ea typeface="Arial" pitchFamily="34" charset="-122"/>
                <a:cs typeface="Arial" pitchFamily="34" charset="-120"/>
              </a:rPr>
              <a:t>1. Clean Code</a:t>
            </a:r>
            <a:endParaRPr lang="en-US" sz="1080" dirty="0"/>
          </a:p>
        </p:txBody>
      </p:sp>
      <p:sp>
        <p:nvSpPr>
          <p:cNvPr id="11" name="Shape 9"/>
          <p:cNvSpPr/>
          <p:nvPr/>
        </p:nvSpPr>
        <p:spPr>
          <a:xfrm>
            <a:off x="850392" y="3182112"/>
            <a:ext cx="1421892" cy="292608"/>
          </a:xfrm>
          <a:prstGeom prst="roundRect">
            <a:avLst>
              <a:gd name="adj" fmla="val 15625"/>
            </a:avLst>
          </a:prstGeom>
          <a:solidFill>
            <a:srgbClr val="DBEAFE"/>
          </a:solidFill>
          <a:ln w="12700">
            <a:solidFill>
              <a:srgbClr val="93C5FD"/>
            </a:solidFill>
            <a:prstDash val="solid"/>
          </a:ln>
        </p:spPr>
      </p:sp>
      <p:sp>
        <p:nvSpPr>
          <p:cNvPr id="12" name="Text 10"/>
          <p:cNvSpPr/>
          <p:nvPr/>
        </p:nvSpPr>
        <p:spPr>
          <a:xfrm>
            <a:off x="950976" y="3255264"/>
            <a:ext cx="1220724" cy="146304"/>
          </a:xfrm>
          <a:prstGeom prst="rect">
            <a:avLst/>
          </a:prstGeom>
          <a:noFill/>
          <a:ln/>
        </p:spPr>
        <p:txBody>
          <a:bodyPr wrap="square" lIns="0" tIns="0" rIns="0" bIns="0" rtlCol="0" anchor="ctr">
            <a:normAutofit/>
          </a:bodyPr>
          <a:lstStyle/>
          <a:p>
            <a:pPr algn="ctr" indent="0" marL="0">
              <a:buNone/>
            </a:pPr>
            <a:r>
              <a:rPr lang="en-US" sz="980" dirty="0">
                <a:solidFill>
                  <a:srgbClr val="111827"/>
                </a:solidFill>
                <a:latin typeface="Arial" pitchFamily="34" charset="0"/>
                <a:ea typeface="Arial" pitchFamily="34" charset="-122"/>
                <a:cs typeface="Arial" pitchFamily="34" charset="-120"/>
              </a:rPr>
              <a:t>Add book</a:t>
            </a:r>
            <a:endParaRPr lang="en-US" sz="980" dirty="0"/>
          </a:p>
        </p:txBody>
      </p:sp>
      <p:sp>
        <p:nvSpPr>
          <p:cNvPr id="13" name="Shape 11"/>
          <p:cNvSpPr/>
          <p:nvPr/>
        </p:nvSpPr>
        <p:spPr>
          <a:xfrm>
            <a:off x="2436876" y="3182112"/>
            <a:ext cx="1421892" cy="292608"/>
          </a:xfrm>
          <a:prstGeom prst="roundRect">
            <a:avLst>
              <a:gd name="adj" fmla="val 15625"/>
            </a:avLst>
          </a:prstGeom>
          <a:solidFill>
            <a:srgbClr val="F3F4F6"/>
          </a:solidFill>
          <a:ln w="12700">
            <a:solidFill>
              <a:srgbClr val="CBD5E1"/>
            </a:solidFill>
            <a:prstDash val="solid"/>
          </a:ln>
        </p:spPr>
      </p:sp>
      <p:sp>
        <p:nvSpPr>
          <p:cNvPr id="14" name="Text 12"/>
          <p:cNvSpPr/>
          <p:nvPr/>
        </p:nvSpPr>
        <p:spPr>
          <a:xfrm>
            <a:off x="2537460" y="3255264"/>
            <a:ext cx="1220724" cy="146304"/>
          </a:xfrm>
          <a:prstGeom prst="rect">
            <a:avLst/>
          </a:prstGeom>
          <a:noFill/>
          <a:ln/>
        </p:spPr>
        <p:txBody>
          <a:bodyPr wrap="square" lIns="0" tIns="0" rIns="0" bIns="0" rtlCol="0" anchor="ctr">
            <a:normAutofit/>
          </a:bodyPr>
          <a:lstStyle/>
          <a:p>
            <a:pPr algn="ctr" indent="0" marL="0">
              <a:buNone/>
            </a:pPr>
            <a:r>
              <a:rPr lang="en-US" sz="980" dirty="0">
                <a:solidFill>
                  <a:srgbClr val="111827"/>
                </a:solidFill>
                <a:latin typeface="Arial" pitchFamily="34" charset="0"/>
                <a:ea typeface="Arial" pitchFamily="34" charset="-122"/>
                <a:cs typeface="Arial" pitchFamily="34" charset="-120"/>
              </a:rPr>
              <a:t>Remove latest</a:t>
            </a:r>
            <a:endParaRPr lang="en-US" sz="980" dirty="0"/>
          </a:p>
        </p:txBody>
      </p:sp>
      <p:sp>
        <p:nvSpPr>
          <p:cNvPr id="15" name="Shape 13"/>
          <p:cNvSpPr/>
          <p:nvPr/>
        </p:nvSpPr>
        <p:spPr>
          <a:xfrm>
            <a:off x="4343400" y="1234440"/>
            <a:ext cx="3337560" cy="2423160"/>
          </a:xfrm>
          <a:prstGeom prst="roundRect">
            <a:avLst>
              <a:gd name="adj" fmla="val 2264"/>
            </a:avLst>
          </a:prstGeom>
          <a:solidFill>
            <a:srgbClr val="FFFFFF"/>
          </a:solidFill>
          <a:ln w="12700">
            <a:solidFill>
              <a:srgbClr val="94A3B8"/>
            </a:solidFill>
            <a:prstDash val="solid"/>
          </a:ln>
        </p:spPr>
      </p:sp>
      <p:sp>
        <p:nvSpPr>
          <p:cNvPr id="16" name="Shape 14"/>
          <p:cNvSpPr/>
          <p:nvPr/>
        </p:nvSpPr>
        <p:spPr>
          <a:xfrm>
            <a:off x="4361688" y="1252728"/>
            <a:ext cx="3300984" cy="256032"/>
          </a:xfrm>
          <a:prstGeom prst="rect">
            <a:avLst/>
          </a:prstGeom>
          <a:solidFill>
            <a:srgbClr val="F8FAFC"/>
          </a:solidFill>
          <a:ln w="12700">
            <a:solidFill>
              <a:srgbClr val="F8FAFC"/>
            </a:solidFill>
            <a:prstDash val="solid"/>
          </a:ln>
        </p:spPr>
      </p:sp>
      <p:sp>
        <p:nvSpPr>
          <p:cNvPr id="17" name="Text 15"/>
          <p:cNvSpPr/>
          <p:nvPr/>
        </p:nvSpPr>
        <p:spPr>
          <a:xfrm>
            <a:off x="4507992" y="1618488"/>
            <a:ext cx="3008376" cy="228600"/>
          </a:xfrm>
          <a:prstGeom prst="rect">
            <a:avLst/>
          </a:prstGeom>
          <a:noFill/>
          <a:ln/>
        </p:spPr>
        <p:txBody>
          <a:bodyPr wrap="square" lIns="0" tIns="0" rIns="0" bIns="0" rtlCol="0" anchor="t">
            <a:normAutofit/>
          </a:bodyPr>
          <a:lstStyle/>
          <a:p>
            <a:pPr algn="l" indent="0" marL="0">
              <a:lnSpc>
                <a:spcPct val="105000"/>
              </a:lnSpc>
              <a:buNone/>
            </a:pPr>
            <a:r>
              <a:rPr lang="en-US" sz="1280" b="1" dirty="0">
                <a:solidFill>
                  <a:srgbClr val="111827"/>
                </a:solidFill>
                <a:latin typeface="Arial" pitchFamily="34" charset="0"/>
                <a:ea typeface="Arial" pitchFamily="34" charset="-122"/>
                <a:cs typeface="Arial" pitchFamily="34" charset="-120"/>
              </a:rPr>
              <a:t>Reading-list manager</a:t>
            </a:r>
            <a:endParaRPr lang="en-US" sz="1280" dirty="0"/>
          </a:p>
        </p:txBody>
      </p:sp>
      <p:sp>
        <p:nvSpPr>
          <p:cNvPr id="18" name="Shape 16"/>
          <p:cNvSpPr/>
          <p:nvPr/>
        </p:nvSpPr>
        <p:spPr>
          <a:xfrm>
            <a:off x="4507992" y="1947672"/>
            <a:ext cx="3008376" cy="329184"/>
          </a:xfrm>
          <a:prstGeom prst="roundRect">
            <a:avLst>
              <a:gd name="adj" fmla="val 13889"/>
            </a:avLst>
          </a:prstGeom>
          <a:solidFill>
            <a:srgbClr val="DCFCE7"/>
          </a:solidFill>
          <a:ln w="12700">
            <a:solidFill>
              <a:srgbClr val="CBD5E1"/>
            </a:solidFill>
            <a:prstDash val="solid"/>
          </a:ln>
        </p:spPr>
      </p:sp>
      <p:sp>
        <p:nvSpPr>
          <p:cNvPr id="19" name="Text 17"/>
          <p:cNvSpPr/>
          <p:nvPr/>
        </p:nvSpPr>
        <p:spPr>
          <a:xfrm>
            <a:off x="4608576" y="2020824"/>
            <a:ext cx="2807208" cy="182880"/>
          </a:xfrm>
          <a:prstGeom prst="rect">
            <a:avLst/>
          </a:prstGeom>
          <a:noFill/>
          <a:ln/>
        </p:spPr>
        <p:txBody>
          <a:bodyPr wrap="square" lIns="0" tIns="0" rIns="0" bIns="0" rtlCol="0" anchor="ctr">
            <a:normAutofit/>
          </a:bodyPr>
          <a:lstStyle/>
          <a:p>
            <a:pPr algn="ctr" indent="0" marL="0">
              <a:buNone/>
            </a:pPr>
            <a:r>
              <a:rPr lang="en-US" sz="1080" dirty="0">
                <a:solidFill>
                  <a:srgbClr val="111827"/>
                </a:solidFill>
                <a:latin typeface="Arial" pitchFamily="34" charset="0"/>
                <a:ea typeface="Arial" pitchFamily="34" charset="-122"/>
                <a:cs typeface="Arial" pitchFamily="34" charset="-120"/>
              </a:rPr>
              <a:t>A book was added.</a:t>
            </a:r>
            <a:endParaRPr lang="en-US" sz="1080" dirty="0"/>
          </a:p>
        </p:txBody>
      </p:sp>
      <p:sp>
        <p:nvSpPr>
          <p:cNvPr id="20" name="Text 18"/>
          <p:cNvSpPr/>
          <p:nvPr/>
        </p:nvSpPr>
        <p:spPr>
          <a:xfrm>
            <a:off x="4636008" y="2368296"/>
            <a:ext cx="2752344" cy="201168"/>
          </a:xfrm>
          <a:prstGeom prst="rect">
            <a:avLst/>
          </a:prstGeom>
          <a:noFill/>
          <a:ln/>
        </p:spPr>
        <p:txBody>
          <a:bodyPr wrap="square" lIns="0" tIns="0" rIns="0" bIns="0" rtlCol="0" anchor="t">
            <a:normAutofit/>
          </a:bodyPr>
          <a:lstStyle/>
          <a:p>
            <a:pPr algn="l" indent="0" marL="0">
              <a:lnSpc>
                <a:spcPct val="105000"/>
              </a:lnSpc>
              <a:buNone/>
            </a:pPr>
            <a:r>
              <a:rPr lang="en-US" sz="1080" dirty="0">
                <a:solidFill>
                  <a:srgbClr val="111827"/>
                </a:solidFill>
                <a:latin typeface="Arial" pitchFamily="34" charset="0"/>
                <a:ea typeface="Arial" pitchFamily="34" charset="-122"/>
                <a:cs typeface="Arial" pitchFamily="34" charset="-120"/>
              </a:rPr>
              <a:t>1. Clean Code</a:t>
            </a:r>
            <a:endParaRPr lang="en-US" sz="1080" dirty="0"/>
          </a:p>
        </p:txBody>
      </p:sp>
      <p:sp>
        <p:nvSpPr>
          <p:cNvPr id="21" name="Text 19"/>
          <p:cNvSpPr/>
          <p:nvPr/>
        </p:nvSpPr>
        <p:spPr>
          <a:xfrm>
            <a:off x="4636008" y="2615184"/>
            <a:ext cx="2752344" cy="201168"/>
          </a:xfrm>
          <a:prstGeom prst="rect">
            <a:avLst/>
          </a:prstGeom>
          <a:noFill/>
          <a:ln/>
        </p:spPr>
        <p:txBody>
          <a:bodyPr wrap="square" lIns="0" tIns="0" rIns="0" bIns="0" rtlCol="0" anchor="t">
            <a:normAutofit/>
          </a:bodyPr>
          <a:lstStyle/>
          <a:p>
            <a:pPr algn="l" indent="0" marL="0">
              <a:lnSpc>
                <a:spcPct val="105000"/>
              </a:lnSpc>
              <a:buNone/>
            </a:pPr>
            <a:r>
              <a:rPr lang="en-US" sz="1080" dirty="0">
                <a:solidFill>
                  <a:srgbClr val="111827"/>
                </a:solidFill>
                <a:latin typeface="Arial" pitchFamily="34" charset="0"/>
                <a:ea typeface="Arial" pitchFamily="34" charset="-122"/>
                <a:cs typeface="Arial" pitchFamily="34" charset="-120"/>
              </a:rPr>
              <a:t>2. The Design of Everyday Things</a:t>
            </a:r>
            <a:endParaRPr lang="en-US" sz="1080" dirty="0"/>
          </a:p>
        </p:txBody>
      </p:sp>
      <p:sp>
        <p:nvSpPr>
          <p:cNvPr id="22" name="Shape 20"/>
          <p:cNvSpPr/>
          <p:nvPr/>
        </p:nvSpPr>
        <p:spPr>
          <a:xfrm>
            <a:off x="4507992" y="3182112"/>
            <a:ext cx="1421892" cy="292608"/>
          </a:xfrm>
          <a:prstGeom prst="roundRect">
            <a:avLst>
              <a:gd name="adj" fmla="val 15625"/>
            </a:avLst>
          </a:prstGeom>
          <a:solidFill>
            <a:srgbClr val="DBEAFE"/>
          </a:solidFill>
          <a:ln w="12700">
            <a:solidFill>
              <a:srgbClr val="93C5FD"/>
            </a:solidFill>
            <a:prstDash val="solid"/>
          </a:ln>
        </p:spPr>
      </p:sp>
      <p:sp>
        <p:nvSpPr>
          <p:cNvPr id="23" name="Text 21"/>
          <p:cNvSpPr/>
          <p:nvPr/>
        </p:nvSpPr>
        <p:spPr>
          <a:xfrm>
            <a:off x="4608576" y="3255264"/>
            <a:ext cx="1220724" cy="146304"/>
          </a:xfrm>
          <a:prstGeom prst="rect">
            <a:avLst/>
          </a:prstGeom>
          <a:noFill/>
          <a:ln/>
        </p:spPr>
        <p:txBody>
          <a:bodyPr wrap="square" lIns="0" tIns="0" rIns="0" bIns="0" rtlCol="0" anchor="ctr">
            <a:normAutofit/>
          </a:bodyPr>
          <a:lstStyle/>
          <a:p>
            <a:pPr algn="ctr" indent="0" marL="0">
              <a:buNone/>
            </a:pPr>
            <a:r>
              <a:rPr lang="en-US" sz="980" dirty="0">
                <a:solidFill>
                  <a:srgbClr val="111827"/>
                </a:solidFill>
                <a:latin typeface="Arial" pitchFamily="34" charset="0"/>
                <a:ea typeface="Arial" pitchFamily="34" charset="-122"/>
                <a:cs typeface="Arial" pitchFamily="34" charset="-120"/>
              </a:rPr>
              <a:t>Add book</a:t>
            </a:r>
            <a:endParaRPr lang="en-US" sz="980" dirty="0"/>
          </a:p>
        </p:txBody>
      </p:sp>
      <p:sp>
        <p:nvSpPr>
          <p:cNvPr id="24" name="Shape 22"/>
          <p:cNvSpPr/>
          <p:nvPr/>
        </p:nvSpPr>
        <p:spPr>
          <a:xfrm>
            <a:off x="6094476" y="3182112"/>
            <a:ext cx="1421892" cy="292608"/>
          </a:xfrm>
          <a:prstGeom prst="roundRect">
            <a:avLst>
              <a:gd name="adj" fmla="val 15625"/>
            </a:avLst>
          </a:prstGeom>
          <a:solidFill>
            <a:srgbClr val="F3F4F6"/>
          </a:solidFill>
          <a:ln w="12700">
            <a:solidFill>
              <a:srgbClr val="CBD5E1"/>
            </a:solidFill>
            <a:prstDash val="solid"/>
          </a:ln>
        </p:spPr>
      </p:sp>
      <p:sp>
        <p:nvSpPr>
          <p:cNvPr id="25" name="Text 23"/>
          <p:cNvSpPr/>
          <p:nvPr/>
        </p:nvSpPr>
        <p:spPr>
          <a:xfrm>
            <a:off x="6195060" y="3255264"/>
            <a:ext cx="1220724" cy="146304"/>
          </a:xfrm>
          <a:prstGeom prst="rect">
            <a:avLst/>
          </a:prstGeom>
          <a:noFill/>
          <a:ln/>
        </p:spPr>
        <p:txBody>
          <a:bodyPr wrap="square" lIns="0" tIns="0" rIns="0" bIns="0" rtlCol="0" anchor="ctr">
            <a:normAutofit/>
          </a:bodyPr>
          <a:lstStyle/>
          <a:p>
            <a:pPr algn="ctr" indent="0" marL="0">
              <a:buNone/>
            </a:pPr>
            <a:r>
              <a:rPr lang="en-US" sz="980" dirty="0">
                <a:solidFill>
                  <a:srgbClr val="111827"/>
                </a:solidFill>
                <a:latin typeface="Arial" pitchFamily="34" charset="0"/>
                <a:ea typeface="Arial" pitchFamily="34" charset="-122"/>
                <a:cs typeface="Arial" pitchFamily="34" charset="-120"/>
              </a:rPr>
              <a:t>Remove latest</a:t>
            </a:r>
            <a:endParaRPr lang="en-US" sz="980" dirty="0"/>
          </a:p>
        </p:txBody>
      </p:sp>
      <p:sp>
        <p:nvSpPr>
          <p:cNvPr id="26" name="Text 24"/>
          <p:cNvSpPr/>
          <p:nvPr/>
        </p:nvSpPr>
        <p:spPr>
          <a:xfrm>
            <a:off x="868680" y="3886200"/>
            <a:ext cx="3931920" cy="219456"/>
          </a:xfrm>
          <a:prstGeom prst="rect">
            <a:avLst/>
          </a:prstGeom>
          <a:noFill/>
          <a:ln/>
        </p:spPr>
        <p:txBody>
          <a:bodyPr wrap="square" lIns="0" tIns="0" rIns="0" bIns="0" rtlCol="0" anchor="ctr">
            <a:normAutofit/>
          </a:bodyPr>
          <a:lstStyle/>
          <a:p>
            <a:r>
              <a:rPr lang="en-US" sz="1140" dirty="0">
                <a:solidFill>
                  <a:srgbClr val="111827"/>
                </a:solidFill>
                <a:latin typeface="Arial" pitchFamily="34" charset="0"/>
                <a:ea typeface="Arial" pitchFamily="34" charset="-122"/>
                <a:cs typeface="Arial" pitchFamily="34" charset="-120"/>
              </a:rPr>
              <a:t>Add the fixed book.</a:t>
            </a:r>
            <a:endParaRPr lang="en-US" sz="1140" dirty="0"/>
          </a:p>
        </p:txBody>
      </p:sp>
      <p:sp>
        <p:nvSpPr>
          <p:cNvPr id="27" name="Text 25"/>
          <p:cNvSpPr/>
          <p:nvPr/>
        </p:nvSpPr>
        <p:spPr>
          <a:xfrm>
            <a:off x="868680" y="4146804"/>
            <a:ext cx="3931920" cy="219456"/>
          </a:xfrm>
          <a:prstGeom prst="rect">
            <a:avLst/>
          </a:prstGeom>
          <a:noFill/>
          <a:ln/>
        </p:spPr>
        <p:txBody>
          <a:bodyPr wrap="square" lIns="0" tIns="0" rIns="0" bIns="0" rtlCol="0" anchor="ctr">
            <a:normAutofit/>
          </a:bodyPr>
          <a:lstStyle/>
          <a:p>
            <a:r>
              <a:rPr lang="en-US" sz="1140" dirty="0">
                <a:solidFill>
                  <a:srgbClr val="111827"/>
                </a:solidFill>
                <a:latin typeface="Arial" pitchFamily="34" charset="0"/>
                <a:ea typeface="Arial" pitchFamily="34" charset="-122"/>
                <a:cs typeface="Arial" pitchFamily="34" charset="-120"/>
              </a:rPr>
              <a:t>Remove the final book.</a:t>
            </a:r>
            <a:endParaRPr lang="en-US" sz="1140" dirty="0"/>
          </a:p>
        </p:txBody>
      </p:sp>
      <p:sp>
        <p:nvSpPr>
          <p:cNvPr id="28" name="Text 26"/>
          <p:cNvSpPr/>
          <p:nvPr/>
        </p:nvSpPr>
        <p:spPr>
          <a:xfrm>
            <a:off x="868680" y="4407408"/>
            <a:ext cx="3931920" cy="219456"/>
          </a:xfrm>
          <a:prstGeom prst="rect">
            <a:avLst/>
          </a:prstGeom>
          <a:noFill/>
          <a:ln/>
        </p:spPr>
        <p:txBody>
          <a:bodyPr wrap="square" lIns="0" tIns="0" rIns="0" bIns="0" rtlCol="0" anchor="ctr">
            <a:normAutofit/>
          </a:bodyPr>
          <a:lstStyle/>
          <a:p>
            <a:r>
              <a:rPr lang="en-US" sz="1140" dirty="0">
                <a:solidFill>
                  <a:srgbClr val="111827"/>
                </a:solidFill>
                <a:latin typeface="Arial" pitchFamily="34" charset="0"/>
                <a:ea typeface="Arial" pitchFamily="34" charset="-122"/>
                <a:cs typeface="Arial" pitchFamily="34" charset="-120"/>
              </a:rPr>
              <a:t>Update the status after each action.</a:t>
            </a:r>
            <a:endParaRPr lang="en-US" sz="1140" dirty="0"/>
          </a:p>
        </p:txBody>
      </p:sp>
      <p:sp>
        <p:nvSpPr>
          <p:cNvPr id="29" name="Text 27"/>
          <p:cNvSpPr/>
          <p:nvPr/>
        </p:nvSpPr>
        <p:spPr>
          <a:xfrm>
            <a:off x="868680" y="4668012"/>
            <a:ext cx="3931920" cy="219456"/>
          </a:xfrm>
          <a:prstGeom prst="rect">
            <a:avLst/>
          </a:prstGeom>
          <a:noFill/>
          <a:ln/>
        </p:spPr>
        <p:txBody>
          <a:bodyPr wrap="square" lIns="0" tIns="0" rIns="0" bIns="0" rtlCol="0" anchor="ctr">
            <a:normAutofit/>
          </a:bodyPr>
          <a:lstStyle/>
          <a:p>
            <a:r>
              <a:rPr lang="en-US" sz="1140" dirty="0">
                <a:solidFill>
                  <a:srgbClr val="111827"/>
                </a:solidFill>
                <a:latin typeface="Arial" pitchFamily="34" charset="0"/>
                <a:ea typeface="Arial" pitchFamily="34" charset="-122"/>
                <a:cs typeface="Arial" pitchFamily="34" charset="-120"/>
              </a:rPr>
              <a:t>Handle an empty list without an error.</a:t>
            </a:r>
            <a:endParaRPr lang="en-US" sz="1140" dirty="0"/>
          </a:p>
        </p:txBody>
      </p:sp>
      <p:sp>
        <p:nvSpPr>
          <p:cNvPr id="30" name="Shape 28"/>
          <p:cNvSpPr/>
          <p:nvPr/>
        </p:nvSpPr>
        <p:spPr>
          <a:xfrm>
            <a:off x="4937760" y="3886200"/>
            <a:ext cx="3063240" cy="548640"/>
          </a:xfrm>
          <a:prstGeom prst="roundRect">
            <a:avLst>
              <a:gd name="adj" fmla="val 8333"/>
            </a:avLst>
          </a:prstGeom>
          <a:solidFill>
            <a:srgbClr val="EFF6FF"/>
          </a:solidFill>
          <a:ln w="12700">
            <a:solidFill>
              <a:srgbClr val="CBD5E1"/>
            </a:solidFill>
            <a:prstDash val="solid"/>
          </a:ln>
        </p:spPr>
      </p:sp>
      <p:sp>
        <p:nvSpPr>
          <p:cNvPr id="31" name="Text 29"/>
          <p:cNvSpPr/>
          <p:nvPr/>
        </p:nvSpPr>
        <p:spPr>
          <a:xfrm>
            <a:off x="5038344" y="3959352"/>
            <a:ext cx="2862072" cy="402336"/>
          </a:xfrm>
          <a:prstGeom prst="rect">
            <a:avLst/>
          </a:prstGeom>
          <a:noFill/>
          <a:ln/>
        </p:spPr>
        <p:txBody>
          <a:bodyPr wrap="square" lIns="0" tIns="0" rIns="0" bIns="0" rtlCol="0" anchor="ctr">
            <a:normAutofit/>
          </a:bodyPr>
          <a:lstStyle/>
          <a:p>
            <a:pPr algn="l" indent="0" marL="0">
              <a:buNone/>
            </a:pPr>
            <a:r>
              <a:rPr lang="en-US" sz="1060" dirty="0">
                <a:solidFill>
                  <a:srgbClr val="111827"/>
                </a:solidFill>
                <a:latin typeface="Arial" pitchFamily="34" charset="0"/>
                <a:ea typeface="Arial" pitchFamily="34" charset="-122"/>
                <a:cs typeface="Arial" pitchFamily="34" charset="-120"/>
              </a:rPr>
              <a:t>Supplied file: work inside the script section of the prepared index.html. The HTML and CSS are complete.</a:t>
            </a:r>
            <a:endParaRPr lang="en-US" sz="106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Milestone 1: Select the interface and register listeners</a:t>
            </a:r>
            <a:endParaRPr lang="en-US" sz="2100" dirty="0"/>
          </a:p>
        </p:txBody>
      </p:sp>
      <p:sp>
        <p:nvSpPr>
          <p:cNvPr id="3" name="Shape 1"/>
          <p:cNvSpPr/>
          <p:nvPr/>
        </p:nvSpPr>
        <p:spPr>
          <a:xfrm>
            <a:off x="685800" y="914400"/>
            <a:ext cx="4160520" cy="2880360"/>
          </a:xfrm>
          <a:prstGeom prst="rect">
            <a:avLst/>
          </a:prstGeom>
          <a:solidFill>
            <a:srgbClr val="0F172A"/>
          </a:solidFill>
          <a:ln w="12700">
            <a:solidFill>
              <a:srgbClr val="0F172A"/>
            </a:solidFill>
            <a:prstDash val="solid"/>
          </a:ln>
        </p:spPr>
      </p:sp>
      <p:sp>
        <p:nvSpPr>
          <p:cNvPr id="4" name="Text 2"/>
          <p:cNvSpPr/>
          <p:nvPr/>
        </p:nvSpPr>
        <p:spPr>
          <a:xfrm>
            <a:off x="813816" y="1024128"/>
            <a:ext cx="3904488" cy="266090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&lt;p id="reading-status"&gt;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Your reading list has one book.</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&lt;/p&gt;</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&lt;ul id="reading-list"&gt;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&lt;li&gt;Clean Code&lt;/li&gt;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&lt;/ul&gt;</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&lt;button id="add-book"&gt;Add book&lt;/button&gt;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&lt;button id="remove-book"&gt;Remove latest&lt;/button&gt;</a:t>
            </a:r>
            <a:endParaRPr lang="en-US" sz="1088" dirty="0"/>
          </a:p>
        </p:txBody>
      </p:sp>
      <p:sp>
        <p:nvSpPr>
          <p:cNvPr id="5" name="Text 3"/>
          <p:cNvSpPr/>
          <p:nvPr/>
        </p:nvSpPr>
        <p:spPr>
          <a:xfrm>
            <a:off x="5120640" y="960120"/>
            <a:ext cx="3200400" cy="219456"/>
          </a:xfrm>
          <a:prstGeom prst="rect">
            <a:avLst/>
          </a:prstGeom>
          <a:noFill/>
          <a:ln/>
        </p:spPr>
        <p:txBody>
          <a:bodyPr wrap="square" lIns="0" tIns="0" rIns="0" bIns="0" rtlCol="0" anchor="ctr">
            <a:normAutofit/>
          </a:bodyPr>
          <a:lstStyle/>
          <a:p>
            <a:r>
              <a:rPr lang="en-US" sz="1150" dirty="0">
                <a:solidFill>
                  <a:srgbClr val="111827"/>
                </a:solidFill>
                <a:latin typeface="Arial" pitchFamily="34" charset="0"/>
                <a:ea typeface="Arial" pitchFamily="34" charset="-122"/>
                <a:cs typeface="Arial" pitchFamily="34" charset="-120"/>
              </a:rPr>
              <a:t>Store references to all four elements.</a:t>
            </a:r>
            <a:endParaRPr lang="en-US" sz="1150" dirty="0"/>
          </a:p>
        </p:txBody>
      </p:sp>
      <p:sp>
        <p:nvSpPr>
          <p:cNvPr id="6" name="Text 4"/>
          <p:cNvSpPr/>
          <p:nvPr/>
        </p:nvSpPr>
        <p:spPr>
          <a:xfrm>
            <a:off x="5120640" y="1220724"/>
            <a:ext cx="3200400" cy="219456"/>
          </a:xfrm>
          <a:prstGeom prst="rect">
            <a:avLst/>
          </a:prstGeom>
          <a:noFill/>
          <a:ln/>
        </p:spPr>
        <p:txBody>
          <a:bodyPr wrap="square" lIns="0" tIns="0" rIns="0" bIns="0" rtlCol="0" anchor="ctr">
            <a:normAutofit/>
          </a:bodyPr>
          <a:lstStyle/>
          <a:p>
            <a:r>
              <a:rPr lang="en-US" sz="1150" dirty="0">
                <a:solidFill>
                  <a:srgbClr val="111827"/>
                </a:solidFill>
                <a:latin typeface="Arial" pitchFamily="34" charset="0"/>
                <a:ea typeface="Arial" pitchFamily="34" charset="-122"/>
                <a:cs typeface="Arial" pitchFamily="34" charset="-120"/>
              </a:rPr>
              <a:t>Use both selection methods at least once.</a:t>
            </a:r>
            <a:endParaRPr lang="en-US" sz="1150" dirty="0"/>
          </a:p>
        </p:txBody>
      </p:sp>
      <p:sp>
        <p:nvSpPr>
          <p:cNvPr id="7" name="Text 5"/>
          <p:cNvSpPr/>
          <p:nvPr/>
        </p:nvSpPr>
        <p:spPr>
          <a:xfrm>
            <a:off x="5120640" y="1481328"/>
            <a:ext cx="3200400" cy="219456"/>
          </a:xfrm>
          <a:prstGeom prst="rect">
            <a:avLst/>
          </a:prstGeom>
          <a:noFill/>
          <a:ln/>
        </p:spPr>
        <p:txBody>
          <a:bodyPr wrap="square" lIns="0" tIns="0" rIns="0" bIns="0" rtlCol="0" anchor="ctr">
            <a:normAutofit/>
          </a:bodyPr>
          <a:lstStyle/>
          <a:p>
            <a:r>
              <a:rPr lang="en-US" sz="1150" dirty="0">
                <a:solidFill>
                  <a:srgbClr val="111827"/>
                </a:solidFill>
                <a:latin typeface="Arial" pitchFamily="34" charset="0"/>
                <a:ea typeface="Arial" pitchFamily="34" charset="-122"/>
                <a:cs typeface="Arial" pitchFamily="34" charset="-120"/>
              </a:rPr>
              <a:t>Define handleAddBook.</a:t>
            </a:r>
            <a:endParaRPr lang="en-US" sz="1150" dirty="0"/>
          </a:p>
        </p:txBody>
      </p:sp>
      <p:sp>
        <p:nvSpPr>
          <p:cNvPr id="8" name="Text 6"/>
          <p:cNvSpPr/>
          <p:nvPr/>
        </p:nvSpPr>
        <p:spPr>
          <a:xfrm>
            <a:off x="5120640" y="1741932"/>
            <a:ext cx="3200400" cy="219456"/>
          </a:xfrm>
          <a:prstGeom prst="rect">
            <a:avLst/>
          </a:prstGeom>
          <a:noFill/>
          <a:ln/>
        </p:spPr>
        <p:txBody>
          <a:bodyPr wrap="square" lIns="0" tIns="0" rIns="0" bIns="0" rtlCol="0" anchor="ctr">
            <a:normAutofit/>
          </a:bodyPr>
          <a:lstStyle/>
          <a:p>
            <a:r>
              <a:rPr lang="en-US" sz="1150" dirty="0">
                <a:solidFill>
                  <a:srgbClr val="111827"/>
                </a:solidFill>
                <a:latin typeface="Arial" pitchFamily="34" charset="0"/>
                <a:ea typeface="Arial" pitchFamily="34" charset="-122"/>
                <a:cs typeface="Arial" pitchFamily="34" charset="-120"/>
              </a:rPr>
              <a:t>Define handleRemoveBook.</a:t>
            </a:r>
            <a:endParaRPr lang="en-US" sz="1150" dirty="0"/>
          </a:p>
        </p:txBody>
      </p:sp>
      <p:sp>
        <p:nvSpPr>
          <p:cNvPr id="9" name="Text 7"/>
          <p:cNvSpPr/>
          <p:nvPr/>
        </p:nvSpPr>
        <p:spPr>
          <a:xfrm>
            <a:off x="5120640" y="2002536"/>
            <a:ext cx="3200400" cy="219456"/>
          </a:xfrm>
          <a:prstGeom prst="rect">
            <a:avLst/>
          </a:prstGeom>
          <a:noFill/>
          <a:ln/>
        </p:spPr>
        <p:txBody>
          <a:bodyPr wrap="square" lIns="0" tIns="0" rIns="0" bIns="0" rtlCol="0" anchor="ctr">
            <a:normAutofit/>
          </a:bodyPr>
          <a:lstStyle/>
          <a:p>
            <a:r>
              <a:rPr lang="en-US" sz="1150" dirty="0">
                <a:solidFill>
                  <a:srgbClr val="111827"/>
                </a:solidFill>
                <a:latin typeface="Arial" pitchFamily="34" charset="0"/>
                <a:ea typeface="Arial" pitchFamily="34" charset="-122"/>
                <a:cs typeface="Arial" pitchFamily="34" charset="-120"/>
              </a:rPr>
              <a:t>Register one click listener for each button.</a:t>
            </a:r>
            <a:endParaRPr lang="en-US" sz="1150" dirty="0"/>
          </a:p>
        </p:txBody>
      </p:sp>
      <p:sp>
        <p:nvSpPr>
          <p:cNvPr id="10" name="Shape 8"/>
          <p:cNvSpPr/>
          <p:nvPr/>
        </p:nvSpPr>
        <p:spPr>
          <a:xfrm>
            <a:off x="5120640" y="2743200"/>
            <a:ext cx="3108960" cy="731520"/>
          </a:xfrm>
          <a:prstGeom prst="rect">
            <a:avLst/>
          </a:prstGeom>
          <a:solidFill>
            <a:srgbClr val="0F172A"/>
          </a:solidFill>
          <a:ln w="12700">
            <a:solidFill>
              <a:srgbClr val="0F172A"/>
            </a:solidFill>
            <a:prstDash val="solid"/>
          </a:ln>
        </p:spPr>
      </p:sp>
      <p:sp>
        <p:nvSpPr>
          <p:cNvPr id="11" name="Text 9"/>
          <p:cNvSpPr/>
          <p:nvPr/>
        </p:nvSpPr>
        <p:spPr>
          <a:xfrm>
            <a:off x="5248656" y="2852928"/>
            <a:ext cx="2852928" cy="51206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document.getElementById(...);</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document.querySelector(...);</a:t>
            </a:r>
            <a:endParaRPr lang="en-US" sz="1088" dirty="0"/>
          </a:p>
        </p:txBody>
      </p:sp>
      <p:sp>
        <p:nvSpPr>
          <p:cNvPr id="12" name="Shape 10"/>
          <p:cNvSpPr/>
          <p:nvPr/>
        </p:nvSpPr>
        <p:spPr>
          <a:xfrm>
            <a:off x="5120640" y="3749040"/>
            <a:ext cx="3108960" cy="457200"/>
          </a:xfrm>
          <a:prstGeom prst="roundRect">
            <a:avLst>
              <a:gd name="adj" fmla="val 10000"/>
            </a:avLst>
          </a:prstGeom>
          <a:solidFill>
            <a:srgbClr val="DCFCE7"/>
          </a:solidFill>
          <a:ln w="12700">
            <a:solidFill>
              <a:srgbClr val="CBD5E1"/>
            </a:solidFill>
            <a:prstDash val="solid"/>
          </a:ln>
        </p:spPr>
      </p:sp>
      <p:sp>
        <p:nvSpPr>
          <p:cNvPr id="13" name="Text 11"/>
          <p:cNvSpPr/>
          <p:nvPr/>
        </p:nvSpPr>
        <p:spPr>
          <a:xfrm>
            <a:off x="5221224" y="3822192"/>
            <a:ext cx="2907792" cy="310896"/>
          </a:xfrm>
          <a:prstGeom prst="rect">
            <a:avLst/>
          </a:prstGeom>
          <a:noFill/>
          <a:ln/>
        </p:spPr>
        <p:txBody>
          <a:bodyPr wrap="square" lIns="0" tIns="0" rIns="0" bIns="0" rtlCol="0" anchor="ctr">
            <a:normAutofit/>
          </a:bodyPr>
          <a:lstStyle/>
          <a:p>
            <a:pPr algn="l" indent="0" marL="0">
              <a:buNone/>
            </a:pPr>
            <a:r>
              <a:rPr lang="en-US" sz="1050" dirty="0">
                <a:solidFill>
                  <a:srgbClr val="111827"/>
                </a:solidFill>
                <a:latin typeface="Arial" pitchFamily="34" charset="0"/>
                <a:ea typeface="Arial" pitchFamily="34" charset="-122"/>
                <a:cs typeface="Arial" pitchFamily="34" charset="-120"/>
              </a:rPr>
              <a:t>Completion check: four variables store element references, and both listeners are registered.</a:t>
            </a:r>
            <a:endParaRPr lang="en-US" sz="105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Milestone 2: Add a book</a:t>
            </a:r>
            <a:endParaRPr lang="en-US" sz="2100" dirty="0"/>
          </a:p>
        </p:txBody>
      </p:sp>
      <p:sp>
        <p:nvSpPr>
          <p:cNvPr id="3" name="Shape 1"/>
          <p:cNvSpPr/>
          <p:nvPr/>
        </p:nvSpPr>
        <p:spPr>
          <a:xfrm>
            <a:off x="685800" y="960120"/>
            <a:ext cx="4297680" cy="2606040"/>
          </a:xfrm>
          <a:prstGeom prst="rect">
            <a:avLst/>
          </a:prstGeom>
          <a:solidFill>
            <a:srgbClr val="0F172A"/>
          </a:solidFill>
          <a:ln w="12700">
            <a:solidFill>
              <a:srgbClr val="0F172A"/>
            </a:solidFill>
            <a:prstDash val="solid"/>
          </a:ln>
        </p:spPr>
      </p:sp>
      <p:sp>
        <p:nvSpPr>
          <p:cNvPr id="4" name="Text 2"/>
          <p:cNvSpPr/>
          <p:nvPr/>
        </p:nvSpPr>
        <p:spPr>
          <a:xfrm>
            <a:off x="813816" y="1069848"/>
            <a:ext cx="4041648" cy="238658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function handleAddBook()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 Create a new li</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 Set its text to:</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 The Design of Everyday Things</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 Append it to readingList</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 Update readingStatus</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5" name="Shape 3"/>
          <p:cNvSpPr/>
          <p:nvPr/>
        </p:nvSpPr>
        <p:spPr>
          <a:xfrm>
            <a:off x="5349240" y="1234440"/>
            <a:ext cx="2743200" cy="1554480"/>
          </a:xfrm>
          <a:prstGeom prst="roundRect">
            <a:avLst>
              <a:gd name="adj" fmla="val 2941"/>
            </a:avLst>
          </a:prstGeom>
          <a:solidFill>
            <a:srgbClr val="DCFCE7"/>
          </a:solidFill>
          <a:ln w="12700">
            <a:solidFill>
              <a:srgbClr val="CBD5E1"/>
            </a:solidFill>
            <a:prstDash val="solid"/>
          </a:ln>
        </p:spPr>
      </p:sp>
      <p:sp>
        <p:nvSpPr>
          <p:cNvPr id="6" name="Text 4"/>
          <p:cNvSpPr/>
          <p:nvPr/>
        </p:nvSpPr>
        <p:spPr>
          <a:xfrm>
            <a:off x="5449824" y="1307592"/>
            <a:ext cx="2542032" cy="1408176"/>
          </a:xfrm>
          <a:prstGeom prst="rect">
            <a:avLst/>
          </a:prstGeom>
          <a:noFill/>
          <a:ln/>
        </p:spPr>
        <p:txBody>
          <a:bodyPr wrap="square" lIns="0" tIns="0" rIns="0" bIns="0" rtlCol="0" anchor="ctr">
            <a:normAutofit/>
          </a:bodyPr>
          <a:lstStyle/>
          <a:p>
            <a:pPr algn="ctr" indent="0" marL="0">
              <a:buNone/>
            </a:pPr>
            <a:r>
              <a:rPr lang="en-US" sz="1100" dirty="0">
                <a:solidFill>
                  <a:srgbClr val="111827"/>
                </a:solidFill>
                <a:latin typeface="Arial" pitchFamily="34" charset="0"/>
                <a:ea typeface="Arial" pitchFamily="34" charset="-122"/>
                <a:cs typeface="Arial" pitchFamily="34" charset="-120"/>
              </a:rPr>
              <a:t>Status</a:t>
            </a:r>
            <a:endParaRPr lang="en-US" sz="1100" dirty="0"/>
          </a:p>
          <a:p>
            <a:pPr algn="ctr" indent="0" marL="0">
              <a:buNone/>
            </a:pPr>
            <a:r>
              <a:rPr lang="en-US" sz="1100" dirty="0">
                <a:solidFill>
                  <a:srgbClr val="111827"/>
                </a:solidFill>
                <a:latin typeface="Arial" pitchFamily="34" charset="0"/>
                <a:ea typeface="Arial" pitchFamily="34" charset="-122"/>
                <a:cs typeface="Arial" pitchFamily="34" charset="-120"/>
              </a:rPr>
              <a:t>A book was added.</a:t>
            </a:r>
            <a:endParaRPr lang="en-US" sz="1100" dirty="0"/>
          </a:p>
          <a:p>
            <a:pPr algn="ctr" indent="0" marL="0">
              <a:buNone/>
            </a:pPr>
            <a:endParaRPr lang="en-US" sz="1100" dirty="0"/>
          </a:p>
          <a:p>
            <a:pPr algn="ctr" indent="0" marL="0">
              <a:buNone/>
            </a:pPr>
            <a:r>
              <a:rPr lang="en-US" sz="1100" dirty="0">
                <a:solidFill>
                  <a:srgbClr val="111827"/>
                </a:solidFill>
                <a:latin typeface="Arial" pitchFamily="34" charset="0"/>
                <a:ea typeface="Arial" pitchFamily="34" charset="-122"/>
                <a:cs typeface="Arial" pitchFamily="34" charset="-120"/>
              </a:rPr>
              <a:t>Reading list</a:t>
            </a:r>
            <a:endParaRPr lang="en-US" sz="1100" dirty="0"/>
          </a:p>
          <a:p>
            <a:pPr algn="ctr" indent="0" marL="0">
              <a:buNone/>
            </a:pPr>
            <a:r>
              <a:rPr lang="en-US" sz="1100" dirty="0">
                <a:solidFill>
                  <a:srgbClr val="111827"/>
                </a:solidFill>
                <a:latin typeface="Arial" pitchFamily="34" charset="0"/>
                <a:ea typeface="Arial" pitchFamily="34" charset="-122"/>
                <a:cs typeface="Arial" pitchFamily="34" charset="-120"/>
              </a:rPr>
              <a:t>1. Clean Code</a:t>
            </a:r>
            <a:endParaRPr lang="en-US" sz="1100" dirty="0"/>
          </a:p>
          <a:p>
            <a:pPr algn="ctr" indent="0" marL="0">
              <a:buNone/>
            </a:pPr>
            <a:r>
              <a:rPr lang="en-US" sz="1100" dirty="0">
                <a:solidFill>
                  <a:srgbClr val="111827"/>
                </a:solidFill>
                <a:latin typeface="Arial" pitchFamily="34" charset="0"/>
                <a:ea typeface="Arial" pitchFamily="34" charset="-122"/>
                <a:cs typeface="Arial" pitchFamily="34" charset="-120"/>
              </a:rPr>
              <a:t>2. The Design of Everyday Things</a:t>
            </a:r>
            <a:endParaRPr lang="en-US" sz="1100" dirty="0"/>
          </a:p>
        </p:txBody>
      </p:sp>
      <p:sp>
        <p:nvSpPr>
          <p:cNvPr id="7" name="Shape 5"/>
          <p:cNvSpPr/>
          <p:nvPr/>
        </p:nvSpPr>
        <p:spPr>
          <a:xfrm>
            <a:off x="5349240" y="3246120"/>
            <a:ext cx="2743200" cy="502920"/>
          </a:xfrm>
          <a:prstGeom prst="roundRect">
            <a:avLst>
              <a:gd name="adj" fmla="val 9091"/>
            </a:avLst>
          </a:prstGeom>
          <a:solidFill>
            <a:srgbClr val="EFF6FF"/>
          </a:solidFill>
          <a:ln w="12700">
            <a:solidFill>
              <a:srgbClr val="CBD5E1"/>
            </a:solidFill>
            <a:prstDash val="solid"/>
          </a:ln>
        </p:spPr>
      </p:sp>
      <p:sp>
        <p:nvSpPr>
          <p:cNvPr id="8" name="Text 6"/>
          <p:cNvSpPr/>
          <p:nvPr/>
        </p:nvSpPr>
        <p:spPr>
          <a:xfrm>
            <a:off x="5449824" y="3319272"/>
            <a:ext cx="2542032" cy="356616"/>
          </a:xfrm>
          <a:prstGeom prst="rect">
            <a:avLst/>
          </a:prstGeom>
          <a:noFill/>
          <a:ln/>
        </p:spPr>
        <p:txBody>
          <a:bodyPr wrap="square" lIns="0" tIns="0" rIns="0" bIns="0" rtlCol="0" anchor="ctr">
            <a:normAutofit/>
          </a:bodyPr>
          <a:lstStyle/>
          <a:p>
            <a:pPr algn="ctr" indent="0" marL="0">
              <a:buNone/>
            </a:pPr>
            <a:r>
              <a:rPr lang="en-US" sz="1060" dirty="0">
                <a:solidFill>
                  <a:srgbClr val="111827"/>
                </a:solidFill>
                <a:latin typeface="Arial" pitchFamily="34" charset="0"/>
                <a:ea typeface="Arial" pitchFamily="34" charset="-122"/>
                <a:cs typeface="Arial" pitchFamily="34" charset="-120"/>
              </a:rPr>
              <a:t>Completion check: each click adds one visible book and updates the status.</a:t>
            </a:r>
            <a:endParaRPr lang="en-US" sz="106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Milestone 3: Remove the latest book safely</a:t>
            </a:r>
            <a:endParaRPr lang="en-US" sz="2100" dirty="0"/>
          </a:p>
        </p:txBody>
      </p:sp>
      <p:sp>
        <p:nvSpPr>
          <p:cNvPr id="3" name="Shape 1"/>
          <p:cNvSpPr/>
          <p:nvPr/>
        </p:nvSpPr>
        <p:spPr>
          <a:xfrm>
            <a:off x="685800" y="1005840"/>
            <a:ext cx="3749040" cy="1143000"/>
          </a:xfrm>
          <a:prstGeom prst="rect">
            <a:avLst/>
          </a:prstGeom>
          <a:solidFill>
            <a:srgbClr val="0F172A"/>
          </a:solidFill>
          <a:ln w="12700">
            <a:solidFill>
              <a:srgbClr val="0F172A"/>
            </a:solidFill>
            <a:prstDash val="solid"/>
          </a:ln>
        </p:spPr>
      </p:sp>
      <p:sp>
        <p:nvSpPr>
          <p:cNvPr id="4" name="Text 2"/>
          <p:cNvSpPr/>
          <p:nvPr/>
        </p:nvSpPr>
        <p:spPr>
          <a:xfrm>
            <a:off x="813816" y="1115568"/>
            <a:ext cx="3493008" cy="92354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const latestBook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readingList.querySelector(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"li:last-child"</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a:t>
            </a:r>
            <a:endParaRPr lang="en-US" sz="1088" dirty="0"/>
          </a:p>
        </p:txBody>
      </p:sp>
      <p:sp>
        <p:nvSpPr>
          <p:cNvPr id="5" name="Text 3"/>
          <p:cNvSpPr/>
          <p:nvPr/>
        </p:nvSpPr>
        <p:spPr>
          <a:xfrm>
            <a:off x="685800" y="2423160"/>
            <a:ext cx="3749040" cy="411480"/>
          </a:xfrm>
          <a:prstGeom prst="rect">
            <a:avLst/>
          </a:prstGeom>
          <a:noFill/>
          <a:ln/>
        </p:spPr>
        <p:txBody>
          <a:bodyPr wrap="square" lIns="635" tIns="635" rIns="635" bIns="635" rtlCol="0" anchor="t">
            <a:normAutofit/>
          </a:bodyPr>
          <a:lstStyle/>
          <a:p>
            <a:pPr algn="l" indent="0" marL="0">
              <a:lnSpc>
                <a:spcPct val="105000"/>
              </a:lnSpc>
              <a:buNone/>
            </a:pPr>
            <a:r>
              <a:rPr lang="en-US" sz="1240" dirty="0">
                <a:solidFill>
                  <a:srgbClr val="334155"/>
                </a:solidFill>
                <a:latin typeface="Arial" pitchFamily="34" charset="0"/>
                <a:ea typeface="Arial" pitchFamily="34" charset="-122"/>
                <a:cs typeface="Arial" pitchFamily="34" charset="-120"/>
              </a:rPr>
              <a:t>li:last-child selects the li that is the final child of the list.</a:t>
            </a:r>
            <a:endParaRPr lang="en-US" sz="1240" dirty="0"/>
          </a:p>
        </p:txBody>
      </p:sp>
      <p:sp>
        <p:nvSpPr>
          <p:cNvPr id="6" name="Text 4"/>
          <p:cNvSpPr/>
          <p:nvPr/>
        </p:nvSpPr>
        <p:spPr>
          <a:xfrm>
            <a:off x="777240" y="3017520"/>
            <a:ext cx="3749040" cy="219456"/>
          </a:xfrm>
          <a:prstGeom prst="rect">
            <a:avLst/>
          </a:prstGeom>
          <a:noFill/>
          <a:ln/>
        </p:spPr>
        <p:txBody>
          <a:bodyPr wrap="square" lIns="0" tIns="0" rIns="0" bIns="0" rtlCol="0" anchor="ctr">
            <a:normAutofit/>
          </a:bodyPr>
          <a:lstStyle/>
          <a:p>
            <a:r>
              <a:rPr lang="en-US" sz="1080" dirty="0">
                <a:solidFill>
                  <a:srgbClr val="111827"/>
                </a:solidFill>
                <a:latin typeface="Arial" pitchFamily="34" charset="0"/>
                <a:ea typeface="Arial" pitchFamily="34" charset="-122"/>
                <a:cs typeface="Arial" pitchFamily="34" charset="-120"/>
              </a:rPr>
              <a:t>Check whether latestBook was found.</a:t>
            </a:r>
            <a:endParaRPr lang="en-US" sz="1080" dirty="0"/>
          </a:p>
        </p:txBody>
      </p:sp>
      <p:sp>
        <p:nvSpPr>
          <p:cNvPr id="7" name="Text 5"/>
          <p:cNvSpPr/>
          <p:nvPr/>
        </p:nvSpPr>
        <p:spPr>
          <a:xfrm>
            <a:off x="777240" y="3278124"/>
            <a:ext cx="3749040" cy="219456"/>
          </a:xfrm>
          <a:prstGeom prst="rect">
            <a:avLst/>
          </a:prstGeom>
          <a:noFill/>
          <a:ln/>
        </p:spPr>
        <p:txBody>
          <a:bodyPr wrap="square" lIns="0" tIns="0" rIns="0" bIns="0" rtlCol="0" anchor="ctr">
            <a:normAutofit/>
          </a:bodyPr>
          <a:lstStyle/>
          <a:p>
            <a:r>
              <a:rPr lang="en-US" sz="1080" dirty="0">
                <a:solidFill>
                  <a:srgbClr val="111827"/>
                </a:solidFill>
                <a:latin typeface="Arial" pitchFamily="34" charset="0"/>
                <a:ea typeface="Arial" pitchFamily="34" charset="-122"/>
                <a:cs typeface="Arial" pitchFamily="34" charset="-120"/>
              </a:rPr>
              <a:t>Remove the book when it exists.</a:t>
            </a:r>
            <a:endParaRPr lang="en-US" sz="1080" dirty="0"/>
          </a:p>
        </p:txBody>
      </p:sp>
      <p:sp>
        <p:nvSpPr>
          <p:cNvPr id="8" name="Text 6"/>
          <p:cNvSpPr/>
          <p:nvPr/>
        </p:nvSpPr>
        <p:spPr>
          <a:xfrm>
            <a:off x="777240" y="3538728"/>
            <a:ext cx="3749040" cy="219456"/>
          </a:xfrm>
          <a:prstGeom prst="rect">
            <a:avLst/>
          </a:prstGeom>
          <a:noFill/>
          <a:ln/>
        </p:spPr>
        <p:txBody>
          <a:bodyPr wrap="square" lIns="0" tIns="0" rIns="0" bIns="0" rtlCol="0" anchor="ctr">
            <a:normAutofit/>
          </a:bodyPr>
          <a:lstStyle/>
          <a:p>
            <a:r>
              <a:rPr lang="en-US" sz="1080" dirty="0">
                <a:solidFill>
                  <a:srgbClr val="111827"/>
                </a:solidFill>
                <a:latin typeface="Arial" pitchFamily="34" charset="0"/>
                <a:ea typeface="Arial" pitchFamily="34" charset="-122"/>
                <a:cs typeface="Arial" pitchFamily="34" charset="-120"/>
              </a:rPr>
              <a:t>Display The latest book was removed.</a:t>
            </a:r>
            <a:endParaRPr lang="en-US" sz="1080" dirty="0"/>
          </a:p>
        </p:txBody>
      </p:sp>
      <p:sp>
        <p:nvSpPr>
          <p:cNvPr id="9" name="Text 7"/>
          <p:cNvSpPr/>
          <p:nvPr/>
        </p:nvSpPr>
        <p:spPr>
          <a:xfrm>
            <a:off x="777240" y="3799332"/>
            <a:ext cx="3749040" cy="219456"/>
          </a:xfrm>
          <a:prstGeom prst="rect">
            <a:avLst/>
          </a:prstGeom>
          <a:noFill/>
          <a:ln/>
        </p:spPr>
        <p:txBody>
          <a:bodyPr wrap="square" lIns="0" tIns="0" rIns="0" bIns="0" rtlCol="0" anchor="ctr">
            <a:normAutofit/>
          </a:bodyPr>
          <a:lstStyle/>
          <a:p>
            <a:r>
              <a:rPr lang="en-US" sz="1080" dirty="0">
                <a:solidFill>
                  <a:srgbClr val="111827"/>
                </a:solidFill>
                <a:latin typeface="Arial" pitchFamily="34" charset="0"/>
                <a:ea typeface="Arial" pitchFamily="34" charset="-122"/>
                <a:cs typeface="Arial" pitchFamily="34" charset="-120"/>
              </a:rPr>
              <a:t>Display No books to remove when empty.</a:t>
            </a:r>
            <a:endParaRPr lang="en-US" sz="1080" dirty="0"/>
          </a:p>
        </p:txBody>
      </p:sp>
      <p:sp>
        <p:nvSpPr>
          <p:cNvPr id="10" name="Shape 8"/>
          <p:cNvSpPr/>
          <p:nvPr/>
        </p:nvSpPr>
        <p:spPr>
          <a:xfrm>
            <a:off x="4892040" y="1143000"/>
            <a:ext cx="2834640" cy="685800"/>
          </a:xfrm>
          <a:prstGeom prst="roundRect">
            <a:avLst>
              <a:gd name="adj" fmla="val 6667"/>
            </a:avLst>
          </a:prstGeom>
          <a:solidFill>
            <a:srgbClr val="DCFCE7"/>
          </a:solidFill>
          <a:ln w="12700">
            <a:solidFill>
              <a:srgbClr val="CBD5E1"/>
            </a:solidFill>
            <a:prstDash val="solid"/>
          </a:ln>
        </p:spPr>
      </p:sp>
      <p:sp>
        <p:nvSpPr>
          <p:cNvPr id="11" name="Text 9"/>
          <p:cNvSpPr/>
          <p:nvPr/>
        </p:nvSpPr>
        <p:spPr>
          <a:xfrm>
            <a:off x="4992624" y="1216152"/>
            <a:ext cx="2633472" cy="539496"/>
          </a:xfrm>
          <a:prstGeom prst="rect">
            <a:avLst/>
          </a:prstGeom>
          <a:noFill/>
          <a:ln/>
        </p:spPr>
        <p:txBody>
          <a:bodyPr wrap="square" lIns="0" tIns="0" rIns="0" bIns="0" rtlCol="0" anchor="ctr">
            <a:normAutofit/>
          </a:bodyPr>
          <a:lstStyle/>
          <a:p>
            <a:pPr algn="ctr" indent="0" marL="0">
              <a:buNone/>
            </a:pPr>
            <a:r>
              <a:rPr lang="en-US" sz="1120" dirty="0">
                <a:solidFill>
                  <a:srgbClr val="111827"/>
                </a:solidFill>
                <a:latin typeface="Arial" pitchFamily="34" charset="0"/>
                <a:ea typeface="Arial" pitchFamily="34" charset="-122"/>
                <a:cs typeface="Arial" pitchFamily="34" charset="-120"/>
              </a:rPr>
              <a:t>Book found</a:t>
            </a:r>
            <a:endParaRPr lang="en-US" sz="1120" dirty="0"/>
          </a:p>
          <a:p>
            <a:pPr algn="ctr" indent="0" marL="0">
              <a:buNone/>
            </a:pPr>
            <a:r>
              <a:rPr lang="en-US" sz="1120" dirty="0">
                <a:solidFill>
                  <a:srgbClr val="111827"/>
                </a:solidFill>
                <a:latin typeface="Arial" pitchFamily="34" charset="0"/>
                <a:ea typeface="Arial" pitchFamily="34" charset="-122"/>
                <a:cs typeface="Arial" pitchFamily="34" charset="-120"/>
              </a:rPr>
              <a:t>Final item removed</a:t>
            </a:r>
            <a:endParaRPr lang="en-US" sz="1120" dirty="0"/>
          </a:p>
        </p:txBody>
      </p:sp>
      <p:sp>
        <p:nvSpPr>
          <p:cNvPr id="12" name="Shape 10"/>
          <p:cNvSpPr/>
          <p:nvPr/>
        </p:nvSpPr>
        <p:spPr>
          <a:xfrm>
            <a:off x="4892040" y="2103120"/>
            <a:ext cx="2834640" cy="685800"/>
          </a:xfrm>
          <a:prstGeom prst="roundRect">
            <a:avLst>
              <a:gd name="adj" fmla="val 6667"/>
            </a:avLst>
          </a:prstGeom>
          <a:solidFill>
            <a:srgbClr val="FEF3C7"/>
          </a:solidFill>
          <a:ln w="12700">
            <a:solidFill>
              <a:srgbClr val="CBD5E1"/>
            </a:solidFill>
            <a:prstDash val="solid"/>
          </a:ln>
        </p:spPr>
      </p:sp>
      <p:sp>
        <p:nvSpPr>
          <p:cNvPr id="13" name="Text 11"/>
          <p:cNvSpPr/>
          <p:nvPr/>
        </p:nvSpPr>
        <p:spPr>
          <a:xfrm>
            <a:off x="4992624" y="2176272"/>
            <a:ext cx="2633472" cy="539496"/>
          </a:xfrm>
          <a:prstGeom prst="rect">
            <a:avLst/>
          </a:prstGeom>
          <a:noFill/>
          <a:ln/>
        </p:spPr>
        <p:txBody>
          <a:bodyPr wrap="square" lIns="0" tIns="0" rIns="0" bIns="0" rtlCol="0" anchor="ctr">
            <a:normAutofit/>
          </a:bodyPr>
          <a:lstStyle/>
          <a:p>
            <a:pPr algn="ctr" indent="0" marL="0">
              <a:buNone/>
            </a:pPr>
            <a:r>
              <a:rPr lang="en-US" sz="1120" dirty="0">
                <a:solidFill>
                  <a:srgbClr val="111827"/>
                </a:solidFill>
                <a:latin typeface="Arial" pitchFamily="34" charset="0"/>
                <a:ea typeface="Arial" pitchFamily="34" charset="-122"/>
                <a:cs typeface="Arial" pitchFamily="34" charset="-120"/>
              </a:rPr>
              <a:t>List empty</a:t>
            </a:r>
            <a:endParaRPr lang="en-US" sz="1120" dirty="0"/>
          </a:p>
          <a:p>
            <a:pPr algn="ctr" indent="0" marL="0">
              <a:buNone/>
            </a:pPr>
            <a:r>
              <a:rPr lang="en-US" sz="1120" dirty="0">
                <a:solidFill>
                  <a:srgbClr val="111827"/>
                </a:solidFill>
                <a:latin typeface="Arial" pitchFamily="34" charset="0"/>
                <a:ea typeface="Arial" pitchFamily="34" charset="-122"/>
                <a:cs typeface="Arial" pitchFamily="34" charset="-120"/>
              </a:rPr>
              <a:t>No books to remove</a:t>
            </a:r>
            <a:endParaRPr lang="en-US" sz="1120" dirty="0"/>
          </a:p>
        </p:txBody>
      </p:sp>
      <p:sp>
        <p:nvSpPr>
          <p:cNvPr id="14" name="Shape 12"/>
          <p:cNvSpPr/>
          <p:nvPr/>
        </p:nvSpPr>
        <p:spPr>
          <a:xfrm>
            <a:off x="4892040" y="3337560"/>
            <a:ext cx="2834640" cy="502920"/>
          </a:xfrm>
          <a:prstGeom prst="roundRect">
            <a:avLst>
              <a:gd name="adj" fmla="val 9091"/>
            </a:avLst>
          </a:prstGeom>
          <a:solidFill>
            <a:srgbClr val="EFF6FF"/>
          </a:solidFill>
          <a:ln w="12700">
            <a:solidFill>
              <a:srgbClr val="CBD5E1"/>
            </a:solidFill>
            <a:prstDash val="solid"/>
          </a:ln>
        </p:spPr>
      </p:sp>
      <p:sp>
        <p:nvSpPr>
          <p:cNvPr id="15" name="Text 13"/>
          <p:cNvSpPr/>
          <p:nvPr/>
        </p:nvSpPr>
        <p:spPr>
          <a:xfrm>
            <a:off x="4992624" y="3410712"/>
            <a:ext cx="2633472" cy="356616"/>
          </a:xfrm>
          <a:prstGeom prst="rect">
            <a:avLst/>
          </a:prstGeom>
          <a:noFill/>
          <a:ln/>
        </p:spPr>
        <p:txBody>
          <a:bodyPr wrap="square" lIns="0" tIns="0" rIns="0" bIns="0" rtlCol="0" anchor="ctr">
            <a:normAutofit/>
          </a:bodyPr>
          <a:lstStyle/>
          <a:p>
            <a:pPr algn="ctr" indent="0" marL="0">
              <a:buNone/>
            </a:pPr>
            <a:r>
              <a:rPr lang="en-US" sz="1050" dirty="0">
                <a:solidFill>
                  <a:srgbClr val="111827"/>
                </a:solidFill>
                <a:latin typeface="Arial" pitchFamily="34" charset="0"/>
                <a:ea typeface="Arial" pitchFamily="34" charset="-122"/>
                <a:cs typeface="Arial" pitchFamily="34" charset="-120"/>
              </a:rPr>
              <a:t>Completion check: repeated clicks can empty the list without a console error.</a:t>
            </a:r>
            <a:endParaRPr lang="en-US" sz="105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Trace both reading-list interactions</a:t>
            </a:r>
            <a:endParaRPr lang="en-US" sz="2100" dirty="0"/>
          </a:p>
        </p:txBody>
      </p:sp>
      <p:sp>
        <p:nvSpPr>
          <p:cNvPr id="3" name="Shape 1"/>
          <p:cNvSpPr/>
          <p:nvPr/>
        </p:nvSpPr>
        <p:spPr>
          <a:xfrm>
            <a:off x="685800" y="960120"/>
            <a:ext cx="1188720" cy="310896"/>
          </a:xfrm>
          <a:prstGeom prst="roundRect">
            <a:avLst>
              <a:gd name="adj" fmla="val 14706"/>
            </a:avLst>
          </a:prstGeom>
          <a:solidFill>
            <a:srgbClr val="DCFCE7"/>
          </a:solidFill>
          <a:ln w="12700">
            <a:solidFill>
              <a:srgbClr val="CBD5E1"/>
            </a:solidFill>
            <a:prstDash val="solid"/>
          </a:ln>
        </p:spPr>
      </p:sp>
      <p:sp>
        <p:nvSpPr>
          <p:cNvPr id="4" name="Text 2"/>
          <p:cNvSpPr/>
          <p:nvPr/>
        </p:nvSpPr>
        <p:spPr>
          <a:xfrm>
            <a:off x="786384" y="1033272"/>
            <a:ext cx="987552" cy="164592"/>
          </a:xfrm>
          <a:prstGeom prst="rect">
            <a:avLst/>
          </a:prstGeom>
          <a:noFill/>
          <a:ln/>
        </p:spPr>
        <p:txBody>
          <a:bodyPr wrap="square" lIns="0" tIns="0" rIns="0" bIns="0" rtlCol="0" anchor="ctr">
            <a:normAutofit/>
          </a:bodyPr>
          <a:lstStyle/>
          <a:p>
            <a:pPr algn="ctr" indent="0" marL="0">
              <a:buNone/>
            </a:pPr>
            <a:r>
              <a:rPr lang="en-US" sz="1240" b="1" dirty="0">
                <a:solidFill>
                  <a:srgbClr val="111827"/>
                </a:solidFill>
                <a:latin typeface="Arial" pitchFamily="34" charset="0"/>
                <a:ea typeface="Arial" pitchFamily="34" charset="-122"/>
                <a:cs typeface="Arial" pitchFamily="34" charset="-120"/>
              </a:rPr>
              <a:t>Add book</a:t>
            </a:r>
            <a:endParaRPr lang="en-US" sz="1240" dirty="0"/>
          </a:p>
        </p:txBody>
      </p:sp>
      <p:sp>
        <p:nvSpPr>
          <p:cNvPr id="5" name="Shape 3"/>
          <p:cNvSpPr/>
          <p:nvPr/>
        </p:nvSpPr>
        <p:spPr>
          <a:xfrm>
            <a:off x="2057400" y="841248"/>
            <a:ext cx="1280160" cy="548640"/>
          </a:xfrm>
          <a:prstGeom prst="roundRect">
            <a:avLst>
              <a:gd name="adj" fmla="val 8333"/>
            </a:avLst>
          </a:prstGeom>
          <a:solidFill>
            <a:srgbClr val="F3F4F6"/>
          </a:solidFill>
          <a:ln w="12700">
            <a:solidFill>
              <a:srgbClr val="CBD5E1"/>
            </a:solidFill>
            <a:prstDash val="solid"/>
          </a:ln>
        </p:spPr>
      </p:sp>
      <p:sp>
        <p:nvSpPr>
          <p:cNvPr id="6" name="Text 4"/>
          <p:cNvSpPr/>
          <p:nvPr/>
        </p:nvSpPr>
        <p:spPr>
          <a:xfrm>
            <a:off x="2157984" y="914400"/>
            <a:ext cx="1078992" cy="402336"/>
          </a:xfrm>
          <a:prstGeom prst="rect">
            <a:avLst/>
          </a:prstGeom>
          <a:noFill/>
          <a:ln/>
        </p:spPr>
        <p:txBody>
          <a:bodyPr wrap="square" lIns="0" tIns="0" rIns="0" bIns="0" rtlCol="0" anchor="ctr">
            <a:normAutofit/>
          </a:bodyPr>
          <a:lstStyle/>
          <a:p>
            <a:pPr algn="ctr" indent="0" marL="0">
              <a:buNone/>
            </a:pPr>
            <a:r>
              <a:rPr lang="en-US" sz="1020" dirty="0">
                <a:solidFill>
                  <a:srgbClr val="111827"/>
                </a:solidFill>
                <a:latin typeface="Arial" pitchFamily="34" charset="0"/>
                <a:ea typeface="Arial" pitchFamily="34" charset="-122"/>
                <a:cs typeface="Arial" pitchFamily="34" charset="-120"/>
              </a:rPr>
              <a:t>Button click</a:t>
            </a:r>
            <a:endParaRPr lang="en-US" sz="1020" dirty="0"/>
          </a:p>
        </p:txBody>
      </p:sp>
      <p:sp>
        <p:nvSpPr>
          <p:cNvPr id="7" name="Shape 5"/>
          <p:cNvSpPr/>
          <p:nvPr/>
        </p:nvSpPr>
        <p:spPr>
          <a:xfrm>
            <a:off x="3337560" y="1115568"/>
            <a:ext cx="210312" cy="0"/>
          </a:xfrm>
          <a:prstGeom prst="line">
            <a:avLst/>
          </a:prstGeom>
          <a:noFill/>
          <a:ln w="15875">
            <a:solidFill>
              <a:srgbClr val="2563EB"/>
            </a:solidFill>
            <a:prstDash val="solid"/>
            <a:headEnd type="none"/>
            <a:tailEnd type="triangle"/>
          </a:ln>
        </p:spPr>
      </p:sp>
      <p:sp>
        <p:nvSpPr>
          <p:cNvPr id="8" name="Shape 6"/>
          <p:cNvSpPr/>
          <p:nvPr/>
        </p:nvSpPr>
        <p:spPr>
          <a:xfrm>
            <a:off x="3566160" y="841248"/>
            <a:ext cx="1280160" cy="548640"/>
          </a:xfrm>
          <a:prstGeom prst="roundRect">
            <a:avLst>
              <a:gd name="adj" fmla="val 8333"/>
            </a:avLst>
          </a:prstGeom>
          <a:solidFill>
            <a:srgbClr val="F3F4F6"/>
          </a:solidFill>
          <a:ln w="12700">
            <a:solidFill>
              <a:srgbClr val="CBD5E1"/>
            </a:solidFill>
            <a:prstDash val="solid"/>
          </a:ln>
        </p:spPr>
      </p:sp>
      <p:sp>
        <p:nvSpPr>
          <p:cNvPr id="9" name="Text 7"/>
          <p:cNvSpPr/>
          <p:nvPr/>
        </p:nvSpPr>
        <p:spPr>
          <a:xfrm>
            <a:off x="3666744" y="914400"/>
            <a:ext cx="1078992" cy="402336"/>
          </a:xfrm>
          <a:prstGeom prst="rect">
            <a:avLst/>
          </a:prstGeom>
          <a:noFill/>
          <a:ln/>
        </p:spPr>
        <p:txBody>
          <a:bodyPr wrap="square" lIns="0" tIns="0" rIns="0" bIns="0" rtlCol="0" anchor="ctr">
            <a:normAutofit/>
          </a:bodyPr>
          <a:lstStyle/>
          <a:p>
            <a:pPr algn="ctr" indent="0" marL="0">
              <a:buNone/>
            </a:pPr>
            <a:r>
              <a:rPr lang="en-US" sz="1020" dirty="0">
                <a:solidFill>
                  <a:srgbClr val="111827"/>
                </a:solidFill>
                <a:latin typeface="Arial" pitchFamily="34" charset="0"/>
                <a:ea typeface="Arial" pitchFamily="34" charset="-122"/>
                <a:cs typeface="Arial" pitchFamily="34" charset="-120"/>
              </a:rPr>
              <a:t>handleAddBook</a:t>
            </a:r>
            <a:endParaRPr lang="en-US" sz="1020" dirty="0"/>
          </a:p>
        </p:txBody>
      </p:sp>
      <p:sp>
        <p:nvSpPr>
          <p:cNvPr id="10" name="Shape 8"/>
          <p:cNvSpPr/>
          <p:nvPr/>
        </p:nvSpPr>
        <p:spPr>
          <a:xfrm>
            <a:off x="4846320" y="1115568"/>
            <a:ext cx="210312" cy="0"/>
          </a:xfrm>
          <a:prstGeom prst="line">
            <a:avLst/>
          </a:prstGeom>
          <a:noFill/>
          <a:ln w="15875">
            <a:solidFill>
              <a:srgbClr val="2563EB"/>
            </a:solidFill>
            <a:prstDash val="solid"/>
            <a:headEnd type="none"/>
            <a:tailEnd type="triangle"/>
          </a:ln>
        </p:spPr>
      </p:sp>
      <p:sp>
        <p:nvSpPr>
          <p:cNvPr id="11" name="Shape 9"/>
          <p:cNvSpPr/>
          <p:nvPr/>
        </p:nvSpPr>
        <p:spPr>
          <a:xfrm>
            <a:off x="5074920" y="841248"/>
            <a:ext cx="1280160" cy="548640"/>
          </a:xfrm>
          <a:prstGeom prst="roundRect">
            <a:avLst>
              <a:gd name="adj" fmla="val 8333"/>
            </a:avLst>
          </a:prstGeom>
          <a:solidFill>
            <a:srgbClr val="F3F4F6"/>
          </a:solidFill>
          <a:ln w="12700">
            <a:solidFill>
              <a:srgbClr val="CBD5E1"/>
            </a:solidFill>
            <a:prstDash val="solid"/>
          </a:ln>
        </p:spPr>
      </p:sp>
      <p:sp>
        <p:nvSpPr>
          <p:cNvPr id="12" name="Text 10"/>
          <p:cNvSpPr/>
          <p:nvPr/>
        </p:nvSpPr>
        <p:spPr>
          <a:xfrm>
            <a:off x="5175504" y="914400"/>
            <a:ext cx="1078992" cy="402336"/>
          </a:xfrm>
          <a:prstGeom prst="rect">
            <a:avLst/>
          </a:prstGeom>
          <a:noFill/>
          <a:ln/>
        </p:spPr>
        <p:txBody>
          <a:bodyPr wrap="square" lIns="0" tIns="0" rIns="0" bIns="0" rtlCol="0" anchor="ctr">
            <a:normAutofit/>
          </a:bodyPr>
          <a:lstStyle/>
          <a:p>
            <a:pPr algn="ctr" indent="0" marL="0">
              <a:buNone/>
            </a:pPr>
            <a:r>
              <a:rPr lang="en-US" sz="1020" dirty="0">
                <a:solidFill>
                  <a:srgbClr val="111827"/>
                </a:solidFill>
                <a:latin typeface="Arial" pitchFamily="34" charset="0"/>
                <a:ea typeface="Arial" pitchFamily="34" charset="-122"/>
                <a:cs typeface="Arial" pitchFamily="34" charset="-120"/>
              </a:rPr>
              <a:t>Create and append the li</a:t>
            </a:r>
            <a:endParaRPr lang="en-US" sz="1020" dirty="0"/>
          </a:p>
        </p:txBody>
      </p:sp>
      <p:sp>
        <p:nvSpPr>
          <p:cNvPr id="13" name="Shape 11"/>
          <p:cNvSpPr/>
          <p:nvPr/>
        </p:nvSpPr>
        <p:spPr>
          <a:xfrm>
            <a:off x="6355080" y="1115568"/>
            <a:ext cx="210312" cy="0"/>
          </a:xfrm>
          <a:prstGeom prst="line">
            <a:avLst/>
          </a:prstGeom>
          <a:noFill/>
          <a:ln w="15875">
            <a:solidFill>
              <a:srgbClr val="2563EB"/>
            </a:solidFill>
            <a:prstDash val="solid"/>
            <a:headEnd type="none"/>
            <a:tailEnd type="triangle"/>
          </a:ln>
        </p:spPr>
      </p:sp>
      <p:sp>
        <p:nvSpPr>
          <p:cNvPr id="14" name="Shape 12"/>
          <p:cNvSpPr/>
          <p:nvPr/>
        </p:nvSpPr>
        <p:spPr>
          <a:xfrm>
            <a:off x="6583680" y="841248"/>
            <a:ext cx="1280160" cy="548640"/>
          </a:xfrm>
          <a:prstGeom prst="roundRect">
            <a:avLst>
              <a:gd name="adj" fmla="val 8333"/>
            </a:avLst>
          </a:prstGeom>
          <a:solidFill>
            <a:srgbClr val="F3F4F6"/>
          </a:solidFill>
          <a:ln w="12700">
            <a:solidFill>
              <a:srgbClr val="CBD5E1"/>
            </a:solidFill>
            <a:prstDash val="solid"/>
          </a:ln>
        </p:spPr>
      </p:sp>
      <p:sp>
        <p:nvSpPr>
          <p:cNvPr id="15" name="Text 13"/>
          <p:cNvSpPr/>
          <p:nvPr/>
        </p:nvSpPr>
        <p:spPr>
          <a:xfrm>
            <a:off x="6684264" y="914400"/>
            <a:ext cx="1078992" cy="402336"/>
          </a:xfrm>
          <a:prstGeom prst="rect">
            <a:avLst/>
          </a:prstGeom>
          <a:noFill/>
          <a:ln/>
        </p:spPr>
        <p:txBody>
          <a:bodyPr wrap="square" lIns="0" tIns="0" rIns="0" bIns="0" rtlCol="0" anchor="ctr">
            <a:normAutofit/>
          </a:bodyPr>
          <a:lstStyle/>
          <a:p>
            <a:pPr algn="ctr" indent="0" marL="0">
              <a:buNone/>
            </a:pPr>
            <a:r>
              <a:rPr lang="en-US" sz="1020" dirty="0">
                <a:solidFill>
                  <a:srgbClr val="111827"/>
                </a:solidFill>
                <a:latin typeface="Arial" pitchFamily="34" charset="0"/>
                <a:ea typeface="Arial" pitchFamily="34" charset="-122"/>
                <a:cs typeface="Arial" pitchFamily="34" charset="-120"/>
              </a:rPr>
              <a:t>Update the status</a:t>
            </a:r>
            <a:endParaRPr lang="en-US" sz="1020" dirty="0"/>
          </a:p>
        </p:txBody>
      </p:sp>
      <p:sp>
        <p:nvSpPr>
          <p:cNvPr id="16" name="Shape 14"/>
          <p:cNvSpPr/>
          <p:nvPr/>
        </p:nvSpPr>
        <p:spPr>
          <a:xfrm>
            <a:off x="685800" y="2121408"/>
            <a:ext cx="1188720" cy="310896"/>
          </a:xfrm>
          <a:prstGeom prst="roundRect">
            <a:avLst>
              <a:gd name="adj" fmla="val 14706"/>
            </a:avLst>
          </a:prstGeom>
          <a:solidFill>
            <a:srgbClr val="FEF3C7"/>
          </a:solidFill>
          <a:ln w="12700">
            <a:solidFill>
              <a:srgbClr val="CBD5E1"/>
            </a:solidFill>
            <a:prstDash val="solid"/>
          </a:ln>
        </p:spPr>
      </p:sp>
      <p:sp>
        <p:nvSpPr>
          <p:cNvPr id="17" name="Text 15"/>
          <p:cNvSpPr/>
          <p:nvPr/>
        </p:nvSpPr>
        <p:spPr>
          <a:xfrm>
            <a:off x="786384" y="2194560"/>
            <a:ext cx="987552" cy="164592"/>
          </a:xfrm>
          <a:prstGeom prst="rect">
            <a:avLst/>
          </a:prstGeom>
          <a:noFill/>
          <a:ln/>
        </p:spPr>
        <p:txBody>
          <a:bodyPr wrap="square" lIns="0" tIns="0" rIns="0" bIns="0" rtlCol="0" anchor="ctr">
            <a:normAutofit/>
          </a:bodyPr>
          <a:lstStyle/>
          <a:p>
            <a:pPr algn="ctr" indent="0" marL="0">
              <a:buNone/>
            </a:pPr>
            <a:r>
              <a:rPr lang="en-US" sz="1240" b="1" dirty="0">
                <a:solidFill>
                  <a:srgbClr val="111827"/>
                </a:solidFill>
                <a:latin typeface="Arial" pitchFamily="34" charset="0"/>
                <a:ea typeface="Arial" pitchFamily="34" charset="-122"/>
                <a:cs typeface="Arial" pitchFamily="34" charset="-120"/>
              </a:rPr>
              <a:t>Remove latest</a:t>
            </a:r>
            <a:endParaRPr lang="en-US" sz="1240" dirty="0"/>
          </a:p>
        </p:txBody>
      </p:sp>
      <p:sp>
        <p:nvSpPr>
          <p:cNvPr id="18" name="Shape 16"/>
          <p:cNvSpPr/>
          <p:nvPr/>
        </p:nvSpPr>
        <p:spPr>
          <a:xfrm>
            <a:off x="2057400" y="1993392"/>
            <a:ext cx="1280160" cy="548640"/>
          </a:xfrm>
          <a:prstGeom prst="roundRect">
            <a:avLst>
              <a:gd name="adj" fmla="val 8333"/>
            </a:avLst>
          </a:prstGeom>
          <a:solidFill>
            <a:srgbClr val="F3F4F6"/>
          </a:solidFill>
          <a:ln w="12700">
            <a:solidFill>
              <a:srgbClr val="CBD5E1"/>
            </a:solidFill>
            <a:prstDash val="solid"/>
          </a:ln>
        </p:spPr>
      </p:sp>
      <p:sp>
        <p:nvSpPr>
          <p:cNvPr id="19" name="Text 17"/>
          <p:cNvSpPr/>
          <p:nvPr/>
        </p:nvSpPr>
        <p:spPr>
          <a:xfrm>
            <a:off x="2157984" y="2066544"/>
            <a:ext cx="1078992" cy="402336"/>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rial" pitchFamily="34" charset="0"/>
                <a:ea typeface="Arial" pitchFamily="34" charset="-122"/>
                <a:cs typeface="Arial" pitchFamily="34" charset="-120"/>
              </a:rPr>
              <a:t>Button click</a:t>
            </a:r>
            <a:endParaRPr lang="en-US" sz="950" dirty="0"/>
          </a:p>
        </p:txBody>
      </p:sp>
      <p:sp>
        <p:nvSpPr>
          <p:cNvPr id="20" name="Shape 18"/>
          <p:cNvSpPr/>
          <p:nvPr/>
        </p:nvSpPr>
        <p:spPr>
          <a:xfrm>
            <a:off x="3337560" y="2267712"/>
            <a:ext cx="210312" cy="0"/>
          </a:xfrm>
          <a:prstGeom prst="line">
            <a:avLst/>
          </a:prstGeom>
          <a:noFill/>
          <a:ln w="15875">
            <a:solidFill>
              <a:srgbClr val="2563EB"/>
            </a:solidFill>
            <a:prstDash val="solid"/>
            <a:headEnd type="none"/>
            <a:tailEnd type="triangle"/>
          </a:ln>
        </p:spPr>
      </p:sp>
      <p:sp>
        <p:nvSpPr>
          <p:cNvPr id="21" name="Shape 19"/>
          <p:cNvSpPr/>
          <p:nvPr/>
        </p:nvSpPr>
        <p:spPr>
          <a:xfrm>
            <a:off x="3566160" y="1993392"/>
            <a:ext cx="1280160" cy="548640"/>
          </a:xfrm>
          <a:prstGeom prst="roundRect">
            <a:avLst>
              <a:gd name="adj" fmla="val 8333"/>
            </a:avLst>
          </a:prstGeom>
          <a:solidFill>
            <a:srgbClr val="F3F4F6"/>
          </a:solidFill>
          <a:ln w="12700">
            <a:solidFill>
              <a:srgbClr val="CBD5E1"/>
            </a:solidFill>
            <a:prstDash val="solid"/>
          </a:ln>
        </p:spPr>
      </p:sp>
      <p:sp>
        <p:nvSpPr>
          <p:cNvPr id="22" name="Text 20"/>
          <p:cNvSpPr/>
          <p:nvPr/>
        </p:nvSpPr>
        <p:spPr>
          <a:xfrm>
            <a:off x="3666744" y="2066544"/>
            <a:ext cx="1078992" cy="402336"/>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rial" pitchFamily="34" charset="0"/>
                <a:ea typeface="Arial" pitchFamily="34" charset="-122"/>
                <a:cs typeface="Arial" pitchFamily="34" charset="-120"/>
              </a:rPr>
              <a:t>handleRemoveBook</a:t>
            </a:r>
            <a:endParaRPr lang="en-US" sz="950" dirty="0"/>
          </a:p>
        </p:txBody>
      </p:sp>
      <p:sp>
        <p:nvSpPr>
          <p:cNvPr id="23" name="Shape 21"/>
          <p:cNvSpPr/>
          <p:nvPr/>
        </p:nvSpPr>
        <p:spPr>
          <a:xfrm>
            <a:off x="4846320" y="2267712"/>
            <a:ext cx="210312" cy="0"/>
          </a:xfrm>
          <a:prstGeom prst="line">
            <a:avLst/>
          </a:prstGeom>
          <a:noFill/>
          <a:ln w="15875">
            <a:solidFill>
              <a:srgbClr val="2563EB"/>
            </a:solidFill>
            <a:prstDash val="solid"/>
            <a:headEnd type="none"/>
            <a:tailEnd type="triangle"/>
          </a:ln>
        </p:spPr>
      </p:sp>
      <p:sp>
        <p:nvSpPr>
          <p:cNvPr id="24" name="Shape 22"/>
          <p:cNvSpPr/>
          <p:nvPr/>
        </p:nvSpPr>
        <p:spPr>
          <a:xfrm>
            <a:off x="5074920" y="1993392"/>
            <a:ext cx="1280160" cy="548640"/>
          </a:xfrm>
          <a:prstGeom prst="roundRect">
            <a:avLst>
              <a:gd name="adj" fmla="val 8333"/>
            </a:avLst>
          </a:prstGeom>
          <a:solidFill>
            <a:srgbClr val="F3F4F6"/>
          </a:solidFill>
          <a:ln w="12700">
            <a:solidFill>
              <a:srgbClr val="CBD5E1"/>
            </a:solidFill>
            <a:prstDash val="solid"/>
          </a:ln>
        </p:spPr>
      </p:sp>
      <p:sp>
        <p:nvSpPr>
          <p:cNvPr id="25" name="Text 23"/>
          <p:cNvSpPr/>
          <p:nvPr/>
        </p:nvSpPr>
        <p:spPr>
          <a:xfrm>
            <a:off x="5175504" y="2066544"/>
            <a:ext cx="1078992" cy="402336"/>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rial" pitchFamily="34" charset="0"/>
                <a:ea typeface="Arial" pitchFamily="34" charset="-122"/>
                <a:cs typeface="Arial" pitchFamily="34" charset="-120"/>
              </a:rPr>
              <a:t>Find the final li</a:t>
            </a:r>
            <a:endParaRPr lang="en-US" sz="950" dirty="0"/>
          </a:p>
        </p:txBody>
      </p:sp>
      <p:sp>
        <p:nvSpPr>
          <p:cNvPr id="26" name="Shape 24"/>
          <p:cNvSpPr/>
          <p:nvPr/>
        </p:nvSpPr>
        <p:spPr>
          <a:xfrm>
            <a:off x="6355080" y="2267712"/>
            <a:ext cx="210312" cy="0"/>
          </a:xfrm>
          <a:prstGeom prst="line">
            <a:avLst/>
          </a:prstGeom>
          <a:noFill/>
          <a:ln w="15875">
            <a:solidFill>
              <a:srgbClr val="2563EB"/>
            </a:solidFill>
            <a:prstDash val="solid"/>
            <a:headEnd type="none"/>
            <a:tailEnd type="triangle"/>
          </a:ln>
        </p:spPr>
      </p:sp>
      <p:sp>
        <p:nvSpPr>
          <p:cNvPr id="27" name="Shape 25"/>
          <p:cNvSpPr/>
          <p:nvPr/>
        </p:nvSpPr>
        <p:spPr>
          <a:xfrm>
            <a:off x="6583680" y="1993392"/>
            <a:ext cx="1280160" cy="548640"/>
          </a:xfrm>
          <a:prstGeom prst="roundRect">
            <a:avLst>
              <a:gd name="adj" fmla="val 8333"/>
            </a:avLst>
          </a:prstGeom>
          <a:solidFill>
            <a:srgbClr val="F3F4F6"/>
          </a:solidFill>
          <a:ln w="12700">
            <a:solidFill>
              <a:srgbClr val="CBD5E1"/>
            </a:solidFill>
            <a:prstDash val="solid"/>
          </a:ln>
        </p:spPr>
      </p:sp>
      <p:sp>
        <p:nvSpPr>
          <p:cNvPr id="28" name="Text 26"/>
          <p:cNvSpPr/>
          <p:nvPr/>
        </p:nvSpPr>
        <p:spPr>
          <a:xfrm>
            <a:off x="6684264" y="2066544"/>
            <a:ext cx="1078992" cy="402336"/>
          </a:xfrm>
          <a:prstGeom prst="rect">
            <a:avLst/>
          </a:prstGeom>
          <a:noFill/>
          <a:ln/>
        </p:spPr>
        <p:txBody>
          <a:bodyPr wrap="square" lIns="0" tIns="0" rIns="0" bIns="0" rtlCol="0" anchor="ctr">
            <a:normAutofit/>
          </a:bodyPr>
          <a:lstStyle/>
          <a:p>
            <a:pPr algn="ctr" indent="0" marL="0">
              <a:buNone/>
            </a:pPr>
            <a:r>
              <a:rPr lang="en-US" sz="950" dirty="0">
                <a:solidFill>
                  <a:srgbClr val="111827"/>
                </a:solidFill>
                <a:latin typeface="Arial" pitchFamily="34" charset="0"/>
                <a:ea typeface="Arial" pitchFamily="34" charset="-122"/>
                <a:cs typeface="Arial" pitchFamily="34" charset="-120"/>
              </a:rPr>
              <a:t>Remove or display empty state</a:t>
            </a:r>
            <a:endParaRPr lang="en-US" sz="950" dirty="0"/>
          </a:p>
        </p:txBody>
      </p:sp>
      <p:sp>
        <p:nvSpPr>
          <p:cNvPr id="29" name="Text 27"/>
          <p:cNvSpPr/>
          <p:nvPr/>
        </p:nvSpPr>
        <p:spPr>
          <a:xfrm>
            <a:off x="685800" y="3337560"/>
            <a:ext cx="2560320" cy="228600"/>
          </a:xfrm>
          <a:prstGeom prst="rect">
            <a:avLst/>
          </a:prstGeom>
          <a:noFill/>
          <a:ln/>
        </p:spPr>
        <p:txBody>
          <a:bodyPr wrap="square" lIns="0" tIns="0" rIns="0" bIns="0" rtlCol="0" anchor="t">
            <a:normAutofit/>
          </a:bodyPr>
          <a:lstStyle/>
          <a:p>
            <a:pPr algn="l" indent="0" marL="0">
              <a:lnSpc>
                <a:spcPct val="105000"/>
              </a:lnSpc>
              <a:buNone/>
            </a:pPr>
            <a:r>
              <a:rPr lang="en-US" sz="1350" b="1" dirty="0">
                <a:solidFill>
                  <a:srgbClr val="111827"/>
                </a:solidFill>
                <a:latin typeface="Arial" pitchFamily="34" charset="0"/>
                <a:ea typeface="Arial" pitchFamily="34" charset="-122"/>
                <a:cs typeface="Arial" pitchFamily="34" charset="-120"/>
              </a:rPr>
              <a:t>Test the completed manager</a:t>
            </a:r>
            <a:endParaRPr lang="en-US" sz="1350" dirty="0"/>
          </a:p>
        </p:txBody>
      </p:sp>
      <p:sp>
        <p:nvSpPr>
          <p:cNvPr id="30" name="Text 28"/>
          <p:cNvSpPr/>
          <p:nvPr/>
        </p:nvSpPr>
        <p:spPr>
          <a:xfrm>
            <a:off x="868680" y="3675888"/>
            <a:ext cx="7315200" cy="219456"/>
          </a:xfrm>
          <a:prstGeom prst="rect">
            <a:avLst/>
          </a:prstGeom>
          <a:noFill/>
          <a:ln/>
        </p:spPr>
        <p:txBody>
          <a:bodyPr wrap="square" lIns="0" tIns="0" rIns="0" bIns="0" rtlCol="0" anchor="ctr">
            <a:normAutofit/>
          </a:bodyPr>
          <a:lstStyle/>
          <a:p>
            <a:r>
              <a:rPr lang="en-US" sz="1130" dirty="0">
                <a:solidFill>
                  <a:srgbClr val="111827"/>
                </a:solidFill>
                <a:latin typeface="Arial" pitchFamily="34" charset="0"/>
                <a:ea typeface="Arial" pitchFamily="34" charset="-122"/>
                <a:cs typeface="Arial" pitchFamily="34" charset="-120"/>
              </a:rPr>
              <a:t>Add two books.</a:t>
            </a:r>
            <a:endParaRPr lang="en-US" sz="1130" dirty="0"/>
          </a:p>
        </p:txBody>
      </p:sp>
      <p:sp>
        <p:nvSpPr>
          <p:cNvPr id="31" name="Text 29"/>
          <p:cNvSpPr/>
          <p:nvPr/>
        </p:nvSpPr>
        <p:spPr>
          <a:xfrm>
            <a:off x="868680" y="3936492"/>
            <a:ext cx="7315200" cy="219456"/>
          </a:xfrm>
          <a:prstGeom prst="rect">
            <a:avLst/>
          </a:prstGeom>
          <a:noFill/>
          <a:ln/>
        </p:spPr>
        <p:txBody>
          <a:bodyPr wrap="square" lIns="0" tIns="0" rIns="0" bIns="0" rtlCol="0" anchor="ctr">
            <a:normAutofit/>
          </a:bodyPr>
          <a:lstStyle/>
          <a:p>
            <a:r>
              <a:rPr lang="en-US" sz="1130" dirty="0">
                <a:solidFill>
                  <a:srgbClr val="111827"/>
                </a:solidFill>
                <a:latin typeface="Arial" pitchFamily="34" charset="0"/>
                <a:ea typeface="Arial" pitchFamily="34" charset="-122"/>
                <a:cs typeface="Arial" pitchFamily="34" charset="-120"/>
              </a:rPr>
              <a:t>Remove books until the list is empty.</a:t>
            </a:r>
            <a:endParaRPr lang="en-US" sz="1130" dirty="0"/>
          </a:p>
        </p:txBody>
      </p:sp>
      <p:sp>
        <p:nvSpPr>
          <p:cNvPr id="32" name="Text 30"/>
          <p:cNvSpPr/>
          <p:nvPr/>
        </p:nvSpPr>
        <p:spPr>
          <a:xfrm>
            <a:off x="868680" y="4197096"/>
            <a:ext cx="7315200" cy="219456"/>
          </a:xfrm>
          <a:prstGeom prst="rect">
            <a:avLst/>
          </a:prstGeom>
          <a:noFill/>
          <a:ln/>
        </p:spPr>
        <p:txBody>
          <a:bodyPr wrap="square" lIns="0" tIns="0" rIns="0" bIns="0" rtlCol="0" anchor="ctr">
            <a:normAutofit/>
          </a:bodyPr>
          <a:lstStyle/>
          <a:p>
            <a:r>
              <a:rPr lang="en-US" sz="1130" dirty="0">
                <a:solidFill>
                  <a:srgbClr val="111827"/>
                </a:solidFill>
                <a:latin typeface="Arial" pitchFamily="34" charset="0"/>
                <a:ea typeface="Arial" pitchFamily="34" charset="-122"/>
                <a:cs typeface="Arial" pitchFamily="34" charset="-120"/>
              </a:rPr>
              <a:t>Click Remove latest once more.</a:t>
            </a:r>
            <a:endParaRPr lang="en-US" sz="1130" dirty="0"/>
          </a:p>
        </p:txBody>
      </p:sp>
      <p:sp>
        <p:nvSpPr>
          <p:cNvPr id="33" name="Text 31"/>
          <p:cNvSpPr/>
          <p:nvPr/>
        </p:nvSpPr>
        <p:spPr>
          <a:xfrm>
            <a:off x="868680" y="4457700"/>
            <a:ext cx="7315200" cy="219456"/>
          </a:xfrm>
          <a:prstGeom prst="rect">
            <a:avLst/>
          </a:prstGeom>
          <a:noFill/>
          <a:ln/>
        </p:spPr>
        <p:txBody>
          <a:bodyPr wrap="square" lIns="0" tIns="0" rIns="0" bIns="0" rtlCol="0" anchor="ctr">
            <a:normAutofit/>
          </a:bodyPr>
          <a:lstStyle/>
          <a:p>
            <a:r>
              <a:rPr lang="en-US" sz="1130" dirty="0">
                <a:solidFill>
                  <a:srgbClr val="111827"/>
                </a:solidFill>
                <a:latin typeface="Arial" pitchFamily="34" charset="0"/>
                <a:ea typeface="Arial" pitchFamily="34" charset="-122"/>
                <a:cs typeface="Arial" pitchFamily="34" charset="-120"/>
              </a:rPr>
              <a:t>Confirm that no console error appears.</a:t>
            </a:r>
            <a:endParaRPr lang="en-US" sz="113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1285646" y="2048256"/>
            <a:ext cx="6572707" cy="502920"/>
          </a:xfrm>
          <a:prstGeom prst="rect">
            <a:avLst/>
          </a:prstGeom>
          <a:noFill/>
          <a:ln/>
        </p:spPr>
        <p:txBody>
          <a:bodyPr wrap="square" lIns="0" tIns="0" rIns="0" bIns="0" rtlCol="0" anchor="ctr"/>
          <a:lstStyle/>
          <a:p>
            <a:pPr algn="ctr" indent="0" marL="0">
              <a:buNone/>
            </a:pPr>
            <a:r>
              <a:rPr lang="en-US" sz="2550" b="1" dirty="0">
                <a:solidFill>
                  <a:srgbClr val="111827"/>
                </a:solidFill>
                <a:latin typeface="Arial" pitchFamily="34" charset="0"/>
                <a:ea typeface="Arial" pitchFamily="34" charset="-122"/>
                <a:cs typeface="Arial" pitchFamily="34" charset="-120"/>
              </a:rPr>
              <a:t>Debug clinic</a:t>
            </a:r>
            <a:endParaRPr lang="en-US" sz="2550" dirty="0"/>
          </a:p>
        </p:txBody>
      </p:sp>
      <p:sp>
        <p:nvSpPr>
          <p:cNvPr id="3" name="Text 1"/>
          <p:cNvSpPr/>
          <p:nvPr/>
        </p:nvSpPr>
        <p:spPr>
          <a:xfrm>
            <a:off x="1828800" y="2615184"/>
            <a:ext cx="5486400" cy="320040"/>
          </a:xfrm>
          <a:prstGeom prst="rect">
            <a:avLst/>
          </a:prstGeom>
          <a:noFill/>
          <a:ln/>
        </p:spPr>
        <p:txBody>
          <a:bodyPr wrap="square" lIns="0" tIns="0" rIns="0" bIns="0" rtlCol="0" anchor="ctr"/>
          <a:lstStyle/>
          <a:p>
            <a:pPr algn="ctr" indent="0" marL="0">
              <a:buNone/>
            </a:pPr>
            <a:r>
              <a:rPr lang="en-US" sz="1350" dirty="0">
                <a:solidFill>
                  <a:srgbClr val="334155"/>
                </a:solidFill>
                <a:latin typeface="Arial" pitchFamily="34" charset="0"/>
                <a:ea typeface="Arial" pitchFamily="34" charset="-122"/>
                <a:cs typeface="Arial" pitchFamily="34" charset="-120"/>
              </a:rPr>
              <a:t>Find the cause before changing the code.</a:t>
            </a:r>
            <a:endParaRPr lang="en-US" sz="135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The handler runs before the click</a:t>
            </a:r>
            <a:endParaRPr lang="en-US" sz="2100" dirty="0"/>
          </a:p>
        </p:txBody>
      </p:sp>
      <p:sp>
        <p:nvSpPr>
          <p:cNvPr id="3" name="Shape 1"/>
          <p:cNvSpPr/>
          <p:nvPr/>
        </p:nvSpPr>
        <p:spPr>
          <a:xfrm>
            <a:off x="685800" y="960120"/>
            <a:ext cx="3657600" cy="1143000"/>
          </a:xfrm>
          <a:prstGeom prst="rect">
            <a:avLst/>
          </a:prstGeom>
          <a:solidFill>
            <a:srgbClr val="0F172A"/>
          </a:solidFill>
          <a:ln w="12700">
            <a:solidFill>
              <a:srgbClr val="0F172A"/>
            </a:solidFill>
            <a:prstDash val="solid"/>
          </a:ln>
        </p:spPr>
      </p:sp>
      <p:sp>
        <p:nvSpPr>
          <p:cNvPr id="4" name="Text 2"/>
          <p:cNvSpPr/>
          <p:nvPr/>
        </p:nvSpPr>
        <p:spPr>
          <a:xfrm>
            <a:off x="813816" y="1069848"/>
            <a:ext cx="3401568" cy="92354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downloadButton.addEventListener(</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"click",</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handleDownload()</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5" name="Shape 3"/>
          <p:cNvSpPr/>
          <p:nvPr/>
        </p:nvSpPr>
        <p:spPr>
          <a:xfrm>
            <a:off x="685800" y="2423160"/>
            <a:ext cx="3657600" cy="822960"/>
          </a:xfrm>
          <a:prstGeom prst="roundRect">
            <a:avLst>
              <a:gd name="adj" fmla="val 5556"/>
            </a:avLst>
          </a:prstGeom>
          <a:solidFill>
            <a:srgbClr val="FEE2E2"/>
          </a:solidFill>
          <a:ln w="12700">
            <a:solidFill>
              <a:srgbClr val="CBD5E1"/>
            </a:solidFill>
            <a:prstDash val="solid"/>
          </a:ln>
        </p:spPr>
      </p:sp>
      <p:sp>
        <p:nvSpPr>
          <p:cNvPr id="6" name="Text 4"/>
          <p:cNvSpPr/>
          <p:nvPr/>
        </p:nvSpPr>
        <p:spPr>
          <a:xfrm>
            <a:off x="786384" y="2496312"/>
            <a:ext cx="3456432" cy="676656"/>
          </a:xfrm>
          <a:prstGeom prst="rect">
            <a:avLst/>
          </a:prstGeom>
          <a:noFill/>
          <a:ln/>
        </p:spPr>
        <p:txBody>
          <a:bodyPr wrap="square" lIns="0" tIns="0" rIns="0" bIns="0" rtlCol="0" anchor="ctr">
            <a:normAutofit/>
          </a:bodyPr>
          <a:lstStyle/>
          <a:p>
            <a:pPr algn="l" indent="0" marL="0">
              <a:buNone/>
            </a:pPr>
            <a:r>
              <a:rPr lang="en-US" sz="1100" dirty="0">
                <a:solidFill>
                  <a:srgbClr val="111827"/>
                </a:solidFill>
                <a:latin typeface="Arial" pitchFamily="34" charset="0"/>
                <a:ea typeface="Arial" pitchFamily="34" charset="-122"/>
                <a:cs typeface="Arial" pitchFamily="34" charset="-120"/>
              </a:rPr>
              <a:t>Observed behaviour</a:t>
            </a:r>
            <a:endParaRPr lang="en-US" sz="1100" dirty="0"/>
          </a:p>
          <a:p>
            <a:pPr algn="l" indent="0" marL="0">
              <a:buNone/>
            </a:pPr>
            <a:r>
              <a:rPr lang="en-US" sz="1100" dirty="0">
                <a:solidFill>
                  <a:srgbClr val="111827"/>
                </a:solidFill>
                <a:latin typeface="Arial" pitchFamily="34" charset="0"/>
                <a:ea typeface="Arial" pitchFamily="34" charset="-122"/>
                <a:cs typeface="Arial" pitchFamily="34" charset="-120"/>
              </a:rPr>
              <a:t>The status changes while the page loads.</a:t>
            </a:r>
            <a:endParaRPr lang="en-US" sz="1100" dirty="0"/>
          </a:p>
          <a:p>
            <a:pPr algn="l" indent="0" marL="0">
              <a:buNone/>
            </a:pPr>
            <a:r>
              <a:rPr lang="en-US" sz="1100" dirty="0">
                <a:solidFill>
                  <a:srgbClr val="111827"/>
                </a:solidFill>
                <a:latin typeface="Arial" pitchFamily="34" charset="0"/>
                <a:ea typeface="Arial" pitchFamily="34" charset="-122"/>
                <a:cs typeface="Arial" pitchFamily="34" charset="-120"/>
              </a:rPr>
              <a:t>Clicking the button does nothing.</a:t>
            </a:r>
            <a:endParaRPr lang="en-US" sz="1100" dirty="0"/>
          </a:p>
        </p:txBody>
      </p:sp>
      <p:sp>
        <p:nvSpPr>
          <p:cNvPr id="7" name="Text 5"/>
          <p:cNvSpPr/>
          <p:nvPr/>
        </p:nvSpPr>
        <p:spPr>
          <a:xfrm>
            <a:off x="4754880" y="1005840"/>
            <a:ext cx="3474720" cy="274320"/>
          </a:xfrm>
          <a:prstGeom prst="rect">
            <a:avLst/>
          </a:prstGeom>
          <a:noFill/>
          <a:ln/>
        </p:spPr>
        <p:txBody>
          <a:bodyPr wrap="square" lIns="0" tIns="0" rIns="0" bIns="0" rtlCol="0" anchor="t">
            <a:normAutofit/>
          </a:bodyPr>
          <a:lstStyle/>
          <a:p>
            <a:pPr algn="l" indent="0" marL="0">
              <a:lnSpc>
                <a:spcPct val="105000"/>
              </a:lnSpc>
              <a:buNone/>
            </a:pPr>
            <a:r>
              <a:rPr lang="en-US" sz="1280" b="1" dirty="0">
                <a:solidFill>
                  <a:srgbClr val="111827"/>
                </a:solidFill>
                <a:latin typeface="Arial" pitchFamily="34" charset="0"/>
                <a:ea typeface="Arial" pitchFamily="34" charset="-122"/>
                <a:cs typeface="Arial" pitchFamily="34" charset="-120"/>
              </a:rPr>
              <a:t>What caused the problem?</a:t>
            </a:r>
            <a:endParaRPr lang="en-US" sz="1280" dirty="0"/>
          </a:p>
        </p:txBody>
      </p:sp>
      <p:sp>
        <p:nvSpPr>
          <p:cNvPr id="8" name="Text 6"/>
          <p:cNvSpPr/>
          <p:nvPr/>
        </p:nvSpPr>
        <p:spPr>
          <a:xfrm>
            <a:off x="4754880" y="1417320"/>
            <a:ext cx="3566160" cy="2103120"/>
          </a:xfrm>
          <a:prstGeom prst="rect">
            <a:avLst/>
          </a:prstGeom>
          <a:noFill/>
          <a:ln/>
        </p:spPr>
        <p:txBody>
          <a:bodyPr wrap="square" lIns="381" tIns="381" rIns="381" bIns="381" rtlCol="0" anchor="t">
            <a:normAutofit/>
          </a:bodyPr>
          <a:lstStyle/>
          <a:p>
            <a:pPr indent="0" marL="0">
              <a:buNone/>
            </a:pPr>
            <a:r>
              <a:rPr lang="en-US" sz="1150" dirty="0">
                <a:solidFill>
                  <a:srgbClr val="111827"/>
                </a:solidFill>
                <a:latin typeface="Arial" pitchFamily="34" charset="0"/>
                <a:ea typeface="Arial" pitchFamily="34" charset="-122"/>
                <a:cs typeface="Arial" pitchFamily="34" charset="-120"/>
              </a:rPr>
              <a:t>A. handleDownload() calls the function instead of passing it.</a:t>
            </a:r>
            <a:endParaRPr lang="en-US" sz="1150" dirty="0"/>
          </a:p>
          <a:p>
            <a:pPr indent="0" marL="0">
              <a:buNone/>
            </a:pPr>
            <a:r>
              <a:rPr lang="en-US" sz="1150" dirty="0">
                <a:solidFill>
                  <a:srgbClr val="111827"/>
                </a:solidFill>
                <a:latin typeface="Arial" pitchFamily="34" charset="0"/>
                <a:ea typeface="Arial" pitchFamily="34" charset="-122"/>
                <a:cs typeface="Arial" pitchFamily="34" charset="-120"/>
              </a:rPr>
              <a:t>B. The click event cannot be used with a button.</a:t>
            </a:r>
            <a:endParaRPr lang="en-US" sz="1150" dirty="0"/>
          </a:p>
          <a:p>
            <a:pPr indent="0" marL="0">
              <a:buNone/>
            </a:pPr>
            <a:r>
              <a:rPr lang="en-US" sz="1150" dirty="0">
                <a:solidFill>
                  <a:srgbClr val="111827"/>
                </a:solidFill>
                <a:latin typeface="Arial" pitchFamily="34" charset="0"/>
                <a:ea typeface="Arial" pitchFamily="34" charset="-122"/>
                <a:cs typeface="Arial" pitchFamily="34" charset="-120"/>
              </a:rPr>
              <a:t>C. The button must be selected again inside the handler.</a:t>
            </a:r>
            <a:endParaRPr lang="en-US" sz="1150" dirty="0"/>
          </a:p>
          <a:p>
            <a:pPr indent="0" marL="0">
              <a:buNone/>
            </a:pPr>
            <a:r>
              <a:rPr lang="en-US" sz="1150" dirty="0">
                <a:solidFill>
                  <a:srgbClr val="111827"/>
                </a:solidFill>
                <a:latin typeface="Arial" pitchFamily="34" charset="0"/>
                <a:ea typeface="Arial" pitchFamily="34" charset="-122"/>
                <a:cs typeface="Arial" pitchFamily="34" charset="-120"/>
              </a:rPr>
              <a:t>D. The handler must receive an event parameter.</a:t>
            </a:r>
            <a:endParaRPr lang="en-US" sz="1150" dirty="0"/>
          </a:p>
        </p:txBody>
      </p:sp>
      <p:sp>
        <p:nvSpPr>
          <p:cNvPr id="9" name="Shape 7"/>
          <p:cNvSpPr/>
          <p:nvPr/>
        </p:nvSpPr>
        <p:spPr>
          <a:xfrm>
            <a:off x="685800" y="4160520"/>
            <a:ext cx="7269480" cy="457200"/>
          </a:xfrm>
          <a:prstGeom prst="roundRect">
            <a:avLst>
              <a:gd name="adj" fmla="val 12000"/>
            </a:avLst>
          </a:prstGeom>
          <a:solidFill>
            <a:srgbClr val="DCFCE7"/>
          </a:solidFill>
          <a:ln w="12700">
            <a:solidFill>
              <a:srgbClr val="86EFAC"/>
            </a:solidFill>
            <a:prstDash val="solid"/>
          </a:ln>
        </p:spPr>
      </p:sp>
      <p:sp>
        <p:nvSpPr>
          <p:cNvPr id="10" name="Text 8"/>
          <p:cNvSpPr/>
          <p:nvPr/>
        </p:nvSpPr>
        <p:spPr>
          <a:xfrm>
            <a:off x="795528" y="4224528"/>
            <a:ext cx="7050024" cy="310896"/>
          </a:xfrm>
          <a:prstGeom prst="rect">
            <a:avLst/>
          </a:prstGeom>
          <a:noFill/>
          <a:ln/>
        </p:spPr>
        <p:txBody>
          <a:bodyPr wrap="square" lIns="0" tIns="0" rIns="0" bIns="0" rtlCol="0" anchor="ctr">
            <a:normAutofit/>
          </a:bodyPr>
          <a:lstStyle/>
          <a:p>
            <a:pPr indent="0" marL="0">
              <a:buNone/>
            </a:pPr>
            <a:r>
              <a:rPr lang="en-US" sz="1020" dirty="0">
                <a:solidFill>
                  <a:srgbClr val="111827"/>
                </a:solidFill>
                <a:latin typeface="Arial" pitchFamily="34" charset="0"/>
                <a:ea typeface="Arial" pitchFamily="34" charset="-122"/>
                <a:cs typeface="Arial" pitchFamily="34" charset="-120"/>
              </a:rPr>
              <a:t>Answer: A</a:t>
            </a:r>
            <a:endParaRPr lang="en-US" sz="1020" dirty="0"/>
          </a:p>
          <a:p>
            <a:pPr indent="0" marL="0">
              <a:buNone/>
            </a:pPr>
            <a:r>
              <a:rPr lang="en-US" sz="1020" dirty="0">
                <a:solidFill>
                  <a:srgbClr val="111827"/>
                </a:solidFill>
                <a:latin typeface="Arial" pitchFamily="34" charset="0"/>
                <a:ea typeface="Arial" pitchFamily="34" charset="-122"/>
                <a:cs typeface="Arial" pitchFamily="34" charset="-120"/>
              </a:rPr>
              <a:t>Pass handleDownload without parentheses so the browser can run it after the click.</a:t>
            </a:r>
            <a:endParaRPr lang="en-US" sz="102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The element is created but never displayed</a:t>
            </a:r>
            <a:endParaRPr lang="en-US" sz="2100" dirty="0"/>
          </a:p>
        </p:txBody>
      </p:sp>
      <p:sp>
        <p:nvSpPr>
          <p:cNvPr id="3" name="Shape 1"/>
          <p:cNvSpPr/>
          <p:nvPr/>
        </p:nvSpPr>
        <p:spPr>
          <a:xfrm>
            <a:off x="685800" y="960120"/>
            <a:ext cx="3749040" cy="1965960"/>
          </a:xfrm>
          <a:prstGeom prst="rect">
            <a:avLst/>
          </a:prstGeom>
          <a:solidFill>
            <a:srgbClr val="0F172A"/>
          </a:solidFill>
          <a:ln w="12700">
            <a:solidFill>
              <a:srgbClr val="0F172A"/>
            </a:solidFill>
            <a:prstDash val="solid"/>
          </a:ln>
        </p:spPr>
      </p:sp>
      <p:sp>
        <p:nvSpPr>
          <p:cNvPr id="4" name="Text 2"/>
          <p:cNvSpPr/>
          <p:nvPr/>
        </p:nvSpPr>
        <p:spPr>
          <a:xfrm>
            <a:off x="813816" y="1069848"/>
            <a:ext cx="3493008" cy="174650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function handleAddItem()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const item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document.createElement("li");</a:t>
            </a:r>
            <a:endParaRPr lang="en-US" sz="1088" dirty="0"/>
          </a:p>
          <a:p>
            <a:pPr indent="0" marL="0">
              <a:buNone/>
            </a:pP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item.textContent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"Packing cubes";</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a:t>
            </a:r>
            <a:endParaRPr lang="en-US" sz="1088" dirty="0"/>
          </a:p>
        </p:txBody>
      </p:sp>
      <p:sp>
        <p:nvSpPr>
          <p:cNvPr id="5" name="Shape 3"/>
          <p:cNvSpPr/>
          <p:nvPr/>
        </p:nvSpPr>
        <p:spPr>
          <a:xfrm>
            <a:off x="685800" y="3154680"/>
            <a:ext cx="3749040" cy="411480"/>
          </a:xfrm>
          <a:prstGeom prst="roundRect">
            <a:avLst>
              <a:gd name="adj" fmla="val 11111"/>
            </a:avLst>
          </a:prstGeom>
          <a:solidFill>
            <a:srgbClr val="FEE2E2"/>
          </a:solidFill>
          <a:ln w="12700">
            <a:solidFill>
              <a:srgbClr val="CBD5E1"/>
            </a:solidFill>
            <a:prstDash val="solid"/>
          </a:ln>
        </p:spPr>
      </p:sp>
      <p:sp>
        <p:nvSpPr>
          <p:cNvPr id="6" name="Text 4"/>
          <p:cNvSpPr/>
          <p:nvPr/>
        </p:nvSpPr>
        <p:spPr>
          <a:xfrm>
            <a:off x="786384" y="3227832"/>
            <a:ext cx="3547872" cy="265176"/>
          </a:xfrm>
          <a:prstGeom prst="rect">
            <a:avLst/>
          </a:prstGeom>
          <a:noFill/>
          <a:ln/>
        </p:spPr>
        <p:txBody>
          <a:bodyPr wrap="square" lIns="0" tIns="0" rIns="0" bIns="0" rtlCol="0" anchor="ctr">
            <a:normAutofit/>
          </a:bodyPr>
          <a:lstStyle/>
          <a:p>
            <a:pPr algn="ctr" indent="0" marL="0">
              <a:buNone/>
            </a:pPr>
            <a:r>
              <a:rPr lang="en-US" sz="1100" dirty="0">
                <a:solidFill>
                  <a:srgbClr val="111827"/>
                </a:solidFill>
                <a:latin typeface="Arial" pitchFamily="34" charset="0"/>
                <a:ea typeface="Arial" pitchFamily="34" charset="-122"/>
                <a:cs typeface="Arial" pitchFamily="34" charset="-120"/>
              </a:rPr>
              <a:t>No error appears, but the item is not visible.</a:t>
            </a:r>
            <a:endParaRPr lang="en-US" sz="1100" dirty="0"/>
          </a:p>
        </p:txBody>
      </p:sp>
      <p:sp>
        <p:nvSpPr>
          <p:cNvPr id="7" name="Text 5"/>
          <p:cNvSpPr/>
          <p:nvPr/>
        </p:nvSpPr>
        <p:spPr>
          <a:xfrm>
            <a:off x="4754880" y="1005840"/>
            <a:ext cx="3474720" cy="274320"/>
          </a:xfrm>
          <a:prstGeom prst="rect">
            <a:avLst/>
          </a:prstGeom>
          <a:noFill/>
          <a:ln/>
        </p:spPr>
        <p:txBody>
          <a:bodyPr wrap="square" lIns="0" tIns="0" rIns="0" bIns="0" rtlCol="0" anchor="t">
            <a:normAutofit/>
          </a:bodyPr>
          <a:lstStyle/>
          <a:p>
            <a:pPr algn="l" indent="0" marL="0">
              <a:lnSpc>
                <a:spcPct val="105000"/>
              </a:lnSpc>
              <a:buNone/>
            </a:pPr>
            <a:r>
              <a:rPr lang="en-US" sz="1280" b="1" dirty="0">
                <a:solidFill>
                  <a:srgbClr val="111827"/>
                </a:solidFill>
                <a:latin typeface="Arial" pitchFamily="34" charset="0"/>
                <a:ea typeface="Arial" pitchFamily="34" charset="-122"/>
                <a:cs typeface="Arial" pitchFamily="34" charset="-120"/>
              </a:rPr>
              <a:t>What is missing?</a:t>
            </a:r>
            <a:endParaRPr lang="en-US" sz="1280" dirty="0"/>
          </a:p>
        </p:txBody>
      </p:sp>
      <p:sp>
        <p:nvSpPr>
          <p:cNvPr id="8" name="Text 6"/>
          <p:cNvSpPr/>
          <p:nvPr/>
        </p:nvSpPr>
        <p:spPr>
          <a:xfrm>
            <a:off x="4754880" y="1417320"/>
            <a:ext cx="3566160" cy="2103120"/>
          </a:xfrm>
          <a:prstGeom prst="rect">
            <a:avLst/>
          </a:prstGeom>
          <a:noFill/>
          <a:ln/>
        </p:spPr>
        <p:txBody>
          <a:bodyPr wrap="square" lIns="381" tIns="381" rIns="381" bIns="381" rtlCol="0" anchor="t">
            <a:normAutofit/>
          </a:bodyPr>
          <a:lstStyle/>
          <a:p>
            <a:pPr indent="0" marL="0">
              <a:buNone/>
            </a:pPr>
            <a:r>
              <a:rPr lang="en-US" sz="1150" dirty="0">
                <a:solidFill>
                  <a:srgbClr val="111827"/>
                </a:solidFill>
                <a:latin typeface="Arial" pitchFamily="34" charset="0"/>
                <a:ea typeface="Arial" pitchFamily="34" charset="-122"/>
                <a:cs typeface="Arial" pitchFamily="34" charset="-120"/>
              </a:rPr>
              <a:t>A. The li needs an ID.</a:t>
            </a:r>
            <a:endParaRPr lang="en-US" sz="1150" dirty="0"/>
          </a:p>
          <a:p>
            <a:pPr indent="0" marL="0">
              <a:buNone/>
            </a:pPr>
            <a:r>
              <a:rPr lang="en-US" sz="1150" dirty="0">
                <a:solidFill>
                  <a:srgbClr val="111827"/>
                </a:solidFill>
                <a:latin typeface="Arial" pitchFamily="34" charset="0"/>
                <a:ea typeface="Arial" pitchFamily="34" charset="-122"/>
                <a:cs typeface="Arial" pitchFamily="34" charset="-120"/>
              </a:rPr>
              <a:t>B. The handler must return item.</a:t>
            </a:r>
            <a:endParaRPr lang="en-US" sz="1150" dirty="0"/>
          </a:p>
          <a:p>
            <a:pPr indent="0" marL="0">
              <a:buNone/>
            </a:pPr>
            <a:r>
              <a:rPr lang="en-US" sz="1150" dirty="0">
                <a:solidFill>
                  <a:srgbClr val="111827"/>
                </a:solidFill>
                <a:latin typeface="Arial" pitchFamily="34" charset="0"/>
                <a:ea typeface="Arial" pitchFamily="34" charset="-122"/>
                <a:cs typeface="Arial" pitchFamily="34" charset="-120"/>
              </a:rPr>
              <a:t>C. The new element must be appended to its parent.</a:t>
            </a:r>
            <a:endParaRPr lang="en-US" sz="1150" dirty="0"/>
          </a:p>
          <a:p>
            <a:pPr indent="0" marL="0">
              <a:buNone/>
            </a:pPr>
            <a:r>
              <a:rPr lang="en-US" sz="1150" dirty="0">
                <a:solidFill>
                  <a:srgbClr val="111827"/>
                </a:solidFill>
                <a:latin typeface="Arial" pitchFamily="34" charset="0"/>
                <a:ea typeface="Arial" pitchFamily="34" charset="-122"/>
                <a:cs typeface="Arial" pitchFamily="34" charset="-120"/>
              </a:rPr>
              <a:t>D. textContent must be replaced with innerHTML.</a:t>
            </a:r>
            <a:endParaRPr lang="en-US" sz="1150" dirty="0"/>
          </a:p>
        </p:txBody>
      </p:sp>
      <p:sp>
        <p:nvSpPr>
          <p:cNvPr id="9" name="Shape 7"/>
          <p:cNvSpPr/>
          <p:nvPr/>
        </p:nvSpPr>
        <p:spPr>
          <a:xfrm>
            <a:off x="685800" y="4160520"/>
            <a:ext cx="7269480" cy="457200"/>
          </a:xfrm>
          <a:prstGeom prst="roundRect">
            <a:avLst>
              <a:gd name="adj" fmla="val 12000"/>
            </a:avLst>
          </a:prstGeom>
          <a:solidFill>
            <a:srgbClr val="DCFCE7"/>
          </a:solidFill>
          <a:ln w="12700">
            <a:solidFill>
              <a:srgbClr val="86EFAC"/>
            </a:solidFill>
            <a:prstDash val="solid"/>
          </a:ln>
        </p:spPr>
      </p:sp>
      <p:sp>
        <p:nvSpPr>
          <p:cNvPr id="10" name="Text 8"/>
          <p:cNvSpPr/>
          <p:nvPr/>
        </p:nvSpPr>
        <p:spPr>
          <a:xfrm>
            <a:off x="795528" y="4224528"/>
            <a:ext cx="7050024" cy="310896"/>
          </a:xfrm>
          <a:prstGeom prst="rect">
            <a:avLst/>
          </a:prstGeom>
          <a:noFill/>
          <a:ln/>
        </p:spPr>
        <p:txBody>
          <a:bodyPr wrap="square" lIns="0" tIns="0" rIns="0" bIns="0" rtlCol="0" anchor="ctr">
            <a:normAutofit/>
          </a:bodyPr>
          <a:lstStyle/>
          <a:p>
            <a:pPr indent="0" marL="0">
              <a:buNone/>
            </a:pPr>
            <a:r>
              <a:rPr lang="en-US" sz="1020" dirty="0">
                <a:solidFill>
                  <a:srgbClr val="111827"/>
                </a:solidFill>
                <a:latin typeface="Arial" pitchFamily="34" charset="0"/>
                <a:ea typeface="Arial" pitchFamily="34" charset="-122"/>
                <a:cs typeface="Arial" pitchFamily="34" charset="-120"/>
              </a:rPr>
              <a:t>Answer: C</a:t>
            </a:r>
            <a:endParaRPr lang="en-US" sz="1020" dirty="0"/>
          </a:p>
          <a:p>
            <a:pPr indent="0" marL="0">
              <a:buNone/>
            </a:pPr>
            <a:r>
              <a:rPr lang="en-US" sz="1020" dirty="0">
                <a:solidFill>
                  <a:srgbClr val="111827"/>
                </a:solidFill>
                <a:latin typeface="Arial" pitchFamily="34" charset="0"/>
                <a:ea typeface="Arial" pitchFamily="34" charset="-122"/>
                <a:cs typeface="Arial" pitchFamily="34" charset="-120"/>
              </a:rPr>
              <a:t>The element was created and prepared, but it was never inserted into the document.</a:t>
            </a:r>
            <a:endParaRPr lang="en-US" sz="102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The ID lookup returns null</a:t>
            </a:r>
            <a:endParaRPr lang="en-US" sz="2100" dirty="0"/>
          </a:p>
        </p:txBody>
      </p:sp>
      <p:sp>
        <p:nvSpPr>
          <p:cNvPr id="3" name="Shape 1"/>
          <p:cNvSpPr/>
          <p:nvPr/>
        </p:nvSpPr>
        <p:spPr>
          <a:xfrm>
            <a:off x="685800" y="960120"/>
            <a:ext cx="3291840" cy="914400"/>
          </a:xfrm>
          <a:prstGeom prst="rect">
            <a:avLst/>
          </a:prstGeom>
          <a:solidFill>
            <a:srgbClr val="0F172A"/>
          </a:solidFill>
          <a:ln w="12700">
            <a:solidFill>
              <a:srgbClr val="0F172A"/>
            </a:solidFill>
            <a:prstDash val="solid"/>
          </a:ln>
        </p:spPr>
      </p:sp>
      <p:sp>
        <p:nvSpPr>
          <p:cNvPr id="4" name="Text 2"/>
          <p:cNvSpPr/>
          <p:nvPr/>
        </p:nvSpPr>
        <p:spPr>
          <a:xfrm>
            <a:off x="813816" y="1069848"/>
            <a:ext cx="3035808" cy="69494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&lt;p id="save-status"&gt;</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Changes not saved</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&lt;/p&gt;</a:t>
            </a:r>
            <a:endParaRPr lang="en-US" sz="1088" dirty="0"/>
          </a:p>
        </p:txBody>
      </p:sp>
      <p:sp>
        <p:nvSpPr>
          <p:cNvPr id="5" name="Shape 3"/>
          <p:cNvSpPr/>
          <p:nvPr/>
        </p:nvSpPr>
        <p:spPr>
          <a:xfrm>
            <a:off x="685800" y="2240280"/>
            <a:ext cx="3657600" cy="1234440"/>
          </a:xfrm>
          <a:prstGeom prst="rect">
            <a:avLst/>
          </a:prstGeom>
          <a:solidFill>
            <a:srgbClr val="0F172A"/>
          </a:solidFill>
          <a:ln w="12700">
            <a:solidFill>
              <a:srgbClr val="0F172A"/>
            </a:solidFill>
            <a:prstDash val="solid"/>
          </a:ln>
        </p:spPr>
      </p:sp>
      <p:sp>
        <p:nvSpPr>
          <p:cNvPr id="6" name="Text 4"/>
          <p:cNvSpPr/>
          <p:nvPr/>
        </p:nvSpPr>
        <p:spPr>
          <a:xfrm>
            <a:off x="813816" y="2350008"/>
            <a:ext cx="3401568" cy="1014984"/>
          </a:xfrm>
          <a:prstGeom prst="rect">
            <a:avLst/>
          </a:prstGeom>
          <a:noFill/>
          <a:ln/>
        </p:spPr>
        <p:txBody>
          <a:bodyPr wrap="square" lIns="0" tIns="0" rIns="0" bIns="0" rtlCol="0" anchor="ctr">
            <a:normAutofit/>
          </a:bodyPr>
          <a:lstStyle/>
          <a:p>
            <a:pPr indent="0" marL="0">
              <a:buNone/>
            </a:pPr>
            <a:r>
              <a:rPr lang="en-US" sz="1088" dirty="0">
                <a:solidFill>
                  <a:srgbClr val="FFFFFF"/>
                </a:solidFill>
                <a:latin typeface="Courier New" pitchFamily="34" charset="0"/>
                <a:ea typeface="Courier New" pitchFamily="34" charset="-122"/>
                <a:cs typeface="Courier New" pitchFamily="34" charset="-120"/>
              </a:rPr>
              <a:t>const saveStatus =</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document.getElementById(</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"#save-status"</a:t>
            </a:r>
            <a:endParaRPr lang="en-US" sz="1088" dirty="0"/>
          </a:p>
          <a:p>
            <a:pPr indent="0" marL="0">
              <a:buNone/>
            </a:pPr>
            <a:r>
              <a:rPr lang="en-US" sz="1088" dirty="0">
                <a:solidFill>
                  <a:srgbClr val="FFFFFF"/>
                </a:solidFill>
                <a:latin typeface="Courier New" pitchFamily="34" charset="0"/>
                <a:ea typeface="Courier New" pitchFamily="34" charset="-122"/>
                <a:cs typeface="Courier New" pitchFamily="34" charset="-120"/>
              </a:rPr>
              <a:t>  );</a:t>
            </a:r>
            <a:endParaRPr lang="en-US" sz="1088" dirty="0"/>
          </a:p>
        </p:txBody>
      </p:sp>
      <p:sp>
        <p:nvSpPr>
          <p:cNvPr id="7" name="Text 5"/>
          <p:cNvSpPr/>
          <p:nvPr/>
        </p:nvSpPr>
        <p:spPr>
          <a:xfrm>
            <a:off x="4754880" y="1005840"/>
            <a:ext cx="3474720" cy="274320"/>
          </a:xfrm>
          <a:prstGeom prst="rect">
            <a:avLst/>
          </a:prstGeom>
          <a:noFill/>
          <a:ln/>
        </p:spPr>
        <p:txBody>
          <a:bodyPr wrap="square" lIns="0" tIns="0" rIns="0" bIns="0" rtlCol="0" anchor="t">
            <a:normAutofit/>
          </a:bodyPr>
          <a:lstStyle/>
          <a:p>
            <a:pPr algn="l" indent="0" marL="0">
              <a:lnSpc>
                <a:spcPct val="105000"/>
              </a:lnSpc>
              <a:buNone/>
            </a:pPr>
            <a:r>
              <a:rPr lang="en-US" sz="1280" b="1" dirty="0">
                <a:solidFill>
                  <a:srgbClr val="111827"/>
                </a:solidFill>
                <a:latin typeface="Arial" pitchFamily="34" charset="0"/>
                <a:ea typeface="Arial" pitchFamily="34" charset="-122"/>
                <a:cs typeface="Arial" pitchFamily="34" charset="-120"/>
              </a:rPr>
              <a:t>What correction is required?</a:t>
            </a:r>
            <a:endParaRPr lang="en-US" sz="1280" dirty="0"/>
          </a:p>
        </p:txBody>
      </p:sp>
      <p:sp>
        <p:nvSpPr>
          <p:cNvPr id="8" name="Text 6"/>
          <p:cNvSpPr/>
          <p:nvPr/>
        </p:nvSpPr>
        <p:spPr>
          <a:xfrm>
            <a:off x="4754880" y="1417320"/>
            <a:ext cx="3566160" cy="2103120"/>
          </a:xfrm>
          <a:prstGeom prst="rect">
            <a:avLst/>
          </a:prstGeom>
          <a:noFill/>
          <a:ln/>
        </p:spPr>
        <p:txBody>
          <a:bodyPr wrap="square" lIns="381" tIns="381" rIns="381" bIns="381" rtlCol="0" anchor="t">
            <a:normAutofit/>
          </a:bodyPr>
          <a:lstStyle/>
          <a:p>
            <a:pPr indent="0" marL="0">
              <a:buNone/>
            </a:pPr>
            <a:r>
              <a:rPr lang="en-US" sz="1150" dirty="0">
                <a:solidFill>
                  <a:srgbClr val="111827"/>
                </a:solidFill>
                <a:latin typeface="Arial" pitchFamily="34" charset="0"/>
                <a:ea typeface="Arial" pitchFamily="34" charset="-122"/>
                <a:cs typeface="Arial" pitchFamily="34" charset="-120"/>
              </a:rPr>
              <a:t>A. Replace getElementById with createElement.</a:t>
            </a:r>
            <a:endParaRPr lang="en-US" sz="1150" dirty="0"/>
          </a:p>
          <a:p>
            <a:pPr indent="0" marL="0">
              <a:buNone/>
            </a:pPr>
            <a:r>
              <a:rPr lang="en-US" sz="1150" dirty="0">
                <a:solidFill>
                  <a:srgbClr val="111827"/>
                </a:solidFill>
                <a:latin typeface="Arial" pitchFamily="34" charset="0"/>
                <a:ea typeface="Arial" pitchFamily="34" charset="-122"/>
                <a:cs typeface="Arial" pitchFamily="34" charset="-120"/>
              </a:rPr>
              <a:t>B. Remove # from the ID value.</a:t>
            </a:r>
            <a:endParaRPr lang="en-US" sz="1150" dirty="0"/>
          </a:p>
          <a:p>
            <a:pPr indent="0" marL="0">
              <a:buNone/>
            </a:pPr>
            <a:r>
              <a:rPr lang="en-US" sz="1150" dirty="0">
                <a:solidFill>
                  <a:srgbClr val="111827"/>
                </a:solidFill>
                <a:latin typeface="Arial" pitchFamily="34" charset="0"/>
                <a:ea typeface="Arial" pitchFamily="34" charset="-122"/>
                <a:cs typeface="Arial" pitchFamily="34" charset="-120"/>
              </a:rPr>
              <a:t>C. Add a click listener before selecting the paragraph.</a:t>
            </a:r>
            <a:endParaRPr lang="en-US" sz="1150" dirty="0"/>
          </a:p>
          <a:p>
            <a:pPr indent="0" marL="0">
              <a:buNone/>
            </a:pPr>
            <a:r>
              <a:rPr lang="en-US" sz="1150" dirty="0">
                <a:solidFill>
                  <a:srgbClr val="111827"/>
                </a:solidFill>
                <a:latin typeface="Arial" pitchFamily="34" charset="0"/>
                <a:ea typeface="Arial" pitchFamily="34" charset="-122"/>
                <a:cs typeface="Arial" pitchFamily="34" charset="-120"/>
              </a:rPr>
              <a:t>D. Replace the paragraph with an input.</a:t>
            </a:r>
            <a:endParaRPr lang="en-US" sz="1150" dirty="0"/>
          </a:p>
        </p:txBody>
      </p:sp>
      <p:sp>
        <p:nvSpPr>
          <p:cNvPr id="9" name="Shape 7"/>
          <p:cNvSpPr/>
          <p:nvPr/>
        </p:nvSpPr>
        <p:spPr>
          <a:xfrm>
            <a:off x="685800" y="4160520"/>
            <a:ext cx="7269480" cy="457200"/>
          </a:xfrm>
          <a:prstGeom prst="roundRect">
            <a:avLst>
              <a:gd name="adj" fmla="val 12000"/>
            </a:avLst>
          </a:prstGeom>
          <a:solidFill>
            <a:srgbClr val="DCFCE7"/>
          </a:solidFill>
          <a:ln w="12700">
            <a:solidFill>
              <a:srgbClr val="86EFAC"/>
            </a:solidFill>
            <a:prstDash val="solid"/>
          </a:ln>
        </p:spPr>
      </p:sp>
      <p:sp>
        <p:nvSpPr>
          <p:cNvPr id="10" name="Text 8"/>
          <p:cNvSpPr/>
          <p:nvPr/>
        </p:nvSpPr>
        <p:spPr>
          <a:xfrm>
            <a:off x="795528" y="4224528"/>
            <a:ext cx="7050024" cy="310896"/>
          </a:xfrm>
          <a:prstGeom prst="rect">
            <a:avLst/>
          </a:prstGeom>
          <a:noFill/>
          <a:ln/>
        </p:spPr>
        <p:txBody>
          <a:bodyPr wrap="square" lIns="0" tIns="0" rIns="0" bIns="0" rtlCol="0" anchor="ctr">
            <a:normAutofit/>
          </a:bodyPr>
          <a:lstStyle/>
          <a:p>
            <a:pPr indent="0" marL="0">
              <a:buNone/>
            </a:pPr>
            <a:r>
              <a:rPr lang="en-US" sz="1020" dirty="0">
                <a:solidFill>
                  <a:srgbClr val="111827"/>
                </a:solidFill>
                <a:latin typeface="Arial" pitchFamily="34" charset="0"/>
                <a:ea typeface="Arial" pitchFamily="34" charset="-122"/>
                <a:cs typeface="Arial" pitchFamily="34" charset="-120"/>
              </a:rPr>
              <a:t>Answer: B</a:t>
            </a:r>
            <a:endParaRPr lang="en-US" sz="1020" dirty="0"/>
          </a:p>
          <a:p>
            <a:pPr indent="0" marL="0">
              <a:buNone/>
            </a:pPr>
            <a:r>
              <a:rPr lang="en-US" sz="1020" dirty="0">
                <a:solidFill>
                  <a:srgbClr val="111827"/>
                </a:solidFill>
                <a:latin typeface="Arial" pitchFamily="34" charset="0"/>
                <a:ea typeface="Arial" pitchFamily="34" charset="-122"/>
                <a:cs typeface="Arial" pitchFamily="34" charset="-120"/>
              </a:rPr>
              <a:t>getElementById receives the ID value without #.</a:t>
            </a:r>
            <a:endParaRPr lang="en-US" sz="102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Homework: Build a community notice manager</a:t>
            </a:r>
            <a:endParaRPr lang="en-US" sz="2100" dirty="0"/>
          </a:p>
        </p:txBody>
      </p:sp>
      <p:sp>
        <p:nvSpPr>
          <p:cNvPr id="3" name="Shape 1"/>
          <p:cNvSpPr/>
          <p:nvPr/>
        </p:nvSpPr>
        <p:spPr>
          <a:xfrm>
            <a:off x="685800" y="822960"/>
            <a:ext cx="2103120" cy="292608"/>
          </a:xfrm>
          <a:prstGeom prst="roundRect">
            <a:avLst>
              <a:gd name="adj" fmla="val 15625"/>
            </a:avLst>
          </a:prstGeom>
          <a:solidFill>
            <a:srgbClr val="FEF3C7"/>
          </a:solidFill>
          <a:ln w="12700">
            <a:solidFill>
              <a:srgbClr val="CBD5E1">
                <a:alpha val="75000"/>
              </a:srgbClr>
            </a:solidFill>
            <a:prstDash val="solid"/>
          </a:ln>
        </p:spPr>
      </p:sp>
      <p:sp>
        <p:nvSpPr>
          <p:cNvPr id="4" name="Text 2"/>
          <p:cNvSpPr/>
          <p:nvPr/>
        </p:nvSpPr>
        <p:spPr>
          <a:xfrm>
            <a:off x="731520" y="850392"/>
            <a:ext cx="2011680" cy="256032"/>
          </a:xfrm>
          <a:prstGeom prst="rect">
            <a:avLst/>
          </a:prstGeom>
          <a:noFill/>
          <a:ln/>
        </p:spPr>
        <p:txBody>
          <a:bodyPr wrap="square" lIns="0" tIns="0" rIns="0" bIns="0" rtlCol="0" anchor="t">
            <a:normAutofit/>
          </a:bodyPr>
          <a:lstStyle/>
          <a:p>
            <a:pPr algn="ctr" indent="0" marL="0">
              <a:lnSpc>
                <a:spcPct val="105000"/>
              </a:lnSpc>
              <a:buNone/>
            </a:pPr>
            <a:r>
              <a:rPr lang="en-US" sz="930" b="1" dirty="0">
                <a:solidFill>
                  <a:srgbClr val="334155"/>
                </a:solidFill>
                <a:latin typeface="Arial" pitchFamily="34" charset="0"/>
                <a:ea typeface="Arial" pitchFamily="34" charset="-122"/>
                <a:cs typeface="Arial" pitchFamily="34" charset="-120"/>
              </a:rPr>
              <a:t>Expected effort: 45 to 60 minutes</a:t>
            </a:r>
            <a:endParaRPr lang="en-US" sz="930" dirty="0"/>
          </a:p>
        </p:txBody>
      </p:sp>
      <p:sp>
        <p:nvSpPr>
          <p:cNvPr id="5" name="Shape 3"/>
          <p:cNvSpPr/>
          <p:nvPr/>
        </p:nvSpPr>
        <p:spPr>
          <a:xfrm>
            <a:off x="685800" y="1234440"/>
            <a:ext cx="3337560" cy="2423160"/>
          </a:xfrm>
          <a:prstGeom prst="roundRect">
            <a:avLst>
              <a:gd name="adj" fmla="val 2264"/>
            </a:avLst>
          </a:prstGeom>
          <a:solidFill>
            <a:srgbClr val="FFFFFF"/>
          </a:solidFill>
          <a:ln w="12700">
            <a:solidFill>
              <a:srgbClr val="94A3B8"/>
            </a:solidFill>
            <a:prstDash val="solid"/>
          </a:ln>
        </p:spPr>
      </p:sp>
      <p:sp>
        <p:nvSpPr>
          <p:cNvPr id="6" name="Shape 4"/>
          <p:cNvSpPr/>
          <p:nvPr/>
        </p:nvSpPr>
        <p:spPr>
          <a:xfrm>
            <a:off x="704088" y="1252728"/>
            <a:ext cx="3300984" cy="256032"/>
          </a:xfrm>
          <a:prstGeom prst="rect">
            <a:avLst/>
          </a:prstGeom>
          <a:solidFill>
            <a:srgbClr val="F8FAFC"/>
          </a:solidFill>
          <a:ln w="12700">
            <a:solidFill>
              <a:srgbClr val="F8FAFC"/>
            </a:solidFill>
            <a:prstDash val="solid"/>
          </a:ln>
        </p:spPr>
      </p:sp>
      <p:sp>
        <p:nvSpPr>
          <p:cNvPr id="7" name="Text 5"/>
          <p:cNvSpPr/>
          <p:nvPr/>
        </p:nvSpPr>
        <p:spPr>
          <a:xfrm>
            <a:off x="850392" y="1618488"/>
            <a:ext cx="3008376" cy="228600"/>
          </a:xfrm>
          <a:prstGeom prst="rect">
            <a:avLst/>
          </a:prstGeom>
          <a:noFill/>
          <a:ln/>
        </p:spPr>
        <p:txBody>
          <a:bodyPr wrap="square" lIns="0" tIns="0" rIns="0" bIns="0" rtlCol="0" anchor="t">
            <a:normAutofit/>
          </a:bodyPr>
          <a:lstStyle/>
          <a:p>
            <a:pPr algn="l" indent="0" marL="0">
              <a:lnSpc>
                <a:spcPct val="105000"/>
              </a:lnSpc>
              <a:buNone/>
            </a:pPr>
            <a:r>
              <a:rPr lang="en-US" sz="1280" b="1" dirty="0">
                <a:solidFill>
                  <a:srgbClr val="111827"/>
                </a:solidFill>
                <a:latin typeface="Arial" pitchFamily="34" charset="0"/>
                <a:ea typeface="Arial" pitchFamily="34" charset="-122"/>
                <a:cs typeface="Arial" pitchFamily="34" charset="-120"/>
              </a:rPr>
              <a:t>Community notice manager</a:t>
            </a:r>
            <a:endParaRPr lang="en-US" sz="1280" dirty="0"/>
          </a:p>
        </p:txBody>
      </p:sp>
      <p:sp>
        <p:nvSpPr>
          <p:cNvPr id="8" name="Shape 6"/>
          <p:cNvSpPr/>
          <p:nvPr/>
        </p:nvSpPr>
        <p:spPr>
          <a:xfrm>
            <a:off x="850392" y="1947672"/>
            <a:ext cx="3008376" cy="329184"/>
          </a:xfrm>
          <a:prstGeom prst="roundRect">
            <a:avLst>
              <a:gd name="adj" fmla="val 13889"/>
            </a:avLst>
          </a:prstGeom>
          <a:solidFill>
            <a:srgbClr val="EFF6FF"/>
          </a:solidFill>
          <a:ln w="12700">
            <a:solidFill>
              <a:srgbClr val="CBD5E1"/>
            </a:solidFill>
            <a:prstDash val="solid"/>
          </a:ln>
        </p:spPr>
      </p:sp>
      <p:sp>
        <p:nvSpPr>
          <p:cNvPr id="9" name="Text 7"/>
          <p:cNvSpPr/>
          <p:nvPr/>
        </p:nvSpPr>
        <p:spPr>
          <a:xfrm>
            <a:off x="950976" y="2020824"/>
            <a:ext cx="2807208" cy="182880"/>
          </a:xfrm>
          <a:prstGeom prst="rect">
            <a:avLst/>
          </a:prstGeom>
          <a:noFill/>
          <a:ln/>
        </p:spPr>
        <p:txBody>
          <a:bodyPr wrap="square" lIns="0" tIns="0" rIns="0" bIns="0" rtlCol="0" anchor="ctr">
            <a:normAutofit/>
          </a:bodyPr>
          <a:lstStyle/>
          <a:p>
            <a:pPr algn="ctr" indent="0" marL="0">
              <a:buNone/>
            </a:pPr>
            <a:r>
              <a:rPr lang="en-US" sz="1080" dirty="0">
                <a:solidFill>
                  <a:srgbClr val="111827"/>
                </a:solidFill>
                <a:latin typeface="Arial" pitchFamily="34" charset="0"/>
                <a:ea typeface="Arial" pitchFamily="34" charset="-122"/>
                <a:cs typeface="Arial" pitchFamily="34" charset="-120"/>
              </a:rPr>
              <a:t>No new notices</a:t>
            </a:r>
            <a:endParaRPr lang="en-US" sz="1080" dirty="0"/>
          </a:p>
        </p:txBody>
      </p:sp>
      <p:sp>
        <p:nvSpPr>
          <p:cNvPr id="10" name="Text 8"/>
          <p:cNvSpPr/>
          <p:nvPr/>
        </p:nvSpPr>
        <p:spPr>
          <a:xfrm>
            <a:off x="978408" y="2368296"/>
            <a:ext cx="2752344" cy="201168"/>
          </a:xfrm>
          <a:prstGeom prst="rect">
            <a:avLst/>
          </a:prstGeom>
          <a:noFill/>
          <a:ln/>
        </p:spPr>
        <p:txBody>
          <a:bodyPr wrap="square" lIns="0" tIns="0" rIns="0" bIns="0" rtlCol="0" anchor="t">
            <a:normAutofit/>
          </a:bodyPr>
          <a:lstStyle/>
          <a:p>
            <a:pPr algn="l" indent="0" marL="0">
              <a:lnSpc>
                <a:spcPct val="105000"/>
              </a:lnSpc>
              <a:buNone/>
            </a:pPr>
            <a:r>
              <a:rPr lang="en-US" sz="1080" dirty="0">
                <a:solidFill>
                  <a:srgbClr val="111827"/>
                </a:solidFill>
                <a:latin typeface="Arial" pitchFamily="34" charset="0"/>
                <a:ea typeface="Arial" pitchFamily="34" charset="-122"/>
                <a:cs typeface="Arial" pitchFamily="34" charset="-120"/>
              </a:rPr>
              <a:t>1. Library closed on Sunday</a:t>
            </a:r>
            <a:endParaRPr lang="en-US" sz="1080" dirty="0"/>
          </a:p>
        </p:txBody>
      </p:sp>
      <p:sp>
        <p:nvSpPr>
          <p:cNvPr id="11" name="Shape 9"/>
          <p:cNvSpPr/>
          <p:nvPr/>
        </p:nvSpPr>
        <p:spPr>
          <a:xfrm>
            <a:off x="850392" y="3182112"/>
            <a:ext cx="1421892" cy="292608"/>
          </a:xfrm>
          <a:prstGeom prst="roundRect">
            <a:avLst>
              <a:gd name="adj" fmla="val 15625"/>
            </a:avLst>
          </a:prstGeom>
          <a:solidFill>
            <a:srgbClr val="DBEAFE"/>
          </a:solidFill>
          <a:ln w="12700">
            <a:solidFill>
              <a:srgbClr val="93C5FD"/>
            </a:solidFill>
            <a:prstDash val="solid"/>
          </a:ln>
        </p:spPr>
      </p:sp>
      <p:sp>
        <p:nvSpPr>
          <p:cNvPr id="12" name="Text 10"/>
          <p:cNvSpPr/>
          <p:nvPr/>
        </p:nvSpPr>
        <p:spPr>
          <a:xfrm>
            <a:off x="950976" y="3255264"/>
            <a:ext cx="1220724" cy="146304"/>
          </a:xfrm>
          <a:prstGeom prst="rect">
            <a:avLst/>
          </a:prstGeom>
          <a:noFill/>
          <a:ln/>
        </p:spPr>
        <p:txBody>
          <a:bodyPr wrap="square" lIns="0" tIns="0" rIns="0" bIns="0" rtlCol="0" anchor="ctr">
            <a:normAutofit/>
          </a:bodyPr>
          <a:lstStyle/>
          <a:p>
            <a:pPr algn="ctr" indent="0" marL="0">
              <a:buNone/>
            </a:pPr>
            <a:r>
              <a:rPr lang="en-US" sz="980" dirty="0">
                <a:solidFill>
                  <a:srgbClr val="111827"/>
                </a:solidFill>
                <a:latin typeface="Arial" pitchFamily="34" charset="0"/>
                <a:ea typeface="Arial" pitchFamily="34" charset="-122"/>
                <a:cs typeface="Arial" pitchFamily="34" charset="-120"/>
              </a:rPr>
              <a:t>Add notice</a:t>
            </a:r>
            <a:endParaRPr lang="en-US" sz="980" dirty="0"/>
          </a:p>
        </p:txBody>
      </p:sp>
      <p:sp>
        <p:nvSpPr>
          <p:cNvPr id="13" name="Shape 11"/>
          <p:cNvSpPr/>
          <p:nvPr/>
        </p:nvSpPr>
        <p:spPr>
          <a:xfrm>
            <a:off x="2436876" y="3182112"/>
            <a:ext cx="1421892" cy="292608"/>
          </a:xfrm>
          <a:prstGeom prst="roundRect">
            <a:avLst>
              <a:gd name="adj" fmla="val 15625"/>
            </a:avLst>
          </a:prstGeom>
          <a:solidFill>
            <a:srgbClr val="F3F4F6"/>
          </a:solidFill>
          <a:ln w="12700">
            <a:solidFill>
              <a:srgbClr val="CBD5E1"/>
            </a:solidFill>
            <a:prstDash val="solid"/>
          </a:ln>
        </p:spPr>
      </p:sp>
      <p:sp>
        <p:nvSpPr>
          <p:cNvPr id="14" name="Text 12"/>
          <p:cNvSpPr/>
          <p:nvPr/>
        </p:nvSpPr>
        <p:spPr>
          <a:xfrm>
            <a:off x="2537460" y="3255264"/>
            <a:ext cx="1220724" cy="146304"/>
          </a:xfrm>
          <a:prstGeom prst="rect">
            <a:avLst/>
          </a:prstGeom>
          <a:noFill/>
          <a:ln/>
        </p:spPr>
        <p:txBody>
          <a:bodyPr wrap="square" lIns="0" tIns="0" rIns="0" bIns="0" rtlCol="0" anchor="ctr">
            <a:normAutofit/>
          </a:bodyPr>
          <a:lstStyle/>
          <a:p>
            <a:pPr algn="ctr" indent="0" marL="0">
              <a:buNone/>
            </a:pPr>
            <a:r>
              <a:rPr lang="en-US" sz="980" dirty="0">
                <a:solidFill>
                  <a:srgbClr val="111827"/>
                </a:solidFill>
                <a:latin typeface="Arial" pitchFamily="34" charset="0"/>
                <a:ea typeface="Arial" pitchFamily="34" charset="-122"/>
                <a:cs typeface="Arial" pitchFamily="34" charset="-120"/>
              </a:rPr>
              <a:t>Remove latest</a:t>
            </a:r>
            <a:endParaRPr lang="en-US" sz="980" dirty="0"/>
          </a:p>
        </p:txBody>
      </p:sp>
      <p:sp>
        <p:nvSpPr>
          <p:cNvPr id="15" name="Text 13"/>
          <p:cNvSpPr/>
          <p:nvPr/>
        </p:nvSpPr>
        <p:spPr>
          <a:xfrm>
            <a:off x="4480560" y="1143000"/>
            <a:ext cx="3017520" cy="228600"/>
          </a:xfrm>
          <a:prstGeom prst="rect">
            <a:avLst/>
          </a:prstGeom>
          <a:noFill/>
          <a:ln/>
        </p:spPr>
        <p:txBody>
          <a:bodyPr wrap="square" lIns="0" tIns="0" rIns="0" bIns="0" rtlCol="0" anchor="t">
            <a:normAutofit/>
          </a:bodyPr>
          <a:lstStyle/>
          <a:p>
            <a:pPr algn="l" indent="0" marL="0">
              <a:lnSpc>
                <a:spcPct val="105000"/>
              </a:lnSpc>
              <a:buNone/>
            </a:pPr>
            <a:r>
              <a:rPr lang="en-US" sz="1350" b="1" dirty="0">
                <a:solidFill>
                  <a:srgbClr val="111827"/>
                </a:solidFill>
                <a:latin typeface="Arial" pitchFamily="34" charset="0"/>
                <a:ea typeface="Arial" pitchFamily="34" charset="-122"/>
                <a:cs typeface="Arial" pitchFamily="34" charset="-120"/>
              </a:rPr>
              <a:t>Required behaviour</a:t>
            </a:r>
            <a:endParaRPr lang="en-US" sz="1350" dirty="0"/>
          </a:p>
        </p:txBody>
      </p:sp>
      <p:sp>
        <p:nvSpPr>
          <p:cNvPr id="16" name="Text 14"/>
          <p:cNvSpPr/>
          <p:nvPr/>
        </p:nvSpPr>
        <p:spPr>
          <a:xfrm>
            <a:off x="4617720" y="1481328"/>
            <a:ext cx="3474720" cy="219456"/>
          </a:xfrm>
          <a:prstGeom prst="rect">
            <a:avLst/>
          </a:prstGeom>
          <a:noFill/>
          <a:ln/>
        </p:spPr>
        <p:txBody>
          <a:bodyPr wrap="square" lIns="0" tIns="0" rIns="0" bIns="0" rtlCol="0" anchor="ctr">
            <a:normAutofit/>
          </a:bodyPr>
          <a:lstStyle/>
          <a:p>
            <a:r>
              <a:rPr lang="en-US" sz="1160" dirty="0">
                <a:solidFill>
                  <a:srgbClr val="111827"/>
                </a:solidFill>
                <a:latin typeface="Arial" pitchFamily="34" charset="0"/>
                <a:ea typeface="Arial" pitchFamily="34" charset="-122"/>
                <a:cs typeface="Arial" pitchFamily="34" charset="-120"/>
              </a:rPr>
              <a:t>Add a fixed notice.</a:t>
            </a:r>
            <a:endParaRPr lang="en-US" sz="1160" dirty="0"/>
          </a:p>
        </p:txBody>
      </p:sp>
      <p:sp>
        <p:nvSpPr>
          <p:cNvPr id="17" name="Text 15"/>
          <p:cNvSpPr/>
          <p:nvPr/>
        </p:nvSpPr>
        <p:spPr>
          <a:xfrm>
            <a:off x="4617720" y="1741932"/>
            <a:ext cx="3474720" cy="219456"/>
          </a:xfrm>
          <a:prstGeom prst="rect">
            <a:avLst/>
          </a:prstGeom>
          <a:noFill/>
          <a:ln/>
        </p:spPr>
        <p:txBody>
          <a:bodyPr wrap="square" lIns="0" tIns="0" rIns="0" bIns="0" rtlCol="0" anchor="ctr">
            <a:normAutofit/>
          </a:bodyPr>
          <a:lstStyle/>
          <a:p>
            <a:r>
              <a:rPr lang="en-US" sz="1160" dirty="0">
                <a:solidFill>
                  <a:srgbClr val="111827"/>
                </a:solidFill>
                <a:latin typeface="Arial" pitchFamily="34" charset="0"/>
                <a:ea typeface="Arial" pitchFamily="34" charset="-122"/>
                <a:cs typeface="Arial" pitchFamily="34" charset="-120"/>
              </a:rPr>
              <a:t>Remove the final notice.</a:t>
            </a:r>
            <a:endParaRPr lang="en-US" sz="1160" dirty="0"/>
          </a:p>
        </p:txBody>
      </p:sp>
      <p:sp>
        <p:nvSpPr>
          <p:cNvPr id="18" name="Text 16"/>
          <p:cNvSpPr/>
          <p:nvPr/>
        </p:nvSpPr>
        <p:spPr>
          <a:xfrm>
            <a:off x="4617720" y="2002536"/>
            <a:ext cx="3474720" cy="219456"/>
          </a:xfrm>
          <a:prstGeom prst="rect">
            <a:avLst/>
          </a:prstGeom>
          <a:noFill/>
          <a:ln/>
        </p:spPr>
        <p:txBody>
          <a:bodyPr wrap="square" lIns="0" tIns="0" rIns="0" bIns="0" rtlCol="0" anchor="ctr">
            <a:normAutofit/>
          </a:bodyPr>
          <a:lstStyle/>
          <a:p>
            <a:r>
              <a:rPr lang="en-US" sz="1160" dirty="0">
                <a:solidFill>
                  <a:srgbClr val="111827"/>
                </a:solidFill>
                <a:latin typeface="Arial" pitchFamily="34" charset="0"/>
                <a:ea typeface="Arial" pitchFamily="34" charset="-122"/>
                <a:cs typeface="Arial" pitchFamily="34" charset="-120"/>
              </a:rPr>
              <a:t>Update the status after each action.</a:t>
            </a:r>
            <a:endParaRPr lang="en-US" sz="1160" dirty="0"/>
          </a:p>
        </p:txBody>
      </p:sp>
      <p:sp>
        <p:nvSpPr>
          <p:cNvPr id="19" name="Text 17"/>
          <p:cNvSpPr/>
          <p:nvPr/>
        </p:nvSpPr>
        <p:spPr>
          <a:xfrm>
            <a:off x="4617720" y="2263140"/>
            <a:ext cx="3474720" cy="219456"/>
          </a:xfrm>
          <a:prstGeom prst="rect">
            <a:avLst/>
          </a:prstGeom>
          <a:noFill/>
          <a:ln/>
        </p:spPr>
        <p:txBody>
          <a:bodyPr wrap="square" lIns="0" tIns="0" rIns="0" bIns="0" rtlCol="0" anchor="ctr">
            <a:normAutofit/>
          </a:bodyPr>
          <a:lstStyle/>
          <a:p>
            <a:r>
              <a:rPr lang="en-US" sz="1160" dirty="0">
                <a:solidFill>
                  <a:srgbClr val="111827"/>
                </a:solidFill>
                <a:latin typeface="Arial" pitchFamily="34" charset="0"/>
                <a:ea typeface="Arial" pitchFamily="34" charset="-122"/>
                <a:cs typeface="Arial" pitchFamily="34" charset="-120"/>
              </a:rPr>
              <a:t>Handle an empty list without an error.</a:t>
            </a:r>
            <a:endParaRPr lang="en-US" sz="1160" dirty="0"/>
          </a:p>
        </p:txBody>
      </p:sp>
      <p:sp>
        <p:nvSpPr>
          <p:cNvPr id="20" name="Shape 18"/>
          <p:cNvSpPr/>
          <p:nvPr/>
        </p:nvSpPr>
        <p:spPr>
          <a:xfrm>
            <a:off x="4572000" y="3063240"/>
            <a:ext cx="3246120" cy="502920"/>
          </a:xfrm>
          <a:prstGeom prst="roundRect">
            <a:avLst>
              <a:gd name="adj" fmla="val 9091"/>
            </a:avLst>
          </a:prstGeom>
          <a:solidFill>
            <a:srgbClr val="EFF6FF"/>
          </a:solidFill>
          <a:ln w="12700">
            <a:solidFill>
              <a:srgbClr val="CBD5E1"/>
            </a:solidFill>
            <a:prstDash val="solid"/>
          </a:ln>
        </p:spPr>
      </p:sp>
      <p:sp>
        <p:nvSpPr>
          <p:cNvPr id="21" name="Text 19"/>
          <p:cNvSpPr/>
          <p:nvPr/>
        </p:nvSpPr>
        <p:spPr>
          <a:xfrm>
            <a:off x="4672584" y="3136392"/>
            <a:ext cx="3044952" cy="356616"/>
          </a:xfrm>
          <a:prstGeom prst="rect">
            <a:avLst/>
          </a:prstGeom>
          <a:noFill/>
          <a:ln/>
        </p:spPr>
        <p:txBody>
          <a:bodyPr wrap="square" lIns="0" tIns="0" rIns="0" bIns="0" rtlCol="0" anchor="ctr">
            <a:normAutofit/>
          </a:bodyPr>
          <a:lstStyle/>
          <a:p>
            <a:pPr algn="ctr" indent="0" marL="0">
              <a:buNone/>
            </a:pPr>
            <a:r>
              <a:rPr lang="en-US" sz="1080" dirty="0">
                <a:solidFill>
                  <a:srgbClr val="111827"/>
                </a:solidFill>
                <a:latin typeface="Arial" pitchFamily="34" charset="0"/>
                <a:ea typeface="Arial" pitchFamily="34" charset="-122"/>
                <a:cs typeface="Arial" pitchFamily="34" charset="-120"/>
              </a:rPr>
              <a:t>Supplied file: complete the script section inside the prepared index.html.</a:t>
            </a:r>
            <a:endParaRPr lang="en-US" sz="108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Implementation requirements</a:t>
            </a:r>
            <a:endParaRPr lang="en-US" sz="2100" dirty="0"/>
          </a:p>
        </p:txBody>
      </p:sp>
      <p:sp>
        <p:nvSpPr>
          <p:cNvPr id="3" name="Shape 1"/>
          <p:cNvSpPr/>
          <p:nvPr/>
        </p:nvSpPr>
        <p:spPr>
          <a:xfrm>
            <a:off x="685800" y="960120"/>
            <a:ext cx="2331720" cy="822960"/>
          </a:xfrm>
          <a:prstGeom prst="roundRect">
            <a:avLst>
              <a:gd name="adj" fmla="val 5556"/>
            </a:avLst>
          </a:prstGeom>
          <a:solidFill>
            <a:srgbClr val="EFF6FF"/>
          </a:solidFill>
          <a:ln w="12700">
            <a:solidFill>
              <a:srgbClr val="CBD5E1"/>
            </a:solidFill>
            <a:prstDash val="solid"/>
          </a:ln>
        </p:spPr>
      </p:sp>
      <p:sp>
        <p:nvSpPr>
          <p:cNvPr id="4" name="Text 2"/>
          <p:cNvSpPr/>
          <p:nvPr/>
        </p:nvSpPr>
        <p:spPr>
          <a:xfrm>
            <a:off x="786384" y="1033272"/>
            <a:ext cx="2130552" cy="676656"/>
          </a:xfrm>
          <a:prstGeom prst="rect">
            <a:avLst/>
          </a:prstGeom>
          <a:noFill/>
          <a:ln/>
        </p:spPr>
        <p:txBody>
          <a:bodyPr wrap="square" lIns="0" tIns="0" rIns="0" bIns="0" rtlCol="0" anchor="ctr">
            <a:normAutofit/>
          </a:bodyPr>
          <a:lstStyle/>
          <a:p>
            <a:pPr algn="l" indent="0" marL="0">
              <a:buNone/>
            </a:pPr>
            <a:r>
              <a:rPr lang="en-US" sz="1100" dirty="0">
                <a:solidFill>
                  <a:srgbClr val="111827"/>
                </a:solidFill>
                <a:latin typeface="Arial" pitchFamily="34" charset="0"/>
                <a:ea typeface="Arial" pitchFamily="34" charset="-122"/>
                <a:cs typeface="Arial" pitchFamily="34" charset="-120"/>
              </a:rPr>
              <a:t>Select the interface</a:t>
            </a:r>
            <a:endParaRPr lang="en-US" sz="1100" dirty="0"/>
          </a:p>
          <a:p>
            <a:pPr algn="l" indent="0" marL="0">
              <a:buNone/>
            </a:pPr>
            <a:r>
              <a:rPr lang="en-US" sz="1100" dirty="0">
                <a:solidFill>
                  <a:srgbClr val="111827"/>
                </a:solidFill>
                <a:latin typeface="Arial" pitchFamily="34" charset="0"/>
                <a:ea typeface="Arial" pitchFamily="34" charset="-122"/>
                <a:cs typeface="Arial" pitchFamily="34" charset="-120"/>
              </a:rPr>
              <a:t>Use getElementById.</a:t>
            </a:r>
            <a:endParaRPr lang="en-US" sz="1100" dirty="0"/>
          </a:p>
          <a:p>
            <a:pPr algn="l" indent="0" marL="0">
              <a:buNone/>
            </a:pPr>
            <a:r>
              <a:rPr lang="en-US" sz="1100" dirty="0">
                <a:solidFill>
                  <a:srgbClr val="111827"/>
                </a:solidFill>
                <a:latin typeface="Arial" pitchFamily="34" charset="0"/>
                <a:ea typeface="Arial" pitchFamily="34" charset="-122"/>
                <a:cs typeface="Arial" pitchFamily="34" charset="-120"/>
              </a:rPr>
              <a:t>Use querySelector.</a:t>
            </a:r>
            <a:endParaRPr lang="en-US" sz="1100" dirty="0"/>
          </a:p>
        </p:txBody>
      </p:sp>
      <p:sp>
        <p:nvSpPr>
          <p:cNvPr id="5" name="Shape 3"/>
          <p:cNvSpPr/>
          <p:nvPr/>
        </p:nvSpPr>
        <p:spPr>
          <a:xfrm>
            <a:off x="3337560" y="960120"/>
            <a:ext cx="2331720" cy="822960"/>
          </a:xfrm>
          <a:prstGeom prst="roundRect">
            <a:avLst>
              <a:gd name="adj" fmla="val 5556"/>
            </a:avLst>
          </a:prstGeom>
          <a:solidFill>
            <a:srgbClr val="F5F3FF"/>
          </a:solidFill>
          <a:ln w="12700">
            <a:solidFill>
              <a:srgbClr val="CBD5E1"/>
            </a:solidFill>
            <a:prstDash val="solid"/>
          </a:ln>
        </p:spPr>
      </p:sp>
      <p:sp>
        <p:nvSpPr>
          <p:cNvPr id="6" name="Text 4"/>
          <p:cNvSpPr/>
          <p:nvPr/>
        </p:nvSpPr>
        <p:spPr>
          <a:xfrm>
            <a:off x="3438144" y="1033272"/>
            <a:ext cx="2130552" cy="676656"/>
          </a:xfrm>
          <a:prstGeom prst="rect">
            <a:avLst/>
          </a:prstGeom>
          <a:noFill/>
          <a:ln/>
        </p:spPr>
        <p:txBody>
          <a:bodyPr wrap="square" lIns="0" tIns="0" rIns="0" bIns="0" rtlCol="0" anchor="ctr">
            <a:normAutofit/>
          </a:bodyPr>
          <a:lstStyle/>
          <a:p>
            <a:pPr algn="l" indent="0" marL="0">
              <a:buNone/>
            </a:pPr>
            <a:r>
              <a:rPr lang="en-US" sz="1100" dirty="0">
                <a:solidFill>
                  <a:srgbClr val="111827"/>
                </a:solidFill>
                <a:latin typeface="Arial" pitchFamily="34" charset="0"/>
                <a:ea typeface="Arial" pitchFamily="34" charset="-122"/>
                <a:cs typeface="Arial" pitchFamily="34" charset="-120"/>
              </a:rPr>
              <a:t>Connect the actions</a:t>
            </a:r>
            <a:endParaRPr lang="en-US" sz="1100" dirty="0"/>
          </a:p>
          <a:p>
            <a:pPr algn="l" indent="0" marL="0">
              <a:buNone/>
            </a:pPr>
            <a:r>
              <a:rPr lang="en-US" sz="1100" dirty="0">
                <a:solidFill>
                  <a:srgbClr val="111827"/>
                </a:solidFill>
                <a:latin typeface="Arial" pitchFamily="34" charset="0"/>
                <a:ea typeface="Arial" pitchFamily="34" charset="-122"/>
                <a:cs typeface="Arial" pitchFamily="34" charset="-120"/>
              </a:rPr>
              <a:t>Define named handler functions.</a:t>
            </a:r>
            <a:endParaRPr lang="en-US" sz="1100" dirty="0"/>
          </a:p>
          <a:p>
            <a:pPr algn="l" indent="0" marL="0">
              <a:buNone/>
            </a:pPr>
            <a:r>
              <a:rPr lang="en-US" sz="1100" dirty="0">
                <a:solidFill>
                  <a:srgbClr val="111827"/>
                </a:solidFill>
                <a:latin typeface="Arial" pitchFamily="34" charset="0"/>
                <a:ea typeface="Arial" pitchFamily="34" charset="-122"/>
                <a:cs typeface="Arial" pitchFamily="34" charset="-120"/>
              </a:rPr>
              <a:t>Register two click listeners.</a:t>
            </a:r>
            <a:endParaRPr lang="en-US" sz="1100" dirty="0"/>
          </a:p>
        </p:txBody>
      </p:sp>
      <p:sp>
        <p:nvSpPr>
          <p:cNvPr id="7" name="Shape 5"/>
          <p:cNvSpPr/>
          <p:nvPr/>
        </p:nvSpPr>
        <p:spPr>
          <a:xfrm>
            <a:off x="5989320" y="960120"/>
            <a:ext cx="2468880" cy="1143000"/>
          </a:xfrm>
          <a:prstGeom prst="roundRect">
            <a:avLst>
              <a:gd name="adj" fmla="val 4000"/>
            </a:avLst>
          </a:prstGeom>
          <a:solidFill>
            <a:srgbClr val="DCFCE7"/>
          </a:solidFill>
          <a:ln w="12700">
            <a:solidFill>
              <a:srgbClr val="CBD5E1"/>
            </a:solidFill>
            <a:prstDash val="solid"/>
          </a:ln>
        </p:spPr>
      </p:sp>
      <p:sp>
        <p:nvSpPr>
          <p:cNvPr id="8" name="Text 6"/>
          <p:cNvSpPr/>
          <p:nvPr/>
        </p:nvSpPr>
        <p:spPr>
          <a:xfrm>
            <a:off x="6089904" y="1033272"/>
            <a:ext cx="2267712" cy="996696"/>
          </a:xfrm>
          <a:prstGeom prst="rect">
            <a:avLst/>
          </a:prstGeom>
          <a:noFill/>
          <a:ln/>
        </p:spPr>
        <p:txBody>
          <a:bodyPr wrap="square" lIns="0" tIns="0" rIns="0" bIns="0" rtlCol="0" anchor="ctr">
            <a:normAutofit/>
          </a:bodyPr>
          <a:lstStyle/>
          <a:p>
            <a:pPr algn="l" indent="0" marL="0">
              <a:buNone/>
            </a:pPr>
            <a:r>
              <a:rPr lang="en-US" sz="1020" dirty="0">
                <a:solidFill>
                  <a:srgbClr val="111827"/>
                </a:solidFill>
                <a:latin typeface="Arial" pitchFamily="34" charset="0"/>
                <a:ea typeface="Arial" pitchFamily="34" charset="-122"/>
                <a:cs typeface="Arial" pitchFamily="34" charset="-120"/>
              </a:rPr>
              <a:t>Add a notice</a:t>
            </a:r>
            <a:endParaRPr lang="en-US" sz="1020" dirty="0"/>
          </a:p>
          <a:p>
            <a:pPr algn="l" indent="0" marL="0">
              <a:buNone/>
            </a:pPr>
            <a:r>
              <a:rPr lang="en-US" sz="1020" dirty="0">
                <a:solidFill>
                  <a:srgbClr val="111827"/>
                </a:solidFill>
                <a:latin typeface="Arial" pitchFamily="34" charset="0"/>
                <a:ea typeface="Arial" pitchFamily="34" charset="-122"/>
                <a:cs typeface="Arial" pitchFamily="34" charset="-120"/>
              </a:rPr>
              <a:t>Workshop moved to Room 204</a:t>
            </a:r>
            <a:endParaRPr lang="en-US" sz="1020" dirty="0"/>
          </a:p>
          <a:p>
            <a:pPr algn="l" indent="0" marL="0">
              <a:buNone/>
            </a:pPr>
            <a:r>
              <a:rPr lang="en-US" sz="1020" dirty="0">
                <a:solidFill>
                  <a:srgbClr val="111827"/>
                </a:solidFill>
                <a:latin typeface="Arial" pitchFamily="34" charset="0"/>
                <a:ea typeface="Arial" pitchFamily="34" charset="-122"/>
                <a:cs typeface="Arial" pitchFamily="34" charset="-120"/>
              </a:rPr>
              <a:t>Create a new li, set its text, append it, and display A notice was added.</a:t>
            </a:r>
            <a:endParaRPr lang="en-US" sz="1020" dirty="0"/>
          </a:p>
        </p:txBody>
      </p:sp>
      <p:sp>
        <p:nvSpPr>
          <p:cNvPr id="9" name="Shape 7"/>
          <p:cNvSpPr/>
          <p:nvPr/>
        </p:nvSpPr>
        <p:spPr>
          <a:xfrm>
            <a:off x="685800" y="2514600"/>
            <a:ext cx="7772400" cy="914400"/>
          </a:xfrm>
          <a:prstGeom prst="roundRect">
            <a:avLst>
              <a:gd name="adj" fmla="val 5000"/>
            </a:avLst>
          </a:prstGeom>
          <a:solidFill>
            <a:srgbClr val="FEF3C7"/>
          </a:solidFill>
          <a:ln w="12700">
            <a:solidFill>
              <a:srgbClr val="CBD5E1"/>
            </a:solidFill>
            <a:prstDash val="solid"/>
          </a:ln>
        </p:spPr>
      </p:sp>
      <p:sp>
        <p:nvSpPr>
          <p:cNvPr id="10" name="Text 8"/>
          <p:cNvSpPr/>
          <p:nvPr/>
        </p:nvSpPr>
        <p:spPr>
          <a:xfrm>
            <a:off x="786384" y="2587752"/>
            <a:ext cx="7571232" cy="768096"/>
          </a:xfrm>
          <a:prstGeom prst="rect">
            <a:avLst/>
          </a:prstGeom>
          <a:noFill/>
          <a:ln/>
        </p:spPr>
        <p:txBody>
          <a:bodyPr wrap="square" lIns="0" tIns="0" rIns="0" bIns="0" rtlCol="0" anchor="ctr">
            <a:normAutofit/>
          </a:bodyPr>
          <a:lstStyle/>
          <a:p>
            <a:pPr algn="l" indent="0" marL="0">
              <a:buNone/>
            </a:pPr>
            <a:r>
              <a:rPr lang="en-US" sz="1070" dirty="0">
                <a:solidFill>
                  <a:srgbClr val="111827"/>
                </a:solidFill>
                <a:latin typeface="Arial" pitchFamily="34" charset="0"/>
                <a:ea typeface="Arial" pitchFamily="34" charset="-122"/>
                <a:cs typeface="Arial" pitchFamily="34" charset="-120"/>
              </a:rPr>
              <a:t>Remove the latest notice</a:t>
            </a:r>
            <a:endParaRPr lang="en-US" sz="1070" dirty="0"/>
          </a:p>
          <a:p>
            <a:pPr algn="l" indent="0" marL="0">
              <a:buNone/>
            </a:pPr>
            <a:r>
              <a:rPr lang="en-US" sz="1070" dirty="0">
                <a:solidFill>
                  <a:srgbClr val="111827"/>
                </a:solidFill>
                <a:latin typeface="Arial" pitchFamily="34" charset="0"/>
                <a:ea typeface="Arial" pitchFamily="34" charset="-122"/>
                <a:cs typeface="Arial" pitchFamily="34" charset="-120"/>
              </a:rPr>
              <a:t>Select li:last-child. Check whether a notice exists. Remove it when found. Display The latest notice was removed, or No notices to remove when empty.</a:t>
            </a:r>
            <a:endParaRPr lang="en-US" sz="107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Completion and submission</a:t>
            </a:r>
            <a:endParaRPr lang="en-US" sz="2100" dirty="0"/>
          </a:p>
        </p:txBody>
      </p:sp>
      <p:sp>
        <p:nvSpPr>
          <p:cNvPr id="3" name="Text 1"/>
          <p:cNvSpPr/>
          <p:nvPr/>
        </p:nvSpPr>
        <p:spPr>
          <a:xfrm>
            <a:off x="777240" y="1051560"/>
            <a:ext cx="3200400" cy="228600"/>
          </a:xfrm>
          <a:prstGeom prst="rect">
            <a:avLst/>
          </a:prstGeom>
          <a:noFill/>
          <a:ln/>
        </p:spPr>
        <p:txBody>
          <a:bodyPr wrap="square" lIns="0" tIns="0" rIns="0" bIns="0" rtlCol="0" anchor="t">
            <a:normAutofit/>
          </a:bodyPr>
          <a:lstStyle/>
          <a:p>
            <a:pPr algn="l" indent="0" marL="0">
              <a:lnSpc>
                <a:spcPct val="105000"/>
              </a:lnSpc>
              <a:buNone/>
            </a:pPr>
            <a:r>
              <a:rPr lang="en-US" sz="1425" b="1" dirty="0">
                <a:solidFill>
                  <a:srgbClr val="111827"/>
                </a:solidFill>
                <a:latin typeface="Arial" pitchFamily="34" charset="0"/>
                <a:ea typeface="Arial" pitchFamily="34" charset="-122"/>
                <a:cs typeface="Arial" pitchFamily="34" charset="-120"/>
              </a:rPr>
              <a:t>Completion checks</a:t>
            </a:r>
            <a:endParaRPr lang="en-US" sz="1425" dirty="0"/>
          </a:p>
        </p:txBody>
      </p:sp>
      <p:sp>
        <p:nvSpPr>
          <p:cNvPr id="4" name="Text 2"/>
          <p:cNvSpPr/>
          <p:nvPr/>
        </p:nvSpPr>
        <p:spPr>
          <a:xfrm>
            <a:off x="868680" y="1417320"/>
            <a:ext cx="3840480" cy="219456"/>
          </a:xfrm>
          <a:prstGeom prst="rect">
            <a:avLst/>
          </a:prstGeom>
          <a:noFill/>
          <a:ln/>
        </p:spPr>
        <p:txBody>
          <a:bodyPr wrap="square" lIns="0" tIns="0" rIns="0" bIns="0" rtlCol="0" anchor="ctr">
            <a:normAutofit/>
          </a:bodyPr>
          <a:lstStyle/>
          <a:p>
            <a:r>
              <a:rPr lang="en-US" sz="1160" dirty="0">
                <a:solidFill>
                  <a:srgbClr val="111827"/>
                </a:solidFill>
                <a:latin typeface="Arial" pitchFamily="34" charset="0"/>
                <a:ea typeface="Arial" pitchFamily="34" charset="-122"/>
                <a:cs typeface="Arial" pitchFamily="34" charset="-120"/>
              </a:rPr>
              <a:t>Adding a notice changes the list and status.</a:t>
            </a:r>
            <a:endParaRPr lang="en-US" sz="1160" dirty="0"/>
          </a:p>
        </p:txBody>
      </p:sp>
      <p:sp>
        <p:nvSpPr>
          <p:cNvPr id="5" name="Text 3"/>
          <p:cNvSpPr/>
          <p:nvPr/>
        </p:nvSpPr>
        <p:spPr>
          <a:xfrm>
            <a:off x="868680" y="1677924"/>
            <a:ext cx="3840480" cy="219456"/>
          </a:xfrm>
          <a:prstGeom prst="rect">
            <a:avLst/>
          </a:prstGeom>
          <a:noFill/>
          <a:ln/>
        </p:spPr>
        <p:txBody>
          <a:bodyPr wrap="square" lIns="0" tIns="0" rIns="0" bIns="0" rtlCol="0" anchor="ctr">
            <a:normAutofit/>
          </a:bodyPr>
          <a:lstStyle/>
          <a:p>
            <a:r>
              <a:rPr lang="en-US" sz="1160" dirty="0">
                <a:solidFill>
                  <a:srgbClr val="111827"/>
                </a:solidFill>
                <a:latin typeface="Arial" pitchFamily="34" charset="0"/>
                <a:ea typeface="Arial" pitchFamily="34" charset="-122"/>
                <a:cs typeface="Arial" pitchFamily="34" charset="-120"/>
              </a:rPr>
              <a:t>Removing a notice changes the list and status.</a:t>
            </a:r>
            <a:endParaRPr lang="en-US" sz="1160" dirty="0"/>
          </a:p>
        </p:txBody>
      </p:sp>
      <p:sp>
        <p:nvSpPr>
          <p:cNvPr id="6" name="Text 4"/>
          <p:cNvSpPr/>
          <p:nvPr/>
        </p:nvSpPr>
        <p:spPr>
          <a:xfrm>
            <a:off x="868680" y="1938528"/>
            <a:ext cx="3840480" cy="219456"/>
          </a:xfrm>
          <a:prstGeom prst="rect">
            <a:avLst/>
          </a:prstGeom>
          <a:noFill/>
          <a:ln/>
        </p:spPr>
        <p:txBody>
          <a:bodyPr wrap="square" lIns="0" tIns="0" rIns="0" bIns="0" rtlCol="0" anchor="ctr">
            <a:normAutofit/>
          </a:bodyPr>
          <a:lstStyle/>
          <a:p>
            <a:r>
              <a:rPr lang="en-US" sz="1160" dirty="0">
                <a:solidFill>
                  <a:srgbClr val="111827"/>
                </a:solidFill>
                <a:latin typeface="Arial" pitchFamily="34" charset="0"/>
                <a:ea typeface="Arial" pitchFamily="34" charset="-122"/>
                <a:cs typeface="Arial" pitchFamily="34" charset="-120"/>
              </a:rPr>
              <a:t>Removing from an empty list displays a message.</a:t>
            </a:r>
            <a:endParaRPr lang="en-US" sz="1160" dirty="0"/>
          </a:p>
        </p:txBody>
      </p:sp>
      <p:sp>
        <p:nvSpPr>
          <p:cNvPr id="7" name="Text 5"/>
          <p:cNvSpPr/>
          <p:nvPr/>
        </p:nvSpPr>
        <p:spPr>
          <a:xfrm>
            <a:off x="868680" y="2199132"/>
            <a:ext cx="3840480" cy="219456"/>
          </a:xfrm>
          <a:prstGeom prst="rect">
            <a:avLst/>
          </a:prstGeom>
          <a:noFill/>
          <a:ln/>
        </p:spPr>
        <p:txBody>
          <a:bodyPr wrap="square" lIns="0" tIns="0" rIns="0" bIns="0" rtlCol="0" anchor="ctr">
            <a:normAutofit/>
          </a:bodyPr>
          <a:lstStyle/>
          <a:p>
            <a:r>
              <a:rPr lang="en-US" sz="1160" dirty="0">
                <a:solidFill>
                  <a:srgbClr val="111827"/>
                </a:solidFill>
                <a:latin typeface="Arial" pitchFamily="34" charset="0"/>
                <a:ea typeface="Arial" pitchFamily="34" charset="-122"/>
                <a:cs typeface="Arial" pitchFamily="34" charset="-120"/>
              </a:rPr>
              <a:t>No console error appears during the required interactions.</a:t>
            </a:r>
            <a:endParaRPr lang="en-US" sz="1160" dirty="0"/>
          </a:p>
        </p:txBody>
      </p:sp>
      <p:sp>
        <p:nvSpPr>
          <p:cNvPr id="8" name="Text 6"/>
          <p:cNvSpPr/>
          <p:nvPr/>
        </p:nvSpPr>
        <p:spPr>
          <a:xfrm>
            <a:off x="4983480" y="1051560"/>
            <a:ext cx="3200400" cy="228600"/>
          </a:xfrm>
          <a:prstGeom prst="rect">
            <a:avLst/>
          </a:prstGeom>
          <a:noFill/>
          <a:ln/>
        </p:spPr>
        <p:txBody>
          <a:bodyPr wrap="square" lIns="0" tIns="0" rIns="0" bIns="0" rtlCol="0" anchor="t">
            <a:normAutofit/>
          </a:bodyPr>
          <a:lstStyle/>
          <a:p>
            <a:pPr algn="l" indent="0" marL="0">
              <a:lnSpc>
                <a:spcPct val="105000"/>
              </a:lnSpc>
              <a:buNone/>
            </a:pPr>
            <a:r>
              <a:rPr lang="en-US" sz="1425" b="1" dirty="0">
                <a:solidFill>
                  <a:srgbClr val="111827"/>
                </a:solidFill>
                <a:latin typeface="Arial" pitchFamily="34" charset="0"/>
                <a:ea typeface="Arial" pitchFamily="34" charset="-122"/>
                <a:cs typeface="Arial" pitchFamily="34" charset="-120"/>
              </a:rPr>
              <a:t>Submit</a:t>
            </a:r>
            <a:endParaRPr lang="en-US" sz="1425" dirty="0"/>
          </a:p>
        </p:txBody>
      </p:sp>
      <p:sp>
        <p:nvSpPr>
          <p:cNvPr id="9" name="Shape 7"/>
          <p:cNvSpPr/>
          <p:nvPr/>
        </p:nvSpPr>
        <p:spPr>
          <a:xfrm>
            <a:off x="4983480" y="1417320"/>
            <a:ext cx="2560320" cy="320040"/>
          </a:xfrm>
          <a:prstGeom prst="roundRect">
            <a:avLst>
              <a:gd name="adj" fmla="val 14286"/>
            </a:avLst>
          </a:prstGeom>
          <a:solidFill>
            <a:srgbClr val="F3F4F6"/>
          </a:solidFill>
          <a:ln w="12700">
            <a:solidFill>
              <a:srgbClr val="CBD5E1"/>
            </a:solidFill>
            <a:prstDash val="solid"/>
          </a:ln>
        </p:spPr>
      </p:sp>
      <p:sp>
        <p:nvSpPr>
          <p:cNvPr id="10" name="Text 8"/>
          <p:cNvSpPr/>
          <p:nvPr/>
        </p:nvSpPr>
        <p:spPr>
          <a:xfrm>
            <a:off x="5084064" y="1490472"/>
            <a:ext cx="2359152" cy="173736"/>
          </a:xfrm>
          <a:prstGeom prst="rect">
            <a:avLst/>
          </a:prstGeom>
          <a:noFill/>
          <a:ln/>
        </p:spPr>
        <p:txBody>
          <a:bodyPr wrap="square" lIns="0" tIns="0" rIns="0" bIns="0" rtlCol="0" anchor="ctr">
            <a:normAutofit/>
          </a:bodyPr>
          <a:lstStyle/>
          <a:p>
            <a:pPr algn="ctr" indent="0" marL="0">
              <a:buNone/>
            </a:pPr>
            <a:r>
              <a:rPr lang="en-US" sz="1120" dirty="0">
                <a:solidFill>
                  <a:srgbClr val="111827"/>
                </a:solidFill>
                <a:latin typeface="Courier New" pitchFamily="34" charset="0"/>
                <a:ea typeface="Courier New" pitchFamily="34" charset="-122"/>
                <a:cs typeface="Courier New" pitchFamily="34" charset="-120"/>
              </a:rPr>
              <a:t>index.html</a:t>
            </a:r>
            <a:endParaRPr lang="en-US" sz="1120" dirty="0"/>
          </a:p>
        </p:txBody>
      </p:sp>
      <p:sp>
        <p:nvSpPr>
          <p:cNvPr id="11" name="Shape 9"/>
          <p:cNvSpPr/>
          <p:nvPr/>
        </p:nvSpPr>
        <p:spPr>
          <a:xfrm>
            <a:off x="4983480" y="1874520"/>
            <a:ext cx="2834640" cy="320040"/>
          </a:xfrm>
          <a:prstGeom prst="roundRect">
            <a:avLst>
              <a:gd name="adj" fmla="val 14286"/>
            </a:avLst>
          </a:prstGeom>
          <a:solidFill>
            <a:srgbClr val="F3F4F6"/>
          </a:solidFill>
          <a:ln w="12700">
            <a:solidFill>
              <a:srgbClr val="CBD5E1"/>
            </a:solidFill>
            <a:prstDash val="solid"/>
          </a:ln>
        </p:spPr>
      </p:sp>
      <p:sp>
        <p:nvSpPr>
          <p:cNvPr id="12" name="Text 10"/>
          <p:cNvSpPr/>
          <p:nvPr/>
        </p:nvSpPr>
        <p:spPr>
          <a:xfrm>
            <a:off x="5084064" y="1947672"/>
            <a:ext cx="2633472" cy="173736"/>
          </a:xfrm>
          <a:prstGeom prst="rect">
            <a:avLst/>
          </a:prstGeom>
          <a:noFill/>
          <a:ln/>
        </p:spPr>
        <p:txBody>
          <a:bodyPr wrap="square" lIns="0" tIns="0" rIns="0" bIns="0" rtlCol="0" anchor="ctr">
            <a:normAutofit/>
          </a:bodyPr>
          <a:lstStyle/>
          <a:p>
            <a:pPr algn="ctr" indent="0" marL="0">
              <a:buNone/>
            </a:pPr>
            <a:r>
              <a:rPr lang="en-US" sz="1120" dirty="0">
                <a:solidFill>
                  <a:srgbClr val="111827"/>
                </a:solidFill>
                <a:latin typeface="Arial" pitchFamily="34" charset="0"/>
                <a:ea typeface="Arial" pitchFamily="34" charset="-122"/>
                <a:cs typeface="Arial" pitchFamily="34" charset="-120"/>
              </a:rPr>
              <a:t>screenshot after adding a notice</a:t>
            </a:r>
            <a:endParaRPr lang="en-US" sz="1120" dirty="0"/>
          </a:p>
        </p:txBody>
      </p:sp>
      <p:sp>
        <p:nvSpPr>
          <p:cNvPr id="13" name="Shape 11"/>
          <p:cNvSpPr/>
          <p:nvPr/>
        </p:nvSpPr>
        <p:spPr>
          <a:xfrm>
            <a:off x="4983480" y="2331720"/>
            <a:ext cx="2834640" cy="320040"/>
          </a:xfrm>
          <a:prstGeom prst="roundRect">
            <a:avLst>
              <a:gd name="adj" fmla="val 14286"/>
            </a:avLst>
          </a:prstGeom>
          <a:solidFill>
            <a:srgbClr val="F3F4F6"/>
          </a:solidFill>
          <a:ln w="12700">
            <a:solidFill>
              <a:srgbClr val="CBD5E1"/>
            </a:solidFill>
            <a:prstDash val="solid"/>
          </a:ln>
        </p:spPr>
      </p:sp>
      <p:sp>
        <p:nvSpPr>
          <p:cNvPr id="14" name="Text 12"/>
          <p:cNvSpPr/>
          <p:nvPr/>
        </p:nvSpPr>
        <p:spPr>
          <a:xfrm>
            <a:off x="5084064" y="2404872"/>
            <a:ext cx="2633472" cy="173736"/>
          </a:xfrm>
          <a:prstGeom prst="rect">
            <a:avLst/>
          </a:prstGeom>
          <a:noFill/>
          <a:ln/>
        </p:spPr>
        <p:txBody>
          <a:bodyPr wrap="square" lIns="0" tIns="0" rIns="0" bIns="0" rtlCol="0" anchor="ctr">
            <a:normAutofit/>
          </a:bodyPr>
          <a:lstStyle/>
          <a:p>
            <a:pPr algn="ctr" indent="0" marL="0">
              <a:buNone/>
            </a:pPr>
            <a:r>
              <a:rPr lang="en-US" sz="1120" dirty="0">
                <a:solidFill>
                  <a:srgbClr val="111827"/>
                </a:solidFill>
                <a:latin typeface="Arial" pitchFamily="34" charset="0"/>
                <a:ea typeface="Arial" pitchFamily="34" charset="-122"/>
                <a:cs typeface="Arial" pitchFamily="34" charset="-120"/>
              </a:rPr>
              <a:t>screenshot after emptying the list</a:t>
            </a:r>
            <a:endParaRPr lang="en-US" sz="1120" dirty="0"/>
          </a:p>
        </p:txBody>
      </p:sp>
      <p:sp>
        <p:nvSpPr>
          <p:cNvPr id="15" name="Shape 13"/>
          <p:cNvSpPr/>
          <p:nvPr/>
        </p:nvSpPr>
        <p:spPr>
          <a:xfrm>
            <a:off x="4983480" y="2788920"/>
            <a:ext cx="2834640" cy="320040"/>
          </a:xfrm>
          <a:prstGeom prst="roundRect">
            <a:avLst>
              <a:gd name="adj" fmla="val 14286"/>
            </a:avLst>
          </a:prstGeom>
          <a:solidFill>
            <a:srgbClr val="F3F4F6"/>
          </a:solidFill>
          <a:ln w="12700">
            <a:solidFill>
              <a:srgbClr val="CBD5E1"/>
            </a:solidFill>
            <a:prstDash val="solid"/>
          </a:ln>
        </p:spPr>
      </p:sp>
      <p:sp>
        <p:nvSpPr>
          <p:cNvPr id="16" name="Text 14"/>
          <p:cNvSpPr/>
          <p:nvPr/>
        </p:nvSpPr>
        <p:spPr>
          <a:xfrm>
            <a:off x="5084064" y="2862072"/>
            <a:ext cx="2633472" cy="173736"/>
          </a:xfrm>
          <a:prstGeom prst="rect">
            <a:avLst/>
          </a:prstGeom>
          <a:noFill/>
          <a:ln/>
        </p:spPr>
        <p:txBody>
          <a:bodyPr wrap="square" lIns="0" tIns="0" rIns="0" bIns="0" rtlCol="0" anchor="ctr">
            <a:normAutofit/>
          </a:bodyPr>
          <a:lstStyle/>
          <a:p>
            <a:pPr algn="ctr" indent="0" marL="0">
              <a:buNone/>
            </a:pPr>
            <a:r>
              <a:rPr lang="en-US" sz="1000" dirty="0">
                <a:solidFill>
                  <a:srgbClr val="111827"/>
                </a:solidFill>
                <a:latin typeface="Courier New" pitchFamily="34" charset="0"/>
                <a:ea typeface="Courier New" pitchFamily="34" charset="-122"/>
                <a:cs typeface="Courier New" pitchFamily="34" charset="-120"/>
              </a:rPr>
              <a:t>folder: lecture-12-community-notices</a:t>
            </a:r>
            <a:endParaRPr lang="en-US" sz="100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52298" y="362102"/>
            <a:ext cx="6446520" cy="347472"/>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rial" pitchFamily="34" charset="0"/>
                <a:ea typeface="Arial" pitchFamily="34" charset="-122"/>
                <a:cs typeface="Arial" pitchFamily="34" charset="-120"/>
              </a:rPr>
              <a:t>Next: Browser objects and modern JavaScript</a:t>
            </a:r>
            <a:endParaRPr lang="en-US" sz="2100" dirty="0"/>
          </a:p>
        </p:txBody>
      </p:sp>
      <p:sp>
        <p:nvSpPr>
          <p:cNvPr id="3" name="Text 1"/>
          <p:cNvSpPr/>
          <p:nvPr/>
        </p:nvSpPr>
        <p:spPr>
          <a:xfrm>
            <a:off x="914400" y="1188720"/>
            <a:ext cx="3474720" cy="274320"/>
          </a:xfrm>
          <a:prstGeom prst="rect">
            <a:avLst/>
          </a:prstGeom>
          <a:noFill/>
          <a:ln/>
        </p:spPr>
        <p:txBody>
          <a:bodyPr wrap="square" lIns="0" tIns="0" rIns="0" bIns="0" rtlCol="0" anchor="t">
            <a:normAutofit/>
          </a:bodyPr>
          <a:lstStyle/>
          <a:p>
            <a:pPr algn="ctr" indent="0" marL="0">
              <a:lnSpc>
                <a:spcPct val="105000"/>
              </a:lnSpc>
              <a:buNone/>
            </a:pPr>
            <a:r>
              <a:rPr lang="en-US" sz="1425" b="1" dirty="0">
                <a:solidFill>
                  <a:srgbClr val="111827"/>
                </a:solidFill>
                <a:latin typeface="Arial" pitchFamily="34" charset="0"/>
                <a:ea typeface="Arial" pitchFamily="34" charset="-122"/>
                <a:cs typeface="Arial" pitchFamily="34" charset="-120"/>
              </a:rPr>
              <a:t>Browser information and actions</a:t>
            </a:r>
            <a:endParaRPr lang="en-US" sz="1425" dirty="0"/>
          </a:p>
        </p:txBody>
      </p:sp>
      <p:sp>
        <p:nvSpPr>
          <p:cNvPr id="4" name="Text 2"/>
          <p:cNvSpPr/>
          <p:nvPr/>
        </p:nvSpPr>
        <p:spPr>
          <a:xfrm>
            <a:off x="1463040" y="1691640"/>
            <a:ext cx="2743200" cy="219456"/>
          </a:xfrm>
          <a:prstGeom prst="rect">
            <a:avLst/>
          </a:prstGeom>
          <a:noFill/>
          <a:ln/>
        </p:spPr>
        <p:txBody>
          <a:bodyPr wrap="square" lIns="0" tIns="0" rIns="0" bIns="0" rtlCol="0" anchor="ctr">
            <a:normAutofit/>
          </a:bodyPr>
          <a:lstStyle/>
          <a:p>
            <a:r>
              <a:rPr lang="en-US" sz="1300" dirty="0">
                <a:solidFill>
                  <a:srgbClr val="111827"/>
                </a:solidFill>
                <a:latin typeface="Arial" pitchFamily="34" charset="0"/>
                <a:ea typeface="Arial" pitchFamily="34" charset="-122"/>
                <a:cs typeface="Arial" pitchFamily="34" charset="-120"/>
              </a:rPr>
              <a:t>window</a:t>
            </a:r>
            <a:endParaRPr lang="en-US" sz="1300" dirty="0"/>
          </a:p>
        </p:txBody>
      </p:sp>
      <p:sp>
        <p:nvSpPr>
          <p:cNvPr id="5" name="Text 3"/>
          <p:cNvSpPr/>
          <p:nvPr/>
        </p:nvSpPr>
        <p:spPr>
          <a:xfrm>
            <a:off x="1463040" y="1952244"/>
            <a:ext cx="2743200" cy="219456"/>
          </a:xfrm>
          <a:prstGeom prst="rect">
            <a:avLst/>
          </a:prstGeom>
          <a:noFill/>
          <a:ln/>
        </p:spPr>
        <p:txBody>
          <a:bodyPr wrap="square" lIns="0" tIns="0" rIns="0" bIns="0" rtlCol="0" anchor="ctr">
            <a:normAutofit/>
          </a:bodyPr>
          <a:lstStyle/>
          <a:p>
            <a:r>
              <a:rPr lang="en-US" sz="1300" dirty="0">
                <a:solidFill>
                  <a:srgbClr val="111827"/>
                </a:solidFill>
                <a:latin typeface="Arial" pitchFamily="34" charset="0"/>
                <a:ea typeface="Arial" pitchFamily="34" charset="-122"/>
                <a:cs typeface="Arial" pitchFamily="34" charset="-120"/>
              </a:rPr>
              <a:t>location</a:t>
            </a:r>
            <a:endParaRPr lang="en-US" sz="1300" dirty="0"/>
          </a:p>
        </p:txBody>
      </p:sp>
      <p:sp>
        <p:nvSpPr>
          <p:cNvPr id="6" name="Text 4"/>
          <p:cNvSpPr/>
          <p:nvPr/>
        </p:nvSpPr>
        <p:spPr>
          <a:xfrm>
            <a:off x="1463040" y="2212848"/>
            <a:ext cx="2743200" cy="219456"/>
          </a:xfrm>
          <a:prstGeom prst="rect">
            <a:avLst/>
          </a:prstGeom>
          <a:noFill/>
          <a:ln/>
        </p:spPr>
        <p:txBody>
          <a:bodyPr wrap="square" lIns="0" tIns="0" rIns="0" bIns="0" rtlCol="0" anchor="ctr">
            <a:normAutofit/>
          </a:bodyPr>
          <a:lstStyle/>
          <a:p>
            <a:r>
              <a:rPr lang="en-US" sz="1300" dirty="0">
                <a:solidFill>
                  <a:srgbClr val="111827"/>
                </a:solidFill>
                <a:latin typeface="Arial" pitchFamily="34" charset="0"/>
                <a:ea typeface="Arial" pitchFamily="34" charset="-122"/>
                <a:cs typeface="Arial" pitchFamily="34" charset="-120"/>
              </a:rPr>
              <a:t>navigator</a:t>
            </a:r>
            <a:endParaRPr lang="en-US" sz="1300" dirty="0"/>
          </a:p>
        </p:txBody>
      </p:sp>
      <p:sp>
        <p:nvSpPr>
          <p:cNvPr id="7" name="Text 5"/>
          <p:cNvSpPr/>
          <p:nvPr/>
        </p:nvSpPr>
        <p:spPr>
          <a:xfrm>
            <a:off x="1463040" y="2473452"/>
            <a:ext cx="2743200" cy="219456"/>
          </a:xfrm>
          <a:prstGeom prst="rect">
            <a:avLst/>
          </a:prstGeom>
          <a:noFill/>
          <a:ln/>
        </p:spPr>
        <p:txBody>
          <a:bodyPr wrap="square" lIns="0" tIns="0" rIns="0" bIns="0" rtlCol="0" anchor="ctr">
            <a:normAutofit/>
          </a:bodyPr>
          <a:lstStyle/>
          <a:p>
            <a:r>
              <a:rPr lang="en-US" sz="1300" dirty="0">
                <a:solidFill>
                  <a:srgbClr val="111827"/>
                </a:solidFill>
                <a:latin typeface="Arial" pitchFamily="34" charset="0"/>
                <a:ea typeface="Arial" pitchFamily="34" charset="-122"/>
                <a:cs typeface="Arial" pitchFamily="34" charset="-120"/>
              </a:rPr>
              <a:t>screen</a:t>
            </a:r>
            <a:endParaRPr lang="en-US" sz="1300" dirty="0"/>
          </a:p>
        </p:txBody>
      </p:sp>
      <p:sp>
        <p:nvSpPr>
          <p:cNvPr id="8" name="Text 6"/>
          <p:cNvSpPr/>
          <p:nvPr/>
        </p:nvSpPr>
        <p:spPr>
          <a:xfrm>
            <a:off x="4709160" y="1188720"/>
            <a:ext cx="3474720" cy="274320"/>
          </a:xfrm>
          <a:prstGeom prst="rect">
            <a:avLst/>
          </a:prstGeom>
          <a:noFill/>
          <a:ln/>
        </p:spPr>
        <p:txBody>
          <a:bodyPr wrap="square" lIns="0" tIns="0" rIns="0" bIns="0" rtlCol="0" anchor="t">
            <a:normAutofit/>
          </a:bodyPr>
          <a:lstStyle/>
          <a:p>
            <a:pPr algn="ctr" indent="0" marL="0">
              <a:lnSpc>
                <a:spcPct val="105000"/>
              </a:lnSpc>
              <a:buNone/>
            </a:pPr>
            <a:r>
              <a:rPr lang="en-US" sz="1425" b="1" dirty="0">
                <a:solidFill>
                  <a:srgbClr val="111827"/>
                </a:solidFill>
                <a:latin typeface="Arial" pitchFamily="34" charset="0"/>
                <a:ea typeface="Arial" pitchFamily="34" charset="-122"/>
                <a:cs typeface="Arial" pitchFamily="34" charset="-120"/>
              </a:rPr>
              <a:t>Modern JavaScript syntax</a:t>
            </a:r>
            <a:endParaRPr lang="en-US" sz="1425" dirty="0"/>
          </a:p>
        </p:txBody>
      </p:sp>
      <p:sp>
        <p:nvSpPr>
          <p:cNvPr id="9" name="Text 7"/>
          <p:cNvSpPr/>
          <p:nvPr/>
        </p:nvSpPr>
        <p:spPr>
          <a:xfrm>
            <a:off x="5257800" y="1691640"/>
            <a:ext cx="2743200" cy="219456"/>
          </a:xfrm>
          <a:prstGeom prst="rect">
            <a:avLst/>
          </a:prstGeom>
          <a:noFill/>
          <a:ln/>
        </p:spPr>
        <p:txBody>
          <a:bodyPr wrap="square" lIns="0" tIns="0" rIns="0" bIns="0" rtlCol="0" anchor="ctr">
            <a:normAutofit/>
          </a:bodyPr>
          <a:lstStyle/>
          <a:p>
            <a:r>
              <a:rPr lang="en-US" sz="1300" dirty="0">
                <a:solidFill>
                  <a:srgbClr val="111827"/>
                </a:solidFill>
                <a:latin typeface="Arial" pitchFamily="34" charset="0"/>
                <a:ea typeface="Arial" pitchFamily="34" charset="-122"/>
                <a:cs typeface="Arial" pitchFamily="34" charset="-120"/>
              </a:rPr>
              <a:t>arrow functions</a:t>
            </a:r>
            <a:endParaRPr lang="en-US" sz="1300" dirty="0"/>
          </a:p>
        </p:txBody>
      </p:sp>
      <p:sp>
        <p:nvSpPr>
          <p:cNvPr id="10" name="Text 8"/>
          <p:cNvSpPr/>
          <p:nvPr/>
        </p:nvSpPr>
        <p:spPr>
          <a:xfrm>
            <a:off x="5257800" y="1952244"/>
            <a:ext cx="2743200" cy="219456"/>
          </a:xfrm>
          <a:prstGeom prst="rect">
            <a:avLst/>
          </a:prstGeom>
          <a:noFill/>
          <a:ln/>
        </p:spPr>
        <p:txBody>
          <a:bodyPr wrap="square" lIns="0" tIns="0" rIns="0" bIns="0" rtlCol="0" anchor="ctr">
            <a:normAutofit/>
          </a:bodyPr>
          <a:lstStyle/>
          <a:p>
            <a:r>
              <a:rPr lang="en-US" sz="1300" dirty="0">
                <a:solidFill>
                  <a:srgbClr val="111827"/>
                </a:solidFill>
                <a:latin typeface="Arial" pitchFamily="34" charset="0"/>
                <a:ea typeface="Arial" pitchFamily="34" charset="-122"/>
                <a:cs typeface="Arial" pitchFamily="34" charset="-120"/>
              </a:rPr>
              <a:t>template literals</a:t>
            </a:r>
            <a:endParaRPr lang="en-US" sz="1300" dirty="0"/>
          </a:p>
        </p:txBody>
      </p:sp>
      <p:sp>
        <p:nvSpPr>
          <p:cNvPr id="11" name="Text 9"/>
          <p:cNvSpPr/>
          <p:nvPr/>
        </p:nvSpPr>
        <p:spPr>
          <a:xfrm>
            <a:off x="5257800" y="2212848"/>
            <a:ext cx="2743200" cy="219456"/>
          </a:xfrm>
          <a:prstGeom prst="rect">
            <a:avLst/>
          </a:prstGeom>
          <a:noFill/>
          <a:ln/>
        </p:spPr>
        <p:txBody>
          <a:bodyPr wrap="square" lIns="0" tIns="0" rIns="0" bIns="0" rtlCol="0" anchor="ctr">
            <a:normAutofit/>
          </a:bodyPr>
          <a:lstStyle/>
          <a:p>
            <a:r>
              <a:rPr lang="en-US" sz="1300" dirty="0">
                <a:solidFill>
                  <a:srgbClr val="111827"/>
                </a:solidFill>
                <a:latin typeface="Arial" pitchFamily="34" charset="0"/>
                <a:ea typeface="Arial" pitchFamily="34" charset="-122"/>
                <a:cs typeface="Arial" pitchFamily="34" charset="-120"/>
              </a:rPr>
              <a:t>lexical this</a:t>
            </a:r>
            <a:endParaRPr lang="en-US" sz="1300" dirty="0"/>
          </a:p>
        </p:txBody>
      </p:sp>
      <p:sp>
        <p:nvSpPr>
          <p:cNvPr id="12" name="Text 10"/>
          <p:cNvSpPr/>
          <p:nvPr/>
        </p:nvSpPr>
        <p:spPr>
          <a:xfrm>
            <a:off x="3108960" y="3977640"/>
            <a:ext cx="2926080" cy="320040"/>
          </a:xfrm>
          <a:prstGeom prst="rect">
            <a:avLst/>
          </a:prstGeom>
          <a:noFill/>
          <a:ln/>
        </p:spPr>
        <p:txBody>
          <a:bodyPr wrap="square" lIns="0" tIns="0" rIns="0" bIns="0" rtlCol="0" anchor="t">
            <a:normAutofit/>
          </a:bodyPr>
          <a:lstStyle/>
          <a:p>
            <a:pPr algn="ctr" indent="0" marL="0">
              <a:lnSpc>
                <a:spcPct val="105000"/>
              </a:lnSpc>
              <a:buNone/>
            </a:pPr>
            <a:r>
              <a:rPr lang="en-US" sz="1500" b="1" dirty="0">
                <a:solidFill>
                  <a:srgbClr val="111827"/>
                </a:solidFill>
                <a:latin typeface="Arial" pitchFamily="34" charset="0"/>
                <a:ea typeface="Arial" pitchFamily="34" charset="-122"/>
                <a:cs typeface="Arial" pitchFamily="34" charset="-120"/>
              </a:rPr>
              <a:t>Any questions?</a:t>
            </a:r>
            <a:endParaRPr lang="en-US" sz="1500" dirty="0"/>
          </a:p>
        </p:txBody>
      </p:sp>
      <p:sp>
        <p:nvSpPr>
          <p:cNvPr id="25" name="Slide Number Placeholder 0"/>
          <p:cNvSpPr>
            <a:spLocks noGrp="1"/>
          </p:cNvSpPr>
          <p:nvPr>
            <p:ph type="sldNum" sz="quarter" idx="4294967295"/>
          </p:nvPr>
        </p:nvSpPr>
        <p:spPr>
          <a:xfrm>
            <a:off x="0" y="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defRPr>
            </a:lvl1pPr>
          </a:lstStyle>
          <a:p>
            <a:pPr algn="l"/>
            <a:fld id="{F7021451-1387-4CA6-816F-3879F97B5CBC}" type="slidenum">
              <a:rPr b="0"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GUVI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12 - JavaScript and the page</dc:title>
  <dc:subject>FSD MERN Plus AI - Lecture 12</dc:subject>
  <dc:creator>OpenAI</dc:creator>
  <cp:lastModifiedBy>OpenAI</cp:lastModifiedBy>
  <cp:revision>1</cp:revision>
  <dcterms:created xsi:type="dcterms:W3CDTF">2026-07-25T03:27:57Z</dcterms:created>
  <dcterms:modified xsi:type="dcterms:W3CDTF">2026-07-25T03:27:57Z</dcterms:modified>
</cp:coreProperties>
</file>