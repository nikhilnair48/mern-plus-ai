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94360" y="1005840"/>
            <a:ext cx="42062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&amp; TypeScript | Lecture 26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parameters and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requests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03504" y="2487168"/>
            <a:ext cx="1097280" cy="0"/>
          </a:xfrm>
          <a:prstGeom prst="line">
            <a:avLst/>
          </a:prstGeom>
          <a:noFill/>
          <a:ln w="12700">
            <a:solidFill>
              <a:srgbClr val="1E3A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2834640"/>
            <a:ext cx="1417320" cy="292608"/>
          </a:xfrm>
          <a:prstGeom prst="roundRect">
            <a:avLst>
              <a:gd name="adj" fmla="val 31250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2907792"/>
            <a:ext cx="1197864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useSearchParams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121408" y="2834640"/>
            <a:ext cx="2103120" cy="292608"/>
          </a:xfrm>
          <a:prstGeom prst="roundRect">
            <a:avLst>
              <a:gd name="adj" fmla="val 31250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31136" y="2907792"/>
            <a:ext cx="1883664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4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GET, POST, PATCH, DELETE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43400" y="2834640"/>
            <a:ext cx="1783080" cy="292608"/>
          </a:xfrm>
          <a:prstGeom prst="roundRect">
            <a:avLst>
              <a:gd name="adj" fmla="val 31250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53128" y="2907792"/>
            <a:ext cx="1563624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Axios requests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2150" dirty="0"/>
          </a:p>
        </p:txBody>
      </p:sp>
      <p:sp>
        <p:nvSpPr>
          <p:cNvPr id="5" name="Shape 2"/>
          <p:cNvSpPr/>
          <p:nvPr/>
        </p:nvSpPr>
        <p:spPr>
          <a:xfrm>
            <a:off x="685800" y="896112"/>
            <a:ext cx="7818120" cy="585216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051560"/>
            <a:ext cx="329184" cy="274320"/>
          </a:xfrm>
          <a:prstGeom prst="roundRect">
            <a:avLst>
              <a:gd name="adj" fmla="val 33333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78408" y="1124712"/>
            <a:ext cx="109728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53312" y="1033272"/>
            <a:ext cx="21488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in the URL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886200" y="1033272"/>
            <a:ext cx="41605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dynamic path values from search information.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85800" y="1591056"/>
            <a:ext cx="781812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1746504"/>
            <a:ext cx="329184" cy="274320"/>
          </a:xfrm>
          <a:prstGeom prst="roundRect">
            <a:avLst>
              <a:gd name="adj" fmla="val 33333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8408" y="1819656"/>
            <a:ext cx="109728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353312" y="1728216"/>
            <a:ext cx="21488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parameters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886200" y="1728216"/>
            <a:ext cx="41605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and update URL-backed filter values with React Router.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" y="2286000"/>
            <a:ext cx="7818120" cy="585216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8680" y="2441448"/>
            <a:ext cx="329184" cy="274320"/>
          </a:xfrm>
          <a:prstGeom prst="roundRect">
            <a:avLst>
              <a:gd name="adj" fmla="val 33333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8408" y="2514600"/>
            <a:ext cx="109728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353312" y="2423160"/>
            <a:ext cx="21488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request methods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886200" y="2423160"/>
            <a:ext cx="41605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method based on what the server should do.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85800" y="2980944"/>
            <a:ext cx="781812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3136392"/>
            <a:ext cx="329184" cy="274320"/>
          </a:xfrm>
          <a:prstGeom prst="roundRect">
            <a:avLst>
              <a:gd name="adj" fmla="val 33333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78408" y="3209544"/>
            <a:ext cx="109728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353312" y="3118104"/>
            <a:ext cx="21488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Axios requests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886200" y="3118104"/>
            <a:ext cx="41605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typed data, read returned data, and update React state.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85800" y="3675888"/>
            <a:ext cx="7818120" cy="585216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68680" y="3831336"/>
            <a:ext cx="329184" cy="274320"/>
          </a:xfrm>
          <a:prstGeom prst="roundRect">
            <a:avLst>
              <a:gd name="adj" fmla="val 33333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78408" y="3904488"/>
            <a:ext cx="109728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353312" y="3813048"/>
            <a:ext cx="21488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pattern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3886200" y="3813048"/>
            <a:ext cx="41605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URL-backed filtering with a typed server update.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85216" y="15087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85216" y="2039112"/>
            <a:ext cx="1097280" cy="0"/>
          </a:xfrm>
          <a:prstGeom prst="line">
            <a:avLst/>
          </a:prstGeom>
          <a:noFill/>
          <a:ln w="12700">
            <a:solidFill>
              <a:srgbClr val="1E3A8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216" y="2331720"/>
            <a:ext cx="7680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the routing, filtering, and data-fetching patterns that today's lecture will extend.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1: Trace the dynamic route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880" dirty="0"/>
          </a:p>
        </p:txBody>
      </p:sp>
      <p:sp>
        <p:nvSpPr>
          <p:cNvPr id="6" name="Text 3"/>
          <p:cNvSpPr/>
          <p:nvPr/>
        </p:nvSpPr>
        <p:spPr>
          <a:xfrm>
            <a:off x="594360" y="749808"/>
            <a:ext cx="7315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25 used one route pattern for several session detail pages.</a:t>
            </a:r>
            <a:endParaRPr lang="en-US" sz="1080" dirty="0"/>
          </a:p>
        </p:txBody>
      </p:sp>
      <p:sp>
        <p:nvSpPr>
          <p:cNvPr id="7" name="Shape 4"/>
          <p:cNvSpPr/>
          <p:nvPr/>
        </p:nvSpPr>
        <p:spPr>
          <a:xfrm>
            <a:off x="594360" y="1051560"/>
            <a:ext cx="3474720" cy="960120"/>
          </a:xfrm>
          <a:prstGeom prst="roundRect">
            <a:avLst>
              <a:gd name="adj" fmla="val 952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1143000"/>
            <a:ext cx="3255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&lt;Route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path="/sessions/:sessionId"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element={&lt;SessionDetails /&gt;}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594360" y="2148840"/>
            <a:ext cx="3474720" cy="41148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2240280"/>
            <a:ext cx="3236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/sessions/S-205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2788920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4088" y="2880360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sessionId } = useParams();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&lt;p&gt;Session ID: {sessionId}&lt;/p&gt;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4572000" y="1097280"/>
            <a:ext cx="3611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the paragraph render?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0" y="1444752"/>
            <a:ext cx="3703320" cy="461772"/>
          </a:xfrm>
          <a:prstGeom prst="roundRect">
            <a:avLst>
              <a:gd name="adj" fmla="val 19802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81728" y="1499616"/>
            <a:ext cx="3483864" cy="3520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Session ID: :sessionId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4572000" y="1961388"/>
            <a:ext cx="3703320" cy="461772"/>
          </a:xfrm>
          <a:prstGeom prst="roundRect">
            <a:avLst>
              <a:gd name="adj" fmla="val 19802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81728" y="2016252"/>
            <a:ext cx="3483864" cy="3520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Session ID: /sessions/S-205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4572000" y="2478024"/>
            <a:ext cx="3703320" cy="461772"/>
          </a:xfrm>
          <a:prstGeom prst="roundRect">
            <a:avLst>
              <a:gd name="adj" fmla="val 19802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81728" y="2532888"/>
            <a:ext cx="3483864" cy="3520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Session ID: S-205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4572000" y="2994660"/>
            <a:ext cx="3703320" cy="461772"/>
          </a:xfrm>
          <a:prstGeom prst="roundRect">
            <a:avLst>
              <a:gd name="adj" fmla="val 19802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81728" y="3049524"/>
            <a:ext cx="3483864" cy="3520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Session ID: undefined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566928" y="4160520"/>
            <a:ext cx="7086600" cy="64008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4944" y="4233672"/>
            <a:ext cx="6830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Session ID: S-205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React Router captures "S-205" for sessionId when the path matches the dynamic segment.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2: Follow the working filter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594360" y="86868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960120"/>
            <a:ext cx="3438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[selectedTrack] = useState("react");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visibleSessions = sessions.filter(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(session) =&gt; session.track === selectedTrack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90" dirty="0"/>
          </a:p>
        </p:txBody>
      </p:sp>
      <p:sp>
        <p:nvSpPr>
          <p:cNvPr id="8" name="Shape 5"/>
          <p:cNvSpPr/>
          <p:nvPr/>
        </p:nvSpPr>
        <p:spPr>
          <a:xfrm>
            <a:off x="594360" y="2377440"/>
            <a:ext cx="3657600" cy="285750"/>
          </a:xfrm>
          <a:prstGeom prst="rect">
            <a:avLst/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2432304"/>
            <a:ext cx="1682496" cy="1760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890" dirty="0"/>
          </a:p>
        </p:txBody>
      </p:sp>
      <p:sp>
        <p:nvSpPr>
          <p:cNvPr id="10" name="Text 7"/>
          <p:cNvSpPr/>
          <p:nvPr/>
        </p:nvSpPr>
        <p:spPr>
          <a:xfrm>
            <a:off x="2496312" y="2432304"/>
            <a:ext cx="1682496" cy="1760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890" dirty="0"/>
          </a:p>
        </p:txBody>
      </p:sp>
      <p:sp>
        <p:nvSpPr>
          <p:cNvPr id="11" name="Shape 8"/>
          <p:cNvSpPr/>
          <p:nvPr/>
        </p:nvSpPr>
        <p:spPr>
          <a:xfrm>
            <a:off x="594360" y="2663190"/>
            <a:ext cx="3657600" cy="2857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2718054"/>
            <a:ext cx="1682496" cy="1760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component design</a:t>
            </a:r>
            <a:endParaRPr lang="en-US" sz="890" dirty="0"/>
          </a:p>
        </p:txBody>
      </p:sp>
      <p:sp>
        <p:nvSpPr>
          <p:cNvPr id="13" name="Text 10"/>
          <p:cNvSpPr/>
          <p:nvPr/>
        </p:nvSpPr>
        <p:spPr>
          <a:xfrm>
            <a:off x="2496312" y="2718054"/>
            <a:ext cx="1682496" cy="1760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890" dirty="0"/>
          </a:p>
        </p:txBody>
      </p:sp>
      <p:sp>
        <p:nvSpPr>
          <p:cNvPr id="14" name="Shape 11"/>
          <p:cNvSpPr/>
          <p:nvPr/>
        </p:nvSpPr>
        <p:spPr>
          <a:xfrm>
            <a:off x="594360" y="2948940"/>
            <a:ext cx="365760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" y="3003804"/>
            <a:ext cx="1682496" cy="1760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without confusion</a:t>
            </a:r>
            <a:endParaRPr lang="en-US" sz="890" dirty="0"/>
          </a:p>
        </p:txBody>
      </p:sp>
      <p:sp>
        <p:nvSpPr>
          <p:cNvPr id="16" name="Text 13"/>
          <p:cNvSpPr/>
          <p:nvPr/>
        </p:nvSpPr>
        <p:spPr>
          <a:xfrm>
            <a:off x="2496312" y="3003804"/>
            <a:ext cx="1682496" cy="1760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890" dirty="0"/>
          </a:p>
        </p:txBody>
      </p:sp>
      <p:sp>
        <p:nvSpPr>
          <p:cNvPr id="17" name="Shape 14"/>
          <p:cNvSpPr/>
          <p:nvPr/>
        </p:nvSpPr>
        <p:spPr>
          <a:xfrm>
            <a:off x="594360" y="3234690"/>
            <a:ext cx="3657600" cy="2857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7512" y="3289554"/>
            <a:ext cx="1682496" cy="1760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in practice</a:t>
            </a:r>
            <a:endParaRPr lang="en-US" sz="890" dirty="0"/>
          </a:p>
        </p:txBody>
      </p:sp>
      <p:sp>
        <p:nvSpPr>
          <p:cNvPr id="19" name="Text 16"/>
          <p:cNvSpPr/>
          <p:nvPr/>
        </p:nvSpPr>
        <p:spPr>
          <a:xfrm>
            <a:off x="2496312" y="3289554"/>
            <a:ext cx="1682496" cy="1760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890" dirty="0"/>
          </a:p>
        </p:txBody>
      </p:sp>
      <p:sp>
        <p:nvSpPr>
          <p:cNvPr id="20" name="Text 17"/>
          <p:cNvSpPr/>
          <p:nvPr/>
        </p:nvSpPr>
        <p:spPr>
          <a:xfrm>
            <a:off x="461772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sessions belong in visibleSessions?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17720" y="1298448"/>
            <a:ext cx="3840480" cy="473202"/>
          </a:xfrm>
          <a:prstGeom prst="roundRect">
            <a:avLst>
              <a:gd name="adj" fmla="val 19324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27448" y="1353312"/>
            <a:ext cx="3621024" cy="36347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All three sessions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4617720" y="1826514"/>
            <a:ext cx="3840480" cy="473202"/>
          </a:xfrm>
          <a:prstGeom prst="roundRect">
            <a:avLst>
              <a:gd name="adj" fmla="val 19324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27448" y="1881378"/>
            <a:ext cx="3621024" cy="36347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React component design only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4617720" y="2354580"/>
            <a:ext cx="3840480" cy="473202"/>
          </a:xfrm>
          <a:prstGeom prst="roundRect">
            <a:avLst>
              <a:gd name="adj" fmla="val 19324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27448" y="2409444"/>
            <a:ext cx="3621024" cy="36347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React component design and State without confusion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4617720" y="2882646"/>
            <a:ext cx="3840480" cy="473202"/>
          </a:xfrm>
          <a:prstGeom prst="roundRect">
            <a:avLst>
              <a:gd name="adj" fmla="val 19324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27448" y="2937510"/>
            <a:ext cx="3621024" cy="36347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TypeScript in practice only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566928" y="4160520"/>
            <a:ext cx="7086600" cy="54864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4944" y="4233672"/>
            <a:ext cx="6830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filter keeps the sessions whose track matches the current value "react".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3: What causes this GET request?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880" dirty="0"/>
          </a:p>
        </p:txBody>
      </p:sp>
      <p:sp>
        <p:nvSpPr>
          <p:cNvPr id="6" name="Text 3"/>
          <p:cNvSpPr/>
          <p:nvPr/>
        </p:nvSpPr>
        <p:spPr>
          <a:xfrm>
            <a:off x="594360" y="731520"/>
            <a:ext cx="75895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Feedback page needs its current feedback while the page is present.</a:t>
            </a:r>
            <a:endParaRPr lang="en-US" sz="1080" dirty="0"/>
          </a:p>
        </p:txBody>
      </p:sp>
      <p:sp>
        <p:nvSpPr>
          <p:cNvPr id="7" name="Shape 4"/>
          <p:cNvSpPr/>
          <p:nvPr/>
        </p:nvSpPr>
        <p:spPr>
          <a:xfrm>
            <a:off x="594360" y="1078992"/>
            <a:ext cx="3977640" cy="2468880"/>
          </a:xfrm>
          <a:prstGeom prst="roundRect">
            <a:avLst>
              <a:gd name="adj" fmla="val 370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1170432"/>
            <a:ext cx="37581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function loadFeedback()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response =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await axios.get&lt;FeedbackItem[]&gt;(feedbackUrl);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setFeedbackItems(response.data);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loadFeedback();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</a:t>
            </a:r>
            <a:endParaRPr lang="en-US" sz="840" dirty="0"/>
          </a:p>
        </p:txBody>
      </p:sp>
      <p:sp>
        <p:nvSpPr>
          <p:cNvPr id="9" name="Text 6"/>
          <p:cNvSpPr/>
          <p:nvPr/>
        </p:nvSpPr>
        <p:spPr>
          <a:xfrm>
            <a:off x="4800600" y="1097280"/>
            <a:ext cx="35661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this request belong in the Effect?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00600" y="1481328"/>
            <a:ext cx="3611880" cy="427482"/>
          </a:xfrm>
          <a:prstGeom prst="roundRect">
            <a:avLst>
              <a:gd name="adj" fmla="val 21390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10328" y="1536192"/>
            <a:ext cx="3392424" cy="31775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Every Axios request must run inside an Effect.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4800600" y="1963674"/>
            <a:ext cx="3611880" cy="427482"/>
          </a:xfrm>
          <a:prstGeom prst="roundRect">
            <a:avLst>
              <a:gd name="adj" fmla="val 21390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10328" y="2018538"/>
            <a:ext cx="3392424" cy="31775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The request is caused by a button click.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4800600" y="2446020"/>
            <a:ext cx="3611880" cy="427482"/>
          </a:xfrm>
          <a:prstGeom prst="roundRect">
            <a:avLst>
              <a:gd name="adj" fmla="val 21390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10328" y="2500884"/>
            <a:ext cx="3392424" cy="31775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The component needs to synchronize with external data while it is present.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4800600" y="2928366"/>
            <a:ext cx="3611880" cy="427482"/>
          </a:xfrm>
          <a:prstGeom prst="roundRect">
            <a:avLst>
              <a:gd name="adj" fmla="val 21390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10328" y="2983230"/>
            <a:ext cx="3392424" cy="31775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useEffect automatically makes the Axios response typed.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566928" y="4160520"/>
            <a:ext cx="7086600" cy="621792"/>
          </a:xfrm>
          <a:prstGeom prst="roundRect">
            <a:avLst>
              <a:gd name="adj" fmla="val 1470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" y="4233672"/>
            <a:ext cx="6830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The page needs external data because the component is present, not because of one specific click.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4: Which data enters React state?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85800" y="1005840"/>
            <a:ext cx="3840480" cy="1143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" y="1097280"/>
            <a:ext cx="3621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response =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axios.get&lt;FeedbackItem[]&gt;(feedbackUrl);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setFeedbackItems(response.data);</a:t>
            </a:r>
            <a:endParaRPr lang="en-US" sz="940" dirty="0"/>
          </a:p>
        </p:txBody>
      </p:sp>
      <p:sp>
        <p:nvSpPr>
          <p:cNvPr id="8" name="Text 5"/>
          <p:cNvSpPr/>
          <p:nvPr/>
        </p:nvSpPr>
        <p:spPr>
          <a:xfrm>
            <a:off x="4892040" y="932688"/>
            <a:ext cx="35661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response.data represent here?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92040" y="1325880"/>
            <a:ext cx="3429000" cy="404622"/>
          </a:xfrm>
          <a:prstGeom prst="roundRect">
            <a:avLst>
              <a:gd name="adj" fmla="val 22599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01768" y="1380744"/>
            <a:ext cx="3209544" cy="29489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The request URL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92040" y="1785366"/>
            <a:ext cx="3429000" cy="404622"/>
          </a:xfrm>
          <a:prstGeom prst="roundRect">
            <a:avLst>
              <a:gd name="adj" fmla="val 22599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01768" y="1840230"/>
            <a:ext cx="3209544" cy="29489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The returned feedback payload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92040" y="2244852"/>
            <a:ext cx="3429000" cy="404622"/>
          </a:xfrm>
          <a:prstGeom prst="roundRect">
            <a:avLst>
              <a:gd name="adj" fmla="val 22599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01768" y="2299716"/>
            <a:ext cx="3209544" cy="29489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The FeedbackItem TypeScript definition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92040" y="2704338"/>
            <a:ext cx="3429000" cy="404622"/>
          </a:xfrm>
          <a:prstGeom prst="roundRect">
            <a:avLst>
              <a:gd name="adj" fmla="val 22599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01768" y="2759202"/>
            <a:ext cx="3209544" cy="29489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The loading state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5800" y="333756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3410712"/>
            <a:ext cx="3621024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8A4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today, some requests will also send data to the server.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566928" y="4160520"/>
            <a:ext cx="7086600" cy="64008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4944" y="4233672"/>
            <a:ext cx="6830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The returned feedback payload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Axios returns a response object. response.data contains the FeedbackItem[] returned by the server.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85216" y="15087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in the URL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85216" y="2039112"/>
            <a:ext cx="1097280" cy="0"/>
          </a:xfrm>
          <a:prstGeom prst="line">
            <a:avLst/>
          </a:prstGeom>
          <a:noFill/>
          <a:ln w="12700">
            <a:solidFill>
              <a:srgbClr val="1E3A8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216" y="2331720"/>
            <a:ext cx="7680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browser address can carry information that the React application uses.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Sessions filter already works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VALUES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594360" y="822960"/>
            <a:ext cx="31089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822960"/>
            <a:ext cx="31089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896112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6384" y="896112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86968" y="896112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3272" y="877824"/>
            <a:ext cx="2578608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 Hub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58952" y="1207008"/>
            <a:ext cx="2779776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1298448"/>
            <a:ext cx="2542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</a:t>
            </a:r>
            <a:endParaRPr lang="en-US" sz="870" dirty="0"/>
          </a:p>
        </p:txBody>
      </p:sp>
      <p:sp>
        <p:nvSpPr>
          <p:cNvPr id="14" name="Text 11"/>
          <p:cNvSpPr/>
          <p:nvPr/>
        </p:nvSpPr>
        <p:spPr>
          <a:xfrm>
            <a:off x="795528" y="1645920"/>
            <a:ext cx="270662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940" dirty="0"/>
          </a:p>
          <a:p>
            <a:pPr algn="l" indent="0" marL="0">
              <a:buNone/>
            </a:pP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   React    TypeScript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selected</a:t>
            </a:r>
            <a:endParaRPr lang="en-US" sz="940" dirty="0"/>
          </a:p>
          <a:p>
            <a:pPr algn="l" indent="0" marL="0">
              <a:buNone/>
            </a:pP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component design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without confusion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4069080" y="822960"/>
            <a:ext cx="4343400" cy="2103120"/>
          </a:xfrm>
          <a:prstGeom prst="roundRect">
            <a:avLst>
              <a:gd name="adj" fmla="val 434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78808" y="914400"/>
            <a:ext cx="41239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[selectedTrack, setSelectedTrack] =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useState("all");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visibleSessions =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selectedTrack === "all"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sessions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sessions.filter((session) =&gt;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session.track === selectedTrack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4069080" y="3090672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FEF9C3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87952" y="3182112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selectedTrack = "react"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069080" y="3584448"/>
            <a:ext cx="42976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implementation is valid. React state already controls the visible filter correctly.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594360" y="4096512"/>
            <a:ext cx="7818120" cy="438912"/>
          </a:xfrm>
          <a:prstGeom prst="roundRect">
            <a:avLst>
              <a:gd name="adj" fmla="val 20833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4088" y="4169664"/>
            <a:ext cx="759866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requirement: the browser address should also represent the selected filter.</a:t>
            </a:r>
            <a:endParaRPr lang="en-US" sz="10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filter is missing from the URL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VALUES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40080" y="868680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868680"/>
            <a:ext cx="34290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941832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2104" y="941832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2688" y="941832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923544"/>
            <a:ext cx="2898648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tab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804672" y="1252728"/>
            <a:ext cx="3099816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3544" y="1344168"/>
            <a:ext cx="2862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http://localhost:5173/sessions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841248" y="1691640"/>
            <a:ext cx="302666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selected</a:t>
            </a:r>
            <a:endParaRPr lang="en-US" sz="860" dirty="0"/>
          </a:p>
          <a:p>
            <a:pPr algn="l" indent="0" marL="0">
              <a:buNone/>
            </a:pP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component design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without confusion</a:t>
            </a:r>
            <a:endParaRPr lang="en-US" sz="860" dirty="0"/>
          </a:p>
          <a:p>
            <a:pPr algn="l" indent="0" marL="0">
              <a:buNone/>
            </a:pP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state: selectedTrack = "react"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4617720" y="868680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17720" y="868680"/>
            <a:ext cx="34290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941832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09744" y="941832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10328" y="941832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923544"/>
            <a:ext cx="2898648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tab from copied address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782312" y="1252728"/>
            <a:ext cx="3099816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01184" y="1344168"/>
            <a:ext cx="2862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http://localhost:5173/sessions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4818888" y="1691640"/>
            <a:ext cx="302666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selected</a:t>
            </a:r>
            <a:endParaRPr lang="en-US" sz="820" dirty="0"/>
          </a:p>
          <a:p>
            <a:pPr algn="l" indent="0" marL="0">
              <a:buNone/>
            </a:pP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component design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without confusion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in practice</a:t>
            </a:r>
            <a:endParaRPr lang="en-US" sz="820" dirty="0"/>
          </a:p>
          <a:p>
            <a:pPr algn="l" indent="0" marL="0">
              <a:buNone/>
            </a:pP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state: selectedTrack = "all"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640080" y="3429000"/>
            <a:ext cx="7406640" cy="731520"/>
          </a:xfrm>
          <a:prstGeom prst="roundRect">
            <a:avLst>
              <a:gd name="adj" fmla="val 12500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4672" y="3547872"/>
            <a:ext cx="19202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A4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the filter lost?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2743200" y="3511296"/>
            <a:ext cx="507492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state represented the filter inside the previous component instance. The address /sessions contains no information saying the selected track is React.</a:t>
            </a:r>
            <a:endParaRPr lang="en-US" sz="970" dirty="0"/>
          </a:p>
        </p:txBody>
      </p:sp>
      <p:sp>
        <p:nvSpPr>
          <p:cNvPr id="27" name="Shape 24"/>
          <p:cNvSpPr/>
          <p:nvPr/>
        </p:nvSpPr>
        <p:spPr>
          <a:xfrm>
            <a:off x="640080" y="4297680"/>
            <a:ext cx="7406640" cy="329184"/>
          </a:xfrm>
          <a:prstGeom prst="roundRect">
            <a:avLst>
              <a:gd name="adj" fmla="val 27778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9808" y="4370832"/>
            <a:ext cx="7187184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requirement: the browser address should represent the current filtered view too.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selected track in the URL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VALUES</a:t>
            </a:r>
            <a:endParaRPr lang="en-US" sz="880" dirty="0"/>
          </a:p>
        </p:txBody>
      </p:sp>
      <p:sp>
        <p:nvSpPr>
          <p:cNvPr id="6" name="Text 3"/>
          <p:cNvSpPr/>
          <p:nvPr/>
        </p:nvSpPr>
        <p:spPr>
          <a:xfrm>
            <a:off x="640080" y="749808"/>
            <a:ext cx="68580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want these two views to have distinguishable browser addresses.</a:t>
            </a:r>
            <a:endParaRPr lang="en-US" sz="1080" dirty="0"/>
          </a:p>
        </p:txBody>
      </p:sp>
      <p:sp>
        <p:nvSpPr>
          <p:cNvPr id="7" name="Shape 4"/>
          <p:cNvSpPr/>
          <p:nvPr/>
        </p:nvSpPr>
        <p:spPr>
          <a:xfrm>
            <a:off x="822960" y="118872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371600"/>
            <a:ext cx="20116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sessions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24128" y="1783080"/>
            <a:ext cx="2971800" cy="50292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1874520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24128" y="2487168"/>
            <a:ext cx="2971800" cy="4572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560320"/>
            <a:ext cx="2752344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selected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sessions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4617720" y="118872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18888" y="1371600"/>
            <a:ext cx="20116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sessions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818888" y="1783080"/>
            <a:ext cx="2971800" cy="502920"/>
          </a:xfrm>
          <a:prstGeom prst="roundRect">
            <a:avLst>
              <a:gd name="adj" fmla="val 18182"/>
            </a:avLst>
          </a:prstGeom>
          <a:solidFill>
            <a:srgbClr val="FEF9C3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1874520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/sessions?track=react</a:t>
            </a:r>
            <a:endParaRPr lang="en-US" sz="1210" dirty="0"/>
          </a:p>
        </p:txBody>
      </p:sp>
      <p:sp>
        <p:nvSpPr>
          <p:cNvPr id="17" name="Shape 14"/>
          <p:cNvSpPr/>
          <p:nvPr/>
        </p:nvSpPr>
        <p:spPr>
          <a:xfrm>
            <a:off x="4818888" y="2487168"/>
            <a:ext cx="2971800" cy="4572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28616" y="2560320"/>
            <a:ext cx="2752344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selected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sessions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960120" y="3493008"/>
            <a:ext cx="73152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path is still /sessions. The second address carries extra information about the current Sessions view: track = react.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566928" y="4160520"/>
            <a:ext cx="7086600" cy="530352"/>
          </a:xfrm>
          <a:prstGeom prst="roundRect">
            <a:avLst>
              <a:gd name="adj" fmla="val 1724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" y="4233672"/>
            <a:ext cx="6830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URL can identify the page and carry information about the current view of that page.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URL search portion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VALUES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822960" y="960120"/>
            <a:ext cx="7498080" cy="585216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" y="1051560"/>
            <a:ext cx="7260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/sessions?track=react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1755648"/>
            <a:ext cx="3794760" cy="388620"/>
          </a:xfrm>
          <a:prstGeom prst="rect">
            <a:avLst/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1810512"/>
            <a:ext cx="1751076" cy="2788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part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2793492" y="1810512"/>
            <a:ext cx="1751076" cy="2788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822960" y="2144268"/>
            <a:ext cx="3794760" cy="38862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2199132"/>
            <a:ext cx="1751076" cy="2788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/sessions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2793492" y="2199132"/>
            <a:ext cx="1751076" cy="2788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822960" y="2532888"/>
            <a:ext cx="3794760" cy="3886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2587752"/>
            <a:ext cx="1751076" cy="2788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2793492" y="2587752"/>
            <a:ext cx="1751076" cy="2788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begins the search portion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822960" y="2921508"/>
            <a:ext cx="3794760" cy="38862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96112" y="2976372"/>
            <a:ext cx="1751076" cy="2788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2793492" y="2976372"/>
            <a:ext cx="1751076" cy="2788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name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822960" y="3310128"/>
            <a:ext cx="3794760" cy="3886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6112" y="3364992"/>
            <a:ext cx="1751076" cy="2788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960" dirty="0"/>
          </a:p>
        </p:txBody>
      </p:sp>
      <p:sp>
        <p:nvSpPr>
          <p:cNvPr id="22" name="Text 19"/>
          <p:cNvSpPr/>
          <p:nvPr/>
        </p:nvSpPr>
        <p:spPr>
          <a:xfrm>
            <a:off x="2793492" y="3364992"/>
            <a:ext cx="1751076" cy="2788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associates the name with its value</a:t>
            </a: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822960" y="3698748"/>
            <a:ext cx="3794760" cy="38862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96112" y="3753612"/>
            <a:ext cx="1751076" cy="2788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960" dirty="0"/>
          </a:p>
        </p:txBody>
      </p:sp>
      <p:sp>
        <p:nvSpPr>
          <p:cNvPr id="25" name="Text 22"/>
          <p:cNvSpPr/>
          <p:nvPr/>
        </p:nvSpPr>
        <p:spPr>
          <a:xfrm>
            <a:off x="2793492" y="3753612"/>
            <a:ext cx="1751076" cy="2788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value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4983480" y="1783080"/>
            <a:ext cx="3154680" cy="1051560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66360" y="1984248"/>
            <a:ext cx="278892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search parameter stores key-value information in the URL search portion.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166360" y="2542032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= react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983480" y="3108960"/>
            <a:ext cx="3154680" cy="731520"/>
          </a:xfrm>
          <a:prstGeom prst="roundRect">
            <a:avLst>
              <a:gd name="adj" fmla="val 12500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66360" y="3273552"/>
            <a:ext cx="2788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parameter is another common name. React Router uses search in the API name.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parameters vs. search parameters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VALUES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85800" y="868680"/>
            <a:ext cx="3703320" cy="297180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051560"/>
            <a:ext cx="3200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parameter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" y="1417320"/>
            <a:ext cx="31546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50876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/sessions/S-102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1965960"/>
            <a:ext cx="31546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552" y="205740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/sessions/:sessionId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68680" y="2514600"/>
            <a:ext cx="31546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552" y="260604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sessionId = "S-102"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868680" y="3108960"/>
            <a:ext cx="3154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occupies a dynamic path segment.</a:t>
            </a:r>
            <a:endParaRPr lang="en-US" sz="1040" dirty="0"/>
          </a:p>
        </p:txBody>
      </p:sp>
      <p:sp>
        <p:nvSpPr>
          <p:cNvPr id="15" name="Shape 12"/>
          <p:cNvSpPr/>
          <p:nvPr/>
        </p:nvSpPr>
        <p:spPr>
          <a:xfrm>
            <a:off x="4754880" y="868680"/>
            <a:ext cx="3703320" cy="2971800"/>
          </a:xfrm>
          <a:prstGeom prst="roundRect">
            <a:avLst>
              <a:gd name="adj" fmla="val 307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1051560"/>
            <a:ext cx="3200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parameter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937760" y="1417320"/>
            <a:ext cx="31546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56632" y="150876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/sessions?track=react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4937760" y="1965960"/>
            <a:ext cx="31546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05740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937760" y="2514600"/>
            <a:ext cx="31546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56632" y="260604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= "react"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4937760" y="3108960"/>
            <a:ext cx="3154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appears in the URL search portion.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566928" y="4160520"/>
            <a:ext cx="7086600" cy="512064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" y="4233672"/>
            <a:ext cx="6830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difference: </a:t>
            </a:r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carry application values. The first difference is where the value is represented.</a:t>
            </a:r>
            <a:endParaRPr lang="en-US" sz="10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and search parameters together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VALUES</a:t>
            </a:r>
            <a:endParaRPr lang="en-US" sz="880" dirty="0"/>
          </a:p>
        </p:txBody>
      </p:sp>
      <p:sp>
        <p:nvSpPr>
          <p:cNvPr id="6" name="Text 3"/>
          <p:cNvSpPr/>
          <p:nvPr/>
        </p:nvSpPr>
        <p:spPr>
          <a:xfrm>
            <a:off x="685800" y="749808"/>
            <a:ext cx="64008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URL can contain both kinds of value.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7240" y="1060704"/>
            <a:ext cx="7498080" cy="530352"/>
          </a:xfrm>
          <a:prstGeom prst="roundRect">
            <a:avLst>
              <a:gd name="adj" fmla="val 17241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152144"/>
            <a:ext cx="7260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/sessions/S-102?tab=speakers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187452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2416" y="2029968"/>
            <a:ext cx="19202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pattern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42416" y="2359152"/>
            <a:ext cx="196596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61288" y="2450592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/sessions/:sessionId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042416" y="2761488"/>
            <a:ext cx="196596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61288" y="2852928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sessionId = "S-102"</a:t>
            </a:r>
            <a:endParaRPr lang="en-US" sz="890" dirty="0"/>
          </a:p>
        </p:txBody>
      </p:sp>
      <p:sp>
        <p:nvSpPr>
          <p:cNvPr id="15" name="Shape 12"/>
          <p:cNvSpPr/>
          <p:nvPr/>
        </p:nvSpPr>
        <p:spPr>
          <a:xfrm>
            <a:off x="3429000" y="187452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02736" y="2029968"/>
            <a:ext cx="19202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4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portion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02736" y="2514600"/>
            <a:ext cx="196596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21608" y="2606040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= "speakers"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89320" y="187452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89320" y="1874520"/>
            <a:ext cx="233172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80760" y="1947672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81344" y="1947672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81928" y="1947672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28232" y="1929384"/>
            <a:ext cx="1801368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details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190488" y="2697480"/>
            <a:ext cx="1929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S-102</a:t>
            </a:r>
            <a:endParaRPr lang="en-US" sz="780" dirty="0"/>
          </a:p>
          <a:p>
            <a:pPr algn="l" indent="0" marL="0">
              <a:buNone/>
            </a:pP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 Speakers  Resources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selected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566928" y="4160520"/>
            <a:ext cx="7086600" cy="621792"/>
          </a:xfrm>
          <a:prstGeom prst="roundRect">
            <a:avLst>
              <a:gd name="adj" fmla="val 1470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4944" y="4233672"/>
            <a:ext cx="6830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can identify which session detail destination is open, while the search portion carries extra information about that view.</a:t>
            </a:r>
            <a:endParaRPr lang="en-US" sz="10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Read the complete URL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40080" y="868680"/>
            <a:ext cx="3657600" cy="41148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960120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pattern: /products/:productId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1417320"/>
            <a:ext cx="5303520" cy="41148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" y="15087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URL: /products/P-42?tab=reviews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05740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194560"/>
            <a:ext cx="3200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these questions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2514600"/>
            <a:ext cx="489204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value is captured for productId?</a:t>
            </a:r>
            <a:endParaRPr lang="en-US" sz="1030" dirty="0"/>
          </a:p>
          <a:p>
            <a:pPr algn="l"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is the search-parameter name?</a:t>
            </a:r>
            <a:endParaRPr lang="en-US" sz="1030" dirty="0"/>
          </a:p>
          <a:p>
            <a:pPr algn="l"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is its value?</a:t>
            </a:r>
            <a:endParaRPr lang="en-US" sz="1030" dirty="0"/>
          </a:p>
          <a:p>
            <a:pPr algn="l"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If the search portion is removed, what path remains?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6309360" y="114300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09360" y="1143000"/>
            <a:ext cx="187452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0" y="1216152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01384" y="1216152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01968" y="1216152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48272" y="1197864"/>
            <a:ext cx="1344168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page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510528" y="1965960"/>
            <a:ext cx="14721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P-42</a:t>
            </a:r>
            <a:endParaRPr lang="en-US" sz="860" dirty="0"/>
          </a:p>
          <a:p>
            <a:pPr algn="l" indent="0" marL="0">
              <a:buNone/>
            </a:pP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 Reviews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selected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566928" y="4160520"/>
            <a:ext cx="7086600" cy="676656"/>
          </a:xfrm>
          <a:prstGeom prst="roundRect">
            <a:avLst>
              <a:gd name="adj" fmla="val 13514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" y="4233672"/>
            <a:ext cx="6830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"P-42"   2. tab   3. "reviews"   4. /products/P-42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P-42 is in the dynamic path. tab=reviews appears after the question mark, so it belongs to the search portion.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85216" y="15087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parameters in React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85216" y="2039112"/>
            <a:ext cx="1097280" cy="0"/>
          </a:xfrm>
          <a:prstGeom prst="line">
            <a:avLst/>
          </a:prstGeom>
          <a:noFill/>
          <a:ln w="12700">
            <a:solidFill>
              <a:srgbClr val="1E3A8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216" y="2331720"/>
            <a:ext cx="7680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current URL, use it while rendering, and update it from the interface.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search parameters in React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PARAMETERS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85800" y="841248"/>
            <a:ext cx="3291840" cy="438912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93268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/sessions?track=react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1508760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600200"/>
            <a:ext cx="38953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useSearchParams } from "react-router-dom";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Sessions() {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[searchParams, setSearchParams] =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useSearchParams();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90" dirty="0"/>
          </a:p>
        </p:txBody>
      </p:sp>
      <p:sp>
        <p:nvSpPr>
          <p:cNvPr id="10" name="Shape 7"/>
          <p:cNvSpPr/>
          <p:nvPr/>
        </p:nvSpPr>
        <p:spPr>
          <a:xfrm>
            <a:off x="5166360" y="1005840"/>
            <a:ext cx="3154680" cy="841248"/>
          </a:xfrm>
          <a:prstGeom prst="roundRect">
            <a:avLst>
              <a:gd name="adj" fmla="val 10870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21808" y="1152144"/>
            <a:ext cx="13716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searchParams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21808" y="1444752"/>
            <a:ext cx="2697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values from the URL search portion.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5166360" y="2103120"/>
            <a:ext cx="3154680" cy="841248"/>
          </a:xfrm>
          <a:prstGeom prst="roundRect">
            <a:avLst>
              <a:gd name="adj" fmla="val 10870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21808" y="2249424"/>
            <a:ext cx="16459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setSearchParams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21808" y="2542032"/>
            <a:ext cx="2697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 search portion of the current URL.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5166360" y="3273552"/>
            <a:ext cx="315468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21808" y="3456432"/>
            <a:ext cx="26974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destructuring shape looks familiar, but these values serve a different purpose from component state.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 parameter value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PARAMETERS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85800" y="86868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96012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/sessions?track=react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1600200"/>
            <a:ext cx="3657600" cy="731520"/>
          </a:xfrm>
          <a:prstGeom prst="roundRect">
            <a:avLst>
              <a:gd name="adj" fmla="val 125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691640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track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searchParams.get("track");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85800" y="2606040"/>
            <a:ext cx="3657600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" y="2679192"/>
            <a:ext cx="3438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"react"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00600" y="86868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19472" y="96012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/sessions?track=typescript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800600" y="160020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10328" y="169164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searchParams.get("track");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00600" y="2606040"/>
            <a:ext cx="3657600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10328" y="2679192"/>
            <a:ext cx="3438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"typescript"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" y="4160520"/>
            <a:ext cx="7086600" cy="566928"/>
          </a:xfrm>
          <a:prstGeom prst="roundRect">
            <a:avLst>
              <a:gd name="adj" fmla="val 16129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" y="4233672"/>
            <a:ext cx="6830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get("track") reads the current value associated with the track parameter. It does not change the URL.</a:t>
            </a:r>
            <a:endParaRPr lang="en-US" sz="10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a missing parameter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PARAMETERS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85800" y="868680"/>
            <a:ext cx="3429000" cy="1508760"/>
          </a:xfrm>
          <a:prstGeom prst="roundRect">
            <a:avLst>
              <a:gd name="adj" fmla="val 6061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005840"/>
            <a:ext cx="2286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is present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8680" y="1325880"/>
            <a:ext cx="3017520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41732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/sessions?track=react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68680" y="1783080"/>
            <a:ext cx="3017520" cy="329184"/>
          </a:xfrm>
          <a:prstGeom prst="roundRect">
            <a:avLst>
              <a:gd name="adj" fmla="val 277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8408" y="1874520"/>
            <a:ext cx="2798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searchParams.get("track");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868680" y="2139696"/>
            <a:ext cx="30175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"react"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4572000" y="868680"/>
            <a:ext cx="3429000" cy="1508760"/>
          </a:xfrm>
          <a:prstGeom prst="roundRect">
            <a:avLst>
              <a:gd name="adj" fmla="val 6061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1005840"/>
            <a:ext cx="2286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4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is absent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1325880"/>
            <a:ext cx="3017520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73752" y="141732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54880" y="1783080"/>
            <a:ext cx="3017520" cy="329184"/>
          </a:xfrm>
          <a:prstGeom prst="roundRect">
            <a:avLst>
              <a:gd name="adj" fmla="val 277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64608" y="1874520"/>
            <a:ext cx="2798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searchParams.get("track");</a:t>
            </a:r>
            <a:endParaRPr lang="en-US" sz="870" dirty="0"/>
          </a:p>
        </p:txBody>
      </p:sp>
      <p:sp>
        <p:nvSpPr>
          <p:cNvPr id="19" name="Text 16"/>
          <p:cNvSpPr/>
          <p:nvPr/>
        </p:nvSpPr>
        <p:spPr>
          <a:xfrm>
            <a:off x="4754880" y="2139696"/>
            <a:ext cx="30175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8A4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null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777240" y="274320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6968" y="2834640"/>
            <a:ext cx="3255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selectedTrack =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searchParams.get("track") ?? "all";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4617720" y="2697480"/>
            <a:ext cx="3429000" cy="285750"/>
          </a:xfrm>
          <a:prstGeom prst="rect">
            <a:avLst/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90872" y="2752344"/>
            <a:ext cx="1568196" cy="1760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6405372" y="2752344"/>
            <a:ext cx="1568196" cy="1760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selectedTrack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4617720" y="2983230"/>
            <a:ext cx="3429000" cy="2857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90872" y="3038094"/>
            <a:ext cx="1568196" cy="1760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/sessions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6405372" y="3038094"/>
            <a:ext cx="1568196" cy="1760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"all"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4617720" y="3268980"/>
            <a:ext cx="342900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90872" y="3323844"/>
            <a:ext cx="1568196" cy="1760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/sessions?track=react</a:t>
            </a:r>
            <a:endParaRPr lang="en-US" sz="880" dirty="0"/>
          </a:p>
        </p:txBody>
      </p:sp>
      <p:sp>
        <p:nvSpPr>
          <p:cNvPr id="30" name="Text 27"/>
          <p:cNvSpPr/>
          <p:nvPr/>
        </p:nvSpPr>
        <p:spPr>
          <a:xfrm>
            <a:off x="6405372" y="3323844"/>
            <a:ext cx="1568196" cy="1760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"react"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4617720" y="3554730"/>
            <a:ext cx="3429000" cy="28575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90872" y="3609594"/>
            <a:ext cx="1568196" cy="1760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/sessions?track=typescript</a:t>
            </a:r>
            <a:endParaRPr lang="en-US" sz="880" dirty="0"/>
          </a:p>
        </p:txBody>
      </p:sp>
      <p:sp>
        <p:nvSpPr>
          <p:cNvPr id="33" name="Text 30"/>
          <p:cNvSpPr/>
          <p:nvPr/>
        </p:nvSpPr>
        <p:spPr>
          <a:xfrm>
            <a:off x="6405372" y="3609594"/>
            <a:ext cx="1568196" cy="1760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"typescript"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566928" y="4160520"/>
            <a:ext cx="7086600" cy="621792"/>
          </a:xfrm>
          <a:prstGeom prst="roundRect">
            <a:avLst>
              <a:gd name="adj" fmla="val 1470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4944" y="4233672"/>
            <a:ext cx="6830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rule: </a:t>
            </a:r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Conference Hub, the absence of track means show all sessions. TypeScript treats get("track") as string or null.</a:t>
            </a:r>
            <a:endParaRPr lang="en-US" sz="10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selected track comes from the URL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PARAMETERS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85800" y="96012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115568"/>
            <a:ext cx="21945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4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disagreement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8680" y="1444752"/>
            <a:ext cx="3154680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536192"/>
            <a:ext cx="2916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/sessions?track=react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68680" y="1901952"/>
            <a:ext cx="3154680" cy="329184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552" y="1993392"/>
            <a:ext cx="2916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selectedTrack = "all"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868680" y="2304288"/>
            <a:ext cx="30175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values now describe the same selection.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4617720" y="960120"/>
            <a:ext cx="3703320" cy="1508760"/>
          </a:xfrm>
          <a:prstGeom prst="roundRect">
            <a:avLst>
              <a:gd name="adj" fmla="val 6061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1115568"/>
            <a:ext cx="21945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URL-backed value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00600" y="1481328"/>
            <a:ext cx="3246120" cy="621792"/>
          </a:xfrm>
          <a:prstGeom prst="roundRect">
            <a:avLst>
              <a:gd name="adj" fmla="val 1470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10328" y="1572768"/>
            <a:ext cx="3026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selectedTrack =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searchParams.get("track") ?? "all";</a:t>
            </a:r>
            <a:endParaRPr lang="en-US" sz="890" dirty="0"/>
          </a:p>
        </p:txBody>
      </p:sp>
      <p:sp>
        <p:nvSpPr>
          <p:cNvPr id="17" name="Text 14"/>
          <p:cNvSpPr/>
          <p:nvPr/>
        </p:nvSpPr>
        <p:spPr>
          <a:xfrm>
            <a:off x="4800600" y="2212848"/>
            <a:ext cx="31546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this view, the selected track is represented by the URL.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685800" y="2788920"/>
            <a:ext cx="3886200" cy="1078992"/>
          </a:xfrm>
          <a:prstGeom prst="roundRect">
            <a:avLst>
              <a:gd name="adj" fmla="val 8475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5528" y="2880360"/>
            <a:ext cx="36667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visibleSessions =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selectedTrack === "all"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sessions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sessions.filter((session) =&gt;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session.track === selectedTrack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4892040" y="2788920"/>
            <a:ext cx="32461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74920" y="2926080"/>
            <a:ext cx="18288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changed?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74920" y="3154680"/>
            <a:ext cx="25603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source of selectedTrack.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074920" y="3429000"/>
            <a:ext cx="21031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stayed the same?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074920" y="3657600"/>
            <a:ext cx="25603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visibleSessions calculation.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Updating the selected track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PARAMETERS</a:t>
            </a:r>
            <a:endParaRPr lang="en-US" sz="880" dirty="0"/>
          </a:p>
        </p:txBody>
      </p:sp>
      <p:sp>
        <p:nvSpPr>
          <p:cNvPr id="6" name="Text 3"/>
          <p:cNvSpPr/>
          <p:nvPr/>
        </p:nvSpPr>
        <p:spPr>
          <a:xfrm>
            <a:off x="640080" y="749808"/>
            <a:ext cx="74066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component can read the filter from the URL. The filter controls also need to update it.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85800" y="1097280"/>
            <a:ext cx="3977640" cy="2423160"/>
          </a:xfrm>
          <a:prstGeom prst="roundRect">
            <a:avLst>
              <a:gd name="adj" fmla="val 377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" y="1188720"/>
            <a:ext cx="375818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handleTrackChange(nextTrack: string)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setSearchParams({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track: nextTrack,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onClick={() =&gt; handleTrackChange("react")}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React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840" dirty="0"/>
          </a:p>
        </p:txBody>
      </p:sp>
      <p:sp>
        <p:nvSpPr>
          <p:cNvPr id="9" name="Shape 6"/>
          <p:cNvSpPr/>
          <p:nvPr/>
        </p:nvSpPr>
        <p:spPr>
          <a:xfrm>
            <a:off x="5074920" y="1143000"/>
            <a:ext cx="29260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57800" y="1280160"/>
            <a:ext cx="1280160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click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257800" y="1517904"/>
            <a:ext cx="2377440" cy="274320"/>
          </a:xfrm>
          <a:prstGeom prst="roundRect">
            <a:avLst>
              <a:gd name="adj" fmla="val 33333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76672" y="1609344"/>
            <a:ext cx="21396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5074920" y="2240280"/>
            <a:ext cx="2926080" cy="749808"/>
          </a:xfrm>
          <a:prstGeom prst="roundRect">
            <a:avLst>
              <a:gd name="adj" fmla="val 12195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57800" y="2377440"/>
            <a:ext cx="1737360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choosing React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257800" y="2615184"/>
            <a:ext cx="237744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76672" y="2706624"/>
            <a:ext cx="21396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/sessions?track=react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5074920" y="3383280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84648" y="3456432"/>
            <a:ext cx="2706624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setSearchParams updates the URL search portion. Because selectedTrack is read from that URL, the next render uses the new value.</a:t>
            </a:r>
            <a:endParaRPr lang="en-US" sz="9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unfiltered view in the URL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PARAMETERS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85800" y="914400"/>
            <a:ext cx="35204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051560"/>
            <a:ext cx="2286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 Hub convention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1335024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" y="1490472"/>
            <a:ext cx="21031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all sessions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868680" y="170078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/sessions?track=react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68680" y="1856232"/>
            <a:ext cx="21031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React sessions</a:t>
            </a:r>
            <a:endParaRPr lang="en-US" sz="840" dirty="0"/>
          </a:p>
        </p:txBody>
      </p:sp>
      <p:sp>
        <p:nvSpPr>
          <p:cNvPr id="12" name="Shape 9"/>
          <p:cNvSpPr/>
          <p:nvPr/>
        </p:nvSpPr>
        <p:spPr>
          <a:xfrm>
            <a:off x="4617720" y="91440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27448" y="1005840"/>
            <a:ext cx="352958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handleTrackChange(nextTrack: string)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(nextTrack === "all")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setSearchParams({});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setSearchParams({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track: nextTrack,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685800" y="2514600"/>
            <a:ext cx="3520440" cy="640080"/>
          </a:xfrm>
          <a:prstGeom prst="roundRect">
            <a:avLst>
              <a:gd name="adj" fmla="val 1428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2606040"/>
            <a:ext cx="3300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selectedTrack =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searchParams.get("track") ?? "all";</a:t>
            </a:r>
            <a:endParaRPr lang="en-US" sz="910" dirty="0"/>
          </a:p>
        </p:txBody>
      </p:sp>
      <p:sp>
        <p:nvSpPr>
          <p:cNvPr id="16" name="Shape 13"/>
          <p:cNvSpPr/>
          <p:nvPr/>
        </p:nvSpPr>
        <p:spPr>
          <a:xfrm>
            <a:off x="685800" y="3456432"/>
            <a:ext cx="7680960" cy="585216"/>
          </a:xfrm>
          <a:prstGeom prst="roundRect">
            <a:avLst>
              <a:gd name="adj" fmla="val 15625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3611880"/>
            <a:ext cx="73152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rule: no track parameter means the Sessions page is unfiltered. This is a design choice for Conference Hub, not a rule that every application must follow.</a:t>
            </a:r>
            <a:endParaRPr lang="en-US" sz="9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filter selection to rendered sessions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PARAMETERS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502920" y="1078992"/>
            <a:ext cx="1243584" cy="2286000"/>
          </a:xfrm>
          <a:prstGeom prst="roundRect">
            <a:avLst>
              <a:gd name="adj" fmla="val 7353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1243584"/>
            <a:ext cx="411480" cy="310896"/>
          </a:xfrm>
          <a:prstGeom prst="roundRect">
            <a:avLst>
              <a:gd name="adj" fmla="val 29412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316736"/>
            <a:ext cx="19202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2648" y="1783080"/>
            <a:ext cx="102412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2648" y="2240280"/>
            <a:ext cx="102412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920240" y="1078992"/>
            <a:ext cx="1243584" cy="2286000"/>
          </a:xfrm>
          <a:prstGeom prst="roundRect">
            <a:avLst>
              <a:gd name="adj" fmla="val 7353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31720" y="1243584"/>
            <a:ext cx="411480" cy="310896"/>
          </a:xfrm>
          <a:prstGeom prst="roundRect">
            <a:avLst>
              <a:gd name="adj" fmla="val 29412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41448" y="1316736"/>
            <a:ext cx="19202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029968" y="1783080"/>
            <a:ext cx="102412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URL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029968" y="2240280"/>
            <a:ext cx="102412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setSearchParams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337560" y="1078992"/>
            <a:ext cx="1243584" cy="2286000"/>
          </a:xfrm>
          <a:prstGeom prst="roundRect">
            <a:avLst>
              <a:gd name="adj" fmla="val 7353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49040" y="1243584"/>
            <a:ext cx="411480" cy="310896"/>
          </a:xfrm>
          <a:prstGeom prst="roundRect">
            <a:avLst>
              <a:gd name="adj" fmla="val 29412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58768" y="1316736"/>
            <a:ext cx="19202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447288" y="1783080"/>
            <a:ext cx="102412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447288" y="2240280"/>
            <a:ext cx="102412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/sessions?track=react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754880" y="1078992"/>
            <a:ext cx="1243584" cy="2286000"/>
          </a:xfrm>
          <a:prstGeom prst="roundRect">
            <a:avLst>
              <a:gd name="adj" fmla="val 7353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166360" y="1243584"/>
            <a:ext cx="411480" cy="310896"/>
          </a:xfrm>
          <a:prstGeom prst="roundRect">
            <a:avLst>
              <a:gd name="adj" fmla="val 29412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76088" y="1316736"/>
            <a:ext cx="19202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64608" y="1783080"/>
            <a:ext cx="102412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64608" y="2240280"/>
            <a:ext cx="102412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get("track")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172200" y="1078992"/>
            <a:ext cx="1243584" cy="2286000"/>
          </a:xfrm>
          <a:prstGeom prst="roundRect">
            <a:avLst>
              <a:gd name="adj" fmla="val 7353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0" y="1243584"/>
            <a:ext cx="411480" cy="310896"/>
          </a:xfrm>
          <a:prstGeom prst="roundRect">
            <a:avLst>
              <a:gd name="adj" fmla="val 29412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93408" y="1316736"/>
            <a:ext cx="19202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281928" y="1783080"/>
            <a:ext cx="102412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281928" y="2240280"/>
            <a:ext cx="102412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session.track match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7589520" y="1078992"/>
            <a:ext cx="1243584" cy="2286000"/>
          </a:xfrm>
          <a:prstGeom prst="roundRect">
            <a:avLst>
              <a:gd name="adj" fmla="val 7353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001000" y="1243584"/>
            <a:ext cx="411480" cy="310896"/>
          </a:xfrm>
          <a:prstGeom prst="roundRect">
            <a:avLst>
              <a:gd name="adj" fmla="val 29412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10728" y="1316736"/>
            <a:ext cx="192024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699248" y="1783080"/>
            <a:ext cx="102412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699248" y="2240280"/>
            <a:ext cx="1024128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sessions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85800" y="3749040"/>
            <a:ext cx="7772400" cy="438912"/>
          </a:xfrm>
          <a:prstGeom prst="roundRect">
            <a:avLst>
              <a:gd name="adj" fmla="val 20833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95528" y="3822192"/>
            <a:ext cx="755294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/sessions?track=react later lets a new component instance reconstruct the same filter from the URL.</a:t>
            </a:r>
            <a:endParaRPr lang="en-US" sz="10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85216" y="15087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request methods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85216" y="2039112"/>
            <a:ext cx="1097280" cy="0"/>
          </a:xfrm>
          <a:prstGeom prst="line">
            <a:avLst/>
          </a:prstGeom>
          <a:noFill/>
          <a:ln w="12700">
            <a:solidFill>
              <a:srgbClr val="1E3A8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216" y="2331720"/>
            <a:ext cx="7680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can ask the server to do more than return data.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page, four request intentions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METHODS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594360" y="868680"/>
            <a:ext cx="297180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868680"/>
            <a:ext cx="29718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941832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6384" y="941832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86968" y="941832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3272" y="923544"/>
            <a:ext cx="2441448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Feedback Desk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95528" y="1691640"/>
            <a:ext cx="2569464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inbox</a:t>
            </a:r>
            <a:endParaRPr lang="en-US" sz="860" dirty="0"/>
          </a:p>
          <a:p>
            <a:pPr algn="l" indent="0" marL="0">
              <a:buNone/>
            </a:pP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session.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example was helpful.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we revisit Effects?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3886200" y="960120"/>
            <a:ext cx="443484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59352" y="1014984"/>
            <a:ext cx="207111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need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176772" y="1014984"/>
            <a:ext cx="207111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intent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886200" y="1371600"/>
            <a:ext cx="443484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59352" y="1426464"/>
            <a:ext cx="207111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existing feedback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176772" y="1426464"/>
            <a:ext cx="207111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data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886200" y="1783080"/>
            <a:ext cx="4434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59352" y="1837944"/>
            <a:ext cx="207111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new feedback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176772" y="1837944"/>
            <a:ext cx="207111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new data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886200" y="2194560"/>
            <a:ext cx="443484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959352" y="2249424"/>
            <a:ext cx="207111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existing feedback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176772" y="2249424"/>
            <a:ext cx="207111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part of an item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886200" y="2606040"/>
            <a:ext cx="4434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959352" y="2660904"/>
            <a:ext cx="207111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existing feedback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176772" y="2660904"/>
            <a:ext cx="207111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removal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886200" y="3291840"/>
            <a:ext cx="4434840" cy="566928"/>
          </a:xfrm>
          <a:prstGeom prst="roundRect">
            <a:avLst>
              <a:gd name="adj" fmla="val 16129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995928" y="3364992"/>
            <a:ext cx="4215384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 relationship is still HTTP, but these requests do not all ask for the same operation. The method communicates the request intent.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methods express request intent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METHODS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85800" y="914400"/>
            <a:ext cx="512064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969264"/>
            <a:ext cx="241401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319272" y="969264"/>
            <a:ext cx="241401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intent in the Feedback page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5800" y="1325880"/>
            <a:ext cx="512064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1380744"/>
            <a:ext cx="241401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19272" y="1380744"/>
            <a:ext cx="241401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existing feedback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" y="1737360"/>
            <a:ext cx="5120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" y="1792224"/>
            <a:ext cx="241401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19272" y="1792224"/>
            <a:ext cx="241401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new feedback data for the server to process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" y="2148840"/>
            <a:ext cx="512064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8952" y="2203704"/>
            <a:ext cx="241401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19272" y="2203704"/>
            <a:ext cx="241401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partial change to existing feedback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5800" y="2560320"/>
            <a:ext cx="5120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2615184"/>
            <a:ext cx="241401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319272" y="2615184"/>
            <a:ext cx="2414016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removal of existing feedback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72200" y="1005840"/>
            <a:ext cx="2103120" cy="1170432"/>
          </a:xfrm>
          <a:prstGeom prst="roundRect">
            <a:avLst>
              <a:gd name="adj" fmla="val 781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81928" y="1097280"/>
            <a:ext cx="188366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axios.get(...)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axios.post(...)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axios.patch(...)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axios.delete(...)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172200" y="2423160"/>
            <a:ext cx="21031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 provides functions for making requests with these HTTP methods.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85800" y="3429000"/>
            <a:ext cx="7589520" cy="585216"/>
          </a:xfrm>
          <a:prstGeom prst="roundRect">
            <a:avLst>
              <a:gd name="adj" fmla="val 15625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3602736"/>
            <a:ext cx="72237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Precision: in this application, POST is used to submit a new feedback item. POST is not universally defined as simply "create".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sends new feedback data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METHODS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40080" y="868680"/>
            <a:ext cx="278892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868680"/>
            <a:ext cx="278892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941832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2104" y="941832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2688" y="941832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923544"/>
            <a:ext cx="2258568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form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41248" y="1691640"/>
            <a:ext cx="238658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   Maya</a:t>
            </a:r>
            <a:endParaRPr lang="en-US" sz="79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  maya@example.com</a:t>
            </a:r>
            <a:endParaRPr lang="en-US" sz="790" dirty="0"/>
          </a:p>
          <a:p>
            <a:pPr algn="l" indent="0" marL="0">
              <a:buNone/>
            </a:pPr>
            <a:endParaRPr lang="en-US" sz="79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79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routing activity was useful.</a:t>
            </a:r>
            <a:endParaRPr lang="en-US" sz="790" dirty="0"/>
          </a:p>
          <a:p>
            <a:pPr algn="l" indent="0" marL="0">
              <a:buNone/>
            </a:pPr>
            <a:endParaRPr lang="en-US" sz="790" dirty="0"/>
          </a:p>
          <a:p>
            <a:pPr algn="l" indent="0" marL="0">
              <a:buNone/>
            </a:pPr>
            <a:r>
              <a:rPr lang="en-US" sz="7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Submit feedback ]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3749040" y="868680"/>
            <a:ext cx="4434840" cy="1965960"/>
          </a:xfrm>
          <a:prstGeom prst="roundRect">
            <a:avLst>
              <a:gd name="adj" fmla="val 4651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31920" y="1024128"/>
            <a:ext cx="22860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anatomy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931920" y="1371600"/>
            <a:ext cx="4069080" cy="240030"/>
          </a:xfrm>
          <a:prstGeom prst="rect">
            <a:avLst/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05072" y="1426464"/>
            <a:ext cx="1888236" cy="1303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890" dirty="0"/>
          </a:p>
        </p:txBody>
      </p:sp>
      <p:sp>
        <p:nvSpPr>
          <p:cNvPr id="17" name="Text 14"/>
          <p:cNvSpPr/>
          <p:nvPr/>
        </p:nvSpPr>
        <p:spPr>
          <a:xfrm>
            <a:off x="6039612" y="1426464"/>
            <a:ext cx="1888236" cy="1303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890" dirty="0"/>
          </a:p>
        </p:txBody>
      </p:sp>
      <p:sp>
        <p:nvSpPr>
          <p:cNvPr id="18" name="Shape 15"/>
          <p:cNvSpPr/>
          <p:nvPr/>
        </p:nvSpPr>
        <p:spPr>
          <a:xfrm>
            <a:off x="3931920" y="1611630"/>
            <a:ext cx="4069080" cy="24003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05072" y="1666494"/>
            <a:ext cx="1888236" cy="1303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890" dirty="0"/>
          </a:p>
        </p:txBody>
      </p:sp>
      <p:sp>
        <p:nvSpPr>
          <p:cNvPr id="20" name="Text 17"/>
          <p:cNvSpPr/>
          <p:nvPr/>
        </p:nvSpPr>
        <p:spPr>
          <a:xfrm>
            <a:off x="6039612" y="1666494"/>
            <a:ext cx="1888236" cy="1303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890" dirty="0"/>
          </a:p>
        </p:txBody>
      </p:sp>
      <p:sp>
        <p:nvSpPr>
          <p:cNvPr id="21" name="Shape 18"/>
          <p:cNvSpPr/>
          <p:nvPr/>
        </p:nvSpPr>
        <p:spPr>
          <a:xfrm>
            <a:off x="3931920" y="1851660"/>
            <a:ext cx="4069080" cy="24003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05072" y="1906524"/>
            <a:ext cx="1888236" cy="1303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90" dirty="0"/>
          </a:p>
        </p:txBody>
      </p:sp>
      <p:sp>
        <p:nvSpPr>
          <p:cNvPr id="23" name="Text 20"/>
          <p:cNvSpPr/>
          <p:nvPr/>
        </p:nvSpPr>
        <p:spPr>
          <a:xfrm>
            <a:off x="6039612" y="1906524"/>
            <a:ext cx="1888236" cy="1303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 resource</a:t>
            </a:r>
            <a:endParaRPr lang="en-US" sz="890" dirty="0"/>
          </a:p>
        </p:txBody>
      </p:sp>
      <p:sp>
        <p:nvSpPr>
          <p:cNvPr id="24" name="Shape 21"/>
          <p:cNvSpPr/>
          <p:nvPr/>
        </p:nvSpPr>
        <p:spPr>
          <a:xfrm>
            <a:off x="3931920" y="2091690"/>
            <a:ext cx="4069080" cy="24003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05072" y="2146554"/>
            <a:ext cx="1888236" cy="1303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body</a:t>
            </a:r>
            <a:endParaRPr lang="en-US" sz="890" dirty="0"/>
          </a:p>
        </p:txBody>
      </p:sp>
      <p:sp>
        <p:nvSpPr>
          <p:cNvPr id="26" name="Text 23"/>
          <p:cNvSpPr/>
          <p:nvPr/>
        </p:nvSpPr>
        <p:spPr>
          <a:xfrm>
            <a:off x="6039612" y="2146554"/>
            <a:ext cx="1888236" cy="1303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email, body, postId</a:t>
            </a:r>
            <a:endParaRPr lang="en-US" sz="890" dirty="0"/>
          </a:p>
        </p:txBody>
      </p:sp>
      <p:sp>
        <p:nvSpPr>
          <p:cNvPr id="27" name="Shape 24"/>
          <p:cNvSpPr/>
          <p:nvPr/>
        </p:nvSpPr>
        <p:spPr>
          <a:xfrm>
            <a:off x="3749040" y="3154680"/>
            <a:ext cx="4434840" cy="749808"/>
          </a:xfrm>
          <a:prstGeom prst="roundRect">
            <a:avLst>
              <a:gd name="adj" fmla="val 12195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931920" y="3364992"/>
            <a:ext cx="40690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POST request can involve both data sent to the server in the request body and data returned by the server in the response.</a:t>
            </a: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640080" y="4041648"/>
            <a:ext cx="7543800" cy="347472"/>
          </a:xfrm>
          <a:prstGeom prst="roundRect">
            <a:avLst>
              <a:gd name="adj" fmla="val 26316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9808" y="4114800"/>
            <a:ext cx="732434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8A4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23 focused on response.data. Lecture 26 adds application data sent with a request.</a:t>
            </a:r>
            <a:endParaRPr lang="en-US" sz="96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and DELETE target existing feedback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METHODS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731520" y="914400"/>
            <a:ext cx="3657600" cy="251460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078992"/>
            <a:ext cx="10972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32688" y="1417320"/>
            <a:ext cx="3246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item 3 remains, but its body changes.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932688" y="1874520"/>
            <a:ext cx="31546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1965960"/>
            <a:ext cx="2916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= "Updated feedback text"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932688" y="2450592"/>
            <a:ext cx="3154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request identifies the existing item and sends the data needed for the partial change.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4754880" y="914400"/>
            <a:ext cx="3657600" cy="2514600"/>
          </a:xfrm>
          <a:prstGeom prst="roundRect">
            <a:avLst>
              <a:gd name="adj" fmla="val 3636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56048" y="1078992"/>
            <a:ext cx="12801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956048" y="1417320"/>
            <a:ext cx="3154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learner selects Remove for feedback item 3.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4956048" y="187452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4920" y="1965960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/comments/3</a:t>
            </a:r>
            <a:endParaRPr lang="en-US" sz="1040" dirty="0"/>
          </a:p>
        </p:txBody>
      </p:sp>
      <p:sp>
        <p:nvSpPr>
          <p:cNvPr id="17" name="Text 14"/>
          <p:cNvSpPr/>
          <p:nvPr/>
        </p:nvSpPr>
        <p:spPr>
          <a:xfrm>
            <a:off x="4956048" y="2450592"/>
            <a:ext cx="3154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request target identifies which item should be removed.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41248" y="3749040"/>
            <a:ext cx="740664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3803904"/>
            <a:ext cx="3557016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</a:t>
            </a:r>
            <a:endParaRPr lang="en-US" sz="870" dirty="0"/>
          </a:p>
        </p:txBody>
      </p:sp>
      <p:sp>
        <p:nvSpPr>
          <p:cNvPr id="20" name="Text 17"/>
          <p:cNvSpPr/>
          <p:nvPr/>
        </p:nvSpPr>
        <p:spPr>
          <a:xfrm>
            <a:off x="4617720" y="3803904"/>
            <a:ext cx="3557016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870" dirty="0"/>
          </a:p>
        </p:txBody>
      </p:sp>
      <p:sp>
        <p:nvSpPr>
          <p:cNvPr id="21" name="Shape 18"/>
          <p:cNvSpPr/>
          <p:nvPr/>
        </p:nvSpPr>
        <p:spPr>
          <a:xfrm>
            <a:off x="841248" y="3986784"/>
            <a:ext cx="74066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4041648"/>
            <a:ext cx="3557016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item remains</a:t>
            </a:r>
            <a:endParaRPr lang="en-US" sz="870" dirty="0"/>
          </a:p>
        </p:txBody>
      </p:sp>
      <p:sp>
        <p:nvSpPr>
          <p:cNvPr id="23" name="Text 20"/>
          <p:cNvSpPr/>
          <p:nvPr/>
        </p:nvSpPr>
        <p:spPr>
          <a:xfrm>
            <a:off x="4617720" y="4041648"/>
            <a:ext cx="3557016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Removal is requested</a:t>
            </a:r>
            <a:endParaRPr lang="en-US" sz="870" dirty="0"/>
          </a:p>
        </p:txBody>
      </p:sp>
      <p:sp>
        <p:nvSpPr>
          <p:cNvPr id="24" name="Shape 21"/>
          <p:cNvSpPr/>
          <p:nvPr/>
        </p:nvSpPr>
        <p:spPr>
          <a:xfrm>
            <a:off x="841248" y="4224528"/>
            <a:ext cx="74066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4279392"/>
            <a:ext cx="3557016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data is sent</a:t>
            </a:r>
            <a:endParaRPr lang="en-US" sz="870" dirty="0"/>
          </a:p>
        </p:txBody>
      </p:sp>
      <p:sp>
        <p:nvSpPr>
          <p:cNvPr id="26" name="Text 23"/>
          <p:cNvSpPr/>
          <p:nvPr/>
        </p:nvSpPr>
        <p:spPr>
          <a:xfrm>
            <a:off x="4617720" y="4279392"/>
            <a:ext cx="3557016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replacement object is needed</a:t>
            </a:r>
            <a:endParaRPr lang="en-US" sz="87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Match the request to the method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880" dirty="0"/>
          </a:p>
        </p:txBody>
      </p:sp>
      <p:sp>
        <p:nvSpPr>
          <p:cNvPr id="6" name="Text 3"/>
          <p:cNvSpPr/>
          <p:nvPr/>
        </p:nvSpPr>
        <p:spPr>
          <a:xfrm>
            <a:off x="685800" y="731520"/>
            <a:ext cx="73152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HTTP method that best matches each requirement.</a:t>
            </a:r>
            <a:endParaRPr lang="en-US" sz="1080" dirty="0"/>
          </a:p>
        </p:txBody>
      </p:sp>
      <p:sp>
        <p:nvSpPr>
          <p:cNvPr id="7" name="Shape 4"/>
          <p:cNvSpPr/>
          <p:nvPr/>
        </p:nvSpPr>
        <p:spPr>
          <a:xfrm>
            <a:off x="685800" y="1051560"/>
            <a:ext cx="74980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280160"/>
            <a:ext cx="70866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Feedback page opens and needs its existing messages.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learner submits a new feedback form.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learner changes only the text of feedback item 3.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The learner removes feedback item 3.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896112" y="2697480"/>
            <a:ext cx="70866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Follow-up: Which requests send feedback data in a request body? Which target a known existing item? Which begin because of a specific user action?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566928" y="4160520"/>
            <a:ext cx="7086600" cy="749808"/>
          </a:xfrm>
          <a:prstGeom prst="roundRect">
            <a:avLst>
              <a:gd name="adj" fmla="val 12195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4233672"/>
            <a:ext cx="6830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GET   2. POST   3. PATCH   4. DELETE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POST and PATCH send feedback data. PATCH and DELETE target known items. POST, PATCH, and DELETE begin from user actions.</a:t>
            </a:r>
            <a:endParaRPr lang="en-US" sz="10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85216" y="15087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Axios requests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85216" y="2039112"/>
            <a:ext cx="1097280" cy="0"/>
          </a:xfrm>
          <a:prstGeom prst="line">
            <a:avLst/>
          </a:prstGeom>
          <a:noFill/>
          <a:ln w="12700">
            <a:solidFill>
              <a:srgbClr val="1E3A8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216" y="2331720"/>
            <a:ext cx="7680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typed data, handle the response, and update the current interface.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Typing request and response data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AXIOS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40080" y="822960"/>
            <a:ext cx="3840480" cy="640080"/>
          </a:xfrm>
          <a:prstGeom prst="roundRect">
            <a:avLst>
              <a:gd name="adj" fmla="val 1428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914400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commentsUrl =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"https://jsonplaceholder.typicode.com/comments";</a:t>
            </a:r>
            <a:endParaRPr lang="en-US" sz="87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783080"/>
            <a:ext cx="3621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FeedbackItem =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postId: number;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number;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string;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string;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string;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800600" y="960120"/>
            <a:ext cx="3611880" cy="1298448"/>
          </a:xfrm>
          <a:prstGeom prst="roundRect">
            <a:avLst>
              <a:gd name="adj" fmla="val 7042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10328" y="1051560"/>
            <a:ext cx="33924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CreateFeedbackInput =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postId: number;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string;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string;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string;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4800600" y="256032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10328" y="2651760"/>
            <a:ext cx="3392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newFeedback: CreateFeedbackInput =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postId: 1,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640080" y="4005072"/>
            <a:ext cx="7772400" cy="402336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4078224"/>
            <a:ext cx="75529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CreateFeedbackInput describes outgoing request data. FeedbackItem describes the complete item expected from the server.</a:t>
            </a:r>
            <a:endParaRPr lang="en-US" sz="97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the POST request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AXIOS</a:t>
            </a:r>
            <a:endParaRPr lang="en-US" sz="880" dirty="0"/>
          </a:p>
        </p:txBody>
      </p:sp>
      <p:sp>
        <p:nvSpPr>
          <p:cNvPr id="6" name="Text 3"/>
          <p:cNvSpPr/>
          <p:nvPr/>
        </p:nvSpPr>
        <p:spPr>
          <a:xfrm>
            <a:off x="640080" y="713232"/>
            <a:ext cx="7315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POST begins when the learner submits the form.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0080" y="978408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1069848"/>
            <a:ext cx="512978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handleSubmit(event: React.FormEvent&lt;HTMLFormElement&gt;)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event.preventDefault();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newFeedback: CreateFeedbackInput =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postId: 1,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response = await axios.post&lt;FeedbackItem&gt;(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commentsUrl,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newFeedback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6263640" y="1097280"/>
            <a:ext cx="2194560" cy="205740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280160"/>
            <a:ext cx="1645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call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46520" y="1691640"/>
            <a:ext cx="182880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commentsUrl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target</a:t>
            </a:r>
            <a:endParaRPr lang="en-US" sz="920" dirty="0"/>
          </a:p>
          <a:p>
            <a:pPr algn="l" indent="0" marL="0">
              <a:buNone/>
            </a:pP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newFeedback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body</a:t>
            </a:r>
            <a:endParaRPr lang="en-US" sz="920" dirty="0"/>
          </a:p>
          <a:p>
            <a:pPr algn="l" indent="0" marL="0">
              <a:buNone/>
            </a:pP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&lt;FeedbackItem&gt;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response.data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6263640" y="3474720"/>
            <a:ext cx="2194560" cy="512064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73368" y="3547872"/>
            <a:ext cx="1975104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newFeedback is sent with the request. response.data becomes available after the awaited request completes.</a:t>
            </a:r>
            <a:endParaRPr lang="en-US" sz="86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POST response in the interface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AXIOS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40080" y="86868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960120"/>
            <a:ext cx="3529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createdFeedback = response.data;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nextFeedbackItems = [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...feedbackItems,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createdFeedback,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setFeedbackItems(nextFeedbackItems);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4754880" y="932688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097280"/>
            <a:ext cx="14630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3776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233172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2496312"/>
            <a:ext cx="17373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Subsequent render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37760" y="2798064"/>
            <a:ext cx="28346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1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2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routing activity was useful.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640080" y="3154680"/>
            <a:ext cx="374904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64992"/>
            <a:ext cx="33832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Lifecycle: submit form, build typed request data, POST, receive response.data, calculate next array, render the updated list.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640080" y="4114800"/>
            <a:ext cx="7680960" cy="402336"/>
          </a:xfrm>
          <a:prstGeom prst="roundRect">
            <a:avLst>
              <a:gd name="adj" fmla="val 22727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4187952"/>
            <a:ext cx="74615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8A4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JSONPlaceholder simulates POST, PATCH, and DELETE. The response is realistic, but the remote write is not permanently stored.</a:t>
            </a:r>
            <a:endParaRPr lang="en-US" sz="93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sends the intended change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AXIOS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40080" y="868680"/>
            <a:ext cx="3017520" cy="128016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033272"/>
            <a:ext cx="16459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item 3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" y="1371600"/>
            <a:ext cx="16459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body changes.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822960" y="1664208"/>
            <a:ext cx="260604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832" y="1755648"/>
            <a:ext cx="2368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= updatedBody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4023360" y="868680"/>
            <a:ext cx="3886200" cy="1508760"/>
          </a:xfrm>
          <a:prstGeom prst="roundRect">
            <a:avLst>
              <a:gd name="adj" fmla="val 606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33088" y="960120"/>
            <a:ext cx="36667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UpdateFeedbackInput =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string;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update: UpdateFeedbackInput =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updatedBody,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640080" y="2606040"/>
            <a:ext cx="3840480" cy="1325880"/>
          </a:xfrm>
          <a:prstGeom prst="roundRect">
            <a:avLst>
              <a:gd name="adj" fmla="val 689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2697480"/>
            <a:ext cx="36210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response =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axios.patch&lt;FeedbackItem&gt;(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`${commentsUrl}/${feedbackId}`,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90" dirty="0"/>
          </a:p>
        </p:txBody>
      </p:sp>
      <p:sp>
        <p:nvSpPr>
          <p:cNvPr id="15" name="Shape 12"/>
          <p:cNvSpPr/>
          <p:nvPr/>
        </p:nvSpPr>
        <p:spPr>
          <a:xfrm>
            <a:off x="4800600" y="2651760"/>
            <a:ext cx="33375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73752" y="2706624"/>
            <a:ext cx="15224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part</a:t>
            </a:r>
            <a:endParaRPr lang="en-US" sz="890" dirty="0"/>
          </a:p>
        </p:txBody>
      </p:sp>
      <p:sp>
        <p:nvSpPr>
          <p:cNvPr id="17" name="Text 14"/>
          <p:cNvSpPr/>
          <p:nvPr/>
        </p:nvSpPr>
        <p:spPr>
          <a:xfrm>
            <a:off x="6542532" y="2706624"/>
            <a:ext cx="15224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890" dirty="0"/>
          </a:p>
        </p:txBody>
      </p:sp>
      <p:sp>
        <p:nvSpPr>
          <p:cNvPr id="18" name="Shape 15"/>
          <p:cNvSpPr/>
          <p:nvPr/>
        </p:nvSpPr>
        <p:spPr>
          <a:xfrm>
            <a:off x="4800600" y="2907792"/>
            <a:ext cx="33375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73752" y="2962656"/>
            <a:ext cx="15224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90" dirty="0"/>
          </a:p>
        </p:txBody>
      </p:sp>
      <p:sp>
        <p:nvSpPr>
          <p:cNvPr id="20" name="Text 17"/>
          <p:cNvSpPr/>
          <p:nvPr/>
        </p:nvSpPr>
        <p:spPr>
          <a:xfrm>
            <a:off x="6542532" y="2962656"/>
            <a:ext cx="15224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feedback item</a:t>
            </a:r>
            <a:endParaRPr lang="en-US" sz="890" dirty="0"/>
          </a:p>
        </p:txBody>
      </p:sp>
      <p:sp>
        <p:nvSpPr>
          <p:cNvPr id="21" name="Shape 18"/>
          <p:cNvSpPr/>
          <p:nvPr/>
        </p:nvSpPr>
        <p:spPr>
          <a:xfrm>
            <a:off x="4800600" y="3163824"/>
            <a:ext cx="3337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73752" y="3218688"/>
            <a:ext cx="15224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body</a:t>
            </a:r>
            <a:endParaRPr lang="en-US" sz="890" dirty="0"/>
          </a:p>
        </p:txBody>
      </p:sp>
      <p:sp>
        <p:nvSpPr>
          <p:cNvPr id="23" name="Text 20"/>
          <p:cNvSpPr/>
          <p:nvPr/>
        </p:nvSpPr>
        <p:spPr>
          <a:xfrm>
            <a:off x="6542532" y="3218688"/>
            <a:ext cx="15224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body: updatedBody</a:t>
            </a:r>
            <a:endParaRPr lang="en-US" sz="890" dirty="0"/>
          </a:p>
        </p:txBody>
      </p:sp>
      <p:sp>
        <p:nvSpPr>
          <p:cNvPr id="24" name="Shape 21"/>
          <p:cNvSpPr/>
          <p:nvPr/>
        </p:nvSpPr>
        <p:spPr>
          <a:xfrm>
            <a:off x="4800600" y="3419856"/>
            <a:ext cx="33375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73752" y="3474720"/>
            <a:ext cx="15224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response</a:t>
            </a:r>
            <a:endParaRPr lang="en-US" sz="890" dirty="0"/>
          </a:p>
        </p:txBody>
      </p:sp>
      <p:sp>
        <p:nvSpPr>
          <p:cNvPr id="26" name="Text 23"/>
          <p:cNvSpPr/>
          <p:nvPr/>
        </p:nvSpPr>
        <p:spPr>
          <a:xfrm>
            <a:off x="6542532" y="3474720"/>
            <a:ext cx="15224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FeedbackItem</a:t>
            </a:r>
            <a:endParaRPr lang="en-US" sz="890" dirty="0"/>
          </a:p>
        </p:txBody>
      </p:sp>
      <p:sp>
        <p:nvSpPr>
          <p:cNvPr id="27" name="Shape 24"/>
          <p:cNvSpPr/>
          <p:nvPr/>
        </p:nvSpPr>
        <p:spPr>
          <a:xfrm>
            <a:off x="566928" y="4160520"/>
            <a:ext cx="7086600" cy="493776"/>
          </a:xfrm>
          <a:prstGeom prst="roundRect">
            <a:avLst>
              <a:gd name="adj" fmla="val 18519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4944" y="4233672"/>
            <a:ext cx="6830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is appropriate because only part of the existing feedback item needs to change.</a:t>
            </a:r>
            <a:endParaRPr lang="en-US" sz="10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the PATCH response to state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AXIOS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40080" y="850392"/>
            <a:ext cx="4617720" cy="2907792"/>
          </a:xfrm>
          <a:prstGeom prst="roundRect">
            <a:avLst>
              <a:gd name="adj" fmla="val 3145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941832"/>
            <a:ext cx="439826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updatedFeedback = response.data;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nextFeedbackItems =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feedbackItems.map((item) =&gt;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(item.id === updatedFeedback.id)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updatedFeedback;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item;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setFeedbackItems(nextFeedbackItems);</a:t>
            </a:r>
            <a:endParaRPr lang="en-US" sz="840" dirty="0"/>
          </a:p>
        </p:txBody>
      </p:sp>
      <p:sp>
        <p:nvSpPr>
          <p:cNvPr id="8" name="Shape 5"/>
          <p:cNvSpPr/>
          <p:nvPr/>
        </p:nvSpPr>
        <p:spPr>
          <a:xfrm>
            <a:off x="5532120" y="914400"/>
            <a:ext cx="2697480" cy="64008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0" y="1024128"/>
            <a:ext cx="82296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15000" y="1261872"/>
            <a:ext cx="20574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3: previous body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5532120" y="1783080"/>
            <a:ext cx="2697480" cy="64008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0" y="1892808"/>
            <a:ext cx="9144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715000" y="2130552"/>
            <a:ext cx="20574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3: updated body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532120" y="2651760"/>
            <a:ext cx="2697480" cy="64008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0" y="2761488"/>
            <a:ext cx="100584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state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0" y="2999232"/>
            <a:ext cx="20574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3: updated body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640080" y="4041648"/>
            <a:ext cx="7635240" cy="402336"/>
          </a:xfrm>
          <a:prstGeom prst="roundRect">
            <a:avLst>
              <a:gd name="adj" fmla="val 22727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4114800"/>
            <a:ext cx="7415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8A4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the replacement object comes from response.data. Familiar: map creates a replacement array while changing one matching item.</a:t>
            </a:r>
            <a:endParaRPr lang="en-US" sz="92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removes a known item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AXIOS</a:t>
            </a:r>
            <a:endParaRPr lang="en-US" sz="880" dirty="0"/>
          </a:p>
        </p:txBody>
      </p:sp>
      <p:sp>
        <p:nvSpPr>
          <p:cNvPr id="6" name="Text 3"/>
          <p:cNvSpPr/>
          <p:nvPr/>
        </p:nvSpPr>
        <p:spPr>
          <a:xfrm>
            <a:off x="640080" y="731520"/>
            <a:ext cx="74980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learner selects Remove for feedback item 3. The application already knows the selected ID.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85800" y="1097280"/>
            <a:ext cx="3474720" cy="384048"/>
          </a:xfrm>
          <a:prstGeom prst="roundRect">
            <a:avLst>
              <a:gd name="adj" fmla="val 23810"/>
            </a:avLst>
          </a:prstGeom>
          <a:solidFill>
            <a:srgbClr val="FEF9C3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188720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feedbackId = 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" y="1719072"/>
            <a:ext cx="3474720" cy="777240"/>
          </a:xfrm>
          <a:prstGeom prst="roundRect">
            <a:avLst>
              <a:gd name="adj" fmla="val 11765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810512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axios.delete(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`${commentsUrl}/${feedbackId}`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4617720" y="1143000"/>
            <a:ext cx="3749040" cy="1572768"/>
          </a:xfrm>
          <a:prstGeom prst="roundRect">
            <a:avLst>
              <a:gd name="adj" fmla="val 581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1234440"/>
            <a:ext cx="352958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nextFeedbackItems =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feedbackItems.filter(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(item) =&gt; item.id !== feedbackId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setFeedbackItems(nextFeedbackItems);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777240" y="297180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3127248"/>
            <a:ext cx="7315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60120" y="3419856"/>
            <a:ext cx="18288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1    2    3    4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0" y="297180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0" y="3127248"/>
            <a:ext cx="7315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840480" y="3419856"/>
            <a:ext cx="18288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1    2    4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85800" y="4069080"/>
            <a:ext cx="7635240" cy="36576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5528" y="4142232"/>
            <a:ext cx="7415784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performs the familiar collection update. The local removal follows the server request.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placement depends on the cause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AXIOS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566928" y="868680"/>
            <a:ext cx="37490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996696"/>
            <a:ext cx="7315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481328" y="996696"/>
            <a:ext cx="2606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is present and needs external data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1481328" y="1453896"/>
            <a:ext cx="260604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91056" y="1545336"/>
            <a:ext cx="2386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 loadFeedback(); }, [])</a:t>
            </a:r>
            <a:endParaRPr lang="en-US" sz="760" dirty="0"/>
          </a:p>
        </p:txBody>
      </p:sp>
      <p:sp>
        <p:nvSpPr>
          <p:cNvPr id="11" name="Shape 8"/>
          <p:cNvSpPr/>
          <p:nvPr/>
        </p:nvSpPr>
        <p:spPr>
          <a:xfrm>
            <a:off x="4727448" y="868680"/>
            <a:ext cx="3749040" cy="1097280"/>
          </a:xfrm>
          <a:prstGeom prst="roundRect">
            <a:avLst>
              <a:gd name="adj" fmla="val 8333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996696"/>
            <a:ext cx="7315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4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41848" y="996696"/>
            <a:ext cx="2606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submits the form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5641848" y="1453896"/>
            <a:ext cx="260604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51576" y="1545336"/>
            <a:ext cx="2386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handleSubmit()</a:t>
            </a:r>
            <a:endParaRPr lang="en-US" sz="760" dirty="0"/>
          </a:p>
        </p:txBody>
      </p:sp>
      <p:sp>
        <p:nvSpPr>
          <p:cNvPr id="16" name="Shape 13"/>
          <p:cNvSpPr/>
          <p:nvPr/>
        </p:nvSpPr>
        <p:spPr>
          <a:xfrm>
            <a:off x="566928" y="2286000"/>
            <a:ext cx="3749040" cy="1097280"/>
          </a:xfrm>
          <a:prstGeom prst="roundRect">
            <a:avLst>
              <a:gd name="adj" fmla="val 8333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2414016"/>
            <a:ext cx="7315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4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481328" y="2414016"/>
            <a:ext cx="2606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saves an edit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1481328" y="2871216"/>
            <a:ext cx="260604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591056" y="2962656"/>
            <a:ext cx="2386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handleSave()</a:t>
            </a:r>
            <a:endParaRPr lang="en-US" sz="760" dirty="0"/>
          </a:p>
        </p:txBody>
      </p:sp>
      <p:sp>
        <p:nvSpPr>
          <p:cNvPr id="21" name="Shape 18"/>
          <p:cNvSpPr/>
          <p:nvPr/>
        </p:nvSpPr>
        <p:spPr>
          <a:xfrm>
            <a:off x="4727448" y="2286000"/>
            <a:ext cx="3749040" cy="1097280"/>
          </a:xfrm>
          <a:prstGeom prst="roundRect">
            <a:avLst>
              <a:gd name="adj" fmla="val 8333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92040" y="2414016"/>
            <a:ext cx="7315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4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641848" y="2414016"/>
            <a:ext cx="2606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selects Remove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5641848" y="2871216"/>
            <a:ext cx="260604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51576" y="2962656"/>
            <a:ext cx="2386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handleRemove()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640080" y="3867912"/>
            <a:ext cx="7635240" cy="475488"/>
          </a:xfrm>
          <a:prstGeom prst="roundRect">
            <a:avLst>
              <a:gd name="adj" fmla="val 19231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9808" y="3941064"/>
            <a:ext cx="741578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external synchronization belongs in the Effect. Requests caused by specific interactions begin in the corresponding event handlers.</a:t>
            </a:r>
            <a:endParaRPr lang="en-US" sz="940" dirty="0"/>
          </a:p>
        </p:txBody>
      </p:sp>
      <p:sp>
        <p:nvSpPr>
          <p:cNvPr id="28" name="Text 25"/>
          <p:cNvSpPr/>
          <p:nvPr/>
        </p:nvSpPr>
        <p:spPr>
          <a:xfrm>
            <a:off x="822960" y="4443984"/>
            <a:ext cx="71323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is not: Axios requests belong in useEffect.</a:t>
            </a:r>
            <a:endParaRPr lang="en-US" sz="92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form submission to rendered feedback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AXIOS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566928" y="960120"/>
            <a:ext cx="1225296" cy="1463040"/>
          </a:xfrm>
          <a:prstGeom prst="roundRect">
            <a:avLst>
              <a:gd name="adj" fmla="val 7463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78408" y="1097280"/>
            <a:ext cx="384048" cy="274320"/>
          </a:xfrm>
          <a:prstGeom prst="roundRect">
            <a:avLst>
              <a:gd name="adj" fmla="val 33333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88136" y="1170432"/>
            <a:ext cx="16459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58368" y="1572768"/>
            <a:ext cx="10241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658368" y="1901952"/>
            <a:ext cx="102412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 runs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1984248" y="960120"/>
            <a:ext cx="1225296" cy="1463040"/>
          </a:xfrm>
          <a:prstGeom prst="roundRect">
            <a:avLst>
              <a:gd name="adj" fmla="val 7463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95728" y="1097280"/>
            <a:ext cx="384048" cy="274320"/>
          </a:xfrm>
          <a:prstGeom prst="roundRect">
            <a:avLst>
              <a:gd name="adj" fmla="val 33333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05456" y="1170432"/>
            <a:ext cx="16459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075688" y="1572768"/>
            <a:ext cx="10241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data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2075688" y="1901952"/>
            <a:ext cx="102412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newFeedback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3401568" y="960120"/>
            <a:ext cx="1225296" cy="1463040"/>
          </a:xfrm>
          <a:prstGeom prst="roundRect">
            <a:avLst>
              <a:gd name="adj" fmla="val 7463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13048" y="1097280"/>
            <a:ext cx="384048" cy="274320"/>
          </a:xfrm>
          <a:prstGeom prst="roundRect">
            <a:avLst>
              <a:gd name="adj" fmla="val 33333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22776" y="1170432"/>
            <a:ext cx="16459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493008" y="1572768"/>
            <a:ext cx="10241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3493008" y="1901952"/>
            <a:ext cx="102412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axios.post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4818888" y="960120"/>
            <a:ext cx="1225296" cy="1463040"/>
          </a:xfrm>
          <a:prstGeom prst="roundRect">
            <a:avLst>
              <a:gd name="adj" fmla="val 7463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30368" y="1097280"/>
            <a:ext cx="384048" cy="274320"/>
          </a:xfrm>
          <a:prstGeom prst="roundRect">
            <a:avLst>
              <a:gd name="adj" fmla="val 33333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40096" y="1170432"/>
            <a:ext cx="16459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910328" y="1572768"/>
            <a:ext cx="10241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960" dirty="0"/>
          </a:p>
        </p:txBody>
      </p:sp>
      <p:sp>
        <p:nvSpPr>
          <p:cNvPr id="25" name="Text 22"/>
          <p:cNvSpPr/>
          <p:nvPr/>
        </p:nvSpPr>
        <p:spPr>
          <a:xfrm>
            <a:off x="4910328" y="1901952"/>
            <a:ext cx="102412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response.data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6236208" y="960120"/>
            <a:ext cx="1225296" cy="1463040"/>
          </a:xfrm>
          <a:prstGeom prst="roundRect">
            <a:avLst>
              <a:gd name="adj" fmla="val 7463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647688" y="1097280"/>
            <a:ext cx="384048" cy="274320"/>
          </a:xfrm>
          <a:prstGeom prst="roundRect">
            <a:avLst>
              <a:gd name="adj" fmla="val 33333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57416" y="1170432"/>
            <a:ext cx="16459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327648" y="1572768"/>
            <a:ext cx="10241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state</a:t>
            </a:r>
            <a:endParaRPr lang="en-US" sz="960" dirty="0"/>
          </a:p>
        </p:txBody>
      </p:sp>
      <p:sp>
        <p:nvSpPr>
          <p:cNvPr id="30" name="Text 27"/>
          <p:cNvSpPr/>
          <p:nvPr/>
        </p:nvSpPr>
        <p:spPr>
          <a:xfrm>
            <a:off x="6327648" y="1901952"/>
            <a:ext cx="102412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spread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7653528" y="960120"/>
            <a:ext cx="1225296" cy="1463040"/>
          </a:xfrm>
          <a:prstGeom prst="roundRect">
            <a:avLst>
              <a:gd name="adj" fmla="val 7463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065008" y="1097280"/>
            <a:ext cx="384048" cy="274320"/>
          </a:xfrm>
          <a:prstGeom prst="roundRect">
            <a:avLst>
              <a:gd name="adj" fmla="val 33333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74736" y="1170432"/>
            <a:ext cx="16459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744968" y="1572768"/>
            <a:ext cx="10241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960" dirty="0"/>
          </a:p>
        </p:txBody>
      </p:sp>
      <p:sp>
        <p:nvSpPr>
          <p:cNvPr id="35" name="Text 32"/>
          <p:cNvSpPr/>
          <p:nvPr/>
        </p:nvSpPr>
        <p:spPr>
          <a:xfrm>
            <a:off x="7744968" y="1901952"/>
            <a:ext cx="102412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appears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731520" y="2724912"/>
            <a:ext cx="3657600" cy="621792"/>
          </a:xfrm>
          <a:prstGeom prst="roundRect">
            <a:avLst>
              <a:gd name="adj" fmla="val 1470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41248" y="2816352"/>
            <a:ext cx="3438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newFeedback: CreateFeedbackInput =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postId: 1, name, email, body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20" dirty="0"/>
          </a:p>
        </p:txBody>
      </p:sp>
      <p:sp>
        <p:nvSpPr>
          <p:cNvPr id="38" name="Shape 35"/>
          <p:cNvSpPr/>
          <p:nvPr/>
        </p:nvSpPr>
        <p:spPr>
          <a:xfrm>
            <a:off x="4663440" y="2724912"/>
            <a:ext cx="3657600" cy="621792"/>
          </a:xfrm>
          <a:prstGeom prst="roundRect">
            <a:avLst>
              <a:gd name="adj" fmla="val 1470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73168" y="2816352"/>
            <a:ext cx="3438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response = await axios.post&lt;FeedbackItem&gt;(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commentsUrl, newFeedback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10" dirty="0"/>
          </a:p>
        </p:txBody>
      </p:sp>
      <p:sp>
        <p:nvSpPr>
          <p:cNvPr id="40" name="Shape 37"/>
          <p:cNvSpPr/>
          <p:nvPr/>
        </p:nvSpPr>
        <p:spPr>
          <a:xfrm>
            <a:off x="566928" y="4160520"/>
            <a:ext cx="7086600" cy="658368"/>
          </a:xfrm>
          <a:prstGeom prst="roundRect">
            <a:avLst>
              <a:gd name="adj" fmla="val 13889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4944" y="4233672"/>
            <a:ext cx="6830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</a:t>
            </a:r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to server: newFeedback. Returned by server: response.data. Cause: form submission, not page presence.</a:t>
            </a:r>
            <a:endParaRPr lang="en-US" sz="102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Task Review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880" dirty="0"/>
          </a:p>
        </p:txBody>
      </p:sp>
      <p:sp>
        <p:nvSpPr>
          <p:cNvPr id="6" name="Text 3"/>
          <p:cNvSpPr/>
          <p:nvPr/>
        </p:nvSpPr>
        <p:spPr>
          <a:xfrm>
            <a:off x="640080" y="694944"/>
            <a:ext cx="3840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time: 12 to 15 minutes</a:t>
            </a:r>
            <a:endParaRPr lang="en-US" sz="1020" dirty="0"/>
          </a:p>
        </p:txBody>
      </p:sp>
      <p:sp>
        <p:nvSpPr>
          <p:cNvPr id="7" name="Shape 4"/>
          <p:cNvSpPr/>
          <p:nvPr/>
        </p:nvSpPr>
        <p:spPr>
          <a:xfrm>
            <a:off x="640080" y="1005840"/>
            <a:ext cx="338328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005840"/>
            <a:ext cx="33832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078992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2104" y="1078992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078992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1060704"/>
            <a:ext cx="2852928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Review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04672" y="1389888"/>
            <a:ext cx="3054096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23544" y="1481328"/>
            <a:ext cx="2816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/tasks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841248" y="1828800"/>
            <a:ext cx="298094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   Open    Completed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project notes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 [ Mark complete ]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pull request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demo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 [ Mark complete ]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389120" y="960120"/>
            <a:ext cx="3886200" cy="1143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1115568"/>
            <a:ext cx="1280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includes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0" y="1435608"/>
            <a:ext cx="3474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typed Task model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working GET logic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stable IDs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filter controls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 complete buttons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handler stubs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4389120" y="2377440"/>
            <a:ext cx="3886200" cy="1024128"/>
          </a:xfrm>
          <a:prstGeom prst="roundRect">
            <a:avLst>
              <a:gd name="adj" fmla="val 8929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98848" y="2468880"/>
            <a:ext cx="3666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Task =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userId: number;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number;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string;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completed: boolean;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4389120" y="3703320"/>
            <a:ext cx="3886200" cy="493776"/>
          </a:xfrm>
          <a:prstGeom prst="roundRect">
            <a:avLst>
              <a:gd name="adj" fmla="val 18519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98848" y="3776472"/>
            <a:ext cx="3666744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represent selected task status in the URL and send a typed PATCH request when a task is marked complete.</a:t>
            </a:r>
            <a:endParaRPr lang="en-US" sz="92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URL-backed filtering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85800" y="914400"/>
            <a:ext cx="3657600" cy="308610"/>
          </a:xfrm>
          <a:prstGeom prst="rect">
            <a:avLst/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969264"/>
            <a:ext cx="1682496" cy="19888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view</a:t>
            </a:r>
            <a:endParaRPr lang="en-US" sz="960" dirty="0"/>
          </a:p>
        </p:txBody>
      </p:sp>
      <p:sp>
        <p:nvSpPr>
          <p:cNvPr id="8" name="Text 5"/>
          <p:cNvSpPr/>
          <p:nvPr/>
        </p:nvSpPr>
        <p:spPr>
          <a:xfrm>
            <a:off x="2587752" y="969264"/>
            <a:ext cx="1682496" cy="19888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685800" y="1223010"/>
            <a:ext cx="3657600" cy="30861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1277874"/>
            <a:ext cx="1682496" cy="19888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60" dirty="0"/>
          </a:p>
        </p:txBody>
      </p:sp>
      <p:sp>
        <p:nvSpPr>
          <p:cNvPr id="11" name="Text 8"/>
          <p:cNvSpPr/>
          <p:nvPr/>
        </p:nvSpPr>
        <p:spPr>
          <a:xfrm>
            <a:off x="2587752" y="1277874"/>
            <a:ext cx="1682496" cy="19888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/tasks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685800" y="1531620"/>
            <a:ext cx="3657600" cy="3086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" y="1586484"/>
            <a:ext cx="1682496" cy="19888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2587752" y="1586484"/>
            <a:ext cx="1682496" cy="19888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/tasks?status=open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685800" y="1840230"/>
            <a:ext cx="3657600" cy="308610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8952" y="1895094"/>
            <a:ext cx="1682496" cy="19888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2587752" y="1895094"/>
            <a:ext cx="1682496" cy="19888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/tasks?status=completed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4663440" y="914400"/>
            <a:ext cx="36576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1078992"/>
            <a:ext cx="1280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46320" y="1417320"/>
            <a:ext cx="32004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Read status with useSearchParams.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Treat a missing parameter as "all".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Derive visible tasks from the URL value.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Update search parameters from the controls.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Remove status when All is selected.</a:t>
            </a:r>
            <a:endParaRPr lang="en-US" sz="890" dirty="0"/>
          </a:p>
        </p:txBody>
      </p:sp>
      <p:sp>
        <p:nvSpPr>
          <p:cNvPr id="21" name="Shape 18"/>
          <p:cNvSpPr/>
          <p:nvPr/>
        </p:nvSpPr>
        <p:spPr>
          <a:xfrm>
            <a:off x="685800" y="2606040"/>
            <a:ext cx="3657600" cy="731520"/>
          </a:xfrm>
          <a:prstGeom prst="roundRect">
            <a:avLst>
              <a:gd name="adj" fmla="val 12500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2816352"/>
            <a:ext cx="3291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Constraint: do not create a second independent state value for the same selected status.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566928" y="4160520"/>
            <a:ext cx="7086600" cy="54864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4944" y="4233672"/>
            <a:ext cx="6830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check: </a:t>
            </a:r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Open produces /tasks?status=open and shows only tasks with completed === false.</a:t>
            </a:r>
            <a:endParaRPr lang="en-US" sz="10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Update a task with PATCH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85800" y="914400"/>
            <a:ext cx="29260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914400"/>
            <a:ext cx="29260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987552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987552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78408" y="987552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24712" y="969264"/>
            <a:ext cx="2395728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card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86968" y="1737360"/>
            <a:ext cx="252374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project notes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Open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Mark complete ]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977640" y="914400"/>
            <a:ext cx="4069080" cy="100584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60520" y="1078992"/>
            <a:ext cx="16459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request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60520" y="1353312"/>
            <a:ext cx="352044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/todos/1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4160520" y="1627632"/>
            <a:ext cx="352044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Body: { completed: true }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3977640" y="224028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60520" y="2404872"/>
            <a:ext cx="1280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160520" y="2697480"/>
            <a:ext cx="35661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Define a type for the outgoing update data.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Send PATCH from the button handler path.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Expect Task in response.data.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Replace the matching task in state.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685800" y="3977640"/>
            <a:ext cx="7360920" cy="475488"/>
          </a:xfrm>
          <a:prstGeom prst="roundRect">
            <a:avLst>
              <a:gd name="adj" fmla="val 19231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5528" y="4050792"/>
            <a:ext cx="714146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4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request is caused by Mark complete, so it does not belong in the initial GET Effect. JSONPlaceholder simulates the update.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 Task Review flow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40080" y="914400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078992"/>
            <a:ext cx="18288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URL-backed filter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1463040"/>
            <a:ext cx="3246120" cy="548640"/>
          </a:xfrm>
          <a:prstGeom prst="roundRect">
            <a:avLst>
              <a:gd name="adj" fmla="val 16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55448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status =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searchParams.get("status") ?? "all";</a:t>
            </a:r>
            <a:endParaRPr lang="en-US" sz="860" dirty="0"/>
          </a:p>
        </p:txBody>
      </p:sp>
      <p:sp>
        <p:nvSpPr>
          <p:cNvPr id="10" name="Text 7"/>
          <p:cNvSpPr/>
          <p:nvPr/>
        </p:nvSpPr>
        <p:spPr>
          <a:xfrm>
            <a:off x="822960" y="2286000"/>
            <a:ext cx="32461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controls update the search parameters. The visible list is derived from status.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4617720" y="914400"/>
            <a:ext cx="3703320" cy="22860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078992"/>
            <a:ext cx="18288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update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00600" y="1426464"/>
            <a:ext cx="3246120" cy="1005840"/>
          </a:xfrm>
          <a:prstGeom prst="roundRect">
            <a:avLst>
              <a:gd name="adj" fmla="val 909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0328" y="1517904"/>
            <a:ext cx="3026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TaskUpdate = { completed: boolean };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response = await axios.patch&lt;Task&gt;(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`${todosUrl}/${taskId}`,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4800600" y="2651760"/>
            <a:ext cx="32461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returned task replaces the matching task in the next state array.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40080" y="3931920"/>
            <a:ext cx="7680960" cy="475488"/>
          </a:xfrm>
          <a:prstGeom prst="roundRect">
            <a:avLst>
              <a:gd name="adj" fmla="val 19231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4005072"/>
            <a:ext cx="746150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8A4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/tasks?status=open is active and an open task becomes complete, it disappears because it no longer satisfies the current filter.</a:t>
            </a:r>
            <a:endParaRPr lang="en-US" sz="92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Cool-down 1: Read the search parameter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COOL-DOWN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731520" y="1005840"/>
            <a:ext cx="370332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" y="109728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/products?category=books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1737360"/>
            <a:ext cx="3703320" cy="68580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1828800"/>
            <a:ext cx="3483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category =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searchParams.get("category");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4800600" y="987552"/>
            <a:ext cx="3474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value does category contain?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371600"/>
            <a:ext cx="3429000" cy="393192"/>
          </a:xfrm>
          <a:prstGeom prst="roundRect">
            <a:avLst>
              <a:gd name="adj" fmla="val 23256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0328" y="1426464"/>
            <a:ext cx="3209544" cy="2834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/products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4800600" y="1819656"/>
            <a:ext cx="3429000" cy="393192"/>
          </a:xfrm>
          <a:prstGeom prst="roundRect">
            <a:avLst>
              <a:gd name="adj" fmla="val 23256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0328" y="1874520"/>
            <a:ext cx="3209544" cy="2834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category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4800600" y="2267712"/>
            <a:ext cx="3429000" cy="393192"/>
          </a:xfrm>
          <a:prstGeom prst="roundRect">
            <a:avLst>
              <a:gd name="adj" fmla="val 23256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10328" y="2322576"/>
            <a:ext cx="3209544" cy="2834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books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4800600" y="2715768"/>
            <a:ext cx="3429000" cy="393192"/>
          </a:xfrm>
          <a:prstGeom prst="roundRect">
            <a:avLst>
              <a:gd name="adj" fmla="val 23256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10328" y="2770632"/>
            <a:ext cx="3209544" cy="2834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?category=books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566928" y="4160520"/>
            <a:ext cx="7086600" cy="594360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4944" y="4233672"/>
            <a:ext cx="6830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"books"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get("category") looks up the value associated with the category search-parameter name.</a:t>
            </a:r>
            <a:endParaRPr lang="en-US" sz="102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Cool-down 2: Handle a missing parameter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COOL-DOWN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731520" y="1005840"/>
            <a:ext cx="370332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" y="109728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/products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1737360"/>
            <a:ext cx="3703320" cy="731520"/>
          </a:xfrm>
          <a:prstGeom prst="roundRect">
            <a:avLst>
              <a:gd name="adj" fmla="val 125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182880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category =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searchParams.get("category") ?? "all";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4800600" y="987552"/>
            <a:ext cx="34747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value does category contain during this render?</a:t>
            </a:r>
            <a:endParaRPr lang="en-US" sz="1240" dirty="0"/>
          </a:p>
        </p:txBody>
      </p:sp>
      <p:sp>
        <p:nvSpPr>
          <p:cNvPr id="11" name="Shape 8"/>
          <p:cNvSpPr/>
          <p:nvPr/>
        </p:nvSpPr>
        <p:spPr>
          <a:xfrm>
            <a:off x="4800600" y="1517904"/>
            <a:ext cx="3429000" cy="358902"/>
          </a:xfrm>
          <a:prstGeom prst="roundRect">
            <a:avLst>
              <a:gd name="adj" fmla="val 25478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0328" y="1572768"/>
            <a:ext cx="3209544" cy="24917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null</a:t>
            </a:r>
            <a:endParaRPr lang="en-US" sz="1040" dirty="0"/>
          </a:p>
        </p:txBody>
      </p:sp>
      <p:sp>
        <p:nvSpPr>
          <p:cNvPr id="13" name="Shape 10"/>
          <p:cNvSpPr/>
          <p:nvPr/>
        </p:nvSpPr>
        <p:spPr>
          <a:xfrm>
            <a:off x="4800600" y="1931670"/>
            <a:ext cx="3429000" cy="358902"/>
          </a:xfrm>
          <a:prstGeom prst="roundRect">
            <a:avLst>
              <a:gd name="adj" fmla="val 25478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0328" y="1986534"/>
            <a:ext cx="3209544" cy="24917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all</a:t>
            </a:r>
            <a:endParaRPr lang="en-US" sz="1040" dirty="0"/>
          </a:p>
        </p:txBody>
      </p:sp>
      <p:sp>
        <p:nvSpPr>
          <p:cNvPr id="15" name="Shape 12"/>
          <p:cNvSpPr/>
          <p:nvPr/>
        </p:nvSpPr>
        <p:spPr>
          <a:xfrm>
            <a:off x="4800600" y="2345436"/>
            <a:ext cx="3429000" cy="358902"/>
          </a:xfrm>
          <a:prstGeom prst="roundRect">
            <a:avLst>
              <a:gd name="adj" fmla="val 25478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10328" y="2400300"/>
            <a:ext cx="3209544" cy="24917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products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4800600" y="2759202"/>
            <a:ext cx="3429000" cy="358902"/>
          </a:xfrm>
          <a:prstGeom prst="roundRect">
            <a:avLst>
              <a:gd name="adj" fmla="val 25478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10328" y="2814066"/>
            <a:ext cx="3209544" cy="24917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undefined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66928" y="4160520"/>
            <a:ext cx="7086600" cy="594360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4944" y="4233672"/>
            <a:ext cx="6830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"all"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The URL has no category parameter, so get("category") returns null. The fallback supplies "all".</a:t>
            </a:r>
            <a:endParaRPr lang="en-US" sz="102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Cool-down 3: Choose the request method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COOL-DOWN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731520" y="932688"/>
            <a:ext cx="3840480" cy="205740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115568"/>
            <a:ext cx="9144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1444752"/>
            <a:ext cx="34290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profile already exists on the server. The learner changes only the profile biography.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914400" y="1993392"/>
            <a:ext cx="342900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208483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bio: "Frontend developer"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2542032"/>
            <a:ext cx="3429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profile fields should remain unchanged.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92040" y="1005840"/>
            <a:ext cx="3383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HTTP method best matches this request?</a:t>
            </a:r>
            <a:endParaRPr lang="en-US" sz="1260" dirty="0"/>
          </a:p>
        </p:txBody>
      </p:sp>
      <p:sp>
        <p:nvSpPr>
          <p:cNvPr id="13" name="Shape 10"/>
          <p:cNvSpPr/>
          <p:nvPr/>
        </p:nvSpPr>
        <p:spPr>
          <a:xfrm>
            <a:off x="4892040" y="1444752"/>
            <a:ext cx="3017520" cy="336042"/>
          </a:xfrm>
          <a:prstGeom prst="roundRect">
            <a:avLst>
              <a:gd name="adj" fmla="val 27211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01768" y="1499616"/>
            <a:ext cx="2798064" cy="22631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GET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92040" y="1835658"/>
            <a:ext cx="3017520" cy="336042"/>
          </a:xfrm>
          <a:prstGeom prst="roundRect">
            <a:avLst>
              <a:gd name="adj" fmla="val 27211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01768" y="1890522"/>
            <a:ext cx="2798064" cy="22631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POST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92040" y="2226564"/>
            <a:ext cx="3017520" cy="336042"/>
          </a:xfrm>
          <a:prstGeom prst="roundRect">
            <a:avLst>
              <a:gd name="adj" fmla="val 27211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01768" y="2281428"/>
            <a:ext cx="2798064" cy="22631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PATCH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892040" y="2617470"/>
            <a:ext cx="3017520" cy="336042"/>
          </a:xfrm>
          <a:prstGeom prst="roundRect">
            <a:avLst>
              <a:gd name="adj" fmla="val 27211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1768" y="2672334"/>
            <a:ext cx="2798064" cy="22631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DELETE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6928" y="4160520"/>
            <a:ext cx="7086600" cy="530352"/>
          </a:xfrm>
          <a:prstGeom prst="roundRect">
            <a:avLst>
              <a:gd name="adj" fmla="val 1724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4944" y="4233672"/>
            <a:ext cx="6830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PATCH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The application is requesting a partial change to an existing resource.</a:t>
            </a:r>
            <a:endParaRPr lang="en-US" sz="102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Cool-down 4: Follow data in both directions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COOL-DOWN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40080" y="868680"/>
            <a:ext cx="4023360" cy="2057400"/>
          </a:xfrm>
          <a:prstGeom prst="roundRect">
            <a:avLst>
              <a:gd name="adj" fmla="val 444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960120"/>
            <a:ext cx="38039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newNote: CreateNoteInput = {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"React review",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"Revise search parameters",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response = await axios.post&lt;Note&gt;(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notesUrl,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newNote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90" dirty="0"/>
          </a:p>
        </p:txBody>
      </p:sp>
      <p:sp>
        <p:nvSpPr>
          <p:cNvPr id="8" name="Text 5"/>
          <p:cNvSpPr/>
          <p:nvPr/>
        </p:nvSpPr>
        <p:spPr>
          <a:xfrm>
            <a:off x="4983480" y="868680"/>
            <a:ext cx="33832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value is sent to the server?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83480" y="1207008"/>
            <a:ext cx="3200400" cy="267462"/>
          </a:xfrm>
          <a:prstGeom prst="roundRect">
            <a:avLst>
              <a:gd name="adj" fmla="val 34188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93208" y="1261872"/>
            <a:ext cx="2980944" cy="15773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response.data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4983480" y="1529334"/>
            <a:ext cx="3200400" cy="267462"/>
          </a:xfrm>
          <a:prstGeom prst="roundRect">
            <a:avLst>
              <a:gd name="adj" fmla="val 34188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93208" y="1584198"/>
            <a:ext cx="2980944" cy="15773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newNote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4983480" y="1851660"/>
            <a:ext cx="3200400" cy="267462"/>
          </a:xfrm>
          <a:prstGeom prst="roundRect">
            <a:avLst>
              <a:gd name="adj" fmla="val 34188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93208" y="1906524"/>
            <a:ext cx="2980944" cy="15773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Note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4983480" y="2173986"/>
            <a:ext cx="3200400" cy="267462"/>
          </a:xfrm>
          <a:prstGeom prst="roundRect">
            <a:avLst>
              <a:gd name="adj" fmla="val 34188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93208" y="2228850"/>
            <a:ext cx="2980944" cy="15773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notesUrl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4983480" y="2670048"/>
            <a:ext cx="33832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value contains the returned note after the request completes?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4983480" y="3090672"/>
            <a:ext cx="3200400" cy="187452"/>
          </a:xfrm>
          <a:prstGeom prst="roundRect">
            <a:avLst>
              <a:gd name="adj" fmla="val 48780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93208" y="3145536"/>
            <a:ext cx="2980944" cy="777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response.data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4983480" y="3332988"/>
            <a:ext cx="3200400" cy="187452"/>
          </a:xfrm>
          <a:prstGeom prst="roundRect">
            <a:avLst>
              <a:gd name="adj" fmla="val 48780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93208" y="3387852"/>
            <a:ext cx="2980944" cy="777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newNote</a:t>
            </a:r>
            <a:endParaRPr lang="en-US" sz="870" dirty="0"/>
          </a:p>
        </p:txBody>
      </p:sp>
      <p:sp>
        <p:nvSpPr>
          <p:cNvPr id="22" name="Shape 19"/>
          <p:cNvSpPr/>
          <p:nvPr/>
        </p:nvSpPr>
        <p:spPr>
          <a:xfrm>
            <a:off x="4983480" y="3575304"/>
            <a:ext cx="3200400" cy="187452"/>
          </a:xfrm>
          <a:prstGeom prst="roundRect">
            <a:avLst>
              <a:gd name="adj" fmla="val 48780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93208" y="3630168"/>
            <a:ext cx="2980944" cy="777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CreateNoteInput</a:t>
            </a:r>
            <a:endParaRPr lang="en-US" sz="870" dirty="0"/>
          </a:p>
        </p:txBody>
      </p:sp>
      <p:sp>
        <p:nvSpPr>
          <p:cNvPr id="24" name="Shape 21"/>
          <p:cNvSpPr/>
          <p:nvPr/>
        </p:nvSpPr>
        <p:spPr>
          <a:xfrm>
            <a:off x="4983480" y="3817620"/>
            <a:ext cx="3200400" cy="187452"/>
          </a:xfrm>
          <a:prstGeom prst="roundRect">
            <a:avLst>
              <a:gd name="adj" fmla="val 48780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93208" y="3872484"/>
            <a:ext cx="2980944" cy="777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axios.post</a:t>
            </a:r>
            <a:endParaRPr lang="en-US" sz="870" dirty="0"/>
          </a:p>
        </p:txBody>
      </p:sp>
      <p:sp>
        <p:nvSpPr>
          <p:cNvPr id="26" name="Shape 23"/>
          <p:cNvSpPr/>
          <p:nvPr/>
        </p:nvSpPr>
        <p:spPr>
          <a:xfrm>
            <a:off x="566928" y="4160520"/>
            <a:ext cx="7086600" cy="603504"/>
          </a:xfrm>
          <a:prstGeom prst="roundRect">
            <a:avLst>
              <a:gd name="adj" fmla="val 15152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4944" y="4233672"/>
            <a:ext cx="6830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Sent: B. newNote   Returned: A. response.data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newNote is sent in the POST request. The returned payload arrives later through the Axios response.</a:t>
            </a:r>
            <a:endParaRPr lang="en-US" sz="102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Cool-down 5: Place each request by its cause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COOL-DOWN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640080" y="868680"/>
            <a:ext cx="3703320" cy="1051560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1024128"/>
            <a:ext cx="9144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1353312"/>
            <a:ext cx="3154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Orders page opens, it needs the current orders.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4617720" y="868680"/>
            <a:ext cx="3703320" cy="1051560"/>
          </a:xfrm>
          <a:prstGeom prst="roundRect">
            <a:avLst>
              <a:gd name="adj" fmla="val 8696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18888" y="1024128"/>
            <a:ext cx="9144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4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B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18888" y="1353312"/>
            <a:ext cx="3154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learner clicks Delete draft for a saved draft order.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822960" y="233172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242316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request?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4800600" y="233172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10328" y="242316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handleDeleteDraft() {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request?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90" dirty="0"/>
          </a:p>
        </p:txBody>
      </p:sp>
      <p:sp>
        <p:nvSpPr>
          <p:cNvPr id="16" name="Shape 13"/>
          <p:cNvSpPr/>
          <p:nvPr/>
        </p:nvSpPr>
        <p:spPr>
          <a:xfrm>
            <a:off x="566928" y="4160520"/>
            <a:ext cx="7086600" cy="73152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4233672"/>
            <a:ext cx="68305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Effect, likely GET.   B: handleDeleteDraft, likely DELETE.</a:t>
            </a:r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Request placement follows what caused the external work, not simply whether Axios is being used.</a:t>
            </a:r>
            <a:endParaRPr lang="en-US" sz="102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Homework: Post Workspace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880" dirty="0"/>
          </a:p>
        </p:txBody>
      </p:sp>
      <p:sp>
        <p:nvSpPr>
          <p:cNvPr id="6" name="Text 3"/>
          <p:cNvSpPr/>
          <p:nvPr/>
        </p:nvSpPr>
        <p:spPr>
          <a:xfrm>
            <a:off x="640080" y="713232"/>
            <a:ext cx="7406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remaining behavior for a small post-management page.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0080" y="960120"/>
            <a:ext cx="3749040" cy="128016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115568"/>
            <a:ext cx="13716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includes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1417320"/>
            <a:ext cx="3337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typed post data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working GET request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 rendering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title-search input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create-post form</a:t>
            </a:r>
            <a:endParaRPr lang="en-US" sz="890" dirty="0"/>
          </a:p>
          <a:p>
            <a:pPr algn="l" indent="0" marL="0">
              <a:buNone/>
            </a:pPr>
            <a:r>
              <a:rPr lang="en-US" sz="89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Delete buttons</a:t>
            </a:r>
            <a:endParaRPr lang="en-US" sz="890" dirty="0"/>
          </a:p>
        </p:txBody>
      </p:sp>
      <p:sp>
        <p:nvSpPr>
          <p:cNvPr id="10" name="Shape 7"/>
          <p:cNvSpPr/>
          <p:nvPr/>
        </p:nvSpPr>
        <p:spPr>
          <a:xfrm>
            <a:off x="4663440" y="96012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73168" y="1051560"/>
            <a:ext cx="3255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Post = {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userId: number;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number;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string;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string;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640080" y="2560320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2560320"/>
            <a:ext cx="374904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2633472"/>
            <a:ext cx="64008" cy="6400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" y="2633472"/>
            <a:ext cx="64008" cy="640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32688" y="2633472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8992" y="2615184"/>
            <a:ext cx="3218688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Workspace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804672" y="2944368"/>
            <a:ext cx="3419856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3544" y="3035808"/>
            <a:ext cx="3182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/posts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841248" y="3383280"/>
            <a:ext cx="33467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posts    Search title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learning notes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questions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checklist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663440" y="242316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2578608"/>
            <a:ext cx="7315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46320" y="2907792"/>
            <a:ext cx="3017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represent title search in the URL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 a post with typed POST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delete a post and update state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Homework: Requirements and completion check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66928" y="54864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4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566928" y="82296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960120"/>
            <a:ext cx="21945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URL-backed title search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41732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/posts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/posts?q=react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73152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q means unfiltered. Use useSearchParams, derive visible posts with a case-insensitive title match, and avoid duplicate state.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3291840" y="82296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56432" y="960120"/>
            <a:ext cx="21945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Create a post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3456432" y="1325880"/>
            <a:ext cx="2240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outgoing POST data type. Send userId, title, and body. Use the returned post to update current React state.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6016752" y="82296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81344" y="960120"/>
            <a:ext cx="21945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8A4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Delete a post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6181344" y="1325880"/>
            <a:ext cx="2240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selected post ID to send DELETE. After the request completes, create a replacement array without the removed post.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566928" y="3456432"/>
            <a:ext cx="8046720" cy="36576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" y="3529584"/>
            <a:ext cx="7827264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title search updates URL and list; created post appears from response; deleted post disappears from current state.</a:t>
            </a:r>
            <a:endParaRPr lang="en-US" sz="910" dirty="0"/>
          </a:p>
        </p:txBody>
      </p:sp>
      <p:sp>
        <p:nvSpPr>
          <p:cNvPr id="19" name="Shape 16"/>
          <p:cNvSpPr/>
          <p:nvPr/>
        </p:nvSpPr>
        <p:spPr>
          <a:xfrm>
            <a:off x="566928" y="3986784"/>
            <a:ext cx="8046720" cy="420624"/>
          </a:xfrm>
          <a:prstGeom prst="roundRect">
            <a:avLst>
              <a:gd name="adj" fmla="val 21739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4059936"/>
            <a:ext cx="7827264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8A4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note: JSONPlaceholder simulates POST and DELETE. Verify through response data and current React state, not a later fresh GET.</a:t>
            </a:r>
            <a:endParaRPr lang="en-US" sz="87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960120" cy="256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5552" y="48097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www.guvi.in</a:t>
            </a:r>
            <a:endParaRPr lang="en-US" sz="760" dirty="0"/>
          </a:p>
        </p:txBody>
      </p:sp>
      <p:sp>
        <p:nvSpPr>
          <p:cNvPr id="4" name="Text 1"/>
          <p:cNvSpPr/>
          <p:nvPr/>
        </p:nvSpPr>
        <p:spPr>
          <a:xfrm>
            <a:off x="566928" y="201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state, URL search parameters, and server data</a:t>
            </a:r>
            <a:endParaRPr lang="en-US" sz="2150" dirty="0"/>
          </a:p>
        </p:txBody>
      </p:sp>
      <p:sp>
        <p:nvSpPr>
          <p:cNvPr id="5" name="Shape 2"/>
          <p:cNvSpPr/>
          <p:nvPr/>
        </p:nvSpPr>
        <p:spPr>
          <a:xfrm>
            <a:off x="640080" y="914400"/>
            <a:ext cx="2423160" cy="18288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078992"/>
            <a:ext cx="20116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state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1463040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when changing information belongs to a component or nearby part of the interface.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3337560" y="914400"/>
            <a:ext cx="2423160" cy="182880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20440" y="1078992"/>
            <a:ext cx="20116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search parameters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20440" y="1463040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when the current view should be represented in the browser address.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3520440" y="2148840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39312" y="2240280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/sessions?track=react</a:t>
            </a:r>
            <a:endParaRPr lang="en-US" sz="810" dirty="0"/>
          </a:p>
        </p:txBody>
      </p:sp>
      <p:sp>
        <p:nvSpPr>
          <p:cNvPr id="13" name="Shape 10"/>
          <p:cNvSpPr/>
          <p:nvPr/>
        </p:nvSpPr>
        <p:spPr>
          <a:xfrm>
            <a:off x="6035040" y="914400"/>
            <a:ext cx="2423160" cy="1828800"/>
          </a:xfrm>
          <a:prstGeom prst="roundRect">
            <a:avLst>
              <a:gd name="adj" fmla="val 5000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1078992"/>
            <a:ext cx="18288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4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data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17920" y="1463040"/>
            <a:ext cx="1874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or changed through HTTP requests.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6217920" y="2148840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36792" y="2240280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POST  PATCH  DELETE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40080" y="3063240"/>
            <a:ext cx="781812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246120"/>
            <a:ext cx="74523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information may be needed by distant parts of an application while not naturally belonging in the URL: current signed-in user, saved preferences, shared account settings.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640080" y="3959352"/>
            <a:ext cx="7818120" cy="475488"/>
          </a:xfrm>
          <a:prstGeom prst="roundRect">
            <a:avLst>
              <a:gd name="adj" fmla="val 19231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059936"/>
            <a:ext cx="726948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question: how can distant components access shared application state without passing it through every intermediate component?</a:t>
            </a:r>
            <a:endParaRPr lang="en-US" sz="940" dirty="0"/>
          </a:p>
        </p:txBody>
      </p:sp>
      <p:sp>
        <p:nvSpPr>
          <p:cNvPr id="22" name="Text 19"/>
          <p:cNvSpPr/>
          <p:nvPr/>
        </p:nvSpPr>
        <p:spPr>
          <a:xfrm>
            <a:off x="822960" y="4270248"/>
            <a:ext cx="34747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shared state with React Context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GUVI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26 - URL parameters and HTTP requests</dc:title>
  <dc:subject>Lecture 26 React TypeScript</dc:subject>
  <dc:creator>OpenAI</dc:creator>
  <cp:lastModifiedBy>OpenAI</cp:lastModifiedBy>
  <cp:revision>1</cp:revision>
  <dcterms:created xsi:type="dcterms:W3CDTF">2026-09-12T15:48:21Z</dcterms:created>
  <dcterms:modified xsi:type="dcterms:W3CDTF">2026-09-12T15:48:21Z</dcterms:modified>
</cp:coreProperties>
</file>