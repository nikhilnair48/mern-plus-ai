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331a0767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a331a0767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a331a0767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331a0767_3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a331a0767_3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a331a0767_3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331a0767_3_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fa331a0767_3_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a331a0767_3_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331a0767_3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a331a0767_3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a331a0767_3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331a0767_3_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a331a0767_3_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a331a0767_3_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331a0767_3_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a331a0767_3_9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331a0767_3_9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331a0767_3_1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a331a0767_3_1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a331a0767_3_1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331a0767_3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fa331a0767_3_1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a331a0767_3_1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331a0767_3_1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fa331a0767_3_1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a331a0767_3_1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a331a0767_3_1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a331a0767_3_1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a331a0767_3_1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331a0767_3_2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a331a0767_3_2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a331a0767_3_2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a331a0767_3_2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fa331a0767_3_2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a331a0767_3_2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a331a0767_3_2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fa331a0767_3_2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a331a0767_3_2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a331a0767_3_2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a331a0767_3_2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a331a0767_3_2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a331a0767_3_3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fa331a0767_3_3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a331a0767_3_3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a331a0767_3_3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fa331a0767_3_3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a331a0767_3_3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a331a0767_3_3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fa331a0767_3_3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a331a0767_3_3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a331a0767_3_3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fa331a0767_3_3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a331a0767_3_3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a331a0767_3_3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fa331a0767_3_3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a331a0767_3_3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a331a0767_3_4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fa331a0767_3_4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a331a0767_3_4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a331a0767_3_4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fa331a0767_3_4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a331a0767_3_4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a331a0767_3_4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fa331a0767_3_4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a331a0767_3_4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a331a0767_3_4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fa331a0767_3_4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a331a0767_3_4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a331a0767_3_5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fa331a0767_3_5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fa331a0767_3_5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a331a0767_3_5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fa331a0767_3_5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a331a0767_3_5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a331a0767_3_5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fa331a0767_3_5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a331a0767_3_5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a331a0767_3_5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fa331a0767_3_5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fa331a0767_3_5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a331a0767_3_6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fa331a0767_3_6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a331a0767_3_6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a331a0767_3_6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3fa331a0767_3_6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fa331a0767_3_6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a331a0767_3_6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g3fa331a0767_3_6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fa331a0767_3_6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a331a0767_3_6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3fa331a0767_3_6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a331a0767_3_6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a331a0767_3_6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3fa331a0767_3_6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fa331a0767_3_6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a331a0767_3_7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g3fa331a0767_3_7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fa331a0767_3_7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fa331a0767_3_7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g3fa331a0767_3_7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fa331a0767_3_7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a331a0767_3_7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fa331a0767_3_7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fa331a0767_3_7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a331a0767_3_7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3fa331a0767_3_7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fa331a0767_3_7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a331a0767_3_7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g3fa331a0767_3_7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fa331a0767_3_7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fa331a0767_3_8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g3fa331a0767_3_8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fa331a0767_3_8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fa331a0767_3_8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g3fa331a0767_3_8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Time: approximately 20–25 minutes.</a:t>
            </a:r>
            <a:br>
              <a:rPr lang="en"/>
            </a:br>
            <a:r>
              <a:rPr lang="en"/>
              <a:t>Suggested check-in: after 10 minutes, verify static routes and one dynamic route.</a:t>
            </a:r>
            <a:br>
              <a:rPr lang="en"/>
            </a:br>
            <a:r>
              <a:rPr lang="en"/>
              <a:t>Likely errors: writing one route per exhibit; full child paths inside parent; forgetting Outlet; calling useNavigate outside a component; expecting useParams to return an exhibit object.</a:t>
            </a:r>
            <a:br>
              <a:rPr lang="en"/>
            </a:br>
            <a:r>
              <a:rPr lang="en"/>
              <a:t>Debrief: ask one learner to explain the dynamic route and another to explain why Visit stays visible.</a:t>
            </a:r>
            <a:br>
              <a:rPr lang="en"/>
            </a:br>
            <a:r>
              <a:rPr lang="en"/>
              <a:t>Early-finisher extension: add another exhibit ID and confirm the existing dynamic route handles it without adding another Route.</a:t>
            </a:r>
            <a:endParaRPr/>
          </a:p>
        </p:txBody>
      </p:sp>
      <p:sp>
        <p:nvSpPr>
          <p:cNvPr id="934" name="Google Shape;934;g3fa331a0767_3_8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a331a0767_3_8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g3fa331a0767_3_8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g3fa331a0767_3_8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fa331a0767_3_9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g3fa331a0767_3_9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fa331a0767_3_9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fa331a0767_3_9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g3fa331a0767_3_9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g3fa331a0767_3_9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fa331a0767_3_9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g3fa331a0767_3_9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fa331a0767_3_9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a331a0767_3_9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g3fa331a0767_3_9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g3fa331a0767_3_9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fa331a0767_3_10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3fa331a0767_3_10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fa331a0767_3_10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a331a0767_3_10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g3fa331a0767_3_10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g3fa331a0767_3_10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552450" y="16573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450"/>
              <a:buFont typeface="Arial"/>
              <a:buNone/>
            </a:pPr>
            <a:r>
              <a:rPr b="1" i="0" lang="en" sz="14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React &amp; TypeScript | Lecture 25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52450" y="1962150"/>
            <a:ext cx="590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Routing in React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52450" y="2686050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66" name="Google Shape;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Today's plan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904875" y="1181100"/>
            <a:ext cx="6858000" cy="400050"/>
          </a:xfrm>
          <a:prstGeom prst="roundRect">
            <a:avLst>
              <a:gd fmla="val 18286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1066800" y="127254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1619250" y="1263396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904875" y="1695450"/>
            <a:ext cx="685800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1066800" y="178689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619250" y="1777746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Navigate between routes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904875" y="2209800"/>
            <a:ext cx="685800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1066800" y="230124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619250" y="2292096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904875" y="2724150"/>
            <a:ext cx="685800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1066800" y="281559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619250" y="2806446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Programmatic navigation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904875" y="3238500"/>
            <a:ext cx="685800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066800" y="332994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619250" y="3320796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904875" y="3752850"/>
            <a:ext cx="685800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066800" y="384429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619250" y="3835146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1: What does the ref give us?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657225" y="1066800"/>
            <a:ext cx="3524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Recall the Search Focus example: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57225" y="1409700"/>
            <a:ext cx="3524250" cy="990600"/>
          </a:xfrm>
          <a:prstGeom prst="roundRect">
            <a:avLst>
              <a:gd fmla="val 7385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847725" y="1562100"/>
            <a:ext cx="3143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searchInputRef = useRef&lt;HTMLInputElement&gt;(null);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 ref={searchInputRef} /&gt;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429125" y="1323975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4575429" y="141541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868037" y="1397127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current text stored in the input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429125" y="184785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4575429" y="19392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868037" y="1921002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input DOM element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429125" y="2371725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575429" y="246316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868037" y="2444877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component's state setter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429125" y="289560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4575429" y="29870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868037" y="2968752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JSX returned by the component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 The input DOM element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ref is attached to the &lt;input&gt;, so current can refer to that DOM element.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2: What does dispatch describe?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57225" y="1066800"/>
            <a:ext cx="3524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Consider this call: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57225" y="1409700"/>
            <a:ext cx="3524250" cy="990600"/>
          </a:xfrm>
          <a:prstGeom prst="roundRect">
            <a:avLst>
              <a:gd fmla="val 7385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847725" y="1562100"/>
            <a:ext cx="3143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dispatch({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type: "started",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itemId,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429125" y="1323975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4575429" y="141541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868037" y="1397127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calculates the complete next state itself.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429125" y="184785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4575429" y="19392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868037" y="1921002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tells React which JSX should render.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429125" y="2371725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4575429" y="246316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868037" y="2444877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sends an action describing what happened; the reducer decides how state changes.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429125" y="2895600"/>
            <a:ext cx="3533775" cy="419100"/>
          </a:xfrm>
          <a:prstGeom prst="roundRect">
            <a:avLst>
              <a:gd fmla="val 17455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4575429" y="29870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868037" y="2968752"/>
            <a:ext cx="2966847" cy="272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 replaces the reducer with an event handler.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dispatch sends an action. The reducer contains the logic that calculates the next state from that action.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Warm-up 3: useMemo or useCallback?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657225" y="1047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pairing is correct?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90575" y="1381125"/>
            <a:ext cx="7239000" cy="411480"/>
          </a:xfrm>
          <a:prstGeom prst="roundRect">
            <a:avLst>
              <a:gd fmla="val 17778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1842135" y="1490853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useMemo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271135" y="1490853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useCallback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55167" y="1984629"/>
            <a:ext cx="2286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1430655" y="19754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Reuses a function reference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859655" y="19754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Reuses a calculated result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790575" y="2350389"/>
            <a:ext cx="7239000" cy="365760"/>
          </a:xfrm>
          <a:prstGeom prst="roundRect">
            <a:avLst>
              <a:gd fmla="val 20000" name="adj"/>
            </a:avLst>
          </a:prstGeom>
          <a:solidFill>
            <a:schemeClr val="lt1"/>
          </a:solidFill>
          <a:ln cap="flat" cmpd="sng" w="139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955167" y="2441829"/>
            <a:ext cx="2286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430655" y="24326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Reuses a calculated result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859655" y="24326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Reuses a function reference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955167" y="2899029"/>
            <a:ext cx="2286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430655" y="28898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Stores DOM elements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859655" y="28898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Organizes reducer actions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55167" y="3356229"/>
            <a:ext cx="2286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430655" y="33470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Always prevents rendering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859655" y="3347085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Always prevents rendering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useMemo can reuse a calculated result. useCallback can reuse a function reference.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Meet Conference Hub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57225" y="9906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 are building a small application for people attending a conference.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657225" y="1381125"/>
            <a:ext cx="2266950" cy="236220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803529" y="1509141"/>
            <a:ext cx="197434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803529" y="1765173"/>
            <a:ext cx="1974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803529" y="2094357"/>
            <a:ext cx="197434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Conference overview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803529" y="2423541"/>
            <a:ext cx="1974342" cy="1155192"/>
          </a:xfrm>
          <a:prstGeom prst="roundRect">
            <a:avLst>
              <a:gd fmla="val 6332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940689" y="2551557"/>
            <a:ext cx="1700022" cy="944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Welcome to Conference Hub.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Browse sessions and plan your day.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3190875" y="1381125"/>
            <a:ext cx="2266950" cy="236220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3337179" y="1509141"/>
            <a:ext cx="197434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337179" y="1765173"/>
            <a:ext cx="1974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337179" y="2094357"/>
            <a:ext cx="197434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Browse sessions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337179" y="2423541"/>
            <a:ext cx="1974342" cy="1155192"/>
          </a:xfrm>
          <a:prstGeom prst="roundRect">
            <a:avLst>
              <a:gd fmla="val 6332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3474339" y="2551557"/>
            <a:ext cx="1700022" cy="944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Browse the available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sessions.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5724525" y="1381125"/>
            <a:ext cx="2266950" cy="236220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870829" y="1509141"/>
            <a:ext cx="197434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870829" y="1765173"/>
            <a:ext cx="1974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870829" y="2094357"/>
            <a:ext cx="197434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See session times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870829" y="2423541"/>
            <a:ext cx="1974342" cy="1155192"/>
          </a:xfrm>
          <a:prstGeom prst="roundRect">
            <a:avLst>
              <a:gd fmla="val 6332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6007989" y="2551557"/>
            <a:ext cx="1700022" cy="944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View the conference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428750" y="4029075"/>
            <a:ext cx="6191250" cy="400050"/>
          </a:xfrm>
          <a:prstGeom prst="roundRect">
            <a:avLst>
              <a:gd fmla="val 18286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1619250" y="4133850"/>
            <a:ext cx="581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We will give these main destinations their own browser addresses.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Give each destination its own browser address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657225" y="1000125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 want each main Conference Hub destination to have its own address.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657225" y="1409700"/>
            <a:ext cx="4143375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857250" y="1528572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1809750" y="1528572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http://localhost:5173/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657225" y="2076450"/>
            <a:ext cx="4143375" cy="457200"/>
          </a:xfrm>
          <a:prstGeom prst="roundRect">
            <a:avLst>
              <a:gd fmla="val 16000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857250" y="2195322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1809750" y="2195322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http://localhost:5173/sessions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57225" y="2743200"/>
            <a:ext cx="4143375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857250" y="2862072"/>
            <a:ext cx="81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1809750" y="2862072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http://localhost:5173/schedule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314950" y="1524000"/>
            <a:ext cx="2667000" cy="1876425"/>
          </a:xfrm>
          <a:prstGeom prst="roundRect">
            <a:avLst>
              <a:gd fmla="val 3898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324094" y="1533144"/>
            <a:ext cx="2648712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424678" y="164287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570982" y="164287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7286" y="164287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845302" y="1606296"/>
            <a:ext cx="20269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534406" y="1981200"/>
            <a:ext cx="2228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534406" y="2365248"/>
            <a:ext cx="2228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Browse the available conference sessions.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314950" y="3714750"/>
            <a:ext cx="2667000" cy="504825"/>
          </a:xfrm>
          <a:prstGeom prst="roundRect">
            <a:avLst>
              <a:gd fmla="val 14491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495925" y="3829050"/>
            <a:ext cx="2324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One React application. Different browser addresses can represent different views inside it.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Match a path with React UI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57225" y="1352550"/>
            <a:ext cx="2305200" cy="1124100"/>
          </a:xfrm>
          <a:prstGeom prst="roundRect">
            <a:avLst>
              <a:gd fmla="val 6508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847725" y="15240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BROWSER ADDRESS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819150" y="1885950"/>
            <a:ext cx="198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http://localhost:5173/sessions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1000125" y="2152650"/>
            <a:ext cx="1619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/sessions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1381125" y="2543175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314700" y="1219200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 DEFINITIONS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238500" y="1438275"/>
            <a:ext cx="2495550" cy="347472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3357372" y="1520571"/>
            <a:ext cx="225780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            &lt;Home /&gt;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238500" y="1858899"/>
            <a:ext cx="2495550" cy="347472"/>
          </a:xfrm>
          <a:prstGeom prst="roundRect">
            <a:avLst>
              <a:gd fmla="val 21053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3357372" y="1941195"/>
            <a:ext cx="225780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Courier New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/sessions    &lt;Sessions /&gt;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238500" y="2279523"/>
            <a:ext cx="2495550" cy="347472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3357372" y="2361819"/>
            <a:ext cx="225780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/schedule    &lt;Schedule /&gt;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6191250" y="1352550"/>
            <a:ext cx="1962150" cy="1857375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6200394" y="1361694"/>
            <a:ext cx="1943862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6300978" y="147142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6447282" y="147142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6593586" y="147142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6721602" y="1434846"/>
            <a:ext cx="13220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6410706" y="1809750"/>
            <a:ext cx="152323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410706" y="2193798"/>
            <a:ext cx="152323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Browse the available conference sessions.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438900" y="330517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RENDERED REACT UI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6543675" y="3495675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30"/>
              <a:buFont typeface="Courier New"/>
              <a:buNone/>
            </a:pPr>
            <a:r>
              <a:rPr b="1" i="0" lang="en" sz="123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&lt;Sessions /&gt;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24"/>
          <p:cNvCxnSpPr>
            <a:endCxn id="258" idx="1"/>
          </p:cNvCxnSpPr>
          <p:nvPr/>
        </p:nvCxnSpPr>
        <p:spPr>
          <a:xfrm flipH="1" rot="10800000">
            <a:off x="2972400" y="2032635"/>
            <a:ext cx="266100" cy="129000"/>
          </a:xfrm>
          <a:prstGeom prst="straightConnector1">
            <a:avLst/>
          </a:prstGeom>
          <a:noFill/>
          <a:ln cap="flat" cmpd="sng" w="22850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4"/>
          <p:cNvCxnSpPr>
            <a:stCxn id="258" idx="3"/>
            <a:endCxn id="262" idx="1"/>
          </p:cNvCxnSpPr>
          <p:nvPr/>
        </p:nvCxnSpPr>
        <p:spPr>
          <a:xfrm>
            <a:off x="5734050" y="2032635"/>
            <a:ext cx="457200" cy="248700"/>
          </a:xfrm>
          <a:prstGeom prst="straightConnector1">
            <a:avLst/>
          </a:prstGeom>
          <a:noFill/>
          <a:ln cap="flat" cmpd="sng" w="22850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24"/>
          <p:cNvSpPr/>
          <p:nvPr/>
        </p:nvSpPr>
        <p:spPr>
          <a:xfrm>
            <a:off x="1524000" y="4029075"/>
            <a:ext cx="6000750" cy="447675"/>
          </a:xfrm>
          <a:prstGeom prst="roundRect">
            <a:avLst>
              <a:gd fmla="val 1634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1714500" y="4124325"/>
            <a:ext cx="5619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When the current path matches a route, that route's element renders.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281" name="Google Shape;2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 React Router v6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657225" y="1162050"/>
            <a:ext cx="6191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does not provide this routing system by itself.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1209675" y="1762125"/>
            <a:ext cx="6724650" cy="895350"/>
          </a:xfrm>
          <a:prstGeom prst="roundRect">
            <a:avLst>
              <a:gd fmla="val 8170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1438275" y="1954149"/>
            <a:ext cx="6267450" cy="511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 react-router-dom@6.30.6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2047875" y="3114675"/>
            <a:ext cx="5048250" cy="647700"/>
          </a:xfrm>
          <a:prstGeom prst="roundRect">
            <a:avLst>
              <a:gd fmla="val 11294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2286000" y="3276600"/>
            <a:ext cx="4572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WHY SPECIFY THE VERSION?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2305050" y="3495675"/>
            <a:ext cx="453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This course teaches the React Router v6 API, so we install the v6 version explicitly.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BrowserRouter provides browser routing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657225" y="1352550"/>
            <a:ext cx="4953000" cy="2190750"/>
          </a:xfrm>
          <a:prstGeom prst="roundRect">
            <a:avLst>
              <a:gd fmla="val 3339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847725" y="1504950"/>
            <a:ext cx="45720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BrowserRouter } from "react-router-dom";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root.render(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&lt;BrowserRouter&gt;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&lt;App /&gt;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&lt;/BrowserRouter&gt;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657225" y="971550"/>
            <a:ext cx="6572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Recall that main.tsx starts the React application. BrowserRouter provides browser-based routing to the app inside it.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6096000" y="1438275"/>
            <a:ext cx="1857375" cy="1019175"/>
          </a:xfrm>
          <a:prstGeom prst="roundRect">
            <a:avLst>
              <a:gd fmla="val 7178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6381750" y="1609725"/>
            <a:ext cx="1285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BrowserRouter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6515100" y="1924050"/>
            <a:ext cx="1019175" cy="333375"/>
          </a:xfrm>
          <a:prstGeom prst="roundRect">
            <a:avLst>
              <a:gd fmla="val 2194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6515100" y="2009775"/>
            <a:ext cx="10191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6096000" y="2819400"/>
            <a:ext cx="1857375" cy="704850"/>
          </a:xfrm>
          <a:prstGeom prst="roundRect">
            <a:avLst>
              <a:gd fmla="val 10378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6334125" y="2971800"/>
            <a:ext cx="1381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STILL MISSING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6486525" y="3171825"/>
            <a:ext cx="109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30"/>
              <a:buFont typeface="Courier New"/>
              <a:buNone/>
            </a:pPr>
            <a:r>
              <a:rPr b="1" i="0" lang="en" sz="83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30"/>
              <a:buFont typeface="Courier New"/>
              <a:buNone/>
            </a:pPr>
            <a:r>
              <a:rPr b="1" i="0" lang="en" sz="83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/sessions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30"/>
              <a:buFont typeface="Courier New"/>
              <a:buNone/>
            </a:pPr>
            <a:r>
              <a:rPr b="1" i="0" lang="en" sz="83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/schedule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313" name="Google Shape;3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Define the Conference Hub routes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657225" y="1314450"/>
            <a:ext cx="4895850" cy="2781300"/>
          </a:xfrm>
          <a:prstGeom prst="roundRect">
            <a:avLst>
              <a:gd fmla="val 2630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847725" y="1466850"/>
            <a:ext cx="451485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Route, Routes } from "react-router-dom";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"/>
              <a:buFont typeface="Arial"/>
              <a:buNone/>
            </a:pPr>
            <a:r>
              <a:t/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&lt;Routes&gt;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 path="/" element={&lt;Home /&gt;} /&gt;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 path="/sessions" element={&lt;Sessions /&gt;} /&gt;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 path="/schedule" element={&lt;Schedule /&gt;} /&gt;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&lt;/Routes&gt;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905500" y="1476375"/>
            <a:ext cx="2076450" cy="742950"/>
          </a:xfrm>
          <a:prstGeom prst="roundRect">
            <a:avLst>
              <a:gd fmla="val 9846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6051804" y="1586103"/>
            <a:ext cx="17838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6051804" y="1787271"/>
            <a:ext cx="1783842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should match?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905500" y="2400300"/>
            <a:ext cx="2076450" cy="742950"/>
          </a:xfrm>
          <a:prstGeom prst="roundRect">
            <a:avLst>
              <a:gd fmla="val 9846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6051804" y="2510028"/>
            <a:ext cx="17838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element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6051804" y="2711196"/>
            <a:ext cx="1783842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should render?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5905500" y="3324225"/>
            <a:ext cx="2076450" cy="742950"/>
          </a:xfrm>
          <a:prstGeom prst="roundRect">
            <a:avLst>
              <a:gd fmla="val 9846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"/>
          <p:cNvSpPr/>
          <p:nvPr/>
        </p:nvSpPr>
        <p:spPr>
          <a:xfrm>
            <a:off x="6051804" y="3433953"/>
            <a:ext cx="17838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Routes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6051804" y="3635121"/>
            <a:ext cx="1783842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Checks these definitions against the current browser path.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332" name="Google Shape;3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 the routes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ROUTES AND VIEWS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657225" y="1200150"/>
            <a:ext cx="2238375" cy="1409700"/>
          </a:xfrm>
          <a:prstGeom prst="roundRect">
            <a:avLst>
              <a:gd fmla="val 5189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8"/>
          <p:cNvSpPr/>
          <p:nvPr/>
        </p:nvSpPr>
        <p:spPr>
          <a:xfrm>
            <a:off x="666369" y="1209294"/>
            <a:ext cx="2220087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766953" y="131902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913257" y="131902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1059561" y="131902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>
            <a:off x="1187577" y="1282446"/>
            <a:ext cx="159829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876681" y="1657350"/>
            <a:ext cx="179946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876681" y="1959102"/>
            <a:ext cx="17994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Welcome to Conference Hub.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3448050" y="1200150"/>
            <a:ext cx="2238375" cy="1409700"/>
          </a:xfrm>
          <a:prstGeom prst="roundRect">
            <a:avLst>
              <a:gd fmla="val 5189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3457194" y="1209294"/>
            <a:ext cx="2220087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3557778" y="131902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3704082" y="131902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>
            <a:off x="3850386" y="131902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3978402" y="1282446"/>
            <a:ext cx="159829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3667506" y="1657350"/>
            <a:ext cx="179946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3667506" y="1959102"/>
            <a:ext cx="17994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Browse available sessions.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6238875" y="1200150"/>
            <a:ext cx="2238375" cy="1409700"/>
          </a:xfrm>
          <a:prstGeom prst="roundRect">
            <a:avLst>
              <a:gd fmla="val 5189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8"/>
          <p:cNvSpPr/>
          <p:nvPr/>
        </p:nvSpPr>
        <p:spPr>
          <a:xfrm>
            <a:off x="6248019" y="1209294"/>
            <a:ext cx="2220087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8"/>
          <p:cNvSpPr/>
          <p:nvPr/>
        </p:nvSpPr>
        <p:spPr>
          <a:xfrm>
            <a:off x="6348603" y="131902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"/>
          <p:cNvSpPr/>
          <p:nvPr/>
        </p:nvSpPr>
        <p:spPr>
          <a:xfrm>
            <a:off x="6494907" y="131902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6641211" y="131902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6769227" y="1282446"/>
            <a:ext cx="159829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localhost:5173/schedule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6458331" y="1657350"/>
            <a:ext cx="179946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6458331" y="1959102"/>
            <a:ext cx="17994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View the conference schedule.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762000" y="3076575"/>
            <a:ext cx="7239000" cy="1162050"/>
          </a:xfrm>
          <a:prstGeom prst="roundRect">
            <a:avLst>
              <a:gd fmla="val 6295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990600" y="32385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QUICK CHECK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990600" y="3486150"/>
            <a:ext cx="233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080"/>
              <a:buFont typeface="Courier New"/>
              <a:buNone/>
            </a:pPr>
            <a:r>
              <a:rPr b="1" i="0" lang="en" sz="108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Current path: /sessions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990600" y="378142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Which element should render?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3981450" y="3429000"/>
            <a:ext cx="104775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4127754" y="3575304"/>
            <a:ext cx="755142" cy="107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&lt;Home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5200650" y="3429000"/>
            <a:ext cx="1047750" cy="400050"/>
          </a:xfrm>
          <a:prstGeom prst="roundRect">
            <a:avLst>
              <a:gd fmla="val 18286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8"/>
          <p:cNvSpPr/>
          <p:nvPr/>
        </p:nvSpPr>
        <p:spPr>
          <a:xfrm>
            <a:off x="5346954" y="3575304"/>
            <a:ext cx="755142" cy="107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&lt;Sessions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6419850" y="3429000"/>
            <a:ext cx="104775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8"/>
          <p:cNvSpPr/>
          <p:nvPr/>
        </p:nvSpPr>
        <p:spPr>
          <a:xfrm>
            <a:off x="6566154" y="3575304"/>
            <a:ext cx="755142" cy="107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&lt;Schedule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4114800" y="3943350"/>
            <a:ext cx="3524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routes now work. What is still missing is a convenient way for users to move between them.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375" name="Google Shape;3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Navigate between routes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383" name="Google Shape;38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routes work. Navigation is missing.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657225" y="1371600"/>
            <a:ext cx="3714750" cy="2247900"/>
          </a:xfrm>
          <a:prstGeom prst="roundRect">
            <a:avLst>
              <a:gd fmla="val 3254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666369" y="1380744"/>
            <a:ext cx="3696462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766953" y="149047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913257" y="149047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0"/>
          <p:cNvSpPr/>
          <p:nvPr/>
        </p:nvSpPr>
        <p:spPr>
          <a:xfrm>
            <a:off x="1059561" y="149047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1187577" y="1453896"/>
            <a:ext cx="30746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876681" y="1828800"/>
            <a:ext cx="327583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876681" y="2212848"/>
            <a:ext cx="327583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Browse the available conference sessions.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4810125" y="1400175"/>
            <a:ext cx="3105150" cy="876300"/>
          </a:xfrm>
          <a:prstGeom prst="roundRect">
            <a:avLst>
              <a:gd fmla="val 8348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5029200" y="1552575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CURRENT ROUTE WORKS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5238750" y="1819275"/>
            <a:ext cx="971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1200"/>
              <a:buFont typeface="Courier New"/>
              <a:buNone/>
            </a:pPr>
            <a:r>
              <a:rPr b="1" i="0" lang="en" sz="120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/sessions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6296025" y="1771650"/>
            <a:ext cx="138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But to open Schedule, the learner must edit the browser address manually.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4810125" y="2552700"/>
            <a:ext cx="3105150" cy="819150"/>
          </a:xfrm>
          <a:prstGeom prst="roundRect">
            <a:avLst>
              <a:gd fmla="val 893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"/>
          <p:cNvSpPr/>
          <p:nvPr/>
        </p:nvSpPr>
        <p:spPr>
          <a:xfrm>
            <a:off x="5029200" y="27051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0"/>
          <p:cNvSpPr/>
          <p:nvPr/>
        </p:nvSpPr>
        <p:spPr>
          <a:xfrm>
            <a:off x="5029200" y="2962275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Moving from one application destination to another.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0"/>
          <p:cNvSpPr/>
          <p:nvPr/>
        </p:nvSpPr>
        <p:spPr>
          <a:xfrm>
            <a:off x="4810125" y="3648075"/>
            <a:ext cx="3105150" cy="438150"/>
          </a:xfrm>
          <a:prstGeom prst="roundRect">
            <a:avLst>
              <a:gd fmla="val 1669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5029200" y="3752850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Conference Hub now needs controls for Home, Sessions, and Schedule.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408" name="Google Shape;4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 navigation with Link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657225" y="1304925"/>
            <a:ext cx="4810125" cy="3019425"/>
          </a:xfrm>
          <a:prstGeom prst="roundRect">
            <a:avLst>
              <a:gd fmla="val 2423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1"/>
          <p:cNvSpPr/>
          <p:nvPr/>
        </p:nvSpPr>
        <p:spPr>
          <a:xfrm>
            <a:off x="847725" y="1457325"/>
            <a:ext cx="4429125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&lt;nav&gt;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&lt;Link to="/"&gt;Home&lt;/Link&gt;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&lt;Link to="/sessions"&gt;Sessions&lt;/Link&gt;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&lt;Link to="/schedule"&gt;Schedule&lt;/Link&gt;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&lt;/nav&gt;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&lt;Routes&gt;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&lt;Route path="/" element={&lt;Home /&gt;} /&gt;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&lt;Route path="/sessions" element={&lt;Sessions /&gt;} /&gt;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&lt;Route path="/schedule" element={&lt;Schedule /&gt;} /&gt;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&lt;/Routes&gt;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&lt;/&gt;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ourier New"/>
              <a:buNone/>
            </a:pPr>
            <a:r>
              <a:rPr b="0" i="0" lang="en" sz="9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838200" y="1880675"/>
            <a:ext cx="4438800" cy="834000"/>
          </a:xfrm>
          <a:prstGeom prst="roundRect">
            <a:avLst>
              <a:gd fmla="val 16667" name="adj"/>
            </a:avLst>
          </a:prstGeom>
          <a:solidFill>
            <a:srgbClr val="0F172A">
              <a:alpha val="0"/>
            </a:srgbClr>
          </a:solidFill>
          <a:ln cap="flat" cmpd="sng" w="228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/>
          <p:nvPr/>
        </p:nvSpPr>
        <p:spPr>
          <a:xfrm>
            <a:off x="5819775" y="1476375"/>
            <a:ext cx="2162175" cy="2257425"/>
          </a:xfrm>
          <a:prstGeom prst="roundRect">
            <a:avLst>
              <a:gd fmla="val 3383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1"/>
          <p:cNvSpPr/>
          <p:nvPr/>
        </p:nvSpPr>
        <p:spPr>
          <a:xfrm>
            <a:off x="5828919" y="1485519"/>
            <a:ext cx="2143887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1"/>
          <p:cNvSpPr/>
          <p:nvPr/>
        </p:nvSpPr>
        <p:spPr>
          <a:xfrm>
            <a:off x="5929503" y="1595247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1"/>
          <p:cNvSpPr/>
          <p:nvPr/>
        </p:nvSpPr>
        <p:spPr>
          <a:xfrm>
            <a:off x="6075807" y="1595247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1"/>
          <p:cNvSpPr/>
          <p:nvPr/>
        </p:nvSpPr>
        <p:spPr>
          <a:xfrm>
            <a:off x="6222111" y="1595247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6350127" y="1558671"/>
            <a:ext cx="152209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6020943" y="1933575"/>
            <a:ext cx="17598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Home    Sessions    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6039231" y="2235327"/>
            <a:ext cx="172326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6039231" y="2619375"/>
            <a:ext cx="17232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Browse the available conference sessions.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5953125" y="3876675"/>
            <a:ext cx="1895475" cy="438150"/>
          </a:xfrm>
          <a:prstGeom prst="roundRect">
            <a:avLst>
              <a:gd fmla="val 16696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6076950" y="4000500"/>
            <a:ext cx="1647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to="/sessions" = destination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430" name="Google Shape;43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navigates; the route chooses the view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685800" y="1524000"/>
            <a:ext cx="1619250" cy="1238250"/>
          </a:xfrm>
          <a:prstGeom prst="roundRect">
            <a:avLst>
              <a:gd fmla="val 5908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795528" y="166687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1161288" y="16954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822960" y="203835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&lt;Link to="/sessions"&gt;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Sessions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&lt;/Link&gt;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2"/>
          <p:cNvCxnSpPr/>
          <p:nvPr/>
        </p:nvCxnSpPr>
        <p:spPr>
          <a:xfrm>
            <a:off x="2305050" y="2143125"/>
            <a:ext cx="268986" cy="0"/>
          </a:xfrm>
          <a:prstGeom prst="straightConnector1">
            <a:avLst/>
          </a:prstGeom>
          <a:noFill/>
          <a:ln cap="flat" cmpd="sng" w="17775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32"/>
          <p:cNvSpPr/>
          <p:nvPr/>
        </p:nvSpPr>
        <p:spPr>
          <a:xfrm>
            <a:off x="2628900" y="1524000"/>
            <a:ext cx="1619250" cy="1238250"/>
          </a:xfrm>
          <a:prstGeom prst="roundRect">
            <a:avLst>
              <a:gd fmla="val 5908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2738628" y="166687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3104388" y="16954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2766060" y="203835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32"/>
          <p:cNvCxnSpPr/>
          <p:nvPr/>
        </p:nvCxnSpPr>
        <p:spPr>
          <a:xfrm>
            <a:off x="4248150" y="2143125"/>
            <a:ext cx="268986" cy="0"/>
          </a:xfrm>
          <a:prstGeom prst="straightConnector1">
            <a:avLst/>
          </a:prstGeom>
          <a:noFill/>
          <a:ln cap="flat" cmpd="sng" w="17775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32"/>
          <p:cNvSpPr/>
          <p:nvPr/>
        </p:nvSpPr>
        <p:spPr>
          <a:xfrm>
            <a:off x="4572000" y="1524000"/>
            <a:ext cx="1619250" cy="1238250"/>
          </a:xfrm>
          <a:prstGeom prst="roundRect">
            <a:avLst>
              <a:gd fmla="val 5908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2"/>
          <p:cNvSpPr/>
          <p:nvPr/>
        </p:nvSpPr>
        <p:spPr>
          <a:xfrm>
            <a:off x="4681728" y="166687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2"/>
          <p:cNvSpPr/>
          <p:nvPr/>
        </p:nvSpPr>
        <p:spPr>
          <a:xfrm>
            <a:off x="5047488" y="16954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Matching route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4709160" y="203835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path="/sessions"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element={&lt;Sessions /&gt;} /&gt;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32"/>
          <p:cNvCxnSpPr/>
          <p:nvPr/>
        </p:nvCxnSpPr>
        <p:spPr>
          <a:xfrm>
            <a:off x="6191250" y="2143125"/>
            <a:ext cx="268986" cy="0"/>
          </a:xfrm>
          <a:prstGeom prst="straightConnector1">
            <a:avLst/>
          </a:prstGeom>
          <a:noFill/>
          <a:ln cap="flat" cmpd="sng" w="17775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32"/>
          <p:cNvSpPr/>
          <p:nvPr/>
        </p:nvSpPr>
        <p:spPr>
          <a:xfrm>
            <a:off x="6515100" y="1524000"/>
            <a:ext cx="1619250" cy="1238250"/>
          </a:xfrm>
          <a:prstGeom prst="roundRect">
            <a:avLst>
              <a:gd fmla="val 5908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/>
          <p:nvPr/>
        </p:nvSpPr>
        <p:spPr>
          <a:xfrm>
            <a:off x="6624828" y="166687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6990588" y="16954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Rendered UI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6652260" y="203835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Courier New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&lt;Sessions /&gt;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1695450" y="3486150"/>
            <a:ext cx="5762625" cy="571500"/>
          </a:xfrm>
          <a:prstGeom prst="roundRect">
            <a:avLst>
              <a:gd fmla="val 1280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/>
          <p:cNvSpPr/>
          <p:nvPr/>
        </p:nvSpPr>
        <p:spPr>
          <a:xfrm>
            <a:off x="1924050" y="3638550"/>
            <a:ext cx="53054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Link does not render &lt;Sessions /&gt; directly. Link navigates to the destination. The matching route determines what renders.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Link or button?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752475" y="1190625"/>
            <a:ext cx="3333750" cy="952500"/>
          </a:xfrm>
          <a:prstGeom prst="roundRect">
            <a:avLst>
              <a:gd fmla="val 7680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898779" y="1300353"/>
            <a:ext cx="3041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OPEN SCHEDULE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/>
          <p:nvPr/>
        </p:nvSpPr>
        <p:spPr>
          <a:xfrm>
            <a:off x="898779" y="1501521"/>
            <a:ext cx="3041142" cy="531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The user should go to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/schedule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5057775" y="1190625"/>
            <a:ext cx="3333750" cy="952500"/>
          </a:xfrm>
          <a:prstGeom prst="roundRect">
            <a:avLst>
              <a:gd fmla="val 7680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3"/>
          <p:cNvSpPr/>
          <p:nvPr/>
        </p:nvSpPr>
        <p:spPr>
          <a:xfrm>
            <a:off x="5204079" y="1300353"/>
            <a:ext cx="3041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RESET FILTERS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204079" y="1501521"/>
            <a:ext cx="3041142" cy="531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user should stay here while the app clears filters.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1714500" y="2438400"/>
            <a:ext cx="5715000" cy="3048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1860804" y="25298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2153412" y="2511552"/>
            <a:ext cx="5148072" cy="158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for both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1714500" y="2800350"/>
            <a:ext cx="5715000" cy="3048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1860804" y="28917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2153412" y="2873502"/>
            <a:ext cx="5148072" cy="158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Button for both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1714500" y="3162300"/>
            <a:ext cx="5715000" cy="3048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860804" y="32537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2153412" y="3235452"/>
            <a:ext cx="5148072" cy="158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for Schedule, button for Reset filters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1714500" y="3524250"/>
            <a:ext cx="5715000" cy="3048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1860804" y="36156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2153412" y="3597402"/>
            <a:ext cx="5148072" cy="158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Button for Schedule, Link for Reset filters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C. Link for Schedule, button for Reset filters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 link represents where the user can go. A button performs an action.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497" name="Google Shape;4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Each session needs its own detail destination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657225" y="1238250"/>
            <a:ext cx="3429000" cy="2781300"/>
          </a:xfrm>
          <a:prstGeom prst="roundRect">
            <a:avLst>
              <a:gd fmla="val 2630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"/>
          <p:cNvSpPr/>
          <p:nvPr/>
        </p:nvSpPr>
        <p:spPr>
          <a:xfrm>
            <a:off x="666369" y="1247394"/>
            <a:ext cx="3410712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5"/>
          <p:cNvSpPr/>
          <p:nvPr/>
        </p:nvSpPr>
        <p:spPr>
          <a:xfrm>
            <a:off x="766953" y="135712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5"/>
          <p:cNvSpPr/>
          <p:nvPr/>
        </p:nvSpPr>
        <p:spPr>
          <a:xfrm>
            <a:off x="913257" y="135712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5"/>
          <p:cNvSpPr/>
          <p:nvPr/>
        </p:nvSpPr>
        <p:spPr>
          <a:xfrm>
            <a:off x="1059561" y="135712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5"/>
          <p:cNvSpPr/>
          <p:nvPr/>
        </p:nvSpPr>
        <p:spPr>
          <a:xfrm>
            <a:off x="1187577" y="1320546"/>
            <a:ext cx="27889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858393" y="1695450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Home    Sessions    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876681" y="1997202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876681" y="2381250"/>
            <a:ext cx="2990088" cy="147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S-101   React component design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S-102   State without confusion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S-103   TypeScript in practice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4705350" y="12382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DESIRED SESSION DESTINATIONS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4629150" y="1600200"/>
            <a:ext cx="333375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5"/>
          <p:cNvSpPr/>
          <p:nvPr/>
        </p:nvSpPr>
        <p:spPr>
          <a:xfrm>
            <a:off x="4857750" y="1728216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S-101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5715000" y="1728216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4629150" y="2238375"/>
            <a:ext cx="333375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5"/>
          <p:cNvSpPr/>
          <p:nvPr/>
        </p:nvSpPr>
        <p:spPr>
          <a:xfrm>
            <a:off x="4857750" y="2366391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S-102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5715000" y="2366391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4629150" y="2876550"/>
            <a:ext cx="333375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5"/>
          <p:cNvSpPr/>
          <p:nvPr/>
        </p:nvSpPr>
        <p:spPr>
          <a:xfrm>
            <a:off x="4857750" y="3004566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S-103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5715000" y="3004566"/>
            <a:ext cx="1952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4695825" y="3724275"/>
            <a:ext cx="3219450" cy="428625"/>
          </a:xfrm>
          <a:prstGeom prst="roundRect">
            <a:avLst>
              <a:gd fmla="val 17067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5"/>
          <p:cNvSpPr/>
          <p:nvPr/>
        </p:nvSpPr>
        <p:spPr>
          <a:xfrm>
            <a:off x="4886325" y="3829050"/>
            <a:ext cx="2838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Each session needs its own browser destination.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26" name="Google Shape;5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 we need one route for every session?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657225" y="1438275"/>
            <a:ext cx="5143500" cy="1876425"/>
          </a:xfrm>
          <a:prstGeom prst="roundRect">
            <a:avLst>
              <a:gd fmla="val 3898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6"/>
          <p:cNvSpPr/>
          <p:nvPr/>
        </p:nvSpPr>
        <p:spPr>
          <a:xfrm>
            <a:off x="847725" y="1590675"/>
            <a:ext cx="47625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path="/sessions/S-101" element={&lt;SessionDetails /&gt;} /&gt;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path="/sessions/S-102" element={&lt;SessionDetails /&gt;} /&gt;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path="/sessions/S-103" element={&lt;SessionDetails /&gt;} /&gt;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6153150" y="1438275"/>
            <a:ext cx="1905000" cy="1876425"/>
          </a:xfrm>
          <a:prstGeom prst="roundRect">
            <a:avLst>
              <a:gd fmla="val 3898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6"/>
          <p:cNvSpPr/>
          <p:nvPr/>
        </p:nvSpPr>
        <p:spPr>
          <a:xfrm>
            <a:off x="6362700" y="16383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REPEATED STRUCTURE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6"/>
          <p:cNvSpPr/>
          <p:nvPr/>
        </p:nvSpPr>
        <p:spPr>
          <a:xfrm>
            <a:off x="6353175" y="2000250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/sessions/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7181850" y="20002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S-101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6353175" y="2362200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/sessions/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7181850" y="23622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S-102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6353175" y="2724150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/sessions/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7181850" y="27241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S-103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1638300" y="3810000"/>
            <a:ext cx="5867400" cy="4572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6"/>
          <p:cNvSpPr/>
          <p:nvPr/>
        </p:nvSpPr>
        <p:spPr>
          <a:xfrm>
            <a:off x="1847850" y="3914775"/>
            <a:ext cx="5448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The structure stays the same. Only the session ID changes. We want to describe that structure once.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46" name="Google Shape;54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route pattern can match many session IDs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962025" y="1200150"/>
            <a:ext cx="5638800" cy="552450"/>
          </a:xfrm>
          <a:prstGeom prst="roundRect">
            <a:avLst>
              <a:gd fmla="val 13241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7"/>
          <p:cNvSpPr/>
          <p:nvPr/>
        </p:nvSpPr>
        <p:spPr>
          <a:xfrm>
            <a:off x="2038350" y="1343025"/>
            <a:ext cx="1571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"/>
              <a:buFont typeface="Courier New"/>
              <a:buNone/>
            </a:pPr>
            <a:r>
              <a:rPr b="1" i="0" lang="en" sz="13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/sessions/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3609975" y="1343025"/>
            <a:ext cx="1381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340"/>
              <a:buFont typeface="Courier New"/>
              <a:buNone/>
            </a:pPr>
            <a:r>
              <a:rPr b="1" i="0" lang="en" sz="1340" u="none" cap="none" strike="noStrike">
                <a:solidFill>
                  <a:srgbClr val="FDE68A"/>
                </a:solidFill>
                <a:latin typeface="Courier New"/>
                <a:ea typeface="Courier New"/>
                <a:cs typeface="Courier New"/>
                <a:sym typeface="Courier New"/>
              </a:rPr>
              <a:t>:sessionId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3429000" y="1781175"/>
            <a:ext cx="1762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DYNAMIC SEGMENT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7"/>
          <p:cNvSpPr/>
          <p:nvPr/>
        </p:nvSpPr>
        <p:spPr>
          <a:xfrm>
            <a:off x="962025" y="2143125"/>
            <a:ext cx="4476750" cy="600075"/>
          </a:xfrm>
          <a:prstGeom prst="roundRect">
            <a:avLst>
              <a:gd fmla="val 12190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7"/>
          <p:cNvSpPr/>
          <p:nvPr/>
        </p:nvSpPr>
        <p:spPr>
          <a:xfrm>
            <a:off x="1108329" y="2252853"/>
            <a:ext cx="4184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 PATTERN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7"/>
          <p:cNvSpPr/>
          <p:nvPr/>
        </p:nvSpPr>
        <p:spPr>
          <a:xfrm>
            <a:off x="1108329" y="2454021"/>
            <a:ext cx="4184142" cy="179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/sessions/:sessionId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962025" y="2886075"/>
            <a:ext cx="4476750" cy="600075"/>
          </a:xfrm>
          <a:prstGeom prst="roundRect">
            <a:avLst>
              <a:gd fmla="val 12190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1108329" y="2995803"/>
            <a:ext cx="4184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ACTUAL BROWSER PATH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1108329" y="3196971"/>
            <a:ext cx="4184142" cy="179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962025" y="3629025"/>
            <a:ext cx="4476750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7"/>
          <p:cNvSpPr/>
          <p:nvPr/>
        </p:nvSpPr>
        <p:spPr>
          <a:xfrm>
            <a:off x="1108329" y="3738753"/>
            <a:ext cx="4184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CAPTURED ROUTE PARAMETER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1108329" y="3939921"/>
            <a:ext cx="4184142" cy="179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sessionId = "S-102"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5905500" y="2143125"/>
            <a:ext cx="2076450" cy="2085975"/>
          </a:xfrm>
          <a:prstGeom prst="roundRect">
            <a:avLst>
              <a:gd fmla="val 3523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"/>
          <p:cNvSpPr/>
          <p:nvPr/>
        </p:nvSpPr>
        <p:spPr>
          <a:xfrm>
            <a:off x="6143625" y="2333625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ONE PATTERN MATCHES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6191250" y="2695575"/>
            <a:ext cx="1504950" cy="323850"/>
          </a:xfrm>
          <a:prstGeom prst="roundRect">
            <a:avLst>
              <a:gd fmla="val 22588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7"/>
          <p:cNvSpPr/>
          <p:nvPr/>
        </p:nvSpPr>
        <p:spPr>
          <a:xfrm>
            <a:off x="6286500" y="2781300"/>
            <a:ext cx="1314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/sessions/S-101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6191250" y="3152775"/>
            <a:ext cx="1504950" cy="323850"/>
          </a:xfrm>
          <a:prstGeom prst="roundRect">
            <a:avLst>
              <a:gd fmla="val 22588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7"/>
          <p:cNvSpPr/>
          <p:nvPr/>
        </p:nvSpPr>
        <p:spPr>
          <a:xfrm>
            <a:off x="6286500" y="3238500"/>
            <a:ext cx="1314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10"/>
              <a:buFont typeface="Courier New"/>
              <a:buNone/>
            </a:pPr>
            <a:r>
              <a:rPr b="1" i="0" lang="en" sz="91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/sessions/S-102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7"/>
          <p:cNvSpPr/>
          <p:nvPr/>
        </p:nvSpPr>
        <p:spPr>
          <a:xfrm>
            <a:off x="6191250" y="3609975"/>
            <a:ext cx="1504950" cy="323850"/>
          </a:xfrm>
          <a:prstGeom prst="roundRect">
            <a:avLst>
              <a:gd fmla="val 22588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7"/>
          <p:cNvSpPr/>
          <p:nvPr/>
        </p:nvSpPr>
        <p:spPr>
          <a:xfrm>
            <a:off x="6286500" y="3695700"/>
            <a:ext cx="1314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/sessions/S-103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75" name="Google Shape;5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 the route parameter with useParams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657225" y="1276350"/>
            <a:ext cx="4857750" cy="2743200"/>
          </a:xfrm>
          <a:prstGeom prst="roundRect">
            <a:avLst>
              <a:gd fmla="val 2667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8"/>
          <p:cNvSpPr/>
          <p:nvPr/>
        </p:nvSpPr>
        <p:spPr>
          <a:xfrm>
            <a:off x="847725" y="1428750"/>
            <a:ext cx="447675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useParams } from "react-router-dom";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SessionDetails()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const { sessionId } = useParams();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&lt;section&gt;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&lt;h2&gt;Session details&lt;/h2&gt;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&lt;p&gt;Session ID: {sessionId}&lt;/p&gt;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&lt;/section&gt;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5943600" y="1362075"/>
            <a:ext cx="2143125" cy="1409700"/>
          </a:xfrm>
          <a:prstGeom prst="roundRect">
            <a:avLst>
              <a:gd fmla="val 5189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8"/>
          <p:cNvSpPr/>
          <p:nvPr/>
        </p:nvSpPr>
        <p:spPr>
          <a:xfrm>
            <a:off x="5952744" y="1371219"/>
            <a:ext cx="2124837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8"/>
          <p:cNvSpPr/>
          <p:nvPr/>
        </p:nvSpPr>
        <p:spPr>
          <a:xfrm>
            <a:off x="6053328" y="1480947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8"/>
          <p:cNvSpPr/>
          <p:nvPr/>
        </p:nvSpPr>
        <p:spPr>
          <a:xfrm>
            <a:off x="6199632" y="1480947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6345936" y="1480947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8"/>
          <p:cNvSpPr/>
          <p:nvPr/>
        </p:nvSpPr>
        <p:spPr>
          <a:xfrm>
            <a:off x="6473952" y="1444371"/>
            <a:ext cx="150304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localhost:5173/sessions/S-102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6163056" y="1819275"/>
            <a:ext cx="170421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 details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6163056" y="2121027"/>
            <a:ext cx="170421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Session ID: S-102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8"/>
          <p:cNvSpPr/>
          <p:nvPr/>
        </p:nvSpPr>
        <p:spPr>
          <a:xfrm>
            <a:off x="5943600" y="3076575"/>
            <a:ext cx="2143125" cy="704850"/>
          </a:xfrm>
          <a:prstGeom prst="roundRect">
            <a:avLst>
              <a:gd fmla="val 10378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8"/>
          <p:cNvSpPr/>
          <p:nvPr/>
        </p:nvSpPr>
        <p:spPr>
          <a:xfrm>
            <a:off x="6153150" y="3228975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TYPESCRIPT NOTE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8"/>
          <p:cNvSpPr/>
          <p:nvPr/>
        </p:nvSpPr>
        <p:spPr>
          <a:xfrm>
            <a:off x="6219825" y="3429000"/>
            <a:ext cx="1581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sessionId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Courier New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string | undefined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1714500" y="4238625"/>
            <a:ext cx="5676900" cy="361950"/>
          </a:xfrm>
          <a:prstGeom prst="roundRect">
            <a:avLst>
              <a:gd fmla="val 20211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8"/>
          <p:cNvSpPr/>
          <p:nvPr/>
        </p:nvSpPr>
        <p:spPr>
          <a:xfrm>
            <a:off x="1905000" y="4314825"/>
            <a:ext cx="5295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URL contains S-102. The matched component can read and display S-102.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98" name="Google Shape;59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Different links can use the same route pattern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9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9"/>
          <p:cNvSpPr/>
          <p:nvPr/>
        </p:nvSpPr>
        <p:spPr>
          <a:xfrm>
            <a:off x="657225" y="1238250"/>
            <a:ext cx="3524250" cy="2667000"/>
          </a:xfrm>
          <a:prstGeom prst="roundRect">
            <a:avLst>
              <a:gd fmla="val 274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9"/>
          <p:cNvSpPr/>
          <p:nvPr/>
        </p:nvSpPr>
        <p:spPr>
          <a:xfrm>
            <a:off x="866775" y="142875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9"/>
          <p:cNvSpPr/>
          <p:nvPr/>
        </p:nvSpPr>
        <p:spPr>
          <a:xfrm>
            <a:off x="904875" y="1790700"/>
            <a:ext cx="3028950" cy="381000"/>
          </a:xfrm>
          <a:prstGeom prst="roundRect">
            <a:avLst>
              <a:gd fmla="val 19200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9"/>
          <p:cNvSpPr/>
          <p:nvPr/>
        </p:nvSpPr>
        <p:spPr>
          <a:xfrm>
            <a:off x="1066800" y="1891284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S-101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9"/>
          <p:cNvSpPr/>
          <p:nvPr/>
        </p:nvSpPr>
        <p:spPr>
          <a:xfrm>
            <a:off x="1676400" y="188214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904875" y="2333625"/>
            <a:ext cx="3028950" cy="381000"/>
          </a:xfrm>
          <a:prstGeom prst="roundRect">
            <a:avLst>
              <a:gd fmla="val 19200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9"/>
          <p:cNvSpPr/>
          <p:nvPr/>
        </p:nvSpPr>
        <p:spPr>
          <a:xfrm>
            <a:off x="1066800" y="2434209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S-102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9"/>
          <p:cNvSpPr/>
          <p:nvPr/>
        </p:nvSpPr>
        <p:spPr>
          <a:xfrm>
            <a:off x="1676400" y="2425065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State without confusion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9"/>
          <p:cNvSpPr/>
          <p:nvPr/>
        </p:nvSpPr>
        <p:spPr>
          <a:xfrm>
            <a:off x="904875" y="2876550"/>
            <a:ext cx="3028950" cy="381000"/>
          </a:xfrm>
          <a:prstGeom prst="roundRect">
            <a:avLst>
              <a:gd fmla="val 19200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9"/>
          <p:cNvSpPr/>
          <p:nvPr/>
        </p:nvSpPr>
        <p:spPr>
          <a:xfrm>
            <a:off x="1066800" y="2977134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S-103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9"/>
          <p:cNvSpPr/>
          <p:nvPr/>
        </p:nvSpPr>
        <p:spPr>
          <a:xfrm>
            <a:off x="1676400" y="296799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TypeScript in practice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9"/>
          <p:cNvSpPr/>
          <p:nvPr/>
        </p:nvSpPr>
        <p:spPr>
          <a:xfrm>
            <a:off x="4762500" y="1352550"/>
            <a:ext cx="3000375" cy="666750"/>
          </a:xfrm>
          <a:prstGeom prst="roundRect">
            <a:avLst>
              <a:gd fmla="val 10971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9"/>
          <p:cNvSpPr/>
          <p:nvPr/>
        </p:nvSpPr>
        <p:spPr>
          <a:xfrm>
            <a:off x="4908804" y="1462278"/>
            <a:ext cx="27077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SHARED ROUTE PATTERN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9"/>
          <p:cNvSpPr/>
          <p:nvPr/>
        </p:nvSpPr>
        <p:spPr>
          <a:xfrm>
            <a:off x="4908804" y="1663446"/>
            <a:ext cx="2707767" cy="246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/sessions/:sessionId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4762500" y="2333625"/>
            <a:ext cx="3000375" cy="1143000"/>
          </a:xfrm>
          <a:prstGeom prst="roundRect">
            <a:avLst>
              <a:gd fmla="val 6400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9"/>
          <p:cNvSpPr/>
          <p:nvPr/>
        </p:nvSpPr>
        <p:spPr>
          <a:xfrm>
            <a:off x="4908804" y="2443353"/>
            <a:ext cx="270776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SELECTED EXAMPLE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9"/>
          <p:cNvSpPr/>
          <p:nvPr/>
        </p:nvSpPr>
        <p:spPr>
          <a:xfrm>
            <a:off x="4908804" y="2644521"/>
            <a:ext cx="2707767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State without confusion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sessionId = "S-102"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4810125" y="3762375"/>
            <a:ext cx="2924175" cy="400050"/>
          </a:xfrm>
          <a:prstGeom prst="roundRect">
            <a:avLst>
              <a:gd fmla="val 18286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5000625" y="3857625"/>
            <a:ext cx="2543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Different actual destinations. One matching route pattern.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Trace the dynamic route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0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DYNAMIC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0"/>
          <p:cNvSpPr/>
          <p:nvPr/>
        </p:nvSpPr>
        <p:spPr>
          <a:xfrm>
            <a:off x="657225" y="1190625"/>
            <a:ext cx="2571750" cy="590550"/>
          </a:xfrm>
          <a:prstGeom prst="roundRect">
            <a:avLst>
              <a:gd fmla="val 12387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0"/>
          <p:cNvSpPr/>
          <p:nvPr/>
        </p:nvSpPr>
        <p:spPr>
          <a:xfrm>
            <a:off x="803529" y="1300353"/>
            <a:ext cx="2279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PATH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0"/>
          <p:cNvSpPr/>
          <p:nvPr/>
        </p:nvSpPr>
        <p:spPr>
          <a:xfrm>
            <a:off x="803529" y="1501521"/>
            <a:ext cx="2279142" cy="169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0"/>
          <p:cNvSpPr/>
          <p:nvPr/>
        </p:nvSpPr>
        <p:spPr>
          <a:xfrm>
            <a:off x="3714750" y="1143000"/>
            <a:ext cx="4191000" cy="781050"/>
          </a:xfrm>
          <a:prstGeom prst="roundRect">
            <a:avLst>
              <a:gd fmla="val 9366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0"/>
          <p:cNvSpPr/>
          <p:nvPr/>
        </p:nvSpPr>
        <p:spPr>
          <a:xfrm>
            <a:off x="3905250" y="12954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path="/sessions/:sessionId"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element={&lt;SessionDetails /&gt;}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876300" y="2171700"/>
            <a:ext cx="7239000" cy="314325"/>
          </a:xfrm>
          <a:prstGeom prst="roundRect">
            <a:avLst>
              <a:gd fmla="val 2327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0"/>
          <p:cNvSpPr/>
          <p:nvPr/>
        </p:nvSpPr>
        <p:spPr>
          <a:xfrm>
            <a:off x="1095375" y="2247900"/>
            <a:ext cx="6667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What is the route pattern?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876300" y="2581275"/>
            <a:ext cx="7239000" cy="314325"/>
          </a:xfrm>
          <a:prstGeom prst="roundRect">
            <a:avLst>
              <a:gd fmla="val 2327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0"/>
          <p:cNvSpPr/>
          <p:nvPr/>
        </p:nvSpPr>
        <p:spPr>
          <a:xfrm>
            <a:off x="1095375" y="2657475"/>
            <a:ext cx="6667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What is the dynamic segment called?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876300" y="2990850"/>
            <a:ext cx="7239000" cy="314325"/>
          </a:xfrm>
          <a:prstGeom prst="roundRect">
            <a:avLst>
              <a:gd fmla="val 2327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"/>
          <p:cNvSpPr/>
          <p:nvPr/>
        </p:nvSpPr>
        <p:spPr>
          <a:xfrm>
            <a:off x="1095375" y="3067050"/>
            <a:ext cx="6667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What value is captured?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876300" y="3400425"/>
            <a:ext cx="7239000" cy="314325"/>
          </a:xfrm>
          <a:prstGeom prst="roundRect">
            <a:avLst>
              <a:gd fmla="val 2327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"/>
          <p:cNvSpPr/>
          <p:nvPr/>
        </p:nvSpPr>
        <p:spPr>
          <a:xfrm>
            <a:off x="1095375" y="3476625"/>
            <a:ext cx="6667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What would &lt;p&gt;Session ID: {sessionId}&lt;/p&gt; render?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876300" y="3943350"/>
            <a:ext cx="7239000" cy="542925"/>
          </a:xfrm>
          <a:prstGeom prst="roundRect">
            <a:avLst>
              <a:gd fmla="val 13474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"/>
          <p:cNvSpPr/>
          <p:nvPr/>
        </p:nvSpPr>
        <p:spPr>
          <a:xfrm>
            <a:off x="1095375" y="4133850"/>
            <a:ext cx="6800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0"/>
              <a:buFont typeface="Courier New"/>
              <a:buNone/>
            </a:pPr>
            <a:r>
              <a:rPr b="1" i="0" lang="en" sz="82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1. /sessions/:sessionId     2. :sessionId     3. "S-103"     4. Session ID: S-103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647" name="Google Shape;64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Sometimes application logic triggers navigation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1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PROGRAMMATIC 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1"/>
          <p:cNvSpPr/>
          <p:nvPr/>
        </p:nvSpPr>
        <p:spPr>
          <a:xfrm>
            <a:off x="657225" y="1238250"/>
            <a:ext cx="3762375" cy="2667000"/>
          </a:xfrm>
          <a:prstGeom prst="roundRect">
            <a:avLst>
              <a:gd fmla="val 2743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1"/>
          <p:cNvSpPr/>
          <p:nvPr/>
        </p:nvSpPr>
        <p:spPr>
          <a:xfrm>
            <a:off x="666369" y="1247394"/>
            <a:ext cx="3744087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1"/>
          <p:cNvSpPr/>
          <p:nvPr/>
        </p:nvSpPr>
        <p:spPr>
          <a:xfrm>
            <a:off x="766953" y="135712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1"/>
          <p:cNvSpPr/>
          <p:nvPr/>
        </p:nvSpPr>
        <p:spPr>
          <a:xfrm>
            <a:off x="913257" y="135712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1"/>
          <p:cNvSpPr/>
          <p:nvPr/>
        </p:nvSpPr>
        <p:spPr>
          <a:xfrm>
            <a:off x="1059561" y="135712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1"/>
          <p:cNvSpPr/>
          <p:nvPr/>
        </p:nvSpPr>
        <p:spPr>
          <a:xfrm>
            <a:off x="1187577" y="1320546"/>
            <a:ext cx="312229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localhost:5173/sessions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1"/>
          <p:cNvSpPr/>
          <p:nvPr/>
        </p:nvSpPr>
        <p:spPr>
          <a:xfrm>
            <a:off x="858393" y="1695450"/>
            <a:ext cx="3360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Home    Sessions    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1"/>
          <p:cNvSpPr/>
          <p:nvPr/>
        </p:nvSpPr>
        <p:spPr>
          <a:xfrm>
            <a:off x="876681" y="1997202"/>
            <a:ext cx="332346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1"/>
          <p:cNvSpPr/>
          <p:nvPr/>
        </p:nvSpPr>
        <p:spPr>
          <a:xfrm>
            <a:off x="876681" y="2381250"/>
            <a:ext cx="332346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Open a session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858393" y="2765298"/>
            <a:ext cx="3360039" cy="938784"/>
          </a:xfrm>
          <a:prstGeom prst="roundRect">
            <a:avLst>
              <a:gd fmla="val 7792" name="adj"/>
            </a:avLst>
          </a:prstGeom>
          <a:solidFill>
            <a:srgbClr val="FEF9C3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1"/>
          <p:cNvSpPr/>
          <p:nvPr/>
        </p:nvSpPr>
        <p:spPr>
          <a:xfrm>
            <a:off x="986409" y="2856738"/>
            <a:ext cx="3104007" cy="755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 ID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  S-102  ]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 Open session ]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4953000" y="1333500"/>
            <a:ext cx="3048000" cy="666750"/>
          </a:xfrm>
          <a:prstGeom prst="roundRect">
            <a:avLst>
              <a:gd fmla="val 10971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1"/>
          <p:cNvSpPr/>
          <p:nvPr/>
        </p:nvSpPr>
        <p:spPr>
          <a:xfrm>
            <a:off x="5099304" y="1443228"/>
            <a:ext cx="2755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ENTERED VALUE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5099304" y="1644396"/>
            <a:ext cx="2755392" cy="246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S-102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4953000" y="2238375"/>
            <a:ext cx="3048000" cy="666750"/>
          </a:xfrm>
          <a:prstGeom prst="roundRect">
            <a:avLst>
              <a:gd fmla="val 10971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1"/>
          <p:cNvSpPr/>
          <p:nvPr/>
        </p:nvSpPr>
        <p:spPr>
          <a:xfrm>
            <a:off x="5099304" y="2348103"/>
            <a:ext cx="2755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DESIRED DESTINATION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5099304" y="2549271"/>
            <a:ext cx="2755392" cy="246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1"/>
          <p:cNvSpPr/>
          <p:nvPr/>
        </p:nvSpPr>
        <p:spPr>
          <a:xfrm>
            <a:off x="4953000" y="3143250"/>
            <a:ext cx="3048000" cy="647700"/>
          </a:xfrm>
          <a:prstGeom prst="roundRect">
            <a:avLst>
              <a:gd fmla="val 11294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1"/>
          <p:cNvSpPr/>
          <p:nvPr/>
        </p:nvSpPr>
        <p:spPr>
          <a:xfrm>
            <a:off x="5099304" y="3252978"/>
            <a:ext cx="2755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PROGRAMMATIC NAVIGATION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5099304" y="3454146"/>
            <a:ext cx="2755392" cy="22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Application code triggers navigation as part of its logic.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1"/>
          <p:cNvSpPr/>
          <p:nvPr/>
        </p:nvSpPr>
        <p:spPr>
          <a:xfrm>
            <a:off x="5095875" y="4029075"/>
            <a:ext cx="2762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can the submit handler tell React Router to navigate?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676" name="Google Shape;6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Navigate from the submit handler with useNavigate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2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PROGRAMMATIC 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2"/>
          <p:cNvSpPr/>
          <p:nvPr/>
        </p:nvSpPr>
        <p:spPr>
          <a:xfrm>
            <a:off x="657225" y="1343025"/>
            <a:ext cx="4714875" cy="2981325"/>
          </a:xfrm>
          <a:prstGeom prst="roundRect">
            <a:avLst>
              <a:gd fmla="val 2454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2"/>
          <p:cNvSpPr/>
          <p:nvPr/>
        </p:nvSpPr>
        <p:spPr>
          <a:xfrm>
            <a:off x="847725" y="1495425"/>
            <a:ext cx="4333875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type { FormEvent } from "react";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useNavigate } from "react-router-dom";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navigate = useNavigate();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handleSubmit(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event: FormEvent&lt;HTMLFormElement&gt;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event.preventDefault();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navigate(`/sessions/${sessionId}`);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2"/>
          <p:cNvSpPr/>
          <p:nvPr/>
        </p:nvSpPr>
        <p:spPr>
          <a:xfrm>
            <a:off x="5857875" y="1381125"/>
            <a:ext cx="2114550" cy="504825"/>
          </a:xfrm>
          <a:prstGeom prst="roundRect">
            <a:avLst>
              <a:gd fmla="val 14491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2"/>
          <p:cNvSpPr/>
          <p:nvPr/>
        </p:nvSpPr>
        <p:spPr>
          <a:xfrm>
            <a:off x="6004179" y="1481709"/>
            <a:ext cx="18219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1  SUBMIT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2"/>
          <p:cNvSpPr/>
          <p:nvPr/>
        </p:nvSpPr>
        <p:spPr>
          <a:xfrm>
            <a:off x="6004179" y="1673733"/>
            <a:ext cx="182194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S-102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42"/>
          <p:cNvCxnSpPr/>
          <p:nvPr/>
        </p:nvCxnSpPr>
        <p:spPr>
          <a:xfrm>
            <a:off x="6915150" y="1885950"/>
            <a:ext cx="0" cy="161925"/>
          </a:xfrm>
          <a:prstGeom prst="straightConnector1">
            <a:avLst/>
          </a:prstGeom>
          <a:noFill/>
          <a:ln cap="flat" cmpd="sng" w="17775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42"/>
          <p:cNvSpPr/>
          <p:nvPr/>
        </p:nvSpPr>
        <p:spPr>
          <a:xfrm>
            <a:off x="5857875" y="2047875"/>
            <a:ext cx="2114550" cy="504825"/>
          </a:xfrm>
          <a:prstGeom prst="roundRect">
            <a:avLst>
              <a:gd fmla="val 14491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2"/>
          <p:cNvSpPr/>
          <p:nvPr/>
        </p:nvSpPr>
        <p:spPr>
          <a:xfrm>
            <a:off x="6004179" y="2148459"/>
            <a:ext cx="18219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2  BROWSER PATH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2"/>
          <p:cNvSpPr/>
          <p:nvPr/>
        </p:nvSpPr>
        <p:spPr>
          <a:xfrm>
            <a:off x="6004179" y="2340483"/>
            <a:ext cx="182194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/sessions/S-102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42"/>
          <p:cNvCxnSpPr/>
          <p:nvPr/>
        </p:nvCxnSpPr>
        <p:spPr>
          <a:xfrm>
            <a:off x="6915150" y="2552700"/>
            <a:ext cx="0" cy="161925"/>
          </a:xfrm>
          <a:prstGeom prst="straightConnector1">
            <a:avLst/>
          </a:prstGeom>
          <a:noFill/>
          <a:ln cap="flat" cmpd="sng" w="17775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42"/>
          <p:cNvSpPr/>
          <p:nvPr/>
        </p:nvSpPr>
        <p:spPr>
          <a:xfrm>
            <a:off x="5857875" y="2714625"/>
            <a:ext cx="2114550" cy="504825"/>
          </a:xfrm>
          <a:prstGeom prst="roundRect">
            <a:avLst>
              <a:gd fmla="val 14491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2"/>
          <p:cNvSpPr/>
          <p:nvPr/>
        </p:nvSpPr>
        <p:spPr>
          <a:xfrm>
            <a:off x="6004179" y="2815209"/>
            <a:ext cx="18219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3  EXISTING ROUTE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2"/>
          <p:cNvSpPr/>
          <p:nvPr/>
        </p:nvSpPr>
        <p:spPr>
          <a:xfrm>
            <a:off x="6004179" y="3007233"/>
            <a:ext cx="182194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/sessions/:sessionId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42"/>
          <p:cNvCxnSpPr/>
          <p:nvPr/>
        </p:nvCxnSpPr>
        <p:spPr>
          <a:xfrm>
            <a:off x="6915150" y="3219450"/>
            <a:ext cx="0" cy="161925"/>
          </a:xfrm>
          <a:prstGeom prst="straightConnector1">
            <a:avLst/>
          </a:prstGeom>
          <a:noFill/>
          <a:ln cap="flat" cmpd="sng" w="17775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3" name="Google Shape;693;p42"/>
          <p:cNvSpPr/>
          <p:nvPr/>
        </p:nvSpPr>
        <p:spPr>
          <a:xfrm>
            <a:off x="5857875" y="3381375"/>
            <a:ext cx="2114550" cy="504825"/>
          </a:xfrm>
          <a:prstGeom prst="roundRect">
            <a:avLst>
              <a:gd fmla="val 14491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2"/>
          <p:cNvSpPr/>
          <p:nvPr/>
        </p:nvSpPr>
        <p:spPr>
          <a:xfrm>
            <a:off x="6004179" y="3481959"/>
            <a:ext cx="18219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4  RENDERED VIEW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6004179" y="3673983"/>
            <a:ext cx="182194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Session details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2"/>
          <p:cNvSpPr/>
          <p:nvPr/>
        </p:nvSpPr>
        <p:spPr>
          <a:xfrm>
            <a:off x="5857875" y="4048125"/>
            <a:ext cx="2114400" cy="504900"/>
          </a:xfrm>
          <a:prstGeom prst="roundRect">
            <a:avLst>
              <a:gd fmla="val 19692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2"/>
          <p:cNvSpPr/>
          <p:nvPr/>
        </p:nvSpPr>
        <p:spPr>
          <a:xfrm>
            <a:off x="6000750" y="4105275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useNavigate triggers navigation; the route still decides what renders.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or useNavigate?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PROGRAMMATIC NAVIGATION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3"/>
          <p:cNvSpPr/>
          <p:nvPr/>
        </p:nvSpPr>
        <p:spPr>
          <a:xfrm>
            <a:off x="809625" y="1333500"/>
            <a:ext cx="3333750" cy="2000250"/>
          </a:xfrm>
          <a:prstGeom prst="roundRect">
            <a:avLst>
              <a:gd fmla="val 3657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3"/>
          <p:cNvSpPr/>
          <p:nvPr/>
        </p:nvSpPr>
        <p:spPr>
          <a:xfrm>
            <a:off x="955929" y="1443228"/>
            <a:ext cx="3041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955929" y="1644396"/>
            <a:ext cx="3041142" cy="1579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Visible navigation destination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&lt;Link to="/schedule"&gt;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View schedule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&lt;/Link&gt;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3"/>
          <p:cNvSpPr/>
          <p:nvPr/>
        </p:nvSpPr>
        <p:spPr>
          <a:xfrm>
            <a:off x="5000625" y="1333500"/>
            <a:ext cx="3333750" cy="2000250"/>
          </a:xfrm>
          <a:prstGeom prst="roundRect">
            <a:avLst>
              <a:gd fmla="val 3657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3"/>
          <p:cNvSpPr/>
          <p:nvPr/>
        </p:nvSpPr>
        <p:spPr>
          <a:xfrm>
            <a:off x="5146929" y="1443228"/>
            <a:ext cx="3041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USENAVIGATE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3"/>
          <p:cNvSpPr/>
          <p:nvPr/>
        </p:nvSpPr>
        <p:spPr>
          <a:xfrm>
            <a:off x="5146929" y="1644396"/>
            <a:ext cx="3041142" cy="1579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 logic triggers navigation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navigate(`/sessions/${sessionId}`);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3"/>
          <p:cNvSpPr/>
          <p:nvPr/>
        </p:nvSpPr>
        <p:spPr>
          <a:xfrm>
            <a:off x="1285875" y="3667125"/>
            <a:ext cx="276225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3"/>
          <p:cNvSpPr/>
          <p:nvPr/>
        </p:nvSpPr>
        <p:spPr>
          <a:xfrm>
            <a:off x="1524000" y="3781425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Session title: Link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3"/>
          <p:cNvSpPr/>
          <p:nvPr/>
        </p:nvSpPr>
        <p:spPr>
          <a:xfrm>
            <a:off x="5095875" y="3667125"/>
            <a:ext cx="2762250" cy="400050"/>
          </a:xfrm>
          <a:prstGeom prst="roundRect">
            <a:avLst>
              <a:gd fmla="val 18286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3"/>
          <p:cNvSpPr/>
          <p:nvPr/>
        </p:nvSpPr>
        <p:spPr>
          <a:xfrm>
            <a:off x="5334000" y="3781425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Form completion: useNavigate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3"/>
          <p:cNvSpPr/>
          <p:nvPr/>
        </p:nvSpPr>
        <p:spPr>
          <a:xfrm>
            <a:off x="1790700" y="4362450"/>
            <a:ext cx="5562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useNavigate is not a replacement for Link. Choose based on what causes navigation.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721" name="Google Shape;7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4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4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729" name="Google Shape;7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 now contains two related destinations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819150" y="1257300"/>
            <a:ext cx="3143250" cy="2524125"/>
          </a:xfrm>
          <a:prstGeom prst="roundRect">
            <a:avLst>
              <a:gd fmla="val 2898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5"/>
          <p:cNvSpPr/>
          <p:nvPr/>
        </p:nvSpPr>
        <p:spPr>
          <a:xfrm>
            <a:off x="828294" y="1266444"/>
            <a:ext cx="3124962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5"/>
          <p:cNvSpPr/>
          <p:nvPr/>
        </p:nvSpPr>
        <p:spPr>
          <a:xfrm>
            <a:off x="928878" y="137617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5"/>
          <p:cNvSpPr/>
          <p:nvPr/>
        </p:nvSpPr>
        <p:spPr>
          <a:xfrm>
            <a:off x="1075182" y="137617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5"/>
          <p:cNvSpPr/>
          <p:nvPr/>
        </p:nvSpPr>
        <p:spPr>
          <a:xfrm>
            <a:off x="1221486" y="137617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5"/>
          <p:cNvSpPr/>
          <p:nvPr/>
        </p:nvSpPr>
        <p:spPr>
          <a:xfrm>
            <a:off x="1349502" y="1339596"/>
            <a:ext cx="25031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localhost:5173/schedule/day-1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/>
          <p:nvPr/>
        </p:nvSpPr>
        <p:spPr>
          <a:xfrm>
            <a:off x="1020318" y="1714500"/>
            <a:ext cx="274091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Home    Sessions    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1038606" y="2016252"/>
            <a:ext cx="270433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1020318" y="2400300"/>
            <a:ext cx="2740914" cy="1179957"/>
          </a:xfrm>
          <a:prstGeom prst="roundRect">
            <a:avLst>
              <a:gd fmla="val 6200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45"/>
          <p:cNvSpPr/>
          <p:nvPr/>
        </p:nvSpPr>
        <p:spPr>
          <a:xfrm>
            <a:off x="1148334" y="2491740"/>
            <a:ext cx="2484882" cy="997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Day 1   Day 2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09:00  Opening keynote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11:00  React component design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5181600" y="1257300"/>
            <a:ext cx="3143250" cy="2524125"/>
          </a:xfrm>
          <a:prstGeom prst="roundRect">
            <a:avLst>
              <a:gd fmla="val 2898" name="adj"/>
            </a:avLst>
          </a:prstGeom>
          <a:solidFill>
            <a:srgbClr val="FFFFFF"/>
          </a:solidFill>
          <a:ln cap="flat" cmpd="sng" w="13950">
            <a:solidFill>
              <a:srgbClr val="C6D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45"/>
          <p:cNvSpPr/>
          <p:nvPr/>
        </p:nvSpPr>
        <p:spPr>
          <a:xfrm>
            <a:off x="5190744" y="1266444"/>
            <a:ext cx="3124962" cy="310896"/>
          </a:xfrm>
          <a:prstGeom prst="rect">
            <a:avLst/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5"/>
          <p:cNvSpPr/>
          <p:nvPr/>
        </p:nvSpPr>
        <p:spPr>
          <a:xfrm>
            <a:off x="5291328" y="1376172"/>
            <a:ext cx="64008" cy="64008"/>
          </a:xfrm>
          <a:prstGeom prst="ellipse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5"/>
          <p:cNvSpPr/>
          <p:nvPr/>
        </p:nvSpPr>
        <p:spPr>
          <a:xfrm>
            <a:off x="5437632" y="1376172"/>
            <a:ext cx="64008" cy="64008"/>
          </a:xfrm>
          <a:prstGeom prst="ellipse">
            <a:avLst/>
          </a:prstGeom>
          <a:solidFill>
            <a:srgbClr val="FDE68A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5"/>
          <p:cNvSpPr/>
          <p:nvPr/>
        </p:nvSpPr>
        <p:spPr>
          <a:xfrm>
            <a:off x="5583936" y="1376172"/>
            <a:ext cx="64008" cy="64008"/>
          </a:xfrm>
          <a:prstGeom prst="ellipse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5"/>
          <p:cNvSpPr/>
          <p:nvPr/>
        </p:nvSpPr>
        <p:spPr>
          <a:xfrm>
            <a:off x="5711952" y="1339596"/>
            <a:ext cx="25031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0"/>
              <a:buFont typeface="Arial"/>
              <a:buNone/>
            </a:pPr>
            <a:r>
              <a:rPr b="1" i="0" lang="en" sz="7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localhost:5173/schedule/day-2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5382768" y="1714500"/>
            <a:ext cx="274091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Home    Sessions    Schedule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/>
          <p:nvPr/>
        </p:nvSpPr>
        <p:spPr>
          <a:xfrm>
            <a:off x="5401056" y="2016252"/>
            <a:ext cx="270433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5"/>
          <p:cNvSpPr/>
          <p:nvPr/>
        </p:nvSpPr>
        <p:spPr>
          <a:xfrm>
            <a:off x="5382768" y="2400300"/>
            <a:ext cx="2740914" cy="1179957"/>
          </a:xfrm>
          <a:prstGeom prst="roundRect">
            <a:avLst>
              <a:gd fmla="val 6200" name="adj"/>
            </a:avLst>
          </a:prstGeom>
          <a:solidFill>
            <a:srgbClr val="FEF9C3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5"/>
          <p:cNvSpPr/>
          <p:nvPr/>
        </p:nvSpPr>
        <p:spPr>
          <a:xfrm>
            <a:off x="5510784" y="2491740"/>
            <a:ext cx="2484882" cy="997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Day 1   Day 2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Arial"/>
              <a:buNone/>
            </a:pPr>
            <a:r>
              <a:t/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10:00  State without confusion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13:00  TypeScript in practice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5"/>
          <p:cNvSpPr/>
          <p:nvPr/>
        </p:nvSpPr>
        <p:spPr>
          <a:xfrm>
            <a:off x="1581150" y="4029075"/>
            <a:ext cx="2667000" cy="381000"/>
          </a:xfrm>
          <a:prstGeom prst="roundRect">
            <a:avLst>
              <a:gd fmla="val 1920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5"/>
          <p:cNvSpPr/>
          <p:nvPr/>
        </p:nvSpPr>
        <p:spPr>
          <a:xfrm>
            <a:off x="1733550" y="4124325"/>
            <a:ext cx="236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Shared: Schedule + day navigation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5"/>
          <p:cNvSpPr/>
          <p:nvPr/>
        </p:nvSpPr>
        <p:spPr>
          <a:xfrm>
            <a:off x="4905375" y="4029075"/>
            <a:ext cx="2667000" cy="381000"/>
          </a:xfrm>
          <a:prstGeom prst="roundRect">
            <a:avLst>
              <a:gd fmla="val 1920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5"/>
          <p:cNvSpPr/>
          <p:nvPr/>
        </p:nvSpPr>
        <p:spPr>
          <a:xfrm>
            <a:off x="5067300" y="4124325"/>
            <a:ext cx="2343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Changing: selected day content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761" name="Google Shape;76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Represent the route hierarchy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6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714375" y="1352550"/>
            <a:ext cx="2714625" cy="2476500"/>
          </a:xfrm>
          <a:prstGeom prst="roundRect">
            <a:avLst>
              <a:gd fmla="val 2954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6"/>
          <p:cNvSpPr/>
          <p:nvPr/>
        </p:nvSpPr>
        <p:spPr>
          <a:xfrm>
            <a:off x="1152525" y="1638300"/>
            <a:ext cx="1809750" cy="552450"/>
          </a:xfrm>
          <a:prstGeom prst="roundRect">
            <a:avLst>
              <a:gd fmla="val 13241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6"/>
          <p:cNvSpPr/>
          <p:nvPr/>
        </p:nvSpPr>
        <p:spPr>
          <a:xfrm>
            <a:off x="1333500" y="179070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PARENT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2009775" y="17907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39"/>
              <a:buFont typeface="Courier New"/>
              <a:buNone/>
            </a:pPr>
            <a:r>
              <a:rPr b="1" i="0" lang="en" sz="84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/schedule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8" name="Google Shape;768;p46"/>
          <p:cNvCxnSpPr/>
          <p:nvPr/>
        </p:nvCxnSpPr>
        <p:spPr>
          <a:xfrm>
            <a:off x="2057400" y="2190750"/>
            <a:ext cx="0" cy="295275"/>
          </a:xfrm>
          <a:prstGeom prst="straightConnector1">
            <a:avLst/>
          </a:prstGeom>
          <a:noFill/>
          <a:ln cap="flat" cmpd="sng" w="19050">
            <a:solidFill>
              <a:srgbClr val="2442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46"/>
          <p:cNvSpPr/>
          <p:nvPr/>
        </p:nvSpPr>
        <p:spPr>
          <a:xfrm>
            <a:off x="933450" y="2505075"/>
            <a:ext cx="914400" cy="476250"/>
          </a:xfrm>
          <a:prstGeom prst="roundRect">
            <a:avLst>
              <a:gd fmla="val 15360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6"/>
          <p:cNvSpPr/>
          <p:nvPr/>
        </p:nvSpPr>
        <p:spPr>
          <a:xfrm>
            <a:off x="1066800" y="2647950"/>
            <a:ext cx="666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CHILD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6"/>
          <p:cNvSpPr/>
          <p:nvPr/>
        </p:nvSpPr>
        <p:spPr>
          <a:xfrm>
            <a:off x="1066800" y="2800350"/>
            <a:ext cx="647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Courier New"/>
              <a:buNone/>
            </a:pPr>
            <a:r>
              <a:rPr b="1" i="0" lang="en" sz="7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day-1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2266950" y="2505075"/>
            <a:ext cx="914400" cy="476250"/>
          </a:xfrm>
          <a:prstGeom prst="roundRect">
            <a:avLst>
              <a:gd fmla="val 15360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6"/>
          <p:cNvSpPr/>
          <p:nvPr/>
        </p:nvSpPr>
        <p:spPr>
          <a:xfrm>
            <a:off x="2400300" y="2647950"/>
            <a:ext cx="666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CHILD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2400300" y="2800350"/>
            <a:ext cx="647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750"/>
              <a:buFont typeface="Courier New"/>
              <a:buNone/>
            </a:pPr>
            <a:r>
              <a:rPr b="1" i="0" lang="en" sz="75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day-2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/>
          <p:nvPr/>
        </p:nvSpPr>
        <p:spPr>
          <a:xfrm>
            <a:off x="3886200" y="1143000"/>
            <a:ext cx="4248150" cy="2228850"/>
          </a:xfrm>
          <a:prstGeom prst="roundRect">
            <a:avLst>
              <a:gd fmla="val 3282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6"/>
          <p:cNvSpPr/>
          <p:nvPr/>
        </p:nvSpPr>
        <p:spPr>
          <a:xfrm>
            <a:off x="4076700" y="1295400"/>
            <a:ext cx="386715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path="/schedule" element={&lt;Schedule /&gt;}&gt;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path="day-1"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element={&lt;DayOneSchedule /&gt;}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path="day-2"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element={&lt;DayTwoSchedule /&gt;}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&lt;/Route&gt;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6"/>
          <p:cNvSpPr/>
          <p:nvPr/>
        </p:nvSpPr>
        <p:spPr>
          <a:xfrm>
            <a:off x="3886200" y="3638550"/>
            <a:ext cx="4248150" cy="523875"/>
          </a:xfrm>
          <a:prstGeom prst="roundRect">
            <a:avLst>
              <a:gd fmla="val 13964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6"/>
          <p:cNvSpPr/>
          <p:nvPr/>
        </p:nvSpPr>
        <p:spPr>
          <a:xfrm>
            <a:off x="4048125" y="3800475"/>
            <a:ext cx="392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Parent /schedule + child day-1 produces /schedule/day-1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784" name="Google Shape;78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Where should the child route render?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7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7"/>
          <p:cNvSpPr/>
          <p:nvPr/>
        </p:nvSpPr>
        <p:spPr>
          <a:xfrm>
            <a:off x="657225" y="1333500"/>
            <a:ext cx="4476750" cy="2333625"/>
          </a:xfrm>
          <a:prstGeom prst="roundRect">
            <a:avLst>
              <a:gd fmla="val 3135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7"/>
          <p:cNvSpPr/>
          <p:nvPr/>
        </p:nvSpPr>
        <p:spPr>
          <a:xfrm>
            <a:off x="847725" y="1485900"/>
            <a:ext cx="4095750" cy="202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Schedule()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&lt;section&gt;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&lt;h2&gt;Schedule&lt;/h2&gt;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&lt;nav&gt;{/* Day navigation */}&lt;/nav&gt;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{/* Child content belongs here */}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&lt;/section&gt;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7"/>
          <p:cNvSpPr/>
          <p:nvPr/>
        </p:nvSpPr>
        <p:spPr>
          <a:xfrm>
            <a:off x="5619750" y="1381125"/>
            <a:ext cx="2343150" cy="647700"/>
          </a:xfrm>
          <a:prstGeom prst="roundRect">
            <a:avLst>
              <a:gd fmla="val 11294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7"/>
          <p:cNvSpPr/>
          <p:nvPr/>
        </p:nvSpPr>
        <p:spPr>
          <a:xfrm>
            <a:off x="5766054" y="1490853"/>
            <a:ext cx="20505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PARENT MATCH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7"/>
          <p:cNvSpPr/>
          <p:nvPr/>
        </p:nvSpPr>
        <p:spPr>
          <a:xfrm>
            <a:off x="5766054" y="1692021"/>
            <a:ext cx="2050542" cy="22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/schedule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&lt;Schedule /&gt;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7"/>
          <p:cNvSpPr/>
          <p:nvPr/>
        </p:nvSpPr>
        <p:spPr>
          <a:xfrm>
            <a:off x="5619750" y="2238375"/>
            <a:ext cx="2343150" cy="647700"/>
          </a:xfrm>
          <a:prstGeom prst="roundRect">
            <a:avLst>
              <a:gd fmla="val 11294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7"/>
          <p:cNvSpPr/>
          <p:nvPr/>
        </p:nvSpPr>
        <p:spPr>
          <a:xfrm>
            <a:off x="5766054" y="2348103"/>
            <a:ext cx="20505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CHILD MATCH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7"/>
          <p:cNvSpPr/>
          <p:nvPr/>
        </p:nvSpPr>
        <p:spPr>
          <a:xfrm>
            <a:off x="5766054" y="2549271"/>
            <a:ext cx="2050542" cy="22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day-1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urier New"/>
              <a:buNone/>
            </a:pPr>
            <a:r>
              <a:rPr b="0" i="0" lang="en" sz="89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&lt;DayOneSchedule /&gt;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7"/>
          <p:cNvSpPr/>
          <p:nvPr/>
        </p:nvSpPr>
        <p:spPr>
          <a:xfrm>
            <a:off x="5619750" y="3200400"/>
            <a:ext cx="2343150" cy="590550"/>
          </a:xfrm>
          <a:prstGeom prst="roundRect">
            <a:avLst>
              <a:gd fmla="val 12387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7"/>
          <p:cNvSpPr/>
          <p:nvPr/>
        </p:nvSpPr>
        <p:spPr>
          <a:xfrm>
            <a:off x="5829300" y="335280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Where inside Schedule should the child UI appear?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2286000" y="3971925"/>
            <a:ext cx="4572000" cy="419100"/>
          </a:xfrm>
          <a:prstGeom prst="roundRect">
            <a:avLst>
              <a:gd fmla="val 17455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7"/>
          <p:cNvSpPr/>
          <p:nvPr/>
        </p:nvSpPr>
        <p:spPr>
          <a:xfrm>
            <a:off x="2505075" y="4105275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OUTLET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7"/>
          <p:cNvSpPr/>
          <p:nvPr/>
        </p:nvSpPr>
        <p:spPr>
          <a:xfrm>
            <a:off x="3562350" y="4095750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&lt;Outlet /&gt; marks where the matched child route element renders.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805" name="Google Shape;80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Complete the Schedule parent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8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8"/>
          <p:cNvSpPr/>
          <p:nvPr/>
        </p:nvSpPr>
        <p:spPr>
          <a:xfrm>
            <a:off x="657225" y="1323975"/>
            <a:ext cx="4810125" cy="3067050"/>
          </a:xfrm>
          <a:prstGeom prst="roundRect">
            <a:avLst>
              <a:gd fmla="val 2385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8"/>
          <p:cNvSpPr/>
          <p:nvPr/>
        </p:nvSpPr>
        <p:spPr>
          <a:xfrm>
            <a:off x="847725" y="1476375"/>
            <a:ext cx="4429125" cy="276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{ Link, Outlet } from "react-router-dom";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Schedule() 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&lt;section&gt;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&lt;h2&gt;Schedule&lt;/h2&gt;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&lt;nav&gt;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&lt;Link to="/schedule/day-1"&gt;Day 1&lt;/Link&gt;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&lt;Link to="/schedule/day-2"&gt;Day 2&lt;/Link&gt;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&lt;/nav&gt;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&lt;Outlet /&gt;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&lt;/section&gt;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8"/>
          <p:cNvSpPr/>
          <p:nvPr/>
        </p:nvSpPr>
        <p:spPr>
          <a:xfrm>
            <a:off x="5810250" y="1362075"/>
            <a:ext cx="2181225" cy="1381125"/>
          </a:xfrm>
          <a:prstGeom prst="roundRect">
            <a:avLst>
              <a:gd fmla="val 529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8"/>
          <p:cNvSpPr/>
          <p:nvPr/>
        </p:nvSpPr>
        <p:spPr>
          <a:xfrm>
            <a:off x="5991225" y="1485900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/schedule/day-1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8"/>
          <p:cNvSpPr/>
          <p:nvPr/>
        </p:nvSpPr>
        <p:spPr>
          <a:xfrm>
            <a:off x="5953125" y="1743075"/>
            <a:ext cx="1885950" cy="381000"/>
          </a:xfrm>
          <a:prstGeom prst="roundRect">
            <a:avLst>
              <a:gd fmla="val 1920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8"/>
          <p:cNvSpPr/>
          <p:nvPr/>
        </p:nvSpPr>
        <p:spPr>
          <a:xfrm>
            <a:off x="6048375" y="1828800"/>
            <a:ext cx="1695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Schedule     Day 1   Day 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8"/>
          <p:cNvSpPr/>
          <p:nvPr/>
        </p:nvSpPr>
        <p:spPr>
          <a:xfrm>
            <a:off x="5953125" y="2200275"/>
            <a:ext cx="1885950" cy="409575"/>
          </a:xfrm>
          <a:prstGeom prst="roundRect">
            <a:avLst>
              <a:gd fmla="val 17860" name="adj"/>
            </a:avLst>
          </a:prstGeom>
          <a:solidFill>
            <a:srgbClr val="DCFCE7"/>
          </a:solidFill>
          <a:ln cap="flat" cmpd="sng" w="13950">
            <a:solidFill>
              <a:srgbClr val="B8E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8"/>
          <p:cNvSpPr/>
          <p:nvPr/>
        </p:nvSpPr>
        <p:spPr>
          <a:xfrm>
            <a:off x="6076950" y="2238375"/>
            <a:ext cx="1638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09:00 Opening keynote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8"/>
          <p:cNvSpPr/>
          <p:nvPr/>
        </p:nvSpPr>
        <p:spPr>
          <a:xfrm>
            <a:off x="5810250" y="2933700"/>
            <a:ext cx="2181225" cy="1381125"/>
          </a:xfrm>
          <a:prstGeom prst="roundRect">
            <a:avLst>
              <a:gd fmla="val 529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8"/>
          <p:cNvSpPr/>
          <p:nvPr/>
        </p:nvSpPr>
        <p:spPr>
          <a:xfrm>
            <a:off x="5991225" y="3057525"/>
            <a:ext cx="1828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/schedule/day-2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5953125" y="3314700"/>
            <a:ext cx="1885950" cy="381000"/>
          </a:xfrm>
          <a:prstGeom prst="roundRect">
            <a:avLst>
              <a:gd fmla="val 1920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8"/>
          <p:cNvSpPr/>
          <p:nvPr/>
        </p:nvSpPr>
        <p:spPr>
          <a:xfrm>
            <a:off x="6048375" y="3400425"/>
            <a:ext cx="1695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Schedule     Day 1   Day 2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5953125" y="3771900"/>
            <a:ext cx="1885950" cy="409575"/>
          </a:xfrm>
          <a:prstGeom prst="roundRect">
            <a:avLst>
              <a:gd fmla="val 17860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8"/>
          <p:cNvSpPr/>
          <p:nvPr/>
        </p:nvSpPr>
        <p:spPr>
          <a:xfrm>
            <a:off x="6076950" y="3810000"/>
            <a:ext cx="1638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10:00 State without confusion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8"/>
          <p:cNvSpPr/>
          <p:nvPr/>
        </p:nvSpPr>
        <p:spPr>
          <a:xfrm>
            <a:off x="2114550" y="4524375"/>
            <a:ext cx="4257675" cy="295275"/>
          </a:xfrm>
          <a:prstGeom prst="roundRect">
            <a:avLst>
              <a:gd fmla="val 24774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8"/>
          <p:cNvSpPr/>
          <p:nvPr/>
        </p:nvSpPr>
        <p:spPr>
          <a:xfrm>
            <a:off x="2238375" y="4572000"/>
            <a:ext cx="4010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Parent stays. Child changes at &lt;Outlet /&gt;.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829" name="Google Shape;82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4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Checkpoint: Trace the nested route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9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NESTED ROUTES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9"/>
          <p:cNvSpPr/>
          <p:nvPr/>
        </p:nvSpPr>
        <p:spPr>
          <a:xfrm>
            <a:off x="657225" y="1123950"/>
            <a:ext cx="4095750" cy="1028700"/>
          </a:xfrm>
          <a:prstGeom prst="roundRect">
            <a:avLst>
              <a:gd fmla="val 7111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9"/>
          <p:cNvSpPr/>
          <p:nvPr/>
        </p:nvSpPr>
        <p:spPr>
          <a:xfrm>
            <a:off x="847725" y="1276350"/>
            <a:ext cx="3714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path="/schedule" element={&lt;Schedule /&gt;}&gt;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path="day-1"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element={&lt;DayOneSchedule /&gt;}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&lt;/Route&gt;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9"/>
          <p:cNvSpPr/>
          <p:nvPr/>
        </p:nvSpPr>
        <p:spPr>
          <a:xfrm>
            <a:off x="5381625" y="1238250"/>
            <a:ext cx="2571750" cy="552450"/>
          </a:xfrm>
          <a:prstGeom prst="roundRect">
            <a:avLst>
              <a:gd fmla="val 13241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9"/>
          <p:cNvSpPr/>
          <p:nvPr/>
        </p:nvSpPr>
        <p:spPr>
          <a:xfrm>
            <a:off x="5527929" y="1347978"/>
            <a:ext cx="2279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PATH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9"/>
          <p:cNvSpPr/>
          <p:nvPr/>
        </p:nvSpPr>
        <p:spPr>
          <a:xfrm>
            <a:off x="5527929" y="1549146"/>
            <a:ext cx="2279142" cy="131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/schedule/day-1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9"/>
          <p:cNvSpPr/>
          <p:nvPr/>
        </p:nvSpPr>
        <p:spPr>
          <a:xfrm>
            <a:off x="1114425" y="2457450"/>
            <a:ext cx="6858000" cy="1885950"/>
          </a:xfrm>
          <a:prstGeom prst="roundRect">
            <a:avLst>
              <a:gd fmla="val 3879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49"/>
          <p:cNvSpPr/>
          <p:nvPr/>
        </p:nvSpPr>
        <p:spPr>
          <a:xfrm>
            <a:off x="1428750" y="2647950"/>
            <a:ext cx="2000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Parent path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9"/>
          <p:cNvSpPr/>
          <p:nvPr/>
        </p:nvSpPr>
        <p:spPr>
          <a:xfrm>
            <a:off x="3752850" y="2647950"/>
            <a:ext cx="3333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/schedule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9"/>
          <p:cNvSpPr/>
          <p:nvPr/>
        </p:nvSpPr>
        <p:spPr>
          <a:xfrm>
            <a:off x="1428750" y="2905125"/>
            <a:ext cx="2000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Child path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3752850" y="2905125"/>
            <a:ext cx="3333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day-1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9"/>
          <p:cNvSpPr/>
          <p:nvPr/>
        </p:nvSpPr>
        <p:spPr>
          <a:xfrm>
            <a:off x="1428750" y="3162300"/>
            <a:ext cx="2000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Complete path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9"/>
          <p:cNvSpPr/>
          <p:nvPr/>
        </p:nvSpPr>
        <p:spPr>
          <a:xfrm>
            <a:off x="3752850" y="3162300"/>
            <a:ext cx="3333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/schedule/day-1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1428750" y="3419475"/>
            <a:ext cx="2000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Parent element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9"/>
          <p:cNvSpPr/>
          <p:nvPr/>
        </p:nvSpPr>
        <p:spPr>
          <a:xfrm>
            <a:off x="3752850" y="3419475"/>
            <a:ext cx="3333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&lt;Schedule 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1428750" y="3676650"/>
            <a:ext cx="2000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Child element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3752850" y="3676650"/>
            <a:ext cx="3333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&lt;DayOneSchedule 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1428750" y="3933825"/>
            <a:ext cx="2000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Child position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3752850" y="3933825"/>
            <a:ext cx="3333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ourier New"/>
              <a:buNone/>
            </a:pPr>
            <a:r>
              <a:rPr b="1" i="0" lang="en" sz="85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&lt;Outlet /&gt;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855" name="Google Shape;8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0"/>
          <p:cNvSpPr/>
          <p:nvPr/>
        </p:nvSpPr>
        <p:spPr>
          <a:xfrm>
            <a:off x="552450" y="2047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Apply the routing pattern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50"/>
          <p:cNvSpPr/>
          <p:nvPr/>
        </p:nvSpPr>
        <p:spPr>
          <a:xfrm>
            <a:off x="552450" y="2657475"/>
            <a:ext cx="1238250" cy="38100"/>
          </a:xfrm>
          <a:prstGeom prst="rect">
            <a:avLst/>
          </a:prstGeom>
          <a:solidFill>
            <a:srgbClr val="24429A"/>
          </a:solidFill>
          <a:ln cap="flat" cmpd="sng" w="12700">
            <a:solidFill>
              <a:srgbClr val="24429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863" name="Google Shape;8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1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Meet Museum Guide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1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1"/>
          <p:cNvSpPr/>
          <p:nvPr/>
        </p:nvSpPr>
        <p:spPr>
          <a:xfrm>
            <a:off x="657225" y="990600"/>
            <a:ext cx="7239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starter project already contains the components and basic UI. Your job is to connect them with routing.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1"/>
          <p:cNvSpPr/>
          <p:nvPr/>
        </p:nvSpPr>
        <p:spPr>
          <a:xfrm>
            <a:off x="657225" y="1409700"/>
            <a:ext cx="2266950" cy="230505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1"/>
          <p:cNvSpPr/>
          <p:nvPr/>
        </p:nvSpPr>
        <p:spPr>
          <a:xfrm>
            <a:off x="803529" y="1537716"/>
            <a:ext cx="197434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1"/>
          <p:cNvSpPr/>
          <p:nvPr/>
        </p:nvSpPr>
        <p:spPr>
          <a:xfrm>
            <a:off x="803529" y="1793748"/>
            <a:ext cx="1974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1"/>
          <p:cNvSpPr/>
          <p:nvPr/>
        </p:nvSpPr>
        <p:spPr>
          <a:xfrm>
            <a:off x="803529" y="2122932"/>
            <a:ext cx="197434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Museum introduction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1"/>
          <p:cNvSpPr/>
          <p:nvPr/>
        </p:nvSpPr>
        <p:spPr>
          <a:xfrm>
            <a:off x="803529" y="2452116"/>
            <a:ext cx="1974342" cy="1098042"/>
          </a:xfrm>
          <a:prstGeom prst="roundRect">
            <a:avLst>
              <a:gd fmla="val 6662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1"/>
          <p:cNvSpPr/>
          <p:nvPr/>
        </p:nvSpPr>
        <p:spPr>
          <a:xfrm>
            <a:off x="940689" y="2580132"/>
            <a:ext cx="1700022" cy="887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Explore the museum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and plan your visit.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1"/>
          <p:cNvSpPr/>
          <p:nvPr/>
        </p:nvSpPr>
        <p:spPr>
          <a:xfrm>
            <a:off x="3190875" y="1409700"/>
            <a:ext cx="2266950" cy="230505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51"/>
          <p:cNvSpPr/>
          <p:nvPr/>
        </p:nvSpPr>
        <p:spPr>
          <a:xfrm>
            <a:off x="3337179" y="1537716"/>
            <a:ext cx="197434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EXHIBITS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1"/>
          <p:cNvSpPr/>
          <p:nvPr/>
        </p:nvSpPr>
        <p:spPr>
          <a:xfrm>
            <a:off x="3337179" y="1793748"/>
            <a:ext cx="1974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Exhibits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1"/>
          <p:cNvSpPr/>
          <p:nvPr/>
        </p:nvSpPr>
        <p:spPr>
          <a:xfrm>
            <a:off x="3337179" y="2122932"/>
            <a:ext cx="197434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Available exhibits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1"/>
          <p:cNvSpPr/>
          <p:nvPr/>
        </p:nvSpPr>
        <p:spPr>
          <a:xfrm>
            <a:off x="3337179" y="2452116"/>
            <a:ext cx="1974342" cy="1098042"/>
          </a:xfrm>
          <a:prstGeom prst="roundRect">
            <a:avLst>
              <a:gd fmla="val 6662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1"/>
          <p:cNvSpPr/>
          <p:nvPr/>
        </p:nvSpPr>
        <p:spPr>
          <a:xfrm>
            <a:off x="3474339" y="2580132"/>
            <a:ext cx="1700022" cy="887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E-101 Ancient Worlds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E-205 Modern Design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E-310 Space Exploration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51"/>
          <p:cNvSpPr/>
          <p:nvPr/>
        </p:nvSpPr>
        <p:spPr>
          <a:xfrm>
            <a:off x="5724525" y="1409700"/>
            <a:ext cx="2266950" cy="230505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1"/>
          <p:cNvSpPr/>
          <p:nvPr/>
        </p:nvSpPr>
        <p:spPr>
          <a:xfrm>
            <a:off x="5870829" y="1537716"/>
            <a:ext cx="197434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VISIT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1"/>
          <p:cNvSpPr/>
          <p:nvPr/>
        </p:nvSpPr>
        <p:spPr>
          <a:xfrm>
            <a:off x="5870829" y="1793748"/>
            <a:ext cx="1974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51"/>
          <p:cNvSpPr/>
          <p:nvPr/>
        </p:nvSpPr>
        <p:spPr>
          <a:xfrm>
            <a:off x="5870829" y="2122932"/>
            <a:ext cx="197434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Visitor information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1"/>
          <p:cNvSpPr/>
          <p:nvPr/>
        </p:nvSpPr>
        <p:spPr>
          <a:xfrm>
            <a:off x="5870829" y="2452116"/>
            <a:ext cx="1974342" cy="1098042"/>
          </a:xfrm>
          <a:prstGeom prst="roundRect">
            <a:avLst>
              <a:gd fmla="val 6662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1"/>
          <p:cNvSpPr/>
          <p:nvPr/>
        </p:nvSpPr>
        <p:spPr>
          <a:xfrm>
            <a:off x="6007989" y="2580132"/>
            <a:ext cx="1700022" cy="887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Opening Hours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Directions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51"/>
          <p:cNvSpPr/>
          <p:nvPr/>
        </p:nvSpPr>
        <p:spPr>
          <a:xfrm>
            <a:off x="1619250" y="4000500"/>
            <a:ext cx="5905500" cy="361950"/>
          </a:xfrm>
          <a:prstGeom prst="roundRect">
            <a:avLst>
              <a:gd fmla="val 20211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1"/>
          <p:cNvSpPr/>
          <p:nvPr/>
        </p:nvSpPr>
        <p:spPr>
          <a:xfrm>
            <a:off x="1809750" y="4086225"/>
            <a:ext cx="552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Exhibits have detail destinations. Visit has shared parent UI and changing child content.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892" name="Google Shape;8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2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Your routing challenge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2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2"/>
          <p:cNvSpPr/>
          <p:nvPr/>
        </p:nvSpPr>
        <p:spPr>
          <a:xfrm>
            <a:off x="657225" y="1266825"/>
            <a:ext cx="3362325" cy="3181350"/>
          </a:xfrm>
          <a:prstGeom prst="roundRect">
            <a:avLst>
              <a:gd fmla="val 2299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2"/>
          <p:cNvSpPr/>
          <p:nvPr/>
        </p:nvSpPr>
        <p:spPr>
          <a:xfrm>
            <a:off x="866775" y="1438275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MUSEUM GUIDE ROUTE MAP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52"/>
          <p:cNvSpPr/>
          <p:nvPr/>
        </p:nvSpPr>
        <p:spPr>
          <a:xfrm>
            <a:off x="866775" y="1733550"/>
            <a:ext cx="2943225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2"/>
          <p:cNvSpPr/>
          <p:nvPr/>
        </p:nvSpPr>
        <p:spPr>
          <a:xfrm>
            <a:off x="981075" y="1797558"/>
            <a:ext cx="150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70"/>
              <a:buFont typeface="Courier New"/>
              <a:buNone/>
            </a:pPr>
            <a:r>
              <a:rPr b="1" i="0" lang="en" sz="87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2"/>
          <p:cNvSpPr/>
          <p:nvPr/>
        </p:nvSpPr>
        <p:spPr>
          <a:xfrm>
            <a:off x="2533650" y="1797558"/>
            <a:ext cx="114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2"/>
          <p:cNvSpPr/>
          <p:nvPr/>
        </p:nvSpPr>
        <p:spPr>
          <a:xfrm>
            <a:off x="866775" y="2200275"/>
            <a:ext cx="2943225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2"/>
          <p:cNvSpPr/>
          <p:nvPr/>
        </p:nvSpPr>
        <p:spPr>
          <a:xfrm>
            <a:off x="981075" y="2264283"/>
            <a:ext cx="150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70"/>
              <a:buFont typeface="Courier New"/>
              <a:buNone/>
            </a:pPr>
            <a:r>
              <a:rPr b="1" i="0" lang="en" sz="87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/exhibits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2"/>
          <p:cNvSpPr/>
          <p:nvPr/>
        </p:nvSpPr>
        <p:spPr>
          <a:xfrm>
            <a:off x="2533650" y="2264283"/>
            <a:ext cx="114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Exhibits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2"/>
          <p:cNvSpPr/>
          <p:nvPr/>
        </p:nvSpPr>
        <p:spPr>
          <a:xfrm>
            <a:off x="866775" y="2667000"/>
            <a:ext cx="2943225" cy="361950"/>
          </a:xfrm>
          <a:prstGeom prst="roundRect">
            <a:avLst>
              <a:gd fmla="val 20211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2"/>
          <p:cNvSpPr/>
          <p:nvPr/>
        </p:nvSpPr>
        <p:spPr>
          <a:xfrm>
            <a:off x="981075" y="2731008"/>
            <a:ext cx="150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70"/>
              <a:buFont typeface="Courier New"/>
              <a:buNone/>
            </a:pPr>
            <a:r>
              <a:rPr b="1" i="0" lang="en" sz="870" u="none" cap="none" strike="noStrike">
                <a:solidFill>
                  <a:srgbClr val="8A4B08"/>
                </a:solidFill>
                <a:latin typeface="Courier New"/>
                <a:ea typeface="Courier New"/>
                <a:cs typeface="Courier New"/>
                <a:sym typeface="Courier New"/>
              </a:rPr>
              <a:t>/exhibits/:exhibitId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2"/>
          <p:cNvSpPr/>
          <p:nvPr/>
        </p:nvSpPr>
        <p:spPr>
          <a:xfrm>
            <a:off x="2533650" y="2731008"/>
            <a:ext cx="114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ExhibitDetails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2"/>
          <p:cNvSpPr/>
          <p:nvPr/>
        </p:nvSpPr>
        <p:spPr>
          <a:xfrm>
            <a:off x="866775" y="3133725"/>
            <a:ext cx="2943225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52"/>
          <p:cNvSpPr/>
          <p:nvPr/>
        </p:nvSpPr>
        <p:spPr>
          <a:xfrm>
            <a:off x="981075" y="3197733"/>
            <a:ext cx="150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70"/>
              <a:buFont typeface="Courier New"/>
              <a:buNone/>
            </a:pPr>
            <a:r>
              <a:rPr b="1" i="0" lang="en" sz="87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/visit/hours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2"/>
          <p:cNvSpPr/>
          <p:nvPr/>
        </p:nvSpPr>
        <p:spPr>
          <a:xfrm>
            <a:off x="2533650" y="3197733"/>
            <a:ext cx="114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Visit + Opening Hours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2"/>
          <p:cNvSpPr/>
          <p:nvPr/>
        </p:nvSpPr>
        <p:spPr>
          <a:xfrm>
            <a:off x="866775" y="3600450"/>
            <a:ext cx="2943225" cy="361950"/>
          </a:xfrm>
          <a:prstGeom prst="roundRect">
            <a:avLst>
              <a:gd fmla="val 2021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2"/>
          <p:cNvSpPr/>
          <p:nvPr/>
        </p:nvSpPr>
        <p:spPr>
          <a:xfrm>
            <a:off x="981075" y="3664458"/>
            <a:ext cx="1504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70"/>
              <a:buFont typeface="Courier New"/>
              <a:buNone/>
            </a:pPr>
            <a:r>
              <a:rPr b="1" i="0" lang="en" sz="87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/visit/directions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2"/>
          <p:cNvSpPr/>
          <p:nvPr/>
        </p:nvSpPr>
        <p:spPr>
          <a:xfrm>
            <a:off x="2533650" y="3664458"/>
            <a:ext cx="1143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Visit + Directions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2"/>
          <p:cNvSpPr/>
          <p:nvPr/>
        </p:nvSpPr>
        <p:spPr>
          <a:xfrm>
            <a:off x="4457700" y="1323975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FOUR ROUTING BEHAVIORS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2"/>
          <p:cNvSpPr/>
          <p:nvPr/>
        </p:nvSpPr>
        <p:spPr>
          <a:xfrm>
            <a:off x="4514850" y="167563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2"/>
          <p:cNvSpPr/>
          <p:nvPr/>
        </p:nvSpPr>
        <p:spPr>
          <a:xfrm>
            <a:off x="4914900" y="1657350"/>
            <a:ext cx="3076575" cy="552450"/>
          </a:xfrm>
          <a:prstGeom prst="roundRect">
            <a:avLst>
              <a:gd fmla="val 1324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2"/>
          <p:cNvSpPr/>
          <p:nvPr/>
        </p:nvSpPr>
        <p:spPr>
          <a:xfrm>
            <a:off x="5048250" y="1730502"/>
            <a:ext cx="2762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Main routing + Link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2"/>
          <p:cNvSpPr/>
          <p:nvPr/>
        </p:nvSpPr>
        <p:spPr>
          <a:xfrm>
            <a:off x="5048250" y="1904238"/>
            <a:ext cx="2762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Set up BrowserRouter, define static routes, and use Link for visible destinations.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2"/>
          <p:cNvSpPr/>
          <p:nvPr/>
        </p:nvSpPr>
        <p:spPr>
          <a:xfrm>
            <a:off x="4514850" y="236143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2"/>
          <p:cNvSpPr/>
          <p:nvPr/>
        </p:nvSpPr>
        <p:spPr>
          <a:xfrm>
            <a:off x="4914900" y="2343150"/>
            <a:ext cx="3076575" cy="552450"/>
          </a:xfrm>
          <a:prstGeom prst="roundRect">
            <a:avLst>
              <a:gd fmla="val 1324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2"/>
          <p:cNvSpPr/>
          <p:nvPr/>
        </p:nvSpPr>
        <p:spPr>
          <a:xfrm>
            <a:off x="5048250" y="2416302"/>
            <a:ext cx="2762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exhibit route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2"/>
          <p:cNvSpPr/>
          <p:nvPr/>
        </p:nvSpPr>
        <p:spPr>
          <a:xfrm>
            <a:off x="5048250" y="2590038"/>
            <a:ext cx="2762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/exhibits/:exhibitId and read exhibitId with useParams.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2"/>
          <p:cNvSpPr/>
          <p:nvPr/>
        </p:nvSpPr>
        <p:spPr>
          <a:xfrm>
            <a:off x="4514850" y="304723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2"/>
          <p:cNvSpPr/>
          <p:nvPr/>
        </p:nvSpPr>
        <p:spPr>
          <a:xfrm>
            <a:off x="4914900" y="3028950"/>
            <a:ext cx="3076575" cy="552450"/>
          </a:xfrm>
          <a:prstGeom prst="roundRect">
            <a:avLst>
              <a:gd fmla="val 1324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2"/>
          <p:cNvSpPr/>
          <p:nvPr/>
        </p:nvSpPr>
        <p:spPr>
          <a:xfrm>
            <a:off x="5048250" y="3102102"/>
            <a:ext cx="2762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Nested Visit routes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2"/>
          <p:cNvSpPr/>
          <p:nvPr/>
        </p:nvSpPr>
        <p:spPr>
          <a:xfrm>
            <a:off x="5048250" y="3275838"/>
            <a:ext cx="2762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Make Visit the parent and render Hours or Directions through &lt;Outlet /&gt;.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2"/>
          <p:cNvSpPr/>
          <p:nvPr/>
        </p:nvSpPr>
        <p:spPr>
          <a:xfrm>
            <a:off x="4514850" y="373303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2"/>
          <p:cNvSpPr/>
          <p:nvPr/>
        </p:nvSpPr>
        <p:spPr>
          <a:xfrm>
            <a:off x="4914900" y="3714750"/>
            <a:ext cx="3076575" cy="552450"/>
          </a:xfrm>
          <a:prstGeom prst="roundRect">
            <a:avLst>
              <a:gd fmla="val 13241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2"/>
          <p:cNvSpPr/>
          <p:nvPr/>
        </p:nvSpPr>
        <p:spPr>
          <a:xfrm>
            <a:off x="5048250" y="3787902"/>
            <a:ext cx="2762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Open exhibit form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2"/>
          <p:cNvSpPr/>
          <p:nvPr/>
        </p:nvSpPr>
        <p:spPr>
          <a:xfrm>
            <a:off x="5048250" y="3961638"/>
            <a:ext cx="2762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useNavigate so submitting E-310 opens /exhibits/E-310.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2"/>
          <p:cNvSpPr/>
          <p:nvPr/>
        </p:nvSpPr>
        <p:spPr>
          <a:xfrm>
            <a:off x="4457700" y="4295775"/>
            <a:ext cx="3276600" cy="285750"/>
          </a:xfrm>
          <a:prstGeom prst="roundRect">
            <a:avLst>
              <a:gd fmla="val 2560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2"/>
          <p:cNvSpPr/>
          <p:nvPr/>
        </p:nvSpPr>
        <p:spPr>
          <a:xfrm>
            <a:off x="4572000" y="4343400"/>
            <a:ext cx="3048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Already provided: components • styling • exhibit data • form state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936" name="Google Shape;93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53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Activity completion check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3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3"/>
          <p:cNvSpPr/>
          <p:nvPr/>
        </p:nvSpPr>
        <p:spPr>
          <a:xfrm>
            <a:off x="857250" y="11239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VERIFY THE APPLICATION IN THE BROWSER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3"/>
          <p:cNvSpPr/>
          <p:nvPr/>
        </p:nvSpPr>
        <p:spPr>
          <a:xfrm>
            <a:off x="838200" y="1381125"/>
            <a:ext cx="7467600" cy="2590800"/>
          </a:xfrm>
          <a:prstGeom prst="roundRect">
            <a:avLst>
              <a:gd fmla="val 2824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3"/>
          <p:cNvSpPr/>
          <p:nvPr/>
        </p:nvSpPr>
        <p:spPr>
          <a:xfrm>
            <a:off x="895350" y="1486662"/>
            <a:ext cx="7353300" cy="2952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3"/>
          <p:cNvSpPr/>
          <p:nvPr/>
        </p:nvSpPr>
        <p:spPr>
          <a:xfrm>
            <a:off x="1047750" y="1559814"/>
            <a:ext cx="219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/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3"/>
          <p:cNvSpPr/>
          <p:nvPr/>
        </p:nvSpPr>
        <p:spPr>
          <a:xfrm>
            <a:off x="3476625" y="1559814"/>
            <a:ext cx="447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Home renders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3"/>
          <p:cNvSpPr/>
          <p:nvPr/>
        </p:nvSpPr>
        <p:spPr>
          <a:xfrm>
            <a:off x="1047750" y="1931289"/>
            <a:ext cx="219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Select Exhibits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3"/>
          <p:cNvSpPr/>
          <p:nvPr/>
        </p:nvSpPr>
        <p:spPr>
          <a:xfrm>
            <a:off x="3476625" y="1931289"/>
            <a:ext cx="447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Courier New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Path becomes /exhibits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3"/>
          <p:cNvSpPr/>
          <p:nvPr/>
        </p:nvSpPr>
        <p:spPr>
          <a:xfrm>
            <a:off x="895350" y="2229612"/>
            <a:ext cx="7353300" cy="2952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3"/>
          <p:cNvSpPr/>
          <p:nvPr/>
        </p:nvSpPr>
        <p:spPr>
          <a:xfrm>
            <a:off x="1047750" y="2302764"/>
            <a:ext cx="219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Modern Design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3"/>
          <p:cNvSpPr/>
          <p:nvPr/>
        </p:nvSpPr>
        <p:spPr>
          <a:xfrm>
            <a:off x="3476625" y="2302764"/>
            <a:ext cx="447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Courier New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Path becomes /exhibits/E-205; detail shows E-205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53"/>
          <p:cNvSpPr/>
          <p:nvPr/>
        </p:nvSpPr>
        <p:spPr>
          <a:xfrm>
            <a:off x="1047750" y="2674239"/>
            <a:ext cx="219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/visit/hours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3"/>
          <p:cNvSpPr/>
          <p:nvPr/>
        </p:nvSpPr>
        <p:spPr>
          <a:xfrm>
            <a:off x="3476625" y="2674239"/>
            <a:ext cx="447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Visit stays visible; Opening Hours renders inside it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53"/>
          <p:cNvSpPr/>
          <p:nvPr/>
        </p:nvSpPr>
        <p:spPr>
          <a:xfrm>
            <a:off x="895350" y="2972562"/>
            <a:ext cx="7353300" cy="2952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3"/>
          <p:cNvSpPr/>
          <p:nvPr/>
        </p:nvSpPr>
        <p:spPr>
          <a:xfrm>
            <a:off x="1047750" y="3045714"/>
            <a:ext cx="219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Switch to Directions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3"/>
          <p:cNvSpPr/>
          <p:nvPr/>
        </p:nvSpPr>
        <p:spPr>
          <a:xfrm>
            <a:off x="3476625" y="3045714"/>
            <a:ext cx="447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Parent stays; child content changes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3"/>
          <p:cNvSpPr/>
          <p:nvPr/>
        </p:nvSpPr>
        <p:spPr>
          <a:xfrm>
            <a:off x="1047750" y="3417189"/>
            <a:ext cx="219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Submit E-310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3"/>
          <p:cNvSpPr/>
          <p:nvPr/>
        </p:nvSpPr>
        <p:spPr>
          <a:xfrm>
            <a:off x="3476625" y="3417189"/>
            <a:ext cx="4476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39"/>
              <a:buFont typeface="Courier New"/>
              <a:buNone/>
            </a:pPr>
            <a:r>
              <a:rPr b="1" i="0" lang="en" sz="84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Path becomes /exhibits/E-310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3"/>
          <p:cNvSpPr/>
          <p:nvPr/>
        </p:nvSpPr>
        <p:spPr>
          <a:xfrm>
            <a:off x="1714500" y="4248150"/>
            <a:ext cx="5715000" cy="342900"/>
          </a:xfrm>
          <a:prstGeom prst="roundRect">
            <a:avLst>
              <a:gd fmla="val 21333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3"/>
          <p:cNvSpPr/>
          <p:nvPr/>
        </p:nvSpPr>
        <p:spPr>
          <a:xfrm>
            <a:off x="1905000" y="432435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If all six behaviors work, the routing requirements are complete.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963" name="Google Shape;96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54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Cool-down: Which route renders?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4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4"/>
          <p:cNvSpPr/>
          <p:nvPr/>
        </p:nvSpPr>
        <p:spPr>
          <a:xfrm>
            <a:off x="657225" y="1352550"/>
            <a:ext cx="4238625" cy="1524000"/>
          </a:xfrm>
          <a:prstGeom prst="roundRect">
            <a:avLst>
              <a:gd fmla="val 4800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54"/>
          <p:cNvSpPr/>
          <p:nvPr/>
        </p:nvSpPr>
        <p:spPr>
          <a:xfrm>
            <a:off x="847725" y="1504950"/>
            <a:ext cx="3857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&lt;Routes&gt;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 path="/" element={&lt;Home /&gt;}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 path="/speakers" element={&lt;Speakers /&gt;}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 path="/venue" element={&lt;Venue /&gt;} /&gt;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&lt;/Routes&gt;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4"/>
          <p:cNvSpPr/>
          <p:nvPr/>
        </p:nvSpPr>
        <p:spPr>
          <a:xfrm>
            <a:off x="5314950" y="1428750"/>
            <a:ext cx="2381250" cy="476250"/>
          </a:xfrm>
          <a:prstGeom prst="roundRect">
            <a:avLst>
              <a:gd fmla="val 15360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4"/>
          <p:cNvSpPr/>
          <p:nvPr/>
        </p:nvSpPr>
        <p:spPr>
          <a:xfrm>
            <a:off x="5461254" y="1538478"/>
            <a:ext cx="20886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PATH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4"/>
          <p:cNvSpPr/>
          <p:nvPr/>
        </p:nvSpPr>
        <p:spPr>
          <a:xfrm>
            <a:off x="5461254" y="1739646"/>
            <a:ext cx="2088642" cy="55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/speakers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4"/>
          <p:cNvSpPr/>
          <p:nvPr/>
        </p:nvSpPr>
        <p:spPr>
          <a:xfrm>
            <a:off x="5314950" y="2114550"/>
            <a:ext cx="2381250" cy="323850"/>
          </a:xfrm>
          <a:prstGeom prst="roundRect">
            <a:avLst>
              <a:gd fmla="val 22588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4"/>
          <p:cNvSpPr/>
          <p:nvPr/>
        </p:nvSpPr>
        <p:spPr>
          <a:xfrm>
            <a:off x="5461254" y="22059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4"/>
          <p:cNvSpPr/>
          <p:nvPr/>
        </p:nvSpPr>
        <p:spPr>
          <a:xfrm>
            <a:off x="5753862" y="2187702"/>
            <a:ext cx="1814322" cy="177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&lt;Home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4"/>
          <p:cNvSpPr/>
          <p:nvPr/>
        </p:nvSpPr>
        <p:spPr>
          <a:xfrm>
            <a:off x="5314950" y="2514600"/>
            <a:ext cx="2381250" cy="323850"/>
          </a:xfrm>
          <a:prstGeom prst="roundRect">
            <a:avLst>
              <a:gd fmla="val 22588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4"/>
          <p:cNvSpPr/>
          <p:nvPr/>
        </p:nvSpPr>
        <p:spPr>
          <a:xfrm>
            <a:off x="5461254" y="26060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4"/>
          <p:cNvSpPr/>
          <p:nvPr/>
        </p:nvSpPr>
        <p:spPr>
          <a:xfrm>
            <a:off x="5753862" y="2587752"/>
            <a:ext cx="1814322" cy="177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&lt;Speakers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4"/>
          <p:cNvSpPr/>
          <p:nvPr/>
        </p:nvSpPr>
        <p:spPr>
          <a:xfrm>
            <a:off x="5314950" y="2914650"/>
            <a:ext cx="2381250" cy="323850"/>
          </a:xfrm>
          <a:prstGeom prst="roundRect">
            <a:avLst>
              <a:gd fmla="val 22588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54"/>
          <p:cNvSpPr/>
          <p:nvPr/>
        </p:nvSpPr>
        <p:spPr>
          <a:xfrm>
            <a:off x="5461254" y="30060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4"/>
          <p:cNvSpPr/>
          <p:nvPr/>
        </p:nvSpPr>
        <p:spPr>
          <a:xfrm>
            <a:off x="5753862" y="2987802"/>
            <a:ext cx="1814322" cy="177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&lt;Venue /&gt;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4"/>
          <p:cNvSpPr/>
          <p:nvPr/>
        </p:nvSpPr>
        <p:spPr>
          <a:xfrm>
            <a:off x="5314950" y="3314700"/>
            <a:ext cx="2381250" cy="323850"/>
          </a:xfrm>
          <a:prstGeom prst="roundRect">
            <a:avLst>
              <a:gd fmla="val 22588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54"/>
          <p:cNvSpPr/>
          <p:nvPr/>
        </p:nvSpPr>
        <p:spPr>
          <a:xfrm>
            <a:off x="5461254" y="34061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4"/>
          <p:cNvSpPr/>
          <p:nvPr/>
        </p:nvSpPr>
        <p:spPr>
          <a:xfrm>
            <a:off x="5753862" y="3387852"/>
            <a:ext cx="1814322" cy="177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All three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4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54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4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 &lt;Speakers /&gt;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4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54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/speakers route matches the current browser path.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993" name="Google Shape;99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55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Cool-down: What does useParams read?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55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5"/>
          <p:cNvSpPr/>
          <p:nvPr/>
        </p:nvSpPr>
        <p:spPr>
          <a:xfrm>
            <a:off x="752475" y="1285875"/>
            <a:ext cx="3571875" cy="1619250"/>
          </a:xfrm>
          <a:prstGeom prst="roundRect">
            <a:avLst>
              <a:gd fmla="val 4518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5"/>
          <p:cNvSpPr/>
          <p:nvPr/>
        </p:nvSpPr>
        <p:spPr>
          <a:xfrm>
            <a:off x="1000125" y="15049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ROUTE PATTERN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55"/>
          <p:cNvSpPr/>
          <p:nvPr/>
        </p:nvSpPr>
        <p:spPr>
          <a:xfrm>
            <a:off x="1000125" y="1762125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/workshops/:workshopId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55"/>
          <p:cNvSpPr/>
          <p:nvPr/>
        </p:nvSpPr>
        <p:spPr>
          <a:xfrm>
            <a:off x="1000125" y="21907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PATH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55"/>
          <p:cNvSpPr/>
          <p:nvPr/>
        </p:nvSpPr>
        <p:spPr>
          <a:xfrm>
            <a:off x="1000125" y="244792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/workshops/W-205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55"/>
          <p:cNvSpPr/>
          <p:nvPr/>
        </p:nvSpPr>
        <p:spPr>
          <a:xfrm>
            <a:off x="752475" y="3105150"/>
            <a:ext cx="3571875" cy="523875"/>
          </a:xfrm>
          <a:prstGeom prst="roundRect">
            <a:avLst>
              <a:gd fmla="val 13964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5"/>
          <p:cNvSpPr/>
          <p:nvPr/>
        </p:nvSpPr>
        <p:spPr>
          <a:xfrm>
            <a:off x="942975" y="3257550"/>
            <a:ext cx="3190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{ workshopId } = useParams();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5"/>
          <p:cNvSpPr/>
          <p:nvPr/>
        </p:nvSpPr>
        <p:spPr>
          <a:xfrm>
            <a:off x="4972050" y="1323975"/>
            <a:ext cx="2809875" cy="352425"/>
          </a:xfrm>
          <a:prstGeom prst="roundRect">
            <a:avLst>
              <a:gd fmla="val 20757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5"/>
          <p:cNvSpPr/>
          <p:nvPr/>
        </p:nvSpPr>
        <p:spPr>
          <a:xfrm>
            <a:off x="5118354" y="141541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55"/>
          <p:cNvSpPr/>
          <p:nvPr/>
        </p:nvSpPr>
        <p:spPr>
          <a:xfrm>
            <a:off x="5410962" y="1397127"/>
            <a:ext cx="2242947" cy="20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":workshopId"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4972050" y="1762125"/>
            <a:ext cx="2809875" cy="352425"/>
          </a:xfrm>
          <a:prstGeom prst="roundRect">
            <a:avLst>
              <a:gd fmla="val 20757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5"/>
          <p:cNvSpPr/>
          <p:nvPr/>
        </p:nvSpPr>
        <p:spPr>
          <a:xfrm>
            <a:off x="5118354" y="185356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55"/>
          <p:cNvSpPr/>
          <p:nvPr/>
        </p:nvSpPr>
        <p:spPr>
          <a:xfrm>
            <a:off x="5410962" y="1835277"/>
            <a:ext cx="2242947" cy="20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"W-205"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5"/>
          <p:cNvSpPr/>
          <p:nvPr/>
        </p:nvSpPr>
        <p:spPr>
          <a:xfrm>
            <a:off x="4972050" y="2200275"/>
            <a:ext cx="2809875" cy="352425"/>
          </a:xfrm>
          <a:prstGeom prst="roundRect">
            <a:avLst>
              <a:gd fmla="val 20757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5"/>
          <p:cNvSpPr/>
          <p:nvPr/>
        </p:nvSpPr>
        <p:spPr>
          <a:xfrm>
            <a:off x="5118354" y="229171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5"/>
          <p:cNvSpPr/>
          <p:nvPr/>
        </p:nvSpPr>
        <p:spPr>
          <a:xfrm>
            <a:off x="5410962" y="2273427"/>
            <a:ext cx="2242947" cy="20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205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5"/>
          <p:cNvSpPr/>
          <p:nvPr/>
        </p:nvSpPr>
        <p:spPr>
          <a:xfrm>
            <a:off x="4972050" y="2638425"/>
            <a:ext cx="2809875" cy="352425"/>
          </a:xfrm>
          <a:prstGeom prst="roundRect">
            <a:avLst>
              <a:gd fmla="val 20757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5"/>
          <p:cNvSpPr/>
          <p:nvPr/>
        </p:nvSpPr>
        <p:spPr>
          <a:xfrm>
            <a:off x="5118354" y="272986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5"/>
          <p:cNvSpPr/>
          <p:nvPr/>
        </p:nvSpPr>
        <p:spPr>
          <a:xfrm>
            <a:off x="5410962" y="2711577"/>
            <a:ext cx="2242947" cy="206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"/workshops/W-205"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5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55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5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 "W-205"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55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55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W-205 is the string captured for the dynamic workshopId segment.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025" name="Google Shape;102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56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Cool-down: Link or useNavigate?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6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6"/>
          <p:cNvSpPr/>
          <p:nvPr/>
        </p:nvSpPr>
        <p:spPr>
          <a:xfrm>
            <a:off x="809625" y="1190625"/>
            <a:ext cx="3333750" cy="952500"/>
          </a:xfrm>
          <a:prstGeom prst="roundRect">
            <a:avLst>
              <a:gd fmla="val 7680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56"/>
          <p:cNvSpPr/>
          <p:nvPr/>
        </p:nvSpPr>
        <p:spPr>
          <a:xfrm>
            <a:off x="955929" y="1300353"/>
            <a:ext cx="3041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REQUIREMENT 1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6"/>
          <p:cNvSpPr/>
          <p:nvPr/>
        </p:nvSpPr>
        <p:spPr>
          <a:xfrm>
            <a:off x="955929" y="1501521"/>
            <a:ext cx="3041142" cy="531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Main navigation opens /profile.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6"/>
          <p:cNvSpPr/>
          <p:nvPr/>
        </p:nvSpPr>
        <p:spPr>
          <a:xfrm>
            <a:off x="5000625" y="1190625"/>
            <a:ext cx="3333750" cy="952500"/>
          </a:xfrm>
          <a:prstGeom prst="roundRect">
            <a:avLst>
              <a:gd fmla="val 7680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56"/>
          <p:cNvSpPr/>
          <p:nvPr/>
        </p:nvSpPr>
        <p:spPr>
          <a:xfrm>
            <a:off x="5146929" y="1300353"/>
            <a:ext cx="304114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REQUIREMENT 2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56"/>
          <p:cNvSpPr/>
          <p:nvPr/>
        </p:nvSpPr>
        <p:spPr>
          <a:xfrm>
            <a:off x="5146929" y="1501521"/>
            <a:ext cx="3041142" cy="531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After registration succeeds, submit logic navigates to /welcome.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56"/>
          <p:cNvSpPr/>
          <p:nvPr/>
        </p:nvSpPr>
        <p:spPr>
          <a:xfrm>
            <a:off x="1571625" y="2409825"/>
            <a:ext cx="6000750" cy="295275"/>
          </a:xfrm>
          <a:prstGeom prst="roundRect">
            <a:avLst>
              <a:gd fmla="val 24774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6"/>
          <p:cNvSpPr/>
          <p:nvPr/>
        </p:nvSpPr>
        <p:spPr>
          <a:xfrm>
            <a:off x="1717929" y="250126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6"/>
          <p:cNvSpPr/>
          <p:nvPr/>
        </p:nvSpPr>
        <p:spPr>
          <a:xfrm>
            <a:off x="2010537" y="2482977"/>
            <a:ext cx="5433822" cy="148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for Profile; useNavigate after registration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6"/>
          <p:cNvSpPr/>
          <p:nvPr/>
        </p:nvSpPr>
        <p:spPr>
          <a:xfrm>
            <a:off x="1571625" y="2762250"/>
            <a:ext cx="6000750" cy="295275"/>
          </a:xfrm>
          <a:prstGeom prst="roundRect">
            <a:avLst>
              <a:gd fmla="val 24774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6"/>
          <p:cNvSpPr/>
          <p:nvPr/>
        </p:nvSpPr>
        <p:spPr>
          <a:xfrm>
            <a:off x="1717929" y="28536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6"/>
          <p:cNvSpPr/>
          <p:nvPr/>
        </p:nvSpPr>
        <p:spPr>
          <a:xfrm>
            <a:off x="2010537" y="2835402"/>
            <a:ext cx="5433822" cy="148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useNavigate for Profile; Link after registration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6"/>
          <p:cNvSpPr/>
          <p:nvPr/>
        </p:nvSpPr>
        <p:spPr>
          <a:xfrm>
            <a:off x="1571625" y="3114675"/>
            <a:ext cx="6000750" cy="295275"/>
          </a:xfrm>
          <a:prstGeom prst="roundRect">
            <a:avLst>
              <a:gd fmla="val 24774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6"/>
          <p:cNvSpPr/>
          <p:nvPr/>
        </p:nvSpPr>
        <p:spPr>
          <a:xfrm>
            <a:off x="1717929" y="320611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6"/>
          <p:cNvSpPr/>
          <p:nvPr/>
        </p:nvSpPr>
        <p:spPr>
          <a:xfrm>
            <a:off x="2010537" y="3187827"/>
            <a:ext cx="5433822" cy="148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Link for both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56"/>
          <p:cNvSpPr/>
          <p:nvPr/>
        </p:nvSpPr>
        <p:spPr>
          <a:xfrm>
            <a:off x="1571625" y="3467100"/>
            <a:ext cx="6000750" cy="295275"/>
          </a:xfrm>
          <a:prstGeom prst="roundRect">
            <a:avLst>
              <a:gd fmla="val 24774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56"/>
          <p:cNvSpPr/>
          <p:nvPr/>
        </p:nvSpPr>
        <p:spPr>
          <a:xfrm>
            <a:off x="1717929" y="35585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6"/>
          <p:cNvSpPr/>
          <p:nvPr/>
        </p:nvSpPr>
        <p:spPr>
          <a:xfrm>
            <a:off x="2010537" y="3540252"/>
            <a:ext cx="5433822" cy="148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useNavigate for both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6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56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6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6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6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Profile is a visible navigation destination. The second navigation is triggered by application logic after an action.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056" name="Google Shape;105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57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Cool-down: Where does the child render?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7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7"/>
          <p:cNvSpPr/>
          <p:nvPr/>
        </p:nvSpPr>
        <p:spPr>
          <a:xfrm>
            <a:off x="657225" y="1219200"/>
            <a:ext cx="4095750" cy="1352550"/>
          </a:xfrm>
          <a:prstGeom prst="roundRect">
            <a:avLst>
              <a:gd fmla="val 5408" name="adj"/>
            </a:avLst>
          </a:prstGeom>
          <a:solidFill>
            <a:srgbClr val="0F172A"/>
          </a:solidFill>
          <a:ln cap="flat" cmpd="sng" w="139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7"/>
          <p:cNvSpPr/>
          <p:nvPr/>
        </p:nvSpPr>
        <p:spPr>
          <a:xfrm>
            <a:off x="847725" y="1371600"/>
            <a:ext cx="3714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&lt;Route path="/settings" element={&lt;Settings /&gt;}&gt;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&lt;Route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path="security"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element={&lt;Security /&gt;}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/&gt;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&lt;/Route&gt;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inside Settings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&lt;Outlet /&gt;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7"/>
          <p:cNvSpPr/>
          <p:nvPr/>
        </p:nvSpPr>
        <p:spPr>
          <a:xfrm>
            <a:off x="657225" y="2809875"/>
            <a:ext cx="4095750" cy="4572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7"/>
          <p:cNvSpPr/>
          <p:nvPr/>
        </p:nvSpPr>
        <p:spPr>
          <a:xfrm>
            <a:off x="876300" y="2962275"/>
            <a:ext cx="1428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CURRENT PATH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57"/>
          <p:cNvSpPr/>
          <p:nvPr/>
        </p:nvSpPr>
        <p:spPr>
          <a:xfrm>
            <a:off x="2428875" y="2962275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39"/>
              <a:buFont typeface="Courier New"/>
              <a:buNone/>
            </a:pPr>
            <a:r>
              <a:rPr b="1" i="0" lang="en" sz="940" u="none" cap="none" strike="noStrike">
                <a:solidFill>
                  <a:srgbClr val="24429A"/>
                </a:solidFill>
                <a:latin typeface="Courier New"/>
                <a:ea typeface="Courier New"/>
                <a:cs typeface="Courier New"/>
                <a:sym typeface="Courier New"/>
              </a:rPr>
              <a:t>/settings/security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57"/>
          <p:cNvSpPr/>
          <p:nvPr/>
        </p:nvSpPr>
        <p:spPr>
          <a:xfrm>
            <a:off x="5219700" y="1238250"/>
            <a:ext cx="2857500" cy="3429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57"/>
          <p:cNvSpPr/>
          <p:nvPr/>
        </p:nvSpPr>
        <p:spPr>
          <a:xfrm>
            <a:off x="5366004" y="132969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57"/>
          <p:cNvSpPr/>
          <p:nvPr/>
        </p:nvSpPr>
        <p:spPr>
          <a:xfrm>
            <a:off x="5658612" y="1311402"/>
            <a:ext cx="229057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Only &lt;Security /&gt; renders.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57"/>
          <p:cNvSpPr/>
          <p:nvPr/>
        </p:nvSpPr>
        <p:spPr>
          <a:xfrm>
            <a:off x="5219700" y="1666875"/>
            <a:ext cx="2857500" cy="3429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57"/>
          <p:cNvSpPr/>
          <p:nvPr/>
        </p:nvSpPr>
        <p:spPr>
          <a:xfrm>
            <a:off x="5366004" y="175831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7"/>
          <p:cNvSpPr/>
          <p:nvPr/>
        </p:nvSpPr>
        <p:spPr>
          <a:xfrm>
            <a:off x="5658612" y="1740027"/>
            <a:ext cx="229057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&lt;Settings /&gt; renders, with &lt;Security /&gt; at its &lt;Outlet /&gt;.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57"/>
          <p:cNvSpPr/>
          <p:nvPr/>
        </p:nvSpPr>
        <p:spPr>
          <a:xfrm>
            <a:off x="5219700" y="2095500"/>
            <a:ext cx="2857500" cy="3429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57"/>
          <p:cNvSpPr/>
          <p:nvPr/>
        </p:nvSpPr>
        <p:spPr>
          <a:xfrm>
            <a:off x="5366004" y="218694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57"/>
          <p:cNvSpPr/>
          <p:nvPr/>
        </p:nvSpPr>
        <p:spPr>
          <a:xfrm>
            <a:off x="5658612" y="2168652"/>
            <a:ext cx="229057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&lt;Settings /&gt; renders without the child.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7"/>
          <p:cNvSpPr/>
          <p:nvPr/>
        </p:nvSpPr>
        <p:spPr>
          <a:xfrm>
            <a:off x="5219700" y="2524125"/>
            <a:ext cx="2857500" cy="342900"/>
          </a:xfrm>
          <a:prstGeom prst="roundRect">
            <a:avLst>
              <a:gd fmla="val 21333" name="adj"/>
            </a:avLst>
          </a:prstGeom>
          <a:solidFill>
            <a:srgbClr val="FFFFFF"/>
          </a:solidFill>
          <a:ln cap="flat" cmpd="sng" w="13950">
            <a:solidFill>
              <a:srgbClr val="C7D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57"/>
          <p:cNvSpPr/>
          <p:nvPr/>
        </p:nvSpPr>
        <p:spPr>
          <a:xfrm>
            <a:off x="5366004" y="2615565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7"/>
          <p:cNvSpPr/>
          <p:nvPr/>
        </p:nvSpPr>
        <p:spPr>
          <a:xfrm>
            <a:off x="5658612" y="2597277"/>
            <a:ext cx="229057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Nothing matches.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57"/>
          <p:cNvSpPr/>
          <p:nvPr/>
        </p:nvSpPr>
        <p:spPr>
          <a:xfrm>
            <a:off x="657225" y="3943350"/>
            <a:ext cx="7496175" cy="600075"/>
          </a:xfrm>
          <a:prstGeom prst="roundRect">
            <a:avLst>
              <a:gd fmla="val 1219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57"/>
          <p:cNvSpPr/>
          <p:nvPr/>
        </p:nvSpPr>
        <p:spPr>
          <a:xfrm>
            <a:off x="840105" y="4071366"/>
            <a:ext cx="6035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Answer: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57"/>
          <p:cNvSpPr/>
          <p:nvPr/>
        </p:nvSpPr>
        <p:spPr>
          <a:xfrm>
            <a:off x="1507617" y="4062222"/>
            <a:ext cx="64720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7"/>
          <p:cNvSpPr/>
          <p:nvPr/>
        </p:nvSpPr>
        <p:spPr>
          <a:xfrm>
            <a:off x="840105" y="4299966"/>
            <a:ext cx="45720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57"/>
          <p:cNvSpPr/>
          <p:nvPr/>
        </p:nvSpPr>
        <p:spPr>
          <a:xfrm>
            <a:off x="1315593" y="4290822"/>
            <a:ext cx="6654927" cy="1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The parent and child routes both match their parts of the path. The child element renders at the parent's Outlet.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086" name="Google Shape;10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58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Homework: Course Library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58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HOMEWORK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8"/>
          <p:cNvSpPr/>
          <p:nvPr/>
        </p:nvSpPr>
        <p:spPr>
          <a:xfrm>
            <a:off x="657225" y="952500"/>
            <a:ext cx="7048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the routing for a small Course Library application. The starter project provides screens, styling, data, and form state.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8"/>
          <p:cNvSpPr/>
          <p:nvPr/>
        </p:nvSpPr>
        <p:spPr>
          <a:xfrm>
            <a:off x="685800" y="1381125"/>
            <a:ext cx="4095750" cy="2238375"/>
          </a:xfrm>
          <a:prstGeom prst="roundRect">
            <a:avLst>
              <a:gd fmla="val 3268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58"/>
          <p:cNvSpPr/>
          <p:nvPr/>
        </p:nvSpPr>
        <p:spPr>
          <a:xfrm>
            <a:off x="895350" y="157162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COURSES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8"/>
          <p:cNvSpPr/>
          <p:nvPr/>
        </p:nvSpPr>
        <p:spPr>
          <a:xfrm>
            <a:off x="952500" y="1933575"/>
            <a:ext cx="342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C-101   JavaScript Foundations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C-205   TypeScript Essentials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C-310   React Patterns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58"/>
          <p:cNvSpPr/>
          <p:nvPr/>
        </p:nvSpPr>
        <p:spPr>
          <a:xfrm>
            <a:off x="1000125" y="2971800"/>
            <a:ext cx="3095625" cy="400050"/>
          </a:xfrm>
          <a:prstGeom prst="roundRect">
            <a:avLst>
              <a:gd fmla="val 18286" name="adj"/>
            </a:avLst>
          </a:prstGeom>
          <a:solidFill>
            <a:srgbClr val="DCFCE7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8"/>
          <p:cNvSpPr/>
          <p:nvPr/>
        </p:nvSpPr>
        <p:spPr>
          <a:xfrm>
            <a:off x="1146429" y="3081528"/>
            <a:ext cx="2803017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DETAIL DESTINATION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8"/>
          <p:cNvSpPr/>
          <p:nvPr/>
        </p:nvSpPr>
        <p:spPr>
          <a:xfrm flipH="1" rot="10800000">
            <a:off x="1146429" y="3262122"/>
            <a:ext cx="2803017" cy="20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70"/>
              <a:buFont typeface="Courier New"/>
              <a:buNone/>
            </a:pPr>
            <a:r>
              <a:rPr b="0" i="0" lang="en" sz="97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/courses/C-205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58"/>
          <p:cNvSpPr/>
          <p:nvPr/>
        </p:nvSpPr>
        <p:spPr>
          <a:xfrm>
            <a:off x="5191125" y="1381125"/>
            <a:ext cx="2905125" cy="1000125"/>
          </a:xfrm>
          <a:prstGeom prst="roundRect">
            <a:avLst>
              <a:gd fmla="val 7314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58"/>
          <p:cNvSpPr/>
          <p:nvPr/>
        </p:nvSpPr>
        <p:spPr>
          <a:xfrm>
            <a:off x="5391150" y="1552575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58"/>
          <p:cNvSpPr/>
          <p:nvPr/>
        </p:nvSpPr>
        <p:spPr>
          <a:xfrm>
            <a:off x="5391150" y="18764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Profile     Preferences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8"/>
          <p:cNvSpPr/>
          <p:nvPr/>
        </p:nvSpPr>
        <p:spPr>
          <a:xfrm>
            <a:off x="5191125" y="2619375"/>
            <a:ext cx="2905125" cy="1000125"/>
          </a:xfrm>
          <a:prstGeom prst="roundRect">
            <a:avLst>
              <a:gd fmla="val 7314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58"/>
          <p:cNvSpPr/>
          <p:nvPr/>
        </p:nvSpPr>
        <p:spPr>
          <a:xfrm>
            <a:off x="5391150" y="2790825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OPEN COURSE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8"/>
          <p:cNvSpPr/>
          <p:nvPr/>
        </p:nvSpPr>
        <p:spPr>
          <a:xfrm>
            <a:off x="5391150" y="3028950"/>
            <a:ext cx="238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Course ID  [  C-205  ]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 Open course ]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8"/>
          <p:cNvSpPr/>
          <p:nvPr/>
        </p:nvSpPr>
        <p:spPr>
          <a:xfrm>
            <a:off x="1809750" y="4048125"/>
            <a:ext cx="5524500" cy="361950"/>
          </a:xfrm>
          <a:prstGeom prst="roundRect">
            <a:avLst>
              <a:gd fmla="val 20211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58"/>
          <p:cNvSpPr/>
          <p:nvPr/>
        </p:nvSpPr>
        <p:spPr>
          <a:xfrm>
            <a:off x="2000250" y="41338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Your job: implement the routing and navigation.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109" name="Google Shape;110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59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Homework requirements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59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HOMEWORK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59"/>
          <p:cNvSpPr/>
          <p:nvPr/>
        </p:nvSpPr>
        <p:spPr>
          <a:xfrm>
            <a:off x="657225" y="124777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59"/>
          <p:cNvSpPr/>
          <p:nvPr/>
        </p:nvSpPr>
        <p:spPr>
          <a:xfrm>
            <a:off x="657225" y="1514475"/>
            <a:ext cx="4705350" cy="552450"/>
          </a:xfrm>
          <a:prstGeom prst="roundRect">
            <a:avLst>
              <a:gd fmla="val 1324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9"/>
          <p:cNvSpPr/>
          <p:nvPr/>
        </p:nvSpPr>
        <p:spPr>
          <a:xfrm>
            <a:off x="790575" y="1624203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59"/>
          <p:cNvSpPr/>
          <p:nvPr/>
        </p:nvSpPr>
        <p:spPr>
          <a:xfrm>
            <a:off x="1181100" y="1596771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Main routes + Link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59"/>
          <p:cNvSpPr/>
          <p:nvPr/>
        </p:nvSpPr>
        <p:spPr>
          <a:xfrm>
            <a:off x="1181100" y="1779651"/>
            <a:ext cx="396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/, /courses, and /courses/:courseId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59"/>
          <p:cNvSpPr/>
          <p:nvPr/>
        </p:nvSpPr>
        <p:spPr>
          <a:xfrm>
            <a:off x="657225" y="2190750"/>
            <a:ext cx="4705350" cy="552450"/>
          </a:xfrm>
          <a:prstGeom prst="roundRect">
            <a:avLst>
              <a:gd fmla="val 1324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59"/>
          <p:cNvSpPr/>
          <p:nvPr/>
        </p:nvSpPr>
        <p:spPr>
          <a:xfrm>
            <a:off x="790575" y="230047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59"/>
          <p:cNvSpPr/>
          <p:nvPr/>
        </p:nvSpPr>
        <p:spPr>
          <a:xfrm>
            <a:off x="1181100" y="2273046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course route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59"/>
          <p:cNvSpPr/>
          <p:nvPr/>
        </p:nvSpPr>
        <p:spPr>
          <a:xfrm>
            <a:off x="1181100" y="2455926"/>
            <a:ext cx="396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 courseId with useParams.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59"/>
          <p:cNvSpPr/>
          <p:nvPr/>
        </p:nvSpPr>
        <p:spPr>
          <a:xfrm>
            <a:off x="657225" y="2867025"/>
            <a:ext cx="4705350" cy="552450"/>
          </a:xfrm>
          <a:prstGeom prst="roundRect">
            <a:avLst>
              <a:gd fmla="val 13241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59"/>
          <p:cNvSpPr/>
          <p:nvPr/>
        </p:nvSpPr>
        <p:spPr>
          <a:xfrm>
            <a:off x="790575" y="2976753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59"/>
          <p:cNvSpPr/>
          <p:nvPr/>
        </p:nvSpPr>
        <p:spPr>
          <a:xfrm>
            <a:off x="1181100" y="2949321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Nested Account routes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59"/>
          <p:cNvSpPr/>
          <p:nvPr/>
        </p:nvSpPr>
        <p:spPr>
          <a:xfrm>
            <a:off x="1181100" y="3132201"/>
            <a:ext cx="396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/account/profile and /account/preferences through &lt;Outlet /&gt;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59"/>
          <p:cNvSpPr/>
          <p:nvPr/>
        </p:nvSpPr>
        <p:spPr>
          <a:xfrm>
            <a:off x="657225" y="3543300"/>
            <a:ext cx="4705350" cy="552450"/>
          </a:xfrm>
          <a:prstGeom prst="roundRect">
            <a:avLst>
              <a:gd fmla="val 13241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59"/>
          <p:cNvSpPr/>
          <p:nvPr/>
        </p:nvSpPr>
        <p:spPr>
          <a:xfrm>
            <a:off x="790575" y="365302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29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429A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59"/>
          <p:cNvSpPr/>
          <p:nvPr/>
        </p:nvSpPr>
        <p:spPr>
          <a:xfrm>
            <a:off x="1181100" y="3625596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Open course form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59"/>
          <p:cNvSpPr/>
          <p:nvPr/>
        </p:nvSpPr>
        <p:spPr>
          <a:xfrm>
            <a:off x="1181100" y="3808476"/>
            <a:ext cx="396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Use useNavigate to open /courses/&lt;entered ID&gt;.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59"/>
          <p:cNvSpPr/>
          <p:nvPr/>
        </p:nvSpPr>
        <p:spPr>
          <a:xfrm>
            <a:off x="5810250" y="1247775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VERIFY / EXPLAIN / SCOPE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9"/>
          <p:cNvSpPr/>
          <p:nvPr/>
        </p:nvSpPr>
        <p:spPr>
          <a:xfrm>
            <a:off x="5810250" y="1514475"/>
            <a:ext cx="2181225" cy="1066800"/>
          </a:xfrm>
          <a:prstGeom prst="roundRect">
            <a:avLst>
              <a:gd fmla="val 6857" name="adj"/>
            </a:avLst>
          </a:prstGeom>
          <a:solidFill>
            <a:srgbClr val="EFF6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59"/>
          <p:cNvSpPr/>
          <p:nvPr/>
        </p:nvSpPr>
        <p:spPr>
          <a:xfrm>
            <a:off x="5962650" y="16573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59"/>
          <p:cNvSpPr/>
          <p:nvPr/>
        </p:nvSpPr>
        <p:spPr>
          <a:xfrm>
            <a:off x="5962650" y="1885950"/>
            <a:ext cx="1876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course links change the path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different IDs use one dynamic route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Account stays while child content changes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Open course navigates to the entered ID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59"/>
          <p:cNvSpPr/>
          <p:nvPr/>
        </p:nvSpPr>
        <p:spPr>
          <a:xfrm>
            <a:off x="5810250" y="2733675"/>
            <a:ext cx="2181225" cy="866775"/>
          </a:xfrm>
          <a:prstGeom prst="roundRect">
            <a:avLst>
              <a:gd fmla="val 8440" name="adj"/>
            </a:avLst>
          </a:prstGeom>
          <a:solidFill>
            <a:srgbClr val="F8FAFC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59"/>
          <p:cNvSpPr/>
          <p:nvPr/>
        </p:nvSpPr>
        <p:spPr>
          <a:xfrm>
            <a:off x="5962650" y="28670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59"/>
          <p:cNvSpPr/>
          <p:nvPr/>
        </p:nvSpPr>
        <p:spPr>
          <a:xfrm>
            <a:off x="5962650" y="3095625"/>
            <a:ext cx="1876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90"/>
              <a:buFont typeface="Arial"/>
              <a:buNone/>
            </a:pPr>
            <a:r>
              <a:rPr b="0" i="0" lang="en" sz="79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Choose one: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90"/>
              <a:buFont typeface="Arial"/>
              <a:buNone/>
            </a:pPr>
            <a:r>
              <a:rPr b="0" i="0" lang="en" sz="79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Why can /courses/:courseId handle many IDs?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90"/>
              <a:buFont typeface="Arial"/>
              <a:buNone/>
            </a:pPr>
            <a:r>
              <a:rPr b="0" i="0" lang="en" sz="79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What job does &lt;Outlet /&gt; perform?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9"/>
          <p:cNvSpPr/>
          <p:nvPr/>
        </p:nvSpPr>
        <p:spPr>
          <a:xfrm>
            <a:off x="5810250" y="3752850"/>
            <a:ext cx="2181225" cy="704850"/>
          </a:xfrm>
          <a:prstGeom prst="roundRect">
            <a:avLst>
              <a:gd fmla="val 10378" name="adj"/>
            </a:avLst>
          </a:prstGeom>
          <a:solidFill>
            <a:srgbClr val="FEE2E2"/>
          </a:solidFill>
          <a:ln cap="flat" cmpd="sng" w="13950">
            <a:solidFill>
              <a:srgbClr val="F8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9"/>
          <p:cNvSpPr/>
          <p:nvPr/>
        </p:nvSpPr>
        <p:spPr>
          <a:xfrm>
            <a:off x="5962650" y="38766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59"/>
          <p:cNvSpPr/>
          <p:nvPr/>
        </p:nvSpPr>
        <p:spPr>
          <a:xfrm>
            <a:off x="5962650" y="4095750"/>
            <a:ext cx="1876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780"/>
              <a:buFont typeface="Arial"/>
              <a:buNone/>
            </a:pPr>
            <a:r>
              <a:rPr b="0" i="0" lang="en" sz="78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Lecture 25 only.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780"/>
              <a:buFont typeface="Arial"/>
              <a:buNone/>
            </a:pPr>
            <a:r>
              <a:rPr b="0" i="0" lang="en" sz="78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No Axios, API requests, query params, or extra routing libraries.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1144" name="Google Shape;114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60"/>
          <p:cNvSpPr/>
          <p:nvPr/>
        </p:nvSpPr>
        <p:spPr>
          <a:xfrm>
            <a:off x="552450" y="228600"/>
            <a:ext cx="6429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Today and next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60"/>
          <p:cNvSpPr/>
          <p:nvPr/>
        </p:nvSpPr>
        <p:spPr>
          <a:xfrm>
            <a:off x="552450" y="685800"/>
            <a:ext cx="2905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HOMEWORK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60"/>
          <p:cNvSpPr/>
          <p:nvPr/>
        </p:nvSpPr>
        <p:spPr>
          <a:xfrm>
            <a:off x="714375" y="1190625"/>
            <a:ext cx="3619500" cy="2809875"/>
          </a:xfrm>
          <a:prstGeom prst="roundRect">
            <a:avLst>
              <a:gd fmla="val 2603" name="adj"/>
            </a:avLst>
          </a:prstGeom>
          <a:solidFill>
            <a:srgbClr val="EFF6FF"/>
          </a:solidFill>
          <a:ln cap="flat" cmpd="sng" w="13950">
            <a:solidFill>
              <a:srgbClr val="C7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0"/>
          <p:cNvSpPr/>
          <p:nvPr/>
        </p:nvSpPr>
        <p:spPr>
          <a:xfrm>
            <a:off x="990600" y="140970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TODAY: ROUTING IN REACT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60"/>
          <p:cNvSpPr/>
          <p:nvPr/>
        </p:nvSpPr>
        <p:spPr>
          <a:xfrm>
            <a:off x="1000125" y="1752600"/>
            <a:ext cx="3028950" cy="238125"/>
          </a:xfrm>
          <a:prstGeom prst="roundRect">
            <a:avLst>
              <a:gd fmla="val 3072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0"/>
          <p:cNvSpPr/>
          <p:nvPr/>
        </p:nvSpPr>
        <p:spPr>
          <a:xfrm>
            <a:off x="1190625" y="1809750"/>
            <a:ext cx="26479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paths + Route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60"/>
          <p:cNvSpPr/>
          <p:nvPr/>
        </p:nvSpPr>
        <p:spPr>
          <a:xfrm>
            <a:off x="1000125" y="2076450"/>
            <a:ext cx="3028950" cy="238125"/>
          </a:xfrm>
          <a:prstGeom prst="roundRect">
            <a:avLst>
              <a:gd fmla="val 3072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60"/>
          <p:cNvSpPr/>
          <p:nvPr/>
        </p:nvSpPr>
        <p:spPr>
          <a:xfrm>
            <a:off x="1190625" y="2133600"/>
            <a:ext cx="26479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visible navigation + Link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60"/>
          <p:cNvSpPr/>
          <p:nvPr/>
        </p:nvSpPr>
        <p:spPr>
          <a:xfrm>
            <a:off x="1000125" y="2400300"/>
            <a:ext cx="3028950" cy="238125"/>
          </a:xfrm>
          <a:prstGeom prst="roundRect">
            <a:avLst>
              <a:gd fmla="val 3072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60"/>
          <p:cNvSpPr/>
          <p:nvPr/>
        </p:nvSpPr>
        <p:spPr>
          <a:xfrm>
            <a:off x="1190625" y="2457450"/>
            <a:ext cx="26479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segments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60"/>
          <p:cNvSpPr/>
          <p:nvPr/>
        </p:nvSpPr>
        <p:spPr>
          <a:xfrm>
            <a:off x="1000125" y="2724150"/>
            <a:ext cx="3028950" cy="238125"/>
          </a:xfrm>
          <a:prstGeom prst="roundRect">
            <a:avLst>
              <a:gd fmla="val 3072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60"/>
          <p:cNvSpPr/>
          <p:nvPr/>
        </p:nvSpPr>
        <p:spPr>
          <a:xfrm>
            <a:off x="1190625" y="2781300"/>
            <a:ext cx="26479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useParams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60"/>
          <p:cNvSpPr/>
          <p:nvPr/>
        </p:nvSpPr>
        <p:spPr>
          <a:xfrm>
            <a:off x="1000125" y="3048000"/>
            <a:ext cx="3028950" cy="238125"/>
          </a:xfrm>
          <a:prstGeom prst="roundRect">
            <a:avLst>
              <a:gd fmla="val 3072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60"/>
          <p:cNvSpPr/>
          <p:nvPr/>
        </p:nvSpPr>
        <p:spPr>
          <a:xfrm>
            <a:off x="1190625" y="3105150"/>
            <a:ext cx="26479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useNavigate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60"/>
          <p:cNvSpPr/>
          <p:nvPr/>
        </p:nvSpPr>
        <p:spPr>
          <a:xfrm>
            <a:off x="1000125" y="3371850"/>
            <a:ext cx="3028950" cy="238125"/>
          </a:xfrm>
          <a:prstGeom prst="roundRect">
            <a:avLst>
              <a:gd fmla="val 30720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60"/>
          <p:cNvSpPr/>
          <p:nvPr/>
        </p:nvSpPr>
        <p:spPr>
          <a:xfrm>
            <a:off x="1190625" y="3429000"/>
            <a:ext cx="26479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nested routes + Outlet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60"/>
          <p:cNvSpPr/>
          <p:nvPr/>
        </p:nvSpPr>
        <p:spPr>
          <a:xfrm>
            <a:off x="4810125" y="1190625"/>
            <a:ext cx="3333750" cy="2809875"/>
          </a:xfrm>
          <a:prstGeom prst="roundRect">
            <a:avLst>
              <a:gd fmla="val 2603" name="adj"/>
            </a:avLst>
          </a:prstGeom>
          <a:solidFill>
            <a:srgbClr val="FEF9C3"/>
          </a:solidFill>
          <a:ln cap="flat" cmpd="sng" w="13950">
            <a:solidFill>
              <a:srgbClr val="F5D1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60"/>
          <p:cNvSpPr/>
          <p:nvPr/>
        </p:nvSpPr>
        <p:spPr>
          <a:xfrm>
            <a:off x="5095875" y="1409700"/>
            <a:ext cx="2762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0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A4B08"/>
                </a:solidFill>
                <a:latin typeface="Arial"/>
                <a:ea typeface="Arial"/>
                <a:cs typeface="Arial"/>
                <a:sym typeface="Arial"/>
              </a:rPr>
              <a:t>NEXT: URL VALUES + HTTP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0"/>
          <p:cNvSpPr/>
          <p:nvPr/>
        </p:nvSpPr>
        <p:spPr>
          <a:xfrm>
            <a:off x="5095875" y="1857375"/>
            <a:ext cx="2762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60"/>
          <p:cNvSpPr/>
          <p:nvPr/>
        </p:nvSpPr>
        <p:spPr>
          <a:xfrm>
            <a:off x="5267325" y="1924050"/>
            <a:ext cx="24193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 and query parameters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60"/>
          <p:cNvSpPr/>
          <p:nvPr/>
        </p:nvSpPr>
        <p:spPr>
          <a:xfrm>
            <a:off x="5095875" y="2295525"/>
            <a:ext cx="2762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60"/>
          <p:cNvSpPr/>
          <p:nvPr/>
        </p:nvSpPr>
        <p:spPr>
          <a:xfrm>
            <a:off x="5267325" y="2362200"/>
            <a:ext cx="24193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useSearchParams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60"/>
          <p:cNvSpPr/>
          <p:nvPr/>
        </p:nvSpPr>
        <p:spPr>
          <a:xfrm>
            <a:off x="5095875" y="2733675"/>
            <a:ext cx="2762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60"/>
          <p:cNvSpPr/>
          <p:nvPr/>
        </p:nvSpPr>
        <p:spPr>
          <a:xfrm>
            <a:off x="5267325" y="2800350"/>
            <a:ext cx="24193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GET, POST, PATCH, DELETE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60"/>
          <p:cNvSpPr/>
          <p:nvPr/>
        </p:nvSpPr>
        <p:spPr>
          <a:xfrm>
            <a:off x="5095875" y="3171825"/>
            <a:ext cx="2762250" cy="276225"/>
          </a:xfrm>
          <a:prstGeom prst="roundRect">
            <a:avLst>
              <a:gd fmla="val 26483" name="adj"/>
            </a:avLst>
          </a:prstGeom>
          <a:solidFill>
            <a:srgbClr val="FFFFFF"/>
          </a:solidFill>
          <a:ln cap="flat" cmpd="sng" w="1395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60"/>
          <p:cNvSpPr/>
          <p:nvPr/>
        </p:nvSpPr>
        <p:spPr>
          <a:xfrm>
            <a:off x="5267325" y="3238500"/>
            <a:ext cx="24193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typed Axios requests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60"/>
          <p:cNvSpPr/>
          <p:nvPr/>
        </p:nvSpPr>
        <p:spPr>
          <a:xfrm>
            <a:off x="1181100" y="4286250"/>
            <a:ext cx="6762750" cy="381000"/>
          </a:xfrm>
          <a:prstGeom prst="roundRect">
            <a:avLst>
              <a:gd fmla="val 19200" name="adj"/>
            </a:avLst>
          </a:prstGeom>
          <a:solidFill>
            <a:srgbClr val="DCFCE7"/>
          </a:solidFill>
          <a:ln cap="flat" cmpd="sng" w="1395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60"/>
          <p:cNvSpPr/>
          <p:nvPr/>
        </p:nvSpPr>
        <p:spPr>
          <a:xfrm>
            <a:off x="1428750" y="4371975"/>
            <a:ext cx="6267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A URL can tell us where the user is. How can its values also help decide what data to request or change?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