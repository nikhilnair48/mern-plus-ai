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a02be95e5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40a02be95e5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40a02be95e5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a02be95e5_3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40a02be95e5_3_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40a02be95e5_3_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a02be95e5_3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40a02be95e5_3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40a02be95e5_3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0a02be95e5_3_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40a02be95e5_3_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40a02be95e5_3_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a02be95e5_3_1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40a02be95e5_3_1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40a02be95e5_3_1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0a02be95e5_3_1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40a02be95e5_3_1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40a02be95e5_3_1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40a02be95e5_3_1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40a02be95e5_3_1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40a02be95e5_3_1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0a02be95e5_3_1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40a02be95e5_3_1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40a02be95e5_3_18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0a02be95e5_3_1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40a02be95e5_3_1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40a02be95e5_3_1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40a02be95e5_3_2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40a02be95e5_3_2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40a02be95e5_3_2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0a02be95e5_3_2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40a02be95e5_3_2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40a02be95e5_3_2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0a02be95e5_3_2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40a02be95e5_3_2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40a02be95e5_3_2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40a02be95e5_3_2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40a02be95e5_3_2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40a02be95e5_3_28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40a02be95e5_3_3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40a02be95e5_3_3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40a02be95e5_3_3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40a02be95e5_3_3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40a02be95e5_3_3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40a02be95e5_3_3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40a02be95e5_3_3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40a02be95e5_3_3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40a02be95e5_3_33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40a02be95e5_3_3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40a02be95e5_3_3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40a02be95e5_3_3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40a02be95e5_3_3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40a02be95e5_3_3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40a02be95e5_3_3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40a02be95e5_3_3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40a02be95e5_3_3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40a02be95e5_3_3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40a02be95e5_3_3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40a02be95e5_3_3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40a02be95e5_3_3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40a02be95e5_3_4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40a02be95e5_3_4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40a02be95e5_3_4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40a02be95e5_3_4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40a02be95e5_3_4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40a02be95e5_3_4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40a02be95e5_3_4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40a02be95e5_3_4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40a02be95e5_3_4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40a02be95e5_3_4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40a02be95e5_3_4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40a02be95e5_3_4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40a02be95e5_3_4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40a02be95e5_3_4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40a02be95e5_3_46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0a02be95e5_3_4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40a02be95e5_3_4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40a02be95e5_3_4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40a02be95e5_3_4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40a02be95e5_3_4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40a02be95e5_3_4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40a02be95e5_3_5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40a02be95e5_3_5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40a02be95e5_3_5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40a02be95e5_3_5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40a02be95e5_3_5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40a02be95e5_3_5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40a02be95e5_3_53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40a02be95e5_3_53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40a02be95e5_3_53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40a02be95e5_3_5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40a02be95e5_3_5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40a02be95e5_3_5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40a02be95e5_3_56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40a02be95e5_3_56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40a02be95e5_3_56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40a02be95e5_3_6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40a02be95e5_3_6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40a02be95e5_3_60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40a02be95e5_3_6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40a02be95e5_3_6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40a02be95e5_3_6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40a02be95e5_3_6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g40a02be95e5_3_6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40a02be95e5_3_6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40a02be95e5_3_6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g40a02be95e5_3_6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40a02be95e5_3_6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40a02be95e5_3_6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40a02be95e5_3_6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40a02be95e5_3_6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40a02be95e5_3_6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g40a02be95e5_3_6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40a02be95e5_3_6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40a02be95e5_3_69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40a02be95e5_3_6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40a02be95e5_3_6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40a02be95e5_3_7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g40a02be95e5_3_7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40a02be95e5_3_7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40a02be95e5_3_73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g40a02be95e5_3_73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40a02be95e5_3_73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40a02be95e5_3_74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g40a02be95e5_3_74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40a02be95e5_3_74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40a02be95e5_3_7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40a02be95e5_3_7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g40a02be95e5_3_7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40a02be95e5_3_7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8" name="Google Shape;868;g40a02be95e5_3_7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40a02be95e5_3_78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40a02be95e5_3_8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40a02be95e5_3_8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g40a02be95e5_3_8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40a02be95e5_3_8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g40a02be95e5_3_8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40a02be95e5_3_8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40a02be95e5_3_8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g40a02be95e5_3_8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g40a02be95e5_3_8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40a02be95e5_3_87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9" name="Google Shape;959;g40a02be95e5_3_87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40a02be95e5_3_87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566928" y="685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React &amp; TypeScript | Lecture 27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66928" y="11430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Arial"/>
              <a:buNone/>
            </a:pPr>
            <a:r>
              <a:rPr b="1" i="0" lang="en" sz="3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management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Arial"/>
              <a:buNone/>
            </a:pPr>
            <a:r>
              <a:rPr b="1" i="0" lang="en" sz="3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with Context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94360" y="2487168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Share application state across distant components with typed Context and useContext.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94360" y="3246120"/>
            <a:ext cx="1143000" cy="256032"/>
          </a:xfrm>
          <a:prstGeom prst="roundRect">
            <a:avLst>
              <a:gd fmla="val 28571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94360" y="3300984"/>
            <a:ext cx="1143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shared state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1874520" y="3246120"/>
            <a:ext cx="960120" cy="256032"/>
          </a:xfrm>
          <a:prstGeom prst="roundRect">
            <a:avLst>
              <a:gd fmla="val 28571" name="adj"/>
            </a:avLst>
          </a:prstGeom>
          <a:solidFill>
            <a:srgbClr val="F3E8FF"/>
          </a:solidFill>
          <a:ln cap="flat" cmpd="sng" w="12700">
            <a:solidFill>
              <a:srgbClr val="F3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1874520" y="3300984"/>
            <a:ext cx="960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B21A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2971800" y="3246120"/>
            <a:ext cx="1143000" cy="256032"/>
          </a:xfrm>
          <a:prstGeom prst="roundRect">
            <a:avLst>
              <a:gd fmla="val 28571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971800" y="3300984"/>
            <a:ext cx="1143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useContext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279392" y="3246120"/>
            <a:ext cx="1325880" cy="256032"/>
          </a:xfrm>
          <a:prstGeom prst="roundRect">
            <a:avLst>
              <a:gd fmla="val 28571" name="adj"/>
            </a:avLst>
          </a:prstGeom>
          <a:solidFill>
            <a:srgbClr val="FEF9C3"/>
          </a:solidFill>
          <a:ln cap="flat" cmpd="sng" w="12700">
            <a:solidFill>
              <a:srgbClr val="FEF9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279392" y="3300984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typed Context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Today's plan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777240" y="960120"/>
            <a:ext cx="7589520" cy="475488"/>
          </a:xfrm>
          <a:prstGeom prst="roundRect">
            <a:avLst>
              <a:gd fmla="val 15385" name="adj"/>
            </a:avLst>
          </a:prstGeom>
          <a:solidFill>
            <a:srgbClr val="F8FAFC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932688" y="1069848"/>
            <a:ext cx="347472" cy="256032"/>
          </a:xfrm>
          <a:prstGeom prst="roundRect">
            <a:avLst>
              <a:gd fmla="val 17857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932688" y="1143000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417320" y="1088136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Recognize shared state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840480" y="1078992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Decide when the same changing information is needed across different parts of an application.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777240" y="1618488"/>
            <a:ext cx="7589520" cy="475488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932688" y="1728216"/>
            <a:ext cx="347472" cy="256032"/>
          </a:xfrm>
          <a:prstGeom prst="roundRect">
            <a:avLst>
              <a:gd fmla="val 17857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932688" y="1801368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417320" y="17465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Share values with Context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840480" y="1737360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Create a typed Context and provide a shared value to descendants.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77240" y="2276856"/>
            <a:ext cx="7589520" cy="475488"/>
          </a:xfrm>
          <a:prstGeom prst="roundRect">
            <a:avLst>
              <a:gd fmla="val 15385" name="adj"/>
            </a:avLst>
          </a:prstGeom>
          <a:solidFill>
            <a:srgbClr val="F8FAFC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932688" y="2386584"/>
            <a:ext cx="347472" cy="256032"/>
          </a:xfrm>
          <a:prstGeom prst="roundRect">
            <a:avLst>
              <a:gd fmla="val 17857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932688" y="2459736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417320" y="2404872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 and update shared state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840480" y="2395728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useContext so distant components can use the same state and update behaviour.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77240" y="2935224"/>
            <a:ext cx="7589520" cy="475488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932688" y="3044952"/>
            <a:ext cx="347472" cy="256032"/>
          </a:xfrm>
          <a:prstGeom prst="roundRect">
            <a:avLst>
              <a:gd fmla="val 17857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932688" y="3118104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417320" y="3063240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Choose the right approach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840480" y="3054096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Reason about provider scope and decide when props or Context make the relationship clearer.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77240" y="3593592"/>
            <a:ext cx="7589520" cy="475488"/>
          </a:xfrm>
          <a:prstGeom prst="roundRect">
            <a:avLst>
              <a:gd fmla="val 15385" name="adj"/>
            </a:avLst>
          </a:prstGeom>
          <a:solidFill>
            <a:srgbClr val="F8FAFC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932688" y="3703320"/>
            <a:ext cx="347472" cy="256032"/>
          </a:xfrm>
          <a:prstGeom prst="roundRect">
            <a:avLst>
              <a:gd fmla="val 17857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932688" y="3776472"/>
            <a:ext cx="34747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417320" y="372160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Apply the pattern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840480" y="3712464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Refactor a working prop-based interface to typed Context.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1: Read the route parameter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58368" y="960120"/>
            <a:ext cx="3703320" cy="822960"/>
          </a:xfrm>
          <a:prstGeom prst="roundRect">
            <a:avLst>
              <a:gd fmla="val 555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731520" y="1014984"/>
            <a:ext cx="355701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path="/products/:productId"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element={&lt;ProductDetails /&gt;}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58368" y="1965960"/>
            <a:ext cx="3703320" cy="347472"/>
          </a:xfrm>
          <a:prstGeom prst="roundRect">
            <a:avLst>
              <a:gd fmla="val 13158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731520" y="2020824"/>
            <a:ext cx="35570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/products/P-84?view=reviews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58368" y="2505456"/>
            <a:ext cx="3703320" cy="347472"/>
          </a:xfrm>
          <a:prstGeom prst="roundRect">
            <a:avLst>
              <a:gd fmla="val 13158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731520" y="2560320"/>
            <a:ext cx="35570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{ productId } = useParams();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658368" y="3063240"/>
            <a:ext cx="1645920" cy="411480"/>
          </a:xfrm>
          <a:prstGeom prst="roundRect">
            <a:avLst>
              <a:gd fmla="val 17778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768096" y="3136392"/>
            <a:ext cx="14264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path value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 flipH="1">
            <a:off x="768060" y="3401568"/>
            <a:ext cx="1426500" cy="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P-84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697480" y="3063240"/>
            <a:ext cx="1645920" cy="411480"/>
          </a:xfrm>
          <a:prstGeom prst="roundRect">
            <a:avLst>
              <a:gd fmla="val 17778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2807208" y="3136392"/>
            <a:ext cx="14264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search value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 flipH="1">
            <a:off x="2807172" y="3401568"/>
            <a:ext cx="1426500" cy="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view=reviews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value does productId contain?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"reviews"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"view"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"P-84"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"/products/P-84"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C. "P-84"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productId comes from the dynamic path segment :productId. The search portion is separate.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2: Read a missing search parameter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58368" y="960120"/>
            <a:ext cx="3703320" cy="694944"/>
          </a:xfrm>
          <a:prstGeom prst="roundRect">
            <a:avLst>
              <a:gd fmla="val 6579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731520" y="1014984"/>
            <a:ext cx="35570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selectedTrack =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searchParams.get("track") ?? "all";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58368" y="1847088"/>
            <a:ext cx="3703320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731520" y="1901952"/>
            <a:ext cx="3557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/sessions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658375" y="2487177"/>
            <a:ext cx="3703200" cy="9351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768096" y="2560320"/>
            <a:ext cx="3483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Value flow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68096" y="2852928"/>
            <a:ext cx="3483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 track parameter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"all"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value does selectedTrack contain?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"track"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"react"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"all"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D. "all"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There is no track parameter, so get("track") returns null and the fallback "all" is used.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3: Keep one source of truth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21792" y="80467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browser address already represents the current filter: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21792" y="1051560"/>
            <a:ext cx="2743200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694944" y="1106424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/sessions?track=react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663440" y="8412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implementation best preserves this URL-backed design?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21792" y="1572768"/>
            <a:ext cx="187452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94944" y="16642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1005840" y="1737360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const [selectedTrack] =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 useState("react");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697480" y="1572768"/>
            <a:ext cx="187452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2770632" y="16642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081528" y="1682496"/>
            <a:ext cx="1417320" cy="850392"/>
          </a:xfrm>
          <a:prstGeom prst="roundRect">
            <a:avLst>
              <a:gd fmla="val 537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3154680" y="1737360"/>
            <a:ext cx="1271016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"/>
              <a:buFont typeface="Courier New"/>
              <a:buNone/>
            </a:pPr>
            <a:r>
              <a:rPr b="0" i="0" lang="en" sz="6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selectedTrack =</a:t>
            </a:r>
            <a:endParaRPr b="0" i="0" sz="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"/>
              <a:buFont typeface="Courier New"/>
              <a:buNone/>
            </a:pPr>
            <a:r>
              <a:rPr b="0" i="0" lang="en" sz="6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searchParams.get("track") ?? "all";</a:t>
            </a:r>
            <a:endParaRPr b="0" i="0" sz="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0"/>
              <a:buFont typeface="Arial"/>
              <a:buNone/>
            </a:pPr>
            <a:r>
              <a:t/>
            </a:r>
            <a:endParaRPr b="0" i="0" sz="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"/>
              <a:buFont typeface="Courier New"/>
              <a:buNone/>
            </a:pPr>
            <a:r>
              <a:rPr b="0" i="0" lang="en" sz="6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visibleSessions =</a:t>
            </a:r>
            <a:endParaRPr b="0" i="0" sz="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"/>
              <a:buFont typeface="Courier New"/>
              <a:buNone/>
            </a:pPr>
            <a:r>
              <a:rPr b="0" i="0" lang="en" sz="6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selectedTrack === "all"</a:t>
            </a:r>
            <a:endParaRPr b="0" i="0" sz="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"/>
              <a:buFont typeface="Courier New"/>
              <a:buNone/>
            </a:pPr>
            <a:r>
              <a:rPr b="0" i="0" lang="en" sz="6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? sessions</a:t>
            </a:r>
            <a:endParaRPr b="0" i="0" sz="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"/>
              <a:buFont typeface="Courier New"/>
              <a:buNone/>
            </a:pPr>
            <a:r>
              <a:rPr b="0" i="0" lang="en" sz="6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: sessions.filter(...);</a:t>
            </a:r>
            <a:endParaRPr b="0" i="0" sz="6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21792" y="2788920"/>
            <a:ext cx="187452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94944" y="288036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005840" y="2953512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const selectedTrack = "react";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697480" y="2788920"/>
            <a:ext cx="187452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2770632" y="288036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081528" y="2953512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Keep one copy in state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and another in the URL,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then synchronize them.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The URL already represents the selected track. Reading from it avoids creating another changing copy.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4: Which HTTP method fits this update?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77240" y="1097280"/>
            <a:ext cx="329184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886968" y="1170432"/>
            <a:ext cx="3072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Existing feedback item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86968" y="1463040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Feedback #7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Status: pending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77240" y="2057400"/>
            <a:ext cx="3291840" cy="73152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886968" y="2130552"/>
            <a:ext cx="3072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 changes one field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886968" y="2423160"/>
            <a:ext cx="3072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Status: resolved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HTTP method best represents this request?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PATCH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C. PATCH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PATCH requests a partial change to an existing resource.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5: Where should this request begin?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31520" y="987552"/>
            <a:ext cx="3566160" cy="566928"/>
          </a:xfrm>
          <a:prstGeom prst="roundRect">
            <a:avLst>
              <a:gd fmla="val 8065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804672" y="1042416"/>
            <a:ext cx="34198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onClick={handleRemove}&gt;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Remove feedback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731520" y="1920240"/>
            <a:ext cx="3566160" cy="685800"/>
          </a:xfrm>
          <a:prstGeom prst="roundRect">
            <a:avLst>
              <a:gd fmla="val 10667" name="adj"/>
            </a:avLst>
          </a:prstGeom>
          <a:solidFill>
            <a:srgbClr val="FEF9C3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841248" y="1993392"/>
            <a:ext cx="3346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841248" y="2286000"/>
            <a:ext cx="33467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user selects Remove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731520" y="2834640"/>
            <a:ext cx="3566160" cy="6858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841248" y="2907792"/>
            <a:ext cx="3346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Request path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841248" y="3200400"/>
            <a:ext cx="33467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handler runs DELETE request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Where should the DELETE request begin?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During component rendering.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 an Effect with an empty dependency array.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Inside handleRemove.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Inside the state declaration.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C. Inside handleRemove.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The request is caused by a specific user interaction, so it belongs in that event path.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/>
          <p:nvPr/>
        </p:nvSpPr>
        <p:spPr>
          <a:xfrm>
            <a:off x="566928" y="222199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Shared state and prop drilling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22"/>
          <p:cNvCxnSpPr/>
          <p:nvPr/>
        </p:nvCxnSpPr>
        <p:spPr>
          <a:xfrm>
            <a:off x="566928" y="2852928"/>
            <a:ext cx="1234440" cy="0"/>
          </a:xfrm>
          <a:prstGeom prst="straightConnector1">
            <a:avLst/>
          </a:prstGeom>
          <a:noFill/>
          <a:ln cap="flat" cmpd="sng" w="2792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Hub separates information by purpose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58368" y="932688"/>
            <a:ext cx="2240280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777240" y="10515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session is open?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77240" y="1417320"/>
            <a:ext cx="1975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 parameter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77240" y="1664208"/>
            <a:ext cx="1975104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850392" y="171907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/sessions/S-205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777240" y="2084832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path identifies a specific session destination.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273552" y="932688"/>
            <a:ext cx="2240280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3392424" y="10515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track is selected?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392424" y="1417320"/>
            <a:ext cx="1975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URL search parameter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392424" y="1664208"/>
            <a:ext cx="1975104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3465576" y="171907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/sessions?track=react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392424" y="2084832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browser address represents the current Sessions view.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888736" y="932688"/>
            <a:ext cx="2240280" cy="1993392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6007608" y="1051560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feedback exists?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007608" y="1417320"/>
            <a:ext cx="1975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Server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007608" y="1664208"/>
            <a:ext cx="1975104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6080760" y="171907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 /feedback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007608" y="2084832"/>
            <a:ext cx="19933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Feedback is retrieved or changed through HTTP requests.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58368" y="3337560"/>
            <a:ext cx="7479792" cy="786384"/>
          </a:xfrm>
          <a:prstGeom prst="roundRect">
            <a:avLst>
              <a:gd fmla="val 9302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768096" y="3410712"/>
            <a:ext cx="7260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Today's new requirement is different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768096" y="3703320"/>
            <a:ext cx="7260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display preference should affect several distant parts of Conference Hub. It is not a route, not a search parameter, and not Feedback server data.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new display preference affects several views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66928" y="841248"/>
            <a:ext cx="347472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777240" y="10241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Comfortable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777240" y="1417320"/>
            <a:ext cx="2880360" cy="566928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886968" y="1490472"/>
            <a:ext cx="2660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component design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886968" y="1783080"/>
            <a:ext cx="2660904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10:00 AM · Hall A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777240" y="2148840"/>
            <a:ext cx="2880360" cy="566928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886968" y="2221992"/>
            <a:ext cx="2660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without confusion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886968" y="2514600"/>
            <a:ext cx="2660904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11:30 AM · Hall C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777240" y="295351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More spacing between session cards.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4343400" y="841248"/>
            <a:ext cx="416052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4553712" y="10241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Compact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553712" y="1417320"/>
            <a:ext cx="3611880" cy="36576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4663440" y="1527048"/>
            <a:ext cx="33924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React component design      10:00 AM · Hall A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553712" y="1938528"/>
            <a:ext cx="3611880" cy="365760"/>
          </a:xfrm>
          <a:prstGeom prst="roundRect">
            <a:avLst>
              <a:gd fmla="val 200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4663440" y="2048256"/>
            <a:ext cx="33924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State without confusion     11:30 AM · Hall C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553712" y="295351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Less spacing so more sessions fit on screen.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822960" y="3749040"/>
            <a:ext cx="2194560" cy="411480"/>
          </a:xfrm>
          <a:prstGeom prst="roundRect">
            <a:avLst>
              <a:gd fmla="val 17778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932688" y="3822192"/>
            <a:ext cx="1975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 flipH="1">
            <a:off x="932700" y="3936900"/>
            <a:ext cx="1975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Display: Comfortable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3474720" y="3749040"/>
            <a:ext cx="2194560" cy="411480"/>
          </a:xfrm>
          <a:prstGeom prst="roundRect">
            <a:avLst>
              <a:gd fmla="val 17778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3584448" y="3822192"/>
            <a:ext cx="1975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/>
          <p:nvPr/>
        </p:nvSpPr>
        <p:spPr>
          <a:xfrm flipH="1">
            <a:off x="3584450" y="3968700"/>
            <a:ext cx="19752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[ Comfortable ] [ Compact ]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144768" y="3749040"/>
            <a:ext cx="2011680" cy="411480"/>
          </a:xfrm>
          <a:prstGeom prst="roundRect">
            <a:avLst>
              <a:gd fmla="val 17778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6254496" y="3822192"/>
            <a:ext cx="1792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/>
          <p:nvPr/>
        </p:nvSpPr>
        <p:spPr>
          <a:xfrm flipH="1">
            <a:off x="6254500" y="3979200"/>
            <a:ext cx="17922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Cards use selected spacing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310" name="Google Shape;3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shared preference needs one owner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713232" y="932688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AppHeader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DisplayModeBadge      uses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Home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PreferencesPanel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`-- DisplayModeControls uses + changes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Sessions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SessionList           uses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897880" y="960120"/>
            <a:ext cx="2606040" cy="91440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6007608" y="1033272"/>
            <a:ext cx="2386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components need it?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6007608" y="1325880"/>
            <a:ext cx="2386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DisplayModeBadge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DisplayModeControls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SessionList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5897880" y="2148840"/>
            <a:ext cx="2606040" cy="621792"/>
          </a:xfrm>
          <a:prstGeom prst="roundRect">
            <a:avLst>
              <a:gd fmla="val 11765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6007608" y="2221992"/>
            <a:ext cx="2386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Ownership decision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6007608" y="2514600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 is the common ancestor.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713232" y="3493008"/>
            <a:ext cx="7790688" cy="621792"/>
          </a:xfrm>
          <a:prstGeom prst="roundRect">
            <a:avLst>
              <a:gd fmla="val 7353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786384" y="3547872"/>
            <a:ext cx="76443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DisplayMode =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"comfortable" | "compact";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[displayMode, setDisplayMode] =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useState&lt;DisplayMode&gt;("comfortable");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One value. One owner. Several consumers.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327" name="Google Shape;3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management includes ownership, updates, and access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658368" y="941832"/>
            <a:ext cx="37490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768096" y="1014984"/>
            <a:ext cx="3529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768096" y="1307592"/>
            <a:ext cx="352958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React remembers changing information across renders.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868680" y="1600200"/>
            <a:ext cx="3291840" cy="420624"/>
          </a:xfrm>
          <a:prstGeom prst="roundRect">
            <a:avLst>
              <a:gd fmla="val 10870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941832" y="1655064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[displayMode, setDisplayMode] =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useState&lt;DisplayMode&gt;("comfortable");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868680" y="21488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 is the current value.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setDisplayMode requests the next value.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4773168" y="941832"/>
            <a:ext cx="3749040" cy="1828800"/>
          </a:xfrm>
          <a:prstGeom prst="roundRect">
            <a:avLst>
              <a:gd fmla="val 40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4882896" y="1014984"/>
            <a:ext cx="3529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management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4882896" y="1307592"/>
            <a:ext cx="352958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Ownership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Where should the state live?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Updates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Which interactions can change it?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How do the components that need it receive it?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658368" y="3090672"/>
            <a:ext cx="7863840" cy="731520"/>
          </a:xfrm>
          <a:prstGeom prst="roundRect">
            <a:avLst>
              <a:gd fmla="val 10000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768096" y="3163824"/>
            <a:ext cx="7644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Hub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768096" y="3456432"/>
            <a:ext cx="76443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Ownership: App     Updates: DisplayModeControls     Access: Badge, Controls, SessionList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Today's new challenge is access.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347" name="Google Shape;3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Props can implement the shared feature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658368" y="914400"/>
            <a:ext cx="3840480" cy="1234440"/>
          </a:xfrm>
          <a:prstGeom prst="roundRect">
            <a:avLst>
              <a:gd fmla="val 3704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7"/>
          <p:cNvSpPr/>
          <p:nvPr/>
        </p:nvSpPr>
        <p:spPr>
          <a:xfrm>
            <a:off x="731520" y="969264"/>
            <a:ext cx="3694176" cy="1124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[displayMode, setDisplayMode] =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useState&lt;DisplayMode&gt;("comfortable");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"/>
              <a:buFont typeface="Arial"/>
              <a:buNone/>
            </a:pPr>
            <a:r>
              <a:t/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handleDisplayModeChange(nextMode: DisplayMode) {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setDisplayMode(nextMode);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4709160" y="914400"/>
            <a:ext cx="3749040" cy="1600200"/>
          </a:xfrm>
          <a:prstGeom prst="roundRect">
            <a:avLst>
              <a:gd fmla="val 2857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7"/>
          <p:cNvSpPr/>
          <p:nvPr/>
        </p:nvSpPr>
        <p:spPr>
          <a:xfrm>
            <a:off x="4782312" y="969264"/>
            <a:ext cx="3602736" cy="1490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&lt;AppHeader displayMode={displayMode} /&gt;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"/>
              <a:buFont typeface="Arial"/>
              <a:buNone/>
            </a:pPr>
            <a:r>
              <a:t/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&lt;Home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displayMode={displayMode}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onDisplayModeChange={handleDisplayModeChange}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"/>
              <a:buFont typeface="Arial"/>
              <a:buNone/>
            </a:pPr>
            <a:r>
              <a:t/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&lt;Sessions displayMode={displayMode} /&gt;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658368" y="2907792"/>
            <a:ext cx="7818120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768096" y="2980944"/>
            <a:ext cx="7598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feature works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768096" y="3273552"/>
            <a:ext cx="7598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Choosing Compact updates the badge, controls, and session presentation.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Props are a valid implementation.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362" name="Google Shape;3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8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 drilling appears in the forwarding path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658368" y="868680"/>
            <a:ext cx="443484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AppHeader                 forwards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DisplayModeBadge      uses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Home                      forwards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PreferencesPanel      forwards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`-- DisplayModeControls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                       uses + changes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Sessions                  forwards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SessionList           uses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5257800" y="932688"/>
            <a:ext cx="3246120" cy="2057400"/>
          </a:xfrm>
          <a:prstGeom prst="roundRect">
            <a:avLst>
              <a:gd fmla="val 2222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8"/>
          <p:cNvSpPr/>
          <p:nvPr/>
        </p:nvSpPr>
        <p:spPr>
          <a:xfrm>
            <a:off x="5330952" y="987552"/>
            <a:ext cx="3099816" cy="1947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Home({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displayMode,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onDisplayModeChange,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}: HomeProps) {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&lt;PreferencesPanel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displayMode={displayMode}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onDisplayModeChange={onDisplayModeChange}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/&gt;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658375" y="3840474"/>
            <a:ext cx="7818000" cy="655800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8"/>
          <p:cNvSpPr/>
          <p:nvPr/>
        </p:nvSpPr>
        <p:spPr>
          <a:xfrm>
            <a:off x="768096" y="3913632"/>
            <a:ext cx="7598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 drilling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768096" y="4206240"/>
            <a:ext cx="7598664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prop passes through intermediate components so that a deeper descendant can receive it. The implementation is valid; the concern is the forwarding dependency.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9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What is the architectural inconvenience?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685800" y="105156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display preference already works. App owns one value, the controls can change it, and the interface stays synchronized.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685800" y="1965948"/>
            <a:ext cx="3749100" cy="8874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9"/>
          <p:cNvSpPr/>
          <p:nvPr/>
        </p:nvSpPr>
        <p:spPr>
          <a:xfrm>
            <a:off x="795528" y="2039112"/>
            <a:ext cx="3529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Next question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795528" y="2331720"/>
            <a:ext cx="3529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Can an ancestor make shared information available to distant descendants without every intermediate component forwarding it?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the architectural inconvenience?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9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state should be duplicated inside every component that uses it.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Several intermediate components accept and forward props that they do not otherwise need.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9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props cannot contain changing information.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display preference should replace the existing URL track filter.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The owner is appropriate and the prop implementation is valid. The inconvenience is the forwarding path.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399" name="Google Shape;3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0"/>
          <p:cNvSpPr/>
          <p:nvPr/>
        </p:nvSpPr>
        <p:spPr>
          <a:xfrm>
            <a:off x="566928" y="222199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Sharing values with React Context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30"/>
          <p:cNvCxnSpPr/>
          <p:nvPr/>
        </p:nvCxnSpPr>
        <p:spPr>
          <a:xfrm>
            <a:off x="566928" y="2852928"/>
            <a:ext cx="1234440" cy="0"/>
          </a:xfrm>
          <a:prstGeom prst="straightConnector1">
            <a:avLst/>
          </a:prstGeom>
          <a:noFill/>
          <a:ln cap="flat" cmpd="sng" w="2792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407" name="Google Shape;4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1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lets an ancestor share values with distant descendants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658368" y="960120"/>
            <a:ext cx="370332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1"/>
          <p:cNvSpPr/>
          <p:nvPr/>
        </p:nvSpPr>
        <p:spPr>
          <a:xfrm>
            <a:off x="768096" y="1033272"/>
            <a:ext cx="3483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With props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768096" y="1325880"/>
            <a:ext cx="3483864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display preference passes through intermediate component props before reaching the components that use it.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914400" y="1737360"/>
            <a:ext cx="3154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|-- AppHeader -- Badge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|-- Home -- PreferencesPanel -- Controls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`-- Sessions -- SessionList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4800600" y="960120"/>
            <a:ext cx="3703320" cy="2377440"/>
          </a:xfrm>
          <a:prstGeom prst="roundRect">
            <a:avLst>
              <a:gd fmla="val 307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1"/>
          <p:cNvSpPr/>
          <p:nvPr/>
        </p:nvSpPr>
        <p:spPr>
          <a:xfrm>
            <a:off x="4910328" y="1033272"/>
            <a:ext cx="3483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With Context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4910328" y="1325880"/>
            <a:ext cx="3483864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 ancestor provides a shared value. Descendants that need it can read it without every intermediate component forwarding the prop.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5074920" y="1755648"/>
            <a:ext cx="31089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App provides shared value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|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|-- Badge reads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|-- Controls read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`-- SessionList reads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Context gives descendants another way to access information supplied higher in the component tree.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changes access, not state ownership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658368" y="960120"/>
            <a:ext cx="370332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768096" y="1033272"/>
            <a:ext cx="3483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Before Context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768096" y="1325880"/>
            <a:ext cx="3483864" cy="2075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 owns the state.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Intermediate components forward values.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914350" y="1706875"/>
            <a:ext cx="3200400" cy="420600"/>
          </a:xfrm>
          <a:prstGeom prst="roundRect">
            <a:avLst>
              <a:gd fmla="val 10870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987502" y="1761739"/>
            <a:ext cx="3054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[displayMode, setDisplayMode] =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useState&lt;DisplayMode&gt;("comfortable");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1234440" y="2402405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App owns state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intermediate components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consumers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4800600" y="960120"/>
            <a:ext cx="3703320" cy="2514600"/>
          </a:xfrm>
          <a:prstGeom prst="roundRect">
            <a:avLst>
              <a:gd fmla="val 2909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4910328" y="1033272"/>
            <a:ext cx="3483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With Context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4910328" y="1325880"/>
            <a:ext cx="3483864" cy="20756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 still owns the same state.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Descendants gain another access path.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5047513" y="1706863"/>
            <a:ext cx="3200400" cy="420600"/>
          </a:xfrm>
          <a:prstGeom prst="roundRect">
            <a:avLst>
              <a:gd fmla="val 10870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5120665" y="1761727"/>
            <a:ext cx="3054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[displayMode, setDisplayMode] =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useState&lt;DisplayMode&gt;("comfortable");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5458963" y="240240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App owns same state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 |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distant consumers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What changes is how descendants access the shared information.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442" name="Google Shape;44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3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typed Context defines the shared contract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/>
          <p:nvPr/>
        </p:nvSpPr>
        <p:spPr>
          <a:xfrm>
            <a:off x="777240" y="960120"/>
            <a:ext cx="4572000" cy="1874520"/>
          </a:xfrm>
          <a:prstGeom prst="roundRect">
            <a:avLst>
              <a:gd fmla="val 2439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>
            <a:off x="850392" y="1014984"/>
            <a:ext cx="4425696" cy="17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DisplayMode =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"comfortable" | "compact";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DisplayPreferencesContextValue = {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displayMode: DisplayMode;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changeDisplayMode: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(nextMode: DisplayMode) =&gt; void;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3"/>
          <p:cNvSpPr/>
          <p:nvPr/>
        </p:nvSpPr>
        <p:spPr>
          <a:xfrm>
            <a:off x="5715000" y="1051560"/>
            <a:ext cx="2560320" cy="73152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>
            <a:off x="5824728" y="1124712"/>
            <a:ext cx="2340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Current value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3"/>
          <p:cNvSpPr/>
          <p:nvPr/>
        </p:nvSpPr>
        <p:spPr>
          <a:xfrm>
            <a:off x="5824728" y="1417320"/>
            <a:ext cx="23408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What is the current preference?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/>
          <p:nvPr/>
        </p:nvSpPr>
        <p:spPr>
          <a:xfrm>
            <a:off x="5715000" y="2057400"/>
            <a:ext cx="2560320" cy="822960"/>
          </a:xfrm>
          <a:prstGeom prst="roundRect">
            <a:avLst>
              <a:gd fmla="val 8889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5824728" y="2130552"/>
            <a:ext cx="2340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Update behaviour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5824728" y="2423160"/>
            <a:ext cx="23408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changeDisplayMode(nextMode)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How can a descendant request another preference?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3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same typed contract describes what the provider supplies and what consumers can read.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458" name="Google Shape;4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4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createContext defines the Context and its fallback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749808" y="914400"/>
            <a:ext cx="4846320" cy="1417320"/>
          </a:xfrm>
          <a:prstGeom prst="roundRect">
            <a:avLst>
              <a:gd fmla="val 322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4"/>
          <p:cNvSpPr/>
          <p:nvPr/>
        </p:nvSpPr>
        <p:spPr>
          <a:xfrm>
            <a:off x="822960" y="969264"/>
            <a:ext cx="470001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createContext } from "react";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DisplayPreferencesContext =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createContext&lt;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DisplayPreferencesContextValue | null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&gt;(null);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4"/>
          <p:cNvSpPr/>
          <p:nvPr/>
        </p:nvSpPr>
        <p:spPr>
          <a:xfrm>
            <a:off x="5897880" y="914400"/>
            <a:ext cx="2560320" cy="566928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4"/>
          <p:cNvSpPr/>
          <p:nvPr/>
        </p:nvSpPr>
        <p:spPr>
          <a:xfrm>
            <a:off x="6007608" y="987552"/>
            <a:ext cx="2340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ContextValue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6007608" y="1280160"/>
            <a:ext cx="2340864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Expected value supplied by a provider.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5897880" y="1664208"/>
            <a:ext cx="2560320" cy="713232"/>
          </a:xfrm>
          <a:prstGeom prst="roundRect">
            <a:avLst>
              <a:gd fmla="val 10256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>
            <a:off x="6007608" y="1737360"/>
            <a:ext cx="2340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6007608" y="2029968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Arial"/>
              <a:buNone/>
            </a:pPr>
            <a:r>
              <a:rPr b="0" i="0" lang="en" sz="8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Fallback when no matching provider exists above a consumer.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749808" y="2788920"/>
            <a:ext cx="768096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4"/>
          <p:cNvSpPr/>
          <p:nvPr/>
        </p:nvSpPr>
        <p:spPr>
          <a:xfrm>
            <a:off x="859536" y="2862072"/>
            <a:ext cx="7461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initial value versus Context fallback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859536" y="3154680"/>
            <a:ext cx="7461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State initial value: "comfortable"        Context fallback: null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Context fallback is not the initial application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477" name="Google Shape;4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5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 provides the current preference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658368" y="960120"/>
            <a:ext cx="3657600" cy="749808"/>
          </a:xfrm>
          <a:prstGeom prst="roundRect">
            <a:avLst>
              <a:gd fmla="val 6098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5"/>
          <p:cNvSpPr/>
          <p:nvPr/>
        </p:nvSpPr>
        <p:spPr>
          <a:xfrm>
            <a:off x="731520" y="1014984"/>
            <a:ext cx="35112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displayPreferences = {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displayMode,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changeDisplayMode: handleDisplayModeChange,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658368" y="1920240"/>
            <a:ext cx="4389120" cy="1609344"/>
          </a:xfrm>
          <a:prstGeom prst="roundRect">
            <a:avLst>
              <a:gd fmla="val 2841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5"/>
          <p:cNvSpPr/>
          <p:nvPr/>
        </p:nvSpPr>
        <p:spPr>
          <a:xfrm>
            <a:off x="731520" y="1975104"/>
            <a:ext cx="4242816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&lt;DisplayPreferencesContext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value={displayPreferences}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&gt;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&lt;AppHeader /&gt;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&lt;Routes&gt;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{/* existing routes */}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&lt;/Routes&gt;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&lt;/DisplayPreferencesContext&gt;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Courier New"/>
              <a:buNone/>
            </a:pPr>
            <a:r>
              <a:rPr b="0" i="0" lang="en" sz="7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5440680" y="1024128"/>
            <a:ext cx="2926080" cy="2212848"/>
          </a:xfrm>
          <a:prstGeom prst="roundRect">
            <a:avLst>
              <a:gd fmla="val 3306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5"/>
          <p:cNvSpPr/>
          <p:nvPr/>
        </p:nvSpPr>
        <p:spPr>
          <a:xfrm>
            <a:off x="5550408" y="1097280"/>
            <a:ext cx="2706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5550408" y="1389888"/>
            <a:ext cx="2706624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App-owned state and behaviour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displayPreferences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DisplayPreferencesContext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descendants inside the provider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provider shares the current value. It does not create another copy of the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492" name="Google Shape;49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6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Provider scope determines which descendants can read the value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713232" y="841248"/>
            <a:ext cx="493776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DisplayPreferencesContext provider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|-- AppHeader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   `-- DisplayModeBadge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Routes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|-- Home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|   `-- PreferencesPanel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|       `-- DisplayModeControls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|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`-- Sessions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`-- SessionList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5897880" y="960120"/>
            <a:ext cx="260604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6"/>
          <p:cNvSpPr/>
          <p:nvPr/>
        </p:nvSpPr>
        <p:spPr>
          <a:xfrm>
            <a:off x="6007608" y="1033272"/>
            <a:ext cx="2386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Inside provider subtree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6"/>
          <p:cNvSpPr/>
          <p:nvPr/>
        </p:nvSpPr>
        <p:spPr>
          <a:xfrm>
            <a:off x="6007608" y="1325880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Can read the provided display preference.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6"/>
          <p:cNvSpPr/>
          <p:nvPr/>
        </p:nvSpPr>
        <p:spPr>
          <a:xfrm>
            <a:off x="5897880" y="1920240"/>
            <a:ext cx="2606040" cy="749808"/>
          </a:xfrm>
          <a:prstGeom prst="roundRect">
            <a:avLst>
              <a:gd fmla="val 9756" name="adj"/>
            </a:avLst>
          </a:prstGeom>
          <a:solidFill>
            <a:srgbClr val="FEE2E2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"/>
          <p:cNvSpPr/>
          <p:nvPr/>
        </p:nvSpPr>
        <p:spPr>
          <a:xfrm>
            <a:off x="6007608" y="1993392"/>
            <a:ext cx="2386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Outside provider subtree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6"/>
          <p:cNvSpPr/>
          <p:nvPr/>
        </p:nvSpPr>
        <p:spPr>
          <a:xfrm>
            <a:off x="6007608" y="2286000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Does not receive this provider value.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5897880" y="2907792"/>
            <a:ext cx="2606040" cy="749808"/>
          </a:xfrm>
          <a:prstGeom prst="roundRect">
            <a:avLst>
              <a:gd fmla="val 9756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6"/>
          <p:cNvSpPr/>
          <p:nvPr/>
        </p:nvSpPr>
        <p:spPr>
          <a:xfrm>
            <a:off x="6007608" y="2980944"/>
            <a:ext cx="2386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Quick check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6"/>
          <p:cNvSpPr/>
          <p:nvPr/>
        </p:nvSpPr>
        <p:spPr>
          <a:xfrm>
            <a:off x="6007608" y="3273552"/>
            <a:ext cx="23865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SessionList is inside the provider subtree.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509" name="Google Shape;5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7"/>
          <p:cNvSpPr/>
          <p:nvPr/>
        </p:nvSpPr>
        <p:spPr>
          <a:xfrm>
            <a:off x="566928" y="222199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Reading shared state with useContext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37"/>
          <p:cNvCxnSpPr/>
          <p:nvPr/>
        </p:nvCxnSpPr>
        <p:spPr>
          <a:xfrm>
            <a:off x="566928" y="2852928"/>
            <a:ext cx="1234440" cy="0"/>
          </a:xfrm>
          <a:prstGeom prst="straightConnector1">
            <a:avLst/>
          </a:prstGeom>
          <a:noFill/>
          <a:ln cap="flat" cmpd="sng" w="2792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517" name="Google Shape;5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8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useContext reads the current provided value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8"/>
          <p:cNvSpPr/>
          <p:nvPr/>
        </p:nvSpPr>
        <p:spPr>
          <a:xfrm>
            <a:off x="868680" y="1143000"/>
            <a:ext cx="4114800" cy="822960"/>
          </a:xfrm>
          <a:prstGeom prst="roundRect">
            <a:avLst>
              <a:gd fmla="val 555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8"/>
          <p:cNvSpPr/>
          <p:nvPr/>
        </p:nvSpPr>
        <p:spPr>
          <a:xfrm>
            <a:off x="941832" y="1197864"/>
            <a:ext cx="396849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useContext } from "react";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displayPreferences =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useContext(DisplayPreferencesContext);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8"/>
          <p:cNvSpPr/>
          <p:nvPr/>
        </p:nvSpPr>
        <p:spPr>
          <a:xfrm>
            <a:off x="5440680" y="1143000"/>
            <a:ext cx="2743200" cy="658368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8"/>
          <p:cNvSpPr/>
          <p:nvPr/>
        </p:nvSpPr>
        <p:spPr>
          <a:xfrm>
            <a:off x="5550408" y="1216152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DisplayPreferencesContext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5550408" y="1508760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Which Context should this component read?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8"/>
          <p:cNvSpPr/>
          <p:nvPr/>
        </p:nvSpPr>
        <p:spPr>
          <a:xfrm>
            <a:off x="5440680" y="2057400"/>
            <a:ext cx="2743200" cy="658368"/>
          </a:xfrm>
          <a:prstGeom prst="roundRect">
            <a:avLst>
              <a:gd fmla="val 11111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8"/>
          <p:cNvSpPr/>
          <p:nvPr/>
        </p:nvSpPr>
        <p:spPr>
          <a:xfrm>
            <a:off x="5550408" y="2130552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useContext(...)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8"/>
          <p:cNvSpPr/>
          <p:nvPr/>
        </p:nvSpPr>
        <p:spPr>
          <a:xfrm>
            <a:off x="5550408" y="2423160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 the current value supplied by the matching provider above.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8"/>
          <p:cNvSpPr/>
          <p:nvPr/>
        </p:nvSpPr>
        <p:spPr>
          <a:xfrm>
            <a:off x="868680" y="2331720"/>
            <a:ext cx="4114800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8"/>
          <p:cNvSpPr/>
          <p:nvPr/>
        </p:nvSpPr>
        <p:spPr>
          <a:xfrm>
            <a:off x="941832" y="2386584"/>
            <a:ext cx="3968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DisplayPreferencesContextValue | null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8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 component that reads a Context value is a consumer of that Context.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535" name="Google Shape;5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9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nullable Context must be checked before use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/>
          <p:nvPr/>
        </p:nvSpPr>
        <p:spPr>
          <a:xfrm>
            <a:off x="685800" y="932688"/>
            <a:ext cx="4663440" cy="2148840"/>
          </a:xfrm>
          <a:prstGeom prst="roundRect">
            <a:avLst>
              <a:gd fmla="val 2128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9"/>
          <p:cNvSpPr/>
          <p:nvPr/>
        </p:nvSpPr>
        <p:spPr>
          <a:xfrm>
            <a:off x="758952" y="987552"/>
            <a:ext cx="451713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displayPreferences =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useContext(DisplayPreferencesContext);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(displayPreferences === null)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throw new Error(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"DisplayPreferencesContext provider is missing"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{ displayMode } = displayPreferences;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9"/>
          <p:cNvSpPr/>
          <p:nvPr/>
        </p:nvSpPr>
        <p:spPr>
          <a:xfrm>
            <a:off x="5623560" y="1005840"/>
            <a:ext cx="2697480" cy="566928"/>
          </a:xfrm>
          <a:prstGeom prst="roundRect">
            <a:avLst>
              <a:gd fmla="val 12903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9"/>
          <p:cNvSpPr/>
          <p:nvPr/>
        </p:nvSpPr>
        <p:spPr>
          <a:xfrm>
            <a:off x="5733288" y="107899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Before check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9"/>
          <p:cNvSpPr/>
          <p:nvPr/>
        </p:nvSpPr>
        <p:spPr>
          <a:xfrm>
            <a:off x="5733288" y="1371600"/>
            <a:ext cx="2478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ContextValue | null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9"/>
          <p:cNvSpPr/>
          <p:nvPr/>
        </p:nvSpPr>
        <p:spPr>
          <a:xfrm>
            <a:off x="5623560" y="1828800"/>
            <a:ext cx="2697480" cy="566928"/>
          </a:xfrm>
          <a:prstGeom prst="roundRect">
            <a:avLst>
              <a:gd fmla="val 12903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9"/>
          <p:cNvSpPr/>
          <p:nvPr/>
        </p:nvSpPr>
        <p:spPr>
          <a:xfrm>
            <a:off x="5733288" y="190195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After check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9"/>
          <p:cNvSpPr/>
          <p:nvPr/>
        </p:nvSpPr>
        <p:spPr>
          <a:xfrm>
            <a:off x="5733288" y="2194560"/>
            <a:ext cx="2478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ContextValue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9"/>
          <p:cNvSpPr/>
          <p:nvPr/>
        </p:nvSpPr>
        <p:spPr>
          <a:xfrm>
            <a:off x="5623560" y="2743200"/>
            <a:ext cx="2697480" cy="658368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9"/>
          <p:cNvSpPr/>
          <p:nvPr/>
        </p:nvSpPr>
        <p:spPr>
          <a:xfrm>
            <a:off x="5733288" y="281635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Setup mistakes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9"/>
          <p:cNvSpPr/>
          <p:nvPr/>
        </p:nvSpPr>
        <p:spPr>
          <a:xfrm>
            <a:off x="5733288" y="3108960"/>
            <a:ext cx="24780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check catches a required consumer rendered outside the provider.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553" name="Google Shape;5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0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DisplayModeBadge reads the preference directly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0"/>
          <p:cNvSpPr/>
          <p:nvPr/>
        </p:nvSpPr>
        <p:spPr>
          <a:xfrm>
            <a:off x="658368" y="914400"/>
            <a:ext cx="3657600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0"/>
          <p:cNvSpPr/>
          <p:nvPr/>
        </p:nvSpPr>
        <p:spPr>
          <a:xfrm>
            <a:off x="768096" y="987552"/>
            <a:ext cx="3438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0"/>
          <p:cNvSpPr/>
          <p:nvPr/>
        </p:nvSpPr>
        <p:spPr>
          <a:xfrm>
            <a:off x="877824" y="1389888"/>
            <a:ext cx="3200400" cy="1143000"/>
          </a:xfrm>
          <a:prstGeom prst="roundRect">
            <a:avLst>
              <a:gd fmla="val 4000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0"/>
          <p:cNvSpPr/>
          <p:nvPr/>
        </p:nvSpPr>
        <p:spPr>
          <a:xfrm>
            <a:off x="950976" y="1444752"/>
            <a:ext cx="3054096" cy="103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AppHeader({ displayMode }: AppHeaderProps) {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&lt;DisplayModeBadge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displayMode={displayMode}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/&gt;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0"/>
          <p:cNvSpPr/>
          <p:nvPr/>
        </p:nvSpPr>
        <p:spPr>
          <a:xfrm>
            <a:off x="4663440" y="914400"/>
            <a:ext cx="3822192" cy="2194560"/>
          </a:xfrm>
          <a:prstGeom prst="roundRect">
            <a:avLst>
              <a:gd fmla="val 3333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0"/>
          <p:cNvSpPr/>
          <p:nvPr/>
        </p:nvSpPr>
        <p:spPr>
          <a:xfrm>
            <a:off x="4773168" y="987552"/>
            <a:ext cx="36027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0"/>
          <p:cNvSpPr/>
          <p:nvPr/>
        </p:nvSpPr>
        <p:spPr>
          <a:xfrm>
            <a:off x="4882896" y="1389888"/>
            <a:ext cx="3383280" cy="1143000"/>
          </a:xfrm>
          <a:prstGeom prst="roundRect">
            <a:avLst>
              <a:gd fmla="val 4000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0"/>
          <p:cNvSpPr/>
          <p:nvPr/>
        </p:nvSpPr>
        <p:spPr>
          <a:xfrm>
            <a:off x="4956048" y="1444752"/>
            <a:ext cx="3236976" cy="103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displayPreferences =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useContext(DisplayPreferencesContext);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5"/>
              <a:buFont typeface="Arial"/>
              <a:buNone/>
            </a:pPr>
            <a:r>
              <a:t/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provider check from previous slide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5"/>
              <a:buFont typeface="Arial"/>
              <a:buNone/>
            </a:pPr>
            <a:r>
              <a:t/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(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&lt;span&gt;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Display: {displayPreferences.displayMode}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&lt;/span&gt;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5"/>
              <a:buFont typeface="Courier New"/>
              <a:buNone/>
            </a:pPr>
            <a:r>
              <a:rPr b="0" i="0" lang="en" sz="66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6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0"/>
          <p:cNvSpPr/>
          <p:nvPr/>
        </p:nvSpPr>
        <p:spPr>
          <a:xfrm>
            <a:off x="658368" y="3456432"/>
            <a:ext cx="7818120" cy="530352"/>
          </a:xfrm>
          <a:prstGeom prst="roundRect">
            <a:avLst>
              <a:gd fmla="val 13793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0"/>
          <p:cNvSpPr/>
          <p:nvPr/>
        </p:nvSpPr>
        <p:spPr>
          <a:xfrm>
            <a:off x="768096" y="3529584"/>
            <a:ext cx="7598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Browser result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0"/>
          <p:cNvSpPr/>
          <p:nvPr/>
        </p:nvSpPr>
        <p:spPr>
          <a:xfrm>
            <a:off x="768096" y="3822192"/>
            <a:ext cx="7598664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Display: Comfortable        The visible result stays the same. The forwarding dependency disappears.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571" name="Google Shape;5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1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SessionList uses URL state and Context for different concerns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1"/>
          <p:cNvSpPr/>
          <p:nvPr/>
        </p:nvSpPr>
        <p:spPr>
          <a:xfrm>
            <a:off x="658368" y="932688"/>
            <a:ext cx="374904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1"/>
          <p:cNvSpPr/>
          <p:nvPr/>
        </p:nvSpPr>
        <p:spPr>
          <a:xfrm>
            <a:off x="768096" y="1005840"/>
            <a:ext cx="3529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sessions appear?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1"/>
          <p:cNvSpPr/>
          <p:nvPr/>
        </p:nvSpPr>
        <p:spPr>
          <a:xfrm>
            <a:off x="768096" y="1298448"/>
            <a:ext cx="3529584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URL search parameter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selectedTrack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visibleSessions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1"/>
          <p:cNvSpPr/>
          <p:nvPr/>
        </p:nvSpPr>
        <p:spPr>
          <a:xfrm>
            <a:off x="896112" y="2514600"/>
            <a:ext cx="3273552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1"/>
          <p:cNvSpPr/>
          <p:nvPr/>
        </p:nvSpPr>
        <p:spPr>
          <a:xfrm>
            <a:off x="969264" y="2569464"/>
            <a:ext cx="3127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&lt;SessionList sessions={visibleSessions} /&gt;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1"/>
          <p:cNvSpPr/>
          <p:nvPr/>
        </p:nvSpPr>
        <p:spPr>
          <a:xfrm>
            <a:off x="4736592" y="932688"/>
            <a:ext cx="3749040" cy="2286000"/>
          </a:xfrm>
          <a:prstGeom prst="roundRect">
            <a:avLst>
              <a:gd fmla="val 320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1"/>
          <p:cNvSpPr/>
          <p:nvPr/>
        </p:nvSpPr>
        <p:spPr>
          <a:xfrm>
            <a:off x="4846320" y="1005840"/>
            <a:ext cx="3529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sessions are presented?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1"/>
          <p:cNvSpPr/>
          <p:nvPr/>
        </p:nvSpPr>
        <p:spPr>
          <a:xfrm>
            <a:off x="4846320" y="1298448"/>
            <a:ext cx="3529584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Shared Context value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compact or comfortable spacing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1"/>
          <p:cNvSpPr/>
          <p:nvPr/>
        </p:nvSpPr>
        <p:spPr>
          <a:xfrm>
            <a:off x="4956048" y="2331720"/>
            <a:ext cx="3291840" cy="502920"/>
          </a:xfrm>
          <a:prstGeom prst="roundRect">
            <a:avLst>
              <a:gd fmla="val 9091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1"/>
          <p:cNvSpPr/>
          <p:nvPr/>
        </p:nvSpPr>
        <p:spPr>
          <a:xfrm>
            <a:off x="5029200" y="2386584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{ displayMode } = displayPreferences;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"/>
              <a:buFont typeface="Arial"/>
              <a:buNone/>
            </a:pPr>
            <a:r>
              <a:t/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&lt;ul className={`item-list item-list--${displayMode}`}&gt;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1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Changing the display preference does not replace or duplicate the URL-backed filter.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2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removes the read-only forwarding paths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2"/>
          <p:cNvSpPr/>
          <p:nvPr/>
        </p:nvSpPr>
        <p:spPr>
          <a:xfrm>
            <a:off x="658368" y="868680"/>
            <a:ext cx="38404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"/>
              <a:buFont typeface="Arial"/>
              <a:buNone/>
            </a:pPr>
            <a:r>
              <a:t/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AppHeader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| displayMode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DisplayModeBadge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Home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| displayMode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| onDisplayModeChange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PreferencesPanel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| displayMode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| onDisplayModeChange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`-- DisplayModeControls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Sessions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 displayMode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SessionList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2"/>
          <p:cNvSpPr/>
          <p:nvPr/>
        </p:nvSpPr>
        <p:spPr>
          <a:xfrm>
            <a:off x="4617720" y="868680"/>
            <a:ext cx="38862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After migrating read consumers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"/>
              <a:buFont typeface="Arial"/>
              <a:buNone/>
            </a:pPr>
            <a:r>
              <a:t/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AppHeader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DisplayModeBadge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reads Context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Home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| displayMode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| onDisplayModeChange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PreferencesPanel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| displayMode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| onDisplayModeChange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    `-- DisplayModeControls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Sessions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SessionList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30"/>
              <a:buFont typeface="Courier New"/>
              <a:buNone/>
            </a:pPr>
            <a:r>
              <a:rPr b="0" i="0" lang="en" sz="103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reads Context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2"/>
          <p:cNvSpPr/>
          <p:nvPr/>
        </p:nvSpPr>
        <p:spPr>
          <a:xfrm>
            <a:off x="749800" y="4069074"/>
            <a:ext cx="7635300" cy="566400"/>
          </a:xfrm>
          <a:prstGeom prst="roundRect">
            <a:avLst>
              <a:gd fmla="val 14545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2"/>
          <p:cNvSpPr/>
          <p:nvPr/>
        </p:nvSpPr>
        <p:spPr>
          <a:xfrm>
            <a:off x="859536" y="4142232"/>
            <a:ext cx="7415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Current result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2"/>
          <p:cNvSpPr/>
          <p:nvPr/>
        </p:nvSpPr>
        <p:spPr>
          <a:xfrm>
            <a:off x="859536" y="4434840"/>
            <a:ext cx="7415784" cy="64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State owner unchanged. Read-only forwarding paths removed. Update path still passes through Home and PreferencesPanel.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600" name="Google Shape;60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3"/>
          <p:cNvSpPr/>
          <p:nvPr/>
        </p:nvSpPr>
        <p:spPr>
          <a:xfrm>
            <a:off x="566928" y="222199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Updating shared state through Context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43"/>
          <p:cNvCxnSpPr/>
          <p:nvPr/>
        </p:nvCxnSpPr>
        <p:spPr>
          <a:xfrm>
            <a:off x="566928" y="2852928"/>
            <a:ext cx="1234440" cy="0"/>
          </a:xfrm>
          <a:prstGeom prst="straightConnector1">
            <a:avLst/>
          </a:prstGeom>
          <a:noFill/>
          <a:ln cap="flat" cmpd="sng" w="2792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shared contract already includes update behaviour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777250" y="960127"/>
            <a:ext cx="4572000" cy="1484700"/>
          </a:xfrm>
          <a:prstGeom prst="roundRect">
            <a:avLst>
              <a:gd fmla="val 4237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4"/>
          <p:cNvSpPr/>
          <p:nvPr/>
        </p:nvSpPr>
        <p:spPr>
          <a:xfrm>
            <a:off x="850400" y="1014972"/>
            <a:ext cx="44256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DisplayPreferencesContextValue = {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displayMode: DisplayMode;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changeDisplayMode: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(nextMode: DisplayMode) =&gt; void;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5669280" y="960120"/>
            <a:ext cx="2697480" cy="6858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4"/>
          <p:cNvSpPr/>
          <p:nvPr/>
        </p:nvSpPr>
        <p:spPr>
          <a:xfrm>
            <a:off x="5779008" y="103327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4"/>
          <p:cNvSpPr/>
          <p:nvPr/>
        </p:nvSpPr>
        <p:spPr>
          <a:xfrm>
            <a:off x="5779008" y="1325880"/>
            <a:ext cx="2478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 the current preference.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4"/>
          <p:cNvSpPr/>
          <p:nvPr/>
        </p:nvSpPr>
        <p:spPr>
          <a:xfrm>
            <a:off x="5669280" y="1874520"/>
            <a:ext cx="2697480" cy="804672"/>
          </a:xfrm>
          <a:prstGeom prst="roundRect">
            <a:avLst>
              <a:gd fmla="val 9091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4"/>
          <p:cNvSpPr/>
          <p:nvPr/>
        </p:nvSpPr>
        <p:spPr>
          <a:xfrm>
            <a:off x="5779008" y="194767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Request a change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5779008" y="2240280"/>
            <a:ext cx="2478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changeDisplayMode(nextMode)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Invoke App-owned behaviour.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function idea is familiar from callback props; Context changes how the descendant gains access.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623" name="Google Shape;62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5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DisplayModeControls uses the shared update behaviour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5"/>
          <p:cNvSpPr/>
          <p:nvPr/>
        </p:nvSpPr>
        <p:spPr>
          <a:xfrm>
            <a:off x="777240" y="1005840"/>
            <a:ext cx="3474720" cy="868680"/>
          </a:xfrm>
          <a:prstGeom prst="roundRect">
            <a:avLst>
              <a:gd fmla="val 5263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5"/>
          <p:cNvSpPr/>
          <p:nvPr/>
        </p:nvSpPr>
        <p:spPr>
          <a:xfrm>
            <a:off x="850392" y="1060704"/>
            <a:ext cx="3328416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{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displayMode,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changeDisplayMode,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 = displayPreferences;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5"/>
          <p:cNvSpPr/>
          <p:nvPr/>
        </p:nvSpPr>
        <p:spPr>
          <a:xfrm>
            <a:off x="4572000" y="1005840"/>
            <a:ext cx="3749040" cy="1207008"/>
          </a:xfrm>
          <a:prstGeom prst="roundRect">
            <a:avLst>
              <a:gd fmla="val 3788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5"/>
          <p:cNvSpPr/>
          <p:nvPr/>
        </p:nvSpPr>
        <p:spPr>
          <a:xfrm>
            <a:off x="4645152" y="1060704"/>
            <a:ext cx="36027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5"/>
              <a:buFont typeface="Courier New"/>
              <a:buNone/>
            </a:pPr>
            <a:r>
              <a:rPr b="0" i="0" lang="en" sz="73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7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5"/>
              <a:buFont typeface="Courier New"/>
              <a:buNone/>
            </a:pPr>
            <a:r>
              <a:rPr b="0" i="0" lang="en" sz="73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className={displayMode === "compact" ? "active" : ""}</a:t>
            </a:r>
            <a:endParaRPr b="0" i="0" sz="7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5"/>
              <a:buFont typeface="Courier New"/>
              <a:buNone/>
            </a:pPr>
            <a:r>
              <a:rPr b="0" i="0" lang="en" sz="73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onClick={() =&gt; changeDisplayMode("compact")}</a:t>
            </a:r>
            <a:endParaRPr b="0" i="0" sz="7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5"/>
              <a:buFont typeface="Courier New"/>
              <a:buNone/>
            </a:pPr>
            <a:r>
              <a:rPr b="0" i="0" lang="en" sz="73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7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5"/>
              <a:buFont typeface="Courier New"/>
              <a:buNone/>
            </a:pPr>
            <a:r>
              <a:rPr b="0" i="0" lang="en" sz="73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Compact</a:t>
            </a:r>
            <a:endParaRPr b="0" i="0" sz="7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5"/>
              <a:buFont typeface="Courier New"/>
              <a:buNone/>
            </a:pPr>
            <a:r>
              <a:rPr b="0" i="0" lang="en" sz="73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7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5"/>
          <p:cNvSpPr/>
          <p:nvPr/>
        </p:nvSpPr>
        <p:spPr>
          <a:xfrm>
            <a:off x="777240" y="2423160"/>
            <a:ext cx="7543800" cy="841248"/>
          </a:xfrm>
          <a:prstGeom prst="roundRect">
            <a:avLst>
              <a:gd fmla="val 8696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/>
          <p:nvPr/>
        </p:nvSpPr>
        <p:spPr>
          <a:xfrm>
            <a:off x="886968" y="2496312"/>
            <a:ext cx="7324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DisplayModeControls now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5"/>
          <p:cNvSpPr/>
          <p:nvPr/>
        </p:nvSpPr>
        <p:spPr>
          <a:xfrm>
            <a:off x="886968" y="2788920"/>
            <a:ext cx="73243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reads the current mode and requests a new mode without receiving either value through Home or PreferencesPanel.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5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remaining prop-drilled update path disappears.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Follow one shared-state update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6"/>
          <p:cNvSpPr/>
          <p:nvPr/>
        </p:nvSpPr>
        <p:spPr>
          <a:xfrm>
            <a:off x="658368" y="914400"/>
            <a:ext cx="2240280" cy="1078992"/>
          </a:xfrm>
          <a:prstGeom prst="roundRect">
            <a:avLst>
              <a:gd fmla="val 678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6"/>
          <p:cNvSpPr/>
          <p:nvPr/>
        </p:nvSpPr>
        <p:spPr>
          <a:xfrm>
            <a:off x="768096" y="1024128"/>
            <a:ext cx="256032" cy="256032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6"/>
          <p:cNvSpPr/>
          <p:nvPr/>
        </p:nvSpPr>
        <p:spPr>
          <a:xfrm>
            <a:off x="768096" y="1097280"/>
            <a:ext cx="25603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6"/>
          <p:cNvSpPr/>
          <p:nvPr/>
        </p:nvSpPr>
        <p:spPr>
          <a:xfrm>
            <a:off x="1097280" y="102412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 selects Compact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6"/>
          <p:cNvSpPr/>
          <p:nvPr/>
        </p:nvSpPr>
        <p:spPr>
          <a:xfrm>
            <a:off x="859536" y="14447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changeDisplayMode("compact");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6"/>
          <p:cNvSpPr/>
          <p:nvPr/>
        </p:nvSpPr>
        <p:spPr>
          <a:xfrm>
            <a:off x="3310128" y="914400"/>
            <a:ext cx="224028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6"/>
          <p:cNvSpPr/>
          <p:nvPr/>
        </p:nvSpPr>
        <p:spPr>
          <a:xfrm>
            <a:off x="3419856" y="1024128"/>
            <a:ext cx="256032" cy="256032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6"/>
          <p:cNvSpPr/>
          <p:nvPr/>
        </p:nvSpPr>
        <p:spPr>
          <a:xfrm>
            <a:off x="3419856" y="1097280"/>
            <a:ext cx="25603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6"/>
          <p:cNvSpPr/>
          <p:nvPr/>
        </p:nvSpPr>
        <p:spPr>
          <a:xfrm>
            <a:off x="3749040" y="102412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Shared function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6"/>
          <p:cNvSpPr/>
          <p:nvPr/>
        </p:nvSpPr>
        <p:spPr>
          <a:xfrm>
            <a:off x="3511296" y="14447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refers to handleDisplayModeChange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6"/>
          <p:cNvSpPr/>
          <p:nvPr/>
        </p:nvSpPr>
        <p:spPr>
          <a:xfrm>
            <a:off x="5961888" y="914400"/>
            <a:ext cx="2240280" cy="1078992"/>
          </a:xfrm>
          <a:prstGeom prst="roundRect">
            <a:avLst>
              <a:gd fmla="val 678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6"/>
          <p:cNvSpPr/>
          <p:nvPr/>
        </p:nvSpPr>
        <p:spPr>
          <a:xfrm>
            <a:off x="6071616" y="1024128"/>
            <a:ext cx="256032" cy="256032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6"/>
          <p:cNvSpPr/>
          <p:nvPr/>
        </p:nvSpPr>
        <p:spPr>
          <a:xfrm>
            <a:off x="6071616" y="1097280"/>
            <a:ext cx="25603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6"/>
          <p:cNvSpPr/>
          <p:nvPr/>
        </p:nvSpPr>
        <p:spPr>
          <a:xfrm>
            <a:off x="6400800" y="102412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 requests next state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6"/>
          <p:cNvSpPr/>
          <p:nvPr/>
        </p:nvSpPr>
        <p:spPr>
          <a:xfrm>
            <a:off x="6163056" y="14447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setDisplayMode("compact");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6"/>
          <p:cNvSpPr/>
          <p:nvPr/>
        </p:nvSpPr>
        <p:spPr>
          <a:xfrm>
            <a:off x="658368" y="2423160"/>
            <a:ext cx="224028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6"/>
          <p:cNvSpPr/>
          <p:nvPr/>
        </p:nvSpPr>
        <p:spPr>
          <a:xfrm>
            <a:off x="768096" y="2532888"/>
            <a:ext cx="256032" cy="256032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6"/>
          <p:cNvSpPr/>
          <p:nvPr/>
        </p:nvSpPr>
        <p:spPr>
          <a:xfrm>
            <a:off x="768096" y="2606040"/>
            <a:ext cx="25603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1097280" y="25328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Subsequent render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6"/>
          <p:cNvSpPr/>
          <p:nvPr/>
        </p:nvSpPr>
        <p:spPr>
          <a:xfrm>
            <a:off x="859536" y="29535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 = "compact"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6"/>
          <p:cNvSpPr/>
          <p:nvPr/>
        </p:nvSpPr>
        <p:spPr>
          <a:xfrm>
            <a:off x="3310128" y="2423160"/>
            <a:ext cx="224028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6"/>
          <p:cNvSpPr/>
          <p:nvPr/>
        </p:nvSpPr>
        <p:spPr>
          <a:xfrm>
            <a:off x="3419856" y="2532888"/>
            <a:ext cx="256032" cy="256032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6"/>
          <p:cNvSpPr/>
          <p:nvPr/>
        </p:nvSpPr>
        <p:spPr>
          <a:xfrm>
            <a:off x="3419856" y="2606040"/>
            <a:ext cx="25603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6"/>
          <p:cNvSpPr/>
          <p:nvPr/>
        </p:nvSpPr>
        <p:spPr>
          <a:xfrm>
            <a:off x="3749040" y="25328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Provider supplies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6"/>
          <p:cNvSpPr/>
          <p:nvPr/>
        </p:nvSpPr>
        <p:spPr>
          <a:xfrm>
            <a:off x="3511296" y="29535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displayMode: "compact"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6"/>
          <p:cNvSpPr/>
          <p:nvPr/>
        </p:nvSpPr>
        <p:spPr>
          <a:xfrm>
            <a:off x="5961888" y="2423160"/>
            <a:ext cx="2240280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6"/>
          <p:cNvSpPr/>
          <p:nvPr/>
        </p:nvSpPr>
        <p:spPr>
          <a:xfrm>
            <a:off x="6071616" y="2532888"/>
            <a:ext cx="256032" cy="256032"/>
          </a:xfrm>
          <a:prstGeom prst="ellipse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6"/>
          <p:cNvSpPr/>
          <p:nvPr/>
        </p:nvSpPr>
        <p:spPr>
          <a:xfrm>
            <a:off x="6071616" y="2606040"/>
            <a:ext cx="256032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6"/>
          <p:cNvSpPr/>
          <p:nvPr/>
        </p:nvSpPr>
        <p:spPr>
          <a:xfrm>
            <a:off x="6400800" y="25328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Consumers render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6163056" y="29535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Badge, Controls, SessionList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6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interaction begins in a distant consumer, but the state still changes in App.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676" name="Google Shape;67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7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shared state keeps distant consumers consistent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7"/>
          <p:cNvSpPr/>
          <p:nvPr/>
        </p:nvSpPr>
        <p:spPr>
          <a:xfrm>
            <a:off x="658368" y="91440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7"/>
          <p:cNvSpPr/>
          <p:nvPr/>
        </p:nvSpPr>
        <p:spPr>
          <a:xfrm>
            <a:off x="768096" y="987552"/>
            <a:ext cx="2295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Start: Comfortable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7"/>
          <p:cNvSpPr/>
          <p:nvPr/>
        </p:nvSpPr>
        <p:spPr>
          <a:xfrm>
            <a:off x="768096" y="1280160"/>
            <a:ext cx="2295144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Display: Comfortable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Comfortable selected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7"/>
          <p:cNvSpPr/>
          <p:nvPr/>
        </p:nvSpPr>
        <p:spPr>
          <a:xfrm>
            <a:off x="3429000" y="914400"/>
            <a:ext cx="2103120" cy="1417320"/>
          </a:xfrm>
          <a:prstGeom prst="roundRect">
            <a:avLst>
              <a:gd fmla="val 5161" name="adj"/>
            </a:avLst>
          </a:prstGeom>
          <a:solidFill>
            <a:srgbClr val="FEF9C3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7"/>
          <p:cNvSpPr/>
          <p:nvPr/>
        </p:nvSpPr>
        <p:spPr>
          <a:xfrm>
            <a:off x="3538728" y="987552"/>
            <a:ext cx="1883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 selects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7"/>
          <p:cNvSpPr/>
          <p:nvPr/>
        </p:nvSpPr>
        <p:spPr>
          <a:xfrm>
            <a:off x="3538728" y="1280160"/>
            <a:ext cx="1883664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Compact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7"/>
          <p:cNvSpPr/>
          <p:nvPr/>
        </p:nvSpPr>
        <p:spPr>
          <a:xfrm>
            <a:off x="5806440" y="91440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7"/>
          <p:cNvSpPr/>
          <p:nvPr/>
        </p:nvSpPr>
        <p:spPr>
          <a:xfrm>
            <a:off x="5916168" y="987552"/>
            <a:ext cx="2295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After update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7"/>
          <p:cNvSpPr/>
          <p:nvPr/>
        </p:nvSpPr>
        <p:spPr>
          <a:xfrm>
            <a:off x="5916168" y="1280160"/>
            <a:ext cx="2295144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Display: Compact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Preferences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10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Compact selected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7"/>
          <p:cNvSpPr/>
          <p:nvPr/>
        </p:nvSpPr>
        <p:spPr>
          <a:xfrm>
            <a:off x="1097280" y="2743200"/>
            <a:ext cx="6949440" cy="777240"/>
          </a:xfrm>
          <a:prstGeom prst="roundRect">
            <a:avLst>
              <a:gd fmla="val 9412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7"/>
          <p:cNvSpPr/>
          <p:nvPr/>
        </p:nvSpPr>
        <p:spPr>
          <a:xfrm>
            <a:off x="1207008" y="2816352"/>
            <a:ext cx="67299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7"/>
          <p:cNvSpPr/>
          <p:nvPr/>
        </p:nvSpPr>
        <p:spPr>
          <a:xfrm>
            <a:off x="1207008" y="3108960"/>
            <a:ext cx="6729984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 cards use the compact presentation immediately.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7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These views stay consistent because they read the same App-owned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8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What is managing the shared state?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8"/>
          <p:cNvSpPr/>
          <p:nvPr/>
        </p:nvSpPr>
        <p:spPr>
          <a:xfrm>
            <a:off x="685800" y="960125"/>
            <a:ext cx="37491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12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Completed implementation: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12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App calls useState.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12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App provides displayMode and changeDisplayMode.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0"/>
              <a:buFont typeface="Arial"/>
              <a:buNone/>
            </a:pPr>
            <a:r>
              <a:rPr b="0" i="0" lang="en" sz="12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Consumers read Context and request changes.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8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8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8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8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owns displayMode because it makes the value available throughout the application.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8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8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8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DisplayModeControls owns displayMode because the user changes the value there.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8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8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8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 owns the state; Context provides an access path to the current value and update behaviour.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8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8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8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Each component using useContext stores its own copy of displayMode.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8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App still stores the state with useState. Context changes how descendants access the shared value and behaviour.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717" name="Google Shape;71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9"/>
          <p:cNvSpPr/>
          <p:nvPr/>
        </p:nvSpPr>
        <p:spPr>
          <a:xfrm>
            <a:off x="566928" y="2221992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scope and design choices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p49"/>
          <p:cNvCxnSpPr/>
          <p:nvPr/>
        </p:nvCxnSpPr>
        <p:spPr>
          <a:xfrm>
            <a:off x="566928" y="2852928"/>
            <a:ext cx="1234440" cy="0"/>
          </a:xfrm>
          <a:prstGeom prst="straightConnector1">
            <a:avLst/>
          </a:prstGeom>
          <a:noFill/>
          <a:ln cap="flat" cmpd="sng" w="2792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725" name="Google Shape;72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0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nearest matching provider supplies the value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0"/>
          <p:cNvSpPr/>
          <p:nvPr/>
        </p:nvSpPr>
        <p:spPr>
          <a:xfrm>
            <a:off x="713232" y="841248"/>
            <a:ext cx="512064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Outer DisplayPreferencesContext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displayMode = "comfortable"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|-- Home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   `-- DisplayModeBadge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DemoArea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|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`-- Inner DisplayPreferencesContext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displayMode = "compact"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|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10"/>
              <a:buFont typeface="Courier New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`-- DemoSessionList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0"/>
          <p:cNvSpPr/>
          <p:nvPr/>
        </p:nvSpPr>
        <p:spPr>
          <a:xfrm>
            <a:off x="6080760" y="1143000"/>
            <a:ext cx="237744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0"/>
          <p:cNvSpPr/>
          <p:nvPr/>
        </p:nvSpPr>
        <p:spPr>
          <a:xfrm>
            <a:off x="6190488" y="1216152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DisplayModeBadge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0"/>
          <p:cNvSpPr/>
          <p:nvPr/>
        </p:nvSpPr>
        <p:spPr>
          <a:xfrm>
            <a:off x="6190488" y="150876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nearest provider: comfortable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0"/>
          <p:cNvSpPr/>
          <p:nvPr/>
        </p:nvSpPr>
        <p:spPr>
          <a:xfrm>
            <a:off x="6080760" y="2148840"/>
            <a:ext cx="2377440" cy="658368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0"/>
          <p:cNvSpPr/>
          <p:nvPr/>
        </p:nvSpPr>
        <p:spPr>
          <a:xfrm>
            <a:off x="6190488" y="2221992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DemoSessionList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0"/>
          <p:cNvSpPr/>
          <p:nvPr/>
        </p:nvSpPr>
        <p:spPr>
          <a:xfrm>
            <a:off x="6190488" y="251460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nearest provider: compact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0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 consumer reads the value from the closest matching provider above it.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740" name="Google Shape;74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1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Without a provider, the fallback value is used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1"/>
          <p:cNvSpPr/>
          <p:nvPr/>
        </p:nvSpPr>
        <p:spPr>
          <a:xfrm>
            <a:off x="685800" y="960120"/>
            <a:ext cx="3931920" cy="822960"/>
          </a:xfrm>
          <a:prstGeom prst="roundRect">
            <a:avLst>
              <a:gd fmla="val 555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1"/>
          <p:cNvSpPr/>
          <p:nvPr/>
        </p:nvSpPr>
        <p:spPr>
          <a:xfrm>
            <a:off x="758952" y="1014984"/>
            <a:ext cx="378561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DisplayPreferencesContext =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createContext&lt;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DisplayPreferencesContextValue | null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&gt;(null);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1"/>
          <p:cNvSpPr/>
          <p:nvPr/>
        </p:nvSpPr>
        <p:spPr>
          <a:xfrm>
            <a:off x="5074920" y="960120"/>
            <a:ext cx="3291840" cy="822960"/>
          </a:xfrm>
          <a:prstGeom prst="roundRect">
            <a:avLst>
              <a:gd fmla="val 8889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1"/>
          <p:cNvSpPr/>
          <p:nvPr/>
        </p:nvSpPr>
        <p:spPr>
          <a:xfrm>
            <a:off x="5184648" y="1033272"/>
            <a:ext cx="3072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 matching provider above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1"/>
          <p:cNvSpPr/>
          <p:nvPr/>
        </p:nvSpPr>
        <p:spPr>
          <a:xfrm>
            <a:off x="5184648" y="1325880"/>
            <a:ext cx="3072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useContext(DisplayPreferencesContext) produces null.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1"/>
          <p:cNvSpPr/>
          <p:nvPr/>
        </p:nvSpPr>
        <p:spPr>
          <a:xfrm>
            <a:off x="685800" y="2148840"/>
            <a:ext cx="4572000" cy="914400"/>
          </a:xfrm>
          <a:prstGeom prst="roundRect">
            <a:avLst>
              <a:gd fmla="val 5000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1"/>
          <p:cNvSpPr/>
          <p:nvPr/>
        </p:nvSpPr>
        <p:spPr>
          <a:xfrm>
            <a:off x="758952" y="2203704"/>
            <a:ext cx="4425696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(displayPreferences === null) {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throw new Error(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"DisplayPreferencesContext provider is missing"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1"/>
          <p:cNvSpPr/>
          <p:nvPr/>
        </p:nvSpPr>
        <p:spPr>
          <a:xfrm>
            <a:off x="5532120" y="2331720"/>
            <a:ext cx="2697480" cy="6858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1"/>
          <p:cNvSpPr/>
          <p:nvPr/>
        </p:nvSpPr>
        <p:spPr>
          <a:xfrm>
            <a:off x="5641848" y="2404872"/>
            <a:ext cx="247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Fallback rule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1"/>
          <p:cNvSpPr/>
          <p:nvPr/>
        </p:nvSpPr>
        <p:spPr>
          <a:xfrm>
            <a:off x="5641848" y="2697480"/>
            <a:ext cx="2478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Provider above: provided value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 provider: fallback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51"/>
          <p:cNvSpPr/>
          <p:nvPr/>
        </p:nvSpPr>
        <p:spPr>
          <a:xfrm>
            <a:off x="594360" y="4251960"/>
            <a:ext cx="7269480" cy="5029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fallback does not replace the provider or create application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758" name="Google Shape;75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52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Props or Context depends on the path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2"/>
          <p:cNvSpPr/>
          <p:nvPr/>
        </p:nvSpPr>
        <p:spPr>
          <a:xfrm>
            <a:off x="658368" y="914400"/>
            <a:ext cx="3657600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2"/>
          <p:cNvSpPr/>
          <p:nvPr/>
        </p:nvSpPr>
        <p:spPr>
          <a:xfrm>
            <a:off x="768096" y="987552"/>
            <a:ext cx="3438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A. Direct relationship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52"/>
          <p:cNvSpPr/>
          <p:nvPr/>
        </p:nvSpPr>
        <p:spPr>
          <a:xfrm>
            <a:off x="868680" y="138988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ProductCard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PriceLabel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52"/>
          <p:cNvSpPr/>
          <p:nvPr/>
        </p:nvSpPr>
        <p:spPr>
          <a:xfrm>
            <a:off x="868680" y="1920240"/>
            <a:ext cx="3108960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2"/>
          <p:cNvSpPr/>
          <p:nvPr/>
        </p:nvSpPr>
        <p:spPr>
          <a:xfrm>
            <a:off x="941832" y="1975104"/>
            <a:ext cx="29626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&lt;PriceLabel price={price} 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2"/>
          <p:cNvSpPr/>
          <p:nvPr/>
        </p:nvSpPr>
        <p:spPr>
          <a:xfrm>
            <a:off x="868680" y="248716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props.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ProductCard already has the value and directly configures its child.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2"/>
          <p:cNvSpPr/>
          <p:nvPr/>
        </p:nvSpPr>
        <p:spPr>
          <a:xfrm>
            <a:off x="4617720" y="914400"/>
            <a:ext cx="3840480" cy="2606040"/>
          </a:xfrm>
          <a:prstGeom prst="roundRect">
            <a:avLst>
              <a:gd fmla="val 280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2"/>
          <p:cNvSpPr/>
          <p:nvPr/>
        </p:nvSpPr>
        <p:spPr>
          <a:xfrm>
            <a:off x="4727448" y="987552"/>
            <a:ext cx="3621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B. Distant branches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2"/>
          <p:cNvSpPr/>
          <p:nvPr/>
        </p:nvSpPr>
        <p:spPr>
          <a:xfrm>
            <a:off x="4828032" y="1344168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Header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AccountBadge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Dashboard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AccountControls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Reports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ReportHeader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2"/>
          <p:cNvSpPr/>
          <p:nvPr/>
        </p:nvSpPr>
        <p:spPr>
          <a:xfrm>
            <a:off x="4828032" y="2395728"/>
            <a:ext cx="3246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Consider Context.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Several distant descendants need the same account information.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2"/>
          <p:cNvSpPr/>
          <p:nvPr/>
        </p:nvSpPr>
        <p:spPr>
          <a:xfrm>
            <a:off x="658368" y="3840480"/>
            <a:ext cx="7799832" cy="457200"/>
          </a:xfrm>
          <a:prstGeom prst="roundRect">
            <a:avLst>
              <a:gd fmla="val 16000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2"/>
          <p:cNvSpPr/>
          <p:nvPr/>
        </p:nvSpPr>
        <p:spPr>
          <a:xfrm>
            <a:off x="768096" y="3950208"/>
            <a:ext cx="7580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props when explicit parent-to-child passing is clear. Consider Context when shared information must cross distant branches and forwarding-only dependencies grow.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777" name="Google Shape;77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53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can also share reducer state and dispatch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3"/>
          <p:cNvSpPr/>
          <p:nvPr/>
        </p:nvSpPr>
        <p:spPr>
          <a:xfrm>
            <a:off x="822960" y="1005840"/>
            <a:ext cx="3749040" cy="475488"/>
          </a:xfrm>
          <a:prstGeom prst="roundRect">
            <a:avLst>
              <a:gd fmla="val 9615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3"/>
          <p:cNvSpPr/>
          <p:nvPr/>
        </p:nvSpPr>
        <p:spPr>
          <a:xfrm>
            <a:off x="896112" y="1060704"/>
            <a:ext cx="36027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[state, dispatch] =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useReducer(reducer, initialState);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3"/>
          <p:cNvSpPr/>
          <p:nvPr/>
        </p:nvSpPr>
        <p:spPr>
          <a:xfrm>
            <a:off x="960120" y="1783080"/>
            <a:ext cx="3383280" cy="685800"/>
          </a:xfrm>
          <a:prstGeom prst="roundRect">
            <a:avLst>
              <a:gd fmla="val 1066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3"/>
          <p:cNvSpPr/>
          <p:nvPr/>
        </p:nvSpPr>
        <p:spPr>
          <a:xfrm>
            <a:off x="1069848" y="1856232"/>
            <a:ext cx="3163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useReducer gives a component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3"/>
          <p:cNvSpPr/>
          <p:nvPr/>
        </p:nvSpPr>
        <p:spPr>
          <a:xfrm>
            <a:off x="1069848" y="2148840"/>
            <a:ext cx="3163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state     dispatch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3"/>
          <p:cNvSpPr/>
          <p:nvPr/>
        </p:nvSpPr>
        <p:spPr>
          <a:xfrm>
            <a:off x="4983480" y="1005840"/>
            <a:ext cx="3291840" cy="960120"/>
          </a:xfrm>
          <a:prstGeom prst="roundRect">
            <a:avLst>
              <a:gd fmla="val 4762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3"/>
          <p:cNvSpPr/>
          <p:nvPr/>
        </p:nvSpPr>
        <p:spPr>
          <a:xfrm>
            <a:off x="5056632" y="1060704"/>
            <a:ext cx="3145536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&lt;CartContext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value={{ state, dispatch }}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{/* descendants */}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&lt;/CartContext&gt;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3"/>
          <p:cNvSpPr/>
          <p:nvPr/>
        </p:nvSpPr>
        <p:spPr>
          <a:xfrm>
            <a:off x="5074920" y="2267712"/>
            <a:ext cx="3108960" cy="685800"/>
          </a:xfrm>
          <a:prstGeom prst="roundRect">
            <a:avLst>
              <a:gd fmla="val 10667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53"/>
          <p:cNvSpPr/>
          <p:nvPr/>
        </p:nvSpPr>
        <p:spPr>
          <a:xfrm>
            <a:off x="5184648" y="2340864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Distant descendants access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3"/>
          <p:cNvSpPr/>
          <p:nvPr/>
        </p:nvSpPr>
        <p:spPr>
          <a:xfrm>
            <a:off x="5184648" y="2633472"/>
            <a:ext cx="2889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same reducer state and dispatch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3"/>
          <p:cNvSpPr/>
          <p:nvPr/>
        </p:nvSpPr>
        <p:spPr>
          <a:xfrm>
            <a:off x="868680" y="3383280"/>
            <a:ext cx="7406640" cy="530352"/>
          </a:xfrm>
          <a:prstGeom prst="roundRect">
            <a:avLst>
              <a:gd fmla="val 13793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3"/>
          <p:cNvSpPr/>
          <p:nvPr/>
        </p:nvSpPr>
        <p:spPr>
          <a:xfrm>
            <a:off x="978408" y="3456432"/>
            <a:ext cx="71871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Responsibilities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3"/>
          <p:cNvSpPr/>
          <p:nvPr/>
        </p:nvSpPr>
        <p:spPr>
          <a:xfrm>
            <a:off x="978408" y="3749040"/>
            <a:ext cx="7187184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useReducer organizes how state updates are calculated. Context makes state and dispatch available through a subtree.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797" name="Google Shape;79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4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Activity: Team Workspace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4"/>
          <p:cNvSpPr/>
          <p:nvPr/>
        </p:nvSpPr>
        <p:spPr>
          <a:xfrm>
            <a:off x="658368" y="932688"/>
            <a:ext cx="3474720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4"/>
          <p:cNvSpPr/>
          <p:nvPr/>
        </p:nvSpPr>
        <p:spPr>
          <a:xfrm>
            <a:off x="768096" y="1005840"/>
            <a:ext cx="3255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Team Workspace UI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4"/>
          <p:cNvSpPr/>
          <p:nvPr/>
        </p:nvSpPr>
        <p:spPr>
          <a:xfrm>
            <a:off x="868680" y="138988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Top bar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Nina Patel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Available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4"/>
          <p:cNvSpPr/>
          <p:nvPr/>
        </p:nvSpPr>
        <p:spPr>
          <a:xfrm>
            <a:off x="868680" y="21488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Settings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Presence status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 Available ] [ Busy ]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4"/>
          <p:cNvSpPr/>
          <p:nvPr/>
        </p:nvSpPr>
        <p:spPr>
          <a:xfrm>
            <a:off x="4572000" y="91440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WorkspaceApp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WorkspaceLayout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|-- TopBar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   `-- PresenceBadge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SettingsPage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`-- AvailabilityPanel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`-- PresenceControls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4"/>
          <p:cNvSpPr/>
          <p:nvPr/>
        </p:nvSpPr>
        <p:spPr>
          <a:xfrm>
            <a:off x="4572000" y="2697480"/>
            <a:ext cx="3749040" cy="640080"/>
          </a:xfrm>
          <a:prstGeom prst="roundRect">
            <a:avLst>
              <a:gd fmla="val 11429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4"/>
          <p:cNvSpPr/>
          <p:nvPr/>
        </p:nvSpPr>
        <p:spPr>
          <a:xfrm>
            <a:off x="4681728" y="2770632"/>
            <a:ext cx="3529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4"/>
          <p:cNvSpPr/>
          <p:nvPr/>
        </p:nvSpPr>
        <p:spPr>
          <a:xfrm>
            <a:off x="4681728" y="3063240"/>
            <a:ext cx="3529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Refactor the shared presence feature to typed Context without changing where the state is owned.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4"/>
          <p:cNvSpPr/>
          <p:nvPr/>
        </p:nvSpPr>
        <p:spPr>
          <a:xfrm>
            <a:off x="868680" y="3886200"/>
            <a:ext cx="7315200" cy="384048"/>
          </a:xfrm>
          <a:prstGeom prst="roundRect">
            <a:avLst>
              <a:gd fmla="val 19048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4"/>
          <p:cNvSpPr/>
          <p:nvPr/>
        </p:nvSpPr>
        <p:spPr>
          <a:xfrm>
            <a:off x="978408" y="3995928"/>
            <a:ext cx="7095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Starter includes: UI · styling · component hierarchy · typed status · state owner · working prop version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814" name="Google Shape;81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5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Refactor presence status with typed Context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5"/>
          <p:cNvSpPr/>
          <p:nvPr/>
        </p:nvSpPr>
        <p:spPr>
          <a:xfrm>
            <a:off x="658368" y="914400"/>
            <a:ext cx="365760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5"/>
          <p:cNvSpPr/>
          <p:nvPr/>
        </p:nvSpPr>
        <p:spPr>
          <a:xfrm>
            <a:off x="768096" y="987552"/>
            <a:ext cx="3438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Already provided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5"/>
          <p:cNvSpPr/>
          <p:nvPr/>
        </p:nvSpPr>
        <p:spPr>
          <a:xfrm>
            <a:off x="868680" y="1417320"/>
            <a:ext cx="3200400" cy="914400"/>
          </a:xfrm>
          <a:prstGeom prst="roundRect">
            <a:avLst>
              <a:gd fmla="val 5000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55"/>
          <p:cNvSpPr/>
          <p:nvPr/>
        </p:nvSpPr>
        <p:spPr>
          <a:xfrm>
            <a:off x="941832" y="1472184"/>
            <a:ext cx="3054096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type PresenceStatus =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"available" | "busy";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"/>
              <a:buFont typeface="Arial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[status, setStatus] =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useState&lt;PresenceStatus&gt;("available");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5"/>
          <p:cNvSpPr/>
          <p:nvPr/>
        </p:nvSpPr>
        <p:spPr>
          <a:xfrm>
            <a:off x="4617720" y="914400"/>
            <a:ext cx="3886200" cy="2377440"/>
          </a:xfrm>
          <a:prstGeom prst="roundRect">
            <a:avLst>
              <a:gd fmla="val 3077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55"/>
          <p:cNvSpPr/>
          <p:nvPr/>
        </p:nvSpPr>
        <p:spPr>
          <a:xfrm>
            <a:off x="4727448" y="987552"/>
            <a:ext cx="3666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Your refactor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55"/>
          <p:cNvSpPr/>
          <p:nvPr/>
        </p:nvSpPr>
        <p:spPr>
          <a:xfrm>
            <a:off x="4727448" y="1280160"/>
            <a:ext cx="3666744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1. Define a typed Context for status and update behaviour.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2. Provide the value from WorkspaceApp.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3. Make PresenceBadge read Context.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4. Make PresenceControls read Context and request available or busy.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5. Remove forwarding-only props.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5"/>
          <p:cNvSpPr/>
          <p:nvPr/>
        </p:nvSpPr>
        <p:spPr>
          <a:xfrm>
            <a:off x="868680" y="3657600"/>
            <a:ext cx="7315200" cy="502920"/>
          </a:xfrm>
          <a:prstGeom prst="roundRect">
            <a:avLst>
              <a:gd fmla="val 14545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5"/>
          <p:cNvSpPr/>
          <p:nvPr/>
        </p:nvSpPr>
        <p:spPr>
          <a:xfrm>
            <a:off x="978408" y="3767328"/>
            <a:ext cx="7095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0"/>
              <a:buFont typeface="Arial"/>
              <a:buNone/>
            </a:pPr>
            <a:r>
              <a:rPr b="0" i="0" lang="en" sz="9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Keep unchanged: State owner = WorkspaceApp · Existing UI unchanged · Component hierarchy unchanged · No duplicate useState in consumers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6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Activity completion check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6"/>
          <p:cNvSpPr/>
          <p:nvPr/>
        </p:nvSpPr>
        <p:spPr>
          <a:xfrm>
            <a:off x="658368" y="960120"/>
            <a:ext cx="2926080" cy="109728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6"/>
          <p:cNvSpPr/>
          <p:nvPr/>
        </p:nvSpPr>
        <p:spPr>
          <a:xfrm>
            <a:off x="768096" y="1033272"/>
            <a:ext cx="2706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6"/>
          <p:cNvSpPr/>
          <p:nvPr/>
        </p:nvSpPr>
        <p:spPr>
          <a:xfrm>
            <a:off x="768096" y="1325880"/>
            <a:ext cx="270662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Top bar: Available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Settings: Available selected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6"/>
          <p:cNvSpPr/>
          <p:nvPr/>
        </p:nvSpPr>
        <p:spPr>
          <a:xfrm>
            <a:off x="658368" y="2395728"/>
            <a:ext cx="2926080" cy="1097280"/>
          </a:xfrm>
          <a:prstGeom prst="roundRect">
            <a:avLst>
              <a:gd fmla="val 6667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6"/>
          <p:cNvSpPr/>
          <p:nvPr/>
        </p:nvSpPr>
        <p:spPr>
          <a:xfrm>
            <a:off x="768096" y="2468880"/>
            <a:ext cx="2706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After choosing Busy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6"/>
          <p:cNvSpPr/>
          <p:nvPr/>
        </p:nvSpPr>
        <p:spPr>
          <a:xfrm>
            <a:off x="768096" y="2761488"/>
            <a:ext cx="270662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Top bar: Busy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Settings: Busy selected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6"/>
          <p:cNvSpPr/>
          <p:nvPr/>
        </p:nvSpPr>
        <p:spPr>
          <a:xfrm>
            <a:off x="4069080" y="960120"/>
            <a:ext cx="4251960" cy="1920240"/>
          </a:xfrm>
          <a:prstGeom prst="roundRect">
            <a:avLst>
              <a:gd fmla="val 3810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6"/>
          <p:cNvSpPr/>
          <p:nvPr/>
        </p:nvSpPr>
        <p:spPr>
          <a:xfrm>
            <a:off x="4178808" y="1033272"/>
            <a:ext cx="4032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6"/>
          <p:cNvSpPr/>
          <p:nvPr/>
        </p:nvSpPr>
        <p:spPr>
          <a:xfrm>
            <a:off x="4178808" y="1325880"/>
            <a:ext cx="4032504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10"/>
              <a:buFont typeface="Arial"/>
              <a:buNone/>
            </a:pPr>
            <a:r>
              <a:rPr b="0" i="0" lang="en" sz="10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one status state value owned by WorkspaceApp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10"/>
              <a:buFont typeface="Arial"/>
              <a:buNone/>
            </a:pPr>
            <a:r>
              <a:rPr b="0" i="0" lang="en" sz="10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one typed Context provides the shared feature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10"/>
              <a:buFont typeface="Arial"/>
              <a:buNone/>
            </a:pPr>
            <a:r>
              <a:rPr b="0" i="0" lang="en" sz="10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provider is above both consumers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10"/>
              <a:buFont typeface="Arial"/>
              <a:buNone/>
            </a:pPr>
            <a:r>
              <a:rPr b="0" i="0" lang="en" sz="10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PresenceBadge reads Context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10"/>
              <a:buFont typeface="Arial"/>
              <a:buNone/>
            </a:pPr>
            <a:r>
              <a:rPr b="0" i="0" lang="en" sz="10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PresenceControls reads and invokes update behaviour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10"/>
              <a:buFont typeface="Arial"/>
              <a:buNone/>
            </a:pPr>
            <a:r>
              <a:rPr b="0" i="0" lang="en" sz="10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no forwarding-only presence props remain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6"/>
          <p:cNvSpPr/>
          <p:nvPr/>
        </p:nvSpPr>
        <p:spPr>
          <a:xfrm>
            <a:off x="4069075" y="3246125"/>
            <a:ext cx="4251900" cy="902400"/>
          </a:xfrm>
          <a:prstGeom prst="roundRect">
            <a:avLst>
              <a:gd fmla="val 11429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6"/>
          <p:cNvSpPr/>
          <p:nvPr/>
        </p:nvSpPr>
        <p:spPr>
          <a:xfrm>
            <a:off x="4178808" y="3319272"/>
            <a:ext cx="4032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6"/>
          <p:cNvSpPr/>
          <p:nvPr/>
        </p:nvSpPr>
        <p:spPr>
          <a:xfrm>
            <a:off x="4178800" y="3611873"/>
            <a:ext cx="403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10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Who owns the state? Who provides the value? Which components consume it? Which forwarding props disappeared?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7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1: Which provider supplies the value?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7"/>
          <p:cNvSpPr/>
          <p:nvPr/>
        </p:nvSpPr>
        <p:spPr>
          <a:xfrm>
            <a:off x="685800" y="914400"/>
            <a:ext cx="3794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ThemeContext value="light"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|-- Header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   `-- ThemeLabel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Preview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`-- ThemeContext value="dark"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20"/>
              <a:buFont typeface="Courier New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`-- PreviewCard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7"/>
          <p:cNvSpPr/>
          <p:nvPr/>
        </p:nvSpPr>
        <p:spPr>
          <a:xfrm>
            <a:off x="685800" y="3429000"/>
            <a:ext cx="3291840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7"/>
          <p:cNvSpPr/>
          <p:nvPr/>
        </p:nvSpPr>
        <p:spPr>
          <a:xfrm>
            <a:off x="758952" y="3483864"/>
            <a:ext cx="3145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useContext(ThemeContext)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7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value does PreviewCard receive?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7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7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7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"light"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7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7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7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"dark"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57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7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7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both values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7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7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57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7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B. "dark"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useContext reads the value from the closest matching provider above the consumer.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8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2: What does useContext do here?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8"/>
          <p:cNvSpPr/>
          <p:nvPr/>
        </p:nvSpPr>
        <p:spPr>
          <a:xfrm>
            <a:off x="822950" y="1143000"/>
            <a:ext cx="3383400" cy="1261800"/>
          </a:xfrm>
          <a:prstGeom prst="roundRect">
            <a:avLst>
              <a:gd fmla="val 555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8"/>
          <p:cNvSpPr/>
          <p:nvPr/>
        </p:nvSpPr>
        <p:spPr>
          <a:xfrm>
            <a:off x="896100" y="1197880"/>
            <a:ext cx="3237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preferences =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useContext(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DisplayPreferencesContext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8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8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8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8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creates the displayMode state.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58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8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58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reads the value supplied by the matching provider above the component.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8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8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8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automatically moves state into the component calling the Hook.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8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8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8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updates the Context whenever the component renders.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8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useContext reads the current provided Context value. It does not create or own that state.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9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3: Which component owns the state?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9"/>
          <p:cNvSpPr/>
          <p:nvPr/>
        </p:nvSpPr>
        <p:spPr>
          <a:xfrm>
            <a:off x="685800" y="896112"/>
            <a:ext cx="3703320" cy="2240280"/>
          </a:xfrm>
          <a:prstGeom prst="roundRect">
            <a:avLst>
              <a:gd fmla="val 2041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9"/>
          <p:cNvSpPr/>
          <p:nvPr/>
        </p:nvSpPr>
        <p:spPr>
          <a:xfrm>
            <a:off x="758952" y="950976"/>
            <a:ext cx="3557016" cy="2130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const [language, setLanguage] =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useState("English");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"/>
              <a:buFont typeface="Arial"/>
              <a:buNone/>
            </a:pPr>
            <a:r>
              <a:t/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&lt;LanguageContext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value={{ language, changeLanguage: setLanguage }}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&gt;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&lt;Page /&gt;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&lt;/LanguageContext&gt;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Courier New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9"/>
          <p:cNvSpPr/>
          <p:nvPr/>
        </p:nvSpPr>
        <p:spPr>
          <a:xfrm>
            <a:off x="685800" y="3383280"/>
            <a:ext cx="3291840" cy="310896"/>
          </a:xfrm>
          <a:prstGeom prst="roundRect">
            <a:avLst>
              <a:gd fmla="val 1470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9"/>
          <p:cNvSpPr/>
          <p:nvPr/>
        </p:nvSpPr>
        <p:spPr>
          <a:xfrm>
            <a:off x="758952" y="3438144"/>
            <a:ext cx="3145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changeLanguage("Tamil");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59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component owns language?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9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9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9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LanguageMenu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9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9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9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LanguageContext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9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9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59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9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9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59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9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D. App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App stores the changing value with useState. Context makes it accessible to descendants.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0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 4: Props or Context?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60"/>
          <p:cNvSpPr/>
          <p:nvPr/>
        </p:nvSpPr>
        <p:spPr>
          <a:xfrm>
            <a:off x="960125" y="1075392"/>
            <a:ext cx="31089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CourseCard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CourseTitle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60"/>
          <p:cNvSpPr/>
          <p:nvPr/>
        </p:nvSpPr>
        <p:spPr>
          <a:xfrm>
            <a:off x="868680" y="2057400"/>
            <a:ext cx="3337560" cy="329184"/>
          </a:xfrm>
          <a:prstGeom prst="roundRect">
            <a:avLst>
              <a:gd fmla="val 13889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0"/>
          <p:cNvSpPr/>
          <p:nvPr/>
        </p:nvSpPr>
        <p:spPr>
          <a:xfrm>
            <a:off x="941832" y="2112264"/>
            <a:ext cx="3191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&lt;CourseTitle title={title} /&gt;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60"/>
          <p:cNvSpPr/>
          <p:nvPr/>
        </p:nvSpPr>
        <p:spPr>
          <a:xfrm>
            <a:off x="868680" y="27432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 intermediate component needs to forward the value.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60"/>
          <p:cNvSpPr/>
          <p:nvPr/>
        </p:nvSpPr>
        <p:spPr>
          <a:xfrm>
            <a:off x="4800600" y="9326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the clearer choice?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60"/>
          <p:cNvSpPr/>
          <p:nvPr/>
        </p:nvSpPr>
        <p:spPr>
          <a:xfrm>
            <a:off x="4800600" y="1444752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0"/>
          <p:cNvSpPr/>
          <p:nvPr/>
        </p:nvSpPr>
        <p:spPr>
          <a:xfrm>
            <a:off x="4864608" y="1545336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0"/>
          <p:cNvSpPr/>
          <p:nvPr/>
        </p:nvSpPr>
        <p:spPr>
          <a:xfrm>
            <a:off x="5202936" y="1517904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Keep the title prop.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0"/>
          <p:cNvSpPr/>
          <p:nvPr/>
        </p:nvSpPr>
        <p:spPr>
          <a:xfrm>
            <a:off x="4800600" y="2020824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60"/>
          <p:cNvSpPr/>
          <p:nvPr/>
        </p:nvSpPr>
        <p:spPr>
          <a:xfrm>
            <a:off x="4864608" y="2121408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60"/>
          <p:cNvSpPr/>
          <p:nvPr/>
        </p:nvSpPr>
        <p:spPr>
          <a:xfrm>
            <a:off x="5202936" y="2093976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Create CourseTitleContext.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60"/>
          <p:cNvSpPr/>
          <p:nvPr/>
        </p:nvSpPr>
        <p:spPr>
          <a:xfrm>
            <a:off x="4800600" y="2596896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0"/>
          <p:cNvSpPr/>
          <p:nvPr/>
        </p:nvSpPr>
        <p:spPr>
          <a:xfrm>
            <a:off x="4864608" y="2697480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60"/>
          <p:cNvSpPr/>
          <p:nvPr/>
        </p:nvSpPr>
        <p:spPr>
          <a:xfrm>
            <a:off x="5202936" y="2670048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Store another copy of the title inside CourseTitle.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60"/>
          <p:cNvSpPr/>
          <p:nvPr/>
        </p:nvSpPr>
        <p:spPr>
          <a:xfrm>
            <a:off x="4800600" y="3172968"/>
            <a:ext cx="365760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60"/>
          <p:cNvSpPr/>
          <p:nvPr/>
        </p:nvSpPr>
        <p:spPr>
          <a:xfrm>
            <a:off x="4864608" y="3273552"/>
            <a:ext cx="256032" cy="21945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0"/>
          <p:cNvSpPr/>
          <p:nvPr/>
        </p:nvSpPr>
        <p:spPr>
          <a:xfrm>
            <a:off x="5202936" y="3246120"/>
            <a:ext cx="3182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Move the title into a reducer.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60"/>
          <p:cNvSpPr/>
          <p:nvPr/>
        </p:nvSpPr>
        <p:spPr>
          <a:xfrm>
            <a:off x="594360" y="4315968"/>
            <a:ext cx="7269480" cy="512064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b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Why: This is a direct parent-to-child relationship. Ordinary props already express the dependency clearly.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941" name="Google Shape;94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61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Homework: Learning Portal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61"/>
          <p:cNvSpPr/>
          <p:nvPr/>
        </p:nvSpPr>
        <p:spPr>
          <a:xfrm>
            <a:off x="685800" y="914400"/>
            <a:ext cx="34747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|-- PortalHeader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   `-- ThemeBadge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`-- SettingsPage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`-- AppearancePanel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Courier New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`-- ThemeControls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61"/>
          <p:cNvSpPr/>
          <p:nvPr/>
        </p:nvSpPr>
        <p:spPr>
          <a:xfrm>
            <a:off x="685800" y="2542032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1"/>
          <p:cNvSpPr/>
          <p:nvPr/>
        </p:nvSpPr>
        <p:spPr>
          <a:xfrm>
            <a:off x="758952" y="2596896"/>
            <a:ext cx="204825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"light" | "dark"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61"/>
          <p:cNvSpPr/>
          <p:nvPr/>
        </p:nvSpPr>
        <p:spPr>
          <a:xfrm>
            <a:off x="4251960" y="868680"/>
            <a:ext cx="4160520" cy="1783080"/>
          </a:xfrm>
          <a:prstGeom prst="roundRect">
            <a:avLst>
              <a:gd fmla="val 4103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1"/>
          <p:cNvSpPr/>
          <p:nvPr/>
        </p:nvSpPr>
        <p:spPr>
          <a:xfrm>
            <a:off x="4361688" y="941832"/>
            <a:ext cx="39410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61"/>
          <p:cNvSpPr/>
          <p:nvPr/>
        </p:nvSpPr>
        <p:spPr>
          <a:xfrm>
            <a:off x="4361688" y="1234440"/>
            <a:ext cx="3941064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create typed Context with current theme and update behaviour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provide value from App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ThemeBadge displays current theme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ThemeControls displays selection and changes theme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remove forwarding-only props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61"/>
          <p:cNvSpPr/>
          <p:nvPr/>
        </p:nvSpPr>
        <p:spPr>
          <a:xfrm>
            <a:off x="685800" y="3154680"/>
            <a:ext cx="3657600" cy="786384"/>
          </a:xfrm>
          <a:prstGeom prst="roundRect">
            <a:avLst>
              <a:gd fmla="val 9302" name="adj"/>
            </a:avLst>
          </a:prstGeom>
          <a:solidFill>
            <a:srgbClr val="DCFCE7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1"/>
          <p:cNvSpPr/>
          <p:nvPr/>
        </p:nvSpPr>
        <p:spPr>
          <a:xfrm>
            <a:off x="795528" y="3227832"/>
            <a:ext cx="3438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61"/>
          <p:cNvSpPr/>
          <p:nvPr/>
        </p:nvSpPr>
        <p:spPr>
          <a:xfrm>
            <a:off x="795528" y="3520440"/>
            <a:ext cx="3438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Selecting Light or Dark updates both distant consumers. There is only one theme state value.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61"/>
          <p:cNvSpPr/>
          <p:nvPr/>
        </p:nvSpPr>
        <p:spPr>
          <a:xfrm>
            <a:off x="4617720" y="3154680"/>
            <a:ext cx="3794760" cy="786384"/>
          </a:xfrm>
          <a:prstGeom prst="roundRect">
            <a:avLst>
              <a:gd fmla="val 9302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1"/>
          <p:cNvSpPr/>
          <p:nvPr/>
        </p:nvSpPr>
        <p:spPr>
          <a:xfrm>
            <a:off x="4727448" y="3227832"/>
            <a:ext cx="35753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61"/>
          <p:cNvSpPr/>
          <p:nvPr/>
        </p:nvSpPr>
        <p:spPr>
          <a:xfrm>
            <a:off x="4727448" y="3520440"/>
            <a:ext cx="35753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Arial"/>
              <a:buNone/>
            </a:pPr>
            <a:r>
              <a:rPr b="0" i="0" lang="en" sz="8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Where is the state owned? What problem is Context solving in this component tree?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61"/>
          <p:cNvSpPr/>
          <p:nvPr/>
        </p:nvSpPr>
        <p:spPr>
          <a:xfrm>
            <a:off x="685800" y="4224528"/>
            <a:ext cx="7726680" cy="301752"/>
          </a:xfrm>
          <a:prstGeom prst="roundRect">
            <a:avLst>
              <a:gd fmla="val 24242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1"/>
          <p:cNvSpPr/>
          <p:nvPr/>
        </p:nvSpPr>
        <p:spPr>
          <a:xfrm>
            <a:off x="795528" y="4334256"/>
            <a:ext cx="750722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Scope: no persistence, API requests, Redux, or additional packages.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EZATMoLm33NM1Sy4uj6TFqdo/f75610979d8a4a1a872b3ec07778a624/mnt/data/PPT-Slide-Template(9).png" id="962" name="Google Shape;96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62"/>
          <p:cNvSpPr/>
          <p:nvPr/>
        </p:nvSpPr>
        <p:spPr>
          <a:xfrm>
            <a:off x="566928" y="3931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Next: State management with Redux Toolkit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62"/>
          <p:cNvSpPr/>
          <p:nvPr/>
        </p:nvSpPr>
        <p:spPr>
          <a:xfrm>
            <a:off x="658368" y="914400"/>
            <a:ext cx="3794760" cy="2011680"/>
          </a:xfrm>
          <a:prstGeom prst="roundRect">
            <a:avLst>
              <a:gd fmla="val 3636" name="adj"/>
            </a:avLst>
          </a:prstGeom>
          <a:solidFill>
            <a:srgbClr val="EFF6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2"/>
          <p:cNvSpPr/>
          <p:nvPr/>
        </p:nvSpPr>
        <p:spPr>
          <a:xfrm>
            <a:off x="768096" y="987552"/>
            <a:ext cx="35753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Today: React Context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62"/>
          <p:cNvSpPr/>
          <p:nvPr/>
        </p:nvSpPr>
        <p:spPr>
          <a:xfrm>
            <a:off x="768096" y="1280160"/>
            <a:ext cx="35753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one clear state owner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typed Context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provider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useContext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shared update behaviour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props when direct relationships remained clearer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62"/>
          <p:cNvSpPr/>
          <p:nvPr/>
        </p:nvSpPr>
        <p:spPr>
          <a:xfrm>
            <a:off x="4709160" y="914400"/>
            <a:ext cx="3794760" cy="2011680"/>
          </a:xfrm>
          <a:prstGeom prst="roundRect">
            <a:avLst>
              <a:gd fmla="val 3636" name="adj"/>
            </a:avLst>
          </a:prstGeom>
          <a:solidFill>
            <a:srgbClr val="FEFCE8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2"/>
          <p:cNvSpPr/>
          <p:nvPr/>
        </p:nvSpPr>
        <p:spPr>
          <a:xfrm>
            <a:off x="4818888" y="987552"/>
            <a:ext cx="35753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larger application may introduce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62"/>
          <p:cNvSpPr/>
          <p:nvPr/>
        </p:nvSpPr>
        <p:spPr>
          <a:xfrm>
            <a:off x="4818888" y="1280160"/>
            <a:ext cx="35753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several shared state areas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many different update operations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more complex update logic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- many components reading different parts of shared state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62"/>
          <p:cNvSpPr/>
          <p:nvPr/>
        </p:nvSpPr>
        <p:spPr>
          <a:xfrm>
            <a:off x="658368" y="3337560"/>
            <a:ext cx="7845552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2"/>
          <p:cNvSpPr/>
          <p:nvPr/>
        </p:nvSpPr>
        <p:spPr>
          <a:xfrm>
            <a:off x="768096" y="3410712"/>
            <a:ext cx="76260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Next question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2"/>
          <p:cNvSpPr/>
          <p:nvPr/>
        </p:nvSpPr>
        <p:spPr>
          <a:xfrm>
            <a:off x="768096" y="3703320"/>
            <a:ext cx="7626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How can we organize larger shared application state and its update logic in a more structured way?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2"/>
          <p:cNvSpPr/>
          <p:nvPr/>
        </p:nvSpPr>
        <p:spPr>
          <a:xfrm>
            <a:off x="713232" y="427024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Next: Redux Toolkit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62"/>
          <p:cNvSpPr/>
          <p:nvPr/>
        </p:nvSpPr>
        <p:spPr>
          <a:xfrm>
            <a:off x="3703320" y="436168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store · slices · useSelector · useDispatch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