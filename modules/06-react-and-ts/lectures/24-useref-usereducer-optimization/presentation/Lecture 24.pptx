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a2a15d1be_3_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fa2a15d1be_3_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fa2a15d1be_3_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2a15d1be_3_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fa2a15d1be_3_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fa2a15d1be_3_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a2a15d1be_3_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fa2a15d1be_3_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fa2a15d1be_3_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2a15d1be_3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fa2a15d1be_3_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a2a15d1be_3_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2a15d1be_3_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a2a15d1be_3_7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a2a15d1be_3_7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2a15d1be_3_1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fa2a15d1be_3_1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a2a15d1be_3_1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a2a15d1be_3_1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fa2a15d1be_3_1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a2a15d1be_3_1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a2a15d1be_3_1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fa2a15d1be_3_1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fa2a15d1be_3_1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a2a15d1be_3_2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fa2a15d1be_3_2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a2a15d1be_3_20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a2a15d1be_3_2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fa2a15d1be_3_20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fa2a15d1be_3_20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a2a15d1be_3_2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fa2a15d1be_3_2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a2a15d1be_3_2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a2a15d1be_3_2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fa2a15d1be_3_2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fa2a15d1be_3_2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a2a15d1be_3_2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fa2a15d1be_3_2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a2a15d1be_3_2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a2a15d1be_3_2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fa2a15d1be_3_28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fa2a15d1be_3_28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a2a15d1be_3_3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fa2a15d1be_3_3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fa2a15d1be_3_3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a2a15d1be_3_3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fa2a15d1be_3_3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a2a15d1be_3_3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a2a15d1be_3_3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3fa2a15d1be_3_3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a2a15d1be_3_3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a2a15d1be_3_3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fa2a15d1be_3_3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fa2a15d1be_3_3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a2a15d1be_3_4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fa2a15d1be_3_4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a2a15d1be_3_4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a2a15d1be_3_4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g3fa2a15d1be_3_4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fa2a15d1be_3_4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a2a15d1be_3_4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fa2a15d1be_3_4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a2a15d1be_3_4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a2a15d1be_3_5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fa2a15d1be_3_5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fa2a15d1be_3_5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a2a15d1be_3_5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g3fa2a15d1be_3_5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fa2a15d1be_3_5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fa2a15d1be_3_5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g3fa2a15d1be_3_5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fa2a15d1be_3_5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fa2a15d1be_3_5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g3fa2a15d1be_3_5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fa2a15d1be_3_5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fa2a15d1be_3_6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g3fa2a15d1be_3_6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fa2a15d1be_3_6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a2a15d1be_3_6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g3fa2a15d1be_3_6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fa2a15d1be_3_6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fa2a15d1be_3_6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g3fa2a15d1be_3_6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g3fa2a15d1be_3_6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fa2a15d1be_3_6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g3fa2a15d1be_3_6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g3fa2a15d1be_3_6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fa2a15d1be_3_7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g3fa2a15d1be_3_7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fa2a15d1be_3_7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fa2a15d1be_3_7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g3fa2a15d1be_3_7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fa2a15d1be_3_7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fa2a15d1be_3_7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g3fa2a15d1be_3_76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g3fa2a15d1be_3_76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fa2a15d1be_3_7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g3fa2a15d1be_3_79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g3fa2a15d1be_3_79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fa2a15d1be_3_8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g3fa2a15d1be_3_80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g3fa2a15d1be_3_80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fa2a15d1be_3_8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g3fa2a15d1be_3_8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3fa2a15d1be_3_8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fa2a15d1be_3_8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g3fa2a15d1be_3_8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g3fa2a15d1be_3_8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fa2a15d1be_3_8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1" name="Google Shape;971;g3fa2a15d1be_3_8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g3fa2a15d1be_3_8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fa2a15d1be_3_9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g3fa2a15d1be_3_90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g3fa2a15d1be_3_90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fa2a15d1be_3_9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g3fa2a15d1be_3_9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g3fa2a15d1be_3_9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fa2a15d1be_3_9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5" name="Google Shape;1065;g3fa2a15d1be_3_9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g3fa2a15d1be_3_9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fa2a15d1be_3_9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2" name="Google Shape;1072;g3fa2a15d1be_3_9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g3fa2a15d1be_3_9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fa2a15d1be_3_10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0" name="Google Shape;1110;g3fa2a15d1be_3_10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g3fa2a15d1be_3_10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fa2a15d1be_3_10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6" name="Google Shape;1126;g3fa2a15d1be_3_10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g3fa2a15d1be_3_10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fa2a15d1be_3_10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g3fa2a15d1be_3_10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g3fa2a15d1be_3_10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fa2a15d1be_3_10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9" name="Google Shape;1169;g3fa2a15d1be_3_10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g3fa2a15d1be_3_10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fa2a15d1be_3_10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5" name="Google Shape;1185;g3fa2a15d1be_3_108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g3fa2a15d1be_3_108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3fa2a15d1be_3_11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4" name="Google Shape;1224;g3fa2a15d1be_3_11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g3fa2a15d1be_3_11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fa2a15d1be_3_11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8" name="Google Shape;1268;g3fa2a15d1be_3_11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g3fa2a15d1be_3_11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fa2a15d1be_3_12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8" name="Google Shape;1308;g3fa2a15d1be_3_120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g3fa2a15d1be_3_120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3fa2a15d1be_3_12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9" name="Google Shape;1339;g3fa2a15d1be_3_12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g3fa2a15d1be_3_12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3fa2a15d1be_3_12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8" name="Google Shape;1368;g3fa2a15d1be_3_126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g3fa2a15d1be_3_126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3fa2a15d1be_3_12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1" name="Google Shape;1401;g3fa2a15d1be_3_12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g3fa2a15d1be_3_12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3fa2a15d1be_3_13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8" name="Google Shape;1438;g3fa2a15d1be_3_13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g3fa2a15d1be_3_13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VI_MASTER">
  <p:cSld name="GUVI_MASTER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609600" y="1666875"/>
            <a:ext cx="5810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Arial"/>
              <a:buNone/>
            </a:pPr>
            <a:r>
              <a:rPr b="1" i="0" lang="en" sz="3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Specialized Hooks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Arial"/>
              <a:buNone/>
            </a:pPr>
            <a:r>
              <a:rPr b="1" i="0" lang="en" sz="3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and performance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628650" y="2667000"/>
            <a:ext cx="476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React &amp; TypeScript | Lecture 24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Today's plan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7"/>
          <p:cNvSpPr/>
          <p:nvPr/>
        </p:nvSpPr>
        <p:spPr>
          <a:xfrm>
            <a:off x="857250" y="1076325"/>
            <a:ext cx="6381750" cy="428625"/>
          </a:xfrm>
          <a:prstGeom prst="roundRect">
            <a:avLst>
              <a:gd fmla="val 170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7"/>
          <p:cNvSpPr/>
          <p:nvPr/>
        </p:nvSpPr>
        <p:spPr>
          <a:xfrm>
            <a:off x="1028700" y="1152525"/>
            <a:ext cx="301752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1028700" y="1152525"/>
            <a:ext cx="301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1476375" y="1152525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DOM access with useRef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857250" y="1657350"/>
            <a:ext cx="6381750" cy="428625"/>
          </a:xfrm>
          <a:prstGeom prst="roundRect">
            <a:avLst>
              <a:gd fmla="val 170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1028700" y="1733550"/>
            <a:ext cx="301752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7"/>
          <p:cNvSpPr/>
          <p:nvPr/>
        </p:nvSpPr>
        <p:spPr>
          <a:xfrm>
            <a:off x="1028700" y="1733550"/>
            <a:ext cx="301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1476375" y="1733550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Complex state with useReducer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857250" y="2238375"/>
            <a:ext cx="6381750" cy="428625"/>
          </a:xfrm>
          <a:prstGeom prst="roundRect">
            <a:avLst>
              <a:gd fmla="val 170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/>
          <p:nvPr/>
        </p:nvSpPr>
        <p:spPr>
          <a:xfrm>
            <a:off x="1028700" y="2314575"/>
            <a:ext cx="301752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1028700" y="2314575"/>
            <a:ext cx="301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1476375" y="2314575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Memoization with useMemo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857250" y="2819400"/>
            <a:ext cx="6381750" cy="428625"/>
          </a:xfrm>
          <a:prstGeom prst="roundRect">
            <a:avLst>
              <a:gd fmla="val 170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1028700" y="2895600"/>
            <a:ext cx="301752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1028700" y="2895600"/>
            <a:ext cx="301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1476375" y="2895600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Function references with useCallback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857250" y="3400425"/>
            <a:ext cx="6381750" cy="428625"/>
          </a:xfrm>
          <a:prstGeom prst="roundRect">
            <a:avLst>
              <a:gd fmla="val 170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1028700" y="3476625"/>
            <a:ext cx="301752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1028700" y="3476625"/>
            <a:ext cx="301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1476375" y="3476625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Performance optimization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/>
          <p:nvPr/>
        </p:nvSpPr>
        <p:spPr>
          <a:xfrm>
            <a:off x="552450" y="2047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552450" y="2657475"/>
            <a:ext cx="1238250" cy="38100"/>
          </a:xfrm>
          <a:prstGeom prst="rect">
            <a:avLst/>
          </a:prstGeom>
          <a:solidFill>
            <a:srgbClr val="1E3A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1: Where does this belong?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657225" y="981075"/>
            <a:ext cx="28098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component already has: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657225" y="1257300"/>
            <a:ext cx="3505200" cy="781200"/>
          </a:xfrm>
          <a:prstGeom prst="roundRect">
            <a:avLst>
              <a:gd fmla="val 585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794375" y="1339600"/>
            <a:ext cx="32964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[firstName] = useState("</a:t>
            </a:r>
            <a:r>
              <a:rPr lang="en" sz="107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Gaurav</a:t>
            </a: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");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[lastName] = useState("Shah");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657225" y="2190750"/>
            <a:ext cx="3352800" cy="800100"/>
          </a:xfrm>
          <a:prstGeom prst="roundRect">
            <a:avLst>
              <a:gd fmla="val 9143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819150" y="23050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interface should display: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819150" y="2543175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900"/>
              <a:buFont typeface="Arial"/>
              <a:buNone/>
            </a:pPr>
            <a:r>
              <a:rPr b="1" lang="en" sz="1900">
                <a:solidFill>
                  <a:srgbClr val="1E3A8A"/>
                </a:solidFill>
              </a:rPr>
              <a:t>Gaurav</a:t>
            </a:r>
            <a:r>
              <a:rPr b="1" i="0" lang="en" sz="1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Shah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4429125" y="1019175"/>
            <a:ext cx="3505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Where should fullName be produced?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4429125" y="1390650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4538853" y="14729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4538853" y="14729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4913757" y="1427226"/>
            <a:ext cx="2948559" cy="345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Calculate it during rendering.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4429125" y="1905000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4538853" y="19872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4538853" y="19872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4913757" y="1941576"/>
            <a:ext cx="2948559" cy="345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Store it in separate state.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4429125" y="2419350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4538853" y="25016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4538853" y="25016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4913757" y="2455926"/>
            <a:ext cx="2948559" cy="345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Calculate it inside an Effect.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4429125" y="2933700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4538853" y="30159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4538853" y="30159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4913757" y="2970276"/>
            <a:ext cx="2948559" cy="345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Calculate it only after a button click.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A. Calculate it during rendering.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fullName can be calculated from data React already has. It does not need separate state or an Effect.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2: Which dependency?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657225" y="971550"/>
            <a:ext cx="4629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ordersUrl is defined outside the component.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57225" y="1238250"/>
            <a:ext cx="4819650" cy="2333625"/>
          </a:xfrm>
          <a:prstGeom prst="roundRect">
            <a:avLst>
              <a:gd fmla="val 1959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794385" y="1320546"/>
            <a:ext cx="4545330" cy="2169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useEffect(() =&gt; {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async function loadOrders() {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const response =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await axios.get&lt;Order[]&gt;(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`${ordersUrl}?status=${statusFilter}`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);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None/>
            </a:pPr>
            <a:r>
              <a:t/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setOrders(response.data);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None/>
            </a:pPr>
            <a:r>
              <a:t/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loadOrders();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}, /* ? */);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5810250" y="1057275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dependency list belongs here?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5810250" y="1428750"/>
            <a:ext cx="2152650" cy="409575"/>
          </a:xfrm>
          <a:prstGeom prst="roundRect">
            <a:avLst>
              <a:gd fmla="val 1786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5919978" y="15110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5919978" y="15110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6294882" y="1465326"/>
            <a:ext cx="1567434" cy="336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[orders]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5810250" y="1943100"/>
            <a:ext cx="2152650" cy="409575"/>
          </a:xfrm>
          <a:prstGeom prst="roundRect">
            <a:avLst>
              <a:gd fmla="val 1786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5919978" y="20253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5919978" y="20253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6294882" y="1979676"/>
            <a:ext cx="1567434" cy="336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[setOrders]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5810250" y="2457450"/>
            <a:ext cx="2152650" cy="409575"/>
          </a:xfrm>
          <a:prstGeom prst="roundRect">
            <a:avLst>
              <a:gd fmla="val 1786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5919978" y="25397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5919978" y="25397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6294882" y="2494026"/>
            <a:ext cx="1567434" cy="336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5810250" y="2971800"/>
            <a:ext cx="2152650" cy="409575"/>
          </a:xfrm>
          <a:prstGeom prst="roundRect">
            <a:avLst>
              <a:gd fmla="val 1786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5919978" y="30540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5919978" y="30540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6294882" y="3008376"/>
            <a:ext cx="1567434" cy="336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[statusFilter]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D. [statusFilter]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Effect reads statusFilter, and changing it changes which orders should be loaded.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3: What should cleanup undo?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657225" y="952500"/>
            <a:ext cx="4000500" cy="2714625"/>
          </a:xfrm>
          <a:prstGeom prst="roundRect">
            <a:avLst>
              <a:gd fmla="val 168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794385" y="1034796"/>
            <a:ext cx="3726180" cy="2550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useEffect(() =&gt; {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function handleScroll() {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setScrollY(window.scrollY);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window.addEventListener(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"scroll",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handleScroll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() =&gt; {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cleanup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}, []);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5000625" y="1000125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cleanup is correct?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5000625" y="1304925"/>
            <a:ext cx="2962275" cy="533400"/>
          </a:xfrm>
          <a:prstGeom prst="roundRect">
            <a:avLst>
              <a:gd fmla="val 1371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5110353" y="138722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5110353" y="138722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5485257" y="1341501"/>
            <a:ext cx="2377059" cy="46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window.removeEventListener(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"scroll",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handleScroll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5000625" y="1924050"/>
            <a:ext cx="2962275" cy="533400"/>
          </a:xfrm>
          <a:prstGeom prst="roundRect">
            <a:avLst>
              <a:gd fmla="val 1371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5110353" y="20063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5110353" y="20063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485257" y="1960626"/>
            <a:ext cx="2377059" cy="46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setScrollY(0);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000625" y="2543175"/>
            <a:ext cx="2962275" cy="533400"/>
          </a:xfrm>
          <a:prstGeom prst="roundRect">
            <a:avLst>
              <a:gd fmla="val 1371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5110353" y="262547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5110353" y="262547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485257" y="2579751"/>
            <a:ext cx="2377059" cy="46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window.addEventListener(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"scroll",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handleScroll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000625" y="3162300"/>
            <a:ext cx="2962275" cy="533400"/>
          </a:xfrm>
          <a:prstGeom prst="roundRect">
            <a:avLst>
              <a:gd fmla="val 1371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5110353" y="32445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5110353" y="32445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485257" y="3198876"/>
            <a:ext cx="2377059" cy="46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window.removeEventListener(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"resize",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handleScroll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Cleanup should remove the same listener that setup registered.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4: What enters state?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657225" y="1019175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request expects an array of courses.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657225" y="1381125"/>
            <a:ext cx="3638550" cy="1095375"/>
          </a:xfrm>
          <a:prstGeom prst="roundRect">
            <a:avLst>
              <a:gd fmla="val 417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794385" y="1463421"/>
            <a:ext cx="3364230" cy="930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response =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await axios.get&lt;Course[]&gt;(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coursesUrl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4762500" y="1057275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line stores the returned course data?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4762500" y="1438275"/>
            <a:ext cx="3200400" cy="390525"/>
          </a:xfrm>
          <a:prstGeom prst="roundRect">
            <a:avLst>
              <a:gd fmla="val 1873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4872228" y="152057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4872228" y="152057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5247132" y="1474851"/>
            <a:ext cx="2615184" cy="317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setCourses(response.status);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4762500" y="1924050"/>
            <a:ext cx="3200400" cy="390525"/>
          </a:xfrm>
          <a:prstGeom prst="roundRect">
            <a:avLst>
              <a:gd fmla="val 1873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4872228" y="20063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4872228" y="20063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247132" y="1960626"/>
            <a:ext cx="2615184" cy="317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setCourses(coursesUrl);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762500" y="2409825"/>
            <a:ext cx="3200400" cy="390525"/>
          </a:xfrm>
          <a:prstGeom prst="roundRect">
            <a:avLst>
              <a:gd fmla="val 1873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4872228" y="249212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4872228" y="249212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247132" y="2446401"/>
            <a:ext cx="2615184" cy="317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setCourses(response.data);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4762500" y="2895600"/>
            <a:ext cx="3200400" cy="390525"/>
          </a:xfrm>
          <a:prstGeom prst="roundRect">
            <a:avLst>
              <a:gd fmla="val 1873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4872228" y="29778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4872228" y="29778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247132" y="2932176"/>
            <a:ext cx="2615184" cy="317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setCourses(response);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657225" y="2743200"/>
            <a:ext cx="3638550" cy="666750"/>
          </a:xfrm>
          <a:prstGeom prst="roundRect">
            <a:avLst>
              <a:gd fmla="val 10971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904875" y="285750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response.data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904875" y="3105150"/>
            <a:ext cx="3143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contains the response payload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C. setCourses(response.data)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response.data contains the response payload, which this request expects to be Course[].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5: Which UI appears?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657225" y="904875"/>
            <a:ext cx="4476750" cy="2714625"/>
          </a:xfrm>
          <a:prstGeom prst="roundRect">
            <a:avLst>
              <a:gd fmla="val 168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794385" y="987171"/>
            <a:ext cx="4202430" cy="2550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(isLoading) {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&lt;p&gt;Loading rooms...&lt;/p&gt;;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"/>
              <a:buFont typeface="Arial"/>
              <a:buNone/>
            </a:pPr>
            <a:r>
              <a:t/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(errorMessage) {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&lt;p&gt;{errorMessage}&lt;/p&gt;;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"/>
              <a:buFont typeface="Arial"/>
              <a:buNone/>
            </a:pPr>
            <a:r>
              <a:t/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(rooms.length === 0) {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&lt;p&gt;No rooms found.&lt;/p&gt;;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"/>
              <a:buFont typeface="Arial"/>
              <a:buNone/>
            </a:pPr>
            <a:r>
              <a:t/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&lt;RoomList rooms={rooms} /&gt;;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410200" y="952500"/>
            <a:ext cx="2552700" cy="952500"/>
          </a:xfrm>
          <a:prstGeom prst="roundRect">
            <a:avLst>
              <a:gd fmla="val 7680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581650" y="1066800"/>
            <a:ext cx="2190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619750" y="1323975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isLoading === false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errorMessage === "Could not load rooms."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rooms.length === 0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410200" y="2066925"/>
            <a:ext cx="2552700" cy="333375"/>
          </a:xfrm>
          <a:prstGeom prst="roundRect">
            <a:avLst>
              <a:gd fmla="val 219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519928" y="214922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519928" y="214922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894832" y="2103501"/>
            <a:ext cx="1967484" cy="260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Loading rooms...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5410200" y="2476500"/>
            <a:ext cx="2552700" cy="333375"/>
          </a:xfrm>
          <a:prstGeom prst="roundRect">
            <a:avLst>
              <a:gd fmla="val 219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519928" y="25587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5519928" y="25587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894832" y="2513076"/>
            <a:ext cx="1967484" cy="260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 rooms found.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410200" y="2886075"/>
            <a:ext cx="2552700" cy="333375"/>
          </a:xfrm>
          <a:prstGeom prst="roundRect">
            <a:avLst>
              <a:gd fmla="val 219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5519928" y="296837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5519928" y="296837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894832" y="2922651"/>
            <a:ext cx="1967484" cy="260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room list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410200" y="3295650"/>
            <a:ext cx="2552700" cy="333375"/>
          </a:xfrm>
          <a:prstGeom prst="roundRect">
            <a:avLst>
              <a:gd fmla="val 219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519928" y="33779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519928" y="33779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894832" y="3332226"/>
            <a:ext cx="1967484" cy="260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Could not load rooms.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D. Could not load rooms.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Loading has finished, and the error condition returns before the empty-state check is reached.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/>
          <p:nvPr/>
        </p:nvSpPr>
        <p:spPr>
          <a:xfrm>
            <a:off x="552450" y="2047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Access a DOM element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552450" y="2657475"/>
            <a:ext cx="1238250" cy="38100"/>
          </a:xfrm>
          <a:prstGeom prst="rect">
            <a:avLst/>
          </a:prstGeom>
          <a:solidFill>
            <a:srgbClr val="1E3A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Focus the search field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DOM ACCESS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657225" y="1104900"/>
            <a:ext cx="3905250" cy="2628900"/>
          </a:xfrm>
          <a:prstGeom prst="roundRect">
            <a:avLst>
              <a:gd fmla="val 278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657225" y="1104900"/>
            <a:ext cx="390525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766953" y="1205484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913257" y="1205484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1059561" y="1205484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1160145" y="1150620"/>
            <a:ext cx="32651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Search sessions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895350" y="1571625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Search sessions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895350" y="1952625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895350" y="2162175"/>
            <a:ext cx="3086100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1014222" y="2226183"/>
            <a:ext cx="28483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895350" y="2686050"/>
            <a:ext cx="1352550" cy="381000"/>
          </a:xfrm>
          <a:prstGeom prst="roundRect">
            <a:avLst>
              <a:gd fmla="val 14400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895350" y="2686050"/>
            <a:ext cx="13525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Focus search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4953000" y="1123950"/>
            <a:ext cx="3019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 already have a controlled search input.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4953000" y="1438275"/>
            <a:ext cx="3009900" cy="1857375"/>
          </a:xfrm>
          <a:prstGeom prst="roundRect">
            <a:avLst>
              <a:gd fmla="val 246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5090160" y="1520571"/>
            <a:ext cx="2735580" cy="1692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[query, setQuery] =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useState("");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0"/>
              <a:buFont typeface="Arial"/>
              <a:buNone/>
            </a:pPr>
            <a:r>
              <a:t/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value={query}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onChange={(event) =&gt;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setQuery(event.target.value)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4953000" y="3429000"/>
            <a:ext cx="3009900" cy="695325"/>
          </a:xfrm>
          <a:prstGeom prst="roundRect">
            <a:avLst>
              <a:gd fmla="val 10521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5124450" y="3543300"/>
            <a:ext cx="1285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NEW REQUIREMENT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124450" y="373380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Clicking Focus search should place the cursor inside the search field.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 is not the element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DOM ACCESS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838200" y="1285875"/>
            <a:ext cx="2952750" cy="2000250"/>
          </a:xfrm>
          <a:prstGeom prst="roundRect">
            <a:avLst>
              <a:gd fmla="val 3657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1028700" y="1476375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REACT DATA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1028700" y="185737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query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1028700" y="2286000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1028700" y="2800350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Text used to render the input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4810125" y="1285875"/>
            <a:ext cx="2952750" cy="2000250"/>
          </a:xfrm>
          <a:prstGeom prst="roundRect">
            <a:avLst>
              <a:gd fmla="val 3657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5000625" y="1476375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BROWSER ELEMENT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5000625" y="1962150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2100"/>
              <a:buFont typeface="Courier New"/>
              <a:buNone/>
            </a:pPr>
            <a:r>
              <a:rPr b="1" i="0" lang="en" sz="210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&lt;input&gt;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5429250" y="2447925"/>
            <a:ext cx="1714500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5548122" y="2511933"/>
            <a:ext cx="14767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5000625" y="2952750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Actual element in the browser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26"/>
          <p:cNvCxnSpPr/>
          <p:nvPr/>
        </p:nvCxnSpPr>
        <p:spPr>
          <a:xfrm>
            <a:off x="3790950" y="2286000"/>
            <a:ext cx="1019175" cy="0"/>
          </a:xfrm>
          <a:prstGeom prst="straightConnector1">
            <a:avLst/>
          </a:prstGeom>
          <a:noFill/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26"/>
          <p:cNvSpPr/>
          <p:nvPr/>
        </p:nvSpPr>
        <p:spPr>
          <a:xfrm>
            <a:off x="1504950" y="3714750"/>
            <a:ext cx="5619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 gives us the data. Focusing requires the element itself.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a ref?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DOM ACCESS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876300" y="1333500"/>
            <a:ext cx="2476500" cy="1476375"/>
          </a:xfrm>
          <a:prstGeom prst="roundRect">
            <a:avLst>
              <a:gd fmla="val 4955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1066800" y="16192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50"/>
              <a:buFont typeface="Courier New"/>
              <a:buNone/>
            </a:pPr>
            <a:r>
              <a:rPr b="1" i="0" lang="en" sz="13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searchInputRef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1066800" y="2076450"/>
            <a:ext cx="2095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.current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27"/>
          <p:cNvCxnSpPr/>
          <p:nvPr/>
        </p:nvCxnSpPr>
        <p:spPr>
          <a:xfrm>
            <a:off x="3352800" y="2076450"/>
            <a:ext cx="1457325" cy="0"/>
          </a:xfrm>
          <a:prstGeom prst="straightConnector1">
            <a:avLst/>
          </a:prstGeom>
          <a:noFill/>
          <a:ln cap="flat" cmpd="sng" w="21575">
            <a:solidFill>
              <a:srgbClr val="1E3A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" name="Google Shape;323;p27"/>
          <p:cNvSpPr/>
          <p:nvPr/>
        </p:nvSpPr>
        <p:spPr>
          <a:xfrm>
            <a:off x="4810125" y="1333500"/>
            <a:ext cx="2476500" cy="1476375"/>
          </a:xfrm>
          <a:prstGeom prst="roundRect">
            <a:avLst>
              <a:gd fmla="val 4955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7"/>
          <p:cNvSpPr/>
          <p:nvPr/>
        </p:nvSpPr>
        <p:spPr>
          <a:xfrm>
            <a:off x="5000625" y="184785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2200"/>
              <a:buFont typeface="Courier New"/>
              <a:buNone/>
            </a:pPr>
            <a:r>
              <a:rPr b="1" i="0" lang="en" sz="220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&lt;input&gt;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1009650" y="3209925"/>
            <a:ext cx="2990850" cy="704850"/>
          </a:xfrm>
          <a:prstGeom prst="roundRect">
            <a:avLst>
              <a:gd fmla="val 10378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7"/>
          <p:cNvSpPr/>
          <p:nvPr/>
        </p:nvSpPr>
        <p:spPr>
          <a:xfrm>
            <a:off x="1209675" y="3400425"/>
            <a:ext cx="2590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ref is an object React keeps between renders.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4495800" y="3209925"/>
            <a:ext cx="2990850" cy="704850"/>
          </a:xfrm>
          <a:prstGeom prst="roundRect">
            <a:avLst>
              <a:gd fmla="val 10378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7"/>
          <p:cNvSpPr/>
          <p:nvPr/>
        </p:nvSpPr>
        <p:spPr>
          <a:xfrm>
            <a:off x="4695825" y="3400425"/>
            <a:ext cx="2590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Changing current does not request another render.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Create a typed ref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DOM ACCESS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657225" y="1162050"/>
            <a:ext cx="4876800" cy="2266950"/>
          </a:xfrm>
          <a:prstGeom prst="roundRect">
            <a:avLst>
              <a:gd fmla="val 201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"/>
          <p:cNvSpPr/>
          <p:nvPr/>
        </p:nvSpPr>
        <p:spPr>
          <a:xfrm>
            <a:off x="794385" y="1244346"/>
            <a:ext cx="4602480" cy="2102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{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useRef,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 from "react";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searchInputRef =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useRef&lt;HTMLInputElement&gt;(null);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5819775" y="1209675"/>
            <a:ext cx="2143125" cy="809625"/>
          </a:xfrm>
          <a:prstGeom prst="roundRect">
            <a:avLst>
              <a:gd fmla="val 9035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"/>
          <p:cNvSpPr/>
          <p:nvPr/>
        </p:nvSpPr>
        <p:spPr>
          <a:xfrm>
            <a:off x="5962650" y="1352550"/>
            <a:ext cx="1857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30"/>
              <a:buFont typeface="Courier New"/>
              <a:buNone/>
            </a:pPr>
            <a:r>
              <a:rPr b="1" i="0" lang="en" sz="103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HTMLInputElement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5962650" y="1647825"/>
            <a:ext cx="1857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Kind of DOM element the ref can contain.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5819775" y="2209800"/>
            <a:ext cx="2143125" cy="809625"/>
          </a:xfrm>
          <a:prstGeom prst="roundRect">
            <a:avLst>
              <a:gd fmla="val 9035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8"/>
          <p:cNvSpPr/>
          <p:nvPr/>
        </p:nvSpPr>
        <p:spPr>
          <a:xfrm>
            <a:off x="5962650" y="2352675"/>
            <a:ext cx="1857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rgbClr val="854D0E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5962650" y="2647950"/>
            <a:ext cx="1857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No element connected yet when the ref is created.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876300" y="3771900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TypeScript type tells us what DOM methods are available when current contains the input.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Attach the ref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DOM ACCESS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657225" y="1123950"/>
            <a:ext cx="4695825" cy="1981200"/>
          </a:xfrm>
          <a:prstGeom prst="roundRect">
            <a:avLst>
              <a:gd fmla="val 230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9"/>
          <p:cNvSpPr/>
          <p:nvPr/>
        </p:nvSpPr>
        <p:spPr>
          <a:xfrm>
            <a:off x="794385" y="1206246"/>
            <a:ext cx="4421505" cy="181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ref={searchInputRef}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value={query}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onChange={(event) =&gt;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setQuery(event.target.value)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5619750" y="1123950"/>
            <a:ext cx="2343150" cy="1981200"/>
          </a:xfrm>
          <a:prstGeom prst="roundRect">
            <a:avLst>
              <a:gd fmla="val 3692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9"/>
          <p:cNvSpPr/>
          <p:nvPr/>
        </p:nvSpPr>
        <p:spPr>
          <a:xfrm>
            <a:off x="5953125" y="13335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searchInputRef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29"/>
          <p:cNvCxnSpPr/>
          <p:nvPr/>
        </p:nvCxnSpPr>
        <p:spPr>
          <a:xfrm>
            <a:off x="6781800" y="1657350"/>
            <a:ext cx="0" cy="342900"/>
          </a:xfrm>
          <a:prstGeom prst="straightConnector1">
            <a:avLst/>
          </a:prstGeom>
          <a:noFill/>
          <a:ln cap="flat" cmpd="sng" w="20300">
            <a:solidFill>
              <a:srgbClr val="1E3A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" name="Google Shape;357;p29"/>
          <p:cNvSpPr/>
          <p:nvPr/>
        </p:nvSpPr>
        <p:spPr>
          <a:xfrm>
            <a:off x="5905500" y="2009775"/>
            <a:ext cx="175260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9"/>
          <p:cNvSpPr/>
          <p:nvPr/>
        </p:nvSpPr>
        <p:spPr>
          <a:xfrm>
            <a:off x="5905500" y="2009775"/>
            <a:ext cx="1752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ref={searchInputRef}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29"/>
          <p:cNvCxnSpPr/>
          <p:nvPr/>
        </p:nvCxnSpPr>
        <p:spPr>
          <a:xfrm>
            <a:off x="6781800" y="2305050"/>
            <a:ext cx="0" cy="323850"/>
          </a:xfrm>
          <a:prstGeom prst="straightConnector1">
            <a:avLst/>
          </a:prstGeom>
          <a:noFill/>
          <a:ln cap="flat" cmpd="sng" w="20300">
            <a:solidFill>
              <a:srgbClr val="1E3A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0" name="Google Shape;360;p29"/>
          <p:cNvSpPr/>
          <p:nvPr/>
        </p:nvSpPr>
        <p:spPr>
          <a:xfrm>
            <a:off x="6229350" y="2647950"/>
            <a:ext cx="1104900" cy="256032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"/>
          <p:cNvSpPr/>
          <p:nvPr/>
        </p:nvSpPr>
        <p:spPr>
          <a:xfrm>
            <a:off x="6229350" y="2647950"/>
            <a:ext cx="11049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&lt;input&gt;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657225" y="3324225"/>
            <a:ext cx="31908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connects the input element to: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657225" y="3590925"/>
            <a:ext cx="2924175" cy="457200"/>
          </a:xfrm>
          <a:prstGeom prst="roundRect">
            <a:avLst>
              <a:gd fmla="val 10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9"/>
          <p:cNvSpPr/>
          <p:nvPr/>
        </p:nvSpPr>
        <p:spPr>
          <a:xfrm>
            <a:off x="794385" y="3673221"/>
            <a:ext cx="26498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searchInputRef.current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3810000" y="3333750"/>
            <a:ext cx="1962150" cy="723900"/>
          </a:xfrm>
          <a:prstGeom prst="roundRect">
            <a:avLst>
              <a:gd fmla="val 10105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9"/>
          <p:cNvSpPr/>
          <p:nvPr/>
        </p:nvSpPr>
        <p:spPr>
          <a:xfrm>
            <a:off x="3943350" y="3429000"/>
            <a:ext cx="1666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 INPUT IS IN DOM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3943350" y="3619500"/>
            <a:ext cx="1666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5924550" y="3333750"/>
            <a:ext cx="2038350" cy="723900"/>
          </a:xfrm>
          <a:prstGeom prst="roundRect">
            <a:avLst>
              <a:gd fmla="val 10105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9"/>
          <p:cNvSpPr/>
          <p:nvPr/>
        </p:nvSpPr>
        <p:spPr>
          <a:xfrm>
            <a:off x="6057900" y="3429000"/>
            <a:ext cx="1762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AFTER INPUT IS IN DOM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6057900" y="3619500"/>
            <a:ext cx="1762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HTMLInputElement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0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Focus the input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0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DOM ACCESS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657225" y="914400"/>
            <a:ext cx="804672" cy="256032"/>
          </a:xfrm>
          <a:prstGeom prst="roundRect">
            <a:avLst>
              <a:gd fmla="val 50000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0"/>
          <p:cNvSpPr/>
          <p:nvPr/>
        </p:nvSpPr>
        <p:spPr>
          <a:xfrm>
            <a:off x="657225" y="914400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657225" y="1190625"/>
            <a:ext cx="3857625" cy="2047875"/>
          </a:xfrm>
          <a:prstGeom prst="roundRect">
            <a:avLst>
              <a:gd fmla="val 223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0"/>
          <p:cNvSpPr/>
          <p:nvPr/>
        </p:nvSpPr>
        <p:spPr>
          <a:xfrm>
            <a:off x="794385" y="1272921"/>
            <a:ext cx="3583305" cy="1883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handleFocusSearch() {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if (searchInputRef.current) {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searchInputRef.current.focus();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onClick={handleFocusSearch}&gt;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Focus search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4857750" y="1076325"/>
            <a:ext cx="3105150" cy="1352550"/>
          </a:xfrm>
          <a:prstGeom prst="roundRect">
            <a:avLst>
              <a:gd fmla="val 540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0"/>
          <p:cNvSpPr/>
          <p:nvPr/>
        </p:nvSpPr>
        <p:spPr>
          <a:xfrm>
            <a:off x="4857750" y="1076325"/>
            <a:ext cx="310515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0"/>
          <p:cNvSpPr/>
          <p:nvPr/>
        </p:nvSpPr>
        <p:spPr>
          <a:xfrm>
            <a:off x="4967478" y="1176909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0"/>
          <p:cNvSpPr/>
          <p:nvPr/>
        </p:nvSpPr>
        <p:spPr>
          <a:xfrm>
            <a:off x="5113782" y="1176909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0"/>
          <p:cNvSpPr/>
          <p:nvPr/>
        </p:nvSpPr>
        <p:spPr>
          <a:xfrm>
            <a:off x="5260086" y="1176909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0"/>
          <p:cNvSpPr/>
          <p:nvPr/>
        </p:nvSpPr>
        <p:spPr>
          <a:xfrm>
            <a:off x="5360670" y="1122045"/>
            <a:ext cx="24650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 click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0"/>
          <p:cNvSpPr/>
          <p:nvPr/>
        </p:nvSpPr>
        <p:spPr>
          <a:xfrm>
            <a:off x="5067300" y="1438275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Search sessions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0"/>
          <p:cNvSpPr/>
          <p:nvPr/>
        </p:nvSpPr>
        <p:spPr>
          <a:xfrm>
            <a:off x="5067300" y="1743075"/>
            <a:ext cx="2381250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0"/>
          <p:cNvSpPr/>
          <p:nvPr/>
        </p:nvSpPr>
        <p:spPr>
          <a:xfrm>
            <a:off x="5186172" y="1807083"/>
            <a:ext cx="214350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0"/>
          <p:cNvSpPr/>
          <p:nvPr/>
        </p:nvSpPr>
        <p:spPr>
          <a:xfrm>
            <a:off x="4857750" y="2724150"/>
            <a:ext cx="3105150" cy="1352550"/>
          </a:xfrm>
          <a:prstGeom prst="roundRect">
            <a:avLst>
              <a:gd fmla="val 540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0"/>
          <p:cNvSpPr/>
          <p:nvPr/>
        </p:nvSpPr>
        <p:spPr>
          <a:xfrm>
            <a:off x="4857750" y="2724150"/>
            <a:ext cx="310515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0"/>
          <p:cNvSpPr/>
          <p:nvPr/>
        </p:nvSpPr>
        <p:spPr>
          <a:xfrm>
            <a:off x="4967478" y="2824734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0"/>
          <p:cNvSpPr/>
          <p:nvPr/>
        </p:nvSpPr>
        <p:spPr>
          <a:xfrm>
            <a:off x="5113782" y="2824734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0"/>
          <p:cNvSpPr/>
          <p:nvPr/>
        </p:nvSpPr>
        <p:spPr>
          <a:xfrm>
            <a:off x="5260086" y="2824734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0"/>
          <p:cNvSpPr/>
          <p:nvPr/>
        </p:nvSpPr>
        <p:spPr>
          <a:xfrm>
            <a:off x="5360670" y="2769870"/>
            <a:ext cx="24650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After click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0"/>
          <p:cNvSpPr/>
          <p:nvPr/>
        </p:nvSpPr>
        <p:spPr>
          <a:xfrm>
            <a:off x="5067300" y="3086100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Search sessions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0"/>
          <p:cNvSpPr/>
          <p:nvPr/>
        </p:nvSpPr>
        <p:spPr>
          <a:xfrm>
            <a:off x="5067300" y="3390900"/>
            <a:ext cx="2381250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0"/>
          <p:cNvSpPr/>
          <p:nvPr/>
        </p:nvSpPr>
        <p:spPr>
          <a:xfrm>
            <a:off x="5186172" y="3454908"/>
            <a:ext cx="214350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" name="Google Shape;400;p30"/>
          <p:cNvCxnSpPr/>
          <p:nvPr/>
        </p:nvCxnSpPr>
        <p:spPr>
          <a:xfrm>
            <a:off x="5725668" y="3473196"/>
            <a:ext cx="0" cy="201168"/>
          </a:xfrm>
          <a:prstGeom prst="straightConnector1">
            <a:avLst/>
          </a:prstGeom>
          <a:noFill/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30"/>
          <p:cNvSpPr/>
          <p:nvPr/>
        </p:nvSpPr>
        <p:spPr>
          <a:xfrm>
            <a:off x="657225" y="3476625"/>
            <a:ext cx="3857625" cy="609600"/>
          </a:xfrm>
          <a:prstGeom prst="roundRect">
            <a:avLst>
              <a:gd fmla="val 12000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838200" y="3600450"/>
            <a:ext cx="3505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Click Focus search, then the input visibly receives browser focus.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 or ref?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DOM ACCESS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657225" y="990600"/>
            <a:ext cx="3600450" cy="1285875"/>
          </a:xfrm>
          <a:prstGeom prst="roundRect">
            <a:avLst>
              <a:gd fmla="val 5689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1"/>
          <p:cNvSpPr/>
          <p:nvPr/>
        </p:nvSpPr>
        <p:spPr>
          <a:xfrm>
            <a:off x="866775" y="1162050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Use state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866775" y="1495425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When changing the value should update what React renders.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866775" y="1885950"/>
            <a:ext cx="3143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search text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selected theme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cart quantity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1"/>
          <p:cNvSpPr/>
          <p:nvPr/>
        </p:nvSpPr>
        <p:spPr>
          <a:xfrm>
            <a:off x="4552950" y="990600"/>
            <a:ext cx="3600450" cy="1285875"/>
          </a:xfrm>
          <a:prstGeom prst="roundRect">
            <a:avLst>
              <a:gd fmla="val 5689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1"/>
          <p:cNvSpPr/>
          <p:nvPr/>
        </p:nvSpPr>
        <p:spPr>
          <a:xfrm>
            <a:off x="4762500" y="1162050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Use a ref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4762500" y="1495425"/>
            <a:ext cx="3143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When code needs access to a DOM element without storing it as render state.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4762500" y="1952625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focus an input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scroll to a section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657225" y="2514600"/>
            <a:ext cx="74961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Checkpoint: A Jump to details button should scroll to the details section. What does the component need?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809625" y="2886075"/>
            <a:ext cx="3429000" cy="381000"/>
          </a:xfrm>
          <a:prstGeom prst="roundRect">
            <a:avLst>
              <a:gd fmla="val 192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1"/>
          <p:cNvSpPr/>
          <p:nvPr/>
        </p:nvSpPr>
        <p:spPr>
          <a:xfrm>
            <a:off x="919353" y="296837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1"/>
          <p:cNvSpPr/>
          <p:nvPr/>
        </p:nvSpPr>
        <p:spPr>
          <a:xfrm>
            <a:off x="919353" y="296837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1294257" y="2922651"/>
            <a:ext cx="2843784" cy="307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Another boolean state value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1"/>
          <p:cNvSpPr/>
          <p:nvPr/>
        </p:nvSpPr>
        <p:spPr>
          <a:xfrm>
            <a:off x="4543425" y="2886075"/>
            <a:ext cx="3429000" cy="381000"/>
          </a:xfrm>
          <a:prstGeom prst="roundRect">
            <a:avLst>
              <a:gd fmla="val 192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1"/>
          <p:cNvSpPr/>
          <p:nvPr/>
        </p:nvSpPr>
        <p:spPr>
          <a:xfrm>
            <a:off x="4653153" y="296837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1"/>
          <p:cNvSpPr/>
          <p:nvPr/>
        </p:nvSpPr>
        <p:spPr>
          <a:xfrm>
            <a:off x="4653153" y="296837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1"/>
          <p:cNvSpPr/>
          <p:nvPr/>
        </p:nvSpPr>
        <p:spPr>
          <a:xfrm>
            <a:off x="5028057" y="2922651"/>
            <a:ext cx="2843784" cy="307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ref to the details element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1"/>
          <p:cNvSpPr/>
          <p:nvPr/>
        </p:nvSpPr>
        <p:spPr>
          <a:xfrm>
            <a:off x="809625" y="3362325"/>
            <a:ext cx="3429000" cy="381000"/>
          </a:xfrm>
          <a:prstGeom prst="roundRect">
            <a:avLst>
              <a:gd fmla="val 192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1"/>
          <p:cNvSpPr/>
          <p:nvPr/>
        </p:nvSpPr>
        <p:spPr>
          <a:xfrm>
            <a:off x="919353" y="344462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1"/>
          <p:cNvSpPr/>
          <p:nvPr/>
        </p:nvSpPr>
        <p:spPr>
          <a:xfrm>
            <a:off x="919353" y="344462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1"/>
          <p:cNvSpPr/>
          <p:nvPr/>
        </p:nvSpPr>
        <p:spPr>
          <a:xfrm>
            <a:off x="1294257" y="3398901"/>
            <a:ext cx="2843784" cy="307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 Effect that runs after every render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1"/>
          <p:cNvSpPr/>
          <p:nvPr/>
        </p:nvSpPr>
        <p:spPr>
          <a:xfrm>
            <a:off x="4543425" y="3362325"/>
            <a:ext cx="3429000" cy="381000"/>
          </a:xfrm>
          <a:prstGeom prst="roundRect">
            <a:avLst>
              <a:gd fmla="val 192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1"/>
          <p:cNvSpPr/>
          <p:nvPr/>
        </p:nvSpPr>
        <p:spPr>
          <a:xfrm>
            <a:off x="4653153" y="344462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1"/>
          <p:cNvSpPr/>
          <p:nvPr/>
        </p:nvSpPr>
        <p:spPr>
          <a:xfrm>
            <a:off x="4653153" y="344462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1"/>
          <p:cNvSpPr/>
          <p:nvPr/>
        </p:nvSpPr>
        <p:spPr>
          <a:xfrm>
            <a:off x="5028057" y="3398901"/>
            <a:ext cx="2843784" cy="307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second copy of the details data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1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1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B. A ref to the details element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1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requirement is to access a rendered DOM element and use a browser capability on it.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2"/>
          <p:cNvSpPr/>
          <p:nvPr/>
        </p:nvSpPr>
        <p:spPr>
          <a:xfrm>
            <a:off x="552450" y="2047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Organize state updates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2"/>
          <p:cNvSpPr/>
          <p:nvPr/>
        </p:nvSpPr>
        <p:spPr>
          <a:xfrm>
            <a:off x="552450" y="2657475"/>
            <a:ext cx="1238250" cy="38100"/>
          </a:xfrm>
          <a:prstGeom prst="rect">
            <a:avLst/>
          </a:prstGeom>
          <a:solidFill>
            <a:srgbClr val="1E3A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3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Meet the Reading Queue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3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3"/>
          <p:cNvSpPr/>
          <p:nvPr/>
        </p:nvSpPr>
        <p:spPr>
          <a:xfrm>
            <a:off x="657225" y="1104900"/>
            <a:ext cx="4000500" cy="3009900"/>
          </a:xfrm>
          <a:prstGeom prst="roundRect">
            <a:avLst>
              <a:gd fmla="val 243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3"/>
          <p:cNvSpPr/>
          <p:nvPr/>
        </p:nvSpPr>
        <p:spPr>
          <a:xfrm>
            <a:off x="657225" y="1104900"/>
            <a:ext cx="400050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3"/>
          <p:cNvSpPr/>
          <p:nvPr/>
        </p:nvSpPr>
        <p:spPr>
          <a:xfrm>
            <a:off x="766953" y="1205484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3"/>
          <p:cNvSpPr/>
          <p:nvPr/>
        </p:nvSpPr>
        <p:spPr>
          <a:xfrm>
            <a:off x="913257" y="1205484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3"/>
          <p:cNvSpPr/>
          <p:nvPr/>
        </p:nvSpPr>
        <p:spPr>
          <a:xfrm>
            <a:off x="1059561" y="1205484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3"/>
          <p:cNvSpPr/>
          <p:nvPr/>
        </p:nvSpPr>
        <p:spPr>
          <a:xfrm>
            <a:off x="1160145" y="1150620"/>
            <a:ext cx="33604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Reading Queue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3"/>
          <p:cNvSpPr/>
          <p:nvPr/>
        </p:nvSpPr>
        <p:spPr>
          <a:xfrm>
            <a:off x="867537" y="1488948"/>
            <a:ext cx="35890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Reading Queue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3"/>
          <p:cNvSpPr/>
          <p:nvPr/>
        </p:nvSpPr>
        <p:spPr>
          <a:xfrm>
            <a:off x="867537" y="1927860"/>
            <a:ext cx="3579876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3"/>
          <p:cNvSpPr/>
          <p:nvPr/>
        </p:nvSpPr>
        <p:spPr>
          <a:xfrm>
            <a:off x="995553" y="1982724"/>
            <a:ext cx="24917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Understanding closures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3"/>
          <p:cNvSpPr/>
          <p:nvPr/>
        </p:nvSpPr>
        <p:spPr>
          <a:xfrm>
            <a:off x="3441573" y="1991868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3"/>
          <p:cNvSpPr/>
          <p:nvPr/>
        </p:nvSpPr>
        <p:spPr>
          <a:xfrm>
            <a:off x="3441573" y="19918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Queued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3"/>
          <p:cNvSpPr/>
          <p:nvPr/>
        </p:nvSpPr>
        <p:spPr>
          <a:xfrm>
            <a:off x="995553" y="2193036"/>
            <a:ext cx="33604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Start ]   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867537" y="2494788"/>
            <a:ext cx="3579876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3"/>
          <p:cNvSpPr/>
          <p:nvPr/>
        </p:nvSpPr>
        <p:spPr>
          <a:xfrm>
            <a:off x="995553" y="2549652"/>
            <a:ext cx="24917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rendering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3"/>
          <p:cNvSpPr/>
          <p:nvPr/>
        </p:nvSpPr>
        <p:spPr>
          <a:xfrm>
            <a:off x="3441573" y="2558796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3"/>
          <p:cNvSpPr/>
          <p:nvPr/>
        </p:nvSpPr>
        <p:spPr>
          <a:xfrm>
            <a:off x="3441573" y="255879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Reading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3"/>
          <p:cNvSpPr/>
          <p:nvPr/>
        </p:nvSpPr>
        <p:spPr>
          <a:xfrm>
            <a:off x="995553" y="2759964"/>
            <a:ext cx="33604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Finish ]   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867537" y="3061716"/>
            <a:ext cx="3579876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3"/>
          <p:cNvSpPr/>
          <p:nvPr/>
        </p:nvSpPr>
        <p:spPr>
          <a:xfrm>
            <a:off x="995553" y="3116580"/>
            <a:ext cx="24917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TypeScript narrowing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/>
          <p:nvPr/>
        </p:nvSpPr>
        <p:spPr>
          <a:xfrm>
            <a:off x="3441573" y="3125724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3"/>
          <p:cNvSpPr/>
          <p:nvPr/>
        </p:nvSpPr>
        <p:spPr>
          <a:xfrm>
            <a:off x="3441573" y="31257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Finished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3"/>
          <p:cNvSpPr/>
          <p:nvPr/>
        </p:nvSpPr>
        <p:spPr>
          <a:xfrm>
            <a:off x="995553" y="3326892"/>
            <a:ext cx="33604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3"/>
          <p:cNvSpPr/>
          <p:nvPr/>
        </p:nvSpPr>
        <p:spPr>
          <a:xfrm>
            <a:off x="867537" y="3639312"/>
            <a:ext cx="1097280" cy="292608"/>
          </a:xfrm>
          <a:prstGeom prst="roundRect">
            <a:avLst>
              <a:gd fmla="val 15625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3"/>
          <p:cNvSpPr/>
          <p:nvPr/>
        </p:nvSpPr>
        <p:spPr>
          <a:xfrm>
            <a:off x="867537" y="363931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Reset queue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5048250" y="10668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10"/>
              <a:buFont typeface="Arial"/>
              <a:buNone/>
            </a:pPr>
            <a:r>
              <a:rPr b="0" i="0" lang="en" sz="11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Each item has a title and a status.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3"/>
          <p:cNvSpPr/>
          <p:nvPr/>
        </p:nvSpPr>
        <p:spPr>
          <a:xfrm>
            <a:off x="5048250" y="1409700"/>
            <a:ext cx="2914650" cy="1933575"/>
          </a:xfrm>
          <a:prstGeom prst="roundRect">
            <a:avLst>
              <a:gd fmla="val 236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3"/>
          <p:cNvSpPr/>
          <p:nvPr/>
        </p:nvSpPr>
        <p:spPr>
          <a:xfrm>
            <a:off x="5185410" y="1491996"/>
            <a:ext cx="2640330" cy="1768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ReadingItem =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id: string;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title: string;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status: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| "queued"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| "reading"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| "finished";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5048250" y="3581400"/>
            <a:ext cx="2914650" cy="476250"/>
          </a:xfrm>
          <a:prstGeom prst="roundRect">
            <a:avLst>
              <a:gd fmla="val 15360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3"/>
          <p:cNvSpPr/>
          <p:nvPr/>
        </p:nvSpPr>
        <p:spPr>
          <a:xfrm>
            <a:off x="5219700" y="3667125"/>
            <a:ext cx="2571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Start, Finish, Remove, and Reset are the interactions we need to support.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4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useState version works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657225" y="97155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 can manage the queue with state patterns we already know.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657225" y="1276350"/>
            <a:ext cx="4257675" cy="600075"/>
          </a:xfrm>
          <a:prstGeom prst="roundRect">
            <a:avLst>
              <a:gd fmla="val 7619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4"/>
          <p:cNvSpPr/>
          <p:nvPr/>
        </p:nvSpPr>
        <p:spPr>
          <a:xfrm>
            <a:off x="794385" y="1358646"/>
            <a:ext cx="3983355" cy="435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[items, setItems] =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useState(initialReadingItems);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657225" y="20002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Start an item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657225" y="2219325"/>
            <a:ext cx="4257675" cy="1733550"/>
          </a:xfrm>
          <a:prstGeom prst="roundRect">
            <a:avLst>
              <a:gd fmla="val 263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4"/>
          <p:cNvSpPr/>
          <p:nvPr/>
        </p:nvSpPr>
        <p:spPr>
          <a:xfrm>
            <a:off x="794385" y="2301621"/>
            <a:ext cx="3983355" cy="1568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handleStart(itemId: string) {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setItems(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items.map((item) =&gt;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item.id === itemId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? { ...item, status: "reading" }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: item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4"/>
          <p:cNvSpPr/>
          <p:nvPr/>
        </p:nvSpPr>
        <p:spPr>
          <a:xfrm>
            <a:off x="5219700" y="1104900"/>
            <a:ext cx="2743200" cy="2926800"/>
          </a:xfrm>
          <a:prstGeom prst="roundRect">
            <a:avLst>
              <a:gd fmla="val 284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4"/>
          <p:cNvSpPr/>
          <p:nvPr/>
        </p:nvSpPr>
        <p:spPr>
          <a:xfrm>
            <a:off x="5219700" y="1104900"/>
            <a:ext cx="274320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4"/>
          <p:cNvSpPr/>
          <p:nvPr/>
        </p:nvSpPr>
        <p:spPr>
          <a:xfrm>
            <a:off x="5329428" y="1205484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4"/>
          <p:cNvSpPr/>
          <p:nvPr/>
        </p:nvSpPr>
        <p:spPr>
          <a:xfrm>
            <a:off x="5475732" y="1205484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4"/>
          <p:cNvSpPr/>
          <p:nvPr/>
        </p:nvSpPr>
        <p:spPr>
          <a:xfrm>
            <a:off x="5622036" y="1205484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4"/>
          <p:cNvSpPr/>
          <p:nvPr/>
        </p:nvSpPr>
        <p:spPr>
          <a:xfrm>
            <a:off x="5722620" y="1150620"/>
            <a:ext cx="21031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Reading Queue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4"/>
          <p:cNvSpPr/>
          <p:nvPr/>
        </p:nvSpPr>
        <p:spPr>
          <a:xfrm>
            <a:off x="5430012" y="148894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Reading Queue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4"/>
          <p:cNvSpPr/>
          <p:nvPr/>
        </p:nvSpPr>
        <p:spPr>
          <a:xfrm>
            <a:off x="5430000" y="1876424"/>
            <a:ext cx="2322600" cy="5085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4"/>
          <p:cNvSpPr/>
          <p:nvPr/>
        </p:nvSpPr>
        <p:spPr>
          <a:xfrm>
            <a:off x="5558028" y="1982724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Understanding closures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4"/>
          <p:cNvSpPr/>
          <p:nvPr/>
        </p:nvSpPr>
        <p:spPr>
          <a:xfrm>
            <a:off x="6746748" y="1991868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4"/>
          <p:cNvSpPr/>
          <p:nvPr/>
        </p:nvSpPr>
        <p:spPr>
          <a:xfrm>
            <a:off x="6746748" y="19918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Queued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4"/>
          <p:cNvSpPr/>
          <p:nvPr/>
        </p:nvSpPr>
        <p:spPr>
          <a:xfrm>
            <a:off x="5558028" y="2193036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Start ]   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4"/>
          <p:cNvSpPr/>
          <p:nvPr/>
        </p:nvSpPr>
        <p:spPr>
          <a:xfrm>
            <a:off x="5430012" y="2494788"/>
            <a:ext cx="2322576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4"/>
          <p:cNvSpPr/>
          <p:nvPr/>
        </p:nvSpPr>
        <p:spPr>
          <a:xfrm>
            <a:off x="5558028" y="254965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rendering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4"/>
          <p:cNvSpPr/>
          <p:nvPr/>
        </p:nvSpPr>
        <p:spPr>
          <a:xfrm>
            <a:off x="6746748" y="2558796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4"/>
          <p:cNvSpPr/>
          <p:nvPr/>
        </p:nvSpPr>
        <p:spPr>
          <a:xfrm>
            <a:off x="6746748" y="255879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Reading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4"/>
          <p:cNvSpPr/>
          <p:nvPr/>
        </p:nvSpPr>
        <p:spPr>
          <a:xfrm>
            <a:off x="5558028" y="275996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Finish ]   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4"/>
          <p:cNvSpPr/>
          <p:nvPr/>
        </p:nvSpPr>
        <p:spPr>
          <a:xfrm>
            <a:off x="5430012" y="3061716"/>
            <a:ext cx="2322576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4"/>
          <p:cNvSpPr/>
          <p:nvPr/>
        </p:nvSpPr>
        <p:spPr>
          <a:xfrm>
            <a:off x="5558028" y="311658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TypeScript </a:t>
            </a:r>
            <a:b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narrowing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4"/>
          <p:cNvSpPr/>
          <p:nvPr/>
        </p:nvSpPr>
        <p:spPr>
          <a:xfrm>
            <a:off x="6746748" y="3125724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4"/>
          <p:cNvSpPr/>
          <p:nvPr/>
        </p:nvSpPr>
        <p:spPr>
          <a:xfrm>
            <a:off x="6746748" y="31257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Finished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4"/>
          <p:cNvSpPr/>
          <p:nvPr/>
        </p:nvSpPr>
        <p:spPr>
          <a:xfrm>
            <a:off x="5558028" y="3326892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4"/>
          <p:cNvSpPr/>
          <p:nvPr/>
        </p:nvSpPr>
        <p:spPr>
          <a:xfrm>
            <a:off x="5430012" y="3597967"/>
            <a:ext cx="1097400" cy="292500"/>
          </a:xfrm>
          <a:prstGeom prst="roundRect">
            <a:avLst>
              <a:gd fmla="val 15625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4"/>
          <p:cNvSpPr/>
          <p:nvPr/>
        </p:nvSpPr>
        <p:spPr>
          <a:xfrm>
            <a:off x="5429962" y="3586850"/>
            <a:ext cx="109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Reset queue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4"/>
          <p:cNvSpPr/>
          <p:nvPr/>
        </p:nvSpPr>
        <p:spPr>
          <a:xfrm>
            <a:off x="5219700" y="4099263"/>
            <a:ext cx="2743200" cy="457200"/>
          </a:xfrm>
          <a:prstGeom prst="roundRect">
            <a:avLst>
              <a:gd fmla="val 16000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4"/>
          <p:cNvSpPr/>
          <p:nvPr/>
        </p:nvSpPr>
        <p:spPr>
          <a:xfrm>
            <a:off x="5381625" y="4184988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This implementation is valid.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5381625" y="4385013"/>
            <a:ext cx="24003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Finish and Reset use the same familiar update patterns.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5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update rules are spread out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5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5"/>
          <p:cNvSpPr/>
          <p:nvPr/>
        </p:nvSpPr>
        <p:spPr>
          <a:xfrm>
            <a:off x="3286125" y="1638300"/>
            <a:ext cx="1790700" cy="838200"/>
          </a:xfrm>
          <a:prstGeom prst="roundRect">
            <a:avLst>
              <a:gd fmla="val 8727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5"/>
          <p:cNvSpPr/>
          <p:nvPr/>
        </p:nvSpPr>
        <p:spPr>
          <a:xfrm>
            <a:off x="3476625" y="1885950"/>
            <a:ext cx="1409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5"/>
          <p:cNvSpPr/>
          <p:nvPr/>
        </p:nvSpPr>
        <p:spPr>
          <a:xfrm>
            <a:off x="3476625" y="214312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same state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5"/>
          <p:cNvSpPr/>
          <p:nvPr/>
        </p:nvSpPr>
        <p:spPr>
          <a:xfrm>
            <a:off x="657225" y="1143000"/>
            <a:ext cx="2190750" cy="762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5"/>
          <p:cNvSpPr/>
          <p:nvPr/>
        </p:nvSpPr>
        <p:spPr>
          <a:xfrm>
            <a:off x="828675" y="127635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60"/>
              <a:buFont typeface="Courier New"/>
              <a:buNone/>
            </a:pPr>
            <a:r>
              <a:rPr b="1" i="0" lang="en" sz="106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handleStart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5"/>
          <p:cNvSpPr/>
          <p:nvPr/>
        </p:nvSpPr>
        <p:spPr>
          <a:xfrm>
            <a:off x="828675" y="1543050"/>
            <a:ext cx="1809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queued to reading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6" name="Google Shape;536;p35"/>
          <p:cNvCxnSpPr/>
          <p:nvPr/>
        </p:nvCxnSpPr>
        <p:spPr>
          <a:xfrm>
            <a:off x="2847975" y="1524000"/>
            <a:ext cx="438150" cy="53340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35"/>
          <p:cNvSpPr/>
          <p:nvPr/>
        </p:nvSpPr>
        <p:spPr>
          <a:xfrm>
            <a:off x="5905500" y="1143000"/>
            <a:ext cx="2190750" cy="762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5"/>
          <p:cNvSpPr/>
          <p:nvPr/>
        </p:nvSpPr>
        <p:spPr>
          <a:xfrm>
            <a:off x="6076950" y="127635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60"/>
              <a:buFont typeface="Courier New"/>
              <a:buNone/>
            </a:pPr>
            <a:r>
              <a:rPr b="1" i="0" lang="en" sz="106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handleFinish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5"/>
          <p:cNvSpPr/>
          <p:nvPr/>
        </p:nvSpPr>
        <p:spPr>
          <a:xfrm>
            <a:off x="6076950" y="1543050"/>
            <a:ext cx="1809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reading to finished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0" name="Google Shape;540;p35"/>
          <p:cNvCxnSpPr>
            <a:stCxn id="537" idx="1"/>
            <a:endCxn id="530" idx="3"/>
          </p:cNvCxnSpPr>
          <p:nvPr/>
        </p:nvCxnSpPr>
        <p:spPr>
          <a:xfrm flipH="1">
            <a:off x="5076900" y="1524000"/>
            <a:ext cx="828600" cy="53340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" name="Google Shape;541;p35"/>
          <p:cNvSpPr/>
          <p:nvPr/>
        </p:nvSpPr>
        <p:spPr>
          <a:xfrm>
            <a:off x="657225" y="2828925"/>
            <a:ext cx="2190750" cy="762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5"/>
          <p:cNvSpPr/>
          <p:nvPr/>
        </p:nvSpPr>
        <p:spPr>
          <a:xfrm>
            <a:off x="828675" y="2962275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60"/>
              <a:buFont typeface="Courier New"/>
              <a:buNone/>
            </a:pPr>
            <a:r>
              <a:rPr b="1" i="0" lang="en" sz="106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handleRemove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5"/>
          <p:cNvSpPr/>
          <p:nvPr/>
        </p:nvSpPr>
        <p:spPr>
          <a:xfrm>
            <a:off x="828675" y="3228975"/>
            <a:ext cx="1809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removes item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" name="Google Shape;544;p35"/>
          <p:cNvCxnSpPr/>
          <p:nvPr/>
        </p:nvCxnSpPr>
        <p:spPr>
          <a:xfrm flipH="1" rot="10800000">
            <a:off x="2847975" y="2057400"/>
            <a:ext cx="438150" cy="1152525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" name="Google Shape;545;p35"/>
          <p:cNvSpPr/>
          <p:nvPr/>
        </p:nvSpPr>
        <p:spPr>
          <a:xfrm>
            <a:off x="5905500" y="2828925"/>
            <a:ext cx="2190750" cy="762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5"/>
          <p:cNvSpPr/>
          <p:nvPr/>
        </p:nvSpPr>
        <p:spPr>
          <a:xfrm>
            <a:off x="6076950" y="2962275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60"/>
              <a:buFont typeface="Courier New"/>
              <a:buNone/>
            </a:pPr>
            <a:r>
              <a:rPr b="1" i="0" lang="en" sz="106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handleReset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5"/>
          <p:cNvSpPr/>
          <p:nvPr/>
        </p:nvSpPr>
        <p:spPr>
          <a:xfrm>
            <a:off x="6076950" y="3228975"/>
            <a:ext cx="1809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restores initial queue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35"/>
          <p:cNvCxnSpPr>
            <a:stCxn id="545" idx="1"/>
            <a:endCxn id="530" idx="3"/>
          </p:cNvCxnSpPr>
          <p:nvPr/>
        </p:nvCxnSpPr>
        <p:spPr>
          <a:xfrm rot="10800000">
            <a:off x="5076900" y="2057325"/>
            <a:ext cx="828600" cy="115260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9" name="Google Shape;549;p35"/>
          <p:cNvSpPr/>
          <p:nvPr/>
        </p:nvSpPr>
        <p:spPr>
          <a:xfrm>
            <a:off x="1276350" y="3943350"/>
            <a:ext cx="5810250" cy="428625"/>
          </a:xfrm>
          <a:prstGeom prst="roundRect">
            <a:avLst>
              <a:gd fmla="val 17067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5"/>
          <p:cNvSpPr/>
          <p:nvPr/>
        </p:nvSpPr>
        <p:spPr>
          <a:xfrm>
            <a:off x="1457325" y="4038600"/>
            <a:ext cx="5448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A state transition is a change from current state to next state because something happened.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Describe what happened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6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6"/>
          <p:cNvSpPr/>
          <p:nvPr/>
        </p:nvSpPr>
        <p:spPr>
          <a:xfrm>
            <a:off x="657225" y="1238250"/>
            <a:ext cx="2952600" cy="3086100"/>
          </a:xfrm>
          <a:prstGeom prst="roundRect">
            <a:avLst>
              <a:gd fmla="val 313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6"/>
          <p:cNvSpPr/>
          <p:nvPr/>
        </p:nvSpPr>
        <p:spPr>
          <a:xfrm>
            <a:off x="657225" y="1238250"/>
            <a:ext cx="295275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6"/>
          <p:cNvSpPr/>
          <p:nvPr/>
        </p:nvSpPr>
        <p:spPr>
          <a:xfrm>
            <a:off x="766953" y="1338834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6"/>
          <p:cNvSpPr/>
          <p:nvPr/>
        </p:nvSpPr>
        <p:spPr>
          <a:xfrm>
            <a:off x="913257" y="1338834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6"/>
          <p:cNvSpPr/>
          <p:nvPr/>
        </p:nvSpPr>
        <p:spPr>
          <a:xfrm>
            <a:off x="1059561" y="1338834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6"/>
          <p:cNvSpPr/>
          <p:nvPr/>
        </p:nvSpPr>
        <p:spPr>
          <a:xfrm>
            <a:off x="1160145" y="1283970"/>
            <a:ext cx="23126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Reading Queue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6"/>
          <p:cNvSpPr/>
          <p:nvPr/>
        </p:nvSpPr>
        <p:spPr>
          <a:xfrm>
            <a:off x="867537" y="1622298"/>
            <a:ext cx="25412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Reading Queue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6"/>
          <p:cNvSpPr/>
          <p:nvPr/>
        </p:nvSpPr>
        <p:spPr>
          <a:xfrm>
            <a:off x="867537" y="2061210"/>
            <a:ext cx="2532126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6"/>
          <p:cNvSpPr/>
          <p:nvPr/>
        </p:nvSpPr>
        <p:spPr>
          <a:xfrm>
            <a:off x="995553" y="2116074"/>
            <a:ext cx="14439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Understanding closures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6"/>
          <p:cNvSpPr/>
          <p:nvPr/>
        </p:nvSpPr>
        <p:spPr>
          <a:xfrm>
            <a:off x="2393823" y="2125218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6"/>
          <p:cNvSpPr/>
          <p:nvPr/>
        </p:nvSpPr>
        <p:spPr>
          <a:xfrm>
            <a:off x="2393823" y="212521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Queued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6"/>
          <p:cNvSpPr/>
          <p:nvPr/>
        </p:nvSpPr>
        <p:spPr>
          <a:xfrm>
            <a:off x="995553" y="2326386"/>
            <a:ext cx="231267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Start ]   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6"/>
          <p:cNvSpPr/>
          <p:nvPr/>
        </p:nvSpPr>
        <p:spPr>
          <a:xfrm>
            <a:off x="867537" y="2628138"/>
            <a:ext cx="2532126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6"/>
          <p:cNvSpPr/>
          <p:nvPr/>
        </p:nvSpPr>
        <p:spPr>
          <a:xfrm>
            <a:off x="995553" y="2683002"/>
            <a:ext cx="14439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rendering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6"/>
          <p:cNvSpPr/>
          <p:nvPr/>
        </p:nvSpPr>
        <p:spPr>
          <a:xfrm>
            <a:off x="2393823" y="2692146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6"/>
          <p:cNvSpPr/>
          <p:nvPr/>
        </p:nvSpPr>
        <p:spPr>
          <a:xfrm>
            <a:off x="2393823" y="269214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Reading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6"/>
          <p:cNvSpPr/>
          <p:nvPr/>
        </p:nvSpPr>
        <p:spPr>
          <a:xfrm>
            <a:off x="995553" y="2893314"/>
            <a:ext cx="231267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Finish ]   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6"/>
          <p:cNvSpPr/>
          <p:nvPr/>
        </p:nvSpPr>
        <p:spPr>
          <a:xfrm>
            <a:off x="867537" y="3195066"/>
            <a:ext cx="2532126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6"/>
          <p:cNvSpPr/>
          <p:nvPr/>
        </p:nvSpPr>
        <p:spPr>
          <a:xfrm>
            <a:off x="995553" y="3249930"/>
            <a:ext cx="14439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TypeScript narrowing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6"/>
          <p:cNvSpPr/>
          <p:nvPr/>
        </p:nvSpPr>
        <p:spPr>
          <a:xfrm>
            <a:off x="2393823" y="3259074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6"/>
          <p:cNvSpPr/>
          <p:nvPr/>
        </p:nvSpPr>
        <p:spPr>
          <a:xfrm>
            <a:off x="2393823" y="325907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Finished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6"/>
          <p:cNvSpPr/>
          <p:nvPr/>
        </p:nvSpPr>
        <p:spPr>
          <a:xfrm>
            <a:off x="995553" y="3460242"/>
            <a:ext cx="231267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6"/>
          <p:cNvSpPr/>
          <p:nvPr/>
        </p:nvSpPr>
        <p:spPr>
          <a:xfrm>
            <a:off x="867587" y="3762012"/>
            <a:ext cx="1097400" cy="292500"/>
          </a:xfrm>
          <a:prstGeom prst="roundRect">
            <a:avLst>
              <a:gd fmla="val 15625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6"/>
          <p:cNvSpPr/>
          <p:nvPr/>
        </p:nvSpPr>
        <p:spPr>
          <a:xfrm>
            <a:off x="867537" y="3762012"/>
            <a:ext cx="109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Reset queue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6"/>
          <p:cNvSpPr/>
          <p:nvPr/>
        </p:nvSpPr>
        <p:spPr>
          <a:xfrm>
            <a:off x="3924300" y="1638300"/>
            <a:ext cx="1428750" cy="762000"/>
          </a:xfrm>
          <a:prstGeom prst="roundRect">
            <a:avLst>
              <a:gd fmla="val 9600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6"/>
          <p:cNvSpPr/>
          <p:nvPr/>
        </p:nvSpPr>
        <p:spPr>
          <a:xfrm>
            <a:off x="4095750" y="1885950"/>
            <a:ext cx="1085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User starts R-102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36"/>
          <p:cNvCxnSpPr/>
          <p:nvPr/>
        </p:nvCxnSpPr>
        <p:spPr>
          <a:xfrm>
            <a:off x="3609975" y="2019300"/>
            <a:ext cx="314325" cy="0"/>
          </a:xfrm>
          <a:prstGeom prst="straightConnector1">
            <a:avLst/>
          </a:prstGeom>
          <a:noFill/>
          <a:ln cap="flat" cmpd="sng" w="1650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5" name="Google Shape;585;p36"/>
          <p:cNvCxnSpPr/>
          <p:nvPr/>
        </p:nvCxnSpPr>
        <p:spPr>
          <a:xfrm>
            <a:off x="5353050" y="2019300"/>
            <a:ext cx="400050" cy="0"/>
          </a:xfrm>
          <a:prstGeom prst="straightConnector1">
            <a:avLst/>
          </a:prstGeom>
          <a:noFill/>
          <a:ln cap="flat" cmpd="sng" w="1650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6" name="Google Shape;586;p36"/>
          <p:cNvSpPr/>
          <p:nvPr/>
        </p:nvSpPr>
        <p:spPr>
          <a:xfrm>
            <a:off x="5753100" y="1504950"/>
            <a:ext cx="2209800" cy="1104900"/>
          </a:xfrm>
          <a:prstGeom prst="roundRect">
            <a:avLst>
              <a:gd fmla="val 413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6"/>
          <p:cNvSpPr/>
          <p:nvPr/>
        </p:nvSpPr>
        <p:spPr>
          <a:xfrm>
            <a:off x="5890260" y="1587246"/>
            <a:ext cx="1935480" cy="94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type: "started",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itemId: "R-102"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6"/>
          <p:cNvSpPr/>
          <p:nvPr/>
        </p:nvSpPr>
        <p:spPr>
          <a:xfrm>
            <a:off x="5753100" y="2886075"/>
            <a:ext cx="2209800" cy="600075"/>
          </a:xfrm>
          <a:prstGeom prst="roundRect">
            <a:avLst>
              <a:gd fmla="val 12190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6"/>
          <p:cNvSpPr/>
          <p:nvPr/>
        </p:nvSpPr>
        <p:spPr>
          <a:xfrm>
            <a:off x="5943600" y="3000375"/>
            <a:ext cx="18383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10"/>
              <a:buFont typeface="Arial"/>
              <a:buNone/>
            </a:pPr>
            <a:r>
              <a:rPr b="1" i="0" lang="en" sz="101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An action is an object that describes what happened and carries the needed information.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7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Dispatch the action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7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7"/>
          <p:cNvSpPr/>
          <p:nvPr/>
        </p:nvSpPr>
        <p:spPr>
          <a:xfrm>
            <a:off x="666750" y="952500"/>
            <a:ext cx="7315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dispatch sends an action to the reducer. We get dispatch from useReducer when we connect the reducer to the component.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7"/>
          <p:cNvSpPr/>
          <p:nvPr/>
        </p:nvSpPr>
        <p:spPr>
          <a:xfrm>
            <a:off x="962025" y="13525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7"/>
          <p:cNvSpPr/>
          <p:nvPr/>
        </p:nvSpPr>
        <p:spPr>
          <a:xfrm>
            <a:off x="657225" y="1619250"/>
            <a:ext cx="3667125" cy="2000250"/>
          </a:xfrm>
          <a:prstGeom prst="roundRect">
            <a:avLst>
              <a:gd fmla="val 2286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7"/>
          <p:cNvSpPr/>
          <p:nvPr/>
        </p:nvSpPr>
        <p:spPr>
          <a:xfrm>
            <a:off x="794385" y="1701546"/>
            <a:ext cx="3392805" cy="1835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handleStart(itemId: string) {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setItems(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items.map((item) =&gt;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item.id === itemId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? {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...item,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status: "reading"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}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: item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7"/>
          <p:cNvSpPr/>
          <p:nvPr/>
        </p:nvSpPr>
        <p:spPr>
          <a:xfrm>
            <a:off x="4886325" y="13525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7"/>
          <p:cNvSpPr/>
          <p:nvPr/>
        </p:nvSpPr>
        <p:spPr>
          <a:xfrm>
            <a:off x="4714875" y="1619250"/>
            <a:ext cx="3248100" cy="1509600"/>
          </a:xfrm>
          <a:prstGeom prst="roundRect">
            <a:avLst>
              <a:gd fmla="val 331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7"/>
          <p:cNvSpPr/>
          <p:nvPr/>
        </p:nvSpPr>
        <p:spPr>
          <a:xfrm>
            <a:off x="4852035" y="1701546"/>
            <a:ext cx="2973705" cy="1216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handleStart(itemId: string) {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dispatch({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type: "started",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itemId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40" u="none" cap="none" strike="noStrike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lang="en" sz="104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can also be written as: </a:t>
            </a:r>
            <a:r>
              <a:rPr lang="en" sz="104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itemId: itemId </a:t>
            </a:r>
            <a:endParaRPr sz="104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4" name="Google Shape;604;p37"/>
          <p:cNvSpPr/>
          <p:nvPr/>
        </p:nvSpPr>
        <p:spPr>
          <a:xfrm>
            <a:off x="4714875" y="3209925"/>
            <a:ext cx="3248025" cy="409575"/>
          </a:xfrm>
          <a:prstGeom prst="roundRect">
            <a:avLst>
              <a:gd fmla="val 17860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7"/>
          <p:cNvSpPr/>
          <p:nvPr/>
        </p:nvSpPr>
        <p:spPr>
          <a:xfrm>
            <a:off x="4895850" y="3286125"/>
            <a:ext cx="2886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handler now describes what happened. The reducer will own how next state is calculated.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8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a reducer?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725434" y="1400175"/>
            <a:ext cx="2095500" cy="790500"/>
          </a:xfrm>
          <a:prstGeom prst="roundRect">
            <a:avLst>
              <a:gd fmla="val 9253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8"/>
          <p:cNvSpPr/>
          <p:nvPr/>
        </p:nvSpPr>
        <p:spPr>
          <a:xfrm>
            <a:off x="877834" y="1514475"/>
            <a:ext cx="1790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8"/>
          <p:cNvSpPr/>
          <p:nvPr/>
        </p:nvSpPr>
        <p:spPr>
          <a:xfrm>
            <a:off x="877834" y="1752600"/>
            <a:ext cx="1790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ourier New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8"/>
          <p:cNvSpPr/>
          <p:nvPr/>
        </p:nvSpPr>
        <p:spPr>
          <a:xfrm>
            <a:off x="5286375" y="1400175"/>
            <a:ext cx="2095500" cy="790575"/>
          </a:xfrm>
          <a:prstGeom prst="roundRect">
            <a:avLst>
              <a:gd fmla="val 9253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8"/>
          <p:cNvSpPr/>
          <p:nvPr/>
        </p:nvSpPr>
        <p:spPr>
          <a:xfrm>
            <a:off x="5438775" y="1514475"/>
            <a:ext cx="1790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8"/>
          <p:cNvSpPr/>
          <p:nvPr/>
        </p:nvSpPr>
        <p:spPr>
          <a:xfrm>
            <a:off x="5438775" y="1752600"/>
            <a:ext cx="1790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0"/>
              <a:buFont typeface="Courier New"/>
              <a:buNone/>
            </a:pPr>
            <a:r>
              <a:rPr b="1" i="0" lang="en" sz="11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{ type: "started" }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3105150" y="1581150"/>
            <a:ext cx="1866900" cy="657225"/>
          </a:xfrm>
          <a:prstGeom prst="roundRect">
            <a:avLst>
              <a:gd fmla="val 11130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8"/>
          <p:cNvSpPr/>
          <p:nvPr/>
        </p:nvSpPr>
        <p:spPr>
          <a:xfrm>
            <a:off x="3276600" y="169545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REDUCER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8"/>
          <p:cNvSpPr/>
          <p:nvPr/>
        </p:nvSpPr>
        <p:spPr>
          <a:xfrm>
            <a:off x="3276600" y="19050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calculate next state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38"/>
          <p:cNvCxnSpPr>
            <a:stCxn id="613" idx="3"/>
          </p:cNvCxnSpPr>
          <p:nvPr/>
        </p:nvCxnSpPr>
        <p:spPr>
          <a:xfrm flipH="1" rot="10800000">
            <a:off x="2820934" y="1790625"/>
            <a:ext cx="284100" cy="4800"/>
          </a:xfrm>
          <a:prstGeom prst="straightConnector1">
            <a:avLst/>
          </a:prstGeom>
          <a:noFill/>
          <a:ln cap="flat" cmpd="sng" w="22850">
            <a:solidFill>
              <a:srgbClr val="1E3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38"/>
          <p:cNvCxnSpPr/>
          <p:nvPr/>
        </p:nvCxnSpPr>
        <p:spPr>
          <a:xfrm>
            <a:off x="4972050" y="1790700"/>
            <a:ext cx="314325" cy="0"/>
          </a:xfrm>
          <a:prstGeom prst="straightConnector1">
            <a:avLst/>
          </a:prstGeom>
          <a:noFill/>
          <a:ln cap="flat" cmpd="sng" w="22850">
            <a:solidFill>
              <a:srgbClr val="1E3A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p38"/>
          <p:cNvCxnSpPr/>
          <p:nvPr/>
        </p:nvCxnSpPr>
        <p:spPr>
          <a:xfrm>
            <a:off x="4038600" y="2238375"/>
            <a:ext cx="0" cy="447675"/>
          </a:xfrm>
          <a:prstGeom prst="straightConnector1">
            <a:avLst/>
          </a:prstGeom>
          <a:noFill/>
          <a:ln cap="flat" cmpd="sng" w="22850">
            <a:solidFill>
              <a:srgbClr val="1E3A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38"/>
          <p:cNvSpPr/>
          <p:nvPr/>
        </p:nvSpPr>
        <p:spPr>
          <a:xfrm>
            <a:off x="2990850" y="2705100"/>
            <a:ext cx="2095500" cy="695325"/>
          </a:xfrm>
          <a:prstGeom prst="roundRect">
            <a:avLst>
              <a:gd fmla="val 10521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8"/>
          <p:cNvSpPr/>
          <p:nvPr/>
        </p:nvSpPr>
        <p:spPr>
          <a:xfrm>
            <a:off x="3143250" y="2819400"/>
            <a:ext cx="1790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NEXT STATE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8"/>
          <p:cNvSpPr/>
          <p:nvPr/>
        </p:nvSpPr>
        <p:spPr>
          <a:xfrm>
            <a:off x="3143250" y="3048000"/>
            <a:ext cx="17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50"/>
              <a:buFont typeface="Courier New"/>
              <a:buNone/>
            </a:pPr>
            <a:r>
              <a:rPr b="1" i="0" lang="en" sz="135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next items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8"/>
          <p:cNvSpPr/>
          <p:nvPr/>
        </p:nvSpPr>
        <p:spPr>
          <a:xfrm>
            <a:off x="819150" y="3676650"/>
            <a:ext cx="4219575" cy="571500"/>
          </a:xfrm>
          <a:prstGeom prst="roundRect">
            <a:avLst>
              <a:gd fmla="val 128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8"/>
          <p:cNvSpPr/>
          <p:nvPr/>
        </p:nvSpPr>
        <p:spPr>
          <a:xfrm>
            <a:off x="990600" y="377190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Pure function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8"/>
          <p:cNvSpPr/>
          <p:nvPr/>
        </p:nvSpPr>
        <p:spPr>
          <a:xfrm>
            <a:off x="1885950" y="3752850"/>
            <a:ext cx="29813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Returns replacement state and does not perform external side effects.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8"/>
          <p:cNvSpPr/>
          <p:nvPr/>
        </p:nvSpPr>
        <p:spPr>
          <a:xfrm>
            <a:off x="5219700" y="3676650"/>
            <a:ext cx="2743200" cy="571500"/>
          </a:xfrm>
          <a:prstGeom prst="roundRect">
            <a:avLst>
              <a:gd fmla="val 12800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8"/>
          <p:cNvSpPr/>
          <p:nvPr/>
        </p:nvSpPr>
        <p:spPr>
          <a:xfrm>
            <a:off x="5381625" y="377190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Reducer is not Array.reduce()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8"/>
          <p:cNvSpPr/>
          <p:nvPr/>
        </p:nvSpPr>
        <p:spPr>
          <a:xfrm>
            <a:off x="5381625" y="3952875"/>
            <a:ext cx="2400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A React reducer calculates next state from current state and an action.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9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Trace one transition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9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9"/>
          <p:cNvSpPr/>
          <p:nvPr/>
        </p:nvSpPr>
        <p:spPr>
          <a:xfrm>
            <a:off x="657225" y="1162050"/>
            <a:ext cx="2238375" cy="2047875"/>
          </a:xfrm>
          <a:prstGeom prst="roundRect">
            <a:avLst>
              <a:gd fmla="val 3572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9"/>
          <p:cNvSpPr/>
          <p:nvPr/>
        </p:nvSpPr>
        <p:spPr>
          <a:xfrm>
            <a:off x="819150" y="1271778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9"/>
          <p:cNvSpPr/>
          <p:nvPr/>
        </p:nvSpPr>
        <p:spPr>
          <a:xfrm>
            <a:off x="876300" y="1546098"/>
            <a:ext cx="17907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R-102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Understanding closures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status: queued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R-205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React rendering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status: reading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9"/>
          <p:cNvSpPr/>
          <p:nvPr/>
        </p:nvSpPr>
        <p:spPr>
          <a:xfrm>
            <a:off x="3200400" y="1543050"/>
            <a:ext cx="1809750" cy="1095375"/>
          </a:xfrm>
          <a:prstGeom prst="roundRect">
            <a:avLst>
              <a:gd fmla="val 6678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9"/>
          <p:cNvSpPr/>
          <p:nvPr/>
        </p:nvSpPr>
        <p:spPr>
          <a:xfrm>
            <a:off x="3371850" y="1676400"/>
            <a:ext cx="1466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9"/>
          <p:cNvSpPr/>
          <p:nvPr/>
        </p:nvSpPr>
        <p:spPr>
          <a:xfrm>
            <a:off x="3371850" y="1962150"/>
            <a:ext cx="1466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9"/>
              <a:buFont typeface="Courier New"/>
              <a:buNone/>
            </a:pPr>
            <a:r>
              <a:rPr b="1" i="0" lang="en" sz="99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type: "started"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9"/>
              <a:buFont typeface="Courier New"/>
              <a:buNone/>
            </a:pPr>
            <a:r>
              <a:rPr b="1" i="0" lang="en" sz="99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itemId: "R-102"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9"/>
          <p:cNvSpPr/>
          <p:nvPr/>
        </p:nvSpPr>
        <p:spPr>
          <a:xfrm>
            <a:off x="5314950" y="1162050"/>
            <a:ext cx="2647950" cy="2047875"/>
          </a:xfrm>
          <a:prstGeom prst="roundRect">
            <a:avLst>
              <a:gd fmla="val 3572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9"/>
          <p:cNvSpPr/>
          <p:nvPr/>
        </p:nvSpPr>
        <p:spPr>
          <a:xfrm>
            <a:off x="5476875" y="1271778"/>
            <a:ext cx="2286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NEXT STATE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9"/>
          <p:cNvSpPr/>
          <p:nvPr/>
        </p:nvSpPr>
        <p:spPr>
          <a:xfrm>
            <a:off x="5534025" y="1546098"/>
            <a:ext cx="21907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R-102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Understanding closures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status: reading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R-205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React rendering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status: reading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0" name="Google Shape;650;p39"/>
          <p:cNvCxnSpPr/>
          <p:nvPr/>
        </p:nvCxnSpPr>
        <p:spPr>
          <a:xfrm>
            <a:off x="2895600" y="2095500"/>
            <a:ext cx="304800" cy="0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1" name="Google Shape;651;p39"/>
          <p:cNvCxnSpPr/>
          <p:nvPr/>
        </p:nvCxnSpPr>
        <p:spPr>
          <a:xfrm>
            <a:off x="5010150" y="2095500"/>
            <a:ext cx="304800" cy="0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2" name="Google Shape;652;p39"/>
          <p:cNvSpPr/>
          <p:nvPr/>
        </p:nvSpPr>
        <p:spPr>
          <a:xfrm>
            <a:off x="1819275" y="3571875"/>
            <a:ext cx="4953000" cy="466725"/>
          </a:xfrm>
          <a:prstGeom prst="roundRect">
            <a:avLst>
              <a:gd fmla="val 1567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9"/>
          <p:cNvSpPr/>
          <p:nvPr/>
        </p:nvSpPr>
        <p:spPr>
          <a:xfrm>
            <a:off x="2019300" y="369570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then renders using that next state, and the queue shows R-102 as Reading.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0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Type the actions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0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0"/>
          <p:cNvSpPr/>
          <p:nvPr/>
        </p:nvSpPr>
        <p:spPr>
          <a:xfrm>
            <a:off x="657225" y="1066800"/>
            <a:ext cx="4800600" cy="3162300"/>
          </a:xfrm>
          <a:prstGeom prst="roundRect">
            <a:avLst>
              <a:gd fmla="val 1446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40"/>
          <p:cNvSpPr/>
          <p:nvPr/>
        </p:nvSpPr>
        <p:spPr>
          <a:xfrm>
            <a:off x="794385" y="1149096"/>
            <a:ext cx="4526280" cy="2997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ReadingAction =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|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type: "started";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itemId: string;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|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type: "finished";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itemId: string;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|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type: "removed";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itemId: string;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|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type: "reset";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0"/>
          <p:cNvSpPr/>
          <p:nvPr/>
        </p:nvSpPr>
        <p:spPr>
          <a:xfrm>
            <a:off x="5734050" y="1095375"/>
            <a:ext cx="2228850" cy="1304925"/>
          </a:xfrm>
          <a:prstGeom prst="roundRect">
            <a:avLst>
              <a:gd fmla="val 5606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40"/>
          <p:cNvSpPr/>
          <p:nvPr/>
        </p:nvSpPr>
        <p:spPr>
          <a:xfrm>
            <a:off x="5895975" y="12192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FOUR ALLOWED EVENTS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0"/>
          <p:cNvSpPr/>
          <p:nvPr/>
        </p:nvSpPr>
        <p:spPr>
          <a:xfrm>
            <a:off x="5991225" y="1504950"/>
            <a:ext cx="171450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0"/>
          <p:cNvSpPr/>
          <p:nvPr/>
        </p:nvSpPr>
        <p:spPr>
          <a:xfrm>
            <a:off x="5991225" y="1504950"/>
            <a:ext cx="17145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started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0"/>
          <p:cNvSpPr/>
          <p:nvPr/>
        </p:nvSpPr>
        <p:spPr>
          <a:xfrm>
            <a:off x="5991225" y="1724025"/>
            <a:ext cx="171450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40"/>
          <p:cNvSpPr/>
          <p:nvPr/>
        </p:nvSpPr>
        <p:spPr>
          <a:xfrm>
            <a:off x="5991225" y="1724025"/>
            <a:ext cx="17145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finished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0"/>
          <p:cNvSpPr/>
          <p:nvPr/>
        </p:nvSpPr>
        <p:spPr>
          <a:xfrm>
            <a:off x="5991225" y="1943100"/>
            <a:ext cx="171450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40"/>
          <p:cNvSpPr/>
          <p:nvPr/>
        </p:nvSpPr>
        <p:spPr>
          <a:xfrm>
            <a:off x="5991225" y="1943100"/>
            <a:ext cx="17145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removed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0"/>
          <p:cNvSpPr/>
          <p:nvPr/>
        </p:nvSpPr>
        <p:spPr>
          <a:xfrm>
            <a:off x="5991225" y="2162175"/>
            <a:ext cx="1714500" cy="256032"/>
          </a:xfrm>
          <a:prstGeom prst="roundRect">
            <a:avLst>
              <a:gd fmla="val 50000" name="adj"/>
            </a:avLst>
          </a:prstGeom>
          <a:solidFill>
            <a:srgbClr val="F5F3FF"/>
          </a:solidFill>
          <a:ln cap="flat" cmpd="sng" w="12700">
            <a:solidFill>
              <a:srgbClr val="F5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0"/>
          <p:cNvSpPr/>
          <p:nvPr/>
        </p:nvSpPr>
        <p:spPr>
          <a:xfrm>
            <a:off x="5991225" y="2162175"/>
            <a:ext cx="17145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reset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0"/>
          <p:cNvSpPr/>
          <p:nvPr/>
        </p:nvSpPr>
        <p:spPr>
          <a:xfrm>
            <a:off x="5734050" y="2571750"/>
            <a:ext cx="2228850" cy="1657350"/>
          </a:xfrm>
          <a:prstGeom prst="roundRect">
            <a:avLst>
              <a:gd fmla="val 4414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40"/>
          <p:cNvSpPr/>
          <p:nvPr/>
        </p:nvSpPr>
        <p:spPr>
          <a:xfrm>
            <a:off x="5895975" y="26860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TWO USES OF type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0"/>
          <p:cNvSpPr/>
          <p:nvPr/>
        </p:nvSpPr>
        <p:spPr>
          <a:xfrm>
            <a:off x="5905500" y="3000375"/>
            <a:ext cx="18859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Courier New"/>
              <a:buNone/>
            </a:pPr>
            <a:r>
              <a:rPr b="1" i="0" lang="en" sz="9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type ReadingAction = ...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0"/>
          <p:cNvSpPr/>
          <p:nvPr/>
        </p:nvSpPr>
        <p:spPr>
          <a:xfrm>
            <a:off x="5905500" y="3219450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TypeScript keyword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0"/>
          <p:cNvSpPr/>
          <p:nvPr/>
        </p:nvSpPr>
        <p:spPr>
          <a:xfrm>
            <a:off x="5905500" y="3562350"/>
            <a:ext cx="18859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Courier New"/>
              <a:buNone/>
            </a:pPr>
            <a:r>
              <a:rPr b="1" i="0" lang="en" sz="9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{ type: "removed" }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0"/>
          <p:cNvSpPr/>
          <p:nvPr/>
        </p:nvSpPr>
        <p:spPr>
          <a:xfrm>
            <a:off x="5905500" y="3781425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Ordinary object property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1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Write the first reducer case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1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1"/>
          <p:cNvSpPr/>
          <p:nvPr/>
        </p:nvSpPr>
        <p:spPr>
          <a:xfrm>
            <a:off x="657225" y="97155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10"/>
              <a:buFont typeface="Arial"/>
              <a:buNone/>
            </a:pPr>
            <a:r>
              <a:rPr b="0" i="0" lang="en" sz="11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Inside the reducer, start with one case: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1"/>
          <p:cNvSpPr/>
          <p:nvPr/>
        </p:nvSpPr>
        <p:spPr>
          <a:xfrm>
            <a:off x="657225" y="1257300"/>
            <a:ext cx="5191125" cy="2333625"/>
          </a:xfrm>
          <a:prstGeom prst="roundRect">
            <a:avLst>
              <a:gd fmla="val 1959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1"/>
          <p:cNvSpPr/>
          <p:nvPr/>
        </p:nvSpPr>
        <p:spPr>
          <a:xfrm>
            <a:off x="794385" y="1339596"/>
            <a:ext cx="4916805" cy="2169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switch (action.type) {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case "started":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items.map((item) =&gt;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item.id === action.itemId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? { ...item, status: "reading" }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: item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default: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items;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41"/>
          <p:cNvSpPr/>
          <p:nvPr/>
        </p:nvSpPr>
        <p:spPr>
          <a:xfrm>
            <a:off x="6115050" y="1123950"/>
            <a:ext cx="1809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For a started action: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1"/>
          <p:cNvSpPr/>
          <p:nvPr/>
        </p:nvSpPr>
        <p:spPr>
          <a:xfrm>
            <a:off x="6115050" y="1447038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1"/>
          <p:cNvSpPr/>
          <p:nvPr/>
        </p:nvSpPr>
        <p:spPr>
          <a:xfrm>
            <a:off x="6115050" y="1447038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1"/>
          <p:cNvSpPr/>
          <p:nvPr/>
        </p:nvSpPr>
        <p:spPr>
          <a:xfrm>
            <a:off x="6499098" y="1428750"/>
            <a:ext cx="150190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find the matching item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1"/>
          <p:cNvSpPr/>
          <p:nvPr/>
        </p:nvSpPr>
        <p:spPr>
          <a:xfrm>
            <a:off x="6115050" y="1866138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41"/>
          <p:cNvSpPr/>
          <p:nvPr/>
        </p:nvSpPr>
        <p:spPr>
          <a:xfrm>
            <a:off x="6115050" y="1866138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1"/>
          <p:cNvSpPr/>
          <p:nvPr/>
        </p:nvSpPr>
        <p:spPr>
          <a:xfrm>
            <a:off x="6499098" y="1847850"/>
            <a:ext cx="150190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return a replacement item with status reading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1"/>
          <p:cNvSpPr/>
          <p:nvPr/>
        </p:nvSpPr>
        <p:spPr>
          <a:xfrm>
            <a:off x="6115050" y="2399538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41"/>
          <p:cNvSpPr/>
          <p:nvPr/>
        </p:nvSpPr>
        <p:spPr>
          <a:xfrm>
            <a:off x="6115050" y="2399538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1"/>
          <p:cNvSpPr/>
          <p:nvPr/>
        </p:nvSpPr>
        <p:spPr>
          <a:xfrm>
            <a:off x="6499098" y="2381250"/>
            <a:ext cx="150190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keep the other items unchanged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1"/>
          <p:cNvSpPr/>
          <p:nvPr/>
        </p:nvSpPr>
        <p:spPr>
          <a:xfrm>
            <a:off x="6115050" y="2828163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1"/>
          <p:cNvSpPr/>
          <p:nvPr/>
        </p:nvSpPr>
        <p:spPr>
          <a:xfrm>
            <a:off x="6115050" y="2828163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1"/>
          <p:cNvSpPr/>
          <p:nvPr/>
        </p:nvSpPr>
        <p:spPr>
          <a:xfrm>
            <a:off x="6499098" y="2809875"/>
            <a:ext cx="150190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return the new array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1"/>
          <p:cNvSpPr/>
          <p:nvPr/>
        </p:nvSpPr>
        <p:spPr>
          <a:xfrm>
            <a:off x="657225" y="3905250"/>
            <a:ext cx="7305675" cy="400050"/>
          </a:xfrm>
          <a:prstGeom prst="roundRect">
            <a:avLst>
              <a:gd fmla="val 18286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1"/>
          <p:cNvSpPr/>
          <p:nvPr/>
        </p:nvSpPr>
        <p:spPr>
          <a:xfrm>
            <a:off x="838200" y="4010025"/>
            <a:ext cx="6953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Temporary while we add the remaining cases: default returns the existing items.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2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Add the remaining transitions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2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2"/>
          <p:cNvSpPr/>
          <p:nvPr/>
        </p:nvSpPr>
        <p:spPr>
          <a:xfrm>
            <a:off x="657225" y="1149096"/>
            <a:ext cx="76200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42"/>
          <p:cNvSpPr/>
          <p:nvPr/>
        </p:nvSpPr>
        <p:spPr>
          <a:xfrm>
            <a:off x="657225" y="1149096"/>
            <a:ext cx="76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FINISH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1571625" y="1066800"/>
            <a:ext cx="6391275" cy="952500"/>
          </a:xfrm>
          <a:prstGeom prst="roundRect">
            <a:avLst>
              <a:gd fmla="val 48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2"/>
          <p:cNvSpPr/>
          <p:nvPr/>
        </p:nvSpPr>
        <p:spPr>
          <a:xfrm>
            <a:off x="1708785" y="1149096"/>
            <a:ext cx="6116955" cy="787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case "finished":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items.map((item) =&gt;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item.id === action.itemId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? { ...item, status: "finished" }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: item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2"/>
          <p:cNvSpPr/>
          <p:nvPr/>
        </p:nvSpPr>
        <p:spPr>
          <a:xfrm>
            <a:off x="657225" y="2253996"/>
            <a:ext cx="762000" cy="256032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 cap="flat" cmpd="sng" w="12700">
            <a:solidFill>
              <a:srgbClr val="FFF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2"/>
          <p:cNvSpPr/>
          <p:nvPr/>
        </p:nvSpPr>
        <p:spPr>
          <a:xfrm>
            <a:off x="657225" y="2253996"/>
            <a:ext cx="76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2"/>
          <p:cNvSpPr/>
          <p:nvPr/>
        </p:nvSpPr>
        <p:spPr>
          <a:xfrm>
            <a:off x="1571625" y="2171700"/>
            <a:ext cx="6391275" cy="838200"/>
          </a:xfrm>
          <a:prstGeom prst="roundRect">
            <a:avLst>
              <a:gd fmla="val 545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42"/>
          <p:cNvSpPr/>
          <p:nvPr/>
        </p:nvSpPr>
        <p:spPr>
          <a:xfrm>
            <a:off x="1708785" y="2253996"/>
            <a:ext cx="6116955" cy="673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case "removed":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items.filter(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(item) =&gt; item.id !== action.itemId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2"/>
          <p:cNvSpPr/>
          <p:nvPr/>
        </p:nvSpPr>
        <p:spPr>
          <a:xfrm>
            <a:off x="657225" y="3244596"/>
            <a:ext cx="762000" cy="256032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42"/>
          <p:cNvSpPr/>
          <p:nvPr/>
        </p:nvSpPr>
        <p:spPr>
          <a:xfrm>
            <a:off x="657225" y="3244596"/>
            <a:ext cx="76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RESET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2"/>
          <p:cNvSpPr/>
          <p:nvPr/>
        </p:nvSpPr>
        <p:spPr>
          <a:xfrm>
            <a:off x="1571625" y="3162300"/>
            <a:ext cx="6391275" cy="685800"/>
          </a:xfrm>
          <a:prstGeom prst="roundRect">
            <a:avLst>
              <a:gd fmla="val 666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2"/>
          <p:cNvSpPr/>
          <p:nvPr/>
        </p:nvSpPr>
        <p:spPr>
          <a:xfrm>
            <a:off x="1708785" y="3244596"/>
            <a:ext cx="6116955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case "reset":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initialReadingItems;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2"/>
          <p:cNvSpPr/>
          <p:nvPr/>
        </p:nvSpPr>
        <p:spPr>
          <a:xfrm>
            <a:off x="657225" y="4057650"/>
            <a:ext cx="7305675" cy="381000"/>
          </a:xfrm>
          <a:prstGeom prst="roundRect">
            <a:avLst>
              <a:gd fmla="val 19200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2"/>
          <p:cNvSpPr/>
          <p:nvPr/>
        </p:nvSpPr>
        <p:spPr>
          <a:xfrm>
            <a:off x="828675" y="4114800"/>
            <a:ext cx="6953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Each case answers the same question: what should the next state be?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3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Connect useReducer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3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3"/>
          <p:cNvSpPr/>
          <p:nvPr/>
        </p:nvSpPr>
        <p:spPr>
          <a:xfrm>
            <a:off x="1295400" y="1085850"/>
            <a:ext cx="2190750" cy="590550"/>
          </a:xfrm>
          <a:prstGeom prst="roundRect">
            <a:avLst>
              <a:gd fmla="val 12387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43"/>
          <p:cNvSpPr/>
          <p:nvPr/>
        </p:nvSpPr>
        <p:spPr>
          <a:xfrm>
            <a:off x="1485900" y="1304925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reducer function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3"/>
          <p:cNvSpPr/>
          <p:nvPr/>
        </p:nvSpPr>
        <p:spPr>
          <a:xfrm>
            <a:off x="4686300" y="1085850"/>
            <a:ext cx="2190750" cy="590550"/>
          </a:xfrm>
          <a:prstGeom prst="roundRect">
            <a:avLst>
              <a:gd fmla="val 12387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43"/>
          <p:cNvSpPr/>
          <p:nvPr/>
        </p:nvSpPr>
        <p:spPr>
          <a:xfrm>
            <a:off x="4876800" y="1304925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initial state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3"/>
          <p:cNvSpPr/>
          <p:nvPr/>
        </p:nvSpPr>
        <p:spPr>
          <a:xfrm>
            <a:off x="2190750" y="2000250"/>
            <a:ext cx="3810000" cy="1143000"/>
          </a:xfrm>
          <a:prstGeom prst="roundRect">
            <a:avLst>
              <a:gd fmla="val 4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3"/>
          <p:cNvSpPr/>
          <p:nvPr/>
        </p:nvSpPr>
        <p:spPr>
          <a:xfrm>
            <a:off x="2327910" y="2082546"/>
            <a:ext cx="353568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[items, dispatch] =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useReducer(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readingReducer,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initialReadingItems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3"/>
          <p:cNvSpPr/>
          <p:nvPr/>
        </p:nvSpPr>
        <p:spPr>
          <a:xfrm>
            <a:off x="1295400" y="3524250"/>
            <a:ext cx="2190750" cy="590550"/>
          </a:xfrm>
          <a:prstGeom prst="roundRect">
            <a:avLst>
              <a:gd fmla="val 12387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43"/>
          <p:cNvSpPr/>
          <p:nvPr/>
        </p:nvSpPr>
        <p:spPr>
          <a:xfrm>
            <a:off x="1485900" y="367665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ourier New"/>
              <a:buNone/>
            </a:pPr>
            <a:r>
              <a:rPr b="1" i="0" lang="en" sz="120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3"/>
          <p:cNvSpPr/>
          <p:nvPr/>
        </p:nvSpPr>
        <p:spPr>
          <a:xfrm>
            <a:off x="1485900" y="3886200"/>
            <a:ext cx="1809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current state for this render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3"/>
          <p:cNvSpPr/>
          <p:nvPr/>
        </p:nvSpPr>
        <p:spPr>
          <a:xfrm>
            <a:off x="4686300" y="3524250"/>
            <a:ext cx="2190750" cy="590550"/>
          </a:xfrm>
          <a:prstGeom prst="roundRect">
            <a:avLst>
              <a:gd fmla="val 12387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3"/>
          <p:cNvSpPr/>
          <p:nvPr/>
        </p:nvSpPr>
        <p:spPr>
          <a:xfrm>
            <a:off x="4876800" y="367665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200"/>
              <a:buFont typeface="Courier New"/>
              <a:buNone/>
            </a:pPr>
            <a:r>
              <a:rPr b="1" i="0" lang="en" sz="1200" u="none" cap="none" strike="noStrike">
                <a:solidFill>
                  <a:srgbClr val="854D0E"/>
                </a:solidFill>
                <a:latin typeface="Courier New"/>
                <a:ea typeface="Courier New"/>
                <a:cs typeface="Courier New"/>
                <a:sym typeface="Courier New"/>
              </a:rPr>
              <a:t>dispatch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3"/>
          <p:cNvSpPr/>
          <p:nvPr/>
        </p:nvSpPr>
        <p:spPr>
          <a:xfrm>
            <a:off x="4876800" y="3886200"/>
            <a:ext cx="1809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send actions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4" name="Google Shape;744;p43"/>
          <p:cNvCxnSpPr/>
          <p:nvPr/>
        </p:nvCxnSpPr>
        <p:spPr>
          <a:xfrm>
            <a:off x="2381250" y="1676400"/>
            <a:ext cx="1333500" cy="323850"/>
          </a:xfrm>
          <a:prstGeom prst="straightConnector1">
            <a:avLst/>
          </a:prstGeom>
          <a:noFill/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5" name="Google Shape;745;p43"/>
          <p:cNvCxnSpPr/>
          <p:nvPr/>
        </p:nvCxnSpPr>
        <p:spPr>
          <a:xfrm flipH="1">
            <a:off x="4476750" y="1676400"/>
            <a:ext cx="1295400" cy="323850"/>
          </a:xfrm>
          <a:prstGeom prst="straightConnector1">
            <a:avLst/>
          </a:prstGeom>
          <a:noFill/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6" name="Google Shape;746;p43"/>
          <p:cNvCxnSpPr/>
          <p:nvPr/>
        </p:nvCxnSpPr>
        <p:spPr>
          <a:xfrm flipH="1">
            <a:off x="2381250" y="3143250"/>
            <a:ext cx="1333500" cy="381000"/>
          </a:xfrm>
          <a:prstGeom prst="straightConnector1">
            <a:avLst/>
          </a:prstGeom>
          <a:noFill/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7" name="Google Shape;747;p43"/>
          <p:cNvCxnSpPr/>
          <p:nvPr/>
        </p:nvCxnSpPr>
        <p:spPr>
          <a:xfrm>
            <a:off x="4476750" y="3143250"/>
            <a:ext cx="1295400" cy="381000"/>
          </a:xfrm>
          <a:prstGeom prst="straightConnector1">
            <a:avLst/>
          </a:prstGeom>
          <a:noFill/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8" name="Google Shape;748;p43"/>
          <p:cNvSpPr/>
          <p:nvPr/>
        </p:nvSpPr>
        <p:spPr>
          <a:xfrm>
            <a:off x="657225" y="4391025"/>
            <a:ext cx="3429000" cy="514350"/>
          </a:xfrm>
          <a:prstGeom prst="roundRect">
            <a:avLst>
              <a:gd fmla="val 8889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43"/>
          <p:cNvSpPr/>
          <p:nvPr/>
        </p:nvSpPr>
        <p:spPr>
          <a:xfrm>
            <a:off x="794385" y="4473321"/>
            <a:ext cx="3154680" cy="349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[items, setItems] =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useState(initialReadingItems);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3"/>
          <p:cNvSpPr/>
          <p:nvPr/>
        </p:nvSpPr>
        <p:spPr>
          <a:xfrm>
            <a:off x="4352925" y="443865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With useReducer, handlers dispatch actions instead of directly calculating next state.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4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handlers become simpler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4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4"/>
          <p:cNvSpPr/>
          <p:nvPr/>
        </p:nvSpPr>
        <p:spPr>
          <a:xfrm>
            <a:off x="657225" y="914400"/>
            <a:ext cx="804672" cy="256032"/>
          </a:xfrm>
          <a:prstGeom prst="roundRect">
            <a:avLst>
              <a:gd fmla="val 50000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44"/>
          <p:cNvSpPr/>
          <p:nvPr/>
        </p:nvSpPr>
        <p:spPr>
          <a:xfrm>
            <a:off x="657225" y="914400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4"/>
          <p:cNvSpPr/>
          <p:nvPr/>
        </p:nvSpPr>
        <p:spPr>
          <a:xfrm>
            <a:off x="657225" y="1181100"/>
            <a:ext cx="2038350" cy="800100"/>
          </a:xfrm>
          <a:prstGeom prst="roundRect">
            <a:avLst>
              <a:gd fmla="val 9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4"/>
          <p:cNvSpPr/>
          <p:nvPr/>
        </p:nvSpPr>
        <p:spPr>
          <a:xfrm>
            <a:off x="785241" y="1263396"/>
            <a:ext cx="17373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Courier New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handleStart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44"/>
          <p:cNvSpPr/>
          <p:nvPr/>
        </p:nvSpPr>
        <p:spPr>
          <a:xfrm>
            <a:off x="785241" y="151028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dispatch({ type: "started", itemId });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4"/>
          <p:cNvSpPr/>
          <p:nvPr/>
        </p:nvSpPr>
        <p:spPr>
          <a:xfrm>
            <a:off x="2905125" y="1181100"/>
            <a:ext cx="2038350" cy="800100"/>
          </a:xfrm>
          <a:prstGeom prst="roundRect">
            <a:avLst>
              <a:gd fmla="val 9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4"/>
          <p:cNvSpPr/>
          <p:nvPr/>
        </p:nvSpPr>
        <p:spPr>
          <a:xfrm>
            <a:off x="3033141" y="1263396"/>
            <a:ext cx="17373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Courier New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handleFinish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3033141" y="151028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dispatch({ type: "finished", itemId });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4"/>
          <p:cNvSpPr/>
          <p:nvPr/>
        </p:nvSpPr>
        <p:spPr>
          <a:xfrm>
            <a:off x="657225" y="2181225"/>
            <a:ext cx="2038350" cy="800100"/>
          </a:xfrm>
          <a:prstGeom prst="roundRect">
            <a:avLst>
              <a:gd fmla="val 9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44"/>
          <p:cNvSpPr/>
          <p:nvPr/>
        </p:nvSpPr>
        <p:spPr>
          <a:xfrm>
            <a:off x="785241" y="2263521"/>
            <a:ext cx="17373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Courier New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handleRemove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4"/>
          <p:cNvSpPr/>
          <p:nvPr/>
        </p:nvSpPr>
        <p:spPr>
          <a:xfrm>
            <a:off x="785241" y="2510409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dispatch({ type: "removed", itemId });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4"/>
          <p:cNvSpPr/>
          <p:nvPr/>
        </p:nvSpPr>
        <p:spPr>
          <a:xfrm>
            <a:off x="2905125" y="2181225"/>
            <a:ext cx="2038350" cy="800100"/>
          </a:xfrm>
          <a:prstGeom prst="roundRect">
            <a:avLst>
              <a:gd fmla="val 9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44"/>
          <p:cNvSpPr/>
          <p:nvPr/>
        </p:nvSpPr>
        <p:spPr>
          <a:xfrm>
            <a:off x="3033141" y="2263521"/>
            <a:ext cx="17373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Courier New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handleReset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4"/>
          <p:cNvSpPr/>
          <p:nvPr/>
        </p:nvSpPr>
        <p:spPr>
          <a:xfrm>
            <a:off x="3033141" y="2510409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dispatch({ type: "reset" });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4"/>
          <p:cNvSpPr/>
          <p:nvPr/>
        </p:nvSpPr>
        <p:spPr>
          <a:xfrm>
            <a:off x="5334000" y="1095375"/>
            <a:ext cx="2628900" cy="2921100"/>
          </a:xfrm>
          <a:prstGeom prst="roundRect">
            <a:avLst>
              <a:gd fmla="val 278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4"/>
          <p:cNvSpPr/>
          <p:nvPr/>
        </p:nvSpPr>
        <p:spPr>
          <a:xfrm>
            <a:off x="5334000" y="1095375"/>
            <a:ext cx="262890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4"/>
          <p:cNvSpPr/>
          <p:nvPr/>
        </p:nvSpPr>
        <p:spPr>
          <a:xfrm>
            <a:off x="5443728" y="1195959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4"/>
          <p:cNvSpPr/>
          <p:nvPr/>
        </p:nvSpPr>
        <p:spPr>
          <a:xfrm>
            <a:off x="5590032" y="1195959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4"/>
          <p:cNvSpPr/>
          <p:nvPr/>
        </p:nvSpPr>
        <p:spPr>
          <a:xfrm>
            <a:off x="5736336" y="1195959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4"/>
          <p:cNvSpPr/>
          <p:nvPr/>
        </p:nvSpPr>
        <p:spPr>
          <a:xfrm>
            <a:off x="5836920" y="1141095"/>
            <a:ext cx="19888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Reading Queue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4"/>
          <p:cNvSpPr/>
          <p:nvPr/>
        </p:nvSpPr>
        <p:spPr>
          <a:xfrm>
            <a:off x="5544312" y="1479423"/>
            <a:ext cx="22174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Reading Queue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4"/>
          <p:cNvSpPr/>
          <p:nvPr/>
        </p:nvSpPr>
        <p:spPr>
          <a:xfrm>
            <a:off x="5544312" y="1918335"/>
            <a:ext cx="2208276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44"/>
          <p:cNvSpPr/>
          <p:nvPr/>
        </p:nvSpPr>
        <p:spPr>
          <a:xfrm>
            <a:off x="5672328" y="1973199"/>
            <a:ext cx="11201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Understanding closures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4"/>
          <p:cNvSpPr/>
          <p:nvPr/>
        </p:nvSpPr>
        <p:spPr>
          <a:xfrm>
            <a:off x="6746748" y="1982343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44"/>
          <p:cNvSpPr/>
          <p:nvPr/>
        </p:nvSpPr>
        <p:spPr>
          <a:xfrm>
            <a:off x="6746748" y="1982343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Queued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4"/>
          <p:cNvSpPr/>
          <p:nvPr/>
        </p:nvSpPr>
        <p:spPr>
          <a:xfrm>
            <a:off x="5672328" y="2183511"/>
            <a:ext cx="19888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Start ]   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4"/>
          <p:cNvSpPr/>
          <p:nvPr/>
        </p:nvSpPr>
        <p:spPr>
          <a:xfrm>
            <a:off x="5544312" y="2485263"/>
            <a:ext cx="2208276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4"/>
          <p:cNvSpPr/>
          <p:nvPr/>
        </p:nvSpPr>
        <p:spPr>
          <a:xfrm>
            <a:off x="5672328" y="2540127"/>
            <a:ext cx="11201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rendering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4"/>
          <p:cNvSpPr/>
          <p:nvPr/>
        </p:nvSpPr>
        <p:spPr>
          <a:xfrm>
            <a:off x="6746748" y="2549271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4"/>
          <p:cNvSpPr/>
          <p:nvPr/>
        </p:nvSpPr>
        <p:spPr>
          <a:xfrm>
            <a:off x="6746748" y="2549271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Reading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4"/>
          <p:cNvSpPr/>
          <p:nvPr/>
        </p:nvSpPr>
        <p:spPr>
          <a:xfrm>
            <a:off x="5672328" y="2750439"/>
            <a:ext cx="19888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Finish ]   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4"/>
          <p:cNvSpPr/>
          <p:nvPr/>
        </p:nvSpPr>
        <p:spPr>
          <a:xfrm>
            <a:off x="5544312" y="3052191"/>
            <a:ext cx="2208276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44"/>
          <p:cNvSpPr/>
          <p:nvPr/>
        </p:nvSpPr>
        <p:spPr>
          <a:xfrm>
            <a:off x="5672328" y="3107055"/>
            <a:ext cx="11201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TypeScript narrowing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4"/>
          <p:cNvSpPr/>
          <p:nvPr/>
        </p:nvSpPr>
        <p:spPr>
          <a:xfrm>
            <a:off x="6746748" y="3116199"/>
            <a:ext cx="914400" cy="256032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44"/>
          <p:cNvSpPr/>
          <p:nvPr/>
        </p:nvSpPr>
        <p:spPr>
          <a:xfrm>
            <a:off x="6746748" y="3116199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Finished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4"/>
          <p:cNvSpPr/>
          <p:nvPr/>
        </p:nvSpPr>
        <p:spPr>
          <a:xfrm>
            <a:off x="5672328" y="3317367"/>
            <a:ext cx="19888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Remove 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4"/>
          <p:cNvSpPr/>
          <p:nvPr/>
        </p:nvSpPr>
        <p:spPr>
          <a:xfrm>
            <a:off x="5544362" y="3668125"/>
            <a:ext cx="1097400" cy="292500"/>
          </a:xfrm>
          <a:prstGeom prst="roundRect">
            <a:avLst>
              <a:gd fmla="val 15625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44"/>
          <p:cNvSpPr/>
          <p:nvPr/>
        </p:nvSpPr>
        <p:spPr>
          <a:xfrm>
            <a:off x="5544312" y="3640687"/>
            <a:ext cx="109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Reset queue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4"/>
          <p:cNvSpPr/>
          <p:nvPr/>
        </p:nvSpPr>
        <p:spPr>
          <a:xfrm>
            <a:off x="5334000" y="4119458"/>
            <a:ext cx="2628900" cy="409500"/>
          </a:xfrm>
          <a:prstGeom prst="roundRect">
            <a:avLst>
              <a:gd fmla="val 17860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44"/>
          <p:cNvSpPr/>
          <p:nvPr/>
        </p:nvSpPr>
        <p:spPr>
          <a:xfrm>
            <a:off x="5505450" y="4195658"/>
            <a:ext cx="2286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UI behaves the same. The update rules are now centralized in the reducer.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5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useState or useReducer?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5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STATE TRANSITIONS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45"/>
          <p:cNvSpPr/>
          <p:nvPr/>
        </p:nvSpPr>
        <p:spPr>
          <a:xfrm>
            <a:off x="657225" y="952500"/>
            <a:ext cx="3457575" cy="800100"/>
          </a:xfrm>
          <a:prstGeom prst="roundRect">
            <a:avLst>
              <a:gd fmla="val 9143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45"/>
          <p:cNvSpPr/>
          <p:nvPr/>
        </p:nvSpPr>
        <p:spPr>
          <a:xfrm>
            <a:off x="838200" y="1085850"/>
            <a:ext cx="3095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5"/>
          <p:cNvSpPr/>
          <p:nvPr/>
        </p:nvSpPr>
        <p:spPr>
          <a:xfrm>
            <a:off x="838200" y="1390650"/>
            <a:ext cx="3095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good default when state updates are straightforward.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5"/>
          <p:cNvSpPr/>
          <p:nvPr/>
        </p:nvSpPr>
        <p:spPr>
          <a:xfrm>
            <a:off x="4505325" y="952500"/>
            <a:ext cx="3457575" cy="800100"/>
          </a:xfrm>
          <a:prstGeom prst="roundRect">
            <a:avLst>
              <a:gd fmla="val 9143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45"/>
          <p:cNvSpPr/>
          <p:nvPr/>
        </p:nvSpPr>
        <p:spPr>
          <a:xfrm>
            <a:off x="4686300" y="1085850"/>
            <a:ext cx="3095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854D0E"/>
                </a:solidFill>
                <a:latin typeface="Courier New"/>
                <a:ea typeface="Courier New"/>
                <a:cs typeface="Courier New"/>
                <a:sym typeface="Courier New"/>
              </a:rPr>
              <a:t>useReducer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5"/>
          <p:cNvSpPr/>
          <p:nvPr/>
        </p:nvSpPr>
        <p:spPr>
          <a:xfrm>
            <a:off x="4686300" y="1390650"/>
            <a:ext cx="3095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Useful when related transitions make update logic hard to follow.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5"/>
          <p:cNvSpPr/>
          <p:nvPr/>
        </p:nvSpPr>
        <p:spPr>
          <a:xfrm>
            <a:off x="657225" y="1971675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Checkpoint: Which reducer case is written correctly?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5"/>
          <p:cNvSpPr/>
          <p:nvPr/>
        </p:nvSpPr>
        <p:spPr>
          <a:xfrm>
            <a:off x="752475" y="2257425"/>
            <a:ext cx="3476625" cy="628650"/>
          </a:xfrm>
          <a:prstGeom prst="roundRect">
            <a:avLst>
              <a:gd fmla="val 1163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5"/>
          <p:cNvSpPr/>
          <p:nvPr/>
        </p:nvSpPr>
        <p:spPr>
          <a:xfrm>
            <a:off x="862203" y="233972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45"/>
          <p:cNvSpPr/>
          <p:nvPr/>
        </p:nvSpPr>
        <p:spPr>
          <a:xfrm>
            <a:off x="862203" y="233972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5"/>
          <p:cNvSpPr/>
          <p:nvPr/>
        </p:nvSpPr>
        <p:spPr>
          <a:xfrm>
            <a:off x="1237107" y="2294001"/>
            <a:ext cx="2891409" cy="55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case "removed":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items.splice(0, 1);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return items;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5"/>
          <p:cNvSpPr/>
          <p:nvPr/>
        </p:nvSpPr>
        <p:spPr>
          <a:xfrm>
            <a:off x="4467225" y="2257425"/>
            <a:ext cx="3476625" cy="628650"/>
          </a:xfrm>
          <a:prstGeom prst="roundRect">
            <a:avLst>
              <a:gd fmla="val 1163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5"/>
          <p:cNvSpPr/>
          <p:nvPr/>
        </p:nvSpPr>
        <p:spPr>
          <a:xfrm>
            <a:off x="4576953" y="233972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45"/>
          <p:cNvSpPr/>
          <p:nvPr/>
        </p:nvSpPr>
        <p:spPr>
          <a:xfrm>
            <a:off x="4576953" y="233972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5"/>
          <p:cNvSpPr/>
          <p:nvPr/>
        </p:nvSpPr>
        <p:spPr>
          <a:xfrm>
            <a:off x="4951857" y="2294001"/>
            <a:ext cx="2891409" cy="55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case "removed":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alert("Item removed");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return items;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5"/>
          <p:cNvSpPr/>
          <p:nvPr/>
        </p:nvSpPr>
        <p:spPr>
          <a:xfrm>
            <a:off x="752475" y="3009900"/>
            <a:ext cx="3476625" cy="628650"/>
          </a:xfrm>
          <a:prstGeom prst="roundRect">
            <a:avLst>
              <a:gd fmla="val 1163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5"/>
          <p:cNvSpPr/>
          <p:nvPr/>
        </p:nvSpPr>
        <p:spPr>
          <a:xfrm>
            <a:off x="862203" y="30921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5"/>
          <p:cNvSpPr/>
          <p:nvPr/>
        </p:nvSpPr>
        <p:spPr>
          <a:xfrm>
            <a:off x="862203" y="30921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45"/>
          <p:cNvSpPr/>
          <p:nvPr/>
        </p:nvSpPr>
        <p:spPr>
          <a:xfrm>
            <a:off x="1237107" y="3046476"/>
            <a:ext cx="2891409" cy="55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case "removed":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return items.filter(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(item) =&gt; item.id !== action.itemId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5"/>
          <p:cNvSpPr/>
          <p:nvPr/>
        </p:nvSpPr>
        <p:spPr>
          <a:xfrm>
            <a:off x="4467225" y="3009900"/>
            <a:ext cx="3476625" cy="628650"/>
          </a:xfrm>
          <a:prstGeom prst="roundRect">
            <a:avLst>
              <a:gd fmla="val 1163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45"/>
          <p:cNvSpPr/>
          <p:nvPr/>
        </p:nvSpPr>
        <p:spPr>
          <a:xfrm>
            <a:off x="4576953" y="30921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45"/>
          <p:cNvSpPr/>
          <p:nvPr/>
        </p:nvSpPr>
        <p:spPr>
          <a:xfrm>
            <a:off x="4576953" y="30921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5"/>
          <p:cNvSpPr/>
          <p:nvPr/>
        </p:nvSpPr>
        <p:spPr>
          <a:xfrm>
            <a:off x="4951857" y="3046476"/>
            <a:ext cx="2891409" cy="55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case "removed":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setItems([]);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return items;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5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5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5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5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5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It calculates and returns replacement state without mutating current state or performing a side effect.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6"/>
          <p:cNvSpPr/>
          <p:nvPr/>
        </p:nvSpPr>
        <p:spPr>
          <a:xfrm>
            <a:off x="552450" y="2047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Avoid repeated expensive work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6"/>
          <p:cNvSpPr/>
          <p:nvPr/>
        </p:nvSpPr>
        <p:spPr>
          <a:xfrm>
            <a:off x="552450" y="2657475"/>
            <a:ext cx="1238250" cy="38100"/>
          </a:xfrm>
          <a:prstGeom prst="rect">
            <a:avLst/>
          </a:prstGeom>
          <a:solidFill>
            <a:srgbClr val="1E3A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Meet the Session Browser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7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7"/>
          <p:cNvSpPr/>
          <p:nvPr/>
        </p:nvSpPr>
        <p:spPr>
          <a:xfrm>
            <a:off x="657225" y="1066800"/>
            <a:ext cx="4095600" cy="3444900"/>
          </a:xfrm>
          <a:prstGeom prst="roundRect">
            <a:avLst>
              <a:gd fmla="val 247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7"/>
          <p:cNvSpPr/>
          <p:nvPr/>
        </p:nvSpPr>
        <p:spPr>
          <a:xfrm>
            <a:off x="657225" y="1066800"/>
            <a:ext cx="409575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47"/>
          <p:cNvSpPr/>
          <p:nvPr/>
        </p:nvSpPr>
        <p:spPr>
          <a:xfrm>
            <a:off x="766953" y="1167384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7"/>
          <p:cNvSpPr/>
          <p:nvPr/>
        </p:nvSpPr>
        <p:spPr>
          <a:xfrm>
            <a:off x="913257" y="1167384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7"/>
          <p:cNvSpPr/>
          <p:nvPr/>
        </p:nvSpPr>
        <p:spPr>
          <a:xfrm>
            <a:off x="1059561" y="1167384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47"/>
          <p:cNvSpPr/>
          <p:nvPr/>
        </p:nvSpPr>
        <p:spPr>
          <a:xfrm>
            <a:off x="1160145" y="1112520"/>
            <a:ext cx="34556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Session Browser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7"/>
          <p:cNvSpPr/>
          <p:nvPr/>
        </p:nvSpPr>
        <p:spPr>
          <a:xfrm>
            <a:off x="885825" y="1441704"/>
            <a:ext cx="36385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Conference sessions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7"/>
          <p:cNvSpPr/>
          <p:nvPr/>
        </p:nvSpPr>
        <p:spPr>
          <a:xfrm>
            <a:off x="885825" y="1780032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Search sessions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7"/>
          <p:cNvSpPr/>
          <p:nvPr/>
        </p:nvSpPr>
        <p:spPr>
          <a:xfrm>
            <a:off x="885825" y="1962912"/>
            <a:ext cx="3455670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47"/>
          <p:cNvSpPr/>
          <p:nvPr/>
        </p:nvSpPr>
        <p:spPr>
          <a:xfrm>
            <a:off x="1004697" y="2026920"/>
            <a:ext cx="321792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47"/>
          <p:cNvSpPr/>
          <p:nvPr/>
        </p:nvSpPr>
        <p:spPr>
          <a:xfrm>
            <a:off x="885825" y="2456688"/>
            <a:ext cx="363855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134 matching sessions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7"/>
          <p:cNvSpPr/>
          <p:nvPr/>
        </p:nvSpPr>
        <p:spPr>
          <a:xfrm>
            <a:off x="885825" y="2731008"/>
            <a:ext cx="3455670" cy="301752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7"/>
          <p:cNvSpPr/>
          <p:nvPr/>
        </p:nvSpPr>
        <p:spPr>
          <a:xfrm>
            <a:off x="1013841" y="2785872"/>
            <a:ext cx="319963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performance patterns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47"/>
          <p:cNvSpPr/>
          <p:nvPr/>
        </p:nvSpPr>
        <p:spPr>
          <a:xfrm>
            <a:off x="885825" y="3124200"/>
            <a:ext cx="3455670" cy="301752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7"/>
          <p:cNvSpPr/>
          <p:nvPr/>
        </p:nvSpPr>
        <p:spPr>
          <a:xfrm>
            <a:off x="1013841" y="3179064"/>
            <a:ext cx="319963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component design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47"/>
          <p:cNvSpPr/>
          <p:nvPr/>
        </p:nvSpPr>
        <p:spPr>
          <a:xfrm>
            <a:off x="885825" y="3517392"/>
            <a:ext cx="3455670" cy="301752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7"/>
          <p:cNvSpPr/>
          <p:nvPr/>
        </p:nvSpPr>
        <p:spPr>
          <a:xfrm>
            <a:off x="1013841" y="3572256"/>
            <a:ext cx="319963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Testing React applications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47"/>
          <p:cNvSpPr/>
          <p:nvPr/>
        </p:nvSpPr>
        <p:spPr>
          <a:xfrm>
            <a:off x="885763" y="4075836"/>
            <a:ext cx="960000" cy="292500"/>
          </a:xfrm>
          <a:prstGeom prst="roundRect">
            <a:avLst>
              <a:gd fmla="val 15625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7"/>
          <p:cNvSpPr/>
          <p:nvPr/>
        </p:nvSpPr>
        <p:spPr>
          <a:xfrm>
            <a:off x="885825" y="4055362"/>
            <a:ext cx="96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 tips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7"/>
          <p:cNvSpPr/>
          <p:nvPr/>
        </p:nvSpPr>
        <p:spPr>
          <a:xfrm>
            <a:off x="5095875" y="1123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Two independent pieces of state drive the interface.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7"/>
          <p:cNvSpPr/>
          <p:nvPr/>
        </p:nvSpPr>
        <p:spPr>
          <a:xfrm>
            <a:off x="5095875" y="1504950"/>
            <a:ext cx="2867025" cy="1190625"/>
          </a:xfrm>
          <a:prstGeom prst="roundRect">
            <a:avLst>
              <a:gd fmla="val 384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7"/>
          <p:cNvSpPr/>
          <p:nvPr/>
        </p:nvSpPr>
        <p:spPr>
          <a:xfrm>
            <a:off x="5233035" y="1587246"/>
            <a:ext cx="2592705" cy="1026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[query, setQuery] =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useState("");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"/>
              <a:buFont typeface="Arial"/>
              <a:buNone/>
            </a:pPr>
            <a:r>
              <a:t/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[showTips, setShowTips] =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useState(false);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47"/>
          <p:cNvSpPr/>
          <p:nvPr/>
        </p:nvSpPr>
        <p:spPr>
          <a:xfrm>
            <a:off x="5095875" y="2952750"/>
            <a:ext cx="2867025" cy="457200"/>
          </a:xfrm>
          <a:prstGeom prst="roundRect">
            <a:avLst>
              <a:gd fmla="val 16000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7"/>
          <p:cNvSpPr/>
          <p:nvPr/>
        </p:nvSpPr>
        <p:spPr>
          <a:xfrm>
            <a:off x="5286375" y="3076575"/>
            <a:ext cx="2476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query changes the matching sessions.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47"/>
          <p:cNvSpPr/>
          <p:nvPr/>
        </p:nvSpPr>
        <p:spPr>
          <a:xfrm>
            <a:off x="5095875" y="3533775"/>
            <a:ext cx="2867025" cy="457200"/>
          </a:xfrm>
          <a:prstGeom prst="roundRect">
            <a:avLst>
              <a:gd fmla="val 16000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47"/>
          <p:cNvSpPr/>
          <p:nvPr/>
        </p:nvSpPr>
        <p:spPr>
          <a:xfrm>
            <a:off x="5286375" y="3657600"/>
            <a:ext cx="2476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showTips does not change which sessions match.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8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Calculate the matching sessions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8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8"/>
          <p:cNvSpPr/>
          <p:nvPr/>
        </p:nvSpPr>
        <p:spPr>
          <a:xfrm>
            <a:off x="657225" y="1162050"/>
            <a:ext cx="3905250" cy="2238375"/>
          </a:xfrm>
          <a:prstGeom prst="roundRect">
            <a:avLst>
              <a:gd fmla="val 204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48"/>
          <p:cNvSpPr/>
          <p:nvPr/>
        </p:nvSpPr>
        <p:spPr>
          <a:xfrm>
            <a:off x="794385" y="1244346"/>
            <a:ext cx="3630930" cy="2073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visibleSessions =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slowFilterSessions(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allSessions,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query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{visibleSessions.length}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{" "}matching sessions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8"/>
          <p:cNvSpPr/>
          <p:nvPr/>
        </p:nvSpPr>
        <p:spPr>
          <a:xfrm>
            <a:off x="5048250" y="1200150"/>
            <a:ext cx="2914650" cy="2000250"/>
          </a:xfrm>
          <a:prstGeom prst="roundRect">
            <a:avLst>
              <a:gd fmla="val 3657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48"/>
          <p:cNvSpPr/>
          <p:nvPr/>
        </p:nvSpPr>
        <p:spPr>
          <a:xfrm>
            <a:off x="5314950" y="143827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allSessions + query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4" name="Google Shape;884;p48"/>
          <p:cNvCxnSpPr/>
          <p:nvPr/>
        </p:nvCxnSpPr>
        <p:spPr>
          <a:xfrm>
            <a:off x="6515100" y="17240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1E3A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5" name="Google Shape;885;p48"/>
          <p:cNvSpPr/>
          <p:nvPr/>
        </p:nvSpPr>
        <p:spPr>
          <a:xfrm>
            <a:off x="5572125" y="2028825"/>
            <a:ext cx="1876425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48"/>
          <p:cNvSpPr/>
          <p:nvPr/>
        </p:nvSpPr>
        <p:spPr>
          <a:xfrm>
            <a:off x="5572125" y="2028825"/>
            <a:ext cx="187642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slowFilterSessions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7" name="Google Shape;887;p48"/>
          <p:cNvCxnSpPr/>
          <p:nvPr/>
        </p:nvCxnSpPr>
        <p:spPr>
          <a:xfrm>
            <a:off x="6515100" y="232410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1E3A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8" name="Google Shape;888;p48"/>
          <p:cNvSpPr/>
          <p:nvPr/>
        </p:nvSpPr>
        <p:spPr>
          <a:xfrm>
            <a:off x="5314950" y="2686050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visibleSessions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8"/>
          <p:cNvSpPr/>
          <p:nvPr/>
        </p:nvSpPr>
        <p:spPr>
          <a:xfrm>
            <a:off x="971550" y="3733800"/>
            <a:ext cx="6667500" cy="495300"/>
          </a:xfrm>
          <a:prstGeom prst="roundRect">
            <a:avLst>
              <a:gd fmla="val 14769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48"/>
          <p:cNvSpPr/>
          <p:nvPr/>
        </p:nvSpPr>
        <p:spPr>
          <a:xfrm>
            <a:off x="1200150" y="3857625"/>
            <a:ext cx="6191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slowFilterSessions is intentionally slowed for this demonstration so repeated work is easy to notice. The calculation is still pure.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9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 unrelated update is slow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9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49"/>
          <p:cNvSpPr/>
          <p:nvPr/>
        </p:nvSpPr>
        <p:spPr>
          <a:xfrm>
            <a:off x="657225" y="914400"/>
            <a:ext cx="804672" cy="256032"/>
          </a:xfrm>
          <a:prstGeom prst="roundRect">
            <a:avLst>
              <a:gd fmla="val 50000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9"/>
          <p:cNvSpPr/>
          <p:nvPr/>
        </p:nvSpPr>
        <p:spPr>
          <a:xfrm>
            <a:off x="657225" y="914400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9"/>
          <p:cNvSpPr/>
          <p:nvPr/>
        </p:nvSpPr>
        <p:spPr>
          <a:xfrm>
            <a:off x="657225" y="1257300"/>
            <a:ext cx="3333900" cy="1498800"/>
          </a:xfrm>
          <a:prstGeom prst="roundRect">
            <a:avLst>
              <a:gd fmla="val 6295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49"/>
          <p:cNvSpPr/>
          <p:nvPr/>
        </p:nvSpPr>
        <p:spPr>
          <a:xfrm>
            <a:off x="857250" y="1390650"/>
            <a:ext cx="295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Search changes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49"/>
          <p:cNvSpPr/>
          <p:nvPr/>
        </p:nvSpPr>
        <p:spPr>
          <a:xfrm>
            <a:off x="1000125" y="1685925"/>
            <a:ext cx="2667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query changes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matching sessions may change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slowFilterSessions runs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49"/>
          <p:cNvSpPr/>
          <p:nvPr/>
        </p:nvSpPr>
        <p:spPr>
          <a:xfrm>
            <a:off x="1666875" y="2383389"/>
            <a:ext cx="1295400" cy="255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49"/>
          <p:cNvSpPr/>
          <p:nvPr/>
        </p:nvSpPr>
        <p:spPr>
          <a:xfrm>
            <a:off x="1666875" y="2405223"/>
            <a:ext cx="129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expected delay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49"/>
          <p:cNvSpPr/>
          <p:nvPr/>
        </p:nvSpPr>
        <p:spPr>
          <a:xfrm>
            <a:off x="657225" y="2932696"/>
            <a:ext cx="3333900" cy="1498800"/>
          </a:xfrm>
          <a:prstGeom prst="roundRect">
            <a:avLst>
              <a:gd fmla="val 6295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9"/>
          <p:cNvSpPr/>
          <p:nvPr/>
        </p:nvSpPr>
        <p:spPr>
          <a:xfrm>
            <a:off x="857250" y="3066046"/>
            <a:ext cx="295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Show tips changes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49"/>
          <p:cNvSpPr/>
          <p:nvPr/>
        </p:nvSpPr>
        <p:spPr>
          <a:xfrm>
            <a:off x="1000125" y="3361321"/>
            <a:ext cx="2667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query did not change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session data did not change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slowFilterSessions still runs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49"/>
          <p:cNvSpPr/>
          <p:nvPr/>
        </p:nvSpPr>
        <p:spPr>
          <a:xfrm>
            <a:off x="1571625" y="4060566"/>
            <a:ext cx="1485900" cy="255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9"/>
          <p:cNvSpPr/>
          <p:nvPr/>
        </p:nvSpPr>
        <p:spPr>
          <a:xfrm>
            <a:off x="1571625" y="4074004"/>
            <a:ext cx="148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unnecessary delay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49"/>
          <p:cNvSpPr/>
          <p:nvPr/>
        </p:nvSpPr>
        <p:spPr>
          <a:xfrm>
            <a:off x="4629150" y="1171575"/>
            <a:ext cx="3333600" cy="3144900"/>
          </a:xfrm>
          <a:prstGeom prst="roundRect">
            <a:avLst>
              <a:gd fmla="val 289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9"/>
          <p:cNvSpPr/>
          <p:nvPr/>
        </p:nvSpPr>
        <p:spPr>
          <a:xfrm>
            <a:off x="4629150" y="1171575"/>
            <a:ext cx="333375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49"/>
          <p:cNvSpPr/>
          <p:nvPr/>
        </p:nvSpPr>
        <p:spPr>
          <a:xfrm>
            <a:off x="4738878" y="1272159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49"/>
          <p:cNvSpPr/>
          <p:nvPr/>
        </p:nvSpPr>
        <p:spPr>
          <a:xfrm>
            <a:off x="4885182" y="1272159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49"/>
          <p:cNvSpPr/>
          <p:nvPr/>
        </p:nvSpPr>
        <p:spPr>
          <a:xfrm>
            <a:off x="5031486" y="1272159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49"/>
          <p:cNvSpPr/>
          <p:nvPr/>
        </p:nvSpPr>
        <p:spPr>
          <a:xfrm>
            <a:off x="5132070" y="1217295"/>
            <a:ext cx="26936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Session Browser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9"/>
          <p:cNvSpPr/>
          <p:nvPr/>
        </p:nvSpPr>
        <p:spPr>
          <a:xfrm>
            <a:off x="4857750" y="1546479"/>
            <a:ext cx="28765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Conference sessions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49"/>
          <p:cNvSpPr/>
          <p:nvPr/>
        </p:nvSpPr>
        <p:spPr>
          <a:xfrm>
            <a:off x="4857750" y="1884807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Search sessions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49"/>
          <p:cNvSpPr/>
          <p:nvPr/>
        </p:nvSpPr>
        <p:spPr>
          <a:xfrm>
            <a:off x="4857750" y="2067687"/>
            <a:ext cx="2693670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49"/>
          <p:cNvSpPr/>
          <p:nvPr/>
        </p:nvSpPr>
        <p:spPr>
          <a:xfrm>
            <a:off x="4976622" y="2131695"/>
            <a:ext cx="245592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49"/>
          <p:cNvSpPr/>
          <p:nvPr/>
        </p:nvSpPr>
        <p:spPr>
          <a:xfrm>
            <a:off x="4857750" y="2561463"/>
            <a:ext cx="287655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134 matching sessions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49"/>
          <p:cNvSpPr/>
          <p:nvPr/>
        </p:nvSpPr>
        <p:spPr>
          <a:xfrm>
            <a:off x="4857750" y="2835783"/>
            <a:ext cx="2693670" cy="301752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49"/>
          <p:cNvSpPr/>
          <p:nvPr/>
        </p:nvSpPr>
        <p:spPr>
          <a:xfrm>
            <a:off x="4985766" y="2890647"/>
            <a:ext cx="243763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performance patterns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49"/>
          <p:cNvSpPr/>
          <p:nvPr/>
        </p:nvSpPr>
        <p:spPr>
          <a:xfrm>
            <a:off x="4857750" y="3228975"/>
            <a:ext cx="2693670" cy="301752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49"/>
          <p:cNvSpPr/>
          <p:nvPr/>
        </p:nvSpPr>
        <p:spPr>
          <a:xfrm>
            <a:off x="4985766" y="3283839"/>
            <a:ext cx="243763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component design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49"/>
          <p:cNvSpPr/>
          <p:nvPr/>
        </p:nvSpPr>
        <p:spPr>
          <a:xfrm>
            <a:off x="4857725" y="3640882"/>
            <a:ext cx="2693700" cy="301800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49"/>
          <p:cNvSpPr/>
          <p:nvPr/>
        </p:nvSpPr>
        <p:spPr>
          <a:xfrm>
            <a:off x="4985829" y="3710771"/>
            <a:ext cx="243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Testing React applications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49"/>
          <p:cNvSpPr/>
          <p:nvPr/>
        </p:nvSpPr>
        <p:spPr>
          <a:xfrm>
            <a:off x="4885163" y="4015362"/>
            <a:ext cx="960000" cy="292500"/>
          </a:xfrm>
          <a:prstGeom prst="roundRect">
            <a:avLst>
              <a:gd fmla="val 15625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9"/>
          <p:cNvSpPr/>
          <p:nvPr/>
        </p:nvSpPr>
        <p:spPr>
          <a:xfrm>
            <a:off x="4885175" y="4015362"/>
            <a:ext cx="96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 tips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49"/>
          <p:cNvSpPr/>
          <p:nvPr/>
        </p:nvSpPr>
        <p:spPr>
          <a:xfrm>
            <a:off x="6193693" y="3969649"/>
            <a:ext cx="1642200" cy="329100"/>
          </a:xfrm>
          <a:prstGeom prst="roundRect">
            <a:avLst>
              <a:gd fmla="val 22222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49"/>
          <p:cNvSpPr/>
          <p:nvPr/>
        </p:nvSpPr>
        <p:spPr>
          <a:xfrm>
            <a:off x="6274036" y="4074718"/>
            <a:ext cx="1459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Tip: Memoize only when repeated work matters.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49"/>
          <p:cNvSpPr/>
          <p:nvPr/>
        </p:nvSpPr>
        <p:spPr>
          <a:xfrm>
            <a:off x="4629075" y="4518978"/>
            <a:ext cx="3333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component rendered again, so the expensive calculation ran again even though its inputs did not change.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0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memoization?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0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0"/>
          <p:cNvSpPr/>
          <p:nvPr/>
        </p:nvSpPr>
        <p:spPr>
          <a:xfrm>
            <a:off x="1047750" y="1000125"/>
            <a:ext cx="6572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Memoization means reusing a previous calculation result when the inputs needed for that calculation have not changed.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0"/>
          <p:cNvSpPr/>
          <p:nvPr/>
        </p:nvSpPr>
        <p:spPr>
          <a:xfrm>
            <a:off x="990600" y="1695450"/>
            <a:ext cx="3143250" cy="1695450"/>
          </a:xfrm>
          <a:prstGeom prst="roundRect">
            <a:avLst>
              <a:gd fmla="val 4315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50"/>
          <p:cNvSpPr/>
          <p:nvPr/>
        </p:nvSpPr>
        <p:spPr>
          <a:xfrm>
            <a:off x="1200150" y="1895475"/>
            <a:ext cx="2724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Same inputs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0"/>
          <p:cNvSpPr/>
          <p:nvPr/>
        </p:nvSpPr>
        <p:spPr>
          <a:xfrm>
            <a:off x="1200150" y="2276475"/>
            <a:ext cx="27241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same sessions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same query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0"/>
          <p:cNvSpPr/>
          <p:nvPr/>
        </p:nvSpPr>
        <p:spPr>
          <a:xfrm>
            <a:off x="1200150" y="2895600"/>
            <a:ext cx="2724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reuse previous result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0"/>
          <p:cNvSpPr/>
          <p:nvPr/>
        </p:nvSpPr>
        <p:spPr>
          <a:xfrm>
            <a:off x="4552950" y="1695450"/>
            <a:ext cx="3143250" cy="1695450"/>
          </a:xfrm>
          <a:prstGeom prst="roundRect">
            <a:avLst>
              <a:gd fmla="val 4315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50"/>
          <p:cNvSpPr/>
          <p:nvPr/>
        </p:nvSpPr>
        <p:spPr>
          <a:xfrm>
            <a:off x="4762500" y="1895475"/>
            <a:ext cx="2724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Changed input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0"/>
          <p:cNvSpPr/>
          <p:nvPr/>
        </p:nvSpPr>
        <p:spPr>
          <a:xfrm>
            <a:off x="4762500" y="2381250"/>
            <a:ext cx="2724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query changes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50"/>
          <p:cNvSpPr/>
          <p:nvPr/>
        </p:nvSpPr>
        <p:spPr>
          <a:xfrm>
            <a:off x="4762500" y="2895600"/>
            <a:ext cx="2724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calculate a new result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50"/>
          <p:cNvSpPr/>
          <p:nvPr/>
        </p:nvSpPr>
        <p:spPr>
          <a:xfrm>
            <a:off x="1504950" y="3810000"/>
            <a:ext cx="5619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Memoization is a performance optimization. It should not be required for the feature to work correctly.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1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Memoize the calculation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1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51"/>
          <p:cNvSpPr/>
          <p:nvPr/>
        </p:nvSpPr>
        <p:spPr>
          <a:xfrm>
            <a:off x="657225" y="1162050"/>
            <a:ext cx="4876800" cy="2552700"/>
          </a:xfrm>
          <a:prstGeom prst="roundRect">
            <a:avLst>
              <a:gd fmla="val 179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51"/>
          <p:cNvSpPr/>
          <p:nvPr/>
        </p:nvSpPr>
        <p:spPr>
          <a:xfrm>
            <a:off x="794385" y="1244346"/>
            <a:ext cx="4602480" cy="2388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visibleSessions =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useMemo(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() =&gt;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slowFilterSessions(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allSessions,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query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[query]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51"/>
          <p:cNvSpPr/>
          <p:nvPr/>
        </p:nvSpPr>
        <p:spPr>
          <a:xfrm>
            <a:off x="5819775" y="1219200"/>
            <a:ext cx="2143125" cy="666750"/>
          </a:xfrm>
          <a:prstGeom prst="roundRect">
            <a:avLst>
              <a:gd fmla="val 10971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51"/>
          <p:cNvSpPr/>
          <p:nvPr/>
        </p:nvSpPr>
        <p:spPr>
          <a:xfrm>
            <a:off x="5962650" y="1333500"/>
            <a:ext cx="1857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CALCULATION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51"/>
          <p:cNvSpPr/>
          <p:nvPr/>
        </p:nvSpPr>
        <p:spPr>
          <a:xfrm>
            <a:off x="5962650" y="1543050"/>
            <a:ext cx="18573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0"/>
              <a:buFont typeface="Courier New"/>
              <a:buNone/>
            </a:pPr>
            <a:r>
              <a:rPr b="1" i="0" lang="en" sz="9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slowFilterSessions(...)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51"/>
          <p:cNvSpPr/>
          <p:nvPr/>
        </p:nvSpPr>
        <p:spPr>
          <a:xfrm>
            <a:off x="5819775" y="2038350"/>
            <a:ext cx="2143125" cy="666750"/>
          </a:xfrm>
          <a:prstGeom prst="roundRect">
            <a:avLst>
              <a:gd fmla="val 10971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51"/>
          <p:cNvSpPr/>
          <p:nvPr/>
        </p:nvSpPr>
        <p:spPr>
          <a:xfrm>
            <a:off x="5962650" y="2152650"/>
            <a:ext cx="1857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DEPENDENCY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51"/>
          <p:cNvSpPr/>
          <p:nvPr/>
        </p:nvSpPr>
        <p:spPr>
          <a:xfrm>
            <a:off x="5962650" y="2362200"/>
            <a:ext cx="18573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query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51"/>
          <p:cNvSpPr/>
          <p:nvPr/>
        </p:nvSpPr>
        <p:spPr>
          <a:xfrm>
            <a:off x="5819775" y="2857500"/>
            <a:ext cx="2143125" cy="666750"/>
          </a:xfrm>
          <a:prstGeom prst="roundRect">
            <a:avLst>
              <a:gd fmla="val 10971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51"/>
          <p:cNvSpPr/>
          <p:nvPr/>
        </p:nvSpPr>
        <p:spPr>
          <a:xfrm>
            <a:off x="5962650" y="2971800"/>
            <a:ext cx="1857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RETURNED VALUE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1"/>
          <p:cNvSpPr/>
          <p:nvPr/>
        </p:nvSpPr>
        <p:spPr>
          <a:xfrm>
            <a:off x="5962650" y="3181350"/>
            <a:ext cx="18573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Courier New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visibleSessions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1"/>
          <p:cNvSpPr/>
          <p:nvPr/>
        </p:nvSpPr>
        <p:spPr>
          <a:xfrm>
            <a:off x="657225" y="3914775"/>
            <a:ext cx="7305675" cy="419100"/>
          </a:xfrm>
          <a:prstGeom prst="roundRect">
            <a:avLst>
              <a:gd fmla="val 17455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51"/>
          <p:cNvSpPr/>
          <p:nvPr/>
        </p:nvSpPr>
        <p:spPr>
          <a:xfrm>
            <a:off x="838200" y="3990975"/>
            <a:ext cx="6953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Why [query]? The calculation reads query, and changing query can change the result. allSessions is fixed module data.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2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When does the calculation run?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2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2"/>
          <p:cNvSpPr/>
          <p:nvPr/>
        </p:nvSpPr>
        <p:spPr>
          <a:xfrm>
            <a:off x="657225" y="1285875"/>
            <a:ext cx="2266950" cy="1762125"/>
          </a:xfrm>
          <a:prstGeom prst="roundRect">
            <a:avLst>
              <a:gd fmla="val 4151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52"/>
          <p:cNvSpPr/>
          <p:nvPr/>
        </p:nvSpPr>
        <p:spPr>
          <a:xfrm>
            <a:off x="838200" y="1495425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First render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2"/>
          <p:cNvSpPr/>
          <p:nvPr/>
        </p:nvSpPr>
        <p:spPr>
          <a:xfrm>
            <a:off x="838200" y="194310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 previous result exists.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2"/>
          <p:cNvSpPr/>
          <p:nvPr/>
        </p:nvSpPr>
        <p:spPr>
          <a:xfrm>
            <a:off x="838200" y="245745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Calculate visibleSessions.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2"/>
          <p:cNvSpPr/>
          <p:nvPr/>
        </p:nvSpPr>
        <p:spPr>
          <a:xfrm>
            <a:off x="3152775" y="1285875"/>
            <a:ext cx="2266950" cy="1762125"/>
          </a:xfrm>
          <a:prstGeom prst="roundRect">
            <a:avLst>
              <a:gd fmla="val 4151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52"/>
          <p:cNvSpPr/>
          <p:nvPr/>
        </p:nvSpPr>
        <p:spPr>
          <a:xfrm>
            <a:off x="3333750" y="1495425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showTips changes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52"/>
          <p:cNvSpPr/>
          <p:nvPr/>
        </p:nvSpPr>
        <p:spPr>
          <a:xfrm>
            <a:off x="3333750" y="194310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query is unchanged.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52"/>
          <p:cNvSpPr/>
          <p:nvPr/>
        </p:nvSpPr>
        <p:spPr>
          <a:xfrm>
            <a:off x="3333750" y="245745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Reuse previous visibleSessions.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52"/>
          <p:cNvSpPr/>
          <p:nvPr/>
        </p:nvSpPr>
        <p:spPr>
          <a:xfrm>
            <a:off x="5648325" y="1285875"/>
            <a:ext cx="2266950" cy="1762125"/>
          </a:xfrm>
          <a:prstGeom prst="roundRect">
            <a:avLst>
              <a:gd fmla="val 4151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52"/>
          <p:cNvSpPr/>
          <p:nvPr/>
        </p:nvSpPr>
        <p:spPr>
          <a:xfrm>
            <a:off x="5829300" y="1495425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query changes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52"/>
          <p:cNvSpPr/>
          <p:nvPr/>
        </p:nvSpPr>
        <p:spPr>
          <a:xfrm>
            <a:off x="5829300" y="194310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dependency changed.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52"/>
          <p:cNvSpPr/>
          <p:nvPr/>
        </p:nvSpPr>
        <p:spPr>
          <a:xfrm>
            <a:off x="5829300" y="245745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Calculate new visibleSessions.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52"/>
          <p:cNvSpPr/>
          <p:nvPr/>
        </p:nvSpPr>
        <p:spPr>
          <a:xfrm>
            <a:off x="1371600" y="3476625"/>
            <a:ext cx="5810250" cy="504825"/>
          </a:xfrm>
          <a:prstGeom prst="roundRect">
            <a:avLst>
              <a:gd fmla="val 14491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52"/>
          <p:cNvSpPr/>
          <p:nvPr/>
        </p:nvSpPr>
        <p:spPr>
          <a:xfrm>
            <a:off x="1581150" y="3600450"/>
            <a:ext cx="5391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useMemo does not remove the calculation. It lets React skip repeating it when dependencies have not changed.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3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See the difference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53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53"/>
          <p:cNvSpPr/>
          <p:nvPr/>
        </p:nvSpPr>
        <p:spPr>
          <a:xfrm>
            <a:off x="657225" y="914400"/>
            <a:ext cx="804672" cy="256032"/>
          </a:xfrm>
          <a:prstGeom prst="roundRect">
            <a:avLst>
              <a:gd fmla="val 50000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53"/>
          <p:cNvSpPr/>
          <p:nvPr/>
        </p:nvSpPr>
        <p:spPr>
          <a:xfrm>
            <a:off x="657225" y="914400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53"/>
          <p:cNvSpPr/>
          <p:nvPr/>
        </p:nvSpPr>
        <p:spPr>
          <a:xfrm>
            <a:off x="657225" y="1190625"/>
            <a:ext cx="3286200" cy="3468300"/>
          </a:xfrm>
          <a:prstGeom prst="roundRect">
            <a:avLst>
              <a:gd fmla="val 27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3"/>
          <p:cNvSpPr/>
          <p:nvPr/>
        </p:nvSpPr>
        <p:spPr>
          <a:xfrm>
            <a:off x="657225" y="1190625"/>
            <a:ext cx="3286125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3"/>
          <p:cNvSpPr/>
          <p:nvPr/>
        </p:nvSpPr>
        <p:spPr>
          <a:xfrm>
            <a:off x="766953" y="1291209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53"/>
          <p:cNvSpPr/>
          <p:nvPr/>
        </p:nvSpPr>
        <p:spPr>
          <a:xfrm>
            <a:off x="913257" y="1291209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53"/>
          <p:cNvSpPr/>
          <p:nvPr/>
        </p:nvSpPr>
        <p:spPr>
          <a:xfrm>
            <a:off x="1059561" y="1291209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53"/>
          <p:cNvSpPr/>
          <p:nvPr/>
        </p:nvSpPr>
        <p:spPr>
          <a:xfrm>
            <a:off x="1160145" y="1236345"/>
            <a:ext cx="264604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Session Browser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53"/>
          <p:cNvSpPr/>
          <p:nvPr/>
        </p:nvSpPr>
        <p:spPr>
          <a:xfrm>
            <a:off x="885825" y="1565529"/>
            <a:ext cx="282892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Conference sessions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53"/>
          <p:cNvSpPr/>
          <p:nvPr/>
        </p:nvSpPr>
        <p:spPr>
          <a:xfrm>
            <a:off x="885825" y="1903857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Search sessions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53"/>
          <p:cNvSpPr/>
          <p:nvPr/>
        </p:nvSpPr>
        <p:spPr>
          <a:xfrm>
            <a:off x="885825" y="2086737"/>
            <a:ext cx="2646045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53"/>
          <p:cNvSpPr/>
          <p:nvPr/>
        </p:nvSpPr>
        <p:spPr>
          <a:xfrm>
            <a:off x="1004697" y="2150745"/>
            <a:ext cx="240830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53"/>
          <p:cNvSpPr/>
          <p:nvPr/>
        </p:nvSpPr>
        <p:spPr>
          <a:xfrm>
            <a:off x="885825" y="2580513"/>
            <a:ext cx="282892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134 matching sessions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53"/>
          <p:cNvSpPr/>
          <p:nvPr/>
        </p:nvSpPr>
        <p:spPr>
          <a:xfrm>
            <a:off x="885825" y="2854833"/>
            <a:ext cx="2646045" cy="301752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53"/>
          <p:cNvSpPr/>
          <p:nvPr/>
        </p:nvSpPr>
        <p:spPr>
          <a:xfrm>
            <a:off x="1013841" y="2909697"/>
            <a:ext cx="2390013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performance patterns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53"/>
          <p:cNvSpPr/>
          <p:nvPr/>
        </p:nvSpPr>
        <p:spPr>
          <a:xfrm>
            <a:off x="885825" y="3248025"/>
            <a:ext cx="2646045" cy="301752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53"/>
          <p:cNvSpPr/>
          <p:nvPr/>
        </p:nvSpPr>
        <p:spPr>
          <a:xfrm>
            <a:off x="1013841" y="3302889"/>
            <a:ext cx="2390013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component design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53"/>
          <p:cNvSpPr/>
          <p:nvPr/>
        </p:nvSpPr>
        <p:spPr>
          <a:xfrm>
            <a:off x="885825" y="3641217"/>
            <a:ext cx="2646045" cy="301752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53"/>
          <p:cNvSpPr/>
          <p:nvPr/>
        </p:nvSpPr>
        <p:spPr>
          <a:xfrm>
            <a:off x="1013841" y="3696081"/>
            <a:ext cx="2390013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Testing React applications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53"/>
          <p:cNvSpPr/>
          <p:nvPr/>
        </p:nvSpPr>
        <p:spPr>
          <a:xfrm>
            <a:off x="885763" y="4135012"/>
            <a:ext cx="960000" cy="292500"/>
          </a:xfrm>
          <a:prstGeom prst="roundRect">
            <a:avLst>
              <a:gd fmla="val 15625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53"/>
          <p:cNvSpPr/>
          <p:nvPr/>
        </p:nvSpPr>
        <p:spPr>
          <a:xfrm>
            <a:off x="885825" y="4135012"/>
            <a:ext cx="96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 tips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53"/>
          <p:cNvSpPr/>
          <p:nvPr/>
        </p:nvSpPr>
        <p:spPr>
          <a:xfrm>
            <a:off x="1983055" y="4134999"/>
            <a:ext cx="1594500" cy="329100"/>
          </a:xfrm>
          <a:prstGeom prst="roundRect">
            <a:avLst>
              <a:gd fmla="val 22222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53"/>
          <p:cNvSpPr/>
          <p:nvPr/>
        </p:nvSpPr>
        <p:spPr>
          <a:xfrm>
            <a:off x="2074546" y="4226432"/>
            <a:ext cx="1411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Tip: Memoize only when repeated work matters.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53"/>
          <p:cNvSpPr/>
          <p:nvPr/>
        </p:nvSpPr>
        <p:spPr>
          <a:xfrm>
            <a:off x="4333875" y="1066800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Try the same interactions again.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53"/>
          <p:cNvSpPr/>
          <p:nvPr/>
        </p:nvSpPr>
        <p:spPr>
          <a:xfrm>
            <a:off x="4333875" y="1466850"/>
            <a:ext cx="1695450" cy="962025"/>
          </a:xfrm>
          <a:prstGeom prst="roundRect">
            <a:avLst>
              <a:gd fmla="val 7604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53"/>
          <p:cNvSpPr/>
          <p:nvPr/>
        </p:nvSpPr>
        <p:spPr>
          <a:xfrm>
            <a:off x="4495800" y="1609725"/>
            <a:ext cx="1371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Search changes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53"/>
          <p:cNvSpPr/>
          <p:nvPr/>
        </p:nvSpPr>
        <p:spPr>
          <a:xfrm>
            <a:off x="4495800" y="1924050"/>
            <a:ext cx="1371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Before: slow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After: slow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53"/>
          <p:cNvSpPr/>
          <p:nvPr/>
        </p:nvSpPr>
        <p:spPr>
          <a:xfrm>
            <a:off x="6267450" y="1466850"/>
            <a:ext cx="1695450" cy="962025"/>
          </a:xfrm>
          <a:prstGeom prst="roundRect">
            <a:avLst>
              <a:gd fmla="val 7604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53"/>
          <p:cNvSpPr/>
          <p:nvPr/>
        </p:nvSpPr>
        <p:spPr>
          <a:xfrm>
            <a:off x="6429375" y="1609725"/>
            <a:ext cx="1371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Show tips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53"/>
          <p:cNvSpPr/>
          <p:nvPr/>
        </p:nvSpPr>
        <p:spPr>
          <a:xfrm>
            <a:off x="6429375" y="1924050"/>
            <a:ext cx="1371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Before: slow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After: responsive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53"/>
          <p:cNvSpPr/>
          <p:nvPr/>
        </p:nvSpPr>
        <p:spPr>
          <a:xfrm>
            <a:off x="4333875" y="2790825"/>
            <a:ext cx="3629025" cy="685800"/>
          </a:xfrm>
          <a:prstGeom prst="roundRect">
            <a:avLst>
              <a:gd fmla="val 10667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53"/>
          <p:cNvSpPr/>
          <p:nvPr/>
        </p:nvSpPr>
        <p:spPr>
          <a:xfrm>
            <a:off x="4533900" y="2990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Changing the query still recalculates. Toggling Show tips can reuse the previous result.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54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Don't memoize by default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54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54"/>
          <p:cNvSpPr/>
          <p:nvPr/>
        </p:nvSpPr>
        <p:spPr>
          <a:xfrm>
            <a:off x="657225" y="1019175"/>
            <a:ext cx="3571875" cy="1200150"/>
          </a:xfrm>
          <a:prstGeom prst="roundRect">
            <a:avLst>
              <a:gd fmla="val 381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54"/>
          <p:cNvSpPr/>
          <p:nvPr/>
        </p:nvSpPr>
        <p:spPr>
          <a:xfrm>
            <a:off x="794385" y="1101471"/>
            <a:ext cx="3297555" cy="1035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completedCount =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tasks.filter(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(task) =&gt; task.completed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).length;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54"/>
          <p:cNvSpPr/>
          <p:nvPr/>
        </p:nvSpPr>
        <p:spPr>
          <a:xfrm>
            <a:off x="4686300" y="1019175"/>
            <a:ext cx="3276600" cy="876300"/>
          </a:xfrm>
          <a:prstGeom prst="roundRect">
            <a:avLst>
              <a:gd fmla="val 8348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54"/>
          <p:cNvSpPr/>
          <p:nvPr/>
        </p:nvSpPr>
        <p:spPr>
          <a:xfrm>
            <a:off x="4895850" y="1209675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Fast calculation?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54"/>
          <p:cNvSpPr/>
          <p:nvPr/>
        </p:nvSpPr>
        <p:spPr>
          <a:xfrm>
            <a:off x="4895850" y="15240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Calculate it normally.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54"/>
          <p:cNvSpPr/>
          <p:nvPr/>
        </p:nvSpPr>
        <p:spPr>
          <a:xfrm>
            <a:off x="657225" y="2362200"/>
            <a:ext cx="73056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Checkpoint: A dashboard calculates totalPrice from six items. The calculation is fast. Should we add useMemo just because the component can re-render?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54"/>
          <p:cNvSpPr/>
          <p:nvPr/>
        </p:nvSpPr>
        <p:spPr>
          <a:xfrm>
            <a:off x="838200" y="2800350"/>
            <a:ext cx="3429000" cy="381000"/>
          </a:xfrm>
          <a:prstGeom prst="roundRect">
            <a:avLst>
              <a:gd fmla="val 192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54"/>
          <p:cNvSpPr/>
          <p:nvPr/>
        </p:nvSpPr>
        <p:spPr>
          <a:xfrm>
            <a:off x="947928" y="28826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54"/>
          <p:cNvSpPr/>
          <p:nvPr/>
        </p:nvSpPr>
        <p:spPr>
          <a:xfrm>
            <a:off x="947928" y="28826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54"/>
          <p:cNvSpPr/>
          <p:nvPr/>
        </p:nvSpPr>
        <p:spPr>
          <a:xfrm>
            <a:off x="1322832" y="2836926"/>
            <a:ext cx="2843784" cy="307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Yes, every derived value should use useMemo.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54"/>
          <p:cNvSpPr/>
          <p:nvPr/>
        </p:nvSpPr>
        <p:spPr>
          <a:xfrm>
            <a:off x="4533900" y="2800350"/>
            <a:ext cx="3429000" cy="381000"/>
          </a:xfrm>
          <a:prstGeom prst="roundRect">
            <a:avLst>
              <a:gd fmla="val 192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54"/>
          <p:cNvSpPr/>
          <p:nvPr/>
        </p:nvSpPr>
        <p:spPr>
          <a:xfrm>
            <a:off x="4643628" y="28826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54"/>
          <p:cNvSpPr/>
          <p:nvPr/>
        </p:nvSpPr>
        <p:spPr>
          <a:xfrm>
            <a:off x="4643628" y="28826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54"/>
          <p:cNvSpPr/>
          <p:nvPr/>
        </p:nvSpPr>
        <p:spPr>
          <a:xfrm>
            <a:off x="5018532" y="2836926"/>
            <a:ext cx="2843784" cy="307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Yes, because re-rendering should always be avoided.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54"/>
          <p:cNvSpPr/>
          <p:nvPr/>
        </p:nvSpPr>
        <p:spPr>
          <a:xfrm>
            <a:off x="838200" y="3276600"/>
            <a:ext cx="3429000" cy="381000"/>
          </a:xfrm>
          <a:prstGeom prst="roundRect">
            <a:avLst>
              <a:gd fmla="val 192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54"/>
          <p:cNvSpPr/>
          <p:nvPr/>
        </p:nvSpPr>
        <p:spPr>
          <a:xfrm>
            <a:off x="947928" y="33588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54"/>
          <p:cNvSpPr/>
          <p:nvPr/>
        </p:nvSpPr>
        <p:spPr>
          <a:xfrm>
            <a:off x="947928" y="33588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54"/>
          <p:cNvSpPr/>
          <p:nvPr/>
        </p:nvSpPr>
        <p:spPr>
          <a:xfrm>
            <a:off x="1322832" y="3313176"/>
            <a:ext cx="2843784" cy="307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No. Calculate normally unless repeated work creates a performance problem.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54"/>
          <p:cNvSpPr/>
          <p:nvPr/>
        </p:nvSpPr>
        <p:spPr>
          <a:xfrm>
            <a:off x="4533900" y="3276600"/>
            <a:ext cx="3429000" cy="381000"/>
          </a:xfrm>
          <a:prstGeom prst="roundRect">
            <a:avLst>
              <a:gd fmla="val 192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54"/>
          <p:cNvSpPr/>
          <p:nvPr/>
        </p:nvSpPr>
        <p:spPr>
          <a:xfrm>
            <a:off x="4643628" y="33588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54"/>
          <p:cNvSpPr/>
          <p:nvPr/>
        </p:nvSpPr>
        <p:spPr>
          <a:xfrm>
            <a:off x="4643628" y="33588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54"/>
          <p:cNvSpPr/>
          <p:nvPr/>
        </p:nvSpPr>
        <p:spPr>
          <a:xfrm>
            <a:off x="5018532" y="3313176"/>
            <a:ext cx="2843784" cy="307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No. Derived values must always be stored in state instead.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54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54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54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54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54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 normal, inexpensive derived calculation does not need memoization.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5"/>
          <p:cNvSpPr/>
          <p:nvPr/>
        </p:nvSpPr>
        <p:spPr>
          <a:xfrm>
            <a:off x="552450" y="2047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Avoid an unnecessary child render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55"/>
          <p:cNvSpPr/>
          <p:nvPr/>
        </p:nvSpPr>
        <p:spPr>
          <a:xfrm>
            <a:off x="552450" y="2657475"/>
            <a:ext cx="1238250" cy="38100"/>
          </a:xfrm>
          <a:prstGeom prst="rect">
            <a:avLst/>
          </a:prstGeom>
          <a:solidFill>
            <a:srgbClr val="1E3A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56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results list is expensive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56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56"/>
          <p:cNvSpPr/>
          <p:nvPr/>
        </p:nvSpPr>
        <p:spPr>
          <a:xfrm>
            <a:off x="657225" y="914400"/>
            <a:ext cx="804672" cy="256032"/>
          </a:xfrm>
          <a:prstGeom prst="roundRect">
            <a:avLst>
              <a:gd fmla="val 50000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56"/>
          <p:cNvSpPr/>
          <p:nvPr/>
        </p:nvSpPr>
        <p:spPr>
          <a:xfrm>
            <a:off x="657225" y="914400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56"/>
          <p:cNvSpPr/>
          <p:nvPr/>
        </p:nvSpPr>
        <p:spPr>
          <a:xfrm>
            <a:off x="657225" y="1190625"/>
            <a:ext cx="3286200" cy="3240900"/>
          </a:xfrm>
          <a:prstGeom prst="roundRect">
            <a:avLst>
              <a:gd fmla="val 27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56"/>
          <p:cNvSpPr/>
          <p:nvPr/>
        </p:nvSpPr>
        <p:spPr>
          <a:xfrm>
            <a:off x="657225" y="1190625"/>
            <a:ext cx="3286125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56"/>
          <p:cNvSpPr/>
          <p:nvPr/>
        </p:nvSpPr>
        <p:spPr>
          <a:xfrm>
            <a:off x="766953" y="1291209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56"/>
          <p:cNvSpPr/>
          <p:nvPr/>
        </p:nvSpPr>
        <p:spPr>
          <a:xfrm>
            <a:off x="913257" y="1291209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56"/>
          <p:cNvSpPr/>
          <p:nvPr/>
        </p:nvSpPr>
        <p:spPr>
          <a:xfrm>
            <a:off x="1059561" y="1291209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56"/>
          <p:cNvSpPr/>
          <p:nvPr/>
        </p:nvSpPr>
        <p:spPr>
          <a:xfrm>
            <a:off x="1160145" y="1236345"/>
            <a:ext cx="264604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Session Browser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56"/>
          <p:cNvSpPr/>
          <p:nvPr/>
        </p:nvSpPr>
        <p:spPr>
          <a:xfrm>
            <a:off x="885825" y="1565529"/>
            <a:ext cx="282892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Conference sessions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56"/>
          <p:cNvSpPr/>
          <p:nvPr/>
        </p:nvSpPr>
        <p:spPr>
          <a:xfrm>
            <a:off x="885825" y="1903857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Search sessions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56"/>
          <p:cNvSpPr/>
          <p:nvPr/>
        </p:nvSpPr>
        <p:spPr>
          <a:xfrm>
            <a:off x="885825" y="2086737"/>
            <a:ext cx="2646045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56"/>
          <p:cNvSpPr/>
          <p:nvPr/>
        </p:nvSpPr>
        <p:spPr>
          <a:xfrm>
            <a:off x="1004697" y="2150745"/>
            <a:ext cx="240830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56"/>
          <p:cNvSpPr/>
          <p:nvPr/>
        </p:nvSpPr>
        <p:spPr>
          <a:xfrm>
            <a:off x="885825" y="2580513"/>
            <a:ext cx="282892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134 matching sessions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56"/>
          <p:cNvSpPr/>
          <p:nvPr/>
        </p:nvSpPr>
        <p:spPr>
          <a:xfrm>
            <a:off x="885825" y="2854833"/>
            <a:ext cx="2646045" cy="301752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56"/>
          <p:cNvSpPr/>
          <p:nvPr/>
        </p:nvSpPr>
        <p:spPr>
          <a:xfrm>
            <a:off x="1013841" y="2909697"/>
            <a:ext cx="2390013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performance patterns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56"/>
          <p:cNvSpPr/>
          <p:nvPr/>
        </p:nvSpPr>
        <p:spPr>
          <a:xfrm>
            <a:off x="885825" y="3248025"/>
            <a:ext cx="2646045" cy="301752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56"/>
          <p:cNvSpPr/>
          <p:nvPr/>
        </p:nvSpPr>
        <p:spPr>
          <a:xfrm>
            <a:off x="1013841" y="3302889"/>
            <a:ext cx="2390013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component design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56"/>
          <p:cNvSpPr/>
          <p:nvPr/>
        </p:nvSpPr>
        <p:spPr>
          <a:xfrm>
            <a:off x="885825" y="3641217"/>
            <a:ext cx="2646045" cy="301752"/>
          </a:xfrm>
          <a:prstGeom prst="roundRect">
            <a:avLst>
              <a:gd fmla="val 2424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56"/>
          <p:cNvSpPr/>
          <p:nvPr/>
        </p:nvSpPr>
        <p:spPr>
          <a:xfrm>
            <a:off x="1013841" y="3696081"/>
            <a:ext cx="2390013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Testing React applications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56"/>
          <p:cNvSpPr/>
          <p:nvPr/>
        </p:nvSpPr>
        <p:spPr>
          <a:xfrm>
            <a:off x="885763" y="4034437"/>
            <a:ext cx="960000" cy="292500"/>
          </a:xfrm>
          <a:prstGeom prst="roundRect">
            <a:avLst>
              <a:gd fmla="val 15625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56"/>
          <p:cNvSpPr/>
          <p:nvPr/>
        </p:nvSpPr>
        <p:spPr>
          <a:xfrm>
            <a:off x="885825" y="4034437"/>
            <a:ext cx="96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 tips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56"/>
          <p:cNvSpPr/>
          <p:nvPr/>
        </p:nvSpPr>
        <p:spPr>
          <a:xfrm>
            <a:off x="1942941" y="4015450"/>
            <a:ext cx="1594500" cy="329100"/>
          </a:xfrm>
          <a:prstGeom prst="roundRect">
            <a:avLst>
              <a:gd fmla="val 22222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56"/>
          <p:cNvSpPr/>
          <p:nvPr/>
        </p:nvSpPr>
        <p:spPr>
          <a:xfrm>
            <a:off x="1983108" y="4135007"/>
            <a:ext cx="1411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Tip: Memoize only when repeated work matters.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56"/>
          <p:cNvSpPr/>
          <p:nvPr/>
        </p:nvSpPr>
        <p:spPr>
          <a:xfrm>
            <a:off x="4333875" y="1047750"/>
            <a:ext cx="3629025" cy="552450"/>
          </a:xfrm>
          <a:prstGeom prst="roundRect">
            <a:avLst>
              <a:gd fmla="val 13241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56"/>
          <p:cNvSpPr/>
          <p:nvPr/>
        </p:nvSpPr>
        <p:spPr>
          <a:xfrm>
            <a:off x="4524375" y="1181100"/>
            <a:ext cx="3238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The filtering problem is already solved. Now the child render itself is expensive.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56"/>
          <p:cNvSpPr/>
          <p:nvPr/>
        </p:nvSpPr>
        <p:spPr>
          <a:xfrm>
            <a:off x="4333875" y="1790700"/>
            <a:ext cx="3629025" cy="952500"/>
          </a:xfrm>
          <a:prstGeom prst="roundRect">
            <a:avLst>
              <a:gd fmla="val 48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56"/>
          <p:cNvSpPr/>
          <p:nvPr/>
        </p:nvSpPr>
        <p:spPr>
          <a:xfrm>
            <a:off x="4471035" y="1872996"/>
            <a:ext cx="3354705" cy="787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&lt;SessionList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sessions={visibleSessions}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onSelect={handleSelectSession}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56"/>
          <p:cNvSpPr/>
          <p:nvPr/>
        </p:nvSpPr>
        <p:spPr>
          <a:xfrm>
            <a:off x="4333875" y="2895600"/>
            <a:ext cx="3629025" cy="590550"/>
          </a:xfrm>
          <a:prstGeom prst="roundRect">
            <a:avLst>
              <a:gd fmla="val 774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56"/>
          <p:cNvSpPr/>
          <p:nvPr/>
        </p:nvSpPr>
        <p:spPr>
          <a:xfrm>
            <a:off x="4471035" y="2977896"/>
            <a:ext cx="3354705" cy="42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SessionList =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memo(SessionListComponent);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56"/>
          <p:cNvSpPr/>
          <p:nvPr/>
        </p:nvSpPr>
        <p:spPr>
          <a:xfrm>
            <a:off x="4333875" y="3657600"/>
            <a:ext cx="3629025" cy="590550"/>
          </a:xfrm>
          <a:prstGeom prst="roundRect">
            <a:avLst>
              <a:gd fmla="val 12387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56"/>
          <p:cNvSpPr/>
          <p:nvPr/>
        </p:nvSpPr>
        <p:spPr>
          <a:xfrm>
            <a:off x="4524375" y="3781425"/>
            <a:ext cx="3238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memo lets React skip re-rendering a component when its props have not changed. It is an optimization, not a guarantee.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57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does it still render?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57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57"/>
          <p:cNvSpPr/>
          <p:nvPr/>
        </p:nvSpPr>
        <p:spPr>
          <a:xfrm>
            <a:off x="1143000" y="1066800"/>
            <a:ext cx="6191250" cy="952500"/>
          </a:xfrm>
          <a:prstGeom prst="roundRect">
            <a:avLst>
              <a:gd fmla="val 48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57"/>
          <p:cNvSpPr/>
          <p:nvPr/>
        </p:nvSpPr>
        <p:spPr>
          <a:xfrm>
            <a:off x="1280160" y="1149096"/>
            <a:ext cx="5916930" cy="787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&lt;SessionList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sessions={visibleSessions}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onSelect={handleSelectSession}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57"/>
          <p:cNvSpPr/>
          <p:nvPr/>
        </p:nvSpPr>
        <p:spPr>
          <a:xfrm>
            <a:off x="1409700" y="2476500"/>
            <a:ext cx="2667000" cy="876300"/>
          </a:xfrm>
          <a:prstGeom prst="roundRect">
            <a:avLst>
              <a:gd fmla="val 8348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57"/>
          <p:cNvSpPr/>
          <p:nvPr/>
        </p:nvSpPr>
        <p:spPr>
          <a:xfrm>
            <a:off x="1609725" y="2628900"/>
            <a:ext cx="22669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sessions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57"/>
          <p:cNvSpPr/>
          <p:nvPr/>
        </p:nvSpPr>
        <p:spPr>
          <a:xfrm>
            <a:off x="1609725" y="2962275"/>
            <a:ext cx="2266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Same reference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57"/>
          <p:cNvSpPr/>
          <p:nvPr/>
        </p:nvSpPr>
        <p:spPr>
          <a:xfrm>
            <a:off x="4524375" y="2476500"/>
            <a:ext cx="2667000" cy="876300"/>
          </a:xfrm>
          <a:prstGeom prst="roundRect">
            <a:avLst>
              <a:gd fmla="val 8348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57"/>
          <p:cNvSpPr/>
          <p:nvPr/>
        </p:nvSpPr>
        <p:spPr>
          <a:xfrm>
            <a:off x="4724400" y="2628900"/>
            <a:ext cx="22669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onSelect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57"/>
          <p:cNvSpPr/>
          <p:nvPr/>
        </p:nvSpPr>
        <p:spPr>
          <a:xfrm>
            <a:off x="4724400" y="2962275"/>
            <a:ext cx="2266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New function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57"/>
          <p:cNvSpPr/>
          <p:nvPr/>
        </p:nvSpPr>
        <p:spPr>
          <a:xfrm>
            <a:off x="1562100" y="3762375"/>
            <a:ext cx="5619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Because one prop changed, the memoized SessionList cannot skip this render.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58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Functions have identity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58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58"/>
          <p:cNvSpPr/>
          <p:nvPr/>
        </p:nvSpPr>
        <p:spPr>
          <a:xfrm>
            <a:off x="657225" y="1257300"/>
            <a:ext cx="3333750" cy="1428750"/>
          </a:xfrm>
          <a:prstGeom prst="roundRect">
            <a:avLst>
              <a:gd fmla="val 32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58"/>
          <p:cNvSpPr/>
          <p:nvPr/>
        </p:nvSpPr>
        <p:spPr>
          <a:xfrm>
            <a:off x="794385" y="1339596"/>
            <a:ext cx="3059430" cy="1264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first = () =&gt; {};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second = () =&gt; {};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first === second;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false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58"/>
          <p:cNvSpPr/>
          <p:nvPr/>
        </p:nvSpPr>
        <p:spPr>
          <a:xfrm>
            <a:off x="657225" y="285750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Each function we create is a separate function object.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58"/>
          <p:cNvSpPr/>
          <p:nvPr/>
        </p:nvSpPr>
        <p:spPr>
          <a:xfrm>
            <a:off x="4781550" y="1238250"/>
            <a:ext cx="2762250" cy="904875"/>
          </a:xfrm>
          <a:prstGeom prst="roundRect">
            <a:avLst>
              <a:gd fmla="val 8084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58"/>
          <p:cNvSpPr/>
          <p:nvPr/>
        </p:nvSpPr>
        <p:spPr>
          <a:xfrm>
            <a:off x="5010150" y="1390650"/>
            <a:ext cx="2305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Render 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58"/>
          <p:cNvSpPr/>
          <p:nvPr/>
        </p:nvSpPr>
        <p:spPr>
          <a:xfrm>
            <a:off x="5010150" y="1714500"/>
            <a:ext cx="2305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ourier New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handleSelectSession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58"/>
          <p:cNvSpPr/>
          <p:nvPr/>
        </p:nvSpPr>
        <p:spPr>
          <a:xfrm>
            <a:off x="4781550" y="2476500"/>
            <a:ext cx="2762250" cy="904875"/>
          </a:xfrm>
          <a:prstGeom prst="roundRect">
            <a:avLst>
              <a:gd fmla="val 8084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58"/>
          <p:cNvSpPr/>
          <p:nvPr/>
        </p:nvSpPr>
        <p:spPr>
          <a:xfrm>
            <a:off x="5010150" y="2628900"/>
            <a:ext cx="2305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Render 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58"/>
          <p:cNvSpPr/>
          <p:nvPr/>
        </p:nvSpPr>
        <p:spPr>
          <a:xfrm>
            <a:off x="5010150" y="2952750"/>
            <a:ext cx="2305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ourier New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handleSelectSession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58"/>
          <p:cNvSpPr/>
          <p:nvPr/>
        </p:nvSpPr>
        <p:spPr>
          <a:xfrm>
            <a:off x="4533900" y="3714750"/>
            <a:ext cx="3276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Same-looking code can still create a different function identity on a later render.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59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Preserve the callback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59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59"/>
          <p:cNvSpPr/>
          <p:nvPr/>
        </p:nvSpPr>
        <p:spPr>
          <a:xfrm>
            <a:off x="657225" y="1152525"/>
            <a:ext cx="4810125" cy="1952625"/>
          </a:xfrm>
          <a:prstGeom prst="roundRect">
            <a:avLst>
              <a:gd fmla="val 234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59"/>
          <p:cNvSpPr/>
          <p:nvPr/>
        </p:nvSpPr>
        <p:spPr>
          <a:xfrm>
            <a:off x="794385" y="1234821"/>
            <a:ext cx="4535805" cy="178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handleSelectSession =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useCallback(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(sessionId: string) =&gt; {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setSelectedSessionId(sessionId);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},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[]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59"/>
          <p:cNvSpPr/>
          <p:nvPr/>
        </p:nvSpPr>
        <p:spPr>
          <a:xfrm>
            <a:off x="5734050" y="1152525"/>
            <a:ext cx="2228850" cy="1123950"/>
          </a:xfrm>
          <a:prstGeom prst="roundRect">
            <a:avLst>
              <a:gd fmla="val 6508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59"/>
          <p:cNvSpPr/>
          <p:nvPr/>
        </p:nvSpPr>
        <p:spPr>
          <a:xfrm>
            <a:off x="5895975" y="1266825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WHY IS THE LIST EMPTY?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59"/>
          <p:cNvSpPr/>
          <p:nvPr/>
        </p:nvSpPr>
        <p:spPr>
          <a:xfrm>
            <a:off x="5924550" y="1605915"/>
            <a:ext cx="54864" cy="54864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59"/>
          <p:cNvSpPr/>
          <p:nvPr/>
        </p:nvSpPr>
        <p:spPr>
          <a:xfrm>
            <a:off x="6043422" y="1514475"/>
            <a:ext cx="1709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sessionId is a parameter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59"/>
          <p:cNvSpPr/>
          <p:nvPr/>
        </p:nvSpPr>
        <p:spPr>
          <a:xfrm>
            <a:off x="5924550" y="1863090"/>
            <a:ext cx="54864" cy="54864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59"/>
          <p:cNvSpPr/>
          <p:nvPr/>
        </p:nvSpPr>
        <p:spPr>
          <a:xfrm>
            <a:off x="6043422" y="1771650"/>
            <a:ext cx="1709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state setter is stable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59"/>
          <p:cNvSpPr/>
          <p:nvPr/>
        </p:nvSpPr>
        <p:spPr>
          <a:xfrm>
            <a:off x="5924550" y="2120265"/>
            <a:ext cx="54864" cy="54864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59"/>
          <p:cNvSpPr/>
          <p:nvPr/>
        </p:nvSpPr>
        <p:spPr>
          <a:xfrm>
            <a:off x="6043422" y="2028825"/>
            <a:ext cx="1709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Arial"/>
              <a:buNone/>
            </a:pPr>
            <a:r>
              <a:rPr b="0" i="0" lang="en" sz="89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 changing component value is read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59"/>
          <p:cNvSpPr/>
          <p:nvPr/>
        </p:nvSpPr>
        <p:spPr>
          <a:xfrm>
            <a:off x="5734050" y="2428875"/>
            <a:ext cx="2228850" cy="914400"/>
          </a:xfrm>
          <a:prstGeom prst="roundRect">
            <a:avLst>
              <a:gd fmla="val 8000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59"/>
          <p:cNvSpPr/>
          <p:nvPr/>
        </p:nvSpPr>
        <p:spPr>
          <a:xfrm>
            <a:off x="5895975" y="2543175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IMPORTANT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59"/>
          <p:cNvSpPr/>
          <p:nvPr/>
        </p:nvSpPr>
        <p:spPr>
          <a:xfrm>
            <a:off x="5905500" y="2752725"/>
            <a:ext cx="18859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89"/>
              <a:buFont typeface="Arial"/>
              <a:buNone/>
            </a:pPr>
            <a:r>
              <a:rPr b="0" i="0" lang="en" sz="89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JavaScript still creates the supplied function. React can return the cached function when dependencies are unchanged.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59"/>
          <p:cNvSpPr/>
          <p:nvPr/>
        </p:nvSpPr>
        <p:spPr>
          <a:xfrm>
            <a:off x="657225" y="3467100"/>
            <a:ext cx="7305675" cy="819150"/>
          </a:xfrm>
          <a:prstGeom prst="roundRect">
            <a:avLst>
              <a:gd fmla="val 893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59"/>
          <p:cNvSpPr/>
          <p:nvPr/>
        </p:nvSpPr>
        <p:spPr>
          <a:xfrm>
            <a:off x="838200" y="3600450"/>
            <a:ext cx="123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useCallback does not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59"/>
          <p:cNvSpPr/>
          <p:nvPr/>
        </p:nvSpPr>
        <p:spPr>
          <a:xfrm>
            <a:off x="2162175" y="3600450"/>
            <a:ext cx="1638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stop parent renders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59"/>
          <p:cNvSpPr/>
          <p:nvPr/>
        </p:nvSpPr>
        <p:spPr>
          <a:xfrm>
            <a:off x="3800475" y="360045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make every function faster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59"/>
          <p:cNvSpPr/>
          <p:nvPr/>
        </p:nvSpPr>
        <p:spPr>
          <a:xfrm>
            <a:off x="5600700" y="3600450"/>
            <a:ext cx="2152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make memoization useful everywhere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59"/>
          <p:cNvSpPr/>
          <p:nvPr/>
        </p:nvSpPr>
        <p:spPr>
          <a:xfrm>
            <a:off x="838200" y="3943350"/>
            <a:ext cx="6915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It preserves a function reference when that stability matters to a real optimization.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60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See the difference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60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60"/>
          <p:cNvSpPr/>
          <p:nvPr/>
        </p:nvSpPr>
        <p:spPr>
          <a:xfrm>
            <a:off x="657225" y="914400"/>
            <a:ext cx="804672" cy="256032"/>
          </a:xfrm>
          <a:prstGeom prst="roundRect">
            <a:avLst>
              <a:gd fmla="val 50000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60"/>
          <p:cNvSpPr/>
          <p:nvPr/>
        </p:nvSpPr>
        <p:spPr>
          <a:xfrm>
            <a:off x="657225" y="914400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60"/>
          <p:cNvSpPr/>
          <p:nvPr/>
        </p:nvSpPr>
        <p:spPr>
          <a:xfrm>
            <a:off x="657225" y="1219200"/>
            <a:ext cx="3143250" cy="2000250"/>
          </a:xfrm>
          <a:prstGeom prst="roundRect">
            <a:avLst>
              <a:gd fmla="val 3657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60"/>
          <p:cNvSpPr/>
          <p:nvPr/>
        </p:nvSpPr>
        <p:spPr>
          <a:xfrm>
            <a:off x="857250" y="1428750"/>
            <a:ext cx="2743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Before useCallback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60"/>
          <p:cNvSpPr/>
          <p:nvPr/>
        </p:nvSpPr>
        <p:spPr>
          <a:xfrm>
            <a:off x="933450" y="1809750"/>
            <a:ext cx="2590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visibleSessions: same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handleSelectSession: different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SessionList renders again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interaction feels slow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60"/>
          <p:cNvSpPr/>
          <p:nvPr/>
        </p:nvSpPr>
        <p:spPr>
          <a:xfrm>
            <a:off x="4133850" y="1219200"/>
            <a:ext cx="3143250" cy="2000250"/>
          </a:xfrm>
          <a:prstGeom prst="roundRect">
            <a:avLst>
              <a:gd fmla="val 3657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60"/>
          <p:cNvSpPr/>
          <p:nvPr/>
        </p:nvSpPr>
        <p:spPr>
          <a:xfrm>
            <a:off x="4333875" y="1428750"/>
            <a:ext cx="2743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After useCallback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60"/>
          <p:cNvSpPr/>
          <p:nvPr/>
        </p:nvSpPr>
        <p:spPr>
          <a:xfrm>
            <a:off x="4400550" y="1809750"/>
            <a:ext cx="2590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visibleSessions: same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handleSelectSession: same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SessionList can skip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interaction is responsive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60"/>
          <p:cNvSpPr/>
          <p:nvPr/>
        </p:nvSpPr>
        <p:spPr>
          <a:xfrm>
            <a:off x="1219200" y="3714750"/>
            <a:ext cx="6096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10"/>
              <a:buFont typeface="Arial"/>
              <a:buNone/>
            </a:pPr>
            <a:r>
              <a:rPr b="1" i="0" lang="en" sz="11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Changing the sessions themselves still causes SessionList to render when its props need to change.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61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useMemo or useCallback?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61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61"/>
          <p:cNvSpPr/>
          <p:nvPr/>
        </p:nvSpPr>
        <p:spPr>
          <a:xfrm>
            <a:off x="857250" y="876300"/>
            <a:ext cx="3095625" cy="91440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61"/>
          <p:cNvSpPr/>
          <p:nvPr/>
        </p:nvSpPr>
        <p:spPr>
          <a:xfrm>
            <a:off x="1047750" y="1000125"/>
            <a:ext cx="2714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20"/>
              <a:buFont typeface="Courier New"/>
              <a:buNone/>
            </a:pPr>
            <a:r>
              <a:rPr b="1" i="0" lang="en" sz="132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useMemo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61"/>
          <p:cNvSpPr/>
          <p:nvPr/>
        </p:nvSpPr>
        <p:spPr>
          <a:xfrm>
            <a:off x="1123950" y="134302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Reuses a calculated result when expensive recalculation matters.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61"/>
          <p:cNvSpPr/>
          <p:nvPr/>
        </p:nvSpPr>
        <p:spPr>
          <a:xfrm>
            <a:off x="4476750" y="876300"/>
            <a:ext cx="3095625" cy="914400"/>
          </a:xfrm>
          <a:prstGeom prst="roundRect">
            <a:avLst>
              <a:gd fmla="val 8000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61"/>
          <p:cNvSpPr/>
          <p:nvPr/>
        </p:nvSpPr>
        <p:spPr>
          <a:xfrm>
            <a:off x="4667250" y="1000125"/>
            <a:ext cx="2714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20"/>
              <a:buFont typeface="Courier New"/>
              <a:buNone/>
            </a:pPr>
            <a:r>
              <a:rPr b="1" i="0" lang="en" sz="132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useCallback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61"/>
          <p:cNvSpPr/>
          <p:nvPr/>
        </p:nvSpPr>
        <p:spPr>
          <a:xfrm>
            <a:off x="4743450" y="134302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Reuses a function reference when stable identity matters.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61"/>
          <p:cNvSpPr/>
          <p:nvPr/>
        </p:nvSpPr>
        <p:spPr>
          <a:xfrm>
            <a:off x="1000125" y="1952625"/>
            <a:ext cx="6572250" cy="295275"/>
          </a:xfrm>
          <a:prstGeom prst="roundRect">
            <a:avLst>
              <a:gd fmla="val 24774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61"/>
          <p:cNvSpPr/>
          <p:nvPr/>
        </p:nvSpPr>
        <p:spPr>
          <a:xfrm>
            <a:off x="1190625" y="2028825"/>
            <a:ext cx="61912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React Compiler can automate much of this memoization when enabled. Our course project does not enable it.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61"/>
          <p:cNvSpPr/>
          <p:nvPr/>
        </p:nvSpPr>
        <p:spPr>
          <a:xfrm>
            <a:off x="657225" y="2381250"/>
            <a:ext cx="7496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Quick check: Assume setSubmittedQuery is a state setter.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61"/>
          <p:cNvSpPr/>
          <p:nvPr/>
        </p:nvSpPr>
        <p:spPr>
          <a:xfrm>
            <a:off x="657225" y="2628900"/>
            <a:ext cx="4095750" cy="742950"/>
          </a:xfrm>
          <a:prstGeom prst="roundRect">
            <a:avLst>
              <a:gd fmla="val 615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61"/>
          <p:cNvSpPr/>
          <p:nvPr/>
        </p:nvSpPr>
        <p:spPr>
          <a:xfrm>
            <a:off x="794385" y="2711196"/>
            <a:ext cx="3821430" cy="57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handleSearch = useCallback(() =&gt; {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setSubmittedQuery(query);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}, /* ? */);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61"/>
          <p:cNvSpPr/>
          <p:nvPr/>
        </p:nvSpPr>
        <p:spPr>
          <a:xfrm>
            <a:off x="5048250" y="2438400"/>
            <a:ext cx="2381400" cy="276300"/>
          </a:xfrm>
          <a:prstGeom prst="roundRect">
            <a:avLst>
              <a:gd fmla="val 2648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61"/>
          <p:cNvSpPr/>
          <p:nvPr/>
        </p:nvSpPr>
        <p:spPr>
          <a:xfrm>
            <a:off x="5157978" y="2463546"/>
            <a:ext cx="274200" cy="2559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61"/>
          <p:cNvSpPr/>
          <p:nvPr/>
        </p:nvSpPr>
        <p:spPr>
          <a:xfrm>
            <a:off x="5157978" y="2463546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61"/>
          <p:cNvSpPr/>
          <p:nvPr/>
        </p:nvSpPr>
        <p:spPr>
          <a:xfrm>
            <a:off x="5532882" y="2474976"/>
            <a:ext cx="1796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61"/>
          <p:cNvSpPr/>
          <p:nvPr/>
        </p:nvSpPr>
        <p:spPr>
          <a:xfrm>
            <a:off x="5048250" y="2781300"/>
            <a:ext cx="2381250" cy="276225"/>
          </a:xfrm>
          <a:prstGeom prst="roundRect">
            <a:avLst>
              <a:gd fmla="val 2648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61"/>
          <p:cNvSpPr/>
          <p:nvPr/>
        </p:nvSpPr>
        <p:spPr>
          <a:xfrm>
            <a:off x="5157978" y="2815971"/>
            <a:ext cx="274200" cy="2559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61"/>
          <p:cNvSpPr/>
          <p:nvPr/>
        </p:nvSpPr>
        <p:spPr>
          <a:xfrm>
            <a:off x="5157978" y="2815971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61"/>
          <p:cNvSpPr/>
          <p:nvPr/>
        </p:nvSpPr>
        <p:spPr>
          <a:xfrm>
            <a:off x="5532882" y="2817876"/>
            <a:ext cx="1796034" cy="20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[query]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61"/>
          <p:cNvSpPr/>
          <p:nvPr/>
        </p:nvSpPr>
        <p:spPr>
          <a:xfrm>
            <a:off x="5048250" y="3124200"/>
            <a:ext cx="2381250" cy="276225"/>
          </a:xfrm>
          <a:prstGeom prst="roundRect">
            <a:avLst>
              <a:gd fmla="val 2648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61"/>
          <p:cNvSpPr/>
          <p:nvPr/>
        </p:nvSpPr>
        <p:spPr>
          <a:xfrm>
            <a:off x="5157978" y="3149346"/>
            <a:ext cx="274200" cy="2559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61"/>
          <p:cNvSpPr/>
          <p:nvPr/>
        </p:nvSpPr>
        <p:spPr>
          <a:xfrm>
            <a:off x="5157978" y="3149346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61"/>
          <p:cNvSpPr/>
          <p:nvPr/>
        </p:nvSpPr>
        <p:spPr>
          <a:xfrm>
            <a:off x="5532882" y="3160776"/>
            <a:ext cx="1796034" cy="20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[handleSearch]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61"/>
          <p:cNvSpPr/>
          <p:nvPr/>
        </p:nvSpPr>
        <p:spPr>
          <a:xfrm>
            <a:off x="5048250" y="3467100"/>
            <a:ext cx="2381250" cy="276225"/>
          </a:xfrm>
          <a:prstGeom prst="roundRect">
            <a:avLst>
              <a:gd fmla="val 2648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61"/>
          <p:cNvSpPr/>
          <p:nvPr/>
        </p:nvSpPr>
        <p:spPr>
          <a:xfrm>
            <a:off x="5157978" y="3463671"/>
            <a:ext cx="274200" cy="2559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61"/>
          <p:cNvSpPr/>
          <p:nvPr/>
        </p:nvSpPr>
        <p:spPr>
          <a:xfrm>
            <a:off x="5157978" y="3463671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61"/>
          <p:cNvSpPr/>
          <p:nvPr/>
        </p:nvSpPr>
        <p:spPr>
          <a:xfrm>
            <a:off x="5532882" y="3503676"/>
            <a:ext cx="1796034" cy="20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[setSubmittedQuery]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61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61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61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B. [query]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61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61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callback reads query, so its function reference needs to update when query changes.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62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Activity: Repair the Product Directory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62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62"/>
          <p:cNvSpPr/>
          <p:nvPr/>
        </p:nvSpPr>
        <p:spPr>
          <a:xfrm>
            <a:off x="657225" y="1066800"/>
            <a:ext cx="3695700" cy="3114675"/>
          </a:xfrm>
          <a:prstGeom prst="roundRect">
            <a:avLst>
              <a:gd fmla="val 234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62"/>
          <p:cNvSpPr/>
          <p:nvPr/>
        </p:nvSpPr>
        <p:spPr>
          <a:xfrm>
            <a:off x="657225" y="1066800"/>
            <a:ext cx="369570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62"/>
          <p:cNvSpPr/>
          <p:nvPr/>
        </p:nvSpPr>
        <p:spPr>
          <a:xfrm>
            <a:off x="766953" y="1167384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62"/>
          <p:cNvSpPr/>
          <p:nvPr/>
        </p:nvSpPr>
        <p:spPr>
          <a:xfrm>
            <a:off x="913257" y="1167384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62"/>
          <p:cNvSpPr/>
          <p:nvPr/>
        </p:nvSpPr>
        <p:spPr>
          <a:xfrm>
            <a:off x="1059561" y="1167384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62"/>
          <p:cNvSpPr/>
          <p:nvPr/>
        </p:nvSpPr>
        <p:spPr>
          <a:xfrm>
            <a:off x="1160145" y="1112520"/>
            <a:ext cx="30556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Product Directory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62"/>
          <p:cNvSpPr/>
          <p:nvPr/>
        </p:nvSpPr>
        <p:spPr>
          <a:xfrm>
            <a:off x="876681" y="1441704"/>
            <a:ext cx="32385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Product Directory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62"/>
          <p:cNvSpPr/>
          <p:nvPr/>
        </p:nvSpPr>
        <p:spPr>
          <a:xfrm>
            <a:off x="876681" y="1798320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62"/>
          <p:cNvSpPr/>
          <p:nvPr/>
        </p:nvSpPr>
        <p:spPr>
          <a:xfrm>
            <a:off x="876681" y="1981200"/>
            <a:ext cx="2278380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62"/>
          <p:cNvSpPr/>
          <p:nvPr/>
        </p:nvSpPr>
        <p:spPr>
          <a:xfrm>
            <a:off x="995553" y="2045208"/>
            <a:ext cx="20406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62"/>
          <p:cNvSpPr/>
          <p:nvPr/>
        </p:nvSpPr>
        <p:spPr>
          <a:xfrm>
            <a:off x="3145917" y="1981200"/>
            <a:ext cx="941832" cy="256032"/>
          </a:xfrm>
          <a:prstGeom prst="roundRect">
            <a:avLst>
              <a:gd fmla="val 50000" name="adj"/>
            </a:avLst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62"/>
          <p:cNvSpPr/>
          <p:nvPr/>
        </p:nvSpPr>
        <p:spPr>
          <a:xfrm>
            <a:off x="3145917" y="1981200"/>
            <a:ext cx="9418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All categories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62"/>
          <p:cNvSpPr/>
          <p:nvPr/>
        </p:nvSpPr>
        <p:spPr>
          <a:xfrm>
            <a:off x="876681" y="2484120"/>
            <a:ext cx="3256788" cy="411480"/>
          </a:xfrm>
          <a:prstGeom prst="roundRect">
            <a:avLst>
              <a:gd fmla="val 17778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62"/>
          <p:cNvSpPr/>
          <p:nvPr/>
        </p:nvSpPr>
        <p:spPr>
          <a:xfrm>
            <a:off x="1004697" y="2566416"/>
            <a:ext cx="25069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Reusable bottle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62"/>
          <p:cNvSpPr/>
          <p:nvPr/>
        </p:nvSpPr>
        <p:spPr>
          <a:xfrm>
            <a:off x="3484245" y="2566416"/>
            <a:ext cx="54864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62"/>
          <p:cNvSpPr/>
          <p:nvPr/>
        </p:nvSpPr>
        <p:spPr>
          <a:xfrm>
            <a:off x="3484245" y="2566416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62"/>
          <p:cNvSpPr/>
          <p:nvPr/>
        </p:nvSpPr>
        <p:spPr>
          <a:xfrm>
            <a:off x="876681" y="2996184"/>
            <a:ext cx="3256788" cy="411480"/>
          </a:xfrm>
          <a:prstGeom prst="roundRect">
            <a:avLst>
              <a:gd fmla="val 17778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62"/>
          <p:cNvSpPr/>
          <p:nvPr/>
        </p:nvSpPr>
        <p:spPr>
          <a:xfrm>
            <a:off x="1004697" y="3078480"/>
            <a:ext cx="25069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Coffee grinder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62"/>
          <p:cNvSpPr/>
          <p:nvPr/>
        </p:nvSpPr>
        <p:spPr>
          <a:xfrm>
            <a:off x="3484245" y="3078480"/>
            <a:ext cx="54864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62"/>
          <p:cNvSpPr/>
          <p:nvPr/>
        </p:nvSpPr>
        <p:spPr>
          <a:xfrm>
            <a:off x="3484245" y="30784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62"/>
          <p:cNvSpPr/>
          <p:nvPr/>
        </p:nvSpPr>
        <p:spPr>
          <a:xfrm>
            <a:off x="876681" y="3705987"/>
            <a:ext cx="960120" cy="292608"/>
          </a:xfrm>
          <a:prstGeom prst="roundRect">
            <a:avLst>
              <a:gd fmla="val 15625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62"/>
          <p:cNvSpPr/>
          <p:nvPr/>
        </p:nvSpPr>
        <p:spPr>
          <a:xfrm>
            <a:off x="876681" y="3705987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 help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62"/>
          <p:cNvSpPr/>
          <p:nvPr/>
        </p:nvSpPr>
        <p:spPr>
          <a:xfrm>
            <a:off x="4667250" y="1066800"/>
            <a:ext cx="3295650" cy="742950"/>
          </a:xfrm>
          <a:prstGeom prst="roundRect">
            <a:avLst>
              <a:gd fmla="val 9846" name="adj"/>
            </a:avLst>
          </a:prstGeom>
          <a:solidFill>
            <a:srgbClr val="FEF9C3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62"/>
          <p:cNvSpPr/>
          <p:nvPr/>
        </p:nvSpPr>
        <p:spPr>
          <a:xfrm>
            <a:off x="4838700" y="1181100"/>
            <a:ext cx="95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62"/>
          <p:cNvSpPr/>
          <p:nvPr/>
        </p:nvSpPr>
        <p:spPr>
          <a:xfrm>
            <a:off x="4838700" y="1381125"/>
            <a:ext cx="2933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Opening Show help repeats two expensive pieces of work that do not need to run.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62"/>
          <p:cNvSpPr/>
          <p:nvPr/>
        </p:nvSpPr>
        <p:spPr>
          <a:xfrm>
            <a:off x="4667250" y="200025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Your task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62"/>
          <p:cNvSpPr/>
          <p:nvPr/>
        </p:nvSpPr>
        <p:spPr>
          <a:xfrm>
            <a:off x="4705350" y="2314575"/>
            <a:ext cx="26670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62"/>
          <p:cNvSpPr/>
          <p:nvPr/>
        </p:nvSpPr>
        <p:spPr>
          <a:xfrm>
            <a:off x="4705350" y="2314575"/>
            <a:ext cx="2667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62"/>
          <p:cNvSpPr/>
          <p:nvPr/>
        </p:nvSpPr>
        <p:spPr>
          <a:xfrm>
            <a:off x="5067300" y="2286000"/>
            <a:ext cx="27813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Prevent expensive product filtering from repeating when its inputs have not changed.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62"/>
          <p:cNvSpPr/>
          <p:nvPr/>
        </p:nvSpPr>
        <p:spPr>
          <a:xfrm>
            <a:off x="4705350" y="2857500"/>
            <a:ext cx="26670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62"/>
          <p:cNvSpPr/>
          <p:nvPr/>
        </p:nvSpPr>
        <p:spPr>
          <a:xfrm>
            <a:off x="4705350" y="2857500"/>
            <a:ext cx="2667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62"/>
          <p:cNvSpPr/>
          <p:nvPr/>
        </p:nvSpPr>
        <p:spPr>
          <a:xfrm>
            <a:off x="5067300" y="2828925"/>
            <a:ext cx="27813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Preserve the product-selection callback so the memoized results component can skip an unnecessary render.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62"/>
          <p:cNvSpPr/>
          <p:nvPr/>
        </p:nvSpPr>
        <p:spPr>
          <a:xfrm>
            <a:off x="4705350" y="3400425"/>
            <a:ext cx="26670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62"/>
          <p:cNvSpPr/>
          <p:nvPr/>
        </p:nvSpPr>
        <p:spPr>
          <a:xfrm>
            <a:off x="4705350" y="3400425"/>
            <a:ext cx="2667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62"/>
          <p:cNvSpPr/>
          <p:nvPr/>
        </p:nvSpPr>
        <p:spPr>
          <a:xfrm>
            <a:off x="5067300" y="3371850"/>
            <a:ext cx="27813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Verify that search, category changes, and product selection still work correctly.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62"/>
          <p:cNvSpPr/>
          <p:nvPr/>
        </p:nvSpPr>
        <p:spPr>
          <a:xfrm>
            <a:off x="4667250" y="3962400"/>
            <a:ext cx="3295650" cy="371475"/>
          </a:xfrm>
          <a:prstGeom prst="roundRect">
            <a:avLst>
              <a:gd fmla="val 19692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62"/>
          <p:cNvSpPr/>
          <p:nvPr/>
        </p:nvSpPr>
        <p:spPr>
          <a:xfrm>
            <a:off x="4838700" y="4038600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SUCCESS: Show help feels responsive after your changes.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63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 1: State or ref?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63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63"/>
          <p:cNvSpPr/>
          <p:nvPr/>
        </p:nvSpPr>
        <p:spPr>
          <a:xfrm>
            <a:off x="657225" y="1085850"/>
            <a:ext cx="3476625" cy="2381250"/>
          </a:xfrm>
          <a:prstGeom prst="roundRect">
            <a:avLst>
              <a:gd fmla="val 307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63"/>
          <p:cNvSpPr/>
          <p:nvPr/>
        </p:nvSpPr>
        <p:spPr>
          <a:xfrm>
            <a:off x="657225" y="1085850"/>
            <a:ext cx="3476625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63"/>
          <p:cNvSpPr/>
          <p:nvPr/>
        </p:nvSpPr>
        <p:spPr>
          <a:xfrm>
            <a:off x="766953" y="1186434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63"/>
          <p:cNvSpPr/>
          <p:nvPr/>
        </p:nvSpPr>
        <p:spPr>
          <a:xfrm>
            <a:off x="913257" y="1186434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63"/>
          <p:cNvSpPr/>
          <p:nvPr/>
        </p:nvSpPr>
        <p:spPr>
          <a:xfrm>
            <a:off x="1059561" y="1186434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63"/>
          <p:cNvSpPr/>
          <p:nvPr/>
        </p:nvSpPr>
        <p:spPr>
          <a:xfrm>
            <a:off x="1160145" y="1131570"/>
            <a:ext cx="283654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Delivery notes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63"/>
          <p:cNvSpPr/>
          <p:nvPr/>
        </p:nvSpPr>
        <p:spPr>
          <a:xfrm>
            <a:off x="895350" y="147637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Delivery notes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63"/>
          <p:cNvSpPr/>
          <p:nvPr/>
        </p:nvSpPr>
        <p:spPr>
          <a:xfrm>
            <a:off x="895350" y="1885950"/>
            <a:ext cx="2667000" cy="762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63"/>
          <p:cNvSpPr/>
          <p:nvPr/>
        </p:nvSpPr>
        <p:spPr>
          <a:xfrm>
            <a:off x="1028700" y="2028825"/>
            <a:ext cx="2333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Leave at reception...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63"/>
          <p:cNvSpPr/>
          <p:nvPr/>
        </p:nvSpPr>
        <p:spPr>
          <a:xfrm>
            <a:off x="895350" y="2847975"/>
            <a:ext cx="1143000" cy="323850"/>
          </a:xfrm>
          <a:prstGeom prst="roundRect">
            <a:avLst>
              <a:gd fmla="val 14118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63"/>
          <p:cNvSpPr/>
          <p:nvPr/>
        </p:nvSpPr>
        <p:spPr>
          <a:xfrm>
            <a:off x="895350" y="2847975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Focus notes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63"/>
          <p:cNvSpPr/>
          <p:nvPr/>
        </p:nvSpPr>
        <p:spPr>
          <a:xfrm>
            <a:off x="4552950" y="1123950"/>
            <a:ext cx="342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Clicking Focus notes should move browser focus into the text area. What is the most appropriate tool?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63"/>
          <p:cNvSpPr/>
          <p:nvPr/>
        </p:nvSpPr>
        <p:spPr>
          <a:xfrm>
            <a:off x="4552950" y="1666875"/>
            <a:ext cx="34099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63"/>
          <p:cNvSpPr/>
          <p:nvPr/>
        </p:nvSpPr>
        <p:spPr>
          <a:xfrm>
            <a:off x="4662678" y="174917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63"/>
          <p:cNvSpPr/>
          <p:nvPr/>
        </p:nvSpPr>
        <p:spPr>
          <a:xfrm>
            <a:off x="4662678" y="174917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63"/>
          <p:cNvSpPr/>
          <p:nvPr/>
        </p:nvSpPr>
        <p:spPr>
          <a:xfrm>
            <a:off x="5037582" y="1703451"/>
            <a:ext cx="28247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Store whether the text area is focused in state.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63"/>
          <p:cNvSpPr/>
          <p:nvPr/>
        </p:nvSpPr>
        <p:spPr>
          <a:xfrm>
            <a:off x="4552950" y="2114550"/>
            <a:ext cx="34099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63"/>
          <p:cNvSpPr/>
          <p:nvPr/>
        </p:nvSpPr>
        <p:spPr>
          <a:xfrm>
            <a:off x="4662678" y="21968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63"/>
          <p:cNvSpPr/>
          <p:nvPr/>
        </p:nvSpPr>
        <p:spPr>
          <a:xfrm>
            <a:off x="4662678" y="21968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63"/>
          <p:cNvSpPr/>
          <p:nvPr/>
        </p:nvSpPr>
        <p:spPr>
          <a:xfrm>
            <a:off x="5037582" y="2151126"/>
            <a:ext cx="28247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Run an Effect after every render.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63"/>
          <p:cNvSpPr/>
          <p:nvPr/>
        </p:nvSpPr>
        <p:spPr>
          <a:xfrm>
            <a:off x="4552950" y="2562225"/>
            <a:ext cx="34099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63"/>
          <p:cNvSpPr/>
          <p:nvPr/>
        </p:nvSpPr>
        <p:spPr>
          <a:xfrm>
            <a:off x="4662678" y="2644521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63"/>
          <p:cNvSpPr/>
          <p:nvPr/>
        </p:nvSpPr>
        <p:spPr>
          <a:xfrm>
            <a:off x="4662678" y="2644521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63"/>
          <p:cNvSpPr/>
          <p:nvPr/>
        </p:nvSpPr>
        <p:spPr>
          <a:xfrm>
            <a:off x="5037582" y="2598801"/>
            <a:ext cx="28247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Keep a ref to the text area element.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63"/>
          <p:cNvSpPr/>
          <p:nvPr/>
        </p:nvSpPr>
        <p:spPr>
          <a:xfrm>
            <a:off x="4552950" y="3009900"/>
            <a:ext cx="34099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63"/>
          <p:cNvSpPr/>
          <p:nvPr/>
        </p:nvSpPr>
        <p:spPr>
          <a:xfrm>
            <a:off x="4662678" y="30921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63"/>
          <p:cNvSpPr/>
          <p:nvPr/>
        </p:nvSpPr>
        <p:spPr>
          <a:xfrm>
            <a:off x="4662678" y="30921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63"/>
          <p:cNvSpPr/>
          <p:nvPr/>
        </p:nvSpPr>
        <p:spPr>
          <a:xfrm>
            <a:off x="5037582" y="3046476"/>
            <a:ext cx="28247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Store the DOM element in state.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63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63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63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C. Keep a ref to the text area element.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63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63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component needs access to the actual rendered DOM element so it can call its focus behavior.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64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 2: Follow the action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64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64"/>
          <p:cNvSpPr/>
          <p:nvPr/>
        </p:nvSpPr>
        <p:spPr>
          <a:xfrm>
            <a:off x="657225" y="1000125"/>
            <a:ext cx="4000500" cy="2000250"/>
          </a:xfrm>
          <a:prstGeom prst="roundRect">
            <a:avLst>
              <a:gd fmla="val 2286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64"/>
          <p:cNvSpPr/>
          <p:nvPr/>
        </p:nvSpPr>
        <p:spPr>
          <a:xfrm>
            <a:off x="794385" y="1082421"/>
            <a:ext cx="3726180" cy="1835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{ id: "P-1", name: "Passport", packed: false },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{ id: "P-2", name: "Charger", packed: true }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</a:pPr>
            <a:r>
              <a:t/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type: "packed",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itemId: "P-1"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64"/>
          <p:cNvSpPr/>
          <p:nvPr/>
        </p:nvSpPr>
        <p:spPr>
          <a:xfrm>
            <a:off x="4972050" y="10668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should the reducer return?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64"/>
          <p:cNvSpPr/>
          <p:nvPr/>
        </p:nvSpPr>
        <p:spPr>
          <a:xfrm>
            <a:off x="4972050" y="14668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64"/>
          <p:cNvSpPr/>
          <p:nvPr/>
        </p:nvSpPr>
        <p:spPr>
          <a:xfrm>
            <a:off x="5081778" y="15491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64"/>
          <p:cNvSpPr/>
          <p:nvPr/>
        </p:nvSpPr>
        <p:spPr>
          <a:xfrm>
            <a:off x="5081778" y="15491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64"/>
          <p:cNvSpPr/>
          <p:nvPr/>
        </p:nvSpPr>
        <p:spPr>
          <a:xfrm>
            <a:off x="5456682" y="15034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new array where P-1 has packed: true.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64"/>
          <p:cNvSpPr/>
          <p:nvPr/>
        </p:nvSpPr>
        <p:spPr>
          <a:xfrm>
            <a:off x="4972050" y="19240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64"/>
          <p:cNvSpPr/>
          <p:nvPr/>
        </p:nvSpPr>
        <p:spPr>
          <a:xfrm>
            <a:off x="5081778" y="20063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64"/>
          <p:cNvSpPr/>
          <p:nvPr/>
        </p:nvSpPr>
        <p:spPr>
          <a:xfrm>
            <a:off x="5081778" y="20063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64"/>
          <p:cNvSpPr/>
          <p:nvPr/>
        </p:nvSpPr>
        <p:spPr>
          <a:xfrm>
            <a:off x="5456682" y="19606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same array with P-1 mutated directly.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64"/>
          <p:cNvSpPr/>
          <p:nvPr/>
        </p:nvSpPr>
        <p:spPr>
          <a:xfrm>
            <a:off x="4972050" y="23812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64"/>
          <p:cNvSpPr/>
          <p:nvPr/>
        </p:nvSpPr>
        <p:spPr>
          <a:xfrm>
            <a:off x="5081778" y="24635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64"/>
          <p:cNvSpPr/>
          <p:nvPr/>
        </p:nvSpPr>
        <p:spPr>
          <a:xfrm>
            <a:off x="5081778" y="24635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64"/>
          <p:cNvSpPr/>
          <p:nvPr/>
        </p:nvSpPr>
        <p:spPr>
          <a:xfrm>
            <a:off x="5456682" y="24178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new array with P-1 removed.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64"/>
          <p:cNvSpPr/>
          <p:nvPr/>
        </p:nvSpPr>
        <p:spPr>
          <a:xfrm>
            <a:off x="4972050" y="28384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64"/>
          <p:cNvSpPr/>
          <p:nvPr/>
        </p:nvSpPr>
        <p:spPr>
          <a:xfrm>
            <a:off x="5081778" y="29207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64"/>
          <p:cNvSpPr/>
          <p:nvPr/>
        </p:nvSpPr>
        <p:spPr>
          <a:xfrm>
            <a:off x="5081778" y="29207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64"/>
          <p:cNvSpPr/>
          <p:nvPr/>
        </p:nvSpPr>
        <p:spPr>
          <a:xfrm>
            <a:off x="5456682" y="28750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initial checklist.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64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64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64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64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64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action describes that P-1 was packed, so the reducer should return replacement state reflecting that transition.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65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 3: Which reducer is valid?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65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65"/>
          <p:cNvSpPr/>
          <p:nvPr/>
        </p:nvSpPr>
        <p:spPr>
          <a:xfrm>
            <a:off x="657225" y="971550"/>
            <a:ext cx="523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reducer case keeps the reducer pure?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65"/>
          <p:cNvSpPr/>
          <p:nvPr/>
        </p:nvSpPr>
        <p:spPr>
          <a:xfrm>
            <a:off x="657225" y="1352550"/>
            <a:ext cx="3581400" cy="800100"/>
          </a:xfrm>
          <a:prstGeom prst="roundRect">
            <a:avLst>
              <a:gd fmla="val 9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65"/>
          <p:cNvSpPr/>
          <p:nvPr/>
        </p:nvSpPr>
        <p:spPr>
          <a:xfrm>
            <a:off x="766953" y="14348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65"/>
          <p:cNvSpPr/>
          <p:nvPr/>
        </p:nvSpPr>
        <p:spPr>
          <a:xfrm>
            <a:off x="766953" y="14348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65"/>
          <p:cNvSpPr/>
          <p:nvPr/>
        </p:nvSpPr>
        <p:spPr>
          <a:xfrm>
            <a:off x="1141857" y="1389126"/>
            <a:ext cx="2996184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case "saved":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localStorage.setItem("draft", state.text);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return state;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65"/>
          <p:cNvSpPr/>
          <p:nvPr/>
        </p:nvSpPr>
        <p:spPr>
          <a:xfrm>
            <a:off x="4467225" y="1352550"/>
            <a:ext cx="3581400" cy="800100"/>
          </a:xfrm>
          <a:prstGeom prst="roundRect">
            <a:avLst>
              <a:gd fmla="val 9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65"/>
          <p:cNvSpPr/>
          <p:nvPr/>
        </p:nvSpPr>
        <p:spPr>
          <a:xfrm>
            <a:off x="4576953" y="14348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65"/>
          <p:cNvSpPr/>
          <p:nvPr/>
        </p:nvSpPr>
        <p:spPr>
          <a:xfrm>
            <a:off x="4576953" y="14348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65"/>
          <p:cNvSpPr/>
          <p:nvPr/>
        </p:nvSpPr>
        <p:spPr>
          <a:xfrm>
            <a:off x="4951857" y="1389126"/>
            <a:ext cx="2996184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case "saved":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state.saved = true;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return state;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65"/>
          <p:cNvSpPr/>
          <p:nvPr/>
        </p:nvSpPr>
        <p:spPr>
          <a:xfrm>
            <a:off x="657225" y="2362200"/>
            <a:ext cx="3581400" cy="800100"/>
          </a:xfrm>
          <a:prstGeom prst="roundRect">
            <a:avLst>
              <a:gd fmla="val 9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65"/>
          <p:cNvSpPr/>
          <p:nvPr/>
        </p:nvSpPr>
        <p:spPr>
          <a:xfrm>
            <a:off x="766953" y="24444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65"/>
          <p:cNvSpPr/>
          <p:nvPr/>
        </p:nvSpPr>
        <p:spPr>
          <a:xfrm>
            <a:off x="766953" y="24444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65"/>
          <p:cNvSpPr/>
          <p:nvPr/>
        </p:nvSpPr>
        <p:spPr>
          <a:xfrm>
            <a:off x="1141857" y="2398776"/>
            <a:ext cx="2996184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case "saved":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alert("Saved");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return state;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65"/>
          <p:cNvSpPr/>
          <p:nvPr/>
        </p:nvSpPr>
        <p:spPr>
          <a:xfrm>
            <a:off x="4467225" y="2362200"/>
            <a:ext cx="3581400" cy="800100"/>
          </a:xfrm>
          <a:prstGeom prst="roundRect">
            <a:avLst>
              <a:gd fmla="val 9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65"/>
          <p:cNvSpPr/>
          <p:nvPr/>
        </p:nvSpPr>
        <p:spPr>
          <a:xfrm>
            <a:off x="4576953" y="244449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65"/>
          <p:cNvSpPr/>
          <p:nvPr/>
        </p:nvSpPr>
        <p:spPr>
          <a:xfrm>
            <a:off x="4576953" y="244449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65"/>
          <p:cNvSpPr/>
          <p:nvPr/>
        </p:nvSpPr>
        <p:spPr>
          <a:xfrm>
            <a:off x="4951857" y="2398776"/>
            <a:ext cx="2996184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case "saved":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return { ...state, saved: true };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65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65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65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65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65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It calculates and returns replacement state without mutating the current state or performing an external side effect.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66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 4: Recalculate or reuse?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6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6"/>
          <p:cNvSpPr/>
          <p:nvPr/>
        </p:nvSpPr>
        <p:spPr>
          <a:xfrm>
            <a:off x="657225" y="990600"/>
            <a:ext cx="4000500" cy="1943100"/>
          </a:xfrm>
          <a:prstGeom prst="roundRect">
            <a:avLst>
              <a:gd fmla="val 235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66"/>
          <p:cNvSpPr/>
          <p:nvPr/>
        </p:nvSpPr>
        <p:spPr>
          <a:xfrm>
            <a:off x="794385" y="1072896"/>
            <a:ext cx="3726180" cy="177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visibleBooks =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useMemo(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() =&gt;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slowFilterBooks(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books,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selectedGenre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[books, selectedGenre]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6"/>
          <p:cNvSpPr/>
          <p:nvPr/>
        </p:nvSpPr>
        <p:spPr>
          <a:xfrm>
            <a:off x="838200" y="3095625"/>
            <a:ext cx="3429000" cy="590550"/>
          </a:xfrm>
          <a:prstGeom prst="roundRect">
            <a:avLst>
              <a:gd fmla="val 12387" name="adj"/>
            </a:avLst>
          </a:prstGeom>
          <a:solidFill>
            <a:srgbClr val="EFF6FF"/>
          </a:solidFill>
          <a:ln cap="flat" cmpd="sng" w="12700">
            <a:solidFill>
              <a:srgbClr val="D5E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66"/>
          <p:cNvSpPr/>
          <p:nvPr/>
        </p:nvSpPr>
        <p:spPr>
          <a:xfrm>
            <a:off x="1028700" y="3228975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10"/>
              <a:buFont typeface="Arial"/>
              <a:buNone/>
            </a:pPr>
            <a:r>
              <a:rPr b="1" i="0" lang="en" sz="101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books and selectedGenre stay the same. Only isHelpOpen changes.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66"/>
          <p:cNvSpPr/>
          <p:nvPr/>
        </p:nvSpPr>
        <p:spPr>
          <a:xfrm>
            <a:off x="4972050" y="106680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should happen to visibleBooks?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66"/>
          <p:cNvSpPr/>
          <p:nvPr/>
        </p:nvSpPr>
        <p:spPr>
          <a:xfrm>
            <a:off x="4972050" y="14668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66"/>
          <p:cNvSpPr/>
          <p:nvPr/>
        </p:nvSpPr>
        <p:spPr>
          <a:xfrm>
            <a:off x="5081778" y="15491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66"/>
          <p:cNvSpPr/>
          <p:nvPr/>
        </p:nvSpPr>
        <p:spPr>
          <a:xfrm>
            <a:off x="5081778" y="15491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6"/>
          <p:cNvSpPr/>
          <p:nvPr/>
        </p:nvSpPr>
        <p:spPr>
          <a:xfrm>
            <a:off x="5456682" y="15034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calculation must run because every render clears useMemo.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66"/>
          <p:cNvSpPr/>
          <p:nvPr/>
        </p:nvSpPr>
        <p:spPr>
          <a:xfrm>
            <a:off x="4972050" y="19240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66"/>
          <p:cNvSpPr/>
          <p:nvPr/>
        </p:nvSpPr>
        <p:spPr>
          <a:xfrm>
            <a:off x="5081778" y="20063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66"/>
          <p:cNvSpPr/>
          <p:nvPr/>
        </p:nvSpPr>
        <p:spPr>
          <a:xfrm>
            <a:off x="5081778" y="20063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66"/>
          <p:cNvSpPr/>
          <p:nvPr/>
        </p:nvSpPr>
        <p:spPr>
          <a:xfrm>
            <a:off x="5456682" y="19606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can reuse the previous calculated result.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66"/>
          <p:cNvSpPr/>
          <p:nvPr/>
        </p:nvSpPr>
        <p:spPr>
          <a:xfrm>
            <a:off x="4972050" y="23812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66"/>
          <p:cNvSpPr/>
          <p:nvPr/>
        </p:nvSpPr>
        <p:spPr>
          <a:xfrm>
            <a:off x="5081778" y="24635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66"/>
          <p:cNvSpPr/>
          <p:nvPr/>
        </p:nvSpPr>
        <p:spPr>
          <a:xfrm>
            <a:off x="5081778" y="24635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66"/>
          <p:cNvSpPr/>
          <p:nvPr/>
        </p:nvSpPr>
        <p:spPr>
          <a:xfrm>
            <a:off x="5456682" y="24178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visibleBooks must move into state.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66"/>
          <p:cNvSpPr/>
          <p:nvPr/>
        </p:nvSpPr>
        <p:spPr>
          <a:xfrm>
            <a:off x="4972050" y="28384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66"/>
          <p:cNvSpPr/>
          <p:nvPr/>
        </p:nvSpPr>
        <p:spPr>
          <a:xfrm>
            <a:off x="5081778" y="29207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66"/>
          <p:cNvSpPr/>
          <p:nvPr/>
        </p:nvSpPr>
        <p:spPr>
          <a:xfrm>
            <a:off x="5081778" y="29207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66"/>
          <p:cNvSpPr/>
          <p:nvPr/>
        </p:nvSpPr>
        <p:spPr>
          <a:xfrm>
            <a:off x="5456682" y="28750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component should not render at all.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66"/>
          <p:cNvSpPr/>
          <p:nvPr/>
        </p:nvSpPr>
        <p:spPr>
          <a:xfrm>
            <a:off x="657225" y="3956050"/>
            <a:ext cx="7496100" cy="600000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66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66"/>
          <p:cNvSpPr/>
          <p:nvPr/>
        </p:nvSpPr>
        <p:spPr>
          <a:xfrm>
            <a:off x="1476375" y="4051300"/>
            <a:ext cx="6191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66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66"/>
          <p:cNvSpPr/>
          <p:nvPr/>
        </p:nvSpPr>
        <p:spPr>
          <a:xfrm>
            <a:off x="1285875" y="42418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values used by the memoized calculation have not changed, so its previous result can be reused.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67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 5: Why did the child render?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67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67"/>
          <p:cNvSpPr/>
          <p:nvPr/>
        </p:nvSpPr>
        <p:spPr>
          <a:xfrm>
            <a:off x="657225" y="1000125"/>
            <a:ext cx="3790950" cy="904875"/>
          </a:xfrm>
          <a:prstGeom prst="roundRect">
            <a:avLst>
              <a:gd fmla="val 505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67"/>
          <p:cNvSpPr/>
          <p:nvPr/>
        </p:nvSpPr>
        <p:spPr>
          <a:xfrm>
            <a:off x="794385" y="1082421"/>
            <a:ext cx="3516630" cy="740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&lt;ResultList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results={visibleResults}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onChoose={handleChoose}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67"/>
          <p:cNvSpPr/>
          <p:nvPr/>
        </p:nvSpPr>
        <p:spPr>
          <a:xfrm>
            <a:off x="838200" y="2171700"/>
            <a:ext cx="1571625" cy="742950"/>
          </a:xfrm>
          <a:prstGeom prst="roundRect">
            <a:avLst>
              <a:gd fmla="val 9846" name="adj"/>
            </a:avLst>
          </a:prstGeom>
          <a:solidFill>
            <a:srgbClr val="DCFCE7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67"/>
          <p:cNvSpPr/>
          <p:nvPr/>
        </p:nvSpPr>
        <p:spPr>
          <a:xfrm>
            <a:off x="981075" y="2314575"/>
            <a:ext cx="1285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ourier New"/>
              <a:buNone/>
            </a:pPr>
            <a:r>
              <a:rPr b="1" i="0" lang="en" sz="100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results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67"/>
          <p:cNvSpPr/>
          <p:nvPr/>
        </p:nvSpPr>
        <p:spPr>
          <a:xfrm>
            <a:off x="981075" y="2600325"/>
            <a:ext cx="1285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same reference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67"/>
          <p:cNvSpPr/>
          <p:nvPr/>
        </p:nvSpPr>
        <p:spPr>
          <a:xfrm>
            <a:off x="2647950" y="2171700"/>
            <a:ext cx="1571625" cy="742950"/>
          </a:xfrm>
          <a:prstGeom prst="roundRect">
            <a:avLst>
              <a:gd fmla="val 9846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67"/>
          <p:cNvSpPr/>
          <p:nvPr/>
        </p:nvSpPr>
        <p:spPr>
          <a:xfrm>
            <a:off x="2790825" y="2314575"/>
            <a:ext cx="1285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00"/>
              <a:buFont typeface="Courier New"/>
              <a:buNone/>
            </a:pPr>
            <a:r>
              <a:rPr b="1" i="0" lang="en" sz="1000" u="none" cap="none" strike="noStrike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onChoose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67"/>
          <p:cNvSpPr/>
          <p:nvPr/>
        </p:nvSpPr>
        <p:spPr>
          <a:xfrm>
            <a:off x="2790825" y="2600325"/>
            <a:ext cx="1285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new function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67"/>
          <p:cNvSpPr/>
          <p:nvPr/>
        </p:nvSpPr>
        <p:spPr>
          <a:xfrm>
            <a:off x="4972050" y="106680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can ResultList still render again?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67"/>
          <p:cNvSpPr/>
          <p:nvPr/>
        </p:nvSpPr>
        <p:spPr>
          <a:xfrm>
            <a:off x="4972050" y="14668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67"/>
          <p:cNvSpPr/>
          <p:nvPr/>
        </p:nvSpPr>
        <p:spPr>
          <a:xfrm>
            <a:off x="5081778" y="15491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67"/>
          <p:cNvSpPr/>
          <p:nvPr/>
        </p:nvSpPr>
        <p:spPr>
          <a:xfrm>
            <a:off x="5081778" y="15491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67"/>
          <p:cNvSpPr/>
          <p:nvPr/>
        </p:nvSpPr>
        <p:spPr>
          <a:xfrm>
            <a:off x="5456682" y="15034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useMemo always forces child components to render.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67"/>
          <p:cNvSpPr/>
          <p:nvPr/>
        </p:nvSpPr>
        <p:spPr>
          <a:xfrm>
            <a:off x="4972050" y="19240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67"/>
          <p:cNvSpPr/>
          <p:nvPr/>
        </p:nvSpPr>
        <p:spPr>
          <a:xfrm>
            <a:off x="5081778" y="20063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67"/>
          <p:cNvSpPr/>
          <p:nvPr/>
        </p:nvSpPr>
        <p:spPr>
          <a:xfrm>
            <a:off x="5081778" y="20063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67"/>
          <p:cNvSpPr/>
          <p:nvPr/>
        </p:nvSpPr>
        <p:spPr>
          <a:xfrm>
            <a:off x="5456682" y="19606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Memoized children ignore all function props.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67"/>
          <p:cNvSpPr/>
          <p:nvPr/>
        </p:nvSpPr>
        <p:spPr>
          <a:xfrm>
            <a:off x="4972050" y="23812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67"/>
          <p:cNvSpPr/>
          <p:nvPr/>
        </p:nvSpPr>
        <p:spPr>
          <a:xfrm>
            <a:off x="5081778" y="24635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67"/>
          <p:cNvSpPr/>
          <p:nvPr/>
        </p:nvSpPr>
        <p:spPr>
          <a:xfrm>
            <a:off x="5081778" y="24635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67"/>
          <p:cNvSpPr/>
          <p:nvPr/>
        </p:nvSpPr>
        <p:spPr>
          <a:xfrm>
            <a:off x="5456682" y="24178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onChoose now refers to a different function.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67"/>
          <p:cNvSpPr/>
          <p:nvPr/>
        </p:nvSpPr>
        <p:spPr>
          <a:xfrm>
            <a:off x="4972050" y="2838450"/>
            <a:ext cx="2990850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67"/>
          <p:cNvSpPr/>
          <p:nvPr/>
        </p:nvSpPr>
        <p:spPr>
          <a:xfrm>
            <a:off x="5081778" y="2920746"/>
            <a:ext cx="274320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67"/>
          <p:cNvSpPr/>
          <p:nvPr/>
        </p:nvSpPr>
        <p:spPr>
          <a:xfrm>
            <a:off x="5081778" y="292074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67"/>
          <p:cNvSpPr/>
          <p:nvPr/>
        </p:nvSpPr>
        <p:spPr>
          <a:xfrm>
            <a:off x="5456682" y="2875026"/>
            <a:ext cx="2405634" cy="288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Any parent render must always render every child.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67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9143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67"/>
          <p:cNvSpPr/>
          <p:nvPr/>
        </p:nvSpPr>
        <p:spPr>
          <a:xfrm>
            <a:off x="838200" y="40386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67"/>
          <p:cNvSpPr/>
          <p:nvPr/>
        </p:nvSpPr>
        <p:spPr>
          <a:xfrm>
            <a:off x="1476375" y="4038600"/>
            <a:ext cx="619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67"/>
          <p:cNvSpPr/>
          <p:nvPr/>
        </p:nvSpPr>
        <p:spPr>
          <a:xfrm>
            <a:off x="838200" y="426720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67"/>
          <p:cNvSpPr/>
          <p:nvPr/>
        </p:nvSpPr>
        <p:spPr>
          <a:xfrm>
            <a:off x="1285875" y="4229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 newly created function has a different identity, so the child receives a changed prop.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68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Homework: Delivery Tracker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68"/>
          <p:cNvSpPr/>
          <p:nvPr/>
        </p:nvSpPr>
        <p:spPr>
          <a:xfrm>
            <a:off x="552450" y="685800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HOMEWORK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68"/>
          <p:cNvSpPr/>
          <p:nvPr/>
        </p:nvSpPr>
        <p:spPr>
          <a:xfrm>
            <a:off x="657225" y="1066800"/>
            <a:ext cx="3829050" cy="3171825"/>
          </a:xfrm>
          <a:prstGeom prst="roundRect">
            <a:avLst>
              <a:gd fmla="val 230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68"/>
          <p:cNvSpPr/>
          <p:nvPr/>
        </p:nvSpPr>
        <p:spPr>
          <a:xfrm>
            <a:off x="657225" y="1066800"/>
            <a:ext cx="3829050" cy="31089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68"/>
          <p:cNvSpPr/>
          <p:nvPr/>
        </p:nvSpPr>
        <p:spPr>
          <a:xfrm>
            <a:off x="766953" y="1167384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68"/>
          <p:cNvSpPr/>
          <p:nvPr/>
        </p:nvSpPr>
        <p:spPr>
          <a:xfrm>
            <a:off x="913257" y="1167384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68"/>
          <p:cNvSpPr/>
          <p:nvPr/>
        </p:nvSpPr>
        <p:spPr>
          <a:xfrm>
            <a:off x="1059561" y="1167384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68"/>
          <p:cNvSpPr/>
          <p:nvPr/>
        </p:nvSpPr>
        <p:spPr>
          <a:xfrm>
            <a:off x="1160145" y="1112520"/>
            <a:ext cx="31889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Delivery Tracker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68"/>
          <p:cNvSpPr/>
          <p:nvPr/>
        </p:nvSpPr>
        <p:spPr>
          <a:xfrm>
            <a:off x="876681" y="1441704"/>
            <a:ext cx="33718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Delivery Tracker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68"/>
          <p:cNvSpPr/>
          <p:nvPr/>
        </p:nvSpPr>
        <p:spPr>
          <a:xfrm>
            <a:off x="876681" y="1889760"/>
            <a:ext cx="3390138" cy="548640"/>
          </a:xfrm>
          <a:prstGeom prst="roundRect">
            <a:avLst>
              <a:gd fmla="val 1333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68"/>
          <p:cNvSpPr/>
          <p:nvPr/>
        </p:nvSpPr>
        <p:spPr>
          <a:xfrm>
            <a:off x="1004697" y="1962912"/>
            <a:ext cx="19545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Aarav Mehta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68"/>
          <p:cNvSpPr/>
          <p:nvPr/>
        </p:nvSpPr>
        <p:spPr>
          <a:xfrm>
            <a:off x="2913507" y="1962912"/>
            <a:ext cx="1252728" cy="256032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68"/>
          <p:cNvSpPr/>
          <p:nvPr/>
        </p:nvSpPr>
        <p:spPr>
          <a:xfrm>
            <a:off x="2913507" y="1962912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Pending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68"/>
          <p:cNvSpPr/>
          <p:nvPr/>
        </p:nvSpPr>
        <p:spPr>
          <a:xfrm>
            <a:off x="1004697" y="2209800"/>
            <a:ext cx="30975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Move next ]   [ Remove ]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68"/>
          <p:cNvSpPr/>
          <p:nvPr/>
        </p:nvSpPr>
        <p:spPr>
          <a:xfrm>
            <a:off x="876681" y="2575560"/>
            <a:ext cx="3390138" cy="548640"/>
          </a:xfrm>
          <a:prstGeom prst="roundRect">
            <a:avLst>
              <a:gd fmla="val 1333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68"/>
          <p:cNvSpPr/>
          <p:nvPr/>
        </p:nvSpPr>
        <p:spPr>
          <a:xfrm>
            <a:off x="1004697" y="2648712"/>
            <a:ext cx="19545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Maya Kapoor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68"/>
          <p:cNvSpPr/>
          <p:nvPr/>
        </p:nvSpPr>
        <p:spPr>
          <a:xfrm>
            <a:off x="2913507" y="2648712"/>
            <a:ext cx="1252728" cy="256032"/>
          </a:xfrm>
          <a:prstGeom prst="roundRect">
            <a:avLst>
              <a:gd fmla="val 50000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68"/>
          <p:cNvSpPr/>
          <p:nvPr/>
        </p:nvSpPr>
        <p:spPr>
          <a:xfrm>
            <a:off x="2913507" y="2648712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Out for delivery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68"/>
          <p:cNvSpPr/>
          <p:nvPr/>
        </p:nvSpPr>
        <p:spPr>
          <a:xfrm>
            <a:off x="1004697" y="2895600"/>
            <a:ext cx="30975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Mark delivered ]   [ Remove ]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68"/>
          <p:cNvSpPr/>
          <p:nvPr/>
        </p:nvSpPr>
        <p:spPr>
          <a:xfrm>
            <a:off x="876681" y="3261360"/>
            <a:ext cx="3390138" cy="548640"/>
          </a:xfrm>
          <a:prstGeom prst="roundRect">
            <a:avLst>
              <a:gd fmla="val 1333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68"/>
          <p:cNvSpPr/>
          <p:nvPr/>
        </p:nvSpPr>
        <p:spPr>
          <a:xfrm>
            <a:off x="1004697" y="3334512"/>
            <a:ext cx="19545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Rohan Iyer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68"/>
          <p:cNvSpPr/>
          <p:nvPr/>
        </p:nvSpPr>
        <p:spPr>
          <a:xfrm>
            <a:off x="2913507" y="3334512"/>
            <a:ext cx="1252728" cy="256032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68"/>
          <p:cNvSpPr/>
          <p:nvPr/>
        </p:nvSpPr>
        <p:spPr>
          <a:xfrm>
            <a:off x="2913507" y="3334512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Delivered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68"/>
          <p:cNvSpPr/>
          <p:nvPr/>
        </p:nvSpPr>
        <p:spPr>
          <a:xfrm>
            <a:off x="1004697" y="3581400"/>
            <a:ext cx="30975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[ Remove ]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68"/>
          <p:cNvSpPr/>
          <p:nvPr/>
        </p:nvSpPr>
        <p:spPr>
          <a:xfrm>
            <a:off x="4810125" y="1114425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Build a small delivery tracker using React, TypeScript, and useReducer.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68"/>
          <p:cNvSpPr/>
          <p:nvPr/>
        </p:nvSpPr>
        <p:spPr>
          <a:xfrm>
            <a:off x="4810125" y="165735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Required interactions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68"/>
          <p:cNvSpPr/>
          <p:nvPr/>
        </p:nvSpPr>
        <p:spPr>
          <a:xfrm>
            <a:off x="4838700" y="1986915"/>
            <a:ext cx="54864" cy="54864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68"/>
          <p:cNvSpPr/>
          <p:nvPr/>
        </p:nvSpPr>
        <p:spPr>
          <a:xfrm>
            <a:off x="4957572" y="1895475"/>
            <a:ext cx="2881503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move Pending to Out for delivery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68"/>
          <p:cNvSpPr/>
          <p:nvPr/>
        </p:nvSpPr>
        <p:spPr>
          <a:xfrm>
            <a:off x="4838700" y="2234565"/>
            <a:ext cx="54864" cy="54864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68"/>
          <p:cNvSpPr/>
          <p:nvPr/>
        </p:nvSpPr>
        <p:spPr>
          <a:xfrm>
            <a:off x="4957572" y="2143125"/>
            <a:ext cx="2881503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mark a delivery Delivered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68"/>
          <p:cNvSpPr/>
          <p:nvPr/>
        </p:nvSpPr>
        <p:spPr>
          <a:xfrm>
            <a:off x="4838700" y="2482215"/>
            <a:ext cx="54864" cy="54864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68"/>
          <p:cNvSpPr/>
          <p:nvPr/>
        </p:nvSpPr>
        <p:spPr>
          <a:xfrm>
            <a:off x="4957572" y="2390775"/>
            <a:ext cx="2881503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remove a delivery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68"/>
          <p:cNvSpPr/>
          <p:nvPr/>
        </p:nvSpPr>
        <p:spPr>
          <a:xfrm>
            <a:off x="4838700" y="2729865"/>
            <a:ext cx="54864" cy="54864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68"/>
          <p:cNvSpPr/>
          <p:nvPr/>
        </p:nvSpPr>
        <p:spPr>
          <a:xfrm>
            <a:off x="4957572" y="2638425"/>
            <a:ext cx="2881503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reset to the initial data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68"/>
          <p:cNvSpPr/>
          <p:nvPr/>
        </p:nvSpPr>
        <p:spPr>
          <a:xfrm>
            <a:off x="4810125" y="302895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68"/>
          <p:cNvSpPr/>
          <p:nvPr/>
        </p:nvSpPr>
        <p:spPr>
          <a:xfrm>
            <a:off x="4838700" y="3358515"/>
            <a:ext cx="54864" cy="54864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68"/>
          <p:cNvSpPr/>
          <p:nvPr/>
        </p:nvSpPr>
        <p:spPr>
          <a:xfrm>
            <a:off x="4957572" y="3267075"/>
            <a:ext cx="2881503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manage the collection with useReducer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68"/>
          <p:cNvSpPr/>
          <p:nvPr/>
        </p:nvSpPr>
        <p:spPr>
          <a:xfrm>
            <a:off x="4838700" y="3606165"/>
            <a:ext cx="54864" cy="54864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68"/>
          <p:cNvSpPr/>
          <p:nvPr/>
        </p:nvSpPr>
        <p:spPr>
          <a:xfrm>
            <a:off x="4957572" y="3514725"/>
            <a:ext cx="2881503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define a typed action union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68"/>
          <p:cNvSpPr/>
          <p:nvPr/>
        </p:nvSpPr>
        <p:spPr>
          <a:xfrm>
            <a:off x="4838700" y="3853815"/>
            <a:ext cx="54864" cy="54864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68"/>
          <p:cNvSpPr/>
          <p:nvPr/>
        </p:nvSpPr>
        <p:spPr>
          <a:xfrm>
            <a:off x="4957572" y="3762375"/>
            <a:ext cx="2881503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dispatch from event handlers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68"/>
          <p:cNvSpPr/>
          <p:nvPr/>
        </p:nvSpPr>
        <p:spPr>
          <a:xfrm>
            <a:off x="4838700" y="4101465"/>
            <a:ext cx="54864" cy="54864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68"/>
          <p:cNvSpPr/>
          <p:nvPr/>
        </p:nvSpPr>
        <p:spPr>
          <a:xfrm>
            <a:off x="4957572" y="4010025"/>
            <a:ext cx="2881503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keep the reducer pure and immutable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