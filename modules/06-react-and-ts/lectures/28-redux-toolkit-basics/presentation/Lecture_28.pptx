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b1a54887_3_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bb1a54887_3_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bb1a54887_3_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b1a54887_3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bb1a54887_3_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bb1a54887_3_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b1a54887_3_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fbb1a54887_3_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bb1a54887_3_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b1a54887_3_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bb1a54887_3_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bb1a54887_3_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b1a54887_3_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bb1a54887_3_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bb1a54887_3_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b1a54887_3_1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bb1a54887_3_10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bb1a54887_3_10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b1a54887_3_1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bb1a54887_3_1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bb1a54887_3_1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b1a54887_3_1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bb1a54887_3_1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bb1a54887_3_1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bb1a54887_3_1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bb1a54887_3_1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bb1a54887_3_1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bb1a54887_3_1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fbb1a54887_3_1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bb1a54887_3_1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bb1a54887_3_1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fbb1a54887_3_1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bb1a54887_3_1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bb1a54887_3_1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bb1a54887_3_1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bb1a54887_3_1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b1a54887_3_1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bb1a54887_3_1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bb1a54887_3_1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b1a54887_3_2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fbb1a54887_3_2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bb1a54887_3_2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b1a54887_3_2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fbb1a54887_3_2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bb1a54887_3_2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b1a54887_3_2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fbb1a54887_3_2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bb1a54887_3_2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bb1a54887_3_2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fbb1a54887_3_2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bb1a54887_3_2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bb1a54887_3_2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fbb1a54887_3_2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fbb1a54887_3_2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bb1a54887_3_2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fbb1a54887_3_2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bb1a54887_3_2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bb1a54887_3_2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bb1a54887_3_2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bb1a54887_3_2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bb1a54887_3_3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fbb1a54887_3_30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bb1a54887_3_30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bb1a54887_3_3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fbb1a54887_3_3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bb1a54887_3_3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bb1a54887_3_3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fbb1a54887_3_3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bb1a54887_3_3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bb1a54887_3_3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fbb1a54887_3_3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bb1a54887_3_3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bb1a54887_3_3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fbb1a54887_3_34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bb1a54887_3_34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bb1a54887_3_3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fbb1a54887_3_3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bb1a54887_3_3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bb1a54887_3_3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fbb1a54887_3_36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fbb1a54887_3_36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bb1a54887_3_3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fbb1a54887_3_37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bb1a54887_3_37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b1a54887_3_3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fbb1a54887_3_3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bb1a54887_3_3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bb1a54887_3_3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fbb1a54887_3_3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bb1a54887_3_3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bb1a54887_3_4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fbb1a54887_3_4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bb1a54887_3_4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bb1a54887_3_4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fbb1a54887_3_4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bb1a54887_3_4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bb1a54887_3_4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fbb1a54887_3_4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fbb1a54887_3_4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bb1a54887_3_4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fbb1a54887_3_4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fbb1a54887_3_4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bb1a54887_3_4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fbb1a54887_3_4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bb1a54887_3_4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bb1a54887_3_4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fbb1a54887_3_4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fbb1a54887_3_4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bb1a54887_3_4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fbb1a54887_3_4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bb1a54887_3_4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bb1a54887_3_5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fbb1a54887_3_5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bb1a54887_3_5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bb1a54887_3_5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fbb1a54887_3_5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fbb1a54887_3_5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fbb1a54887_3_5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fbb1a54887_3_5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fbb1a54887_3_5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bb1a54887_3_5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fbb1a54887_3_5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fbb1a54887_3_5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bb1a54887_3_5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fbb1a54887_3_5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fbb1a54887_3_5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bb1a54887_3_5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fbb1a54887_3_5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fbb1a54887_3_5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fbb1a54887_3_5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fbb1a54887_3_5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bb1a54887_3_5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bb1a54887_3_5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fbb1a54887_3_5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fbb1a54887_3_5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fbb1a54887_3_6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fbb1a54887_3_6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fbb1a54887_3_6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B_MASTER">
  <p:cSld name="PB_MASTER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585216" y="640080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30"/>
              <a:buFont typeface="Arial"/>
              <a:buNone/>
            </a:pPr>
            <a:r>
              <a:rPr b="1" i="0" lang="en" sz="73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React &amp; TypeScript | Lecture 28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585216" y="950976"/>
            <a:ext cx="44805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 management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with Redux Toolkit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603504" y="2258568"/>
            <a:ext cx="46634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260"/>
              <a:buFont typeface="Arial"/>
              <a:buNone/>
            </a:pPr>
            <a:r>
              <a:rPr b="0" i="0" lang="en" sz="126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Organize shared application state with a Redux store, slices, selectors, and dispatched actions.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585216" y="3044952"/>
            <a:ext cx="1298448" cy="201168"/>
          </a:xfrm>
          <a:prstGeom prst="rect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Redux Toolkit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2002536" y="3044952"/>
            <a:ext cx="1298448" cy="201168"/>
          </a:xfrm>
          <a:prstGeom prst="rect">
            <a:avLst/>
          </a:prstGeom>
          <a:solidFill>
            <a:srgbClr val="F1E8FF"/>
          </a:solidFill>
          <a:ln cap="flat" cmpd="sng" w="9525">
            <a:solidFill>
              <a:srgbClr val="F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42A6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6B42A6"/>
                </a:solidFill>
                <a:latin typeface="Arial"/>
                <a:ea typeface="Arial"/>
                <a:cs typeface="Arial"/>
                <a:sym typeface="Arial"/>
              </a:rPr>
              <a:t>store &amp; slices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3419856" y="3044952"/>
            <a:ext cx="1207008" cy="201168"/>
          </a:xfrm>
          <a:prstGeom prst="rect">
            <a:avLst/>
          </a:prstGeom>
          <a:solidFill>
            <a:srgbClr val="DBF7E7"/>
          </a:solidFill>
          <a:ln cap="flat" cmpd="sng" w="9525">
            <a:solidFill>
              <a:srgbClr val="DB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useSelector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736592" y="3044952"/>
            <a:ext cx="1261872" cy="201168"/>
          </a:xfrm>
          <a:prstGeom prst="rect">
            <a:avLst/>
          </a:prstGeom>
          <a:solidFill>
            <a:srgbClr val="FFF3C4"/>
          </a:solidFill>
          <a:ln cap="flat" cmpd="sng" w="9525">
            <a:solidFill>
              <a:srgbClr val="FFF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useDispatch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715000" y="1097280"/>
            <a:ext cx="1097280" cy="658368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UI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component event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858000" y="124358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7223760" y="1097280"/>
            <a:ext cx="1225296" cy="65836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Toolkit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store + slices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7680960" y="182880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7150593" y="2231137"/>
            <a:ext cx="1371600" cy="65850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selected state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re-renders UI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Today's plan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713232" y="932688"/>
            <a:ext cx="7726680" cy="502920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896112" y="1051560"/>
            <a:ext cx="420624" cy="256032"/>
          </a:xfrm>
          <a:prstGeom prst="rect">
            <a:avLst/>
          </a:prstGeom>
          <a:solidFill>
            <a:srgbClr val="1D4C9B"/>
          </a:solidFill>
          <a:ln cap="flat" cmpd="sng" w="12700">
            <a:solidFill>
              <a:srgbClr val="1D4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536192" y="106984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Recognize the problem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4114800" y="10698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Identify when a growing shared-state feature needs more structure.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713232" y="1609344"/>
            <a:ext cx="77266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896112" y="1728216"/>
            <a:ext cx="420624" cy="256032"/>
          </a:xfrm>
          <a:prstGeom prst="rect">
            <a:avLst/>
          </a:prstGeom>
          <a:solidFill>
            <a:srgbClr val="1D4C9B"/>
          </a:solidFill>
          <a:ln cap="flat" cmpd="sng" w="12700">
            <a:solidFill>
              <a:srgbClr val="1D4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536192" y="174650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Understand Redux data flow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114800" y="17465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Follow actions, reducer logic, the store, and selected state.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713232" y="2286000"/>
            <a:ext cx="7726680" cy="502920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896112" y="2404872"/>
            <a:ext cx="420624" cy="256032"/>
          </a:xfrm>
          <a:prstGeom prst="rect">
            <a:avLst/>
          </a:prstGeom>
          <a:solidFill>
            <a:srgbClr val="1D4C9B"/>
          </a:solidFill>
          <a:ln cap="flat" cmpd="sng" w="12700">
            <a:solidFill>
              <a:srgbClr val="1D4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536192" y="242316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Build the Redux state layer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114800" y="24231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Create a typed slice and configure the Redux store.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13232" y="2962656"/>
            <a:ext cx="77266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896112" y="3081528"/>
            <a:ext cx="420624" cy="256032"/>
          </a:xfrm>
          <a:prstGeom prst="rect">
            <a:avLst/>
          </a:prstGeom>
          <a:solidFill>
            <a:srgbClr val="1D4C9B"/>
          </a:solidFill>
          <a:ln cap="flat" cmpd="sng" w="12700">
            <a:solidFill>
              <a:srgbClr val="1D4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536192" y="3099816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Connect React to the store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114800" y="309981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Read state and dispatch updates from React components.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713232" y="3639312"/>
            <a:ext cx="7726680" cy="502920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896112" y="3758184"/>
            <a:ext cx="420624" cy="256032"/>
          </a:xfrm>
          <a:prstGeom prst="rect">
            <a:avLst/>
          </a:prstGeom>
          <a:solidFill>
            <a:srgbClr val="1D4C9B"/>
          </a:solidFill>
          <a:ln cap="flat" cmpd="sng" w="12700">
            <a:solidFill>
              <a:srgbClr val="1D4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536192" y="37764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Apply the complete pattern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114800" y="37764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Build, trace, and transfer the pattern to another feature.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Warm-up 1: Who still owns this state?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85216" y="100584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20"/>
              <a:buFont typeface="Arial"/>
              <a:buNone/>
            </a:pPr>
            <a:r>
              <a:rPr lang="en" sz="1020">
                <a:solidFill>
                  <a:srgbClr val="5D6678"/>
                </a:solidFill>
              </a:rPr>
              <a:t>Our last lecture</a:t>
            </a:r>
            <a:r>
              <a:rPr b="0" i="0" lang="en" sz="102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 ended with one shared display preference.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85216" y="1335024"/>
            <a:ext cx="3895344" cy="22128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function App() {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const [displayMode, setDisplayMode] =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useState&lt;DisplayMode&gt;("comfortable");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const displayPreferences = {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displayMode,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changeDisplayMode: setDisplayMode,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return (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&lt;DisplayPreferencesContext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value={displayPreferences}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&gt;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{/* descendants */}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&lt;/DisplayPreferencesContext&gt;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736592" y="10058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A distant component can later read: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736592" y="1335024"/>
            <a:ext cx="3584448" cy="530352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preferences =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useContext(DisplayPreferencesContext);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736592" y="2048256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After adding Context, where is the changing displayMode value still owned?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736592" y="2633472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5129784" y="2633472"/>
            <a:ext cx="3227832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Inside the Context object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736592" y="2980944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129784" y="2980944"/>
            <a:ext cx="3227832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Inside every component that calls useContext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736592" y="3328416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5129784" y="3328416"/>
            <a:ext cx="3227832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 App, where the useState call lives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736592" y="3675888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5129784" y="3675888"/>
            <a:ext cx="3227832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Inside React Router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Answer: C — App still owns the state. Context changed how descendants access the shared value; it did not create a second displayMode state or move ownership into the consumer.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Warm-up 2: Trace the reducer update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585216" y="932688"/>
            <a:ext cx="6217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You have already used reducer logic to calculate the next state from an action.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85216" y="1243584"/>
            <a:ext cx="2423160" cy="1234440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type ListState = {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selectedIds: string[];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t/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type ListAction = {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type: "added";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id: string;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246120" y="1243584"/>
            <a:ext cx="1353312" cy="100584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{ selectedIds: ["A"] }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937760" y="1243584"/>
            <a:ext cx="1517904" cy="1005840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0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{ type: "added", id: "B" }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839712" y="1243584"/>
            <a:ext cx="1325880" cy="100584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Reducer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calculates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next state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85216" y="2688336"/>
            <a:ext cx="4069080" cy="115214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if (action.type === "added") {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return {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...state,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selectedIds: [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...state.selectedIds,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action.id,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10"/>
              <a:buFont typeface="Courier New"/>
              <a:buNone/>
            </a:pPr>
            <a:r>
              <a:rPr b="0" i="0" lang="en" sz="7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892040" y="283464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What should selectedIds contain in the subsequent state?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Write the resulting array before revealing the answer.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Answer: ["A", "B"]. dispatch supplies an action describing what happened; the reducer uses current state and the action to calculate next state.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Warm-up 3: Which state should stay local?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585216" y="9326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Conference Hub contains three changing values: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585216" y="1261872"/>
            <a:ext cx="25146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 — Help panel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const [isHelpOpen, setIsHelpOpen] =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useState(false);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Only HelpPanel needs this value.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3310128" y="1261872"/>
            <a:ext cx="25146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 — Display mode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Header, Home page, and Sessions UI all need the current display preference.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035040" y="1261872"/>
            <a:ext cx="25146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 — Selected session track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"/>
              <a:buFont typeface="Arial"/>
              <a:buNone/>
            </a:pPr>
            <a:r>
              <a:t/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browser address already represents it: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/sessions?track=react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585216" y="2907792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Which value has the clearest reason to remain local component state?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58368" y="3337560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051560" y="3337560"/>
            <a:ext cx="143560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isHelpOpen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2697480" y="3337560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090672" y="3337560"/>
            <a:ext cx="143560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displayMode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736592" y="3337560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5129784" y="3337560"/>
            <a:ext cx="143560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selectedTrack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784848" y="3337560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7178040" y="3337560"/>
            <a:ext cx="138988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All three should move upward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Answer: A — isHelpOpen. If only one component needs a changing value, keeping it local avoids unnecessary coordination. displayMode is shared; selectedTrack is URL-backed.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1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Warm-up 4: Which reducer preserves the current state?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585216" y="93268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A reducer needs to add "S-205" to the current array.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640080" y="13075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30"/>
              <a:buFont typeface="Arial"/>
              <a:buNone/>
            </a:pPr>
            <a:r>
              <a:rPr b="1" i="0" lang="en" sz="73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Version A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585216" y="1499616"/>
            <a:ext cx="3566160" cy="8412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state.savedIds.push("S-205");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return state;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4663440" y="13075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30"/>
              <a:buFont typeface="Arial"/>
              <a:buNone/>
            </a:pPr>
            <a:r>
              <a:rPr b="1" i="0" lang="en" sz="73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Version B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4608576" y="1499616"/>
            <a:ext cx="3703320" cy="1234440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return {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...state,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savedIds: [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...state.savedIds,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"S-205",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85216" y="29260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Based on the reducer model you already know, which version avoids changing the existing state object?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658368" y="3474720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1051560" y="3474720"/>
            <a:ext cx="1344168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Version A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2578608" y="3474720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971800" y="3474720"/>
            <a:ext cx="1344168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Version B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498848" y="3474720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892040" y="3474720"/>
            <a:ext cx="1344168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Both versions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419088" y="3474720"/>
            <a:ext cx="347472" cy="2926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6812280" y="3474720"/>
            <a:ext cx="1344168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Neither version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Answer: B — Version B. It calculates replacement state without changing the existing array. Later, RTK will show reducer code that appears to break this rule; we will explain why that syntax is safe there.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585216" y="170078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 growing shared-state problem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603504" y="2359152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Conference Hub already has sensible state boundaries.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Now it is gaining a feature that several distant parts of the application must keep consistent.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6629400" y="1600200"/>
            <a:ext cx="1508760" cy="160020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Conference Hub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shared feature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several views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source of truth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Conference Hub separates state by responsibility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585216" y="868680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Conference Hub does not currently put every changing value in the same place.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585216" y="1216152"/>
            <a:ext cx="1883664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Selected track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URL search parameter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Which sessions are visible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2615184" y="1216152"/>
            <a:ext cx="1883664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Display mode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state + Context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Comfortable or compact UI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4645152" y="1216152"/>
            <a:ext cx="1883664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Feedback data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Page / server state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Feedback feature behavior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6675120" y="1216152"/>
            <a:ext cx="1883664" cy="1298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 data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Props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Direct child rendering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585216" y="2816352"/>
            <a:ext cx="3611880" cy="56692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selectedTrack =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searchParams.get("track") ?? "all";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4498848" y="2816352"/>
            <a:ext cx="4069080" cy="56692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[displayMode, setDisplayMode] =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useState&lt;DisplayMode&gt;("comfortable");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85216" y="3749040"/>
            <a:ext cx="7973568" cy="50292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These responsibilities stay where they are. Today’s new feature adds another state-management requirement; it does not invalidate the existing ones.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Conference Hub</a:t>
            </a:r>
            <a:r>
              <a:rPr b="1" lang="en" sz="2400">
                <a:solidFill>
                  <a:srgbClr val="071225"/>
                </a:solidFill>
              </a:rPr>
              <a:t>: a </a:t>
            </a: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personal session planner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585216" y="877824"/>
            <a:ext cx="603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Conference attendees want to build a personal list of sessions they plan to attend.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585216" y="1225296"/>
            <a:ext cx="2834640" cy="205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804672" y="1581912"/>
            <a:ext cx="2395728" cy="548640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component design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Track: react                          Save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804672" y="2322576"/>
            <a:ext cx="2395728" cy="548640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 without confusion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Track: react                          Save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3703320" y="1225296"/>
            <a:ext cx="4709160" cy="65836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Conference Hub                                      Saved: 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3703320" y="2103120"/>
            <a:ext cx="470916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MY PLANNER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3931920" y="2423160"/>
            <a:ext cx="4261104" cy="713232"/>
          </a:xfrm>
          <a:prstGeom prst="rect">
            <a:avLst/>
          </a:prstGeom>
          <a:solidFill>
            <a:srgbClr val="F7FA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0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component design                                      Remove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0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 without confusion                                     Remove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"/>
              <a:buFont typeface="Arial"/>
              <a:buNone/>
            </a:pPr>
            <a:r>
              <a:t/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0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Clear planner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585216" y="3575304"/>
            <a:ext cx="7827264" cy="347472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Save from Sessions  →  show current saved count  →  manage saved sessions in Planner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Before choosing a state-management tool: what changing information must all three parts of the application agree about?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planner state serves several views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3675888" y="1005840"/>
            <a:ext cx="1828800" cy="64008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savedSessionIds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["S-101", "S-103"]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1664208" y="192024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4425696" y="192024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7187184" y="192024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777240" y="2423160"/>
            <a:ext cx="2057400" cy="12435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AppHeader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reads count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Saved: 2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3538728" y="2423160"/>
            <a:ext cx="2057400" cy="12435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SessionList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reads status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requests changes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S-101 Saved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S-102 Save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6309360" y="2423160"/>
            <a:ext cx="2057400" cy="12435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reads IDs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requests changes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896112" y="4050792"/>
            <a:ext cx="7315200" cy="384048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Key idea: one shared planner state should be the source of truth.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planner changes through a small set of operations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85216" y="86868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Shared access is only part of the requirement. The planner also changes in several distinct ways.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640080" y="1353312"/>
            <a:ext cx="16002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["S-101"]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2322576" y="15361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2670048" y="1353312"/>
            <a:ext cx="1874520" cy="71323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 S-103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["S-101", "S-103"]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4590288" y="15361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4956048" y="1353312"/>
            <a:ext cx="1737360" cy="713232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Remove S-101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["S-103"]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6784848" y="153619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7150608" y="1353312"/>
            <a:ext cx="1152144" cy="71323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Clear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[]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768096" y="25420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These are operations on the same planner state domain: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786384" y="2944368"/>
            <a:ext cx="1188720" cy="201168"/>
          </a:xfrm>
          <a:prstGeom prst="rect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save session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2194560" y="2944368"/>
            <a:ext cx="1353312" cy="201168"/>
          </a:xfrm>
          <a:prstGeom prst="rect">
            <a:avLst/>
          </a:prstGeom>
          <a:solidFill>
            <a:srgbClr val="FFF3C4"/>
          </a:solidFill>
          <a:ln cap="flat" cmpd="sng" w="9525">
            <a:solidFill>
              <a:srgbClr val="FFF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remove session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3767328" y="2944368"/>
            <a:ext cx="1280160" cy="201168"/>
          </a:xfrm>
          <a:prstGeom prst="rect">
            <a:avLst/>
          </a:prstGeom>
          <a:solidFill>
            <a:srgbClr val="DBF7E7"/>
          </a:solidFill>
          <a:ln cap="flat" cmpd="sng" w="9525">
            <a:solidFill>
              <a:srgbClr val="DB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clear planner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768096" y="3794760"/>
            <a:ext cx="7406640" cy="43891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Later, our implementation should give these operations clear names and keep their update logic together.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3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challenge is organization, not access alone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585216" y="868680"/>
            <a:ext cx="7498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React Context could make planner state available to distant descendants. That is not the only requirement we now care about.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85216" y="1298448"/>
            <a:ext cx="1883664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shared state domain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Header, Sessions, and Planner must agree.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2615184" y="1298448"/>
            <a:ext cx="1883664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Several named updates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Sessions can be saved, removed, or cleared.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4645152" y="1298448"/>
            <a:ext cx="1883664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Distant readers and writers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Different components need different parts.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675120" y="1298448"/>
            <a:ext cx="1883664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Predictable update path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We should trace what requested the change.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749808" y="3163824"/>
            <a:ext cx="7644384" cy="80467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This is where Redux Toolkit enters the course.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Arial"/>
              <a:buNone/>
            </a:pPr>
            <a:r>
              <a:t/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It gives us a structured way to organize this shared state and its update logic. It does not mean Context, URL state, props, or local React state were wrong.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Transition question: If no component owns the planner by itself, where can the shared state live — and how can components read it and request updates predictably?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585216" y="1682496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data flow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03504" y="2331720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Redux separates two questions: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What happened?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How should shared state change because of it?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We will first understand that flow, then implement it with Redux Toolkit.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store holds Redux-managed state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585216" y="868680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Redux store is the configured object that holds the application’s Redux-managed state.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713232" y="1234440"/>
            <a:ext cx="3611880" cy="214884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store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└── planner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│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└── savedSessionIds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    ["S-101", "S-103"]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9"/>
          <p:cNvSpPr/>
          <p:nvPr/>
        </p:nvSpPr>
        <p:spPr>
          <a:xfrm>
            <a:off x="4617720" y="1243584"/>
            <a:ext cx="3611880" cy="987552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planner: {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savedSessionIds: ["S-101", "S-103"]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9"/>
          <p:cNvSpPr/>
          <p:nvPr/>
        </p:nvSpPr>
        <p:spPr>
          <a:xfrm>
            <a:off x="4617720" y="2487168"/>
            <a:ext cx="3611880" cy="347472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The store is not where every application value must live.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9"/>
          <p:cNvSpPr/>
          <p:nvPr/>
        </p:nvSpPr>
        <p:spPr>
          <a:xfrm>
            <a:off x="4617720" y="3063240"/>
            <a:ext cx="848106" cy="932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selectedTrack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5538978" y="3063240"/>
            <a:ext cx="848106" cy="932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displayMode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9"/>
          <p:cNvSpPr/>
          <p:nvPr/>
        </p:nvSpPr>
        <p:spPr>
          <a:xfrm>
            <a:off x="6460236" y="3063240"/>
            <a:ext cx="848106" cy="932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page/server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7381494" y="3063240"/>
            <a:ext cx="848106" cy="932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isHelpOpen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60"/>
              <a:buFont typeface="Arial"/>
              <a:buNone/>
            </a:pPr>
            <a:r>
              <a:rPr b="0" i="0" lang="en" sz="7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Key idea: the Redux store contains the state that we deliberately choose to manage with Redux.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Actions describe what happened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585216" y="877824"/>
            <a:ext cx="5760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Redux represents an event or update request with an action.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841248" y="1353312"/>
            <a:ext cx="2944368" cy="1051560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type: "planner/sessionSaved",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payload: "S-103"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20"/>
              <a:buFont typeface="Courier New"/>
              <a:buNone/>
            </a:pPr>
            <a:r>
              <a:rPr b="0" i="0" lang="en" sz="9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4251960" y="1298448"/>
            <a:ext cx="1874520" cy="1133856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planner/sessionSaved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Identifies the kind of event.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6446520" y="1298448"/>
            <a:ext cx="1874520" cy="1133856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payload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"S-103"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Carries information the update needs.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841248" y="2816352"/>
            <a:ext cx="7406640" cy="402336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An action describes the event. It does not contain the complete next planner state.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1143000" y="3721608"/>
            <a:ext cx="6812280" cy="41148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Later, Redux Toolkit will generate actions like this for us — we will not hand-write these objects every time.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Reducer logic decides how state changes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585216" y="859536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action tells us what happened. Reducer logic answers: given the current state and this action, what should the state become?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694944" y="1371600"/>
            <a:ext cx="1828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Current planner state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{ savedSessionIds: ["S-101"] }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2615184" y="151790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2980944" y="1371600"/>
            <a:ext cx="2359152" cy="65836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{ type: "planner/sessionSaved", payload: "S-103" }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5431536" y="151790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5797296" y="1371600"/>
            <a:ext cx="1408176" cy="65836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Reducer decision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S-103 is not saved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include it next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7260336" y="151790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7626096" y="1371600"/>
            <a:ext cx="932688" cy="658368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80"/>
              <a:buFont typeface="Arial"/>
              <a:buNone/>
            </a:pPr>
            <a:r>
              <a:rPr b="1" i="0" lang="en" sz="6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Next state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80"/>
              <a:buFont typeface="Arial"/>
              <a:buNone/>
            </a:pPr>
            <a:r>
              <a:rPr b="1" i="0" lang="en" sz="6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{ savedSessionIds: ["S-101", "S-103"] }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1097280" y="2788920"/>
            <a:ext cx="6949440" cy="50292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C7D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current state + action → next state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1920240" y="36941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gives that update model a shared application-level workflow.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 slice groups related state and update logic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585216" y="877824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As Redux-managed state grows, we organize related state by feature or domain.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2697480" y="1216152"/>
            <a:ext cx="3794760" cy="219456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 slice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2944368" y="1700784"/>
            <a:ext cx="1444752" cy="10607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savedSessionIds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4736592" y="1700784"/>
            <a:ext cx="1444752" cy="10607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update logic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</a:pPr>
            <a:r>
              <a:t/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 saved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 removed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 cleared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Key idea: a slice gives one Redux state domain a clear home for both its state and its update logic.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follows one predictable direction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566928" y="1115568"/>
            <a:ext cx="1207008" cy="74980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User clicks Save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1773936" y="1344168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3"/>
          <p:cNvSpPr/>
          <p:nvPr/>
        </p:nvSpPr>
        <p:spPr>
          <a:xfrm>
            <a:off x="1984248" y="1115568"/>
            <a:ext cx="1207008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Component dispatches an action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3191256" y="1344168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3401568" y="1115568"/>
            <a:ext cx="1207008" cy="74980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Store runs reducer logic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4608576" y="1344168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4818888" y="1115568"/>
            <a:ext cx="1207008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 state updates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6025896" y="1344168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6236208" y="1115568"/>
            <a:ext cx="1207008" cy="74980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Components read values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7443216" y="1344168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7653528" y="1115568"/>
            <a:ext cx="1207008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90"/>
              <a:buFont typeface="Arial"/>
              <a:buNone/>
            </a:pPr>
            <a:r>
              <a:rPr b="1" i="0" lang="en" sz="7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renders UI</a:t>
            </a:r>
            <a:endParaRPr b="0" i="0" sz="7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585216" y="230428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event can update several distant views consistently: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804672" y="2743200"/>
            <a:ext cx="2353056" cy="96012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SessionList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S-103 → Saved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3340608" y="2743200"/>
            <a:ext cx="2353056" cy="96012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AppHeader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Saved: 2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5876544" y="2743200"/>
            <a:ext cx="2353056" cy="96012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S-101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S-103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Those components are not synchronizing separate copies. They are reading from the same Redux-managed planner state.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Checkpoint: Trace one planner update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585216" y="9326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Current Redux-managed planner state: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585216" y="1225296"/>
            <a:ext cx="2423160" cy="69494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savedSessionIds: ["S-101"]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20"/>
              <a:buFont typeface="Courier New"/>
              <a:buNone/>
            </a:pPr>
            <a:r>
              <a:rPr b="0" i="0" lang="en" sz="8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3383280" y="93268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user selects Save for S-103. Complete the trace: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3383280" y="1371600"/>
            <a:ext cx="1536192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What information must the action carry?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5138928" y="1371600"/>
            <a:ext cx="1536192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What should savedSessionIds contain next?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6894576" y="1371600"/>
            <a:ext cx="1536192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What should the Header show?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585216" y="4096512"/>
            <a:ext cx="7973568" cy="658368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Answers: 1) S-103. 2) ["S-101", "S-103"]. 3) Header shows Saved: 2. The action describes the event; reducer logic calculates the next planner state; the Header reads the resulting count.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Add Redux Toolkit and React-Redux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/>
          <p:nvPr/>
        </p:nvSpPr>
        <p:spPr>
          <a:xfrm>
            <a:off x="585216" y="987552"/>
            <a:ext cx="4892040" cy="65836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 --save-exact \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@reduxjs/toolkit@2.12.0 \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900"/>
              <a:buFont typeface="Courier New"/>
              <a:buNone/>
            </a:pPr>
            <a:r>
              <a:rPr b="0" i="0" lang="en" sz="9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react-redux@9.3.0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731520" y="1920240"/>
            <a:ext cx="2377440" cy="132588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Toolkit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state logic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store setup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slices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generated actions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3383280" y="1920240"/>
            <a:ext cx="2377440" cy="132588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React-Redux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connects the Redux store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to React components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6035040" y="987552"/>
            <a:ext cx="2450592" cy="2258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Files added during the build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src/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├── app/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│   ├── store.ts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│   └── hooks.ts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└── features/planner/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└── plannerSlice.ts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768096" y="3950208"/>
            <a:ext cx="7406640" cy="402336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Checkpoint: npm run dev — nothing visible changes yet.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Define the planner state first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585216" y="804672"/>
            <a:ext cx="3474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30"/>
              <a:buFont typeface="Arial"/>
              <a:buNone/>
            </a:pPr>
            <a:r>
              <a:rPr b="1" i="0" lang="en" sz="73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New file: src/features/planner/plannerSlice.ts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585216" y="1115568"/>
            <a:ext cx="3401568" cy="12984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type PlannerState = {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savedSessionIds: string[];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initialState: PlannerState = {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savedSessionIds: [],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4315968" y="1152144"/>
            <a:ext cx="1691640" cy="112471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Initial planner state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savedSessionIds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[]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6327648" y="1005840"/>
            <a:ext cx="2011680" cy="1554480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Why IDs instead of full session objects?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Arial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20"/>
              <a:buFont typeface="Arial"/>
              <a:buNone/>
            </a:pPr>
            <a:r>
              <a:rPr b="1" i="0" lang="en" sz="92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Conference Hub already has session data. The planner only needs to remember which sessions were saved.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Key idea: store the changing source of truth. Do not duplicate information that can be derived from existing data.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createSlice</a:t>
            </a:r>
            <a:r>
              <a:rPr b="1" lang="en" sz="2400">
                <a:solidFill>
                  <a:srgbClr val="071225"/>
                </a:solidFill>
              </a:rPr>
              <a:t>:</a:t>
            </a: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groups planner state and update logic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7"/>
          <p:cNvSpPr/>
          <p:nvPr/>
        </p:nvSpPr>
        <p:spPr>
          <a:xfrm>
            <a:off x="585216" y="1005840"/>
            <a:ext cx="4343400" cy="157276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{ createSlice } from "@reduxjs/toolkit";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plannerSlice = createSlice({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name: "planner",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initialState,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reducers: {},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10"/>
              <a:buFont typeface="Courier New"/>
              <a:buNone/>
            </a:pPr>
            <a:r>
              <a:rPr b="0" i="0" lang="en" sz="81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default plannerSlice.reducer;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5266944" y="1005840"/>
            <a:ext cx="2971800" cy="43891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name: "planner"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Names this Redux state domain.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/>
          <p:nvPr/>
        </p:nvSpPr>
        <p:spPr>
          <a:xfrm>
            <a:off x="5266944" y="1627632"/>
            <a:ext cx="2971800" cy="43891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initialState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Supplies its starting state.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7"/>
          <p:cNvSpPr/>
          <p:nvPr/>
        </p:nvSpPr>
        <p:spPr>
          <a:xfrm>
            <a:off x="5266944" y="2249424"/>
            <a:ext cx="2971800" cy="438912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reducers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89"/>
              <a:buFont typeface="Arial"/>
              <a:buNone/>
            </a:pPr>
            <a:r>
              <a:rPr b="1" i="0" lang="en" sz="89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Will contain planner update logic.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841248" y="3182112"/>
            <a:ext cx="7315200" cy="43891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createSlice also produces a reducer function: plannerSlice.reducer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Checkpoint: the Redux state domain exists, but no React component uses it yet.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Action payloads carry update information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8"/>
          <p:cNvSpPr/>
          <p:nvPr/>
        </p:nvSpPr>
        <p:spPr>
          <a:xfrm>
            <a:off x="585216" y="86868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planner needs to know which session was saved.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585216" y="1170432"/>
            <a:ext cx="4709160" cy="252374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{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createSlice,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type PayloadAction,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 from "@reduxjs/toolkit";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5"/>
              <a:buFont typeface="Arial"/>
              <a:buNone/>
            </a:pPr>
            <a:r>
              <a:t/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reducers: {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sessionSaved(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state,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action: PayloadAction&lt;string&gt;,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) {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if (!state.savedSessionIds.includes(action.payload)) {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state.savedSessionIds.push(action.payload);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35"/>
              <a:buFont typeface="Courier New"/>
              <a:buNone/>
            </a:pPr>
            <a:r>
              <a:rPr b="0" i="0" lang="en" sz="63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63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5577840" y="1298448"/>
            <a:ext cx="2743200" cy="96012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PayloadAction&lt;string&gt;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payload must be a string.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For this feature, that string is a session ID.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5577840" y="2487168"/>
            <a:ext cx="2743200" cy="960120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If the action carries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"S-103"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then action.payload is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"S-103"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8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The includes check prevents saving the same session ID twice. Next: this reducer uses push(), so we must explain why that is safe here.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Why is push() safe here?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9"/>
          <p:cNvSpPr/>
          <p:nvPr/>
        </p:nvSpPr>
        <p:spPr>
          <a:xfrm>
            <a:off x="640080" y="1060704"/>
            <a:ext cx="3493008" cy="1536192"/>
          </a:xfrm>
          <a:prstGeom prst="rect">
            <a:avLst/>
          </a:prstGeom>
          <a:solidFill>
            <a:srgbClr val="FCE4E4"/>
          </a:solidFill>
          <a:ln cap="flat" cmpd="sng" w="12700">
            <a:solidFill>
              <a:srgbClr val="E9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Ordinary React state / plain reducer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state.savedIds.push("S-205");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return state;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Do not mutate the existing state object.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9"/>
          <p:cNvSpPr/>
          <p:nvPr/>
        </p:nvSpPr>
        <p:spPr>
          <a:xfrm>
            <a:off x="4663440" y="1060704"/>
            <a:ext cx="3493008" cy="153619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Inside createSlice reducer logic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sessionSaved(state, action) {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  state.savedSessionIds.push(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    action.payload,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  );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state behaves as an Immer draft.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/>
          <p:nvPr/>
        </p:nvSpPr>
        <p:spPr>
          <a:xfrm>
            <a:off x="2240280" y="2926080"/>
            <a:ext cx="4663440" cy="65836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mutation-looking code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Immer produces a new immutable state value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9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Boundary: this is safe inside Redux Toolkit’s Immer-powered case reducers. It does not make direct mutation safe in ordinary React state.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createSlice generates the action creator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0"/>
          <p:cNvSpPr/>
          <p:nvPr/>
        </p:nvSpPr>
        <p:spPr>
          <a:xfrm>
            <a:off x="822960" y="1225296"/>
            <a:ext cx="1737360" cy="71323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Reducer name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sessionSaved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0"/>
          <p:cNvSpPr/>
          <p:nvPr/>
        </p:nvSpPr>
        <p:spPr>
          <a:xfrm>
            <a:off x="2697480" y="141732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0"/>
          <p:cNvSpPr/>
          <p:nvPr/>
        </p:nvSpPr>
        <p:spPr>
          <a:xfrm>
            <a:off x="3108960" y="1225296"/>
            <a:ext cx="2331720" cy="71323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Generated action creator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plannerSlice.actions.sessionSaved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0"/>
          <p:cNvSpPr/>
          <p:nvPr/>
        </p:nvSpPr>
        <p:spPr>
          <a:xfrm>
            <a:off x="5532120" y="141732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5980176" y="1225296"/>
            <a:ext cx="1920240" cy="3840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sessionSaved("S-103")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0"/>
          <p:cNvSpPr/>
          <p:nvPr/>
        </p:nvSpPr>
        <p:spPr>
          <a:xfrm>
            <a:off x="5980176" y="1865376"/>
            <a:ext cx="2057400" cy="804672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type: "planner/sessionSaved",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payload: "S-103"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0"/>
          <p:cNvSpPr/>
          <p:nvPr/>
        </p:nvSpPr>
        <p:spPr>
          <a:xfrm>
            <a:off x="841248" y="2889504"/>
            <a:ext cx="3063240" cy="74980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{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sessionSaved,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 = plannerSlice.actions;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4297680" y="2889504"/>
            <a:ext cx="3429000" cy="74980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slice name / reducer name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planner / sessionSaved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planner/sessionSaved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We define the reducer operation once. Redux Toolkit creates the matching action creator and action type for us.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Complete the planner operations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1"/>
          <p:cNvSpPr/>
          <p:nvPr/>
        </p:nvSpPr>
        <p:spPr>
          <a:xfrm>
            <a:off x="585216" y="877824"/>
            <a:ext cx="5852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save operation exists. Add the two remaining operations.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1"/>
          <p:cNvSpPr/>
          <p:nvPr/>
        </p:nvSpPr>
        <p:spPr>
          <a:xfrm>
            <a:off x="585216" y="1225296"/>
            <a:ext cx="4297680" cy="2139696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sessionRemoved(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state,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action: PayloadAction&lt;string&gt;,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state.savedSessionIds =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state.savedSessionIds.filter(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(id) =&gt; id !== action.payload,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plannerCleared(state) {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state.savedSessionIds = [];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1"/>
          <p:cNvSpPr/>
          <p:nvPr/>
        </p:nvSpPr>
        <p:spPr>
          <a:xfrm>
            <a:off x="5230368" y="1225296"/>
            <a:ext cx="2926080" cy="1078992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{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sessionSaved,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sessionRemoved,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plannerCleared,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 = plannerSlice.actions;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5230368" y="2596896"/>
            <a:ext cx="2926080" cy="100584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Conceptual operations → code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 session      → sessionSaved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remove session    → sessionRemoved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clear planner     → plannerCleared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plannerSlice.ts now defines the complete synchronous planner state logic. React still is not connected to it yet.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`configureStore` creates the Redux store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585216" y="786384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30"/>
              <a:buFont typeface="Arial"/>
              <a:buNone/>
            </a:pPr>
            <a:r>
              <a:rPr b="1" i="0" lang="en" sz="73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New file: src/app/store.ts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585216" y="1060704"/>
            <a:ext cx="3749040" cy="1993392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{ configureStore } from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"@reduxjs/toolkit";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"/>
              <a:buFont typeface="Arial"/>
              <a:buNone/>
            </a:pPr>
            <a:r>
              <a:t/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plannerReducer from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"../features/planner/plannerSlice";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"/>
              <a:buFont typeface="Arial"/>
              <a:buNone/>
            </a:pPr>
            <a:r>
              <a:t/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store = configureStore({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reducer: {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planner: plannerReducer,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2"/>
          <p:cNvSpPr/>
          <p:nvPr/>
        </p:nvSpPr>
        <p:spPr>
          <a:xfrm>
            <a:off x="4736592" y="1152144"/>
            <a:ext cx="1755648" cy="65836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reducer key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planner: plannerReducer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6547104" y="135331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6931152" y="1060704"/>
            <a:ext cx="1444752" cy="87782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planner: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savedSessionIds: []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2"/>
          <p:cNvSpPr/>
          <p:nvPr/>
        </p:nvSpPr>
        <p:spPr>
          <a:xfrm>
            <a:off x="4828032" y="2450592"/>
            <a:ext cx="3419856" cy="512064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Path to saved IDs: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state.planner.savedSessionIds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2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The slice defines planner state logic. The store registers that reducer as part of the application’s Redux-managed state.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Infer types from the configured store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3"/>
          <p:cNvSpPr/>
          <p:nvPr/>
        </p:nvSpPr>
        <p:spPr>
          <a:xfrm>
            <a:off x="585216" y="1060704"/>
            <a:ext cx="3794760" cy="102412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type RootState =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ReturnType&lt;typeof store.getState&gt;;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type AppDispatch =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typeof store.dispatch;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736592" y="1024128"/>
            <a:ext cx="3383280" cy="1499616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RootState represents the current store shape: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</a:pPr>
            <a:r>
              <a:t/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planner: {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savedSessionIds: string[];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};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3"/>
          <p:cNvSpPr/>
          <p:nvPr/>
        </p:nvSpPr>
        <p:spPr>
          <a:xfrm>
            <a:off x="4736592" y="2743200"/>
            <a:ext cx="3383280" cy="493776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AppDispatch captures the actual dispatch type configured for this store.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/>
          <p:nvPr/>
        </p:nvSpPr>
        <p:spPr>
          <a:xfrm>
            <a:off x="786384" y="3584448"/>
            <a:ext cx="7315200" cy="41148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Why infer? If the store changes later, these types stay connected to the real store configuration.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What is still missing? React components cannot use this store through React-Redux yet.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/>
          <p:nvPr/>
        </p:nvSpPr>
        <p:spPr>
          <a:xfrm>
            <a:off x="585216" y="1664208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Connect React to Redux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603504" y="2359152"/>
            <a:ext cx="4434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Redux state layer now exists.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Next, React components need to access the store, read the state they need, and dispatch update actions.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4"/>
          <p:cNvSpPr/>
          <p:nvPr/>
        </p:nvSpPr>
        <p:spPr>
          <a:xfrm>
            <a:off x="6126480" y="1874520"/>
            <a:ext cx="1078992" cy="91440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plannerSlice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4"/>
          <p:cNvSpPr/>
          <p:nvPr/>
        </p:nvSpPr>
        <p:spPr>
          <a:xfrm>
            <a:off x="7296912" y="216712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4"/>
          <p:cNvSpPr/>
          <p:nvPr/>
        </p:nvSpPr>
        <p:spPr>
          <a:xfrm>
            <a:off x="7717536" y="1874520"/>
            <a:ext cx="78638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UI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5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`Provider` connects the store to React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5"/>
          <p:cNvSpPr/>
          <p:nvPr/>
        </p:nvSpPr>
        <p:spPr>
          <a:xfrm>
            <a:off x="585216" y="868680"/>
            <a:ext cx="6766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We created the store, but React components are not connected to it yet.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585216" y="1207008"/>
            <a:ext cx="3291840" cy="102412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// before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createRoot(root).render(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&lt;BrowserRouter&gt;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&lt;App /&gt;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&lt;/BrowserRouter&gt;,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80"/>
              <a:buFont typeface="Courier New"/>
              <a:buNone/>
            </a:pPr>
            <a:r>
              <a:rPr b="0" i="0" lang="en" sz="7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5"/>
          <p:cNvSpPr/>
          <p:nvPr/>
        </p:nvSpPr>
        <p:spPr>
          <a:xfrm>
            <a:off x="4160520" y="1207008"/>
            <a:ext cx="3657600" cy="124358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// after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createRoot(root).render(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&lt;Provider store={store}&gt;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&lt;BrowserRouter&gt;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  &lt;App /&gt;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&lt;/BrowserRouter&gt;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&lt;/Provider&gt;,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5"/>
          <p:cNvSpPr/>
          <p:nvPr/>
        </p:nvSpPr>
        <p:spPr>
          <a:xfrm>
            <a:off x="5413248" y="2788920"/>
            <a:ext cx="2176272" cy="877824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Provider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└── BrowserRouter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└── App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    └── existing application tree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5"/>
          <p:cNvSpPr/>
          <p:nvPr/>
        </p:nvSpPr>
        <p:spPr>
          <a:xfrm>
            <a:off x="768096" y="3017520"/>
            <a:ext cx="4160520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What did not change? Routing still works. The display-preference Context inside App still works.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5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Provider makes this Redux store available to nested React-Redux consumers. It does not move every application value into Redux.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Create typed Redux hooks once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6"/>
          <p:cNvSpPr/>
          <p:nvPr/>
        </p:nvSpPr>
        <p:spPr>
          <a:xfrm>
            <a:off x="585216" y="868680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React-Redux gives us hooks for two jobs: read Redux state and dispatch Redux actions.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6"/>
          <p:cNvSpPr/>
          <p:nvPr/>
        </p:nvSpPr>
        <p:spPr>
          <a:xfrm>
            <a:off x="585216" y="1152144"/>
            <a:ext cx="4297680" cy="252374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{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useDispatch,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useSelector,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 from "react-redux";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type {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AppDispatch,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RootState,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 from "./store";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useAppDispatch =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useDispatch.withTypes&lt;AppDispatch&gt;();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useAppSelector =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useSelector.withTypes&lt;RootState&gt;();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6"/>
          <p:cNvSpPr/>
          <p:nvPr/>
        </p:nvSpPr>
        <p:spPr>
          <a:xfrm>
            <a:off x="5285232" y="1261872"/>
            <a:ext cx="1234440" cy="100584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store.ts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store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RootState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AppDispatch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6"/>
          <p:cNvSpPr/>
          <p:nvPr/>
        </p:nvSpPr>
        <p:spPr>
          <a:xfrm>
            <a:off x="6601968" y="160020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6"/>
          <p:cNvSpPr/>
          <p:nvPr/>
        </p:nvSpPr>
        <p:spPr>
          <a:xfrm>
            <a:off x="6967728" y="1261872"/>
            <a:ext cx="1426464" cy="100584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hooks.ts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typed React-Redux hooks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6"/>
          <p:cNvSpPr/>
          <p:nvPr/>
        </p:nvSpPr>
        <p:spPr>
          <a:xfrm>
            <a:off x="5340096" y="2880360"/>
            <a:ext cx="2926080" cy="676656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Components can use useAppSelector(...) and useAppDispatch() with the Conference Hub store types already attached.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Type the Redux connection once, then reuse those hooks throughout the application.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7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 planner state with `useAppSelector`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7"/>
          <p:cNvSpPr/>
          <p:nvPr/>
        </p:nvSpPr>
        <p:spPr>
          <a:xfrm>
            <a:off x="585216" y="877824"/>
            <a:ext cx="5852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Header needs one result: how many sessions are currently saved?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7"/>
          <p:cNvSpPr/>
          <p:nvPr/>
        </p:nvSpPr>
        <p:spPr>
          <a:xfrm>
            <a:off x="585216" y="1170432"/>
            <a:ext cx="4251960" cy="2148840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import { useAppSelector } from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"../app/hooks";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"/>
              <a:buFont typeface="Arial"/>
              <a:buNone/>
            </a:pPr>
            <a:r>
              <a:t/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savedCount = useAppSelector(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(state) =&gt;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state.planner.savedSessionIds.length,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"/>
              <a:buFont typeface="Arial"/>
              <a:buNone/>
            </a:pPr>
            <a:r>
              <a:t/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&lt;span className="saved-count"&gt;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Saved: {savedCount}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90"/>
              <a:buFont typeface="Courier New"/>
              <a:buNone/>
            </a:pPr>
            <a:r>
              <a:rPr b="0" i="0" lang="en" sz="69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&lt;/span&gt;</a:t>
            </a:r>
            <a:endParaRPr b="0" i="0" sz="6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7"/>
          <p:cNvSpPr/>
          <p:nvPr/>
        </p:nvSpPr>
        <p:spPr>
          <a:xfrm>
            <a:off x="5285232" y="1170432"/>
            <a:ext cx="1874520" cy="100584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└── planner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└── savedSessionIds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70"/>
              <a:buFont typeface="Arial"/>
              <a:buNone/>
            </a:pPr>
            <a:r>
              <a:rPr b="1" i="0" lang="en" sz="87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      └── length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7"/>
          <p:cNvSpPr/>
          <p:nvPr/>
        </p:nvSpPr>
        <p:spPr>
          <a:xfrm>
            <a:off x="7370064" y="1170432"/>
            <a:ext cx="1042416" cy="100584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Initial state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savedSessionIds: []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"/>
              <a:buFont typeface="Arial"/>
              <a:buNone/>
            </a:pPr>
            <a:r>
              <a:t/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Header renders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Saved: 0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7"/>
          <p:cNvSpPr/>
          <p:nvPr/>
        </p:nvSpPr>
        <p:spPr>
          <a:xfrm>
            <a:off x="5285232" y="2487168"/>
            <a:ext cx="3127248" cy="512064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AppHeader does not need the entire Redux state. It needs the current saved count.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Visible checkpoint: the Header now displays a value from Redux for the first time.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Dispatch the first planner action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8"/>
          <p:cNvSpPr/>
          <p:nvPr/>
        </p:nvSpPr>
        <p:spPr>
          <a:xfrm>
            <a:off x="585216" y="868680"/>
            <a:ext cx="7040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Reading state is only half of the feature. The Sessions UI also needs to request an update.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8"/>
          <p:cNvSpPr/>
          <p:nvPr/>
        </p:nvSpPr>
        <p:spPr>
          <a:xfrm>
            <a:off x="585216" y="1152144"/>
            <a:ext cx="4160520" cy="261518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dispatch = useAppDispatch();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isSaved =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savedSessionIds.includes(session.id);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rial"/>
              <a:buNone/>
            </a:pPr>
            <a:r>
              <a:t/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disabled={isSaved}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onClick={() =&gt;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dispatch(sessionSaved(session.id))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type="button"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{isSaved ? "Saved" : "Save"}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60"/>
              <a:buFont typeface="Courier New"/>
              <a:buNone/>
            </a:pPr>
            <a:r>
              <a:rPr b="0" i="0" lang="en" sz="6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6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8"/>
          <p:cNvSpPr/>
          <p:nvPr/>
        </p:nvSpPr>
        <p:spPr>
          <a:xfrm>
            <a:off x="5157216" y="1225296"/>
            <a:ext cx="124358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User clicks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 S-103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8"/>
          <p:cNvSpPr/>
          <p:nvPr/>
        </p:nvSpPr>
        <p:spPr>
          <a:xfrm>
            <a:off x="6473952" y="138988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8"/>
          <p:cNvSpPr/>
          <p:nvPr/>
        </p:nvSpPr>
        <p:spPr>
          <a:xfrm>
            <a:off x="6858000" y="1225296"/>
            <a:ext cx="1481328" cy="56692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dispatch(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sessionSaved("S-103")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8"/>
          <p:cNvSpPr/>
          <p:nvPr/>
        </p:nvSpPr>
        <p:spPr>
          <a:xfrm>
            <a:off x="5321808" y="2240280"/>
            <a:ext cx="2743200" cy="25603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visible results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8"/>
          <p:cNvSpPr/>
          <p:nvPr/>
        </p:nvSpPr>
        <p:spPr>
          <a:xfrm>
            <a:off x="5212080" y="2697480"/>
            <a:ext cx="1403604" cy="749808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clicked button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8"/>
          <p:cNvSpPr/>
          <p:nvPr/>
        </p:nvSpPr>
        <p:spPr>
          <a:xfrm>
            <a:off x="6780276" y="2697480"/>
            <a:ext cx="1403604" cy="749808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distant Header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Saved: 1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8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No callback was passed from the Header to the Session list. Both components respond to the same Redux-managed planner state.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Trace a complete Redux update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9"/>
          <p:cNvSpPr/>
          <p:nvPr/>
        </p:nvSpPr>
        <p:spPr>
          <a:xfrm>
            <a:off x="502920" y="1060704"/>
            <a:ext cx="1078992" cy="53035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 S-103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9"/>
          <p:cNvSpPr/>
          <p:nvPr/>
        </p:nvSpPr>
        <p:spPr>
          <a:xfrm>
            <a:off x="1728216" y="1060704"/>
            <a:ext cx="1078992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dispatch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sessionSaved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9"/>
          <p:cNvSpPr/>
          <p:nvPr/>
        </p:nvSpPr>
        <p:spPr>
          <a:xfrm>
            <a:off x="2953512" y="1060704"/>
            <a:ext cx="1078992" cy="53035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payload S-103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9"/>
          <p:cNvSpPr/>
          <p:nvPr/>
        </p:nvSpPr>
        <p:spPr>
          <a:xfrm>
            <a:off x="4178808" y="1060704"/>
            <a:ext cx="1078992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 reducer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runs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5404104" y="1060704"/>
            <a:ext cx="1078992" cy="53035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["S-103"]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6629400" y="1060704"/>
            <a:ext cx="1078992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selectors read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current results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7854696" y="1060704"/>
            <a:ext cx="1078992" cy="53035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renders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650"/>
              <a:buFont typeface="Arial"/>
              <a:buNone/>
            </a:pPr>
            <a:r>
              <a:rPr b="1" i="0" lang="en" sz="6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new UI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2148840" y="2148840"/>
            <a:ext cx="1874520" cy="54864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AppHeader selector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length → 1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9"/>
          <p:cNvSpPr/>
          <p:nvPr/>
        </p:nvSpPr>
        <p:spPr>
          <a:xfrm>
            <a:off x="5047488" y="2148840"/>
            <a:ext cx="2011680" cy="54864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SessionList selector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includes("S-103") → true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9"/>
          <p:cNvSpPr/>
          <p:nvPr/>
        </p:nvSpPr>
        <p:spPr>
          <a:xfrm>
            <a:off x="2194560" y="3072384"/>
            <a:ext cx="2295144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Saved: 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9"/>
          <p:cNvSpPr/>
          <p:nvPr/>
        </p:nvSpPr>
        <p:spPr>
          <a:xfrm>
            <a:off x="4727448" y="3072384"/>
            <a:ext cx="2295144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S-103 button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9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The components do not update one another directly. Shared path: interaction → dispatch → Redux state update → selected results → React UI.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0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Build Planner from saved IDs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585216" y="868680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Planner should display complete session information, but Redux stores only saved IDs.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0"/>
          <p:cNvSpPr/>
          <p:nvPr/>
        </p:nvSpPr>
        <p:spPr>
          <a:xfrm>
            <a:off x="640080" y="1225296"/>
            <a:ext cx="1874520" cy="65836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stores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["S-101", "S-103"]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2615184" y="1353312"/>
            <a:ext cx="658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derive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0"/>
          <p:cNvSpPr/>
          <p:nvPr/>
        </p:nvSpPr>
        <p:spPr>
          <a:xfrm>
            <a:off x="3429000" y="1225296"/>
            <a:ext cx="2103120" cy="65836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sessions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full session objects already exist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0"/>
          <p:cNvSpPr/>
          <p:nvPr/>
        </p:nvSpPr>
        <p:spPr>
          <a:xfrm>
            <a:off x="5641848" y="135331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0"/>
          <p:cNvSpPr/>
          <p:nvPr/>
        </p:nvSpPr>
        <p:spPr>
          <a:xfrm>
            <a:off x="6035040" y="1225296"/>
            <a:ext cx="2103120" cy="658368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Planner renders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 session cards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0"/>
          <p:cNvSpPr/>
          <p:nvPr/>
        </p:nvSpPr>
        <p:spPr>
          <a:xfrm>
            <a:off x="585216" y="2240280"/>
            <a:ext cx="4160520" cy="12984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savedSessionIds = useAppSelector(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(state) =&gt; state.planner.savedSessionIds,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0"/>
              <a:buFont typeface="Arial"/>
              <a:buNone/>
            </a:pPr>
            <a:r>
              <a:t/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savedSessions = sessions.filter(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(session) =&gt; savedSessionIds.includes(session.id),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40"/>
              <a:buFont typeface="Courier New"/>
              <a:buNone/>
            </a:pPr>
            <a:r>
              <a:rPr b="0" i="0" lang="en" sz="74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0"/>
          <p:cNvSpPr/>
          <p:nvPr/>
        </p:nvSpPr>
        <p:spPr>
          <a:xfrm>
            <a:off x="5102352" y="2240280"/>
            <a:ext cx="3127248" cy="1298448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Planner.tsx shell, /planner route, and Header link are already scaffolded.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"/>
              <a:buFont typeface="Arial"/>
              <a:buNone/>
            </a:pPr>
            <a:r>
              <a:t/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This slide teaches the Redux-specific part: saved IDs → derived sessions → rendered Planner.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0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Key idea: store the changing selection once. Calculate the full Planner view from that source of truth.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Remove sessions and clear the planner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1"/>
          <p:cNvSpPr/>
          <p:nvPr/>
        </p:nvSpPr>
        <p:spPr>
          <a:xfrm>
            <a:off x="585216" y="86868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The same planner slice already defines the remaining operations.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1"/>
          <p:cNvSpPr/>
          <p:nvPr/>
        </p:nvSpPr>
        <p:spPr>
          <a:xfrm>
            <a:off x="585216" y="1161288"/>
            <a:ext cx="3858768" cy="2542032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const dispatch = useAppDispatch();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t/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onClick={() =&gt;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dispatch(sessionRemoved(session.id))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Remove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t/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disabled={savedSessionIds.length === 0}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onClick={() =&gt; dispatch(plannerCleared())}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Clear planner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25"/>
              <a:buFont typeface="Courier New"/>
              <a:buNone/>
            </a:pPr>
            <a:r>
              <a:rPr b="0" i="0" lang="en" sz="625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62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1"/>
          <p:cNvSpPr/>
          <p:nvPr/>
        </p:nvSpPr>
        <p:spPr>
          <a:xfrm>
            <a:off x="4864608" y="1207008"/>
            <a:ext cx="1572768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Starting state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["S-101", "S-103"]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1"/>
          <p:cNvSpPr/>
          <p:nvPr/>
        </p:nvSpPr>
        <p:spPr>
          <a:xfrm>
            <a:off x="6510528" y="137160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1"/>
          <p:cNvSpPr/>
          <p:nvPr/>
        </p:nvSpPr>
        <p:spPr>
          <a:xfrm>
            <a:off x="6858000" y="1207008"/>
            <a:ext cx="1444752" cy="56692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Remove S-101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["S-103"]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1"/>
          <p:cNvSpPr/>
          <p:nvPr/>
        </p:nvSpPr>
        <p:spPr>
          <a:xfrm>
            <a:off x="4736592" y="2157984"/>
            <a:ext cx="1146048" cy="950976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Saved: 1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1"/>
          <p:cNvSpPr/>
          <p:nvPr/>
        </p:nvSpPr>
        <p:spPr>
          <a:xfrm>
            <a:off x="5992368" y="2157984"/>
            <a:ext cx="1146048" cy="950976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Sessions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S-101 → Save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S-103 → Saved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1"/>
          <p:cNvSpPr/>
          <p:nvPr/>
        </p:nvSpPr>
        <p:spPr>
          <a:xfrm>
            <a:off x="7248144" y="2157984"/>
            <a:ext cx="1146048" cy="950976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780"/>
              <a:buFont typeface="Arial"/>
              <a:buNone/>
            </a:pPr>
            <a:r>
              <a:rPr b="1" i="0" lang="en" sz="7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S-103 only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1"/>
          <p:cNvSpPr/>
          <p:nvPr/>
        </p:nvSpPr>
        <p:spPr>
          <a:xfrm>
            <a:off x="4846320" y="3401568"/>
            <a:ext cx="3383280" cy="402336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Clear planner → [] → all three views reflect the empty planner.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1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All planner consumers remain consistent because they read from the same Redux-managed state.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2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What stays outside Redux?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2"/>
          <p:cNvSpPr/>
          <p:nvPr/>
        </p:nvSpPr>
        <p:spPr>
          <a:xfrm>
            <a:off x="585216" y="868680"/>
            <a:ext cx="7132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Conference Hub now uses several state-management approaches at the same time. That is intentional.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2"/>
          <p:cNvSpPr/>
          <p:nvPr/>
        </p:nvSpPr>
        <p:spPr>
          <a:xfrm>
            <a:off x="585216" y="1225296"/>
            <a:ext cx="1514246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Component-only UI state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local useState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used by one component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52"/>
          <p:cNvSpPr/>
          <p:nvPr/>
        </p:nvSpPr>
        <p:spPr>
          <a:xfrm>
            <a:off x="2200046" y="1225296"/>
            <a:ext cx="1514246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Selected track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URL search parameter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browser address is the filter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2"/>
          <p:cNvSpPr/>
          <p:nvPr/>
        </p:nvSpPr>
        <p:spPr>
          <a:xfrm>
            <a:off x="3814877" y="1225296"/>
            <a:ext cx="1514246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Display mode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state + Context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small shared UI preference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2"/>
          <p:cNvSpPr/>
          <p:nvPr/>
        </p:nvSpPr>
        <p:spPr>
          <a:xfrm>
            <a:off x="5429707" y="1225296"/>
            <a:ext cx="1514246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 session IDs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Toolkit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distant readers + updates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2"/>
          <p:cNvSpPr/>
          <p:nvPr/>
        </p:nvSpPr>
        <p:spPr>
          <a:xfrm>
            <a:off x="7044538" y="1225296"/>
            <a:ext cx="1514246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Feedback data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page / server state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730"/>
              <a:buFont typeface="Arial"/>
              <a:buNone/>
            </a:pPr>
            <a:r>
              <a:rPr b="0" i="0" lang="en" sz="7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external server-backed data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2"/>
          <p:cNvSpPr/>
          <p:nvPr/>
        </p:nvSpPr>
        <p:spPr>
          <a:xfrm>
            <a:off x="749808" y="3182112"/>
            <a:ext cx="7644384" cy="50292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Redux did not replace the earlier tools. We added Redux for one state domain whose shared readers and update operations benefit from that structure.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2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Ask first: what information changes, who needs it, and what should be its source of truth?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3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Activity: Build a Quiz Review Queue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3"/>
          <p:cNvSpPr/>
          <p:nvPr/>
        </p:nvSpPr>
        <p:spPr>
          <a:xfrm>
            <a:off x="585216" y="868680"/>
            <a:ext cx="6217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A quiz application lets learners flag questions they want to revisit.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3"/>
          <p:cNvSpPr/>
          <p:nvPr/>
        </p:nvSpPr>
        <p:spPr>
          <a:xfrm>
            <a:off x="658368" y="1261872"/>
            <a:ext cx="2514600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Question card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Question 3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Which hook reads Redux state?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 Flag for review ]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3"/>
          <p:cNvSpPr/>
          <p:nvPr/>
        </p:nvSpPr>
        <p:spPr>
          <a:xfrm>
            <a:off x="3438144" y="1261872"/>
            <a:ext cx="2057400" cy="1536192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Top summary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Flagged for review: 0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3"/>
          <p:cNvSpPr/>
          <p:nvPr/>
        </p:nvSpPr>
        <p:spPr>
          <a:xfrm>
            <a:off x="5760720" y="1261872"/>
            <a:ext cx="2514600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Review Queue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0"/>
              <a:buFont typeface="Arial"/>
              <a:buNone/>
            </a:pPr>
            <a:r>
              <a:t/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No questions flagged yet.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3"/>
          <p:cNvSpPr/>
          <p:nvPr/>
        </p:nvSpPr>
        <p:spPr>
          <a:xfrm>
            <a:off x="841248" y="3127248"/>
            <a:ext cx="7315200" cy="402336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Target: flag Question 3 → button becomes Flagged, summary becomes 1, Review Queue lists Question 3.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3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Shared state to create: flaggedQuestionIds: string[]. Use the Redux Toolkit pattern from Conference Hub.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4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Activity Part 1: Create the review state layer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4"/>
          <p:cNvSpPr/>
          <p:nvPr/>
        </p:nvSpPr>
        <p:spPr>
          <a:xfrm>
            <a:off x="585216" y="987552"/>
            <a:ext cx="370332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Build the Redux state domain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src/features/review/reviewSlice.ts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type ReviewState = {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  flaggedQuestionIds: string[];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initial state: []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4"/>
          <p:cNvSpPr/>
          <p:nvPr/>
        </p:nvSpPr>
        <p:spPr>
          <a:xfrm>
            <a:off x="4645152" y="987552"/>
            <a:ext cx="3703320" cy="102412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Define two operations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questionFlagged(questionId)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questionUnflagged(questionId)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Do not allow duplicate IDs.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4"/>
          <p:cNvSpPr/>
          <p:nvPr/>
        </p:nvSpPr>
        <p:spPr>
          <a:xfrm>
            <a:off x="4645152" y="2286000"/>
            <a:ext cx="3703320" cy="1133856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Register the slice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Reducer key: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State path: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state.review.flaggedQuestionIds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Also derive RootState and AppDispatch.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4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Checkpoint: What state belongs to the review slice? What actions can change it? Where will it live in the Redux tree?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5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Activity Part 2: Connect the quiz UI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5"/>
          <p:cNvSpPr/>
          <p:nvPr/>
        </p:nvSpPr>
        <p:spPr>
          <a:xfrm>
            <a:off x="3529584" y="1005840"/>
            <a:ext cx="2057400" cy="47548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review.flaggedQuestionIds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1664208" y="19019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4407408" y="19019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5"/>
          <p:cNvSpPr/>
          <p:nvPr/>
        </p:nvSpPr>
        <p:spPr>
          <a:xfrm>
            <a:off x="7150608" y="19019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658368" y="2322576"/>
            <a:ext cx="2331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ReviewSummary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 length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Flagged for review: 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5"/>
          <p:cNvSpPr/>
          <p:nvPr/>
        </p:nvSpPr>
        <p:spPr>
          <a:xfrm>
            <a:off x="3401568" y="2322576"/>
            <a:ext cx="2331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QuestionCard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 whether flagged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dispatch flag / unflag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5"/>
          <p:cNvSpPr/>
          <p:nvPr/>
        </p:nvSpPr>
        <p:spPr>
          <a:xfrm>
            <a:off x="6144768" y="2322576"/>
            <a:ext cx="233172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ReviewQueue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read IDs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derive question objects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5"/>
          <p:cNvSpPr/>
          <p:nvPr/>
        </p:nvSpPr>
        <p:spPr>
          <a:xfrm>
            <a:off x="822960" y="3749040"/>
            <a:ext cx="7315200" cy="41148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Do not store duplicate question objects in Redux. Store the flagged IDs and derive the displayed queue from existing data.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5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Test after each connection: summary count, card button state, and Review Queue should stay consistent.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Activity completion check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6"/>
          <p:cNvSpPr/>
          <p:nvPr/>
        </p:nvSpPr>
        <p:spPr>
          <a:xfrm>
            <a:off x="585216" y="86868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Start with flaggedQuestionIds = []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6"/>
          <p:cNvSpPr/>
          <p:nvPr/>
        </p:nvSpPr>
        <p:spPr>
          <a:xfrm>
            <a:off x="585216" y="1243584"/>
            <a:ext cx="2548128" cy="11521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Test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Flag Question 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state: ["Q-3"]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count: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3297936" y="1243584"/>
            <a:ext cx="2548128" cy="11521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Test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Flag Question 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state: ["Q-3", "Q-1"]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count: 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6"/>
          <p:cNvSpPr/>
          <p:nvPr/>
        </p:nvSpPr>
        <p:spPr>
          <a:xfrm>
            <a:off x="6010656" y="1243584"/>
            <a:ext cx="2548128" cy="11521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Test 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Unflag Question 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state: ["Q-1"]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786384" y="2743200"/>
            <a:ext cx="3383280" cy="123444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Structural check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review state source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review slice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one registered reducer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typed Redux hooks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selectors for reading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dispatches for changing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no duplicated question objects in Redux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4590288" y="2743200"/>
            <a:ext cx="3712464" cy="1234440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Explain the architecture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Why can QuestionCard, ReviewSummary, and ReviewQueue stay consistent without passing review state through intermediate component relationships?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7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Cool-down 1: Where should this state live?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7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7"/>
          <p:cNvSpPr/>
          <p:nvPr/>
        </p:nvSpPr>
        <p:spPr>
          <a:xfrm>
            <a:off x="585216" y="1051560"/>
            <a:ext cx="188366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 — Search panel visibility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Only SearchPanel needs isAdvancedOpen.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7"/>
          <p:cNvSpPr/>
          <p:nvPr/>
        </p:nvSpPr>
        <p:spPr>
          <a:xfrm>
            <a:off x="2615184" y="1051560"/>
            <a:ext cx="188366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 — Current session track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The URL should preserve the filter.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7"/>
          <p:cNvSpPr/>
          <p:nvPr/>
        </p:nvSpPr>
        <p:spPr>
          <a:xfrm>
            <a:off x="4645152" y="1051560"/>
            <a:ext cx="188366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 — Display preference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Already shared through Context.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7"/>
          <p:cNvSpPr/>
          <p:nvPr/>
        </p:nvSpPr>
        <p:spPr>
          <a:xfrm>
            <a:off x="6675120" y="1051560"/>
            <a:ext cx="1883664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D — Saved-session planner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0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Header, Sessions, and Planner all use it.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7"/>
          <p:cNvSpPr/>
          <p:nvPr/>
        </p:nvSpPr>
        <p:spPr>
          <a:xfrm>
            <a:off x="768096" y="2834640"/>
            <a:ext cx="2743200" cy="310896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Match each value to its source of truth: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7"/>
          <p:cNvSpPr/>
          <p:nvPr/>
        </p:nvSpPr>
        <p:spPr>
          <a:xfrm>
            <a:off x="3767328" y="2816352"/>
            <a:ext cx="1028700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Local React state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4887468" y="2816352"/>
            <a:ext cx="1028700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6007608" y="2816352"/>
            <a:ext cx="1028700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React Context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7127748" y="2816352"/>
            <a:ext cx="1028700" cy="347472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Toolkit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Answers: A → Local React state; B → URL; C → React Context; D → Redux Toolkit. Learning Redux does not mean every changing value moves into Redux.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8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Cool-down 2: Is this reducer update safe?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8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8"/>
          <p:cNvSpPr/>
          <p:nvPr/>
        </p:nvSpPr>
        <p:spPr>
          <a:xfrm>
            <a:off x="585216" y="1051560"/>
            <a:ext cx="3611880" cy="115214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// Case A — inside Redux Toolkit slice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sessionSaved(state, action) {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state.savedSessionIds.push(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action.payload,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50"/>
              <a:buFont typeface="Courier New"/>
              <a:buNone/>
            </a:pPr>
            <a:r>
              <a:rPr b="0" i="0" lang="en" sz="75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8"/>
          <p:cNvSpPr/>
          <p:nvPr/>
        </p:nvSpPr>
        <p:spPr>
          <a:xfrm>
            <a:off x="585216" y="2468880"/>
            <a:ext cx="3611880" cy="950976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// Case B — ordinary React state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function addSession(id: string) {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savedSessionIds.push(id);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setSavedSessionIds(savedSessionIds);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30"/>
              <a:buFont typeface="Courier New"/>
              <a:buNone/>
            </a:pPr>
            <a:r>
              <a:rPr b="0" i="0" lang="en" sz="73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8"/>
          <p:cNvSpPr/>
          <p:nvPr/>
        </p:nvSpPr>
        <p:spPr>
          <a:xfrm>
            <a:off x="4645152" y="10515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8"/>
          <p:cNvSpPr/>
          <p:nvPr/>
        </p:nvSpPr>
        <p:spPr>
          <a:xfrm>
            <a:off x="4645152" y="1444752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8"/>
          <p:cNvSpPr/>
          <p:nvPr/>
        </p:nvSpPr>
        <p:spPr>
          <a:xfrm>
            <a:off x="5038344" y="1444752"/>
            <a:ext cx="331012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Both are safe because React and Redux now support mutation.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8"/>
          <p:cNvSpPr/>
          <p:nvPr/>
        </p:nvSpPr>
        <p:spPr>
          <a:xfrm>
            <a:off x="4645152" y="1828800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8"/>
          <p:cNvSpPr/>
          <p:nvPr/>
        </p:nvSpPr>
        <p:spPr>
          <a:xfrm>
            <a:off x="5038344" y="1828800"/>
            <a:ext cx="331012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Neither is safe because push() must never appear.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8"/>
          <p:cNvSpPr/>
          <p:nvPr/>
        </p:nvSpPr>
        <p:spPr>
          <a:xfrm>
            <a:off x="4645152" y="2212848"/>
            <a:ext cx="347472" cy="438912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8"/>
          <p:cNvSpPr/>
          <p:nvPr/>
        </p:nvSpPr>
        <p:spPr>
          <a:xfrm>
            <a:off x="5038344" y="2212848"/>
            <a:ext cx="331012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 is safe inside RTK’s Immer-powered reducer; B still mutates React state.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8"/>
          <p:cNvSpPr/>
          <p:nvPr/>
        </p:nvSpPr>
        <p:spPr>
          <a:xfrm>
            <a:off x="4645152" y="2761488"/>
            <a:ext cx="347472" cy="310896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EE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8"/>
          <p:cNvSpPr/>
          <p:nvPr/>
        </p:nvSpPr>
        <p:spPr>
          <a:xfrm>
            <a:off x="5038344" y="2761488"/>
            <a:ext cx="3310128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 is safe because the setter is called afterward.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8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Answer: C. Inside createSlice, RTK gives the reducer an Immer draft. Ordinary React state does not gain that behavior.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9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Cool-down 3: Trace the Redux 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59"/>
          <p:cNvSpPr/>
          <p:nvPr/>
        </p:nvSpPr>
        <p:spPr>
          <a:xfrm>
            <a:off x="585216" y="74980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9"/>
          <p:cNvSpPr/>
          <p:nvPr/>
        </p:nvSpPr>
        <p:spPr>
          <a:xfrm>
            <a:off x="585216" y="1024128"/>
            <a:ext cx="2606040" cy="8412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state = {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planner: {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savedSessionIds: ["S-101", "S-103"]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20"/>
              <a:buFont typeface="Courier New"/>
              <a:buNone/>
            </a:pPr>
            <a:r>
              <a:rPr b="0" i="0" lang="en" sz="72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9"/>
          <p:cNvSpPr/>
          <p:nvPr/>
        </p:nvSpPr>
        <p:spPr>
          <a:xfrm>
            <a:off x="3456432" y="1024128"/>
            <a:ext cx="2148840" cy="603504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70"/>
              <a:buFont typeface="Courier New"/>
              <a:buNone/>
            </a:pPr>
            <a:r>
              <a:rPr b="0" i="0" lang="en" sz="77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dispatch(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70"/>
              <a:buFont typeface="Courier New"/>
              <a:buNone/>
            </a:pPr>
            <a:r>
              <a:rPr b="0" i="0" lang="en" sz="77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sessionRemoved("S-101"),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70"/>
              <a:buFont typeface="Courier New"/>
              <a:buNone/>
            </a:pPr>
            <a:r>
              <a:rPr b="0" i="0" lang="en" sz="77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9"/>
          <p:cNvSpPr/>
          <p:nvPr/>
        </p:nvSpPr>
        <p:spPr>
          <a:xfrm>
            <a:off x="5870448" y="1024128"/>
            <a:ext cx="2505456" cy="84124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state.savedSessionIds =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state.savedSessionIds.filter(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  (id) =&gt; id !== action.payload,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9"/>
          <p:cNvSpPr/>
          <p:nvPr/>
        </p:nvSpPr>
        <p:spPr>
          <a:xfrm>
            <a:off x="960120" y="2212848"/>
            <a:ext cx="3502152" cy="56692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 selector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state.planner.savedSessionIds.length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9"/>
          <p:cNvSpPr/>
          <p:nvPr/>
        </p:nvSpPr>
        <p:spPr>
          <a:xfrm>
            <a:off x="4681728" y="2212848"/>
            <a:ext cx="3502152" cy="566928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SessionList selector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includes("S-101")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9"/>
          <p:cNvSpPr/>
          <p:nvPr/>
        </p:nvSpPr>
        <p:spPr>
          <a:xfrm>
            <a:off x="1316736" y="3072384"/>
            <a:ext cx="2971800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Predict the next UI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savedSessionIds = 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 = Saved: 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S-101 button = Save or Saved?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9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Answer: savedSessionIds = ["S-103"]; Header = Saved: 1; S-101 button = Save. Both components render from the same current Redux state.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0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Homework: Recipe Shortlist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0"/>
          <p:cNvSpPr/>
          <p:nvPr/>
        </p:nvSpPr>
        <p:spPr>
          <a:xfrm>
            <a:off x="585216" y="950976"/>
            <a:ext cx="2487168" cy="23957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Target app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</a:pPr>
            <a:r>
              <a:t/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Masala Pasta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Indian fusion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[ Add to shortlist ]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</a:pPr>
            <a:r>
              <a:t/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Header: Shortlisted: 2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</a:pPr>
            <a:r>
              <a:t/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0"/>
              <a:buFont typeface="Arial"/>
              <a:buNone/>
            </a:pPr>
            <a:r>
              <a:rPr b="1" i="0" lang="en" sz="8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Shortlist view with Remove and Clear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60"/>
          <p:cNvSpPr/>
          <p:nvPr/>
        </p:nvSpPr>
        <p:spPr>
          <a:xfrm>
            <a:off x="3310128" y="950976"/>
            <a:ext cx="2395728" cy="1133856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Redux shortlist with favoriteRecipeIds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Add / remove / clear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Header count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Shortlist view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local searchText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60"/>
          <p:cNvSpPr/>
          <p:nvPr/>
        </p:nvSpPr>
        <p:spPr>
          <a:xfrm>
            <a:off x="5943600" y="950976"/>
            <a:ext cx="2395728" cy="1133856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Adding updates count and shortlist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Removing updates every consumer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Clearing empties shortlist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10"/>
              <a:buFont typeface="Arial"/>
              <a:buNone/>
            </a:pPr>
            <a:r>
              <a:rPr b="1" i="0" lang="en" sz="81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Search still works independently</a:t>
            </a:r>
            <a:endParaRPr b="0" i="0" sz="8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60"/>
          <p:cNvSpPr/>
          <p:nvPr/>
        </p:nvSpPr>
        <p:spPr>
          <a:xfrm>
            <a:off x="3310128" y="2377440"/>
            <a:ext cx="2395728" cy="84124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Why is favoriteRecipeIds in Redux?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Why does searchText remain local?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0"/>
          <p:cNvSpPr/>
          <p:nvPr/>
        </p:nvSpPr>
        <p:spPr>
          <a:xfrm>
            <a:off x="5943600" y="2377440"/>
            <a:ext cx="2395728" cy="841248"/>
          </a:xfrm>
          <a:prstGeom prst="rect">
            <a:avLst/>
          </a:prstGeom>
          <a:solidFill>
            <a:srgbClr val="FCE4E4"/>
          </a:solidFill>
          <a:ln cap="flat" cmpd="sng" w="12700">
            <a:solidFill>
              <a:srgbClr val="E9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Synchronous Redux only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No API calls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No thunk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3434"/>
              </a:buClr>
              <a:buSzPts val="839"/>
              <a:buFont typeface="Arial"/>
              <a:buNone/>
            </a:pPr>
            <a:r>
              <a:rPr b="1" i="0" lang="en" sz="840" u="none" cap="none" strike="noStrike">
                <a:solidFill>
                  <a:srgbClr val="9B3434"/>
                </a:solidFill>
                <a:latin typeface="Arial"/>
                <a:ea typeface="Arial"/>
                <a:cs typeface="Arial"/>
                <a:sym typeface="Arial"/>
              </a:rPr>
              <a:t>No RTK Query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60"/>
          <p:cNvSpPr/>
          <p:nvPr/>
        </p:nvSpPr>
        <p:spPr>
          <a:xfrm>
            <a:off x="585216" y="4224528"/>
            <a:ext cx="7973568" cy="530352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Reflection: Explain why favoriteRecipeIds belongs in Redux while searchText remains ordinary local React state.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1"/>
          <p:cNvSpPr/>
          <p:nvPr/>
        </p:nvSpPr>
        <p:spPr>
          <a:xfrm>
            <a:off x="585216" y="3200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Next: What if Redux state comes from a server?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61"/>
          <p:cNvSpPr/>
          <p:nvPr/>
        </p:nvSpPr>
        <p:spPr>
          <a:xfrm>
            <a:off x="585216" y="8686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678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Today, our Redux updates were synchronous.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61"/>
          <p:cNvSpPr/>
          <p:nvPr/>
        </p:nvSpPr>
        <p:spPr>
          <a:xfrm>
            <a:off x="768096" y="1234440"/>
            <a:ext cx="2148840" cy="1417320"/>
          </a:xfrm>
          <a:prstGeom prst="rect">
            <a:avLst/>
          </a:prstGeom>
          <a:solidFill>
            <a:srgbClr val="DBF7E7"/>
          </a:solidFill>
          <a:ln cap="flat" cmpd="sng" w="12700">
            <a:solidFill>
              <a:srgbClr val="63C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user action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dispatch action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reducer updates state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UI renders result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61"/>
          <p:cNvSpPr/>
          <p:nvPr/>
        </p:nvSpPr>
        <p:spPr>
          <a:xfrm>
            <a:off x="3200400" y="1572768"/>
            <a:ext cx="1828800" cy="566928"/>
          </a:xfrm>
          <a:prstGeom prst="rect">
            <a:avLst/>
          </a:prstGeom>
          <a:solidFill>
            <a:srgbClr val="081225"/>
          </a:solidFill>
          <a:ln cap="flat" cmpd="sng" w="9525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dispatch(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  sessionSaved("S-103"),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B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F4F7FB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61"/>
          <p:cNvSpPr/>
          <p:nvPr/>
        </p:nvSpPr>
        <p:spPr>
          <a:xfrm>
            <a:off x="5349240" y="868680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A server request introduces another problem.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1"/>
          <p:cNvSpPr/>
          <p:nvPr/>
        </p:nvSpPr>
        <p:spPr>
          <a:xfrm>
            <a:off x="5623560" y="1234440"/>
            <a:ext cx="1481328" cy="1097280"/>
          </a:xfrm>
          <a:prstGeom prst="rect">
            <a:avLst/>
          </a:prstGeom>
          <a:solidFill>
            <a:srgbClr val="EAF2FF"/>
          </a:solidFill>
          <a:ln cap="flat" cmpd="sng" w="12700">
            <a:solidFill>
              <a:srgbClr val="BFD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user selects Save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request starts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1"/>
          <p:cNvSpPr/>
          <p:nvPr/>
        </p:nvSpPr>
        <p:spPr>
          <a:xfrm>
            <a:off x="5321808" y="2615184"/>
            <a:ext cx="908304" cy="38404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1"/>
          <p:cNvSpPr/>
          <p:nvPr/>
        </p:nvSpPr>
        <p:spPr>
          <a:xfrm>
            <a:off x="6339840" y="2615184"/>
            <a:ext cx="908304" cy="38404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succeeded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1"/>
          <p:cNvSpPr/>
          <p:nvPr/>
        </p:nvSpPr>
        <p:spPr>
          <a:xfrm>
            <a:off x="7357872" y="2615184"/>
            <a:ext cx="908304" cy="384048"/>
          </a:xfrm>
          <a:prstGeom prst="rect">
            <a:avLst/>
          </a:prstGeom>
          <a:solidFill>
            <a:srgbClr val="FFF3C4"/>
          </a:solidFill>
          <a:ln cap="flat" cmpd="sng" w="12700">
            <a:solidFill>
              <a:srgbClr val="E2B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5800"/>
              </a:buClr>
              <a:buSzPts val="820"/>
              <a:buFont typeface="Arial"/>
              <a:buNone/>
            </a:pPr>
            <a:r>
              <a:rPr b="1" i="0" lang="en" sz="820" u="none" cap="none" strike="noStrike">
                <a:solidFill>
                  <a:srgbClr val="725800"/>
                </a:solidFill>
                <a:latin typeface="Arial"/>
                <a:ea typeface="Arial"/>
                <a:cs typeface="Arial"/>
                <a:sym typeface="Arial"/>
              </a:rPr>
              <a:t>failed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1"/>
          <p:cNvSpPr/>
          <p:nvPr/>
        </p:nvSpPr>
        <p:spPr>
          <a:xfrm>
            <a:off x="822960" y="3246120"/>
            <a:ext cx="7315200" cy="658368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Today: How should shared state change for a synchronous action?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"/>
              <a:buFont typeface="Arial"/>
              <a:buNone/>
            </a:pPr>
            <a:r>
              <a:t/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225"/>
              </a:buClr>
              <a:buSzPts val="930"/>
              <a:buFont typeface="Arial"/>
              <a:buNone/>
            </a:pPr>
            <a:r>
              <a:rPr b="1" i="0" lang="en" sz="930" u="none" cap="none" strike="noStrike">
                <a:solidFill>
                  <a:srgbClr val="071225"/>
                </a:solidFill>
                <a:latin typeface="Arial"/>
                <a:ea typeface="Arial"/>
                <a:cs typeface="Arial"/>
                <a:sym typeface="Arial"/>
              </a:rPr>
              <a:t>Next: How should Redux represent and coordinate asynchronous work?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61"/>
          <p:cNvSpPr/>
          <p:nvPr/>
        </p:nvSpPr>
        <p:spPr>
          <a:xfrm>
            <a:off x="1920240" y="4297680"/>
            <a:ext cx="1481328" cy="201168"/>
          </a:xfrm>
          <a:prstGeom prst="rect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C9B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D4C9B"/>
                </a:solidFill>
                <a:latin typeface="Arial"/>
                <a:ea typeface="Arial"/>
                <a:cs typeface="Arial"/>
                <a:sym typeface="Arial"/>
              </a:rPr>
              <a:t>createAsyncThunk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61"/>
          <p:cNvSpPr/>
          <p:nvPr/>
        </p:nvSpPr>
        <p:spPr>
          <a:xfrm>
            <a:off x="3584448" y="4297680"/>
            <a:ext cx="1664208" cy="201168"/>
          </a:xfrm>
          <a:prstGeom prst="rect">
            <a:avLst/>
          </a:prstGeom>
          <a:solidFill>
            <a:srgbClr val="F1E8FF"/>
          </a:solidFill>
          <a:ln cap="flat" cmpd="sng" w="9525">
            <a:solidFill>
              <a:srgbClr val="F1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42A6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6B42A6"/>
                </a:solidFill>
                <a:latin typeface="Arial"/>
                <a:ea typeface="Arial"/>
                <a:cs typeface="Arial"/>
                <a:sym typeface="Arial"/>
              </a:rPr>
              <a:t>async request state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61"/>
          <p:cNvSpPr/>
          <p:nvPr/>
        </p:nvSpPr>
        <p:spPr>
          <a:xfrm>
            <a:off x="5431536" y="4297680"/>
            <a:ext cx="1170432" cy="201168"/>
          </a:xfrm>
          <a:prstGeom prst="rect">
            <a:avLst/>
          </a:prstGeom>
          <a:solidFill>
            <a:srgbClr val="DBF7E7"/>
          </a:solidFill>
          <a:ln cap="flat" cmpd="sng" w="9525">
            <a:solidFill>
              <a:srgbClr val="DB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B2A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134B2A"/>
                </a:solidFill>
                <a:latin typeface="Arial"/>
                <a:ea typeface="Arial"/>
                <a:cs typeface="Arial"/>
                <a:sym typeface="Arial"/>
              </a:rPr>
              <a:t>RTK Query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