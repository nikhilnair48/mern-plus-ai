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3a5e5dab_2_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83a5e5dab_2_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83a5e5dab_2_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3a5e5dab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83a5e5dab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83a5e5dab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3a5e5dab_2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83a5e5dab_2_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83a5e5dab_2_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3a5e5dab_2_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83a5e5dab_2_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83a5e5dab_2_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3a5e5dab_2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83a5e5dab_2_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83a5e5dab_2_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3a5e5dab_2_1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f83a5e5dab_2_1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83a5e5dab_2_1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3a5e5dab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83a5e5dab_2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83a5e5dab_2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3a5e5dab_2_1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f83a5e5dab_2_1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83a5e5dab_2_1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3a5e5dab_2_1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83a5e5dab_2_1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3a5e5dab_2_1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3a5e5dab_2_2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83a5e5dab_2_2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83a5e5dab_2_2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3a5e5dab_2_2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83a5e5dab_2_2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83a5e5dab_2_2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83a5e5dab_2_2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f83a5e5dab_2_2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83a5e5dab_2_2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83a5e5dab_2_2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f83a5e5dab_2_2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83a5e5dab_2_2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83a5e5dab_2_2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f83a5e5dab_2_2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83a5e5dab_2_2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3a5e5dab_2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83a5e5dab_2_3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83a5e5dab_2_3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83a5e5dab_2_3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f83a5e5dab_2_3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83a5e5dab_2_3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3a5e5dab_2_3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83a5e5dab_2_3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83a5e5dab_2_3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83a5e5dab_2_3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f83a5e5dab_2_3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83a5e5dab_2_3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3a5e5dab_2_3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f83a5e5dab_2_3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f83a5e5dab_2_3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3a5e5dab_2_3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f83a5e5dab_2_3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f83a5e5dab_2_3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3a5e5dab_2_4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83a5e5dab_2_4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83a5e5dab_2_4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83a5e5dab_2_4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83a5e5dab_2_4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83a5e5dab_2_4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83a5e5dab_2_4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f83a5e5dab_2_4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83a5e5dab_2_4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83a5e5dab_2_4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f83a5e5dab_2_4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83a5e5dab_2_4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83a5e5dab_2_4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f83a5e5dab_2_4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83a5e5dab_2_4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83a5e5dab_2_5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f83a5e5dab_2_5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f83a5e5dab_2_5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83a5e5dab_2_5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3f83a5e5dab_2_5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83a5e5dab_2_5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83a5e5dab_2_5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f83a5e5dab_2_5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83a5e5dab_2_5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83a5e5dab_2_5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f83a5e5dab_2_5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83a5e5dab_2_5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f83a5e5dab_2_5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3f83a5e5dab_2_5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f83a5e5dab_2_5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83a5e5dab_2_6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f83a5e5dab_2_6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83a5e5dab_2_6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83a5e5dab_2_6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f83a5e5dab_2_6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83a5e5dab_2_6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f83a5e5dab_2_6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3f83a5e5dab_2_6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f83a5e5dab_2_6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83a5e5dab_2_6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f83a5e5dab_2_6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f83a5e5dab_2_6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83a5e5dab_2_7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3f83a5e5dab_2_7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f83a5e5dab_2_7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83a5e5dab_2_7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g3f83a5e5dab_2_7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f83a5e5dab_2_7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83a5e5dab_2_7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3f83a5e5dab_2_7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g3f83a5e5dab_2_7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f83a5e5dab_2_7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f83a5e5dab_2_7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f83a5e5dab_2_7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83a5e5dab_2_7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f83a5e5dab_2_7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f83a5e5dab_2_7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83a5e5dab_2_8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g3f83a5e5dab_2_8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f83a5e5dab_2_8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83a5e5dab_2_8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f83a5e5dab_2_8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g3f83a5e5dab_2_8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83a5e5dab_2_8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g3f83a5e5dab_2_8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3f83a5e5dab_2_8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f83a5e5dab_2_8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g3f83a5e5dab_2_8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f83a5e5dab_2_8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f83a5e5dab_2_8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g3f83a5e5dab_2_8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f83a5e5dab_2_8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83a5e5dab_2_9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g3f83a5e5dab_2_9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3f83a5e5dab_2_9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VI_MASTER">
  <p:cSld name="GUVI_MASTER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8).png"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/>
        </p:nvSpPr>
        <p:spPr>
          <a:xfrm>
            <a:off x="768096" y="140817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LECTURE 21  |  REACT &amp; TYPESCRIPT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 txBox="1"/>
          <p:nvPr/>
        </p:nvSpPr>
        <p:spPr>
          <a:xfrm>
            <a:off x="768096" y="1764792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50"/>
              <a:buFont typeface="Arial"/>
              <a:buNone/>
            </a:pPr>
            <a:r>
              <a:rPr b="1" i="0" lang="en" sz="27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 and collections</a:t>
            </a:r>
            <a:endParaRPr b="0" i="0" sz="2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50"/>
              <a:buFont typeface="Arial"/>
              <a:buNone/>
            </a:pPr>
            <a:r>
              <a:rPr b="1" i="0" lang="en" sz="27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 React</a:t>
            </a:r>
            <a:endParaRPr b="0" i="0" sz="2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 txBox="1"/>
          <p:nvPr/>
        </p:nvSpPr>
        <p:spPr>
          <a:xfrm>
            <a:off x="786384" y="2871216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20"/>
              <a:buFont typeface="Arial"/>
              <a:buNone/>
            </a:pPr>
            <a:r>
              <a:rPr b="0" i="0" lang="en" sz="14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state to remember changing information, render collections, and update array data with TypeScript.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768096" y="3758184"/>
            <a:ext cx="4096512" cy="512064"/>
          </a:xfrm>
          <a:prstGeom prst="roundRect">
            <a:avLst>
              <a:gd fmla="val 10714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941832" y="3904488"/>
            <a:ext cx="3767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useState  •  arrays  •  map  •  filter  •  reduce  •  keys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822960" y="1033272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822960" y="1069848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389888" y="10058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 changing information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3602736" y="996696"/>
            <a:ext cx="4425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useState inside a function component.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7"/>
          <p:cNvCxnSpPr/>
          <p:nvPr/>
        </p:nvCxnSpPr>
        <p:spPr>
          <a:xfrm>
            <a:off x="1371600" y="1490472"/>
            <a:ext cx="6693408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7"/>
          <p:cNvSpPr/>
          <p:nvPr/>
        </p:nvSpPr>
        <p:spPr>
          <a:xfrm>
            <a:off x="822960" y="1664208"/>
            <a:ext cx="384048" cy="38404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822960" y="1700784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389888" y="1636776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collections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602736" y="1627632"/>
            <a:ext cx="4425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Turn typed array data into repeated UI with stable identity.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1371600" y="2121408"/>
            <a:ext cx="6693408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7"/>
          <p:cNvSpPr/>
          <p:nvPr/>
        </p:nvSpPr>
        <p:spPr>
          <a:xfrm>
            <a:off x="822960" y="2295144"/>
            <a:ext cx="384048" cy="38404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822960" y="2331720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389888" y="2267712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Update array state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602736" y="2258568"/>
            <a:ext cx="4425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Add, remove, and update items without mutating the current state array.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7"/>
          <p:cNvCxnSpPr/>
          <p:nvPr/>
        </p:nvCxnSpPr>
        <p:spPr>
          <a:xfrm>
            <a:off x="1371600" y="2752344"/>
            <a:ext cx="6693408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7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A1620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822960" y="296265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389888" y="2898648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from state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602736" y="2889504"/>
            <a:ext cx="4425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array methods to calculate useful values from the current collection.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1371600" y="3383280"/>
            <a:ext cx="6693408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822960" y="359359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389888" y="3529584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Apply the complete pattern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602736" y="3520440"/>
            <a:ext cx="44256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Build and debug a small React + TypeScript collection interface.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Warm-up: When does React call the handler?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749808" y="1152144"/>
            <a:ext cx="3730752" cy="230428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handleMute() {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console.log("Muted");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Font typeface="Arial"/>
              <a:buNone/>
            </a:pPr>
            <a:r>
              <a:t/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onClick={handleMute}&gt;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Mute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754880" y="1097280"/>
            <a:ext cx="3291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does handleMute run?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873752" y="1527048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5193792" y="1508760"/>
            <a:ext cx="26791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While the component renders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873752" y="2075688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5193792" y="2057400"/>
            <a:ext cx="26791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the user clicks the button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4873752" y="2624328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5193792" y="2606040"/>
            <a:ext cx="26791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While TypeScript checks the component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873752" y="3172968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5193792" y="3154680"/>
            <a:ext cx="26791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 soon as React creates the button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onClick={handleMute} gives React the function. React invokes it when the click occurs.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Warm-up: Follow the callback relationship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749808" y="932688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Study the parent-to-child flow, then choose the correct statement.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749808" y="1225296"/>
            <a:ext cx="4023360" cy="267004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handleArchive(noteId: string)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console.log(noteId);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&lt;NoteActions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noteId="NOTE-18"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onArchive={handleArchive}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type NoteActionsProps =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noteId: string;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onArchive: (noteId: string) =&gt; void;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onClick={() =&gt; onArchive(noteId)}&gt;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Archive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166360" y="1307592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486400" y="1289304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child defines handleArchive, and the parent invokes it.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166360" y="1892808"/>
            <a:ext cx="2560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486400" y="1874520"/>
            <a:ext cx="258775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onArchive travels from the child to the parent when the button is clicked.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166360" y="2587752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486400" y="2569464"/>
            <a:ext cx="2587752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parent defines the behaviour and supplies it through onArchive; the child invokes the supplied callback.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166360" y="3429000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486400" y="3410712"/>
            <a:ext cx="2587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invokes handleArchive when the argument type matches.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callback prop is passed parent to child; the child invokes the supplied function when the event occurs.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Warm-up: Which ID reaches the parent handler?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749808" y="941832"/>
            <a:ext cx="39319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Two TaskActions instances receive different task IDs.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749808" y="1243584"/>
            <a:ext cx="3401568" cy="1700784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&lt;TaskActions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taskId="TASK-52"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onOpen={handleOpen}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&lt;TaskActions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taskId="TASK-73"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onOpen={handleOpen}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749808" y="3127248"/>
            <a:ext cx="3401568" cy="74980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onClick={() =&gt; onOpen(taskId)}&gt;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Open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462272" y="1133856"/>
            <a:ext cx="36393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user clicks Open on the first task. What does handleOpen receive?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581144" y="172821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901184" y="1709928"/>
            <a:ext cx="27249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"TASK-52"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581144" y="227685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901184" y="2258568"/>
            <a:ext cx="27249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"TASK-73"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581144" y="282549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4901184" y="2807208"/>
            <a:ext cx="27249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Both task IDs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4581144" y="337413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901184" y="3355848"/>
            <a:ext cx="27249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argument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A. "TASK-52"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first TaskActions instance received TASK-52, so that value is supplied when its callback is invoked.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Warm-up: Choose the right state owner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749808" y="1005840"/>
            <a:ext cx="7452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CartItem contains the quantity displayed to the user and the button that changes the quantity. No other component needs this changing quantity.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749808" y="1755648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Where should the quantity normally live?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868680" y="2148840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1188720" y="2130552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StorePage, because all state should live near the top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868680" y="2679192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1188720" y="2660904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button, because the button causes the change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868680" y="3209544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1188720" y="3191256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Both StorePage and CartItem, so they each have a copy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868680" y="3739896"/>
            <a:ext cx="256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1188720" y="3721608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CartItem, because it is the component that needs and coordinates the value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749808" y="4151376"/>
            <a:ext cx="7479792" cy="384048"/>
          </a:xfrm>
          <a:prstGeom prst="roundRect">
            <a:avLst>
              <a:gd fmla="val 1190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932688" y="4233672"/>
            <a:ext cx="71140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5"/>
              <a:buFont typeface="Arial"/>
              <a:buNone/>
            </a:pPr>
            <a:r>
              <a:rPr b="1" i="0" lang="en" sz="102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D. CartItem   Why: </a:t>
            </a:r>
            <a:r>
              <a:rPr b="0" i="0" lang="en" sz="102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only CartItem needs the changing value, moving it higher adds unnecessary coordination.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Warm-up: Find the closest common parent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749808" y="932688"/>
            <a:ext cx="7315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PlanButton can request a change to currentPlan. PlanLabel displays currentPlan.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877824" y="1335024"/>
            <a:ext cx="2761488" cy="438912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1042416" y="1444752"/>
            <a:ext cx="2414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>
            <a:off x="2249424" y="1773936"/>
            <a:ext cx="0" cy="219456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2"/>
          <p:cNvSpPr/>
          <p:nvPr/>
        </p:nvSpPr>
        <p:spPr>
          <a:xfrm>
            <a:off x="1170432" y="2011680"/>
            <a:ext cx="2468880" cy="457200"/>
          </a:xfrm>
          <a:prstGeom prst="roundRect">
            <a:avLst>
              <a:gd fmla="val 12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335024" y="2130552"/>
            <a:ext cx="21214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AccountPanel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2"/>
          <p:cNvCxnSpPr/>
          <p:nvPr/>
        </p:nvCxnSpPr>
        <p:spPr>
          <a:xfrm>
            <a:off x="2395728" y="2468880"/>
            <a:ext cx="0" cy="310896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22"/>
          <p:cNvCxnSpPr/>
          <p:nvPr/>
        </p:nvCxnSpPr>
        <p:spPr>
          <a:xfrm>
            <a:off x="1746504" y="2779776"/>
            <a:ext cx="1271016" cy="0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22"/>
          <p:cNvCxnSpPr/>
          <p:nvPr/>
        </p:nvCxnSpPr>
        <p:spPr>
          <a:xfrm>
            <a:off x="1746504" y="2779776"/>
            <a:ext cx="0" cy="219456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22"/>
          <p:cNvCxnSpPr/>
          <p:nvPr/>
        </p:nvCxnSpPr>
        <p:spPr>
          <a:xfrm>
            <a:off x="3017520" y="2779776"/>
            <a:ext cx="0" cy="219456"/>
          </a:xfrm>
          <a:prstGeom prst="straightConnector1">
            <a:avLst/>
          </a:prstGeom>
          <a:noFill/>
          <a:ln cap="flat" cmpd="sng" w="1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2"/>
          <p:cNvSpPr/>
          <p:nvPr/>
        </p:nvSpPr>
        <p:spPr>
          <a:xfrm>
            <a:off x="1042416" y="3017520"/>
            <a:ext cx="1426464" cy="438912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188720" y="3136392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PlanButton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2560320" y="3017520"/>
            <a:ext cx="1426464" cy="438912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2706624" y="3136392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PlanLabel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4224528" y="1316736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should own the shared value?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4343400" y="178308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663440" y="1764792"/>
            <a:ext cx="28346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PlanButton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343400" y="23042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663440" y="2286000"/>
            <a:ext cx="28346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PlanLabel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343400" y="282549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4663440" y="2807208"/>
            <a:ext cx="28346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AccountPanel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343400" y="3346704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663440" y="3328416"/>
            <a:ext cx="28346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C. AccountPanel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 is the closest common parent that needs to coordinate both children.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Introduction to React Hooks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749808" y="98755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10"/>
              <a:buFont typeface="Arial"/>
              <a:buNone/>
            </a:pPr>
            <a:r>
              <a:rPr b="1" i="0" lang="en" sz="14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Hook is a React function that lets a function component use a React feature.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749808" y="1627632"/>
            <a:ext cx="31546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Our function components can already: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841248" y="1938528"/>
            <a:ext cx="288036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Char char="•"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 props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Char char="•"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return TSX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Char char="•"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respond to events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Char char="•"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invoke callbacks supplied through props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4005072" y="1664208"/>
            <a:ext cx="38221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70"/>
              <a:buFont typeface="Arial"/>
              <a:buNone/>
            </a:pPr>
            <a:r>
              <a:rPr b="0" i="0" lang="en" sz="12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Hooks let those components use additional React capabilities.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4005072" y="2212848"/>
            <a:ext cx="3621024" cy="731520"/>
          </a:xfrm>
          <a:prstGeom prst="roundRect">
            <a:avLst>
              <a:gd fmla="val 75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224528" y="2359152"/>
            <a:ext cx="126187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Today's Hook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596128" y="2322576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Courier New"/>
              <a:buNone/>
            </a:pPr>
            <a:r>
              <a:rPr b="1" i="0" lang="en" sz="17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49808" y="3730752"/>
            <a:ext cx="7406640" cy="676656"/>
          </a:xfrm>
          <a:prstGeom prst="roundRect">
            <a:avLst>
              <a:gd fmla="val 8108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960120" y="3822192"/>
            <a:ext cx="6903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 Hooks at the top level of a React function component.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960120" y="4087368"/>
            <a:ext cx="6903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Do not call a Hook inside a loop, condition, or event handler.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Introduction to useState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749808" y="969264"/>
            <a:ext cx="7388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useState is a React Hook that adds a state variable to a function component.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1225296" y="1554480"/>
            <a:ext cx="6601968" cy="694944"/>
          </a:xfrm>
          <a:prstGeom prst="roundRect">
            <a:avLst>
              <a:gd fmla="val 7895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1444752" y="1773936"/>
            <a:ext cx="6163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10"/>
              <a:buFont typeface="Courier New"/>
              <a:buNone/>
            </a:pPr>
            <a:r>
              <a:rPr b="1" i="0" lang="en" sz="141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const [stateValue, setStateValue] = useState(initialValue);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4"/>
          <p:cNvCxnSpPr/>
          <p:nvPr/>
        </p:nvCxnSpPr>
        <p:spPr>
          <a:xfrm>
            <a:off x="6336792" y="2249424"/>
            <a:ext cx="448056" cy="347472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24"/>
          <p:cNvSpPr/>
          <p:nvPr/>
        </p:nvSpPr>
        <p:spPr>
          <a:xfrm>
            <a:off x="6016752" y="2633472"/>
            <a:ext cx="1920240" cy="804672"/>
          </a:xfrm>
          <a:prstGeom prst="roundRect">
            <a:avLst>
              <a:gd fmla="val 6818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199632" y="2743200"/>
            <a:ext cx="1463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You provide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6199632" y="29992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Courier New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initialValue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4"/>
          <p:cNvCxnSpPr/>
          <p:nvPr/>
        </p:nvCxnSpPr>
        <p:spPr>
          <a:xfrm flipH="1">
            <a:off x="2157984" y="2249424"/>
            <a:ext cx="329184" cy="347472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24"/>
          <p:cNvSpPr/>
          <p:nvPr/>
        </p:nvSpPr>
        <p:spPr>
          <a:xfrm>
            <a:off x="859536" y="2633472"/>
            <a:ext cx="2304288" cy="804672"/>
          </a:xfrm>
          <a:prstGeom prst="roundRect">
            <a:avLst>
              <a:gd fmla="val 6818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042416" y="2743200"/>
            <a:ext cx="1783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useState returns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1042416" y="2999232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Courier New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stateValue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24"/>
          <p:cNvCxnSpPr/>
          <p:nvPr/>
        </p:nvCxnSpPr>
        <p:spPr>
          <a:xfrm>
            <a:off x="4352544" y="2249424"/>
            <a:ext cx="0" cy="347472"/>
          </a:xfrm>
          <a:prstGeom prst="straightConnector1">
            <a:avLst/>
          </a:prstGeom>
          <a:noFill/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24"/>
          <p:cNvSpPr/>
          <p:nvPr/>
        </p:nvSpPr>
        <p:spPr>
          <a:xfrm>
            <a:off x="3346704" y="2633472"/>
            <a:ext cx="2139696" cy="804672"/>
          </a:xfrm>
          <a:prstGeom prst="roundRect">
            <a:avLst>
              <a:gd fmla="val 681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3529584" y="2743200"/>
            <a:ext cx="16276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useState returns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3529584" y="2999232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Courier New"/>
              <a:buNone/>
            </a:pPr>
            <a:r>
              <a:rPr b="1" i="0" lang="en" sz="111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setStateValue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896112" y="3694176"/>
            <a:ext cx="7333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0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Calling the setter can cause React to render the component again using the updated state value.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896112" y="4096512"/>
            <a:ext cx="7333488" cy="438912"/>
          </a:xfrm>
          <a:prstGeom prst="roundRect">
            <a:avLst>
              <a:gd fmla="val 12500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1078992" y="4160520"/>
            <a:ext cx="6967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35"/>
              <a:buFont typeface="Arial"/>
              <a:buNone/>
            </a:pPr>
            <a:r>
              <a:rPr b="1" i="0" lang="en" sz="1035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Lecture 20: Who owns changing information?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35"/>
              <a:buFont typeface="Arial"/>
              <a:buNone/>
            </a:pPr>
            <a:r>
              <a:rPr b="1" i="0" lang="en" sz="1035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Lecture 21: useState lets that component store and update it.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 owns the changing value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749808" y="932688"/>
            <a:ext cx="73883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existing component relationship already tells us where the changing value belongs.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25"/>
          <p:cNvCxnSpPr/>
          <p:nvPr/>
        </p:nvCxnSpPr>
        <p:spPr>
          <a:xfrm>
            <a:off x="2395728" y="2084832"/>
            <a:ext cx="1188720" cy="0"/>
          </a:xfrm>
          <a:prstGeom prst="straightConnector1">
            <a:avLst/>
          </a:prstGeom>
          <a:noFill/>
          <a:ln cap="flat" cmpd="sng" w="215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25"/>
          <p:cNvCxnSpPr/>
          <p:nvPr/>
        </p:nvCxnSpPr>
        <p:spPr>
          <a:xfrm>
            <a:off x="5577840" y="2084832"/>
            <a:ext cx="1042416" cy="0"/>
          </a:xfrm>
          <a:prstGeom prst="straightConnector1">
            <a:avLst/>
          </a:prstGeom>
          <a:noFill/>
          <a:ln cap="flat" cmpd="sng" w="215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25"/>
          <p:cNvSpPr/>
          <p:nvPr/>
        </p:nvSpPr>
        <p:spPr>
          <a:xfrm>
            <a:off x="822960" y="1517904"/>
            <a:ext cx="1572768" cy="1115568"/>
          </a:xfrm>
          <a:prstGeom prst="roundRect">
            <a:avLst>
              <a:gd fmla="val 491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005840" y="1691640"/>
            <a:ext cx="11704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133856" y="21031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Courier New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"T-204"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3584448" y="1408176"/>
            <a:ext cx="1993392" cy="1353312"/>
          </a:xfrm>
          <a:prstGeom prst="roundRect">
            <a:avLst>
              <a:gd fmla="val 405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3749040" y="1618488"/>
            <a:ext cx="16642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55"/>
              <a:buFont typeface="Arial"/>
              <a:buNone/>
            </a:pPr>
            <a:r>
              <a:rPr b="1" i="0" lang="en" sz="1155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SupportDashboard</a:t>
            </a:r>
            <a:endParaRPr b="0" i="0" sz="11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3803904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receives the ID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and coordinates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behaviour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6620256" y="1517904"/>
            <a:ext cx="1645920" cy="1115568"/>
          </a:xfrm>
          <a:prstGeom prst="roundRect">
            <a:avLst>
              <a:gd fmla="val 4918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784848" y="1691640"/>
            <a:ext cx="131673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EscalationPanel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784848" y="2011680"/>
            <a:ext cx="13167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Latest escalation: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1097280" y="3182112"/>
            <a:ext cx="6876288" cy="969264"/>
          </a:xfrm>
          <a:prstGeom prst="roundRect">
            <a:avLst>
              <a:gd fmla="val 566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316736" y="3364992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What is missing?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2697480" y="3300984"/>
            <a:ext cx="50109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SupportDashboard needs to remember the latest escalated ID as interactions occur. That changing value belongs in SupportDashboard.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5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 the latest escalation with useState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749808" y="932688"/>
            <a:ext cx="41879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Focused excerpt: SupportDashboard.tsx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5074920" y="932688"/>
            <a:ext cx="3246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Focused excerpt: EscalationPanel.tsx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749808" y="1216152"/>
            <a:ext cx="4233672" cy="265176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useState } from "react";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SupportDashboard()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[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latestEscalatedId,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setLatestEscalatedId,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] = useState("None");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function handleEscalate(ticketId: string) {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setLatestEscalatedId(ticketId);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&lt;EscalationPanel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latestEscalatedId={latestEscalatedId}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/&gt;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074920" y="1216152"/>
            <a:ext cx="3246120" cy="265176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type EscalationPanelProps =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latestEscalatedId: string;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EscalationPanel({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latestEscalatedId,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}: EscalationPanelProps) {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&lt;p&gt;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Latest escalation: {latestEscalatedId}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&lt;/p&gt;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749808" y="3986784"/>
            <a:ext cx="7571232" cy="512064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932688" y="4105656"/>
            <a:ext cx="7132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1719072" y="4087368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Before: Latest escalation: None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4590288" y="4087368"/>
            <a:ext cx="3310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After T-204: Latest escalation: T-204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6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a state update reaches the next render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27"/>
          <p:cNvCxnSpPr/>
          <p:nvPr/>
        </p:nvCxnSpPr>
        <p:spPr>
          <a:xfrm>
            <a:off x="4443984" y="1554480"/>
            <a:ext cx="0" cy="146304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27"/>
          <p:cNvCxnSpPr/>
          <p:nvPr/>
        </p:nvCxnSpPr>
        <p:spPr>
          <a:xfrm>
            <a:off x="4443984" y="2322576"/>
            <a:ext cx="0" cy="146304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27"/>
          <p:cNvCxnSpPr/>
          <p:nvPr/>
        </p:nvCxnSpPr>
        <p:spPr>
          <a:xfrm>
            <a:off x="4443984" y="3090672"/>
            <a:ext cx="0" cy="146304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27"/>
          <p:cNvSpPr/>
          <p:nvPr/>
        </p:nvSpPr>
        <p:spPr>
          <a:xfrm>
            <a:off x="932688" y="987552"/>
            <a:ext cx="7022592" cy="566928"/>
          </a:xfrm>
          <a:prstGeom prst="roundRect">
            <a:avLst>
              <a:gd fmla="val 9677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1097280" y="1078992"/>
            <a:ext cx="20299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  Current render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3145536" y="1060704"/>
            <a:ext cx="45994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latestEscalatedId === "None"    •    Browser: Latest escalation: None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932688" y="1755648"/>
            <a:ext cx="7022592" cy="566928"/>
          </a:xfrm>
          <a:prstGeom prst="roundRect">
            <a:avLst>
              <a:gd fmla="val 967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097280" y="1847088"/>
            <a:ext cx="20299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  Event occurs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3145536" y="1828800"/>
            <a:ext cx="45994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TicketActions invokes the supplied callback with "T-204"; handleEscalate("T-204") runs.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932688" y="2523744"/>
            <a:ext cx="7022592" cy="566928"/>
          </a:xfrm>
          <a:prstGeom prst="roundRect">
            <a:avLst>
              <a:gd fmla="val 967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1097280" y="2615184"/>
            <a:ext cx="20299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  Setter requests next value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3145536" y="2596896"/>
            <a:ext cx="45994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setLatestEscalatedId("T-204")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932688" y="3291840"/>
            <a:ext cx="7022592" cy="566928"/>
          </a:xfrm>
          <a:prstGeom prst="roundRect">
            <a:avLst>
              <a:gd fmla="val 9677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1097280" y="3383280"/>
            <a:ext cx="20299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4  Subsequent render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3145536" y="3364992"/>
            <a:ext cx="45994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latestEscalatedId === "T-204"    •    Browser: Latest escalation: T-204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932688" y="4069080"/>
            <a:ext cx="7022592" cy="493776"/>
          </a:xfrm>
          <a:prstGeom prst="roundRect">
            <a:avLst>
              <a:gd fmla="val 11111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1115568" y="4151376"/>
            <a:ext cx="6656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5"/>
              <a:buFont typeface="Arial"/>
              <a:buNone/>
            </a:pPr>
            <a:r>
              <a:rPr b="1" i="0" lang="en" sz="107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Calling the setter does not rewrite the state variable in code that is already running. It requests the value React should use for a subsequent render.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7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Reading a useState declaration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1060704" y="1133856"/>
            <a:ext cx="6949440" cy="786384"/>
          </a:xfrm>
          <a:prstGeom prst="roundRect">
            <a:avLst>
              <a:gd fmla="val 697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1298448" y="1408176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Courier New"/>
              <a:buNone/>
            </a:pPr>
            <a:r>
              <a:rPr b="1" i="0" lang="en" sz="132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const [latestEscalatedId, setLatestEscalatedId] = useState("None");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41248" y="2322576"/>
            <a:ext cx="2212848" cy="1005840"/>
          </a:xfrm>
          <a:prstGeom prst="roundRect">
            <a:avLst>
              <a:gd fmla="val 5455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024128" y="25146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10"/>
              <a:buFont typeface="Courier New"/>
              <a:buNone/>
            </a:pPr>
            <a:r>
              <a:rPr b="1" i="0" lang="en" sz="111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latestEscalatedId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1024128" y="2816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state value for this render.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3364992" y="2322576"/>
            <a:ext cx="2322576" cy="1005840"/>
          </a:xfrm>
          <a:prstGeom prst="roundRect">
            <a:avLst>
              <a:gd fmla="val 545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3529584" y="2514600"/>
            <a:ext cx="19933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80"/>
              <a:buFont typeface="Courier New"/>
              <a:buNone/>
            </a:pPr>
            <a:r>
              <a:rPr b="1" i="0" lang="en" sz="108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setLatestEscalatedId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3529584" y="2816352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Setter used to request the next state value.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5998464" y="2322576"/>
            <a:ext cx="2084832" cy="1005840"/>
          </a:xfrm>
          <a:prstGeom prst="roundRect">
            <a:avLst>
              <a:gd fmla="val 5455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6181344" y="251460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"None"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6181344" y="2816352"/>
            <a:ext cx="16824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Initial value passed to useState.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841248" y="3712464"/>
            <a:ext cx="17922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 the square brackets?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2724912" y="3675888"/>
            <a:ext cx="3218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const [first, second] = someArray;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2724912" y="3986784"/>
            <a:ext cx="5230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0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useState returns two values, and array destructuring gives those returned values names.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8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and useState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749808" y="978408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inference is enough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749808" y="1298448"/>
            <a:ext cx="3547872" cy="162763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[isOpen, setIsOpen] =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useState(false);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setIsOpen(true);   // valid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setIsOpen("yes");  // type error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749808" y="3127248"/>
            <a:ext cx="3547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initial boolean value tells TypeScript that this state is boolean.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4599432" y="978408"/>
            <a:ext cx="3566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an explicit type adds information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4599432" y="1298448"/>
            <a:ext cx="3566160" cy="98755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[selectedIds, setSelectedIds] =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useState&lt;string[]&gt;([]);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4599432" y="2523744"/>
            <a:ext cx="35661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An empty array does not show what kind of values we intend to store. &lt;string[]&gt; supplies that information.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749808" y="3877056"/>
            <a:ext cx="7424928" cy="548640"/>
          </a:xfrm>
          <a:prstGeom prst="roundRect">
            <a:avLst>
              <a:gd fmla="val 10000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950976" y="3986784"/>
            <a:ext cx="70225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inference when the initial value already describes the intended state clearly. Provide an explicit type when the initial value does not give TypeScript enough information.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Read this state declaration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749808" y="1115568"/>
            <a:ext cx="3236976" cy="84124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Courier New"/>
              <a:buNone/>
            </a:pPr>
            <a:r>
              <a:rPr b="0" i="0" lang="en" sz="12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[attempts, setAttempts] =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20"/>
              <a:buFont typeface="Courier New"/>
              <a:buNone/>
            </a:pPr>
            <a:r>
              <a:rPr b="0" i="0" lang="en" sz="12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useState(0);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4315968" y="1133856"/>
            <a:ext cx="34564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4434840" y="1581912"/>
            <a:ext cx="2560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4754880" y="1563624"/>
            <a:ext cx="318211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5"/>
              <a:buFont typeface="Arial"/>
              <a:buNone/>
            </a:pPr>
            <a:r>
              <a:rPr b="0" i="0" lang="en" sz="107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attempts is the current number state, setAttempts is the setter, and 0 is the initial value.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4315968" y="2212848"/>
            <a:ext cx="374904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4434840" y="2276856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4754880" y="2258568"/>
            <a:ext cx="31821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attempts is the setter, while setAttempts stores the current value.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315968" y="2816352"/>
            <a:ext cx="374904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4434840" y="2880360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4754880" y="2862072"/>
            <a:ext cx="31821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Calling setAttempts directly changes attempts inside the current render.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4315968" y="3419856"/>
            <a:ext cx="3749040" cy="512064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4434840" y="3483864"/>
            <a:ext cx="256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4754880" y="3465576"/>
            <a:ext cx="31821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treats attempts as a string because it may later be rendered in TSX.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49808" y="4096512"/>
            <a:ext cx="7479792" cy="420624"/>
          </a:xfrm>
          <a:prstGeom prst="roundRect">
            <a:avLst>
              <a:gd fmla="val 1087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932688" y="4178808"/>
            <a:ext cx="7114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5"/>
              <a:buFont typeface="Arial"/>
              <a:buNone/>
            </a:pPr>
            <a:r>
              <a:rPr b="1" i="0" lang="en" sz="10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   Why: </a:t>
            </a:r>
            <a:r>
              <a:rPr b="0" i="0" lang="en" sz="10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 lets TypeScript infer number state; attempts is the current value and setAttempts is its setter.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 can hold an array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749808" y="987552"/>
            <a:ext cx="73883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 far, our state held one changing value. A state value can also hold an entire collection.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896112" y="1664208"/>
            <a:ext cx="3108960" cy="1170432"/>
          </a:xfrm>
          <a:prstGeom prst="roundRect">
            <a:avLst>
              <a:gd fmla="val 4688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1"/>
          <p:cNvSpPr txBox="1"/>
          <p:nvPr/>
        </p:nvSpPr>
        <p:spPr>
          <a:xfrm>
            <a:off x="1115568" y="1856232"/>
            <a:ext cx="2542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 changing value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1115568" y="2249424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20"/>
              <a:buFont typeface="Courier New"/>
              <a:buNone/>
            </a:pPr>
            <a:r>
              <a:rPr b="1" i="0" lang="en" sz="162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"T-204"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4608576" y="1664208"/>
            <a:ext cx="3108960" cy="1170432"/>
          </a:xfrm>
          <a:prstGeom prst="roundRect">
            <a:avLst>
              <a:gd fmla="val 468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4828032" y="1856232"/>
            <a:ext cx="2542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 changing collection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4828032" y="2157984"/>
            <a:ext cx="25054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["T-shirts", "Socks",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 "Water bottle"]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896112" y="3255264"/>
            <a:ext cx="13350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950976" y="3547872"/>
            <a:ext cx="2852928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Char char="•"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items in a cart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Char char="•"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tasks in a task list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Char char="•"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Char char="•"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saved articles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Char char="•"/>
            </a:pPr>
            <a:r>
              <a:rPr b="1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inventory items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4261104" y="3291840"/>
            <a:ext cx="3456432" cy="877824"/>
          </a:xfrm>
          <a:prstGeom prst="roundRect">
            <a:avLst>
              <a:gd fmla="val 625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4498848" y="3511296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the next part of the lecture, our changing collection will be a trip packing list.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1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Meet the trip packing list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749808" y="1207008"/>
            <a:ext cx="2578608" cy="2157984"/>
          </a:xfrm>
          <a:prstGeom prst="roundRect">
            <a:avLst>
              <a:gd fmla="val 211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749808" y="1207008"/>
            <a:ext cx="2578608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877824" y="1243584"/>
            <a:ext cx="23225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Trip packing list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 txBox="1"/>
          <p:nvPr/>
        </p:nvSpPr>
        <p:spPr>
          <a:xfrm>
            <a:off x="896112" y="1554480"/>
            <a:ext cx="228600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T-shirts: 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Socks: 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Water bottle: 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3621024" y="95097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Typed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3621024" y="1225296"/>
            <a:ext cx="4590288" cy="2706624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type PackingItem = {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id: string;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string;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number;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5"/>
              <a:buFont typeface="Arial"/>
              <a:buNone/>
            </a:pPr>
            <a:r>
              <a:t/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initialPackingItems: PackingItem[] = [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"P-101", name: "T-shirts",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3 },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"P-102", name: "Socks",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4 },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"P-103", name: "Water bottle",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1 },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749800" y="4078225"/>
            <a:ext cx="7461600" cy="475500"/>
          </a:xfrm>
          <a:prstGeom prst="roundRect">
            <a:avLst>
              <a:gd fmla="val 13636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950976" y="4169664"/>
            <a:ext cx="7059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Each object represents one packing item that can appear in the interface. The type reuses object types, typed arrays, strings, and numbers.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List rendering turns data into repeated UI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3"/>
          <p:cNvSpPr txBox="1"/>
          <p:nvPr/>
        </p:nvSpPr>
        <p:spPr>
          <a:xfrm>
            <a:off x="749808" y="969264"/>
            <a:ext cx="7424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40"/>
              <a:buFont typeface="Arial"/>
              <a:buNone/>
            </a:pPr>
            <a:r>
              <a:rPr b="1" i="0" lang="en" sz="13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List rendering means applying the same rendering rule to each item in a collection.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3"/>
          <p:cNvSpPr txBox="1"/>
          <p:nvPr/>
        </p:nvSpPr>
        <p:spPr>
          <a:xfrm>
            <a:off x="896112" y="1572768"/>
            <a:ext cx="23957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Collection data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3"/>
          <p:cNvSpPr txBox="1"/>
          <p:nvPr/>
        </p:nvSpPr>
        <p:spPr>
          <a:xfrm>
            <a:off x="5413248" y="1572768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Rendered UI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896112" y="1938528"/>
            <a:ext cx="2834640" cy="493776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1060704" y="208483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P-101  T-shirts  3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33"/>
          <p:cNvCxnSpPr/>
          <p:nvPr/>
        </p:nvCxnSpPr>
        <p:spPr>
          <a:xfrm>
            <a:off x="3840480" y="2185416"/>
            <a:ext cx="1298448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33"/>
          <p:cNvSpPr/>
          <p:nvPr/>
        </p:nvSpPr>
        <p:spPr>
          <a:xfrm>
            <a:off x="5413248" y="1938528"/>
            <a:ext cx="2542032" cy="493776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5596128" y="2084832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T-shirts: 3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896112" y="2633472"/>
            <a:ext cx="2834640" cy="493776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 txBox="1"/>
          <p:nvPr/>
        </p:nvSpPr>
        <p:spPr>
          <a:xfrm>
            <a:off x="1060704" y="2779776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P-102  Socks  4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33"/>
          <p:cNvCxnSpPr/>
          <p:nvPr/>
        </p:nvCxnSpPr>
        <p:spPr>
          <a:xfrm>
            <a:off x="3840480" y="2880360"/>
            <a:ext cx="1298448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9" name="Google Shape;419;p33"/>
          <p:cNvSpPr/>
          <p:nvPr/>
        </p:nvSpPr>
        <p:spPr>
          <a:xfrm>
            <a:off x="5413248" y="2633472"/>
            <a:ext cx="2542032" cy="493776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5596128" y="2779776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Socks: 4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896112" y="3328416"/>
            <a:ext cx="2834640" cy="493776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1060704" y="3474720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P-103  Water bottle  1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33"/>
          <p:cNvCxnSpPr/>
          <p:nvPr/>
        </p:nvCxnSpPr>
        <p:spPr>
          <a:xfrm>
            <a:off x="3840480" y="3575304"/>
            <a:ext cx="1298448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33"/>
          <p:cNvSpPr/>
          <p:nvPr/>
        </p:nvSpPr>
        <p:spPr>
          <a:xfrm>
            <a:off x="5413248" y="3328416"/>
            <a:ext cx="2542032" cy="493776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5596128" y="3474720"/>
            <a:ext cx="2176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Water bottle: 1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1243584" y="4096512"/>
            <a:ext cx="6400800" cy="384048"/>
          </a:xfrm>
          <a:prstGeom prst="roundRect">
            <a:avLst>
              <a:gd fmla="val 1428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1444752" y="4187952"/>
            <a:ext cx="5998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One data item produces one rendered element.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3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4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lang="en" sz="2150">
                <a:solidFill>
                  <a:srgbClr val="111827"/>
                </a:solidFill>
              </a:rPr>
              <a:t>Remember: what does map do?</a:t>
            </a:r>
            <a:endParaRPr b="1" sz="2150">
              <a:solidFill>
                <a:srgbClr val="111827"/>
              </a:solidFill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749808" y="950976"/>
            <a:ext cx="74249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90"/>
              <a:buFont typeface="Arial"/>
              <a:buNone/>
            </a:pPr>
            <a:r>
              <a:rPr b="1" i="0" lang="en" sz="12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is a JavaScript array method that produces one result for each item in an array and returns those results in a new array.</a:t>
            </a:r>
            <a:endParaRPr b="0" i="0" sz="12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749808" y="1664208"/>
            <a:ext cx="4261104" cy="1133856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names = initialPackingItems.map((item) =&gt; {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item.name;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4"/>
          <p:cNvSpPr txBox="1"/>
          <p:nvPr/>
        </p:nvSpPr>
        <p:spPr>
          <a:xfrm>
            <a:off x="5303520" y="1664208"/>
            <a:ext cx="10241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5303520" y="1975104"/>
            <a:ext cx="2505456" cy="137160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"T-shirts",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"Socks",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"Water bottle"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4"/>
          <p:cNvSpPr txBox="1"/>
          <p:nvPr/>
        </p:nvSpPr>
        <p:spPr>
          <a:xfrm>
            <a:off x="749808" y="3127248"/>
            <a:ext cx="16642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 the expression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804672" y="3401568"/>
            <a:ext cx="4462272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Char char="•"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initialPackingItems is the source array.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Char char="•"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item is one PackingItem.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Char char="•"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callback runs once for each item.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Char char="•"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Its return value becomes one value in the new array.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5504688" y="3456432"/>
            <a:ext cx="2505456" cy="932688"/>
          </a:xfrm>
          <a:prstGeom prst="roundRect">
            <a:avLst>
              <a:gd fmla="val 5882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 txBox="1"/>
          <p:nvPr/>
        </p:nvSpPr>
        <p:spPr>
          <a:xfrm>
            <a:off x="5705856" y="3602736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5"/>
              <a:buFont typeface="Arial"/>
              <a:buNone/>
            </a:pPr>
            <a:r>
              <a:rPr b="1" i="0" lang="en" sz="106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the callback returns JSX, map can produce the repeated elements needed for list rendering.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4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the list with map and a stable key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 txBox="1"/>
          <p:nvPr/>
        </p:nvSpPr>
        <p:spPr>
          <a:xfrm>
            <a:off x="749808" y="941832"/>
            <a:ext cx="43708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One JSX element for each PackingItem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749808" y="1225296"/>
            <a:ext cx="4498848" cy="217627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{initialPackingItems.map((item) =&gt; (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&lt;li key={item.id}&gt;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{item.name}: {item.quantity}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&lt;/li&gt;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))}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5"/>
          <p:cNvSpPr txBox="1"/>
          <p:nvPr/>
        </p:nvSpPr>
        <p:spPr>
          <a:xfrm>
            <a:off x="5468112" y="941832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Stable identity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5468112" y="1225296"/>
            <a:ext cx="2852928" cy="932688"/>
          </a:xfrm>
          <a:prstGeom prst="roundRect">
            <a:avLst>
              <a:gd fmla="val 5882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5632704" y="1344168"/>
            <a:ext cx="1078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Before removal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5"/>
          <p:cNvSpPr txBox="1"/>
          <p:nvPr/>
        </p:nvSpPr>
        <p:spPr>
          <a:xfrm>
            <a:off x="5632704" y="1572768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P-101  T-shirts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P-102  Socks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P-103  Water bottle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35"/>
          <p:cNvCxnSpPr/>
          <p:nvPr/>
        </p:nvCxnSpPr>
        <p:spPr>
          <a:xfrm>
            <a:off x="6894576" y="2194560"/>
            <a:ext cx="0" cy="274320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7" name="Google Shape;457;p35"/>
          <p:cNvSpPr/>
          <p:nvPr/>
        </p:nvSpPr>
        <p:spPr>
          <a:xfrm>
            <a:off x="5468112" y="2523744"/>
            <a:ext cx="2852928" cy="768096"/>
          </a:xfrm>
          <a:prstGeom prst="roundRect">
            <a:avLst>
              <a:gd fmla="val 7143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5"/>
          <p:cNvSpPr txBox="1"/>
          <p:nvPr/>
        </p:nvSpPr>
        <p:spPr>
          <a:xfrm>
            <a:off x="5632704" y="2633472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After Socks is removed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P-101  T-shirts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P-103  Water bottle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5"/>
          <p:cNvSpPr/>
          <p:nvPr/>
        </p:nvSpPr>
        <p:spPr>
          <a:xfrm>
            <a:off x="749808" y="3474720"/>
            <a:ext cx="7571232" cy="1024128"/>
          </a:xfrm>
          <a:prstGeom prst="roundRect">
            <a:avLst>
              <a:gd fmla="val 5357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5"/>
          <p:cNvSpPr txBox="1"/>
          <p:nvPr/>
        </p:nvSpPr>
        <p:spPr>
          <a:xfrm>
            <a:off x="950976" y="3602736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5"/>
              <a:buFont typeface="Arial"/>
              <a:buNone/>
            </a:pPr>
            <a:r>
              <a:rPr b="1" i="0" lang="en" sz="11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key gives React a stable identity for a repeated element among its siblings.</a:t>
            </a:r>
            <a:endParaRPr b="0" i="0" sz="11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1024128" y="3886200"/>
            <a:ext cx="6812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5"/>
              <a:buFont typeface="Arial"/>
              <a:buChar char="•"/>
            </a:pPr>
            <a:r>
              <a:rPr b="1" i="0" lang="en" sz="10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Stable across renders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5"/>
              <a:buFont typeface="Arial"/>
              <a:buChar char="•"/>
            </a:pPr>
            <a:r>
              <a:rPr b="1" i="0" lang="en" sz="10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Unique among siblings in this rendered list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45"/>
              <a:buFont typeface="Arial"/>
              <a:buChar char="•"/>
            </a:pPr>
            <a:r>
              <a:rPr b="1" i="0" lang="en" sz="104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the existing data ID: key={item.id}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5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value is the stable key?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749808" y="1078992"/>
            <a:ext cx="3858768" cy="148132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5"/>
              <a:buFont typeface="Courier New"/>
              <a:buNone/>
            </a:pPr>
            <a:r>
              <a:rPr b="0" i="0" lang="en" sz="107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resources = [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5"/>
              <a:buFont typeface="Courier New"/>
              <a:buNone/>
            </a:pPr>
            <a:r>
              <a:rPr b="0" i="0" lang="en" sz="107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"R-201", title: "Projector" },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5"/>
              <a:buFont typeface="Courier New"/>
              <a:buNone/>
            </a:pPr>
            <a:r>
              <a:rPr b="0" i="0" lang="en" sz="107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"R-202", title: "Whiteboard" },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5"/>
              <a:buFont typeface="Courier New"/>
              <a:buNone/>
            </a:pPr>
            <a:r>
              <a:rPr b="0" i="0" lang="en" sz="107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"R-203", title: "Laptop charger" },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75"/>
              <a:buFont typeface="Courier New"/>
              <a:buNone/>
            </a:pPr>
            <a:r>
              <a:rPr b="0" i="0" lang="en" sz="107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6"/>
          <p:cNvSpPr txBox="1"/>
          <p:nvPr/>
        </p:nvSpPr>
        <p:spPr>
          <a:xfrm>
            <a:off x="4882896" y="1097280"/>
            <a:ext cx="33284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resources may later be removed or reordered. Which value is the best key?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5001768" y="178308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6"/>
          <p:cNvSpPr txBox="1"/>
          <p:nvPr/>
        </p:nvSpPr>
        <p:spPr>
          <a:xfrm>
            <a:off x="5321808" y="1764792"/>
            <a:ext cx="268833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current array index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6"/>
          <p:cNvSpPr txBox="1"/>
          <p:nvPr/>
        </p:nvSpPr>
        <p:spPr>
          <a:xfrm>
            <a:off x="5001768" y="233172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6"/>
          <p:cNvSpPr txBox="1"/>
          <p:nvPr/>
        </p:nvSpPr>
        <p:spPr>
          <a:xfrm>
            <a:off x="5321808" y="2313432"/>
            <a:ext cx="268833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resource.title.length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5001768" y="2880360"/>
            <a:ext cx="2560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6"/>
          <p:cNvSpPr txBox="1"/>
          <p:nvPr/>
        </p:nvSpPr>
        <p:spPr>
          <a:xfrm>
            <a:off x="5321808" y="2862072"/>
            <a:ext cx="2688336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new random number during each render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6"/>
          <p:cNvSpPr txBox="1"/>
          <p:nvPr/>
        </p:nvSpPr>
        <p:spPr>
          <a:xfrm>
            <a:off x="5001768" y="350215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5321808" y="3483864"/>
            <a:ext cx="268833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resource.id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6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D. resource.id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stored ID remains attached to the same resource even if its position changes.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6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7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 the packing collection in 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7"/>
          <p:cNvSpPr txBox="1"/>
          <p:nvPr/>
        </p:nvSpPr>
        <p:spPr>
          <a:xfrm>
            <a:off x="749808" y="950976"/>
            <a:ext cx="4480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the typed starting array as the initial state.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749808" y="1280160"/>
            <a:ext cx="4370832" cy="230428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[items, setItems] =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useState(initialPackingItems);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{items.map((item) =&gt; (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&lt;li key={item.id}&gt;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{item.name}: {item.quantity}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&lt;/li&gt;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))}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5413248" y="1280160"/>
            <a:ext cx="2706624" cy="1627632"/>
          </a:xfrm>
          <a:prstGeom prst="roundRect">
            <a:avLst>
              <a:gd fmla="val 280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7"/>
          <p:cNvSpPr/>
          <p:nvPr/>
        </p:nvSpPr>
        <p:spPr>
          <a:xfrm>
            <a:off x="5413248" y="1280160"/>
            <a:ext cx="2706624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7"/>
          <p:cNvSpPr txBox="1"/>
          <p:nvPr/>
        </p:nvSpPr>
        <p:spPr>
          <a:xfrm>
            <a:off x="5541264" y="1316736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7"/>
          <p:cNvSpPr txBox="1"/>
          <p:nvPr/>
        </p:nvSpPr>
        <p:spPr>
          <a:xfrm>
            <a:off x="5559552" y="1627632"/>
            <a:ext cx="24140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T-shirts: 3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Socks: 4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0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Water bottle: 1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5413248" y="3054096"/>
            <a:ext cx="2706624" cy="877824"/>
          </a:xfrm>
          <a:prstGeom prst="roundRect">
            <a:avLst>
              <a:gd fmla="val 625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7"/>
          <p:cNvSpPr txBox="1"/>
          <p:nvPr/>
        </p:nvSpPr>
        <p:spPr>
          <a:xfrm>
            <a:off x="5614416" y="3191256"/>
            <a:ext cx="22677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TypeScript inference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7"/>
          <p:cNvSpPr txBox="1"/>
          <p:nvPr/>
        </p:nvSpPr>
        <p:spPr>
          <a:xfrm>
            <a:off x="5614416" y="3474720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initialPackingItems: PackingItem[]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items: PackingItem[]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749808" y="4041648"/>
            <a:ext cx="7370064" cy="493776"/>
          </a:xfrm>
          <a:prstGeom prst="roundRect">
            <a:avLst>
              <a:gd fmla="val 11111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 txBox="1"/>
          <p:nvPr/>
        </p:nvSpPr>
        <p:spPr>
          <a:xfrm>
            <a:off x="950976" y="4105656"/>
            <a:ext cx="6967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visible UI is the same.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rendered collection now comes from component state.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7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Treat arrays in state as read-only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8"/>
          <p:cNvSpPr txBox="1"/>
          <p:nvPr/>
        </p:nvSpPr>
        <p:spPr>
          <a:xfrm>
            <a:off x="749808" y="950976"/>
            <a:ext cx="746150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90"/>
              <a:buFont typeface="Arial"/>
              <a:buNone/>
            </a:pPr>
            <a:r>
              <a:rPr b="1" i="0" lang="en" sz="12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JavaScript arrays can be changed in place. When an array is stored in React state, treat the current state array as read-only.</a:t>
            </a:r>
            <a:endParaRPr b="0" i="0" sz="12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38"/>
          <p:cNvCxnSpPr/>
          <p:nvPr/>
        </p:nvCxnSpPr>
        <p:spPr>
          <a:xfrm>
            <a:off x="3840480" y="2267712"/>
            <a:ext cx="0" cy="201168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8" name="Google Shape;508;p38"/>
          <p:cNvCxnSpPr/>
          <p:nvPr/>
        </p:nvCxnSpPr>
        <p:spPr>
          <a:xfrm>
            <a:off x="3840480" y="3054096"/>
            <a:ext cx="0" cy="201168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9" name="Google Shape;509;p38"/>
          <p:cNvSpPr/>
          <p:nvPr/>
        </p:nvSpPr>
        <p:spPr>
          <a:xfrm>
            <a:off x="1078992" y="1755648"/>
            <a:ext cx="5120640" cy="512064"/>
          </a:xfrm>
          <a:prstGeom prst="roundRect">
            <a:avLst>
              <a:gd fmla="val 10714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8"/>
          <p:cNvSpPr txBox="1"/>
          <p:nvPr/>
        </p:nvSpPr>
        <p:spPr>
          <a:xfrm>
            <a:off x="1261872" y="1883664"/>
            <a:ext cx="14081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8"/>
          <p:cNvSpPr txBox="1"/>
          <p:nvPr/>
        </p:nvSpPr>
        <p:spPr>
          <a:xfrm>
            <a:off x="2907792" y="1883664"/>
            <a:ext cx="2889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Courier New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1078992" y="2542032"/>
            <a:ext cx="5120640" cy="512064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8"/>
          <p:cNvSpPr txBox="1"/>
          <p:nvPr/>
        </p:nvSpPr>
        <p:spPr>
          <a:xfrm>
            <a:off x="1261872" y="2670048"/>
            <a:ext cx="16276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replacement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8"/>
          <p:cNvSpPr txBox="1"/>
          <p:nvPr/>
        </p:nvSpPr>
        <p:spPr>
          <a:xfrm>
            <a:off x="2907792" y="2670048"/>
            <a:ext cx="2889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const nextItems = /* new array */;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1078992" y="3328416"/>
            <a:ext cx="5120640" cy="512064"/>
          </a:xfrm>
          <a:prstGeom prst="roundRect">
            <a:avLst>
              <a:gd fmla="val 10714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8"/>
          <p:cNvSpPr txBox="1"/>
          <p:nvPr/>
        </p:nvSpPr>
        <p:spPr>
          <a:xfrm>
            <a:off x="1261872" y="3456432"/>
            <a:ext cx="14081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Request update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8"/>
          <p:cNvSpPr txBox="1"/>
          <p:nvPr/>
        </p:nvSpPr>
        <p:spPr>
          <a:xfrm>
            <a:off x="2907792" y="3456432"/>
            <a:ext cx="2889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Courier New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setItems(nextItems);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8"/>
          <p:cNvSpPr/>
          <p:nvPr/>
        </p:nvSpPr>
        <p:spPr>
          <a:xfrm>
            <a:off x="6455664" y="1755648"/>
            <a:ext cx="1719072" cy="2084832"/>
          </a:xfrm>
          <a:prstGeom prst="roundRect">
            <a:avLst>
              <a:gd fmla="val 3191" name="adj"/>
            </a:avLst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"/>
          <p:cNvSpPr txBox="1"/>
          <p:nvPr/>
        </p:nvSpPr>
        <p:spPr>
          <a:xfrm>
            <a:off x="6711696" y="1938528"/>
            <a:ext cx="12070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Avoid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8"/>
          <p:cNvSpPr txBox="1"/>
          <p:nvPr/>
        </p:nvSpPr>
        <p:spPr>
          <a:xfrm>
            <a:off x="6601968" y="2359152"/>
            <a:ext cx="142646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items.pop();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setItems(items);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8"/>
          <p:cNvSpPr txBox="1"/>
          <p:nvPr/>
        </p:nvSpPr>
        <p:spPr>
          <a:xfrm>
            <a:off x="6620256" y="3127248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pop() changes the existing array.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1078992" y="4114800"/>
            <a:ext cx="7095744" cy="384048"/>
          </a:xfrm>
          <a:prstGeom prst="roundRect">
            <a:avLst>
              <a:gd fmla="val 1428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8"/>
          <p:cNvSpPr txBox="1"/>
          <p:nvPr/>
        </p:nvSpPr>
        <p:spPr>
          <a:xfrm>
            <a:off x="1280160" y="4206240"/>
            <a:ext cx="6693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Better question: What should the next items array contain?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8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"/>
          <p:cNvSpPr/>
          <p:nvPr/>
        </p:nvSpPr>
        <p:spPr>
          <a:xfrm>
            <a:off x="548640" y="256032"/>
            <a:ext cx="6565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40"/>
              <a:buFont typeface="Arial"/>
              <a:buNone/>
            </a:pPr>
            <a:r>
              <a:rPr b="1" i="0" lang="en" sz="2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Checkpoint: Which update follows the replacement model?</a:t>
            </a:r>
            <a:endParaRPr b="0" i="0" sz="2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9"/>
          <p:cNvSpPr txBox="1"/>
          <p:nvPr/>
        </p:nvSpPr>
        <p:spPr>
          <a:xfrm>
            <a:off x="749808" y="987552"/>
            <a:ext cx="7406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component stores an array in state. Which sequence matches the update model from the previous slide?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9"/>
          <p:cNvSpPr txBox="1"/>
          <p:nvPr/>
        </p:nvSpPr>
        <p:spPr>
          <a:xfrm>
            <a:off x="960120" y="1764792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9"/>
          <p:cNvSpPr txBox="1"/>
          <p:nvPr/>
        </p:nvSpPr>
        <p:spPr>
          <a:xfrm>
            <a:off x="1280160" y="1746504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Modify the current array, then pass that same array to the setter.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9"/>
          <p:cNvSpPr txBox="1"/>
          <p:nvPr/>
        </p:nvSpPr>
        <p:spPr>
          <a:xfrm>
            <a:off x="960120" y="2368296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9"/>
          <p:cNvSpPr txBox="1"/>
          <p:nvPr/>
        </p:nvSpPr>
        <p:spPr>
          <a:xfrm>
            <a:off x="1280160" y="2350008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the next array, then pass that replacement array to the setter.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9"/>
          <p:cNvSpPr txBox="1"/>
          <p:nvPr/>
        </p:nvSpPr>
        <p:spPr>
          <a:xfrm>
            <a:off x="960120" y="2971800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9"/>
          <p:cNvSpPr txBox="1"/>
          <p:nvPr/>
        </p:nvSpPr>
        <p:spPr>
          <a:xfrm>
            <a:off x="1280160" y="295351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Change the rendered JSX directly so React can discover the new state.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9"/>
          <p:cNvSpPr txBox="1"/>
          <p:nvPr/>
        </p:nvSpPr>
        <p:spPr>
          <a:xfrm>
            <a:off x="960120" y="3575304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1280160" y="3557016"/>
            <a:ext cx="667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Assign a new array directly to the state variable without using its setter.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9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the array that should become the next state value, then pass that replacement array to the setter.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9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0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 a value by creating a new array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0"/>
          <p:cNvSpPr txBox="1"/>
          <p:nvPr/>
        </p:nvSpPr>
        <p:spPr>
          <a:xfrm>
            <a:off x="749808" y="941832"/>
            <a:ext cx="39136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a small example to isolate the add pattern.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0"/>
          <p:cNvSpPr/>
          <p:nvPr/>
        </p:nvSpPr>
        <p:spPr>
          <a:xfrm>
            <a:off x="749808" y="1261872"/>
            <a:ext cx="4133088" cy="254203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[scores, setScores] =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useState&lt;number[]&gt;([]);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recordFive() {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nextScores = [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...scores,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5,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];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setScores(nextScores);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0"/>
          <p:cNvSpPr txBox="1"/>
          <p:nvPr/>
        </p:nvSpPr>
        <p:spPr>
          <a:xfrm>
            <a:off x="5230368" y="1243584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Follow the state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0"/>
          <p:cNvSpPr/>
          <p:nvPr/>
        </p:nvSpPr>
        <p:spPr>
          <a:xfrm>
            <a:off x="5230368" y="1664208"/>
            <a:ext cx="2560320" cy="493776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0"/>
          <p:cNvSpPr txBox="1"/>
          <p:nvPr/>
        </p:nvSpPr>
        <p:spPr>
          <a:xfrm>
            <a:off x="5413248" y="1755648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0"/>
          <p:cNvSpPr txBox="1"/>
          <p:nvPr/>
        </p:nvSpPr>
        <p:spPr>
          <a:xfrm>
            <a:off x="6547104" y="175564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Courier New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0"/>
          <p:cNvSpPr/>
          <p:nvPr/>
        </p:nvSpPr>
        <p:spPr>
          <a:xfrm>
            <a:off x="5230368" y="2359152"/>
            <a:ext cx="2560320" cy="493776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0"/>
          <p:cNvSpPr txBox="1"/>
          <p:nvPr/>
        </p:nvSpPr>
        <p:spPr>
          <a:xfrm>
            <a:off x="5413248" y="245059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After one click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0"/>
          <p:cNvSpPr txBox="1"/>
          <p:nvPr/>
        </p:nvSpPr>
        <p:spPr>
          <a:xfrm>
            <a:off x="6547104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Courier New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0"/>
          <p:cNvSpPr/>
          <p:nvPr/>
        </p:nvSpPr>
        <p:spPr>
          <a:xfrm>
            <a:off x="5230368" y="3054096"/>
            <a:ext cx="2560320" cy="493776"/>
          </a:xfrm>
          <a:prstGeom prst="roundRect">
            <a:avLst>
              <a:gd fmla="val 1111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0"/>
          <p:cNvSpPr txBox="1"/>
          <p:nvPr/>
        </p:nvSpPr>
        <p:spPr>
          <a:xfrm>
            <a:off x="5413248" y="3145536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After another click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0"/>
          <p:cNvSpPr txBox="1"/>
          <p:nvPr/>
        </p:nvSpPr>
        <p:spPr>
          <a:xfrm>
            <a:off x="6547104" y="314553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Courier New"/>
              <a:buNone/>
            </a:pPr>
            <a:r>
              <a:rPr b="1" i="0" lang="en" sz="11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[5, 5]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0"/>
          <p:cNvSpPr/>
          <p:nvPr/>
        </p:nvSpPr>
        <p:spPr>
          <a:xfrm>
            <a:off x="5230368" y="3822192"/>
            <a:ext cx="2560320" cy="512064"/>
          </a:xfrm>
          <a:prstGeom prst="roundRect">
            <a:avLst>
              <a:gd fmla="val 10714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0"/>
          <p:cNvSpPr txBox="1"/>
          <p:nvPr/>
        </p:nvSpPr>
        <p:spPr>
          <a:xfrm>
            <a:off x="5413248" y="395935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Recorded scores: 0, then 1, then 2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0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Remember: what </a:t>
            </a:r>
            <a:r>
              <a:rPr b="1" lang="en" sz="2150">
                <a:solidFill>
                  <a:srgbClr val="111827"/>
                </a:solidFill>
              </a:rPr>
              <a:t>does </a:t>
            </a: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 do?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1"/>
          <p:cNvSpPr txBox="1"/>
          <p:nvPr/>
        </p:nvSpPr>
        <p:spPr>
          <a:xfrm>
            <a:off x="749808" y="950976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 creates a new array containing only the items that pass a condition.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1"/>
          <p:cNvSpPr/>
          <p:nvPr/>
        </p:nvSpPr>
        <p:spPr>
          <a:xfrm>
            <a:off x="749808" y="1499616"/>
            <a:ext cx="4370832" cy="107899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withoutSocks = items.filter((item) =&gt; {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item.id !== "P-102";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1"/>
          <p:cNvSpPr/>
          <p:nvPr/>
        </p:nvSpPr>
        <p:spPr>
          <a:xfrm>
            <a:off x="5394960" y="1499616"/>
            <a:ext cx="2724912" cy="1078992"/>
          </a:xfrm>
          <a:prstGeom prst="roundRect">
            <a:avLst>
              <a:gd fmla="val 5085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1"/>
          <p:cNvSpPr txBox="1"/>
          <p:nvPr/>
        </p:nvSpPr>
        <p:spPr>
          <a:xfrm>
            <a:off x="5614416" y="168249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Read the condition as: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1"/>
          <p:cNvSpPr txBox="1"/>
          <p:nvPr/>
        </p:nvSpPr>
        <p:spPr>
          <a:xfrm>
            <a:off x="5614416" y="2011680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Should this item stay in the returned array?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1"/>
          <p:cNvSpPr/>
          <p:nvPr/>
        </p:nvSpPr>
        <p:spPr>
          <a:xfrm>
            <a:off x="749808" y="2761488"/>
            <a:ext cx="7370064" cy="329184"/>
          </a:xfrm>
          <a:prstGeom prst="roundRect">
            <a:avLst>
              <a:gd fmla="val 5556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>
            <a:off x="896112" y="283464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1"/>
          <p:cNvSpPr txBox="1"/>
          <p:nvPr/>
        </p:nvSpPr>
        <p:spPr>
          <a:xfrm>
            <a:off x="3968496" y="28346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1"/>
          <p:cNvSpPr txBox="1"/>
          <p:nvPr/>
        </p:nvSpPr>
        <p:spPr>
          <a:xfrm>
            <a:off x="5998464" y="2834640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Included?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1"/>
          <p:cNvSpPr/>
          <p:nvPr/>
        </p:nvSpPr>
        <p:spPr>
          <a:xfrm>
            <a:off x="749808" y="3090672"/>
            <a:ext cx="737006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1"/>
          <p:cNvSpPr txBox="1"/>
          <p:nvPr/>
        </p:nvSpPr>
        <p:spPr>
          <a:xfrm>
            <a:off x="896112" y="3163824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P-101  T-shirts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1"/>
          <p:cNvSpPr txBox="1"/>
          <p:nvPr/>
        </p:nvSpPr>
        <p:spPr>
          <a:xfrm>
            <a:off x="3968496" y="3163824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1"/>
          <p:cNvSpPr txBox="1"/>
          <p:nvPr/>
        </p:nvSpPr>
        <p:spPr>
          <a:xfrm>
            <a:off x="5998464" y="3163824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1"/>
          <p:cNvSpPr/>
          <p:nvPr/>
        </p:nvSpPr>
        <p:spPr>
          <a:xfrm>
            <a:off x="749808" y="3419856"/>
            <a:ext cx="7370064" cy="32918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1"/>
          <p:cNvSpPr txBox="1"/>
          <p:nvPr/>
        </p:nvSpPr>
        <p:spPr>
          <a:xfrm>
            <a:off x="896112" y="3493008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P-102  Socks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1"/>
          <p:cNvSpPr txBox="1"/>
          <p:nvPr/>
        </p:nvSpPr>
        <p:spPr>
          <a:xfrm>
            <a:off x="3968496" y="3493008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1"/>
          <p:cNvSpPr txBox="1"/>
          <p:nvPr/>
        </p:nvSpPr>
        <p:spPr>
          <a:xfrm>
            <a:off x="5998464" y="3493008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1"/>
          <p:cNvSpPr/>
          <p:nvPr/>
        </p:nvSpPr>
        <p:spPr>
          <a:xfrm>
            <a:off x="749808" y="3749040"/>
            <a:ext cx="737006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1"/>
          <p:cNvSpPr txBox="1"/>
          <p:nvPr/>
        </p:nvSpPr>
        <p:spPr>
          <a:xfrm>
            <a:off x="896112" y="3822192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P-103  Water bottle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1"/>
          <p:cNvSpPr txBox="1"/>
          <p:nvPr/>
        </p:nvSpPr>
        <p:spPr>
          <a:xfrm>
            <a:off x="3968496" y="3822192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1"/>
          <p:cNvSpPr txBox="1"/>
          <p:nvPr/>
        </p:nvSpPr>
        <p:spPr>
          <a:xfrm>
            <a:off x="5998464" y="3822192"/>
            <a:ext cx="10789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1"/>
          <p:cNvSpPr/>
          <p:nvPr/>
        </p:nvSpPr>
        <p:spPr>
          <a:xfrm>
            <a:off x="749808" y="4187952"/>
            <a:ext cx="7370064" cy="329184"/>
          </a:xfrm>
          <a:prstGeom prst="roundRect">
            <a:avLst>
              <a:gd fmla="val 1666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1"/>
          <p:cNvSpPr txBox="1"/>
          <p:nvPr/>
        </p:nvSpPr>
        <p:spPr>
          <a:xfrm>
            <a:off x="969264" y="4261104"/>
            <a:ext cx="6931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b="1" i="0" lang="en" sz="105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 does not “find and delete”; its callback decides which items are kept in the returned array.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1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Remove one item with the filtered array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2"/>
          <p:cNvSpPr/>
          <p:nvPr/>
        </p:nvSpPr>
        <p:spPr>
          <a:xfrm>
            <a:off x="749808" y="1060704"/>
            <a:ext cx="4352544" cy="171907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handleRemove(itemId: string) {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nextItems = items.filter(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(item) =&gt; item.id !== itemId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setItems(nextItems);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2"/>
          <p:cNvSpPr/>
          <p:nvPr/>
        </p:nvSpPr>
        <p:spPr>
          <a:xfrm>
            <a:off x="749808" y="3017520"/>
            <a:ext cx="4352544" cy="93268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onClick={() =&gt; handleRemove(item.id)}&gt;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Remove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2"/>
          <p:cNvSpPr txBox="1"/>
          <p:nvPr/>
        </p:nvSpPr>
        <p:spPr>
          <a:xfrm>
            <a:off x="5394960" y="1060704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90"/>
              <a:buFont typeface="Arial"/>
              <a:buNone/>
            </a:pPr>
            <a:r>
              <a:rPr b="1" i="0" lang="en" sz="11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the user removes Socks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2"/>
          <p:cNvSpPr/>
          <p:nvPr/>
        </p:nvSpPr>
        <p:spPr>
          <a:xfrm>
            <a:off x="5394960" y="1408176"/>
            <a:ext cx="2670048" cy="54864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2"/>
          <p:cNvSpPr txBox="1"/>
          <p:nvPr/>
        </p:nvSpPr>
        <p:spPr>
          <a:xfrm>
            <a:off x="5632704" y="159105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20"/>
              <a:buFont typeface="Courier New"/>
              <a:buNone/>
            </a:pPr>
            <a:r>
              <a:rPr b="1" i="0" lang="en" sz="112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itemId = "P-102"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2"/>
          <p:cNvSpPr txBox="1"/>
          <p:nvPr/>
        </p:nvSpPr>
        <p:spPr>
          <a:xfrm>
            <a:off x="5394960" y="2231136"/>
            <a:ext cx="252374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1" i="0" lang="en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Replacement array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5394960" y="2560320"/>
            <a:ext cx="2670048" cy="1152144"/>
          </a:xfrm>
          <a:prstGeom prst="roundRect">
            <a:avLst>
              <a:gd fmla="val 396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2"/>
          <p:cNvSpPr/>
          <p:nvPr/>
        </p:nvSpPr>
        <p:spPr>
          <a:xfrm>
            <a:off x="5394960" y="2560320"/>
            <a:ext cx="2670048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2"/>
          <p:cNvSpPr txBox="1"/>
          <p:nvPr/>
        </p:nvSpPr>
        <p:spPr>
          <a:xfrm>
            <a:off x="5522976" y="2596896"/>
            <a:ext cx="24140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2"/>
          <p:cNvSpPr txBox="1"/>
          <p:nvPr/>
        </p:nvSpPr>
        <p:spPr>
          <a:xfrm>
            <a:off x="5541264" y="2907792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T-shirts: 3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Water bottle: 1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5394960" y="3931920"/>
            <a:ext cx="2670048" cy="438912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2"/>
          <p:cNvSpPr txBox="1"/>
          <p:nvPr/>
        </p:nvSpPr>
        <p:spPr>
          <a:xfrm>
            <a:off x="5614416" y="40416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90"/>
              <a:buFont typeface="Courier New"/>
              <a:buNone/>
            </a:pPr>
            <a:r>
              <a:rPr b="1" i="0" lang="en" sz="109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setItems(nextItems)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2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3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can return updated data too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3"/>
          <p:cNvSpPr txBox="1"/>
          <p:nvPr/>
        </p:nvSpPr>
        <p:spPr>
          <a:xfrm>
            <a:off x="749808" y="950976"/>
            <a:ext cx="74249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90"/>
              <a:buFont typeface="Arial"/>
              <a:buNone/>
            </a:pPr>
            <a:r>
              <a:rPr b="1" i="0" lang="en" sz="12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purpose of map is broader than list rendering: it produces one result for every source item.</a:t>
            </a:r>
            <a:endParaRPr b="0" i="0" sz="12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3"/>
          <p:cNvSpPr txBox="1"/>
          <p:nvPr/>
        </p:nvSpPr>
        <p:spPr>
          <a:xfrm>
            <a:off x="749808" y="1572768"/>
            <a:ext cx="34015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returning JSX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3"/>
          <p:cNvSpPr/>
          <p:nvPr/>
        </p:nvSpPr>
        <p:spPr>
          <a:xfrm>
            <a:off x="749808" y="1901952"/>
            <a:ext cx="3547872" cy="1426464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items.map((item) =&gt; (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&lt;li key={item.id}&gt;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{item.name}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&lt;/li&gt;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3"/>
          <p:cNvSpPr/>
          <p:nvPr/>
        </p:nvSpPr>
        <p:spPr>
          <a:xfrm>
            <a:off x="749808" y="3547872"/>
            <a:ext cx="3547872" cy="585216"/>
          </a:xfrm>
          <a:prstGeom prst="roundRect">
            <a:avLst>
              <a:gd fmla="val 9375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3"/>
          <p:cNvSpPr txBox="1"/>
          <p:nvPr/>
        </p:nvSpPr>
        <p:spPr>
          <a:xfrm>
            <a:off x="932688" y="367588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each PackingItem: return JSX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Result: array of JSX elements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3"/>
          <p:cNvSpPr txBox="1"/>
          <p:nvPr/>
        </p:nvSpPr>
        <p:spPr>
          <a:xfrm>
            <a:off x="4626864" y="1572768"/>
            <a:ext cx="34015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returning data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3"/>
          <p:cNvSpPr/>
          <p:nvPr/>
        </p:nvSpPr>
        <p:spPr>
          <a:xfrm>
            <a:off x="4626864" y="1901952"/>
            <a:ext cx="3547872" cy="1426464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items.map((item) =&gt; {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return item;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3"/>
          <p:cNvSpPr/>
          <p:nvPr/>
        </p:nvSpPr>
        <p:spPr>
          <a:xfrm>
            <a:off x="4626864" y="3547872"/>
            <a:ext cx="3547872" cy="585216"/>
          </a:xfrm>
          <a:prstGeom prst="roundRect">
            <a:avLst>
              <a:gd fmla="val 937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3"/>
          <p:cNvSpPr txBox="1"/>
          <p:nvPr/>
        </p:nvSpPr>
        <p:spPr>
          <a:xfrm>
            <a:off x="4809744" y="367588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 each PackingItem: return a PackingItem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Result: new PackingItem[]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3"/>
          <p:cNvSpPr txBox="1"/>
          <p:nvPr/>
        </p:nvSpPr>
        <p:spPr>
          <a:xfrm>
            <a:off x="896112" y="4315968"/>
            <a:ext cx="7296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30"/>
              <a:buFont typeface="Arial"/>
              <a:buNone/>
            </a:pPr>
            <a:r>
              <a:rPr b="0" i="0" lang="en" sz="113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That second pattern lets us build a replacement array while changing only the item that needs an update.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3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4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Copy one object and replace one property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4"/>
          <p:cNvSpPr txBox="1"/>
          <p:nvPr/>
        </p:nvSpPr>
        <p:spPr>
          <a:xfrm>
            <a:off x="822960" y="1078992"/>
            <a:ext cx="21396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Current item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4"/>
          <p:cNvSpPr/>
          <p:nvPr/>
        </p:nvSpPr>
        <p:spPr>
          <a:xfrm>
            <a:off x="822960" y="1389888"/>
            <a:ext cx="2231136" cy="146304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id: "P-103",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name: "Water bottle",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1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45"/>
              <a:buFont typeface="Courier New"/>
              <a:buNone/>
            </a:pPr>
            <a:r>
              <a:rPr b="0" i="0" lang="en" sz="104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p44"/>
          <p:cNvCxnSpPr/>
          <p:nvPr/>
        </p:nvCxnSpPr>
        <p:spPr>
          <a:xfrm>
            <a:off x="3127248" y="2103120"/>
            <a:ext cx="182880" cy="0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9" name="Google Shape;639;p44"/>
          <p:cNvSpPr txBox="1"/>
          <p:nvPr/>
        </p:nvSpPr>
        <p:spPr>
          <a:xfrm>
            <a:off x="3273552" y="1078992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Replacement expression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4"/>
          <p:cNvSpPr/>
          <p:nvPr/>
        </p:nvSpPr>
        <p:spPr>
          <a:xfrm>
            <a:off x="3273552" y="1389888"/>
            <a:ext cx="2487168" cy="146304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...item,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item.quantity + 1,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1" name="Google Shape;641;p44"/>
          <p:cNvCxnSpPr/>
          <p:nvPr/>
        </p:nvCxnSpPr>
        <p:spPr>
          <a:xfrm>
            <a:off x="5833872" y="2103120"/>
            <a:ext cx="219456" cy="0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2" name="Google Shape;642;p44"/>
          <p:cNvSpPr txBox="1"/>
          <p:nvPr/>
        </p:nvSpPr>
        <p:spPr>
          <a:xfrm>
            <a:off x="6071616" y="107899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New object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6071616" y="1389888"/>
            <a:ext cx="2176272" cy="146304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88900" wrap="square" tIns="889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14"/>
              <a:buFont typeface="Courier New"/>
              <a:buNone/>
            </a:pPr>
            <a:r>
              <a:rPr b="0" i="0" lang="en" sz="101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14"/>
              <a:buFont typeface="Courier New"/>
              <a:buNone/>
            </a:pPr>
            <a:r>
              <a:rPr b="0" i="0" lang="en" sz="101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id: "P-103",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14"/>
              <a:buFont typeface="Courier New"/>
              <a:buNone/>
            </a:pPr>
            <a:r>
              <a:rPr b="0" i="0" lang="en" sz="101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name: "Water bottle",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14"/>
              <a:buFont typeface="Courier New"/>
              <a:buNone/>
            </a:pPr>
            <a:r>
              <a:rPr b="0" i="0" lang="en" sz="101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2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14"/>
              <a:buFont typeface="Courier New"/>
              <a:buNone/>
            </a:pPr>
            <a:r>
              <a:rPr b="0" i="0" lang="en" sz="101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4"/>
          <p:cNvSpPr/>
          <p:nvPr/>
        </p:nvSpPr>
        <p:spPr>
          <a:xfrm>
            <a:off x="896112" y="3291840"/>
            <a:ext cx="7351776" cy="914400"/>
          </a:xfrm>
          <a:prstGeom prst="roundRect">
            <a:avLst>
              <a:gd fmla="val 6000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4"/>
          <p:cNvSpPr txBox="1"/>
          <p:nvPr/>
        </p:nvSpPr>
        <p:spPr>
          <a:xfrm>
            <a:off x="1115568" y="3456432"/>
            <a:ext cx="6912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...item copies the current properties. The later quantity property supplies the new value.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4"/>
          <p:cNvSpPr txBox="1"/>
          <p:nvPr/>
        </p:nvSpPr>
        <p:spPr>
          <a:xfrm>
            <a:off x="1115568" y="3785616"/>
            <a:ext cx="6912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10"/>
              <a:buFont typeface="Arial"/>
              <a:buNone/>
            </a:pPr>
            <a:r>
              <a:rPr b="0" i="0" lang="en" sz="111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Creating a new array is not enough if we then mutate an existing object inside it. The item that changes also gets a replacement object.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4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5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the mapped array as the next 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749808" y="1024128"/>
            <a:ext cx="5230368" cy="288036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handleAddOne(itemId: string) {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nextItems = items.map((item) =&gt; {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if (item.id === itemId) {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{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...item,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quantity: item.quantity + 1,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};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item;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setItems(nextItems);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5"/>
          <p:cNvSpPr txBox="1"/>
          <p:nvPr/>
        </p:nvSpPr>
        <p:spPr>
          <a:xfrm>
            <a:off x="6254496" y="102412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 the callback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5"/>
          <p:cNvSpPr/>
          <p:nvPr/>
        </p:nvSpPr>
        <p:spPr>
          <a:xfrm>
            <a:off x="6254496" y="1344168"/>
            <a:ext cx="2011680" cy="841248"/>
          </a:xfrm>
          <a:prstGeom prst="roundRect">
            <a:avLst>
              <a:gd fmla="val 6522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5"/>
          <p:cNvSpPr txBox="1"/>
          <p:nvPr/>
        </p:nvSpPr>
        <p:spPr>
          <a:xfrm>
            <a:off x="6419088" y="1463040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ID matches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5"/>
          <p:cNvSpPr txBox="1"/>
          <p:nvPr/>
        </p:nvSpPr>
        <p:spPr>
          <a:xfrm>
            <a:off x="6419088" y="171907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Return a new object with the updated quantity.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5"/>
          <p:cNvSpPr/>
          <p:nvPr/>
        </p:nvSpPr>
        <p:spPr>
          <a:xfrm>
            <a:off x="6254496" y="2350008"/>
            <a:ext cx="2011680" cy="749808"/>
          </a:xfrm>
          <a:prstGeom prst="roundRect">
            <a:avLst>
              <a:gd fmla="val 731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5"/>
          <p:cNvSpPr txBox="1"/>
          <p:nvPr/>
        </p:nvSpPr>
        <p:spPr>
          <a:xfrm>
            <a:off x="6419088" y="2459736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ID does not match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5"/>
          <p:cNvSpPr txBox="1"/>
          <p:nvPr/>
        </p:nvSpPr>
        <p:spPr>
          <a:xfrm>
            <a:off x="6419088" y="2706624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Return the existing item unchanged.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5"/>
          <p:cNvSpPr/>
          <p:nvPr/>
        </p:nvSpPr>
        <p:spPr>
          <a:xfrm>
            <a:off x="749808" y="4041648"/>
            <a:ext cx="7516368" cy="457200"/>
          </a:xfrm>
          <a:prstGeom prst="roundRect">
            <a:avLst>
              <a:gd fmla="val 12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5"/>
          <p:cNvSpPr txBox="1"/>
          <p:nvPr/>
        </p:nvSpPr>
        <p:spPr>
          <a:xfrm>
            <a:off x="1051560" y="41422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Water bottle: 1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5"/>
          <p:cNvSpPr txBox="1"/>
          <p:nvPr/>
        </p:nvSpPr>
        <p:spPr>
          <a:xfrm>
            <a:off x="5806440" y="41422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10"/>
              <a:buFont typeface="Arial"/>
              <a:buNone/>
            </a:pPr>
            <a:r>
              <a:rPr b="1" i="0" lang="en" sz="121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Water bottle: 2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p45"/>
          <p:cNvCxnSpPr/>
          <p:nvPr/>
        </p:nvCxnSpPr>
        <p:spPr>
          <a:xfrm>
            <a:off x="3657600" y="4261104"/>
            <a:ext cx="1600200" cy="0"/>
          </a:xfrm>
          <a:prstGeom prst="straightConnector1">
            <a:avLst/>
          </a:prstGeom>
          <a:noFill/>
          <a:ln cap="flat" cmpd="sng" w="228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6" name="Google Shape;666;p45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6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one total with reduce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6"/>
          <p:cNvSpPr txBox="1"/>
          <p:nvPr/>
        </p:nvSpPr>
        <p:spPr>
          <a:xfrm>
            <a:off x="749808" y="950976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 the Water bottle update, we want one result: How many total pieces are packed?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749808" y="1499616"/>
            <a:ext cx="4078224" cy="201168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totalQuantity = items.reduce(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(total, item) =&gt; {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total + item.quantity;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5138928" y="1499616"/>
            <a:ext cx="2779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Follow the accumulator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6"/>
          <p:cNvSpPr/>
          <p:nvPr/>
        </p:nvSpPr>
        <p:spPr>
          <a:xfrm>
            <a:off x="5138928" y="1865376"/>
            <a:ext cx="2706624" cy="384048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6"/>
          <p:cNvSpPr txBox="1"/>
          <p:nvPr/>
        </p:nvSpPr>
        <p:spPr>
          <a:xfrm>
            <a:off x="5321808" y="1956816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6"/>
          <p:cNvSpPr txBox="1"/>
          <p:nvPr/>
        </p:nvSpPr>
        <p:spPr>
          <a:xfrm>
            <a:off x="7114032" y="1956816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138928" y="2377440"/>
            <a:ext cx="2706624" cy="384048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6"/>
          <p:cNvSpPr txBox="1"/>
          <p:nvPr/>
        </p:nvSpPr>
        <p:spPr>
          <a:xfrm>
            <a:off x="5321808" y="246888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After T-shirts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6"/>
          <p:cNvSpPr txBox="1"/>
          <p:nvPr/>
        </p:nvSpPr>
        <p:spPr>
          <a:xfrm>
            <a:off x="7114032" y="2468880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5138928" y="2889504"/>
            <a:ext cx="2706624" cy="384048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6"/>
          <p:cNvSpPr txBox="1"/>
          <p:nvPr/>
        </p:nvSpPr>
        <p:spPr>
          <a:xfrm>
            <a:off x="5321808" y="2980944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After Socks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7114032" y="2980944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5138928" y="3401568"/>
            <a:ext cx="2706624" cy="384048"/>
          </a:xfrm>
          <a:prstGeom prst="roundRect">
            <a:avLst>
              <a:gd fmla="val 1428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6"/>
          <p:cNvSpPr txBox="1"/>
          <p:nvPr/>
        </p:nvSpPr>
        <p:spPr>
          <a:xfrm>
            <a:off x="5321808" y="349300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After Water bottle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6"/>
          <p:cNvSpPr txBox="1"/>
          <p:nvPr/>
        </p:nvSpPr>
        <p:spPr>
          <a:xfrm>
            <a:off x="7114032" y="3493008"/>
            <a:ext cx="4937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50"/>
              <a:buFont typeface="Courier New"/>
              <a:buNone/>
            </a:pPr>
            <a:r>
              <a:rPr b="1" i="0" lang="en" sz="1150" u="none" cap="none" strike="noStrik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6"/>
          <p:cNvSpPr/>
          <p:nvPr/>
        </p:nvSpPr>
        <p:spPr>
          <a:xfrm>
            <a:off x="749808" y="3950208"/>
            <a:ext cx="7095744" cy="475488"/>
          </a:xfrm>
          <a:prstGeom prst="roundRect">
            <a:avLst>
              <a:gd fmla="val 11538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6"/>
          <p:cNvSpPr txBox="1"/>
          <p:nvPr/>
        </p:nvSpPr>
        <p:spPr>
          <a:xfrm>
            <a:off x="950976" y="4078224"/>
            <a:ext cx="6693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totalQuantity === 9    •    Browser: Total pieces: 9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6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7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Choose the operation by the result you need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7"/>
          <p:cNvSpPr/>
          <p:nvPr/>
        </p:nvSpPr>
        <p:spPr>
          <a:xfrm>
            <a:off x="749808" y="987552"/>
            <a:ext cx="7479792" cy="283464"/>
          </a:xfrm>
          <a:prstGeom prst="roundRect">
            <a:avLst>
              <a:gd fmla="val 6452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7"/>
          <p:cNvSpPr txBox="1"/>
          <p:nvPr/>
        </p:nvSpPr>
        <p:spPr>
          <a:xfrm>
            <a:off x="896112" y="1042416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 you need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7"/>
          <p:cNvSpPr txBox="1"/>
          <p:nvPr/>
        </p:nvSpPr>
        <p:spPr>
          <a:xfrm>
            <a:off x="5504688" y="1042416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Useful operation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7"/>
          <p:cNvSpPr/>
          <p:nvPr/>
        </p:nvSpPr>
        <p:spPr>
          <a:xfrm>
            <a:off x="749808" y="1271016"/>
            <a:ext cx="7479792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7"/>
          <p:cNvSpPr txBox="1"/>
          <p:nvPr/>
        </p:nvSpPr>
        <p:spPr>
          <a:xfrm>
            <a:off x="896112" y="1325880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existing values and add another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7"/>
          <p:cNvSpPr txBox="1"/>
          <p:nvPr/>
        </p:nvSpPr>
        <p:spPr>
          <a:xfrm>
            <a:off x="5504688" y="1325880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array spread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749808" y="1554480"/>
            <a:ext cx="7479792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7"/>
          <p:cNvSpPr txBox="1"/>
          <p:nvPr/>
        </p:nvSpPr>
        <p:spPr>
          <a:xfrm>
            <a:off x="896112" y="1609344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only items that pass a condition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7"/>
          <p:cNvSpPr txBox="1"/>
          <p:nvPr/>
        </p:nvSpPr>
        <p:spPr>
          <a:xfrm>
            <a:off x="5504688" y="1609344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7"/>
          <p:cNvSpPr/>
          <p:nvPr/>
        </p:nvSpPr>
        <p:spPr>
          <a:xfrm>
            <a:off x="749808" y="1837944"/>
            <a:ext cx="7479792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7"/>
          <p:cNvSpPr txBox="1"/>
          <p:nvPr/>
        </p:nvSpPr>
        <p:spPr>
          <a:xfrm>
            <a:off x="896112" y="1892808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Produce one result for every item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7"/>
          <p:cNvSpPr txBox="1"/>
          <p:nvPr/>
        </p:nvSpPr>
        <p:spPr>
          <a:xfrm>
            <a:off x="5504688" y="1892808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749808" y="2121408"/>
            <a:ext cx="7479792" cy="283464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7"/>
          <p:cNvSpPr txBox="1"/>
          <p:nvPr/>
        </p:nvSpPr>
        <p:spPr>
          <a:xfrm>
            <a:off x="896112" y="2176272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one element for every item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7"/>
          <p:cNvSpPr txBox="1"/>
          <p:nvPr/>
        </p:nvSpPr>
        <p:spPr>
          <a:xfrm>
            <a:off x="5504688" y="2176272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returning JSX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7"/>
          <p:cNvSpPr/>
          <p:nvPr/>
        </p:nvSpPr>
        <p:spPr>
          <a:xfrm>
            <a:off x="749808" y="2404872"/>
            <a:ext cx="7479792" cy="2834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7"/>
          <p:cNvSpPr txBox="1"/>
          <p:nvPr/>
        </p:nvSpPr>
        <p:spPr>
          <a:xfrm>
            <a:off x="896112" y="2459736"/>
            <a:ext cx="4315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one accumulated result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7"/>
          <p:cNvSpPr txBox="1"/>
          <p:nvPr/>
        </p:nvSpPr>
        <p:spPr>
          <a:xfrm>
            <a:off x="5504688" y="2459736"/>
            <a:ext cx="23957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Courier New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749808" y="2779776"/>
            <a:ext cx="3639312" cy="1517904"/>
          </a:xfrm>
          <a:prstGeom prst="roundRect">
            <a:avLst>
              <a:gd fmla="val 3614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7"/>
          <p:cNvSpPr txBox="1"/>
          <p:nvPr/>
        </p:nvSpPr>
        <p:spPr>
          <a:xfrm>
            <a:off x="950976" y="2944368"/>
            <a:ext cx="31638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Updating collection state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7"/>
          <p:cNvSpPr/>
          <p:nvPr/>
        </p:nvSpPr>
        <p:spPr>
          <a:xfrm>
            <a:off x="969264" y="3291840"/>
            <a:ext cx="30906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component owns the collection?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should the next array contain?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10"/>
              <a:buFont typeface="Arial"/>
              <a:buAutoNum type="arabicPeriod"/>
            </a:pPr>
            <a:r>
              <a:rPr b="0" i="0" lang="en" sz="111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operation creates that replacement array?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7"/>
          <p:cNvSpPr/>
          <p:nvPr/>
        </p:nvSpPr>
        <p:spPr>
          <a:xfrm>
            <a:off x="4608576" y="2779776"/>
            <a:ext cx="3621024" cy="1517904"/>
          </a:xfrm>
          <a:prstGeom prst="roundRect">
            <a:avLst>
              <a:gd fmla="val 3614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7"/>
          <p:cNvSpPr txBox="1"/>
          <p:nvPr/>
        </p:nvSpPr>
        <p:spPr>
          <a:xfrm>
            <a:off x="4809744" y="2944368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Derived value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7"/>
          <p:cNvSpPr txBox="1"/>
          <p:nvPr/>
        </p:nvSpPr>
        <p:spPr>
          <a:xfrm>
            <a:off x="4809744" y="3273552"/>
            <a:ext cx="316382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derived value is calculated from existing state or props rather than stored as another independent state value.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7"/>
          <p:cNvSpPr txBox="1"/>
          <p:nvPr/>
        </p:nvSpPr>
        <p:spPr>
          <a:xfrm>
            <a:off x="4809744" y="3913632"/>
            <a:ext cx="3145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30"/>
              <a:buFont typeface="Courier New"/>
              <a:buNone/>
            </a:pPr>
            <a:r>
              <a:rPr b="1" i="0" lang="en" sz="103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const totalQuantity = items.reduce(...);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7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8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Your turn: Workshop supply tracker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749808" y="1170432"/>
            <a:ext cx="2926080" cy="2871216"/>
          </a:xfrm>
          <a:prstGeom prst="roundRect">
            <a:avLst>
              <a:gd fmla="val 159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8"/>
          <p:cNvSpPr/>
          <p:nvPr/>
        </p:nvSpPr>
        <p:spPr>
          <a:xfrm>
            <a:off x="749808" y="1170432"/>
            <a:ext cx="2926080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8"/>
          <p:cNvSpPr txBox="1"/>
          <p:nvPr/>
        </p:nvSpPr>
        <p:spPr>
          <a:xfrm>
            <a:off x="877824" y="1207008"/>
            <a:ext cx="2670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Workshop supply tracker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8"/>
          <p:cNvSpPr txBox="1"/>
          <p:nvPr/>
        </p:nvSpPr>
        <p:spPr>
          <a:xfrm>
            <a:off x="896112" y="1517904"/>
            <a:ext cx="2633472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Markers: 2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one]  [Remove]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Sticky notes: 5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one]  [Remove]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USB-C cables: 3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60"/>
              <a:buFont typeface="Arial"/>
              <a:buNone/>
            </a:pPr>
            <a:r>
              <a:rPr b="0" i="0" lang="en" sz="11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one]  [Remove]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8"/>
          <p:cNvSpPr txBox="1"/>
          <p:nvPr/>
        </p:nvSpPr>
        <p:spPr>
          <a:xfrm>
            <a:off x="3968496" y="950976"/>
            <a:ext cx="19385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Starter data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8"/>
          <p:cNvSpPr/>
          <p:nvPr/>
        </p:nvSpPr>
        <p:spPr>
          <a:xfrm>
            <a:off x="3968496" y="1225296"/>
            <a:ext cx="4261104" cy="254203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type Supply = {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id: string;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string;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quantity: number;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Font typeface="Arial"/>
              <a:buNone/>
            </a:pPr>
            <a:r>
              <a:t/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initialSupplies: Supply[] = [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"S-301", name: "Markers",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2 },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"S-302", name: "Sticky notes",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5 },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"S-303", name: "USB-C cables",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quantity: 3 },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35"/>
              <a:buFont typeface="Courier New"/>
              <a:buNone/>
            </a:pPr>
            <a:r>
              <a:rPr b="0" i="0" lang="en" sz="103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3968496" y="3895344"/>
            <a:ext cx="4261104" cy="512064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8"/>
          <p:cNvSpPr txBox="1"/>
          <p:nvPr/>
        </p:nvSpPr>
        <p:spPr>
          <a:xfrm>
            <a:off x="4169664" y="3968496"/>
            <a:ext cx="3858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Already prepared: static list, key={supply.id}, both buttons, and the supply ID passed into handler stubs.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8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9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Complete the supply tracker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9"/>
          <p:cNvSpPr txBox="1"/>
          <p:nvPr/>
        </p:nvSpPr>
        <p:spPr>
          <a:xfrm>
            <a:off x="749808" y="93268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10"/>
              <a:buFont typeface="Arial"/>
              <a:buNone/>
            </a:pPr>
            <a:r>
              <a:rPr b="0" i="0" lang="en" sz="121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Complete the behaviour in three stages.</a:t>
            </a:r>
            <a:endParaRPr b="0" i="0" sz="12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9"/>
          <p:cNvSpPr/>
          <p:nvPr/>
        </p:nvSpPr>
        <p:spPr>
          <a:xfrm>
            <a:off x="804672" y="1316736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9"/>
          <p:cNvSpPr txBox="1"/>
          <p:nvPr/>
        </p:nvSpPr>
        <p:spPr>
          <a:xfrm>
            <a:off x="804672" y="135331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9"/>
          <p:cNvSpPr txBox="1"/>
          <p:nvPr/>
        </p:nvSpPr>
        <p:spPr>
          <a:xfrm>
            <a:off x="1353312" y="1307592"/>
            <a:ext cx="39684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Move the collection into state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9"/>
          <p:cNvSpPr/>
          <p:nvPr/>
        </p:nvSpPr>
        <p:spPr>
          <a:xfrm>
            <a:off x="1389888" y="1627632"/>
            <a:ext cx="4425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state from initialSupplies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from the state value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804672" y="2139696"/>
            <a:ext cx="384048" cy="38404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9"/>
          <p:cNvSpPr txBox="1"/>
          <p:nvPr/>
        </p:nvSpPr>
        <p:spPr>
          <a:xfrm>
            <a:off x="804672" y="217627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9"/>
          <p:cNvSpPr txBox="1"/>
          <p:nvPr/>
        </p:nvSpPr>
        <p:spPr>
          <a:xfrm>
            <a:off x="1353312" y="2130552"/>
            <a:ext cx="39684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Remove work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9"/>
          <p:cNvSpPr/>
          <p:nvPr/>
        </p:nvSpPr>
        <p:spPr>
          <a:xfrm>
            <a:off x="1389888" y="2450592"/>
            <a:ext cx="4425696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the supply 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filter to create a replacement array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Pass the replacement array to the setter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9"/>
          <p:cNvSpPr/>
          <p:nvPr/>
        </p:nvSpPr>
        <p:spPr>
          <a:xfrm>
            <a:off x="804672" y="3072384"/>
            <a:ext cx="384048" cy="38404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9"/>
          <p:cNvSpPr txBox="1"/>
          <p:nvPr/>
        </p:nvSpPr>
        <p:spPr>
          <a:xfrm>
            <a:off x="804672" y="3108960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1353312" y="3063240"/>
            <a:ext cx="39684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Font typeface="Arial"/>
              <a:buNone/>
            </a:pPr>
            <a:r>
              <a:rPr b="1" i="0" lang="en" sz="12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Add one work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9"/>
          <p:cNvSpPr/>
          <p:nvPr/>
        </p:nvSpPr>
        <p:spPr>
          <a:xfrm>
            <a:off x="1389888" y="3383280"/>
            <a:ext cx="44256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the supply 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map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Return a new object for the matching supply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Increase only quantity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9"/>
          <p:cNvSpPr/>
          <p:nvPr/>
        </p:nvSpPr>
        <p:spPr>
          <a:xfrm>
            <a:off x="6071616" y="1316736"/>
            <a:ext cx="2176272" cy="1609344"/>
          </a:xfrm>
          <a:prstGeom prst="roundRect">
            <a:avLst>
              <a:gd fmla="val 340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9"/>
          <p:cNvSpPr txBox="1"/>
          <p:nvPr/>
        </p:nvSpPr>
        <p:spPr>
          <a:xfrm>
            <a:off x="6272784" y="1481328"/>
            <a:ext cx="177393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Completion check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9"/>
          <p:cNvSpPr txBox="1"/>
          <p:nvPr/>
        </p:nvSpPr>
        <p:spPr>
          <a:xfrm>
            <a:off x="6272784" y="1810512"/>
            <a:ext cx="1773936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 Remove Sticky notes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2. Add one to USB-C cables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9"/>
          <p:cNvSpPr txBox="1"/>
          <p:nvPr/>
        </p:nvSpPr>
        <p:spPr>
          <a:xfrm>
            <a:off x="6272784" y="2487168"/>
            <a:ext cx="7680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9"/>
          <p:cNvSpPr txBox="1"/>
          <p:nvPr/>
        </p:nvSpPr>
        <p:spPr>
          <a:xfrm>
            <a:off x="6931152" y="2450592"/>
            <a:ext cx="1078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Markers: 2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USB-C cables: 4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749808" y="4078224"/>
            <a:ext cx="7498080" cy="402336"/>
          </a:xfrm>
          <a:prstGeom prst="roundRect">
            <a:avLst>
              <a:gd fmla="val 13636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9"/>
          <p:cNvSpPr txBox="1"/>
          <p:nvPr/>
        </p:nvSpPr>
        <p:spPr>
          <a:xfrm>
            <a:off x="969264" y="4169664"/>
            <a:ext cx="7059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Keep the existing IDs and keys. Do not mutate the current state array. Do not add forms or packages.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9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0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 the removal update with filter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0"/>
          <p:cNvSpPr/>
          <p:nvPr/>
        </p:nvSpPr>
        <p:spPr>
          <a:xfrm>
            <a:off x="749808" y="1078992"/>
            <a:ext cx="4315968" cy="786384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[supplies, setSupplies] =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useState(initialSupplies);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0"/>
          <p:cNvSpPr/>
          <p:nvPr/>
        </p:nvSpPr>
        <p:spPr>
          <a:xfrm>
            <a:off x="749808" y="2048256"/>
            <a:ext cx="4315968" cy="171907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handleRemove(supplyId: string) {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nextSupplies = supplies.filter(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(supply) =&gt; supply.id !== supplyId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setSupplies(nextSupplies);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0"/>
          <p:cNvSpPr txBox="1"/>
          <p:nvPr/>
        </p:nvSpPr>
        <p:spPr>
          <a:xfrm>
            <a:off x="5413248" y="1152144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90"/>
              <a:buFont typeface="Arial"/>
              <a:buNone/>
            </a:pPr>
            <a:r>
              <a:rPr b="1" i="0" lang="en" sz="11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Remove Sticky notes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0"/>
          <p:cNvSpPr/>
          <p:nvPr/>
        </p:nvSpPr>
        <p:spPr>
          <a:xfrm>
            <a:off x="5413248" y="1517904"/>
            <a:ext cx="2596896" cy="54864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0"/>
          <p:cNvSpPr txBox="1"/>
          <p:nvPr/>
        </p:nvSpPr>
        <p:spPr>
          <a:xfrm>
            <a:off x="5614416" y="1700784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S-302  Sticky notes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p50"/>
          <p:cNvCxnSpPr/>
          <p:nvPr/>
        </p:nvCxnSpPr>
        <p:spPr>
          <a:xfrm>
            <a:off x="6711696" y="2103120"/>
            <a:ext cx="0" cy="347472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7" name="Google Shape;777;p50"/>
          <p:cNvSpPr/>
          <p:nvPr/>
        </p:nvSpPr>
        <p:spPr>
          <a:xfrm>
            <a:off x="5413248" y="2505456"/>
            <a:ext cx="2596896" cy="1078992"/>
          </a:xfrm>
          <a:prstGeom prst="roundRect">
            <a:avLst>
              <a:gd fmla="val 423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0"/>
          <p:cNvSpPr/>
          <p:nvPr/>
        </p:nvSpPr>
        <p:spPr>
          <a:xfrm>
            <a:off x="5413248" y="2505456"/>
            <a:ext cx="2596896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0"/>
          <p:cNvSpPr txBox="1"/>
          <p:nvPr/>
        </p:nvSpPr>
        <p:spPr>
          <a:xfrm>
            <a:off x="5541264" y="254203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Replacement state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0"/>
          <p:cNvSpPr txBox="1"/>
          <p:nvPr/>
        </p:nvSpPr>
        <p:spPr>
          <a:xfrm>
            <a:off x="5559552" y="2852928"/>
            <a:ext cx="2304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Markers: 2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USB-C cables: 3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0"/>
          <p:cNvSpPr/>
          <p:nvPr/>
        </p:nvSpPr>
        <p:spPr>
          <a:xfrm>
            <a:off x="749808" y="4059936"/>
            <a:ext cx="7260336" cy="384048"/>
          </a:xfrm>
          <a:prstGeom prst="roundRect">
            <a:avLst>
              <a:gd fmla="val 14286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0"/>
          <p:cNvSpPr txBox="1"/>
          <p:nvPr/>
        </p:nvSpPr>
        <p:spPr>
          <a:xfrm>
            <a:off x="950976" y="4133088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65"/>
              <a:buFont typeface="Arial"/>
              <a:buNone/>
            </a:pPr>
            <a:r>
              <a:rPr b="1" i="0" lang="en" sz="1065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Read current state. Calculate supplies.filter(...). Then call setSupplies(nextSupplies).</a:t>
            </a:r>
            <a:endParaRPr b="0" i="0" sz="106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0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1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 the quantity update with map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1"/>
          <p:cNvSpPr/>
          <p:nvPr/>
        </p:nvSpPr>
        <p:spPr>
          <a:xfrm>
            <a:off x="749808" y="1024128"/>
            <a:ext cx="5175504" cy="292608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handleAddOne(supplyId: string)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const nextSupplies = supplies.map((supply) =&gt;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if (supply.id === supplyId)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...supply,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quantity: supply.quantity + 1,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  };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supply;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setSupplies(nextSupplies);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1"/>
          <p:cNvSpPr txBox="1"/>
          <p:nvPr/>
        </p:nvSpPr>
        <p:spPr>
          <a:xfrm>
            <a:off x="6217920" y="1170432"/>
            <a:ext cx="17556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USB-C cables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1"/>
          <p:cNvSpPr/>
          <p:nvPr/>
        </p:nvSpPr>
        <p:spPr>
          <a:xfrm>
            <a:off x="6217920" y="1536192"/>
            <a:ext cx="1920240" cy="475488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1"/>
          <p:cNvSpPr txBox="1"/>
          <p:nvPr/>
        </p:nvSpPr>
        <p:spPr>
          <a:xfrm>
            <a:off x="6400800" y="167335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Before: 3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4" name="Google Shape;794;p51"/>
          <p:cNvCxnSpPr/>
          <p:nvPr/>
        </p:nvCxnSpPr>
        <p:spPr>
          <a:xfrm>
            <a:off x="7168896" y="2084832"/>
            <a:ext cx="0" cy="292608"/>
          </a:xfrm>
          <a:prstGeom prst="straightConnector1">
            <a:avLst/>
          </a:prstGeom>
          <a:noFill/>
          <a:ln cap="flat" cmpd="sng" w="177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5" name="Google Shape;795;p51"/>
          <p:cNvSpPr/>
          <p:nvPr/>
        </p:nvSpPr>
        <p:spPr>
          <a:xfrm>
            <a:off x="6217920" y="2450592"/>
            <a:ext cx="1920240" cy="475488"/>
          </a:xfrm>
          <a:prstGeom prst="roundRect">
            <a:avLst>
              <a:gd fmla="val 11538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1"/>
          <p:cNvSpPr txBox="1"/>
          <p:nvPr/>
        </p:nvSpPr>
        <p:spPr>
          <a:xfrm>
            <a:off x="6400800" y="258775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After: 4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1"/>
          <p:cNvSpPr/>
          <p:nvPr/>
        </p:nvSpPr>
        <p:spPr>
          <a:xfrm>
            <a:off x="6217920" y="3255264"/>
            <a:ext cx="1920240" cy="841248"/>
          </a:xfrm>
          <a:prstGeom prst="roundRect">
            <a:avLst>
              <a:gd fmla="val 6522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1"/>
          <p:cNvSpPr txBox="1"/>
          <p:nvPr/>
        </p:nvSpPr>
        <p:spPr>
          <a:xfrm>
            <a:off x="6400800" y="3401568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filter can return fewer items.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returns one result for every original item.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1"/>
          <p:cNvSpPr/>
          <p:nvPr/>
        </p:nvSpPr>
        <p:spPr>
          <a:xfrm>
            <a:off x="749808" y="4151376"/>
            <a:ext cx="7388352" cy="329184"/>
          </a:xfrm>
          <a:prstGeom prst="roundRect">
            <a:avLst>
              <a:gd fmla="val 1666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1"/>
          <p:cNvSpPr txBox="1"/>
          <p:nvPr/>
        </p:nvSpPr>
        <p:spPr>
          <a:xfrm>
            <a:off x="950976" y="4215384"/>
            <a:ext cx="6986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Both handlers read current state, calculate a replacement array, then pass that replacement to the setter.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1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2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Debug the watchlist update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2"/>
          <p:cNvSpPr/>
          <p:nvPr/>
        </p:nvSpPr>
        <p:spPr>
          <a:xfrm>
            <a:off x="749808" y="1097280"/>
            <a:ext cx="2834640" cy="1353312"/>
          </a:xfrm>
          <a:prstGeom prst="roundRect">
            <a:avLst>
              <a:gd fmla="val 337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2"/>
          <p:cNvSpPr/>
          <p:nvPr/>
        </p:nvSpPr>
        <p:spPr>
          <a:xfrm>
            <a:off x="749808" y="1097280"/>
            <a:ext cx="2834640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52"/>
          <p:cNvSpPr txBox="1"/>
          <p:nvPr/>
        </p:nvSpPr>
        <p:spPr>
          <a:xfrm>
            <a:off x="877824" y="1133856"/>
            <a:ext cx="25786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Current watchlist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2"/>
          <p:cNvSpPr txBox="1"/>
          <p:nvPr/>
        </p:nvSpPr>
        <p:spPr>
          <a:xfrm>
            <a:off x="896112" y="1444752"/>
            <a:ext cx="25420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M-401  Arrival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M-402  Moon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Courier New"/>
              <a:buNone/>
            </a:pPr>
            <a:r>
              <a:rPr b="0" i="0" lang="en" sz="118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M-403  Contact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2"/>
          <p:cNvSpPr/>
          <p:nvPr/>
        </p:nvSpPr>
        <p:spPr>
          <a:xfrm>
            <a:off x="749808" y="2688336"/>
            <a:ext cx="2834640" cy="493776"/>
          </a:xfrm>
          <a:prstGeom prst="roundRect">
            <a:avLst>
              <a:gd fmla="val 11111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2"/>
          <p:cNvSpPr txBox="1"/>
          <p:nvPr/>
        </p:nvSpPr>
        <p:spPr>
          <a:xfrm>
            <a:off x="932688" y="28346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110"/>
              <a:buFont typeface="Arial"/>
              <a:buNone/>
            </a:pPr>
            <a:r>
              <a:rPr b="1" i="0" lang="en" sz="1110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Moon is currently at index 1.</a:t>
            </a:r>
            <a:endParaRPr b="0" i="0" sz="11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2"/>
          <p:cNvSpPr/>
          <p:nvPr/>
        </p:nvSpPr>
        <p:spPr>
          <a:xfrm>
            <a:off x="3877056" y="1097280"/>
            <a:ext cx="4261104" cy="148132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removeMoon() {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movies.splice(1, 1);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setMovies(movies);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2"/>
          <p:cNvSpPr txBox="1"/>
          <p:nvPr/>
        </p:nvSpPr>
        <p:spPr>
          <a:xfrm>
            <a:off x="3877056" y="2761488"/>
            <a:ext cx="42611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is wrong with this React state update? Rewrite the handler using the replacement-array pattern.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2"/>
          <p:cNvSpPr/>
          <p:nvPr/>
        </p:nvSpPr>
        <p:spPr>
          <a:xfrm>
            <a:off x="749808" y="3529584"/>
            <a:ext cx="7388352" cy="1005840"/>
          </a:xfrm>
          <a:prstGeom prst="roundRect">
            <a:avLst>
              <a:gd fmla="val 545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2"/>
          <p:cNvSpPr txBox="1"/>
          <p:nvPr/>
        </p:nvSpPr>
        <p:spPr>
          <a:xfrm>
            <a:off x="950976" y="3675888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30"/>
              <a:buFont typeface="Arial"/>
              <a:buNone/>
            </a:pPr>
            <a:r>
              <a:rPr b="1" i="0" lang="en" sz="113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2"/>
          <p:cNvSpPr txBox="1"/>
          <p:nvPr/>
        </p:nvSpPr>
        <p:spPr>
          <a:xfrm>
            <a:off x="1609344" y="3657600"/>
            <a:ext cx="279806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splice modifies the existing movies state array. The setter then receives that same array object.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2"/>
          <p:cNvSpPr/>
          <p:nvPr/>
        </p:nvSpPr>
        <p:spPr>
          <a:xfrm>
            <a:off x="4608576" y="3657600"/>
            <a:ext cx="3273552" cy="713232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200" lIns="76200" spcFirstLastPara="1" rIns="101600" wrap="square" tIns="1016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nextMovies = movies.filter(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(movie) =&gt; movie.id !== "M-402"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setMovies(nextMovies);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2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3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Cool-down: Which name is the setter?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3"/>
          <p:cNvSpPr/>
          <p:nvPr/>
        </p:nvSpPr>
        <p:spPr>
          <a:xfrm>
            <a:off x="749808" y="1170432"/>
            <a:ext cx="3822192" cy="84124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[isPublished, setIsPublished] =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useState(false);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3"/>
          <p:cNvSpPr txBox="1"/>
          <p:nvPr/>
        </p:nvSpPr>
        <p:spPr>
          <a:xfrm>
            <a:off x="4901184" y="1188720"/>
            <a:ext cx="2926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40"/>
              <a:buFont typeface="Arial"/>
              <a:buNone/>
            </a:pPr>
            <a:r>
              <a:rPr b="1" i="0" lang="en" sz="12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name is the setter?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3"/>
          <p:cNvSpPr txBox="1"/>
          <p:nvPr/>
        </p:nvSpPr>
        <p:spPr>
          <a:xfrm>
            <a:off x="5020056" y="169164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3"/>
          <p:cNvSpPr txBox="1"/>
          <p:nvPr/>
        </p:nvSpPr>
        <p:spPr>
          <a:xfrm>
            <a:off x="5340096" y="1673352"/>
            <a:ext cx="254203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3"/>
          <p:cNvSpPr txBox="1"/>
          <p:nvPr/>
        </p:nvSpPr>
        <p:spPr>
          <a:xfrm>
            <a:off x="5020056" y="2221992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3"/>
          <p:cNvSpPr txBox="1"/>
          <p:nvPr/>
        </p:nvSpPr>
        <p:spPr>
          <a:xfrm>
            <a:off x="5340096" y="2203704"/>
            <a:ext cx="254203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setIsPublished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3"/>
          <p:cNvSpPr txBox="1"/>
          <p:nvPr/>
        </p:nvSpPr>
        <p:spPr>
          <a:xfrm>
            <a:off x="5020056" y="2752344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3"/>
          <p:cNvSpPr txBox="1"/>
          <p:nvPr/>
        </p:nvSpPr>
        <p:spPr>
          <a:xfrm>
            <a:off x="5340096" y="2734056"/>
            <a:ext cx="254203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isPublished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3"/>
          <p:cNvSpPr txBox="1"/>
          <p:nvPr/>
        </p:nvSpPr>
        <p:spPr>
          <a:xfrm>
            <a:off x="5020056" y="328269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3"/>
          <p:cNvSpPr txBox="1"/>
          <p:nvPr/>
        </p:nvSpPr>
        <p:spPr>
          <a:xfrm>
            <a:off x="5340096" y="3264408"/>
            <a:ext cx="254203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3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3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B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isPublished is the current state value; setIsPublished is the setter used to request the next value.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3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4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Cool-down: What appears on the next render?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4"/>
          <p:cNvSpPr/>
          <p:nvPr/>
        </p:nvSpPr>
        <p:spPr>
          <a:xfrm>
            <a:off x="749808" y="1097280"/>
            <a:ext cx="3986784" cy="221284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[status, setStatus] =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useState("Queued");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function handleSend() {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setStatus("Sent");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b="0" i="0" lang="en" sz="116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&lt;p&gt;{status}&lt;/p&gt;</a:t>
            </a:r>
            <a:endParaRPr b="0" i="0" sz="1160" u="none" cap="none" strike="noStrike">
              <a:solidFill>
                <a:srgbClr val="F8FA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t/>
            </a:r>
            <a:endParaRPr sz="1160">
              <a:solidFill>
                <a:srgbClr val="F8FAF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rPr lang="en" sz="116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onClick={handleSend}&gt;Click!&lt;/button&gt;</a:t>
            </a:r>
            <a:endParaRPr sz="116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60"/>
              <a:buFont typeface="Courier New"/>
              <a:buNone/>
            </a:pPr>
            <a:r>
              <a:t/>
            </a:r>
            <a:endParaRPr sz="1160">
              <a:solidFill>
                <a:srgbClr val="F8FAF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7" name="Google Shape;847;p54"/>
          <p:cNvSpPr txBox="1"/>
          <p:nvPr/>
        </p:nvSpPr>
        <p:spPr>
          <a:xfrm>
            <a:off x="5029200" y="1097280"/>
            <a:ext cx="29992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 the click and the subsequent render, what should the paragraph display?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4"/>
          <p:cNvSpPr txBox="1"/>
          <p:nvPr/>
        </p:nvSpPr>
        <p:spPr>
          <a:xfrm>
            <a:off x="5148072" y="18745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4"/>
          <p:cNvSpPr txBox="1"/>
          <p:nvPr/>
        </p:nvSpPr>
        <p:spPr>
          <a:xfrm>
            <a:off x="5468112" y="1856232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Queued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4"/>
          <p:cNvSpPr txBox="1"/>
          <p:nvPr/>
        </p:nvSpPr>
        <p:spPr>
          <a:xfrm>
            <a:off x="5148072" y="2404872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4"/>
          <p:cNvSpPr txBox="1"/>
          <p:nvPr/>
        </p:nvSpPr>
        <p:spPr>
          <a:xfrm>
            <a:off x="5468112" y="2386584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4"/>
          <p:cNvSpPr txBox="1"/>
          <p:nvPr/>
        </p:nvSpPr>
        <p:spPr>
          <a:xfrm>
            <a:off x="5148072" y="2935224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5468112" y="2916936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Nothing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4"/>
          <p:cNvSpPr txBox="1"/>
          <p:nvPr/>
        </p:nvSpPr>
        <p:spPr>
          <a:xfrm>
            <a:off x="5148072" y="346557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4"/>
          <p:cNvSpPr txBox="1"/>
          <p:nvPr/>
        </p:nvSpPr>
        <p:spPr>
          <a:xfrm>
            <a:off x="5468112" y="3447288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Sent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4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4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D. Sent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setter requests Sent as the next state value, and the subsequent render uses that value.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4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5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Cool-down: Which method produces one total?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5"/>
          <p:cNvSpPr/>
          <p:nvPr/>
        </p:nvSpPr>
        <p:spPr>
          <a:xfrm>
            <a:off x="749808" y="1170432"/>
            <a:ext cx="3401568" cy="138988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durations = [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20,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35,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15,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urier New"/>
              <a:buNone/>
            </a:pPr>
            <a:r>
              <a:rPr b="0" i="0" lang="en" sz="120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5"/>
          <p:cNvSpPr txBox="1"/>
          <p:nvPr/>
        </p:nvSpPr>
        <p:spPr>
          <a:xfrm>
            <a:off x="4480560" y="1152144"/>
            <a:ext cx="35844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need one number containing the total duration. Which method best matches that result?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5"/>
          <p:cNvSpPr txBox="1"/>
          <p:nvPr/>
        </p:nvSpPr>
        <p:spPr>
          <a:xfrm>
            <a:off x="4599432" y="191109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5"/>
          <p:cNvSpPr txBox="1"/>
          <p:nvPr/>
        </p:nvSpPr>
        <p:spPr>
          <a:xfrm>
            <a:off x="4919472" y="1892808"/>
            <a:ext cx="27614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5"/>
          <p:cNvSpPr txBox="1"/>
          <p:nvPr/>
        </p:nvSpPr>
        <p:spPr>
          <a:xfrm>
            <a:off x="4599432" y="244144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5"/>
          <p:cNvSpPr txBox="1"/>
          <p:nvPr/>
        </p:nvSpPr>
        <p:spPr>
          <a:xfrm>
            <a:off x="4919472" y="2423160"/>
            <a:ext cx="27614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5"/>
          <p:cNvSpPr txBox="1"/>
          <p:nvPr/>
        </p:nvSpPr>
        <p:spPr>
          <a:xfrm>
            <a:off x="4599432" y="297180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5"/>
          <p:cNvSpPr txBox="1"/>
          <p:nvPr/>
        </p:nvSpPr>
        <p:spPr>
          <a:xfrm>
            <a:off x="4919472" y="2953512"/>
            <a:ext cx="27614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5"/>
          <p:cNvSpPr txBox="1"/>
          <p:nvPr/>
        </p:nvSpPr>
        <p:spPr>
          <a:xfrm>
            <a:off x="4599432" y="3502152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5"/>
          <p:cNvSpPr txBox="1"/>
          <p:nvPr/>
        </p:nvSpPr>
        <p:spPr>
          <a:xfrm>
            <a:off x="4919472" y="3483864"/>
            <a:ext cx="27614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5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5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C. reduce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reduce is appropriate when values from an array need to be combined into one accumulated result.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5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6"/>
          <p:cNvSpPr/>
          <p:nvPr/>
        </p:nvSpPr>
        <p:spPr>
          <a:xfrm>
            <a:off x="548640" y="256032"/>
            <a:ext cx="656539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40"/>
              <a:buFont typeface="Arial"/>
              <a:buNone/>
            </a:pPr>
            <a:r>
              <a:rPr b="1" i="0" lang="en" sz="20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Cool-down: Which update preserves the existing items?</a:t>
            </a:r>
            <a:endParaRPr b="0" i="0" sz="2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6"/>
          <p:cNvSpPr/>
          <p:nvPr/>
        </p:nvSpPr>
        <p:spPr>
          <a:xfrm>
            <a:off x="749808" y="987552"/>
            <a:ext cx="3968496" cy="74980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[tags, setTags] =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useState&lt;string[]&gt;(["react", "typescript"]);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6"/>
          <p:cNvSpPr txBox="1"/>
          <p:nvPr/>
        </p:nvSpPr>
        <p:spPr>
          <a:xfrm>
            <a:off x="4992624" y="102412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want the next state to contain: react, typescript, vite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6"/>
          <p:cNvSpPr txBox="1"/>
          <p:nvPr/>
        </p:nvSpPr>
        <p:spPr>
          <a:xfrm>
            <a:off x="914400" y="192024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6"/>
          <p:cNvSpPr txBox="1"/>
          <p:nvPr/>
        </p:nvSpPr>
        <p:spPr>
          <a:xfrm>
            <a:off x="1298448" y="1883664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lang="en" sz="1055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setTags([...tags, "vite"]);</a:t>
            </a:r>
            <a:endParaRPr b="1" i="0" sz="1055" u="none" cap="none" strike="noStrike">
              <a:solidFill>
                <a:schemeClr val="dk1"/>
              </a:solidFill>
            </a:endParaRPr>
          </a:p>
        </p:txBody>
      </p:sp>
      <p:sp>
        <p:nvSpPr>
          <p:cNvPr id="888" name="Google Shape;888;p56"/>
          <p:cNvSpPr txBox="1"/>
          <p:nvPr/>
        </p:nvSpPr>
        <p:spPr>
          <a:xfrm>
            <a:off x="914400" y="2432304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6"/>
          <p:cNvSpPr txBox="1"/>
          <p:nvPr/>
        </p:nvSpPr>
        <p:spPr>
          <a:xfrm>
            <a:off x="1298448" y="2395728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tags.push("vite");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setTags(tags);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6"/>
          <p:cNvSpPr txBox="1"/>
          <p:nvPr/>
        </p:nvSpPr>
        <p:spPr>
          <a:xfrm>
            <a:off x="9144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56"/>
          <p:cNvSpPr txBox="1"/>
          <p:nvPr/>
        </p:nvSpPr>
        <p:spPr>
          <a:xfrm>
            <a:off x="1298448" y="2980944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setTags(["vite"]);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6"/>
          <p:cNvSpPr txBox="1"/>
          <p:nvPr/>
        </p:nvSpPr>
        <p:spPr>
          <a:xfrm>
            <a:off x="914400" y="3529584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6"/>
          <p:cNvSpPr txBox="1"/>
          <p:nvPr/>
        </p:nvSpPr>
        <p:spPr>
          <a:xfrm>
            <a:off x="1298448" y="3493008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tags[0] = "vite";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Courier New"/>
              <a:buNone/>
            </a:pPr>
            <a:r>
              <a:rPr b="0" i="0" lang="en" sz="105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setTags(tags);</a:t>
            </a:r>
            <a:endParaRPr b="0" i="0" sz="10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6"/>
          <p:cNvSpPr/>
          <p:nvPr/>
        </p:nvSpPr>
        <p:spPr>
          <a:xfrm>
            <a:off x="749808" y="4041648"/>
            <a:ext cx="7479792" cy="475488"/>
          </a:xfrm>
          <a:prstGeom prst="roundRect">
            <a:avLst>
              <a:gd fmla="val 9615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6"/>
          <p:cNvSpPr/>
          <p:nvPr/>
        </p:nvSpPr>
        <p:spPr>
          <a:xfrm>
            <a:off x="932688" y="4123944"/>
            <a:ext cx="7114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14"/>
              <a:buFont typeface="Arial"/>
              <a:buNone/>
            </a:pPr>
            <a:r>
              <a:rPr b="1" i="0" lang="en" sz="101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A   Why: </a:t>
            </a:r>
            <a:r>
              <a:rPr b="0" i="0" lang="en" sz="101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Spread creates a replacement array containing the existing values and vite. A replacement value must be new and correct for the desired next state.</a:t>
            </a:r>
            <a:endParaRPr b="0" i="0" sz="101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6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7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Cool-down: Which value is the stable key?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7"/>
          <p:cNvSpPr/>
          <p:nvPr/>
        </p:nvSpPr>
        <p:spPr>
          <a:xfrm>
            <a:off x="749808" y="1078992"/>
            <a:ext cx="3712464" cy="1481328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lessons = [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"L-11", title: "JSX" },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"L-12", title: "Props" },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"L-13", title: "State" },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7"/>
          <p:cNvSpPr txBox="1"/>
          <p:nvPr/>
        </p:nvSpPr>
        <p:spPr>
          <a:xfrm>
            <a:off x="4754880" y="1097280"/>
            <a:ext cx="33284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list may later be reordered or have items removed. Which key should normally be used?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7"/>
          <p:cNvSpPr txBox="1"/>
          <p:nvPr/>
        </p:nvSpPr>
        <p:spPr>
          <a:xfrm>
            <a:off x="4873752" y="18745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7"/>
          <p:cNvSpPr txBox="1"/>
          <p:nvPr/>
        </p:nvSpPr>
        <p:spPr>
          <a:xfrm>
            <a:off x="5193792" y="1856232"/>
            <a:ext cx="270662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lesson.title.length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7"/>
          <p:cNvSpPr txBox="1"/>
          <p:nvPr/>
        </p:nvSpPr>
        <p:spPr>
          <a:xfrm>
            <a:off x="4873752" y="2404872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7"/>
          <p:cNvSpPr txBox="1"/>
          <p:nvPr/>
        </p:nvSpPr>
        <p:spPr>
          <a:xfrm>
            <a:off x="5193792" y="2386584"/>
            <a:ext cx="270662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current array index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7"/>
          <p:cNvSpPr txBox="1"/>
          <p:nvPr/>
        </p:nvSpPr>
        <p:spPr>
          <a:xfrm>
            <a:off x="4873752" y="2935224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7"/>
          <p:cNvSpPr txBox="1"/>
          <p:nvPr/>
        </p:nvSpPr>
        <p:spPr>
          <a:xfrm>
            <a:off x="5193792" y="2916936"/>
            <a:ext cx="270662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Math.random()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7"/>
          <p:cNvSpPr txBox="1"/>
          <p:nvPr/>
        </p:nvSpPr>
        <p:spPr>
          <a:xfrm>
            <a:off x="4873752" y="346557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None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7"/>
          <p:cNvSpPr txBox="1"/>
          <p:nvPr/>
        </p:nvSpPr>
        <p:spPr>
          <a:xfrm>
            <a:off x="5193792" y="3447288"/>
            <a:ext cx="270662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Courier New"/>
              <a:buNone/>
            </a:pPr>
            <a:r>
              <a:rPr b="0" i="0" lang="en" sz="1135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lesson.id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7"/>
          <p:cNvSpPr/>
          <p:nvPr/>
        </p:nvSpPr>
        <p:spPr>
          <a:xfrm>
            <a:off x="749808" y="3977640"/>
            <a:ext cx="7479792" cy="54864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7"/>
          <p:cNvSpPr/>
          <p:nvPr/>
        </p:nvSpPr>
        <p:spPr>
          <a:xfrm>
            <a:off x="932688" y="4059936"/>
            <a:ext cx="71140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Answer: D. lesson.id   Why: </a:t>
            </a: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 is stable data that continues to identify the same lesson even if its position changes.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7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8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Homework: Study session planner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 txBox="1"/>
          <p:nvPr/>
        </p:nvSpPr>
        <p:spPr>
          <a:xfrm>
            <a:off x="749808" y="93268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80"/>
              <a:buFont typeface="Arial"/>
              <a:buNone/>
            </a:pPr>
            <a:r>
              <a:rPr b="1" i="0" lang="en" sz="11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Starter data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8"/>
          <p:cNvSpPr/>
          <p:nvPr/>
        </p:nvSpPr>
        <p:spPr>
          <a:xfrm>
            <a:off x="749808" y="1225296"/>
            <a:ext cx="4443984" cy="283464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600" lIns="1016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type StudySession = {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id: string;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topic: string;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plannedMinutes: number;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5"/>
              <a:buFont typeface="Arial"/>
              <a:buNone/>
            </a:pPr>
            <a:r>
              <a:t/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const initialSessions: StudySession[] = [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"ST-501", topic: "TypeScript review",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plannedMinutes: 25 },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"ST-502", topic: "React state practice",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plannedMinutes: 35 },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{ id: "ST-503", topic: "Git exercises",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   plannedMinutes: 20 },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025"/>
              <a:buFont typeface="Courier New"/>
              <a:buNone/>
            </a:pPr>
            <a:r>
              <a:rPr b="0" i="0" lang="en" sz="1025" u="none" cap="none" strike="noStrik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8"/>
          <p:cNvSpPr/>
          <p:nvPr/>
        </p:nvSpPr>
        <p:spPr>
          <a:xfrm>
            <a:off x="5431536" y="1225296"/>
            <a:ext cx="2706624" cy="2834640"/>
          </a:xfrm>
          <a:prstGeom prst="roundRect">
            <a:avLst>
              <a:gd fmla="val 16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8"/>
          <p:cNvSpPr/>
          <p:nvPr/>
        </p:nvSpPr>
        <p:spPr>
          <a:xfrm>
            <a:off x="5431536" y="1225296"/>
            <a:ext cx="2706624" cy="274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8"/>
          <p:cNvSpPr txBox="1"/>
          <p:nvPr/>
        </p:nvSpPr>
        <p:spPr>
          <a:xfrm>
            <a:off x="5559552" y="1261872"/>
            <a:ext cx="24505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Study session planner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 txBox="1"/>
          <p:nvPr/>
        </p:nvSpPr>
        <p:spPr>
          <a:xfrm>
            <a:off x="5577840" y="1572768"/>
            <a:ext cx="2414016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TypeScript review: 25 minutes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10 minutes]  [Remove]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React state practice: 35 minutes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10 minutes]  [Remove]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0"/>
              <a:buFont typeface="Arial"/>
              <a:buNone/>
            </a:pPr>
            <a:r>
              <a:t/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Git exercises: 20 minutes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[Add 10 minutes]  [Remove]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749808" y="4114800"/>
            <a:ext cx="7388352" cy="438912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8"/>
          <p:cNvSpPr txBox="1"/>
          <p:nvPr/>
        </p:nvSpPr>
        <p:spPr>
          <a:xfrm>
            <a:off x="950976" y="4178808"/>
            <a:ext cx="6986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Starter already renders the static data with stable keys and shows both buttons.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 collection does not change yet.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8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9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Homework requirements and completion check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9"/>
          <p:cNvSpPr txBox="1"/>
          <p:nvPr/>
        </p:nvSpPr>
        <p:spPr>
          <a:xfrm>
            <a:off x="749808" y="941832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9"/>
          <p:cNvSpPr/>
          <p:nvPr/>
        </p:nvSpPr>
        <p:spPr>
          <a:xfrm>
            <a:off x="749808" y="1261872"/>
            <a:ext cx="3785616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 initialSessions in state.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the current state array using map.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session.id as the stable key.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Remove create a replacement array with filter.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Add 10 minutes update one session with map and object spread.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5"/>
              <a:buFont typeface="Arial"/>
              <a:buAutoNum type="arabicPeriod"/>
            </a:pPr>
            <a:r>
              <a:rPr b="0" i="0" lang="en" sz="1135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Total planned minutes with reduce.</a:t>
            </a:r>
            <a:endParaRPr b="0" i="0" sz="11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9" name="Google Shape;939;p59"/>
          <p:cNvCxnSpPr/>
          <p:nvPr/>
        </p:nvCxnSpPr>
        <p:spPr>
          <a:xfrm>
            <a:off x="4645152" y="1024128"/>
            <a:ext cx="0" cy="2542032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0" name="Google Shape;940;p59"/>
          <p:cNvSpPr txBox="1"/>
          <p:nvPr/>
        </p:nvSpPr>
        <p:spPr>
          <a:xfrm>
            <a:off x="4882896" y="941832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9"/>
          <p:cNvSpPr txBox="1"/>
          <p:nvPr/>
        </p:nvSpPr>
        <p:spPr>
          <a:xfrm>
            <a:off x="4882896" y="131673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Starting total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9"/>
          <p:cNvSpPr/>
          <p:nvPr/>
        </p:nvSpPr>
        <p:spPr>
          <a:xfrm>
            <a:off x="6016752" y="1225296"/>
            <a:ext cx="1938528" cy="347472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9"/>
          <p:cNvSpPr txBox="1"/>
          <p:nvPr/>
        </p:nvSpPr>
        <p:spPr>
          <a:xfrm>
            <a:off x="6144768" y="1316736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Total planned minutes: 80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9"/>
          <p:cNvSpPr txBox="1"/>
          <p:nvPr/>
        </p:nvSpPr>
        <p:spPr>
          <a:xfrm>
            <a:off x="4882896" y="17739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Remove Git exercises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9"/>
          <p:cNvSpPr/>
          <p:nvPr/>
        </p:nvSpPr>
        <p:spPr>
          <a:xfrm>
            <a:off x="6345936" y="1682496"/>
            <a:ext cx="1609344" cy="347472"/>
          </a:xfrm>
          <a:prstGeom prst="roundRect">
            <a:avLst>
              <a:gd fmla="val 15789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9"/>
          <p:cNvSpPr txBox="1"/>
          <p:nvPr/>
        </p:nvSpPr>
        <p:spPr>
          <a:xfrm>
            <a:off x="6473952" y="177393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Total: 60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9"/>
          <p:cNvSpPr txBox="1"/>
          <p:nvPr/>
        </p:nvSpPr>
        <p:spPr>
          <a:xfrm>
            <a:off x="4882896" y="2231136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Then add 10 minutes to React state practice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9"/>
          <p:cNvSpPr/>
          <p:nvPr/>
        </p:nvSpPr>
        <p:spPr>
          <a:xfrm>
            <a:off x="6912864" y="2176272"/>
            <a:ext cx="1042416" cy="603504"/>
          </a:xfrm>
          <a:prstGeom prst="roundRect">
            <a:avLst>
              <a:gd fmla="val 9091" name="adj"/>
            </a:avLst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9"/>
          <p:cNvSpPr txBox="1"/>
          <p:nvPr/>
        </p:nvSpPr>
        <p:spPr>
          <a:xfrm>
            <a:off x="7022592" y="228600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45 min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Total: 70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59"/>
          <p:cNvSpPr/>
          <p:nvPr/>
        </p:nvSpPr>
        <p:spPr>
          <a:xfrm>
            <a:off x="4882896" y="2999232"/>
            <a:ext cx="3072384" cy="530352"/>
          </a:xfrm>
          <a:prstGeom prst="roundRect">
            <a:avLst>
              <a:gd fmla="val 10345" name="adj"/>
            </a:avLst>
          </a:prstGeom>
          <a:solidFill>
            <a:srgbClr val="FEF9C3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59"/>
          <p:cNvSpPr txBox="1"/>
          <p:nvPr/>
        </p:nvSpPr>
        <p:spPr>
          <a:xfrm>
            <a:off x="5084064" y="3136392"/>
            <a:ext cx="2670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6207"/>
              </a:buClr>
              <a:buSzPts val="1045"/>
              <a:buFont typeface="Arial"/>
              <a:buNone/>
            </a:pPr>
            <a:r>
              <a:rPr b="1" i="0" lang="en" sz="1045" u="none" cap="none" strike="noStrike">
                <a:solidFill>
                  <a:srgbClr val="A16207"/>
                </a:solidFill>
                <a:latin typeface="Arial"/>
                <a:ea typeface="Arial"/>
                <a:cs typeface="Arial"/>
                <a:sym typeface="Arial"/>
              </a:rPr>
              <a:t>Expected sequence: 80, then 60, then 70</a:t>
            </a:r>
            <a:endParaRPr b="0" i="0" sz="10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59"/>
          <p:cNvSpPr/>
          <p:nvPr/>
        </p:nvSpPr>
        <p:spPr>
          <a:xfrm>
            <a:off x="749808" y="3694176"/>
            <a:ext cx="7388352" cy="713232"/>
          </a:xfrm>
          <a:prstGeom prst="roundRect">
            <a:avLst>
              <a:gd fmla="val 7692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59"/>
          <p:cNvSpPr txBox="1"/>
          <p:nvPr/>
        </p:nvSpPr>
        <p:spPr>
          <a:xfrm>
            <a:off x="950976" y="3822192"/>
            <a:ext cx="18470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70"/>
              <a:buFont typeface="Arial"/>
              <a:buNone/>
            </a:pPr>
            <a:r>
              <a:rPr b="1" i="0" lang="en" sz="11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Explain in 2 to 3 sentences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9"/>
          <p:cNvSpPr/>
          <p:nvPr/>
        </p:nvSpPr>
        <p:spPr>
          <a:xfrm>
            <a:off x="2816352" y="380390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Char char="•"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 is session.id a suitable key?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0"/>
              <a:buFont typeface="Arial"/>
              <a:buChar char="•"/>
            </a:pPr>
            <a:r>
              <a:rPr b="1" i="0" lang="en" sz="107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OR why should the update create a replacement array?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 txBox="1"/>
          <p:nvPr/>
        </p:nvSpPr>
        <p:spPr>
          <a:xfrm>
            <a:off x="6473952" y="3803904"/>
            <a:ext cx="14264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Scope: Lecture 21 only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No forms, APIs, or additional Hooks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9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0"/>
          <p:cNvSpPr/>
          <p:nvPr/>
        </p:nvSpPr>
        <p:spPr>
          <a:xfrm>
            <a:off x="548640" y="310896"/>
            <a:ext cx="656539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Next: State with form inputs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0"/>
          <p:cNvSpPr txBox="1"/>
          <p:nvPr/>
        </p:nvSpPr>
        <p:spPr>
          <a:xfrm>
            <a:off x="749808" y="1005840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Today, we used state to: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0"/>
          <p:cNvSpPr/>
          <p:nvPr/>
        </p:nvSpPr>
        <p:spPr>
          <a:xfrm>
            <a:off x="841248" y="1426464"/>
            <a:ext cx="321868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Char char="•"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remember changing information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Char char="•"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store a collection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Char char="•"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render repeated UI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Char char="•"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add, remove, and update collection items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20"/>
              <a:buFont typeface="Arial"/>
              <a:buChar char="•"/>
            </a:pPr>
            <a:r>
              <a:rPr b="1" i="0" lang="en" sz="12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information from current state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60"/>
          <p:cNvSpPr/>
          <p:nvPr/>
        </p:nvSpPr>
        <p:spPr>
          <a:xfrm>
            <a:off x="4443984" y="1170432"/>
            <a:ext cx="3584448" cy="2359152"/>
          </a:xfrm>
          <a:prstGeom prst="roundRect">
            <a:avLst>
              <a:gd fmla="val 2326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0"/>
          <p:cNvSpPr txBox="1"/>
          <p:nvPr/>
        </p:nvSpPr>
        <p:spPr>
          <a:xfrm>
            <a:off x="4718304" y="1481328"/>
            <a:ext cx="30358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Our interactions used buttons with values the application already knew.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0"/>
          <p:cNvSpPr txBox="1"/>
          <p:nvPr/>
        </p:nvSpPr>
        <p:spPr>
          <a:xfrm>
            <a:off x="4718304" y="2194560"/>
            <a:ext cx="30358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20"/>
              <a:buFont typeface="Arial"/>
              <a:buNone/>
            </a:pPr>
            <a:r>
              <a:rPr b="1" i="0" lang="en" sz="132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Next, the changing information will come directly from a form control.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60"/>
          <p:cNvSpPr/>
          <p:nvPr/>
        </p:nvSpPr>
        <p:spPr>
          <a:xfrm>
            <a:off x="1115568" y="3749040"/>
            <a:ext cx="6638544" cy="658368"/>
          </a:xfrm>
          <a:prstGeom prst="roundRect">
            <a:avLst>
              <a:gd fmla="val 8333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0"/>
          <p:cNvSpPr txBox="1"/>
          <p:nvPr/>
        </p:nvSpPr>
        <p:spPr>
          <a:xfrm>
            <a:off x="1389888" y="3922776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10"/>
              <a:buFont typeface="Arial"/>
              <a:buNone/>
            </a:pPr>
            <a:r>
              <a:rPr b="1" i="0" lang="en" sz="131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How can React keep component state coordinated with what a user enters or selects?</a:t>
            </a:r>
            <a:endParaRPr b="0" i="0" sz="13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0"/>
          <p:cNvSpPr txBox="1"/>
          <p:nvPr>
            <p:ph idx="4294967295" type="sldNum"/>
          </p:nvPr>
        </p:nvSpPr>
        <p:spPr>
          <a:xfrm>
            <a:off x="0" y="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