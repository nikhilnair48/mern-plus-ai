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1" r:id="rId4"/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f72a4c7171_2_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g3f72a4c7171_2_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Lecture 19 title slide.</a:t>
            </a:r>
            <a:endParaRPr/>
          </a:p>
        </p:txBody>
      </p:sp>
      <p:sp>
        <p:nvSpPr>
          <p:cNvPr id="56" name="Google Shape;56;g3f72a4c7171_2_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f72a4c7171_2_1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g3f72a4c7171_2_1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g3f72a4c7171_2_1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f72a4c7171_2_2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g3f72a4c7171_2_2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g3f72a4c7171_2_2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f72a4c7171_2_3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g3f72a4c7171_2_3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g3f72a4c7171_2_3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f72a4c7171_2_4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g3f72a4c7171_2_4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g3f72a4c7171_2_4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f72a4c7171_2_5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g3f72a4c7171_2_5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g3f72a4c7171_2_5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f72a4c7171_2_6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g3f72a4c7171_2_6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g3f72a4c7171_2_6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f72a4c7171_2_8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g3f72a4c7171_2_8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g3f72a4c7171_2_8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f72a4c7171_2_9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g3f72a4c7171_2_9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g3f72a4c7171_2_9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f72a4c7171_2_10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g3f72a4c7171_2_10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3f72a4c7171_2_10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f72a4c7171_2_12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g3f72a4c7171_2_12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g3f72a4c7171_2_12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f72a4c7171_2_13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g3f72a4c7171_2_13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g3f72a4c7171_2_13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f72a4c7171_2_15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g3f72a4c7171_2_15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g3f72a4c7171_2_15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f72a4c7171_2_17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g3f72a4c7171_2_17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g3f72a4c7171_2_17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f72a4c7171_2_18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g3f72a4c7171_2_18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g3f72a4c7171_2_18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f72a4c7171_2_19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g3f72a4c7171_2_19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g3f72a4c7171_2_19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f72a4c7171_2_20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g3f72a4c7171_2_20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g3f72a4c7171_2_20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f72a4c7171_2_22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g3f72a4c7171_2_22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g3f72a4c7171_2_22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f72a4c7171_2_23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5" name="Google Shape;305;g3f72a4c7171_2_23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g3f72a4c7171_2_23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f72a4c7171_2_25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3" name="Google Shape;323;g3f72a4c7171_2_25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g3f72a4c7171_2_25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f72a4c7171_2_26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5" name="Google Shape;335;g3f72a4c7171_2_26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g3f72a4c7171_2_26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f72a4c7171_2_27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" name="Google Shape;342;g3f72a4c7171_2_27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g3f72a4c7171_2_27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f72a4c7171_2_29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5" name="Google Shape;365;g3f72a4c7171_2_29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g3f72a4c7171_2_29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f72a4c7171_2_31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9" name="Google Shape;389;g3f72a4c7171_2_31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g3f72a4c7171_2_31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f72a4c7171_2_33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9" name="Google Shape;409;g3f72a4c7171_2_33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g3f72a4c7171_2_33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f72a4c7171_2_35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3" name="Google Shape;433;g3f72a4c7171_2_35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g3f72a4c7171_2_35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f72a4c7171_2_37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3" name="Google Shape;453;g3f72a4c7171_2_37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g3f72a4c7171_2_37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f72a4c7171_2_39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1" name="Google Shape;471;g3f72a4c7171_2_39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g3f72a4c7171_2_39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f72a4c7171_2_41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0" name="Google Shape;490;g3f72a4c7171_2_41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g3f72a4c7171_2_41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3f72a4c7171_2_43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0" name="Google Shape;510;g3f72a4c7171_2_43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g3f72a4c7171_2_43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3f72a4c7171_2_43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7" name="Google Shape;517;g3f72a4c7171_2_43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g3f72a4c7171_2_43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3f72a4c7171_2_45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6" name="Google Shape;536;g3f72a4c7171_2_45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g3f72a4c7171_2_45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3f72a4c7171_2_47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5" name="Google Shape;555;g3f72a4c7171_2_47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g3f72a4c7171_2_47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3f72a4c7171_2_48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1" name="Google Shape;571;g3f72a4c7171_2_48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g3f72a4c7171_2_48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3f72a4c7171_2_50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1" name="Google Shape;591;g3f72a4c7171_2_50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g3f72a4c7171_2_50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g3f72a4c7171_2_51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3" name="Google Shape;603;g3f72a4c7171_2_51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g3f72a4c7171_2_51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3f72a4c7171_2_53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1" name="Google Shape;621;g3f72a4c7171_2_53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g3f72a4c7171_2_53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3f72a4c7171_2_55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7" name="Google Shape;647;g3f72a4c7171_2_55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g3f72a4c7171_2_55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3f72a4c7171_2_58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9" name="Google Shape;669;g3f72a4c7171_2_58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g3f72a4c7171_2_58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g3f72a4c7171_2_59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1" name="Google Shape;681;g3f72a4c7171_2_59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g3f72a4c7171_2_59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g3f72a4c7171_2_60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3" name="Google Shape;693;g3f72a4c7171_2_60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g3f72a4c7171_2_60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3f72a4c7171_2_62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0" name="Google Shape;720;g3f72a4c7171_2_62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g3f72a4c7171_2_62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f72a4c7171_2_64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1" name="Google Shape;741;g3f72a4c7171_2_64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g3f72a4c7171_2_64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g3f72a4c7171_2_65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3" name="Google Shape;753;g3f72a4c7171_2_65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g3f72a4c7171_2_65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g3f72a4c7171_2_67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7" name="Google Shape;767;g3f72a4c7171_2_67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g3f72a4c7171_2_67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UVI">
  <p:cSld name="GUVI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6"/>
          <p:cNvSpPr/>
          <p:nvPr/>
        </p:nvSpPr>
        <p:spPr>
          <a:xfrm>
            <a:off x="713232" y="146304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Lecture 19 | React &amp; TypeScript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6"/>
          <p:cNvSpPr/>
          <p:nvPr/>
        </p:nvSpPr>
        <p:spPr>
          <a:xfrm>
            <a:off x="713232" y="1847088"/>
            <a:ext cx="5943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600"/>
              <a:buFont typeface="Arial"/>
              <a:buNone/>
            </a:pPr>
            <a:r>
              <a:rPr b="0" i="0" lang="en" sz="26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TSX, components, and props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6"/>
          <p:cNvSpPr/>
          <p:nvPr/>
        </p:nvSpPr>
        <p:spPr>
          <a:xfrm>
            <a:off x="713232" y="2487168"/>
            <a:ext cx="5760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50"/>
              <a:buFont typeface="Arial"/>
              <a:buNone/>
            </a:pPr>
            <a:r>
              <a:rPr b="0" i="0" lang="en" sz="135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Build reusable React interfaces with typed data.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/>
          <p:nvPr/>
        </p:nvSpPr>
        <p:spPr>
          <a:xfrm>
            <a:off x="548640" y="365760"/>
            <a:ext cx="6629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Today's agenda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7"/>
          <p:cNvSpPr/>
          <p:nvPr/>
        </p:nvSpPr>
        <p:spPr>
          <a:xfrm>
            <a:off x="685800" y="1097280"/>
            <a:ext cx="3337560" cy="1143000"/>
          </a:xfrm>
          <a:prstGeom prst="roundRect">
            <a:avLst>
              <a:gd fmla="val 6400" name="adj"/>
            </a:avLst>
          </a:prstGeom>
          <a:solidFill>
            <a:srgbClr val="EFF6FF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7"/>
          <p:cNvSpPr/>
          <p:nvPr/>
        </p:nvSpPr>
        <p:spPr>
          <a:xfrm>
            <a:off x="795528" y="1188720"/>
            <a:ext cx="311810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40"/>
              <a:buFont typeface="Arial"/>
              <a:buNone/>
            </a:pPr>
            <a:r>
              <a:rPr b="1" i="0" lang="en" sz="124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Write UI with TSX</a:t>
            </a:r>
            <a:endParaRPr b="0" i="0" sz="12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7"/>
          <p:cNvSpPr/>
          <p:nvPr/>
        </p:nvSpPr>
        <p:spPr>
          <a:xfrm>
            <a:off x="795528" y="1499616"/>
            <a:ext cx="3118104" cy="649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10"/>
              <a:buFont typeface="Arial"/>
              <a:buNone/>
            </a:pPr>
            <a:r>
              <a:rPr b="0" i="0" lang="en" sz="111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Use JSX syntax and JavaScript expressions inside .tsx files.</a:t>
            </a:r>
            <a:endParaRPr b="0" i="0" sz="11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7"/>
          <p:cNvSpPr/>
          <p:nvPr/>
        </p:nvSpPr>
        <p:spPr>
          <a:xfrm>
            <a:off x="4617720" y="1097280"/>
            <a:ext cx="3337560" cy="1143000"/>
          </a:xfrm>
          <a:prstGeom prst="roundRect">
            <a:avLst>
              <a:gd fmla="val 6400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7"/>
          <p:cNvSpPr/>
          <p:nvPr/>
        </p:nvSpPr>
        <p:spPr>
          <a:xfrm>
            <a:off x="4727448" y="1188720"/>
            <a:ext cx="311810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40"/>
              <a:buFont typeface="Arial"/>
              <a:buNone/>
            </a:pPr>
            <a:r>
              <a:rPr b="1" i="0" lang="en" sz="124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Create reusable components</a:t>
            </a:r>
            <a:endParaRPr b="0" i="0" sz="12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7"/>
          <p:cNvSpPr/>
          <p:nvPr/>
        </p:nvSpPr>
        <p:spPr>
          <a:xfrm>
            <a:off x="4727448" y="1499616"/>
            <a:ext cx="3118104" cy="649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10"/>
              <a:buFont typeface="Arial"/>
              <a:buNone/>
            </a:pPr>
            <a:r>
              <a:rPr b="0" i="0" lang="en" sz="111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Define and render function components, then compare the class form.</a:t>
            </a:r>
            <a:endParaRPr b="0" i="0" sz="11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7"/>
          <p:cNvSpPr/>
          <p:nvPr/>
        </p:nvSpPr>
        <p:spPr>
          <a:xfrm>
            <a:off x="685800" y="2743200"/>
            <a:ext cx="3337560" cy="1143000"/>
          </a:xfrm>
          <a:prstGeom prst="roundRect">
            <a:avLst>
              <a:gd fmla="val 6400" name="adj"/>
            </a:avLst>
          </a:prstGeom>
          <a:solidFill>
            <a:srgbClr val="FEF9C3"/>
          </a:solidFill>
          <a:ln cap="flat" cmpd="sng" w="12700">
            <a:solidFill>
              <a:srgbClr val="FACC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7"/>
          <p:cNvSpPr/>
          <p:nvPr/>
        </p:nvSpPr>
        <p:spPr>
          <a:xfrm>
            <a:off x="795528" y="2834640"/>
            <a:ext cx="311810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40"/>
              <a:buFont typeface="Arial"/>
              <a:buNone/>
            </a:pPr>
            <a:r>
              <a:rPr b="1" i="0" lang="en" sz="124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Pass data with typed props</a:t>
            </a:r>
            <a:endParaRPr b="0" i="0" sz="12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7"/>
          <p:cNvSpPr/>
          <p:nvPr/>
        </p:nvSpPr>
        <p:spPr>
          <a:xfrm>
            <a:off x="795528" y="3145536"/>
            <a:ext cx="3118104" cy="649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10"/>
              <a:buFont typeface="Arial"/>
              <a:buNone/>
            </a:pPr>
            <a:r>
              <a:rPr b="0" i="0" lang="en" sz="111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Describe the expected data, pass it into a component, and render it.</a:t>
            </a:r>
            <a:endParaRPr b="0" i="0" sz="11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7"/>
          <p:cNvSpPr/>
          <p:nvPr/>
        </p:nvSpPr>
        <p:spPr>
          <a:xfrm>
            <a:off x="4617720" y="2743200"/>
            <a:ext cx="3337560" cy="1143000"/>
          </a:xfrm>
          <a:prstGeom prst="roundRect">
            <a:avLst>
              <a:gd fmla="val 6400" name="adj"/>
            </a:avLst>
          </a:prstGeom>
          <a:solidFill>
            <a:srgbClr val="F5F3FF"/>
          </a:solidFill>
          <a:ln cap="flat" cmpd="sng" w="12700">
            <a:solidFill>
              <a:srgbClr val="C4B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7"/>
          <p:cNvSpPr/>
          <p:nvPr/>
        </p:nvSpPr>
        <p:spPr>
          <a:xfrm>
            <a:off x="4727448" y="2834640"/>
            <a:ext cx="311810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40"/>
              <a:buFont typeface="Arial"/>
              <a:buNone/>
            </a:pPr>
            <a:r>
              <a:rPr b="1" i="0" lang="en" sz="124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Apply the pattern</a:t>
            </a:r>
            <a:endParaRPr b="0" i="0" sz="12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7"/>
          <p:cNvSpPr/>
          <p:nvPr/>
        </p:nvSpPr>
        <p:spPr>
          <a:xfrm>
            <a:off x="4727448" y="3145536"/>
            <a:ext cx="3118104" cy="649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10"/>
              <a:buFont typeface="Arial"/>
              <a:buNone/>
            </a:pPr>
            <a:r>
              <a:rPr b="0" i="0" lang="en" sz="111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Build and reuse a typed component in VS Code.</a:t>
            </a:r>
            <a:endParaRPr b="0" i="0" sz="11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/>
          <p:nvPr/>
        </p:nvSpPr>
        <p:spPr>
          <a:xfrm>
            <a:off x="548640" y="365760"/>
            <a:ext cx="6629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Warm-up 1: Why are components useful here?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8"/>
          <p:cNvSpPr/>
          <p:nvPr/>
        </p:nvSpPr>
        <p:spPr>
          <a:xfrm>
            <a:off x="685800" y="960120"/>
            <a:ext cx="76809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30"/>
              <a:buFont typeface="Arial"/>
              <a:buNone/>
            </a:pPr>
            <a:r>
              <a:rPr b="0" i="0" lang="en" sz="123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 course dashboard shows the same lesson-card structure several times with different titles and durations.</a:t>
            </a:r>
            <a:endParaRPr b="0" i="0" sz="12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30"/>
              <a:buFont typeface="Arial"/>
              <a:buNone/>
            </a:pPr>
            <a:r>
              <a:t/>
            </a:r>
            <a:endParaRPr b="0" i="0" sz="12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30"/>
              <a:buFont typeface="Arial"/>
              <a:buNone/>
            </a:pPr>
            <a:r>
              <a:rPr b="0" i="0" lang="en" sz="123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Which idea from Lecture 18 best explains why React is a good fit for this interface?</a:t>
            </a:r>
            <a:endParaRPr b="0" i="0" sz="12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8"/>
          <p:cNvSpPr/>
          <p:nvPr/>
        </p:nvSpPr>
        <p:spPr>
          <a:xfrm>
            <a:off x="822960" y="1874520"/>
            <a:ext cx="73152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A. React stores each lesson card as a separate HTML page.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B. React lets us build the interface from reusable components.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C. Vite decides which lesson information appears in each card.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D. npm turns each lesson card into a JavaScript package.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8"/>
          <p:cNvSpPr/>
          <p:nvPr/>
        </p:nvSpPr>
        <p:spPr>
          <a:xfrm>
            <a:off x="685800" y="4078224"/>
            <a:ext cx="6903720" cy="749808"/>
          </a:xfrm>
          <a:prstGeom prst="roundRect">
            <a:avLst>
              <a:gd fmla="val 9756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8"/>
          <p:cNvSpPr/>
          <p:nvPr/>
        </p:nvSpPr>
        <p:spPr>
          <a:xfrm>
            <a:off x="804672" y="4151376"/>
            <a:ext cx="66294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70"/>
              <a:buFont typeface="Arial"/>
              <a:buNone/>
            </a:pPr>
            <a:r>
              <a:rPr b="0" i="0" lang="en" sz="10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Answer: B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70"/>
              <a:buFont typeface="Arial"/>
              <a:buNone/>
            </a:pPr>
            <a:r>
              <a:rPr b="0" i="0" lang="en" sz="10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Why: React lets us build an interface from reusable components. The card structure can stay the same while its content changes.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/>
          <p:nvPr/>
        </p:nvSpPr>
        <p:spPr>
          <a:xfrm>
            <a:off x="548640" y="365760"/>
            <a:ext cx="6629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Warm-up 2: What makes this behaviour SPA-like?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9"/>
          <p:cNvSpPr/>
          <p:nvPr/>
        </p:nvSpPr>
        <p:spPr>
          <a:xfrm>
            <a:off x="685800" y="960120"/>
            <a:ext cx="76809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30"/>
              <a:buFont typeface="Arial"/>
              <a:buNone/>
            </a:pPr>
            <a:r>
              <a:rPr b="0" i="0" lang="en" sz="123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 learner opens a dashboard and then moves to the profile view.</a:t>
            </a:r>
            <a:endParaRPr b="0" i="0" sz="12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30"/>
              <a:buFont typeface="Arial"/>
              <a:buNone/>
            </a:pPr>
            <a:r>
              <a:t/>
            </a:r>
            <a:endParaRPr b="0" i="0" sz="12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30"/>
              <a:buFont typeface="Arial"/>
              <a:buNone/>
            </a:pPr>
            <a:r>
              <a:rPr b="0" i="0" lang="en" sz="123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The visible view changes without loading a new HTML document for the whole application.</a:t>
            </a:r>
            <a:endParaRPr b="0" i="0" sz="12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30"/>
              <a:buFont typeface="Arial"/>
              <a:buNone/>
            </a:pPr>
            <a:r>
              <a:t/>
            </a:r>
            <a:endParaRPr b="0" i="0" sz="12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30"/>
              <a:buFont typeface="Arial"/>
              <a:buNone/>
            </a:pPr>
            <a:r>
              <a:rPr b="0" i="0" lang="en" sz="123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Which statement best describes what is happening?</a:t>
            </a:r>
            <a:endParaRPr b="0" i="0" sz="12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9"/>
          <p:cNvSpPr/>
          <p:nvPr/>
        </p:nvSpPr>
        <p:spPr>
          <a:xfrm>
            <a:off x="822960" y="2148840"/>
            <a:ext cx="73152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A. The browser is running a client-side application that can change its displayed view.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B. The browser must load a different HTML document for every view.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C. npm replaces the visible page whenever navigation occurs.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D. Node.js draws the new view directly inside the browser.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9"/>
          <p:cNvSpPr/>
          <p:nvPr/>
        </p:nvSpPr>
        <p:spPr>
          <a:xfrm>
            <a:off x="685800" y="4078224"/>
            <a:ext cx="6903720" cy="749808"/>
          </a:xfrm>
          <a:prstGeom prst="roundRect">
            <a:avLst>
              <a:gd fmla="val 9756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9"/>
          <p:cNvSpPr/>
          <p:nvPr/>
        </p:nvSpPr>
        <p:spPr>
          <a:xfrm>
            <a:off x="804672" y="4151376"/>
            <a:ext cx="66294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70"/>
              <a:buFont typeface="Arial"/>
              <a:buNone/>
            </a:pPr>
            <a:r>
              <a:rPr b="0" i="0" lang="en" sz="10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Answer: A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70"/>
              <a:buFont typeface="Arial"/>
              <a:buNone/>
            </a:pPr>
            <a:r>
              <a:rPr b="0" i="0" lang="en" sz="10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Why: The client application can change what the user sees without loading a new HTML document for each view.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/>
          <p:nvPr/>
        </p:nvSpPr>
        <p:spPr>
          <a:xfrm>
            <a:off x="548640" y="365760"/>
            <a:ext cx="6629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Warm-up 3: Which plan matches React's role?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0"/>
          <p:cNvSpPr/>
          <p:nvPr/>
        </p:nvSpPr>
        <p:spPr>
          <a:xfrm>
            <a:off x="685800" y="960120"/>
            <a:ext cx="7680960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30"/>
              <a:buFont typeface="Arial"/>
              <a:buNone/>
            </a:pPr>
            <a:r>
              <a:rPr b="0" i="0" lang="en" sz="123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 team needs a user interface, navigation, and data loading.</a:t>
            </a:r>
            <a:endParaRPr b="0" i="0" sz="12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30"/>
              <a:buFont typeface="Arial"/>
              <a:buNone/>
            </a:pPr>
            <a:r>
              <a:t/>
            </a:r>
            <a:endParaRPr b="0" i="0" sz="12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30"/>
              <a:buFont typeface="Arial"/>
              <a:buNone/>
            </a:pPr>
            <a:r>
              <a:rPr b="0" i="0" lang="en" sz="123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Which approach best matches the distinction from Lecture 18?</a:t>
            </a:r>
            <a:endParaRPr b="0" i="0" sz="12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0"/>
          <p:cNvSpPr/>
          <p:nvPr/>
        </p:nvSpPr>
        <p:spPr>
          <a:xfrm>
            <a:off x="822960" y="1783080"/>
            <a:ext cx="73152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A. Use React for the user interface and combine it with other tools as the application requires.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B. Use React only if it controls every part of the application.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C. A library cannot be combined with other development tools.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D. Whether a tool is a library or framework depends mainly on its size.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0"/>
          <p:cNvSpPr/>
          <p:nvPr/>
        </p:nvSpPr>
        <p:spPr>
          <a:xfrm>
            <a:off x="685800" y="4078224"/>
            <a:ext cx="6903720" cy="749808"/>
          </a:xfrm>
          <a:prstGeom prst="roundRect">
            <a:avLst>
              <a:gd fmla="val 9756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0"/>
          <p:cNvSpPr/>
          <p:nvPr/>
        </p:nvSpPr>
        <p:spPr>
          <a:xfrm>
            <a:off x="804672" y="4151376"/>
            <a:ext cx="66294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70"/>
              <a:buFont typeface="Arial"/>
              <a:buNone/>
            </a:pPr>
            <a:r>
              <a:rPr b="0" i="0" lang="en" sz="10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Answer: A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70"/>
              <a:buFont typeface="Arial"/>
              <a:buNone/>
            </a:pPr>
            <a:r>
              <a:rPr b="0" i="0" lang="en" sz="10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Why: React focuses primarily on building the user interface. Other application concerns can be handled by additional tools.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/>
          <p:nvPr/>
        </p:nvSpPr>
        <p:spPr>
          <a:xfrm>
            <a:off x="548640" y="365760"/>
            <a:ext cx="6629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Warm-up 4: What does Vite do during development?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1"/>
          <p:cNvSpPr/>
          <p:nvPr/>
        </p:nvSpPr>
        <p:spPr>
          <a:xfrm>
            <a:off x="713232" y="950976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20"/>
              <a:buFont typeface="Arial"/>
              <a:buNone/>
            </a:pPr>
            <a:r>
              <a:rPr b="0" i="0" lang="en" sz="12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In the project from Lecture 18, you run: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1"/>
          <p:cNvSpPr/>
          <p:nvPr/>
        </p:nvSpPr>
        <p:spPr>
          <a:xfrm>
            <a:off x="713232" y="1353312"/>
            <a:ext cx="2743200" cy="475488"/>
          </a:xfrm>
          <a:prstGeom prst="roundRect">
            <a:avLst>
              <a:gd fmla="val 13462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1"/>
          <p:cNvSpPr/>
          <p:nvPr/>
        </p:nvSpPr>
        <p:spPr>
          <a:xfrm>
            <a:off x="804672" y="1426464"/>
            <a:ext cx="2560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ourier New"/>
              <a:buNone/>
            </a:pPr>
            <a:r>
              <a:rPr b="0" i="0" lang="en" sz="13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npm run dev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21"/>
          <p:cNvSpPr/>
          <p:nvPr/>
        </p:nvSpPr>
        <p:spPr>
          <a:xfrm>
            <a:off x="713232" y="1993392"/>
            <a:ext cx="3657600" cy="804672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20"/>
              <a:buFont typeface="Arial"/>
              <a:buNone/>
            </a:pPr>
            <a:r>
              <a:rPr b="0" i="0" lang="en" sz="12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The script starts Vite.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20"/>
              <a:buFont typeface="Arial"/>
              <a:buNone/>
            </a:pPr>
            <a:r>
              <a:t/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20"/>
              <a:buFont typeface="Arial"/>
              <a:buNone/>
            </a:pPr>
            <a:r>
              <a:rPr b="0" i="0" lang="en" sz="12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What job does Vite perform in this development flow?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1"/>
          <p:cNvSpPr/>
          <p:nvPr/>
        </p:nvSpPr>
        <p:spPr>
          <a:xfrm>
            <a:off x="4572000" y="987552"/>
            <a:ext cx="384048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80"/>
              <a:buFont typeface="Arial"/>
              <a:buNone/>
            </a:pPr>
            <a:r>
              <a:rPr b="0" i="0" lang="en" sz="10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A. It provides the JavaScript runtime underneath the local tools.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Arial"/>
              <a:buNone/>
            </a:pPr>
            <a:r>
              <a:t/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80"/>
              <a:buFont typeface="Arial"/>
              <a:buNone/>
            </a:pPr>
            <a:r>
              <a:rPr b="0" i="0" lang="en" sz="10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B. It installs the packages listed by the project.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Arial"/>
              <a:buNone/>
            </a:pPr>
            <a:r>
              <a:t/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80"/>
              <a:buFont typeface="Arial"/>
              <a:buNone/>
            </a:pPr>
            <a:r>
              <a:rPr b="0" i="0" lang="en" sz="10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C. It runs the development server that serves the project to the browser.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Arial"/>
              <a:buNone/>
            </a:pPr>
            <a:r>
              <a:t/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80"/>
              <a:buFont typeface="Arial"/>
              <a:buNone/>
            </a:pPr>
            <a:r>
              <a:rPr b="0" i="0" lang="en" sz="10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D. It displays the React interface to the user.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1"/>
          <p:cNvSpPr/>
          <p:nvPr/>
        </p:nvSpPr>
        <p:spPr>
          <a:xfrm>
            <a:off x="685800" y="4078224"/>
            <a:ext cx="6903720" cy="749808"/>
          </a:xfrm>
          <a:prstGeom prst="roundRect">
            <a:avLst>
              <a:gd fmla="val 9756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1"/>
          <p:cNvSpPr/>
          <p:nvPr/>
        </p:nvSpPr>
        <p:spPr>
          <a:xfrm>
            <a:off x="804672" y="4151376"/>
            <a:ext cx="66294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70"/>
              <a:buFont typeface="Arial"/>
              <a:buNone/>
            </a:pPr>
            <a:r>
              <a:rPr b="0" i="0" lang="en" sz="10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Answer: C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70"/>
              <a:buFont typeface="Arial"/>
              <a:buNone/>
            </a:pPr>
            <a:r>
              <a:rPr b="0" i="0" lang="en" sz="10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Why: Node.js provides the local runtime. npm runs scripts. Vite supplies the development server. The browser displays the React interface.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/>
          <p:nvPr/>
        </p:nvSpPr>
        <p:spPr>
          <a:xfrm>
            <a:off x="548640" y="365760"/>
            <a:ext cx="6629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Warm-up 5: Which file would you edit first?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2"/>
          <p:cNvSpPr/>
          <p:nvPr/>
        </p:nvSpPr>
        <p:spPr>
          <a:xfrm>
            <a:off x="713232" y="960120"/>
            <a:ext cx="38404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20"/>
              <a:buFont typeface="Arial"/>
              <a:buNone/>
            </a:pPr>
            <a:r>
              <a:rPr b="0" i="0" lang="en" sz="12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The React project starts successfully.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20"/>
              <a:buFont typeface="Arial"/>
              <a:buNone/>
            </a:pPr>
            <a:r>
              <a:t/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20"/>
              <a:buFont typeface="Arial"/>
              <a:buNone/>
            </a:pPr>
            <a:r>
              <a:rPr b="0" i="0" lang="en" sz="12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You want to change the starter interface, not the code that begins the React application.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20"/>
              <a:buFont typeface="Arial"/>
              <a:buNone/>
            </a:pPr>
            <a:r>
              <a:t/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20"/>
              <a:buFont typeface="Arial"/>
              <a:buNone/>
            </a:pPr>
            <a:r>
              <a:rPr b="0" i="0" lang="en" sz="12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Which file from Lecture 18 should you inspect first?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2"/>
          <p:cNvSpPr/>
          <p:nvPr/>
        </p:nvSpPr>
        <p:spPr>
          <a:xfrm>
            <a:off x="4937760" y="1005840"/>
            <a:ext cx="32004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A. src/main.tsx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B. App.tsx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C. package.json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D. node_modules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2"/>
          <p:cNvSpPr/>
          <p:nvPr/>
        </p:nvSpPr>
        <p:spPr>
          <a:xfrm>
            <a:off x="1005840" y="2743200"/>
            <a:ext cx="1828800" cy="411480"/>
          </a:xfrm>
          <a:prstGeom prst="roundRect">
            <a:avLst>
              <a:gd fmla="val 15556" name="adj"/>
            </a:avLst>
          </a:prstGeom>
          <a:solidFill>
            <a:srgbClr val="EFF6FF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2"/>
          <p:cNvSpPr/>
          <p:nvPr/>
        </p:nvSpPr>
        <p:spPr>
          <a:xfrm>
            <a:off x="1097280" y="2816352"/>
            <a:ext cx="1645920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20"/>
              <a:buFont typeface="Arial"/>
              <a:buNone/>
            </a:pPr>
            <a:r>
              <a:rPr b="0" i="0" lang="en" sz="11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src/main.tsx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2" name="Google Shape;132;p22"/>
          <p:cNvCxnSpPr/>
          <p:nvPr/>
        </p:nvCxnSpPr>
        <p:spPr>
          <a:xfrm>
            <a:off x="2834640" y="2944368"/>
            <a:ext cx="411480" cy="0"/>
          </a:xfrm>
          <a:prstGeom prst="straightConnector1">
            <a:avLst/>
          </a:prstGeom>
          <a:noFill/>
          <a:ln cap="flat" cmpd="sng" w="15225">
            <a:solidFill>
              <a:srgbClr val="6B728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3" name="Google Shape;133;p22"/>
          <p:cNvSpPr/>
          <p:nvPr/>
        </p:nvSpPr>
        <p:spPr>
          <a:xfrm>
            <a:off x="3246120" y="2743200"/>
            <a:ext cx="1463040" cy="411480"/>
          </a:xfrm>
          <a:prstGeom prst="roundRect">
            <a:avLst>
              <a:gd fmla="val 15556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2"/>
          <p:cNvSpPr/>
          <p:nvPr/>
        </p:nvSpPr>
        <p:spPr>
          <a:xfrm>
            <a:off x="3337560" y="2816352"/>
            <a:ext cx="1280160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20"/>
              <a:buFont typeface="Arial"/>
              <a:buNone/>
            </a:pPr>
            <a:r>
              <a:rPr b="0" i="0" lang="en" sz="11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App.tsx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5" name="Google Shape;135;p22"/>
          <p:cNvCxnSpPr/>
          <p:nvPr/>
        </p:nvCxnSpPr>
        <p:spPr>
          <a:xfrm>
            <a:off x="4709160" y="2944368"/>
            <a:ext cx="411480" cy="0"/>
          </a:xfrm>
          <a:prstGeom prst="straightConnector1">
            <a:avLst/>
          </a:prstGeom>
          <a:noFill/>
          <a:ln cap="flat" cmpd="sng" w="15225">
            <a:solidFill>
              <a:srgbClr val="6B728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6" name="Google Shape;136;p22"/>
          <p:cNvSpPr/>
          <p:nvPr/>
        </p:nvSpPr>
        <p:spPr>
          <a:xfrm>
            <a:off x="5120640" y="2743200"/>
            <a:ext cx="1828800" cy="411480"/>
          </a:xfrm>
          <a:prstGeom prst="roundRect">
            <a:avLst>
              <a:gd fmla="val 15556" name="adj"/>
            </a:avLst>
          </a:prstGeom>
          <a:solidFill>
            <a:srgbClr val="F5F3FF"/>
          </a:solidFill>
          <a:ln cap="flat" cmpd="sng" w="12700">
            <a:solidFill>
              <a:srgbClr val="C4B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2"/>
          <p:cNvSpPr/>
          <p:nvPr/>
        </p:nvSpPr>
        <p:spPr>
          <a:xfrm>
            <a:off x="5212080" y="2816352"/>
            <a:ext cx="1645920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20"/>
              <a:buFont typeface="Arial"/>
              <a:buNone/>
            </a:pPr>
            <a:r>
              <a:rPr b="0" i="0" lang="en" sz="11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Visible interface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2"/>
          <p:cNvSpPr/>
          <p:nvPr/>
        </p:nvSpPr>
        <p:spPr>
          <a:xfrm>
            <a:off x="685800" y="4078224"/>
            <a:ext cx="6903720" cy="749808"/>
          </a:xfrm>
          <a:prstGeom prst="roundRect">
            <a:avLst>
              <a:gd fmla="val 9756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2"/>
          <p:cNvSpPr/>
          <p:nvPr/>
        </p:nvSpPr>
        <p:spPr>
          <a:xfrm>
            <a:off x="804672" y="4151376"/>
            <a:ext cx="66294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70"/>
              <a:buFont typeface="Arial"/>
              <a:buNone/>
            </a:pPr>
            <a:r>
              <a:rPr b="0" i="0" lang="en" sz="10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Answer: B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70"/>
              <a:buFont typeface="Arial"/>
              <a:buNone/>
            </a:pPr>
            <a:r>
              <a:rPr b="0" i="0" lang="en" sz="10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Why: main.tsx starts the React application and connects it to App.tsx. App.tsx contains the main starter component shown in the browser.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3"/>
          <p:cNvSpPr/>
          <p:nvPr/>
        </p:nvSpPr>
        <p:spPr>
          <a:xfrm>
            <a:off x="1280160" y="1993392"/>
            <a:ext cx="658368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550"/>
              <a:buFont typeface="Arial"/>
              <a:buNone/>
            </a:pPr>
            <a:r>
              <a:rPr b="0" i="0" lang="en" sz="25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TSX</a:t>
            </a:r>
            <a:endParaRPr b="0" i="0" sz="2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23"/>
          <p:cNvSpPr/>
          <p:nvPr/>
        </p:nvSpPr>
        <p:spPr>
          <a:xfrm>
            <a:off x="1554480" y="2615184"/>
            <a:ext cx="6035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30"/>
              <a:buFont typeface="Arial"/>
              <a:buNone/>
            </a:pPr>
            <a:r>
              <a:rPr b="0" i="0" lang="en" sz="123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Write interface markup and JavaScript expressions inside React TypeScript files.</a:t>
            </a:r>
            <a:endParaRPr b="0" i="0" sz="12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4"/>
          <p:cNvSpPr/>
          <p:nvPr/>
        </p:nvSpPr>
        <p:spPr>
          <a:xfrm>
            <a:off x="548640" y="365760"/>
            <a:ext cx="6629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 .tsx file can contain TypeScript and JSX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4"/>
          <p:cNvSpPr/>
          <p:nvPr/>
        </p:nvSpPr>
        <p:spPr>
          <a:xfrm>
            <a:off x="685800" y="960120"/>
            <a:ext cx="3429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10"/>
              <a:buFont typeface="Arial"/>
              <a:buNone/>
            </a:pPr>
            <a:r>
              <a:rPr b="0" i="0" lang="en" sz="121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JSX is a syntax extension for JavaScript that lets us write HTML-like markup in code.</a:t>
            </a:r>
            <a:endParaRPr b="0" i="0" sz="12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10"/>
              <a:buFont typeface="Arial"/>
              <a:buNone/>
            </a:pPr>
            <a:r>
              <a:t/>
            </a:r>
            <a:endParaRPr b="0" i="0" sz="12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10"/>
              <a:buFont typeface="Arial"/>
              <a:buNone/>
            </a:pPr>
            <a:r>
              <a:rPr b="0" i="0" lang="en" sz="121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When a TypeScript file contains JSX, it uses the .tsx extension.</a:t>
            </a:r>
            <a:endParaRPr b="0" i="0" sz="12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10"/>
              <a:buFont typeface="Arial"/>
              <a:buNone/>
            </a:pPr>
            <a:r>
              <a:t/>
            </a:r>
            <a:endParaRPr b="0" i="0" sz="12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10"/>
              <a:buFont typeface="Arial"/>
              <a:buNone/>
            </a:pPr>
            <a:r>
              <a:rPr b="0" i="0" lang="en" sz="121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That is why a React file such as App.tsx can contain TypeScript and JSX in the same source file.</a:t>
            </a:r>
            <a:endParaRPr b="0" i="0" sz="12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24"/>
          <p:cNvSpPr/>
          <p:nvPr/>
        </p:nvSpPr>
        <p:spPr>
          <a:xfrm>
            <a:off x="4343400" y="1143000"/>
            <a:ext cx="1280160" cy="502920"/>
          </a:xfrm>
          <a:prstGeom prst="roundRect">
            <a:avLst>
              <a:gd fmla="val 12727" name="adj"/>
            </a:avLst>
          </a:prstGeom>
          <a:solidFill>
            <a:srgbClr val="EFF6FF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4"/>
          <p:cNvSpPr/>
          <p:nvPr/>
        </p:nvSpPr>
        <p:spPr>
          <a:xfrm>
            <a:off x="4434840" y="1216152"/>
            <a:ext cx="1097280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20"/>
              <a:buFont typeface="Arial"/>
              <a:buNone/>
            </a:pPr>
            <a:r>
              <a:rPr b="1" i="0" lang="en" sz="12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App.tsx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6" name="Google Shape;156;p24"/>
          <p:cNvCxnSpPr/>
          <p:nvPr/>
        </p:nvCxnSpPr>
        <p:spPr>
          <a:xfrm>
            <a:off x="5623560" y="1389888"/>
            <a:ext cx="365760" cy="0"/>
          </a:xfrm>
          <a:prstGeom prst="straightConnector1">
            <a:avLst/>
          </a:prstGeom>
          <a:noFill/>
          <a:ln cap="flat" cmpd="sng" w="15225">
            <a:solidFill>
              <a:srgbClr val="6B728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7" name="Google Shape;157;p24"/>
          <p:cNvSpPr/>
          <p:nvPr/>
        </p:nvSpPr>
        <p:spPr>
          <a:xfrm>
            <a:off x="5989320" y="1005840"/>
            <a:ext cx="1371600" cy="777240"/>
          </a:xfrm>
          <a:prstGeom prst="roundRect">
            <a:avLst>
              <a:gd fmla="val 8235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4"/>
          <p:cNvSpPr/>
          <p:nvPr/>
        </p:nvSpPr>
        <p:spPr>
          <a:xfrm>
            <a:off x="6080760" y="1078992"/>
            <a:ext cx="1188720" cy="6309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40"/>
              <a:buFont typeface="Arial"/>
              <a:buNone/>
            </a:pPr>
            <a:r>
              <a:rPr b="1" i="0" lang="en" sz="114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TypeScript</a:t>
            </a:r>
            <a:endParaRPr b="0" i="0" sz="11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40"/>
              <a:buFont typeface="Arial"/>
              <a:buNone/>
            </a:pPr>
            <a:r>
              <a:rPr b="1" i="0" lang="en" sz="114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+ JSX</a:t>
            </a:r>
            <a:endParaRPr b="0" i="0" sz="11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9" name="Google Shape;159;p24"/>
          <p:cNvCxnSpPr/>
          <p:nvPr/>
        </p:nvCxnSpPr>
        <p:spPr>
          <a:xfrm>
            <a:off x="7360920" y="1389888"/>
            <a:ext cx="365760" cy="0"/>
          </a:xfrm>
          <a:prstGeom prst="straightConnector1">
            <a:avLst/>
          </a:prstGeom>
          <a:noFill/>
          <a:ln cap="flat" cmpd="sng" w="15225">
            <a:solidFill>
              <a:srgbClr val="6B728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0" name="Google Shape;160;p24"/>
          <p:cNvSpPr/>
          <p:nvPr/>
        </p:nvSpPr>
        <p:spPr>
          <a:xfrm>
            <a:off x="7726680" y="1005840"/>
            <a:ext cx="1051560" cy="777240"/>
          </a:xfrm>
          <a:prstGeom prst="roundRect">
            <a:avLst>
              <a:gd fmla="val 8235" name="adj"/>
            </a:avLst>
          </a:prstGeom>
          <a:solidFill>
            <a:srgbClr val="F5F3FF"/>
          </a:solidFill>
          <a:ln cap="flat" cmpd="sng" w="12700">
            <a:solidFill>
              <a:srgbClr val="C4B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4"/>
          <p:cNvSpPr/>
          <p:nvPr/>
        </p:nvSpPr>
        <p:spPr>
          <a:xfrm>
            <a:off x="7818120" y="1078992"/>
            <a:ext cx="868680" cy="6309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80"/>
              <a:buFont typeface="Arial"/>
              <a:buNone/>
            </a:pPr>
            <a:r>
              <a:rPr b="1" i="0" lang="en" sz="10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Visible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80"/>
              <a:buFont typeface="Arial"/>
              <a:buNone/>
            </a:pPr>
            <a:r>
              <a:rPr b="1" i="0" lang="en" sz="10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interface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24"/>
          <p:cNvSpPr/>
          <p:nvPr/>
        </p:nvSpPr>
        <p:spPr>
          <a:xfrm>
            <a:off x="4572000" y="2423160"/>
            <a:ext cx="3703320" cy="1234440"/>
          </a:xfrm>
          <a:prstGeom prst="roundRect">
            <a:avLst>
              <a:gd fmla="val 5185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4"/>
          <p:cNvSpPr/>
          <p:nvPr/>
        </p:nvSpPr>
        <p:spPr>
          <a:xfrm>
            <a:off x="4663440" y="2496312"/>
            <a:ext cx="3520440" cy="10881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return (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&lt;main&gt;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&lt;h1&gt;Frontend Frequencies&lt;/h1&gt;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&lt;/main&gt;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5"/>
          <p:cNvSpPr/>
          <p:nvPr/>
        </p:nvSpPr>
        <p:spPr>
          <a:xfrm>
            <a:off x="548640" y="365760"/>
            <a:ext cx="6629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JSX looks like HTML, but a few details change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25"/>
          <p:cNvSpPr/>
          <p:nvPr/>
        </p:nvSpPr>
        <p:spPr>
          <a:xfrm>
            <a:off x="685800" y="914400"/>
            <a:ext cx="3566160" cy="320040"/>
          </a:xfrm>
          <a:prstGeom prst="roundRect">
            <a:avLst>
              <a:gd fmla="val 20000" name="adj"/>
            </a:avLst>
          </a:prstGeom>
          <a:solidFill>
            <a:srgbClr val="EFF6FF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5"/>
          <p:cNvSpPr/>
          <p:nvPr/>
        </p:nvSpPr>
        <p:spPr>
          <a:xfrm>
            <a:off x="777240" y="987552"/>
            <a:ext cx="338328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20"/>
              <a:buFont typeface="Arial"/>
              <a:buNone/>
            </a:pPr>
            <a:r>
              <a:rPr b="1" i="0" lang="en" sz="12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HTML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25"/>
          <p:cNvSpPr/>
          <p:nvPr/>
        </p:nvSpPr>
        <p:spPr>
          <a:xfrm>
            <a:off x="4572000" y="914400"/>
            <a:ext cx="3566160" cy="320040"/>
          </a:xfrm>
          <a:prstGeom prst="roundRect">
            <a:avLst>
              <a:gd fmla="val 20000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5"/>
          <p:cNvSpPr/>
          <p:nvPr/>
        </p:nvSpPr>
        <p:spPr>
          <a:xfrm>
            <a:off x="4663440" y="987552"/>
            <a:ext cx="338328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20"/>
              <a:buFont typeface="Arial"/>
              <a:buNone/>
            </a:pPr>
            <a:r>
              <a:rPr b="1" i="0" lang="en" sz="12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JSX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5"/>
          <p:cNvSpPr/>
          <p:nvPr/>
        </p:nvSpPr>
        <p:spPr>
          <a:xfrm>
            <a:off x="685800" y="1353312"/>
            <a:ext cx="3566160" cy="1874520"/>
          </a:xfrm>
          <a:prstGeom prst="roundRect">
            <a:avLst>
              <a:gd fmla="val 3415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5"/>
          <p:cNvSpPr/>
          <p:nvPr/>
        </p:nvSpPr>
        <p:spPr>
          <a:xfrm>
            <a:off x="777240" y="1426464"/>
            <a:ext cx="3383280" cy="17282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Courier New"/>
              <a:buNone/>
            </a:pPr>
            <a:r>
              <a:rPr b="0" i="0" lang="en" sz="8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&lt;section class="episode-card"&gt;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Courier New"/>
              <a:buNone/>
            </a:pPr>
            <a:r>
              <a:rPr b="0" i="0" lang="en" sz="8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&lt;img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Courier New"/>
              <a:buNone/>
            </a:pPr>
            <a:r>
              <a:rPr b="0" i="0" lang="en" sz="8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src="/podcast-cover.png"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Courier New"/>
              <a:buNone/>
            </a:pPr>
            <a:r>
              <a:rPr b="0" i="0" lang="en" sz="8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alt="Podcast cover"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Courier New"/>
              <a:buNone/>
            </a:pPr>
            <a:r>
              <a:rPr b="0" i="0" lang="en" sz="8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&gt;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Courier New"/>
              <a:buNone/>
            </a:pPr>
            <a:r>
              <a:rPr b="0" i="0" lang="en" sz="8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&lt;h2&gt;Designing for small screens&lt;/h2&gt;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Courier New"/>
              <a:buNone/>
            </a:pPr>
            <a:r>
              <a:rPr b="0" i="0" lang="en" sz="8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&lt;/section&gt;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5"/>
          <p:cNvSpPr/>
          <p:nvPr/>
        </p:nvSpPr>
        <p:spPr>
          <a:xfrm>
            <a:off x="4572000" y="1353312"/>
            <a:ext cx="3566160" cy="1874520"/>
          </a:xfrm>
          <a:prstGeom prst="roundRect">
            <a:avLst>
              <a:gd fmla="val 3415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5"/>
          <p:cNvSpPr/>
          <p:nvPr/>
        </p:nvSpPr>
        <p:spPr>
          <a:xfrm>
            <a:off x="4663440" y="1426464"/>
            <a:ext cx="3383280" cy="17282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Courier New"/>
              <a:buNone/>
            </a:pPr>
            <a:r>
              <a:rPr b="0" i="0" lang="en" sz="8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&lt;section className="episode-card"&gt;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Courier New"/>
              <a:buNone/>
            </a:pPr>
            <a:r>
              <a:rPr b="0" i="0" lang="en" sz="8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&lt;img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Courier New"/>
              <a:buNone/>
            </a:pPr>
            <a:r>
              <a:rPr b="0" i="0" lang="en" sz="8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src="/podcast-cover.png"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Courier New"/>
              <a:buNone/>
            </a:pPr>
            <a:r>
              <a:rPr b="0" i="0" lang="en" sz="8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alt="Podcast cover"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Courier New"/>
              <a:buNone/>
            </a:pPr>
            <a:r>
              <a:rPr b="0" i="0" lang="en" sz="8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/&gt;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Courier New"/>
              <a:buNone/>
            </a:pPr>
            <a:r>
              <a:rPr b="0" i="0" lang="en" sz="8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&lt;h2&gt;Designing for small screens&lt;/h2&gt;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Courier New"/>
              <a:buNone/>
            </a:pPr>
            <a:r>
              <a:rPr b="0" i="0" lang="en" sz="8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&lt;/section&gt;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5"/>
          <p:cNvSpPr/>
          <p:nvPr/>
        </p:nvSpPr>
        <p:spPr>
          <a:xfrm>
            <a:off x="960120" y="3566160"/>
            <a:ext cx="2971800" cy="329184"/>
          </a:xfrm>
          <a:prstGeom prst="roundRect">
            <a:avLst>
              <a:gd fmla="val 19444" name="adj"/>
            </a:avLst>
          </a:prstGeom>
          <a:solidFill>
            <a:srgbClr val="FEF9C3"/>
          </a:solidFill>
          <a:ln cap="flat" cmpd="sng" w="12700">
            <a:solidFill>
              <a:srgbClr val="FACC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5"/>
          <p:cNvSpPr/>
          <p:nvPr/>
        </p:nvSpPr>
        <p:spPr>
          <a:xfrm>
            <a:off x="1051560" y="3639312"/>
            <a:ext cx="2788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class becomes className.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5"/>
          <p:cNvSpPr/>
          <p:nvPr/>
        </p:nvSpPr>
        <p:spPr>
          <a:xfrm>
            <a:off x="4480560" y="3566160"/>
            <a:ext cx="3840480" cy="329184"/>
          </a:xfrm>
          <a:prstGeom prst="roundRect">
            <a:avLst>
              <a:gd fmla="val 19444" name="adj"/>
            </a:avLst>
          </a:prstGeom>
          <a:solidFill>
            <a:srgbClr val="FEF9C3"/>
          </a:solidFill>
          <a:ln cap="flat" cmpd="sng" w="12700">
            <a:solidFill>
              <a:srgbClr val="FACC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5"/>
          <p:cNvSpPr/>
          <p:nvPr/>
        </p:nvSpPr>
        <p:spPr>
          <a:xfrm>
            <a:off x="4572000" y="3639312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The &lt;img&gt; element is explicitly closed with /&gt;.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6"/>
          <p:cNvSpPr/>
          <p:nvPr/>
        </p:nvSpPr>
        <p:spPr>
          <a:xfrm>
            <a:off x="548640" y="365760"/>
            <a:ext cx="6629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Sibling JSX elements need a wrapper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6"/>
          <p:cNvSpPr/>
          <p:nvPr/>
        </p:nvSpPr>
        <p:spPr>
          <a:xfrm>
            <a:off x="685800" y="914400"/>
            <a:ext cx="3703320" cy="329184"/>
          </a:xfrm>
          <a:prstGeom prst="roundRect">
            <a:avLst>
              <a:gd fmla="val 19444" name="adj"/>
            </a:avLst>
          </a:prstGeom>
          <a:solidFill>
            <a:srgbClr val="FFF1F2"/>
          </a:solidFill>
          <a:ln cap="flat" cmpd="sng" w="12700">
            <a:solidFill>
              <a:srgbClr val="FDA4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6"/>
          <p:cNvSpPr/>
          <p:nvPr/>
        </p:nvSpPr>
        <p:spPr>
          <a:xfrm>
            <a:off x="777240" y="987552"/>
            <a:ext cx="3520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60"/>
              <a:buFont typeface="Arial"/>
              <a:buNone/>
            </a:pPr>
            <a:r>
              <a:rPr b="1" i="0" lang="en" sz="11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This does not form one returned JSX tree</a:t>
            </a:r>
            <a:endParaRPr b="0" i="0" sz="11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6"/>
          <p:cNvSpPr/>
          <p:nvPr/>
        </p:nvSpPr>
        <p:spPr>
          <a:xfrm>
            <a:off x="685800" y="1371600"/>
            <a:ext cx="3703320" cy="1325880"/>
          </a:xfrm>
          <a:prstGeom prst="roundRect">
            <a:avLst>
              <a:gd fmla="val 4828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6"/>
          <p:cNvSpPr/>
          <p:nvPr/>
        </p:nvSpPr>
        <p:spPr>
          <a:xfrm>
            <a:off x="777240" y="1444752"/>
            <a:ext cx="3520440" cy="11795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return (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&lt;h1&gt;Frontend Frequencies&lt;/h1&gt;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&lt;p&gt;New episodes every week&lt;/p&gt;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6"/>
          <p:cNvSpPr/>
          <p:nvPr/>
        </p:nvSpPr>
        <p:spPr>
          <a:xfrm>
            <a:off x="4617720" y="914400"/>
            <a:ext cx="3703320" cy="329184"/>
          </a:xfrm>
          <a:prstGeom prst="roundRect">
            <a:avLst>
              <a:gd fmla="val 19444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6"/>
          <p:cNvSpPr/>
          <p:nvPr/>
        </p:nvSpPr>
        <p:spPr>
          <a:xfrm>
            <a:off x="4709160" y="987552"/>
            <a:ext cx="3520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60"/>
              <a:buFont typeface="Arial"/>
              <a:buNone/>
            </a:pPr>
            <a:r>
              <a:rPr b="1" i="0" lang="en" sz="11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Wrap the elements in a shared parent</a:t>
            </a:r>
            <a:endParaRPr b="0" i="0" sz="11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6"/>
          <p:cNvSpPr/>
          <p:nvPr/>
        </p:nvSpPr>
        <p:spPr>
          <a:xfrm>
            <a:off x="4617720" y="1371600"/>
            <a:ext cx="3703320" cy="1572768"/>
          </a:xfrm>
          <a:prstGeom prst="roundRect">
            <a:avLst>
              <a:gd fmla="val 4070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6"/>
          <p:cNvSpPr/>
          <p:nvPr/>
        </p:nvSpPr>
        <p:spPr>
          <a:xfrm>
            <a:off x="4709160" y="1444752"/>
            <a:ext cx="3520440" cy="1426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0"/>
              <a:buFont typeface="Courier New"/>
              <a:buNone/>
            </a:pPr>
            <a:r>
              <a:rPr b="0" i="0" lang="en" sz="9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return (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0"/>
              <a:buFont typeface="Courier New"/>
              <a:buNone/>
            </a:pPr>
            <a:r>
              <a:rPr b="0" i="0" lang="en" sz="9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&lt;main&gt;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0"/>
              <a:buFont typeface="Courier New"/>
              <a:buNone/>
            </a:pPr>
            <a:r>
              <a:rPr b="0" i="0" lang="en" sz="9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&lt;h1&gt;Frontend Frequencies&lt;/h1&gt;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0"/>
              <a:buFont typeface="Courier New"/>
              <a:buNone/>
            </a:pPr>
            <a:r>
              <a:rPr b="0" i="0" lang="en" sz="9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&lt;p&gt;New episodes every week&lt;/p&gt;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0"/>
              <a:buFont typeface="Courier New"/>
              <a:buNone/>
            </a:pPr>
            <a:r>
              <a:rPr b="0" i="0" lang="en" sz="9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&lt;/main&gt;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0"/>
              <a:buFont typeface="Courier New"/>
              <a:buNone/>
            </a:pPr>
            <a:r>
              <a:rPr b="0" i="0" lang="en" sz="9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6"/>
          <p:cNvSpPr/>
          <p:nvPr/>
        </p:nvSpPr>
        <p:spPr>
          <a:xfrm>
            <a:off x="1828800" y="3520440"/>
            <a:ext cx="5486400" cy="457200"/>
          </a:xfrm>
          <a:prstGeom prst="roundRect">
            <a:avLst>
              <a:gd fmla="val 14000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6"/>
          <p:cNvSpPr/>
          <p:nvPr/>
        </p:nvSpPr>
        <p:spPr>
          <a:xfrm>
            <a:off x="1920240" y="3593592"/>
            <a:ext cx="53035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The &lt;main&gt; contains both elements inside one JSX tree.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7"/>
          <p:cNvSpPr/>
          <p:nvPr/>
        </p:nvSpPr>
        <p:spPr>
          <a:xfrm>
            <a:off x="548640" y="365760"/>
            <a:ext cx="6629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Curly braces evaluate JavaScript inside JSX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7"/>
          <p:cNvSpPr/>
          <p:nvPr/>
        </p:nvSpPr>
        <p:spPr>
          <a:xfrm>
            <a:off x="685800" y="960120"/>
            <a:ext cx="4251960" cy="2880360"/>
          </a:xfrm>
          <a:prstGeom prst="roundRect">
            <a:avLst>
              <a:gd fmla="val 2222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7"/>
          <p:cNvSpPr/>
          <p:nvPr/>
        </p:nvSpPr>
        <p:spPr>
          <a:xfrm>
            <a:off x="777240" y="1033272"/>
            <a:ext cx="4069080" cy="27340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39"/>
              <a:buFont typeface="Courier New"/>
              <a:buNone/>
            </a:pPr>
            <a:r>
              <a:rPr b="0" i="0" lang="en" sz="94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const episodeTitle =</a:t>
            </a:r>
            <a:r>
              <a:rPr lang="en" sz="940">
                <a:solidFill>
                  <a:schemeClr val="dk1"/>
                </a:solidFill>
              </a:rPr>
              <a:t> </a:t>
            </a:r>
            <a:r>
              <a:rPr b="0" i="0" lang="en" sz="94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"Designing for small screens";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Arial"/>
              <a:buNone/>
            </a:pPr>
            <a:r>
              <a:t/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39"/>
              <a:buFont typeface="Courier New"/>
              <a:buNone/>
            </a:pPr>
            <a:r>
              <a:rPr b="0" i="0" lang="en" sz="94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const duration = 28;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Arial"/>
              <a:buNone/>
            </a:pPr>
            <a:r>
              <a:t/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39"/>
              <a:buFont typeface="Courier New"/>
              <a:buNone/>
            </a:pPr>
            <a:r>
              <a:rPr b="0" i="0" lang="en" sz="94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&lt;h2&gt;{episodeTitle}&lt;/h2&gt;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39"/>
              <a:buFont typeface="Courier New"/>
              <a:buNone/>
            </a:pPr>
            <a:r>
              <a:rPr b="0" i="0" lang="en" sz="94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&lt;p&gt;{duration} min&lt;/p&gt;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Arial"/>
              <a:buNone/>
            </a:pPr>
            <a:r>
              <a:t/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39"/>
              <a:buFont typeface="Courier New"/>
              <a:buNone/>
            </a:pPr>
            <a:r>
              <a:rPr b="0" i="0" lang="en" sz="94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&lt;p&gt;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39"/>
              <a:buFont typeface="Courier New"/>
              <a:buNone/>
            </a:pPr>
            <a:r>
              <a:rPr b="0" i="0" lang="en" sz="94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Bonus edition: {duration + 5} min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39"/>
              <a:buFont typeface="Courier New"/>
              <a:buNone/>
            </a:pPr>
            <a:r>
              <a:rPr b="0" i="0" lang="en" sz="94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&lt;/p&gt;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7"/>
          <p:cNvSpPr/>
          <p:nvPr/>
        </p:nvSpPr>
        <p:spPr>
          <a:xfrm>
            <a:off x="5303520" y="1234440"/>
            <a:ext cx="3017520" cy="1417320"/>
          </a:xfrm>
          <a:prstGeom prst="roundRect">
            <a:avLst>
              <a:gd fmla="val 3871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7"/>
          <p:cNvSpPr/>
          <p:nvPr/>
        </p:nvSpPr>
        <p:spPr>
          <a:xfrm>
            <a:off x="5303520" y="1234440"/>
            <a:ext cx="3017520" cy="237744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7"/>
          <p:cNvSpPr/>
          <p:nvPr/>
        </p:nvSpPr>
        <p:spPr>
          <a:xfrm>
            <a:off x="5413248" y="1280160"/>
            <a:ext cx="279806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Rendered result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7"/>
          <p:cNvSpPr/>
          <p:nvPr/>
        </p:nvSpPr>
        <p:spPr>
          <a:xfrm>
            <a:off x="5431536" y="1581912"/>
            <a:ext cx="2761488" cy="9966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40"/>
              <a:buFont typeface="Arial"/>
              <a:buNone/>
            </a:pPr>
            <a:r>
              <a:rPr b="0" i="0" lang="en" sz="114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Designing for small screens</a:t>
            </a:r>
            <a:endParaRPr b="0" i="0" sz="11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40"/>
              <a:buFont typeface="Arial"/>
              <a:buNone/>
            </a:pPr>
            <a:r>
              <a:rPr b="0" i="0" lang="en" sz="114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28 min</a:t>
            </a:r>
            <a:endParaRPr b="0" i="0" sz="11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40"/>
              <a:buFont typeface="Arial"/>
              <a:buNone/>
            </a:pPr>
            <a:r>
              <a:rPr b="0" i="0" lang="en" sz="114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Bonus edition: 33 min</a:t>
            </a:r>
            <a:endParaRPr b="0" i="0" sz="11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7"/>
          <p:cNvSpPr/>
          <p:nvPr/>
        </p:nvSpPr>
        <p:spPr>
          <a:xfrm>
            <a:off x="5303520" y="2971800"/>
            <a:ext cx="3017520" cy="841248"/>
          </a:xfrm>
          <a:prstGeom prst="roundRect">
            <a:avLst>
              <a:gd fmla="val 7609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7"/>
          <p:cNvSpPr/>
          <p:nvPr/>
        </p:nvSpPr>
        <p:spPr>
          <a:xfrm>
            <a:off x="5394960" y="3044952"/>
            <a:ext cx="283464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20"/>
              <a:buFont typeface="Arial"/>
              <a:buNone/>
            </a:pPr>
            <a:r>
              <a:rPr b="0" i="0" lang="en" sz="11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The variables and arithmetic are familiar JavaScript.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20"/>
              <a:buFont typeface="Arial"/>
              <a:buNone/>
            </a:pPr>
            <a:r>
              <a:rPr b="0" i="0" lang="en" sz="11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The new idea is using those expressions inside JSX.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8"/>
          <p:cNvSpPr/>
          <p:nvPr/>
        </p:nvSpPr>
        <p:spPr>
          <a:xfrm>
            <a:off x="548640" y="365760"/>
            <a:ext cx="6629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Changing a source value changes the rendered text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8"/>
          <p:cNvSpPr/>
          <p:nvPr/>
        </p:nvSpPr>
        <p:spPr>
          <a:xfrm>
            <a:off x="713232" y="960120"/>
            <a:ext cx="3108960" cy="320040"/>
          </a:xfrm>
          <a:prstGeom prst="roundRect">
            <a:avLst>
              <a:gd fmla="val 20000" name="adj"/>
            </a:avLst>
          </a:prstGeom>
          <a:solidFill>
            <a:srgbClr val="EFF6FF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8"/>
          <p:cNvSpPr/>
          <p:nvPr/>
        </p:nvSpPr>
        <p:spPr>
          <a:xfrm>
            <a:off x="804672" y="1033272"/>
            <a:ext cx="292608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20"/>
              <a:buFont typeface="Arial"/>
              <a:buNone/>
            </a:pPr>
            <a:r>
              <a:rPr b="1" i="0" lang="en" sz="12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Before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28"/>
          <p:cNvSpPr/>
          <p:nvPr/>
        </p:nvSpPr>
        <p:spPr>
          <a:xfrm>
            <a:off x="713232" y="1389888"/>
            <a:ext cx="3108960" cy="1207008"/>
          </a:xfrm>
          <a:prstGeom prst="roundRect">
            <a:avLst>
              <a:gd fmla="val 5303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8"/>
          <p:cNvSpPr/>
          <p:nvPr/>
        </p:nvSpPr>
        <p:spPr>
          <a:xfrm>
            <a:off x="804672" y="1463040"/>
            <a:ext cx="2926080" cy="10607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const episodeTitle =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"Designing for small screens";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const duration = 28;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8"/>
          <p:cNvSpPr/>
          <p:nvPr/>
        </p:nvSpPr>
        <p:spPr>
          <a:xfrm>
            <a:off x="713232" y="2834640"/>
            <a:ext cx="3108960" cy="320040"/>
          </a:xfrm>
          <a:prstGeom prst="roundRect">
            <a:avLst>
              <a:gd fmla="val 20000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8"/>
          <p:cNvSpPr/>
          <p:nvPr/>
        </p:nvSpPr>
        <p:spPr>
          <a:xfrm>
            <a:off x="804672" y="2907792"/>
            <a:ext cx="292608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20"/>
              <a:buFont typeface="Arial"/>
              <a:buNone/>
            </a:pPr>
            <a:r>
              <a:rPr b="1" i="0" lang="en" sz="12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After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8"/>
          <p:cNvSpPr/>
          <p:nvPr/>
        </p:nvSpPr>
        <p:spPr>
          <a:xfrm>
            <a:off x="713232" y="3264408"/>
            <a:ext cx="3108960" cy="1207008"/>
          </a:xfrm>
          <a:prstGeom prst="roundRect">
            <a:avLst>
              <a:gd fmla="val 5303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8"/>
          <p:cNvSpPr/>
          <p:nvPr/>
        </p:nvSpPr>
        <p:spPr>
          <a:xfrm>
            <a:off x="804672" y="3337560"/>
            <a:ext cx="2926080" cy="10607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const episodeTitle =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"Tracing an async bug";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const duration = 34;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28"/>
          <p:cNvSpPr/>
          <p:nvPr/>
        </p:nvSpPr>
        <p:spPr>
          <a:xfrm>
            <a:off x="4572000" y="1234440"/>
            <a:ext cx="3337560" cy="1207008"/>
          </a:xfrm>
          <a:prstGeom prst="roundRect">
            <a:avLst>
              <a:gd fmla="val 4545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8"/>
          <p:cNvSpPr/>
          <p:nvPr/>
        </p:nvSpPr>
        <p:spPr>
          <a:xfrm>
            <a:off x="4572000" y="1234440"/>
            <a:ext cx="3337560" cy="237744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8"/>
          <p:cNvSpPr/>
          <p:nvPr/>
        </p:nvSpPr>
        <p:spPr>
          <a:xfrm>
            <a:off x="4681728" y="1280160"/>
            <a:ext cx="31181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Browser result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28"/>
          <p:cNvSpPr/>
          <p:nvPr/>
        </p:nvSpPr>
        <p:spPr>
          <a:xfrm>
            <a:off x="4700016" y="1581912"/>
            <a:ext cx="3081528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70"/>
              <a:buFont typeface="Arial"/>
              <a:buNone/>
            </a:pPr>
            <a:r>
              <a:rPr b="0" i="0" lang="en" sz="10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Before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70"/>
              <a:buFont typeface="Arial"/>
              <a:buNone/>
            </a:pPr>
            <a:r>
              <a:rPr b="0" i="0" lang="en" sz="10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Designing for small screens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70"/>
              <a:buFont typeface="Arial"/>
              <a:buNone/>
            </a:pPr>
            <a:r>
              <a:rPr b="0" i="0" lang="en" sz="10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28 min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8"/>
          <p:cNvSpPr/>
          <p:nvPr/>
        </p:nvSpPr>
        <p:spPr>
          <a:xfrm>
            <a:off x="4572000" y="2971800"/>
            <a:ext cx="3337560" cy="1207008"/>
          </a:xfrm>
          <a:prstGeom prst="roundRect">
            <a:avLst>
              <a:gd fmla="val 4545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8"/>
          <p:cNvSpPr/>
          <p:nvPr/>
        </p:nvSpPr>
        <p:spPr>
          <a:xfrm>
            <a:off x="4572000" y="2971800"/>
            <a:ext cx="3337560" cy="237744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8"/>
          <p:cNvSpPr/>
          <p:nvPr/>
        </p:nvSpPr>
        <p:spPr>
          <a:xfrm>
            <a:off x="4681728" y="3017520"/>
            <a:ext cx="31181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Browser result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28"/>
          <p:cNvSpPr/>
          <p:nvPr/>
        </p:nvSpPr>
        <p:spPr>
          <a:xfrm>
            <a:off x="4700016" y="3319272"/>
            <a:ext cx="3081528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70"/>
              <a:buFont typeface="Arial"/>
              <a:buNone/>
            </a:pPr>
            <a:r>
              <a:rPr b="0" i="0" lang="en" sz="10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After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70"/>
              <a:buFont typeface="Arial"/>
              <a:buNone/>
            </a:pPr>
            <a:r>
              <a:rPr b="0" i="0" lang="en" sz="10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Tracing an async bug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70"/>
              <a:buFont typeface="Arial"/>
              <a:buNone/>
            </a:pPr>
            <a:r>
              <a:rPr b="0" i="0" lang="en" sz="10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34 min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4" name="Google Shape;234;p28"/>
          <p:cNvCxnSpPr/>
          <p:nvPr/>
        </p:nvCxnSpPr>
        <p:spPr>
          <a:xfrm>
            <a:off x="3840480" y="2011680"/>
            <a:ext cx="594360" cy="0"/>
          </a:xfrm>
          <a:prstGeom prst="straightConnector1">
            <a:avLst/>
          </a:prstGeom>
          <a:noFill/>
          <a:ln cap="flat" cmpd="sng" w="15225">
            <a:solidFill>
              <a:srgbClr val="6B728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5" name="Google Shape;235;p28"/>
          <p:cNvCxnSpPr/>
          <p:nvPr/>
        </p:nvCxnSpPr>
        <p:spPr>
          <a:xfrm>
            <a:off x="3840480" y="3858768"/>
            <a:ext cx="594360" cy="0"/>
          </a:xfrm>
          <a:prstGeom prst="straightConnector1">
            <a:avLst/>
          </a:prstGeom>
          <a:noFill/>
          <a:ln cap="flat" cmpd="sng" w="15225">
            <a:solidFill>
              <a:srgbClr val="6B7280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9"/>
          <p:cNvSpPr/>
          <p:nvPr/>
        </p:nvSpPr>
        <p:spPr>
          <a:xfrm>
            <a:off x="548640" y="365760"/>
            <a:ext cx="6629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Checkpoint: Which changes make this valid JSX?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9"/>
          <p:cNvSpPr/>
          <p:nvPr/>
        </p:nvSpPr>
        <p:spPr>
          <a:xfrm>
            <a:off x="658368" y="941832"/>
            <a:ext cx="3977640" cy="2788920"/>
          </a:xfrm>
          <a:prstGeom prst="roundRect">
            <a:avLst>
              <a:gd fmla="val 2295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9"/>
          <p:cNvSpPr/>
          <p:nvPr/>
        </p:nvSpPr>
        <p:spPr>
          <a:xfrm>
            <a:off x="749808" y="1014984"/>
            <a:ext cx="3794760" cy="2642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const host = "Mira";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return (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&lt;section class="host-card"&gt;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&lt;h2&gt;{host}&lt;/h2&gt;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&lt;img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src="/host.png"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alt="Host"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&gt;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&lt;/section&gt;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29"/>
          <p:cNvSpPr/>
          <p:nvPr/>
        </p:nvSpPr>
        <p:spPr>
          <a:xfrm>
            <a:off x="4846320" y="932688"/>
            <a:ext cx="3566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10"/>
              <a:buFont typeface="Arial"/>
              <a:buNone/>
            </a:pPr>
            <a:r>
              <a:rPr b="0" i="0" lang="en" sz="121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Which correction makes the markup valid JSX and still renders the value stored in host?</a:t>
            </a:r>
            <a:endParaRPr b="0" i="0" sz="12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29"/>
          <p:cNvSpPr/>
          <p:nvPr/>
        </p:nvSpPr>
        <p:spPr>
          <a:xfrm>
            <a:off x="4846320" y="1691640"/>
            <a:ext cx="356616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60"/>
              <a:buFont typeface="Arial"/>
              <a:buNone/>
            </a:pPr>
            <a:r>
              <a:rPr b="0" i="0" lang="en" sz="10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A. Replace {host} with "host".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60"/>
              <a:buFont typeface="Arial"/>
              <a:buNone/>
            </a:pPr>
            <a:r>
              <a:t/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60"/>
              <a:buFont typeface="Arial"/>
              <a:buNone/>
            </a:pPr>
            <a:r>
              <a:rPr b="0" i="0" lang="en" sz="10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B. Change class to className only.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60"/>
              <a:buFont typeface="Arial"/>
              <a:buNone/>
            </a:pPr>
            <a:r>
              <a:t/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60"/>
              <a:buFont typeface="Arial"/>
              <a:buNone/>
            </a:pPr>
            <a:r>
              <a:rPr b="0" i="0" lang="en" sz="10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C. Close the &lt;img&gt; element with /&gt; only.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60"/>
              <a:buFont typeface="Arial"/>
              <a:buNone/>
            </a:pPr>
            <a:r>
              <a:t/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60"/>
              <a:buFont typeface="Arial"/>
              <a:buNone/>
            </a:pPr>
            <a:r>
              <a:rPr b="0" i="0" lang="en" sz="10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D. Change class to className and close the &lt;img&gt; element with /&gt;.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29"/>
          <p:cNvSpPr/>
          <p:nvPr/>
        </p:nvSpPr>
        <p:spPr>
          <a:xfrm>
            <a:off x="685800" y="4078224"/>
            <a:ext cx="6903720" cy="749808"/>
          </a:xfrm>
          <a:prstGeom prst="roundRect">
            <a:avLst>
              <a:gd fmla="val 9756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9"/>
          <p:cNvSpPr/>
          <p:nvPr/>
        </p:nvSpPr>
        <p:spPr>
          <a:xfrm>
            <a:off x="804672" y="4151376"/>
            <a:ext cx="66294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70"/>
              <a:buFont typeface="Arial"/>
              <a:buNone/>
            </a:pPr>
            <a:r>
              <a:rPr b="0" i="0" lang="en" sz="10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Answer: D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70"/>
              <a:buFont typeface="Arial"/>
              <a:buNone/>
            </a:pPr>
            <a:r>
              <a:rPr b="0" i="0" lang="en" sz="10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Why: JSX uses className, and the &lt;img&gt; element must be closed. {host} is already correct because it renders the variable value.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0"/>
          <p:cNvSpPr/>
          <p:nvPr/>
        </p:nvSpPr>
        <p:spPr>
          <a:xfrm>
            <a:off x="1280160" y="1993392"/>
            <a:ext cx="658368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550"/>
              <a:buFont typeface="Arial"/>
              <a:buNone/>
            </a:pPr>
            <a:r>
              <a:rPr b="0" i="0" lang="en" sz="25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Function components</a:t>
            </a:r>
            <a:endParaRPr b="0" i="0" sz="2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30"/>
          <p:cNvSpPr/>
          <p:nvPr/>
        </p:nvSpPr>
        <p:spPr>
          <a:xfrm>
            <a:off x="1554480" y="2615184"/>
            <a:ext cx="6035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30"/>
              <a:buFont typeface="Arial"/>
              <a:buNone/>
            </a:pPr>
            <a:r>
              <a:rPr b="0" i="0" lang="en" sz="123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Define a piece of the interface with a TypeScript function and render it through JSX.</a:t>
            </a:r>
            <a:endParaRPr b="0" i="0" sz="12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1"/>
          <p:cNvSpPr/>
          <p:nvPr/>
        </p:nvSpPr>
        <p:spPr>
          <a:xfrm>
            <a:off x="548640" y="365760"/>
            <a:ext cx="6629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App is already a function component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31"/>
          <p:cNvSpPr/>
          <p:nvPr/>
        </p:nvSpPr>
        <p:spPr>
          <a:xfrm>
            <a:off x="685800" y="1051560"/>
            <a:ext cx="3886200" cy="2057400"/>
          </a:xfrm>
          <a:prstGeom prst="roundRect">
            <a:avLst>
              <a:gd fmla="val 3111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31"/>
          <p:cNvSpPr/>
          <p:nvPr/>
        </p:nvSpPr>
        <p:spPr>
          <a:xfrm>
            <a:off x="777240" y="1124712"/>
            <a:ext cx="3703320" cy="19110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function App() {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return (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&lt;main&gt;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&lt;h1&gt;Frontend Frequencies&lt;/h1&gt;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&lt;/main&gt;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);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31"/>
          <p:cNvSpPr/>
          <p:nvPr/>
        </p:nvSpPr>
        <p:spPr>
          <a:xfrm>
            <a:off x="4892040" y="1051560"/>
            <a:ext cx="3337560" cy="749808"/>
          </a:xfrm>
          <a:prstGeom prst="roundRect">
            <a:avLst>
              <a:gd fmla="val 8537" name="adj"/>
            </a:avLst>
          </a:prstGeom>
          <a:solidFill>
            <a:srgbClr val="EFF6FF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31"/>
          <p:cNvSpPr/>
          <p:nvPr/>
        </p:nvSpPr>
        <p:spPr>
          <a:xfrm>
            <a:off x="4983480" y="1124712"/>
            <a:ext cx="315468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20"/>
              <a:buFont typeface="Arial"/>
              <a:buNone/>
            </a:pPr>
            <a:r>
              <a:rPr b="0" i="0" lang="en" sz="11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 function component is a JavaScript or TypeScript function that React can render as part of the interface.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31"/>
          <p:cNvSpPr/>
          <p:nvPr/>
        </p:nvSpPr>
        <p:spPr>
          <a:xfrm>
            <a:off x="4892040" y="1993392"/>
            <a:ext cx="1508760" cy="658368"/>
          </a:xfrm>
          <a:prstGeom prst="roundRect">
            <a:avLst>
              <a:gd fmla="val 11111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31"/>
          <p:cNvSpPr/>
          <p:nvPr/>
        </p:nvSpPr>
        <p:spPr>
          <a:xfrm>
            <a:off x="5001768" y="2084832"/>
            <a:ext cx="128930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70"/>
              <a:buFont typeface="Arial"/>
              <a:buNone/>
            </a:pPr>
            <a:r>
              <a:rPr b="1" i="0" lang="en" sz="10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Function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31"/>
          <p:cNvSpPr/>
          <p:nvPr/>
        </p:nvSpPr>
        <p:spPr>
          <a:xfrm>
            <a:off x="5001768" y="2395728"/>
            <a:ext cx="128930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App is a function.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31"/>
          <p:cNvSpPr/>
          <p:nvPr/>
        </p:nvSpPr>
        <p:spPr>
          <a:xfrm>
            <a:off x="6720840" y="1993392"/>
            <a:ext cx="1508760" cy="658368"/>
          </a:xfrm>
          <a:prstGeom prst="roundRect">
            <a:avLst>
              <a:gd fmla="val 11111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31"/>
          <p:cNvSpPr/>
          <p:nvPr/>
        </p:nvSpPr>
        <p:spPr>
          <a:xfrm>
            <a:off x="6830568" y="2084832"/>
            <a:ext cx="128930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70"/>
              <a:buFont typeface="Arial"/>
              <a:buNone/>
            </a:pPr>
            <a:r>
              <a:rPr b="1" i="0" lang="en" sz="10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Capital name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31"/>
          <p:cNvSpPr/>
          <p:nvPr/>
        </p:nvSpPr>
        <p:spPr>
          <a:xfrm>
            <a:off x="6830568" y="2395728"/>
            <a:ext cx="128930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React treats App as a custom component.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31"/>
          <p:cNvSpPr/>
          <p:nvPr/>
        </p:nvSpPr>
        <p:spPr>
          <a:xfrm>
            <a:off x="4892040" y="2926080"/>
            <a:ext cx="3337560" cy="658368"/>
          </a:xfrm>
          <a:prstGeom prst="roundRect">
            <a:avLst>
              <a:gd fmla="val 9722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31"/>
          <p:cNvSpPr/>
          <p:nvPr/>
        </p:nvSpPr>
        <p:spPr>
          <a:xfrm>
            <a:off x="4983480" y="2999232"/>
            <a:ext cx="315468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80"/>
              <a:buFont typeface="Arial"/>
              <a:buNone/>
            </a:pPr>
            <a:r>
              <a:rPr b="0" i="0" lang="en" sz="10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The return value contains the JSX that describes this part of the interface.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2"/>
          <p:cNvSpPr/>
          <p:nvPr/>
        </p:nvSpPr>
        <p:spPr>
          <a:xfrm>
            <a:off x="548640" y="365760"/>
            <a:ext cx="6629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Create another function component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32"/>
          <p:cNvSpPr/>
          <p:nvPr/>
        </p:nvSpPr>
        <p:spPr>
          <a:xfrm>
            <a:off x="685800" y="896112"/>
            <a:ext cx="4617720" cy="3520440"/>
          </a:xfrm>
          <a:prstGeom prst="roundRect">
            <a:avLst>
              <a:gd fmla="val 1818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32"/>
          <p:cNvSpPr/>
          <p:nvPr/>
        </p:nvSpPr>
        <p:spPr>
          <a:xfrm>
            <a:off x="777240" y="969264"/>
            <a:ext cx="4434840" cy="33741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Courier New"/>
              <a:buNone/>
            </a:pPr>
            <a:r>
              <a:rPr b="0" i="0" lang="en" sz="8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function EpisodeCard() {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Courier New"/>
              <a:buNone/>
            </a:pPr>
            <a:r>
              <a:rPr b="0" i="0" lang="en" sz="8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const episodeTitle =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Courier New"/>
              <a:buNone/>
            </a:pPr>
            <a:r>
              <a:rPr b="0" i="0" lang="en" sz="8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"Tracing an async bug";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"/>
              <a:buFont typeface="Arial"/>
              <a:buNone/>
            </a:pPr>
            <a:r>
              <a:t/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Courier New"/>
              <a:buNone/>
            </a:pPr>
            <a:r>
              <a:rPr b="0" i="0" lang="en" sz="8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const duration = 34;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"/>
              <a:buFont typeface="Arial"/>
              <a:buNone/>
            </a:pPr>
            <a:r>
              <a:t/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Courier New"/>
              <a:buNone/>
            </a:pPr>
            <a:r>
              <a:rPr b="0" i="0" lang="en" sz="8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return (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Courier New"/>
              <a:buNone/>
            </a:pPr>
            <a:r>
              <a:rPr b="0" i="0" lang="en" sz="8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&lt;article className="episode-card"&gt;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Courier New"/>
              <a:buNone/>
            </a:pPr>
            <a:r>
              <a:rPr b="0" i="0" lang="en" sz="8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&lt;p&gt;JavaScript&lt;/p&gt;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Courier New"/>
              <a:buNone/>
            </a:pPr>
            <a:r>
              <a:rPr b="0" i="0" lang="en" sz="8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&lt;h2&gt;{episodeTitle}&lt;/h2&gt;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Courier New"/>
              <a:buNone/>
            </a:pPr>
            <a:r>
              <a:rPr b="0" i="0" lang="en" sz="8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&lt;p&gt;{duration} min&lt;/p&gt;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Courier New"/>
              <a:buNone/>
            </a:pPr>
            <a:r>
              <a:rPr b="0" i="0" lang="en" sz="8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&lt;/article&gt;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Courier New"/>
              <a:buNone/>
            </a:pPr>
            <a:r>
              <a:rPr b="0" i="0" lang="en" sz="8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);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Courier New"/>
              <a:buNone/>
            </a:pPr>
            <a:r>
              <a:rPr b="0" i="0" lang="en" sz="8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32"/>
          <p:cNvSpPr/>
          <p:nvPr/>
        </p:nvSpPr>
        <p:spPr>
          <a:xfrm>
            <a:off x="5577840" y="1078992"/>
            <a:ext cx="2788920" cy="548640"/>
          </a:xfrm>
          <a:prstGeom prst="roundRect">
            <a:avLst>
              <a:gd fmla="val 11667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32"/>
          <p:cNvSpPr/>
          <p:nvPr/>
        </p:nvSpPr>
        <p:spPr>
          <a:xfrm>
            <a:off x="5669280" y="1152144"/>
            <a:ext cx="26060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EpisodeCard defines the UI for one podcast episode.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32"/>
          <p:cNvSpPr/>
          <p:nvPr/>
        </p:nvSpPr>
        <p:spPr>
          <a:xfrm>
            <a:off x="5577840" y="1874520"/>
            <a:ext cx="2788920" cy="713232"/>
          </a:xfrm>
          <a:prstGeom prst="roundRect">
            <a:avLst>
              <a:gd fmla="val 8974" name="adj"/>
            </a:avLst>
          </a:prstGeom>
          <a:solidFill>
            <a:srgbClr val="EFF6FF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32"/>
          <p:cNvSpPr/>
          <p:nvPr/>
        </p:nvSpPr>
        <p:spPr>
          <a:xfrm>
            <a:off x="5669280" y="1947672"/>
            <a:ext cx="2606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60"/>
              <a:buFont typeface="Arial"/>
              <a:buNone/>
            </a:pPr>
            <a:r>
              <a:rPr b="0" i="0" lang="en" sz="10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React treats names that begin with a capital letter as custom components in JSX.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32"/>
          <p:cNvSpPr/>
          <p:nvPr/>
        </p:nvSpPr>
        <p:spPr>
          <a:xfrm>
            <a:off x="5577840" y="2852928"/>
            <a:ext cx="2788920" cy="841248"/>
          </a:xfrm>
          <a:prstGeom prst="roundRect">
            <a:avLst>
              <a:gd fmla="val 7609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32"/>
          <p:cNvSpPr/>
          <p:nvPr/>
        </p:nvSpPr>
        <p:spPr>
          <a:xfrm>
            <a:off x="5669280" y="2926080"/>
            <a:ext cx="260604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40"/>
              <a:buFont typeface="Arial"/>
              <a:buNone/>
            </a:pPr>
            <a:r>
              <a:rPr b="0" i="0" lang="en" sz="104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Defining the component by itself does not change the browser. It still needs to be rendered from App.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3"/>
          <p:cNvSpPr/>
          <p:nvPr/>
        </p:nvSpPr>
        <p:spPr>
          <a:xfrm>
            <a:off x="548640" y="365760"/>
            <a:ext cx="6629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 component is defined once and rendered where needed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33"/>
          <p:cNvSpPr/>
          <p:nvPr/>
        </p:nvSpPr>
        <p:spPr>
          <a:xfrm>
            <a:off x="822960" y="1005840"/>
            <a:ext cx="3474720" cy="320040"/>
          </a:xfrm>
          <a:prstGeom prst="roundRect">
            <a:avLst>
              <a:gd fmla="val 20000" name="adj"/>
            </a:avLst>
          </a:prstGeom>
          <a:solidFill>
            <a:srgbClr val="EFF6FF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33"/>
          <p:cNvSpPr/>
          <p:nvPr/>
        </p:nvSpPr>
        <p:spPr>
          <a:xfrm>
            <a:off x="914400" y="1078992"/>
            <a:ext cx="329184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20"/>
              <a:buFont typeface="Arial"/>
              <a:buNone/>
            </a:pPr>
            <a:r>
              <a:rPr b="1" i="0" lang="en" sz="12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Define the component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33"/>
          <p:cNvSpPr/>
          <p:nvPr/>
        </p:nvSpPr>
        <p:spPr>
          <a:xfrm>
            <a:off x="822960" y="1463040"/>
            <a:ext cx="3474720" cy="804672"/>
          </a:xfrm>
          <a:prstGeom prst="roundRect">
            <a:avLst>
              <a:gd fmla="val 7955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33"/>
          <p:cNvSpPr/>
          <p:nvPr/>
        </p:nvSpPr>
        <p:spPr>
          <a:xfrm>
            <a:off x="914400" y="1536192"/>
            <a:ext cx="32918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function EpisodeCard() {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// episode card JSX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33"/>
          <p:cNvSpPr/>
          <p:nvPr/>
        </p:nvSpPr>
        <p:spPr>
          <a:xfrm>
            <a:off x="4800600" y="1005840"/>
            <a:ext cx="3474720" cy="320040"/>
          </a:xfrm>
          <a:prstGeom prst="roundRect">
            <a:avLst>
              <a:gd fmla="val 20000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33"/>
          <p:cNvSpPr/>
          <p:nvPr/>
        </p:nvSpPr>
        <p:spPr>
          <a:xfrm>
            <a:off x="4892040" y="1078992"/>
            <a:ext cx="329184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20"/>
              <a:buFont typeface="Arial"/>
              <a:buNone/>
            </a:pPr>
            <a:r>
              <a:rPr b="1" i="0" lang="en" sz="12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Render the component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33"/>
          <p:cNvSpPr/>
          <p:nvPr/>
        </p:nvSpPr>
        <p:spPr>
          <a:xfrm>
            <a:off x="4800600" y="1463040"/>
            <a:ext cx="3474720" cy="1874520"/>
          </a:xfrm>
          <a:prstGeom prst="roundRect">
            <a:avLst>
              <a:gd fmla="val 3415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33"/>
          <p:cNvSpPr/>
          <p:nvPr/>
        </p:nvSpPr>
        <p:spPr>
          <a:xfrm>
            <a:off x="4892040" y="1536192"/>
            <a:ext cx="3291840" cy="17282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9"/>
              <a:buFont typeface="Courier New"/>
              <a:buNone/>
            </a:pPr>
            <a:r>
              <a:rPr b="0" i="0" lang="en" sz="89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function App() {</a:t>
            </a:r>
            <a:endParaRPr b="0" i="0" sz="8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9"/>
              <a:buFont typeface="Courier New"/>
              <a:buNone/>
            </a:pPr>
            <a:r>
              <a:rPr b="0" i="0" lang="en" sz="89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return (</a:t>
            </a:r>
            <a:endParaRPr b="0" i="0" sz="8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9"/>
              <a:buFont typeface="Courier New"/>
              <a:buNone/>
            </a:pPr>
            <a:r>
              <a:rPr b="0" i="0" lang="en" sz="89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&lt;main&gt;</a:t>
            </a:r>
            <a:endParaRPr b="0" i="0" sz="8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9"/>
              <a:buFont typeface="Courier New"/>
              <a:buNone/>
            </a:pPr>
            <a:r>
              <a:rPr b="0" i="0" lang="en" sz="89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&lt;h1&gt;Frontend Frequencies&lt;/h1&gt;</a:t>
            </a:r>
            <a:endParaRPr b="0" i="0" sz="8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90"/>
              <a:buFont typeface="Arial"/>
              <a:buNone/>
            </a:pPr>
            <a:r>
              <a:t/>
            </a:r>
            <a:endParaRPr b="0" i="0" sz="8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9"/>
              <a:buFont typeface="Courier New"/>
              <a:buNone/>
            </a:pPr>
            <a:r>
              <a:rPr b="0" i="0" lang="en" sz="89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&lt;EpisodeCard /&gt;</a:t>
            </a:r>
            <a:endParaRPr b="0" i="0" sz="8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9"/>
              <a:buFont typeface="Courier New"/>
              <a:buNone/>
            </a:pPr>
            <a:r>
              <a:rPr b="0" i="0" lang="en" sz="89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&lt;/main&gt;</a:t>
            </a:r>
            <a:endParaRPr b="0" i="0" sz="8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9"/>
              <a:buFont typeface="Courier New"/>
              <a:buNone/>
            </a:pPr>
            <a:r>
              <a:rPr b="0" i="0" lang="en" sz="89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);</a:t>
            </a:r>
            <a:endParaRPr b="0" i="0" sz="8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9"/>
              <a:buFont typeface="Courier New"/>
              <a:buNone/>
            </a:pPr>
            <a:r>
              <a:rPr b="0" i="0" lang="en" sz="89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8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33"/>
          <p:cNvSpPr/>
          <p:nvPr/>
        </p:nvSpPr>
        <p:spPr>
          <a:xfrm>
            <a:off x="1234440" y="3794760"/>
            <a:ext cx="6675120" cy="475488"/>
          </a:xfrm>
          <a:prstGeom prst="roundRect">
            <a:avLst>
              <a:gd fmla="val 13462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33"/>
          <p:cNvSpPr/>
          <p:nvPr/>
        </p:nvSpPr>
        <p:spPr>
          <a:xfrm>
            <a:off x="1325880" y="3867912"/>
            <a:ext cx="6492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40"/>
              <a:buFont typeface="Arial"/>
              <a:buNone/>
            </a:pPr>
            <a:r>
              <a:rPr b="0" i="0" lang="en" sz="114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function EpisodeCard() defines the component.</a:t>
            </a:r>
            <a:endParaRPr b="0" i="0" sz="11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40"/>
              <a:buFont typeface="Arial"/>
              <a:buNone/>
            </a:pPr>
            <a:r>
              <a:rPr b="0" i="0" lang="en" sz="114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&lt;EpisodeCard /&gt; tells React to render it here.</a:t>
            </a:r>
            <a:endParaRPr b="0" i="0" sz="11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4"/>
          <p:cNvSpPr/>
          <p:nvPr/>
        </p:nvSpPr>
        <p:spPr>
          <a:xfrm>
            <a:off x="548640" y="365760"/>
            <a:ext cx="6629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Splitting the UI into components can leave the page unchanged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34"/>
          <p:cNvSpPr/>
          <p:nvPr/>
        </p:nvSpPr>
        <p:spPr>
          <a:xfrm>
            <a:off x="777240" y="1097280"/>
            <a:ext cx="3108960" cy="914400"/>
          </a:xfrm>
          <a:prstGeom prst="roundRect">
            <a:avLst>
              <a:gd fmla="val 8000" name="adj"/>
            </a:avLst>
          </a:prstGeom>
          <a:solidFill>
            <a:srgbClr val="EFF6FF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34"/>
          <p:cNvSpPr/>
          <p:nvPr/>
        </p:nvSpPr>
        <p:spPr>
          <a:xfrm>
            <a:off x="886968" y="1188720"/>
            <a:ext cx="288950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Before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34"/>
          <p:cNvSpPr/>
          <p:nvPr/>
        </p:nvSpPr>
        <p:spPr>
          <a:xfrm>
            <a:off x="886968" y="1499616"/>
            <a:ext cx="288950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App contains the episode-card markup directly.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34"/>
          <p:cNvSpPr/>
          <p:nvPr/>
        </p:nvSpPr>
        <p:spPr>
          <a:xfrm>
            <a:off x="777240" y="2331720"/>
            <a:ext cx="3108960" cy="1051560"/>
          </a:xfrm>
          <a:prstGeom prst="roundRect">
            <a:avLst>
              <a:gd fmla="val 6957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34"/>
          <p:cNvSpPr/>
          <p:nvPr/>
        </p:nvSpPr>
        <p:spPr>
          <a:xfrm>
            <a:off x="886968" y="2423160"/>
            <a:ext cx="288950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After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34"/>
          <p:cNvSpPr/>
          <p:nvPr/>
        </p:nvSpPr>
        <p:spPr>
          <a:xfrm>
            <a:off x="886968" y="2734056"/>
            <a:ext cx="2889504" cy="557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EpisodeCard contains the episode-card markup.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App renders &lt;EpisodeCard /&gt;.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34"/>
          <p:cNvSpPr/>
          <p:nvPr/>
        </p:nvSpPr>
        <p:spPr>
          <a:xfrm>
            <a:off x="4709160" y="1234440"/>
            <a:ext cx="3063240" cy="1572768"/>
          </a:xfrm>
          <a:prstGeom prst="roundRect">
            <a:avLst>
              <a:gd fmla="val 3488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34"/>
          <p:cNvSpPr/>
          <p:nvPr/>
        </p:nvSpPr>
        <p:spPr>
          <a:xfrm>
            <a:off x="4709160" y="1234440"/>
            <a:ext cx="3063240" cy="237744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34"/>
          <p:cNvSpPr/>
          <p:nvPr/>
        </p:nvSpPr>
        <p:spPr>
          <a:xfrm>
            <a:off x="4818888" y="1280160"/>
            <a:ext cx="284378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Browser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34"/>
          <p:cNvSpPr/>
          <p:nvPr/>
        </p:nvSpPr>
        <p:spPr>
          <a:xfrm>
            <a:off x="4837176" y="1581912"/>
            <a:ext cx="2807208" cy="11521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JavaScript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Tracing an async bug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34 min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34"/>
          <p:cNvSpPr/>
          <p:nvPr/>
        </p:nvSpPr>
        <p:spPr>
          <a:xfrm>
            <a:off x="4709160" y="3246120"/>
            <a:ext cx="3063240" cy="658368"/>
          </a:xfrm>
          <a:prstGeom prst="roundRect">
            <a:avLst>
              <a:gd fmla="val 9722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34"/>
          <p:cNvSpPr/>
          <p:nvPr/>
        </p:nvSpPr>
        <p:spPr>
          <a:xfrm>
            <a:off x="4800600" y="3319272"/>
            <a:ext cx="28803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40"/>
              <a:buFont typeface="Arial"/>
              <a:buNone/>
            </a:pPr>
            <a:r>
              <a:rPr b="0" i="0" lang="en" sz="114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The source structure has changed.</a:t>
            </a:r>
            <a:endParaRPr b="0" i="0" sz="11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40"/>
              <a:buFont typeface="Arial"/>
              <a:buNone/>
            </a:pPr>
            <a:r>
              <a:rPr b="0" i="0" lang="en" sz="114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The visible episode has not.</a:t>
            </a:r>
            <a:endParaRPr b="0" i="0" sz="11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5"/>
          <p:cNvSpPr/>
          <p:nvPr/>
        </p:nvSpPr>
        <p:spPr>
          <a:xfrm>
            <a:off x="548640" y="365760"/>
            <a:ext cx="6629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Checkpoint: Where is the component defined and used?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35"/>
          <p:cNvSpPr/>
          <p:nvPr/>
        </p:nvSpPr>
        <p:spPr>
          <a:xfrm>
            <a:off x="685800" y="950976"/>
            <a:ext cx="3794760" cy="2560320"/>
          </a:xfrm>
          <a:prstGeom prst="roundRect">
            <a:avLst>
              <a:gd fmla="val 2500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35"/>
          <p:cNvSpPr/>
          <p:nvPr/>
        </p:nvSpPr>
        <p:spPr>
          <a:xfrm>
            <a:off x="777240" y="1024128"/>
            <a:ext cx="3611880" cy="24140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20"/>
              <a:buFont typeface="Courier New"/>
              <a:buNone/>
            </a:pPr>
            <a:r>
              <a:rPr b="0" i="0" lang="en" sz="9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function SessionCard() {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20"/>
              <a:buFont typeface="Courier New"/>
              <a:buNone/>
            </a:pPr>
            <a:r>
              <a:rPr b="0" i="0" lang="en" sz="9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return (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20"/>
              <a:buFont typeface="Courier New"/>
              <a:buNone/>
            </a:pPr>
            <a:r>
              <a:rPr b="0" i="0" lang="en" sz="9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&lt;article&gt;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20"/>
              <a:buFont typeface="Courier New"/>
              <a:buNone/>
            </a:pPr>
            <a:r>
              <a:rPr b="0" i="0" lang="en" sz="9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React review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20"/>
              <a:buFont typeface="Courier New"/>
              <a:buNone/>
            </a:pPr>
            <a:r>
              <a:rPr b="0" i="0" lang="en" sz="9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&lt;/article&gt;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20"/>
              <a:buFont typeface="Courier New"/>
              <a:buNone/>
            </a:pPr>
            <a:r>
              <a:rPr b="0" i="0" lang="en" sz="9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);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20"/>
              <a:buFont typeface="Courier New"/>
              <a:buNone/>
            </a:pPr>
            <a:r>
              <a:rPr b="0" i="0" lang="en" sz="9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20"/>
              <a:buFont typeface="Arial"/>
              <a:buNone/>
            </a:pPr>
            <a:r>
              <a:t/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20"/>
              <a:buFont typeface="Courier New"/>
              <a:buNone/>
            </a:pPr>
            <a:r>
              <a:rPr b="0" i="0" lang="en" sz="9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function App() {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20"/>
              <a:buFont typeface="Courier New"/>
              <a:buNone/>
            </a:pPr>
            <a:r>
              <a:rPr b="0" i="0" lang="en" sz="9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return &lt;SessionCard /&gt;;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20"/>
              <a:buFont typeface="Courier New"/>
              <a:buNone/>
            </a:pPr>
            <a:r>
              <a:rPr b="0" i="0" lang="en" sz="9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35"/>
          <p:cNvSpPr/>
          <p:nvPr/>
        </p:nvSpPr>
        <p:spPr>
          <a:xfrm>
            <a:off x="4800600" y="960120"/>
            <a:ext cx="3474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40"/>
              <a:buFont typeface="Arial"/>
              <a:buNone/>
            </a:pPr>
            <a:r>
              <a:rPr b="0" i="0" lang="en" sz="124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Which statement is correct?</a:t>
            </a:r>
            <a:endParaRPr b="0" i="0" sz="12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35"/>
          <p:cNvSpPr/>
          <p:nvPr/>
        </p:nvSpPr>
        <p:spPr>
          <a:xfrm>
            <a:off x="4800600" y="1481328"/>
            <a:ext cx="3566160" cy="212140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A. return &lt;article&gt;...&lt;/article&gt; renders SessionCard inside App.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20"/>
              <a:buFont typeface="Arial"/>
              <a:buNone/>
            </a:pPr>
            <a:r>
              <a:t/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B. function SessionCard() defines the component, and &lt;SessionCard /&gt; renders it from App.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20"/>
              <a:buFont typeface="Arial"/>
              <a:buNone/>
            </a:pPr>
            <a:r>
              <a:t/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C. SessionCard should begin with a lowercase letter because HTML tags use lowercase names.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20"/>
              <a:buFont typeface="Arial"/>
              <a:buNone/>
            </a:pPr>
            <a:r>
              <a:t/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D. A component without props can only be rendered once.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35"/>
          <p:cNvSpPr/>
          <p:nvPr/>
        </p:nvSpPr>
        <p:spPr>
          <a:xfrm>
            <a:off x="685800" y="4078224"/>
            <a:ext cx="6903720" cy="749808"/>
          </a:xfrm>
          <a:prstGeom prst="roundRect">
            <a:avLst>
              <a:gd fmla="val 9756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35"/>
          <p:cNvSpPr/>
          <p:nvPr/>
        </p:nvSpPr>
        <p:spPr>
          <a:xfrm>
            <a:off x="804672" y="4151376"/>
            <a:ext cx="66294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70"/>
              <a:buFont typeface="Arial"/>
              <a:buNone/>
            </a:pPr>
            <a:r>
              <a:rPr b="0" i="0" lang="en" sz="10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Answer: B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70"/>
              <a:buFont typeface="Arial"/>
              <a:buNone/>
            </a:pPr>
            <a:r>
              <a:rPr b="0" i="0" lang="en" sz="10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Why: function SessionCard() defines the custom component. &lt;SessionCard /&gt; uses that component inside the JSX returned by App.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6"/>
          <p:cNvSpPr/>
          <p:nvPr/>
        </p:nvSpPr>
        <p:spPr>
          <a:xfrm>
            <a:off x="1280160" y="1993392"/>
            <a:ext cx="658368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550"/>
              <a:buFont typeface="Arial"/>
              <a:buNone/>
            </a:pPr>
            <a:r>
              <a:rPr b="0" i="0" lang="en" sz="25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Props and reusable components</a:t>
            </a:r>
            <a:endParaRPr b="0" i="0" sz="2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36"/>
          <p:cNvSpPr/>
          <p:nvPr/>
        </p:nvSpPr>
        <p:spPr>
          <a:xfrm>
            <a:off x="1554480" y="2615184"/>
            <a:ext cx="6035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30"/>
              <a:buFont typeface="Arial"/>
              <a:buNone/>
            </a:pPr>
            <a:r>
              <a:rPr b="0" i="0" lang="en" sz="123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Supply data to a component, check that data with TypeScript, and reuse it with different values.</a:t>
            </a:r>
            <a:endParaRPr b="0" i="0" sz="12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7"/>
          <p:cNvSpPr/>
          <p:nvPr/>
        </p:nvSpPr>
        <p:spPr>
          <a:xfrm>
            <a:off x="548640" y="365760"/>
            <a:ext cx="6629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Props let a parent supply data to a component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37"/>
          <p:cNvSpPr/>
          <p:nvPr/>
        </p:nvSpPr>
        <p:spPr>
          <a:xfrm>
            <a:off x="731520" y="914400"/>
            <a:ext cx="7680960" cy="384048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37"/>
          <p:cNvSpPr/>
          <p:nvPr/>
        </p:nvSpPr>
        <p:spPr>
          <a:xfrm>
            <a:off x="822960" y="987552"/>
            <a:ext cx="74980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30"/>
              <a:buFont typeface="Arial"/>
              <a:buNone/>
            </a:pPr>
            <a:r>
              <a:rPr b="0" i="0" lang="en" sz="123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Props are inputs supplied to a component when it is rendered.</a:t>
            </a:r>
            <a:endParaRPr b="0" i="0" sz="12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37"/>
          <p:cNvSpPr/>
          <p:nvPr/>
        </p:nvSpPr>
        <p:spPr>
          <a:xfrm>
            <a:off x="685800" y="1691640"/>
            <a:ext cx="2103120" cy="868680"/>
          </a:xfrm>
          <a:prstGeom prst="roundRect">
            <a:avLst>
              <a:gd fmla="val 7368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37"/>
          <p:cNvSpPr/>
          <p:nvPr/>
        </p:nvSpPr>
        <p:spPr>
          <a:xfrm>
            <a:off x="777240" y="1764792"/>
            <a:ext cx="1920240" cy="7223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&lt;EpisodeCard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title="Tracing an async bug"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37"/>
          <p:cNvSpPr/>
          <p:nvPr/>
        </p:nvSpPr>
        <p:spPr>
          <a:xfrm>
            <a:off x="3154680" y="1645920"/>
            <a:ext cx="1874520" cy="960120"/>
          </a:xfrm>
          <a:prstGeom prst="roundRect">
            <a:avLst>
              <a:gd fmla="val 6667" name="adj"/>
            </a:avLst>
          </a:prstGeom>
          <a:solidFill>
            <a:srgbClr val="FEF9C3"/>
          </a:solidFill>
          <a:ln cap="flat" cmpd="sng" w="12700">
            <a:solidFill>
              <a:srgbClr val="FACC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37"/>
          <p:cNvSpPr/>
          <p:nvPr/>
        </p:nvSpPr>
        <p:spPr>
          <a:xfrm>
            <a:off x="3246120" y="1719072"/>
            <a:ext cx="1691640" cy="8138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80"/>
              <a:buFont typeface="Arial"/>
              <a:buNone/>
            </a:pPr>
            <a:r>
              <a:rPr b="0" i="0" lang="en" sz="10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Prop value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80"/>
              <a:buFont typeface="Arial"/>
              <a:buNone/>
            </a:pPr>
            <a:r>
              <a:rPr b="0" i="0" lang="en" sz="10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title="Tracing an async bug"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37"/>
          <p:cNvSpPr/>
          <p:nvPr/>
        </p:nvSpPr>
        <p:spPr>
          <a:xfrm>
            <a:off x="5440680" y="1627632"/>
            <a:ext cx="1828800" cy="987552"/>
          </a:xfrm>
          <a:prstGeom prst="roundRect">
            <a:avLst>
              <a:gd fmla="val 6481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37"/>
          <p:cNvSpPr/>
          <p:nvPr/>
        </p:nvSpPr>
        <p:spPr>
          <a:xfrm>
            <a:off x="5532120" y="1700784"/>
            <a:ext cx="164592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80"/>
              <a:buFont typeface="Arial"/>
              <a:buNone/>
            </a:pPr>
            <a:r>
              <a:rPr b="0" i="0" lang="en" sz="10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EpisodeCard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80"/>
              <a:buFont typeface="Arial"/>
              <a:buNone/>
            </a:pPr>
            <a:r>
              <a:rPr b="0" i="0" lang="en" sz="10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receives the value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80"/>
              <a:buFont typeface="Arial"/>
              <a:buNone/>
            </a:pPr>
            <a:r>
              <a:rPr b="0" i="0" lang="en" sz="10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through its props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37"/>
          <p:cNvSpPr/>
          <p:nvPr/>
        </p:nvSpPr>
        <p:spPr>
          <a:xfrm>
            <a:off x="7543800" y="1645920"/>
            <a:ext cx="1143000" cy="96012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37"/>
          <p:cNvSpPr/>
          <p:nvPr/>
        </p:nvSpPr>
        <p:spPr>
          <a:xfrm>
            <a:off x="7543800" y="1645920"/>
            <a:ext cx="1143000" cy="237744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37"/>
          <p:cNvSpPr/>
          <p:nvPr/>
        </p:nvSpPr>
        <p:spPr>
          <a:xfrm>
            <a:off x="7653528" y="1691640"/>
            <a:ext cx="92354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Rendered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37"/>
          <p:cNvSpPr/>
          <p:nvPr/>
        </p:nvSpPr>
        <p:spPr>
          <a:xfrm>
            <a:off x="7671816" y="1993392"/>
            <a:ext cx="886968" cy="5394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Tracing an async bug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8" name="Google Shape;358;p37"/>
          <p:cNvCxnSpPr/>
          <p:nvPr/>
        </p:nvCxnSpPr>
        <p:spPr>
          <a:xfrm>
            <a:off x="2788920" y="2121408"/>
            <a:ext cx="365760" cy="0"/>
          </a:xfrm>
          <a:prstGeom prst="straightConnector1">
            <a:avLst/>
          </a:prstGeom>
          <a:noFill/>
          <a:ln cap="flat" cmpd="sng" w="15225">
            <a:solidFill>
              <a:srgbClr val="6B728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59" name="Google Shape;359;p37"/>
          <p:cNvCxnSpPr/>
          <p:nvPr/>
        </p:nvCxnSpPr>
        <p:spPr>
          <a:xfrm>
            <a:off x="5029200" y="2121408"/>
            <a:ext cx="411480" cy="0"/>
          </a:xfrm>
          <a:prstGeom prst="straightConnector1">
            <a:avLst/>
          </a:prstGeom>
          <a:noFill/>
          <a:ln cap="flat" cmpd="sng" w="15225">
            <a:solidFill>
              <a:srgbClr val="6B728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60" name="Google Shape;360;p37"/>
          <p:cNvCxnSpPr/>
          <p:nvPr/>
        </p:nvCxnSpPr>
        <p:spPr>
          <a:xfrm>
            <a:off x="7269480" y="2121408"/>
            <a:ext cx="274320" cy="0"/>
          </a:xfrm>
          <a:prstGeom prst="straightConnector1">
            <a:avLst/>
          </a:prstGeom>
          <a:noFill/>
          <a:ln cap="flat" cmpd="sng" w="15225">
            <a:solidFill>
              <a:srgbClr val="6B728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61" name="Google Shape;361;p37"/>
          <p:cNvSpPr/>
          <p:nvPr/>
        </p:nvSpPr>
        <p:spPr>
          <a:xfrm>
            <a:off x="1097280" y="3337560"/>
            <a:ext cx="6949440" cy="566928"/>
          </a:xfrm>
          <a:prstGeom prst="roundRect">
            <a:avLst>
              <a:gd fmla="val 11290" name="adj"/>
            </a:avLst>
          </a:prstGeom>
          <a:solidFill>
            <a:srgbClr val="EFF6FF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37"/>
          <p:cNvSpPr/>
          <p:nvPr/>
        </p:nvSpPr>
        <p:spPr>
          <a:xfrm>
            <a:off x="1188720" y="3410712"/>
            <a:ext cx="67665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20"/>
              <a:buFont typeface="Arial"/>
              <a:buNone/>
            </a:pPr>
            <a:r>
              <a:rPr b="0" i="0" lang="en" sz="11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Function arguments supply input to a function.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20"/>
              <a:buFont typeface="Arial"/>
              <a:buNone/>
            </a:pPr>
            <a:r>
              <a:rPr b="0" i="0" lang="en" sz="11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Props supply input to a React component.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8"/>
          <p:cNvSpPr/>
          <p:nvPr/>
        </p:nvSpPr>
        <p:spPr>
          <a:xfrm>
            <a:off x="548640" y="365760"/>
            <a:ext cx="6629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Pass the first typed prop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38"/>
          <p:cNvSpPr/>
          <p:nvPr/>
        </p:nvSpPr>
        <p:spPr>
          <a:xfrm>
            <a:off x="685800" y="960120"/>
            <a:ext cx="2377440" cy="292608"/>
          </a:xfrm>
          <a:prstGeom prst="roundRect">
            <a:avLst>
              <a:gd fmla="val 21875" name="adj"/>
            </a:avLst>
          </a:prstGeom>
          <a:solidFill>
            <a:srgbClr val="EFF6FF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38"/>
          <p:cNvSpPr/>
          <p:nvPr/>
        </p:nvSpPr>
        <p:spPr>
          <a:xfrm>
            <a:off x="777240" y="1033272"/>
            <a:ext cx="21945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60"/>
              <a:buFont typeface="Arial"/>
              <a:buNone/>
            </a:pPr>
            <a:r>
              <a:rPr b="1" i="0" lang="en" sz="11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1. Describe the input</a:t>
            </a:r>
            <a:endParaRPr b="0" i="0" sz="11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38"/>
          <p:cNvSpPr/>
          <p:nvPr/>
        </p:nvSpPr>
        <p:spPr>
          <a:xfrm>
            <a:off x="685800" y="1371600"/>
            <a:ext cx="2377440" cy="713232"/>
          </a:xfrm>
          <a:prstGeom prst="roundRect">
            <a:avLst>
              <a:gd fmla="val 8974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38"/>
          <p:cNvSpPr/>
          <p:nvPr/>
        </p:nvSpPr>
        <p:spPr>
          <a:xfrm>
            <a:off x="777240" y="1444752"/>
            <a:ext cx="21945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0"/>
              <a:buFont typeface="Courier New"/>
              <a:buNone/>
            </a:pPr>
            <a:r>
              <a:rPr b="0" i="0" lang="en" sz="97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type EpisodeCardProps = {</a:t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0"/>
              <a:buFont typeface="Courier New"/>
              <a:buNone/>
            </a:pPr>
            <a:r>
              <a:rPr b="0" i="0" lang="en" sz="97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title: string;</a:t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0"/>
              <a:buFont typeface="Courier New"/>
              <a:buNone/>
            </a:pPr>
            <a:r>
              <a:rPr b="0" i="0" lang="en" sz="97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38"/>
          <p:cNvSpPr/>
          <p:nvPr/>
        </p:nvSpPr>
        <p:spPr>
          <a:xfrm>
            <a:off x="3273552" y="960120"/>
            <a:ext cx="2514600" cy="292608"/>
          </a:xfrm>
          <a:prstGeom prst="roundRect">
            <a:avLst>
              <a:gd fmla="val 21875" name="adj"/>
            </a:avLst>
          </a:prstGeom>
          <a:solidFill>
            <a:srgbClr val="EFF6FF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38"/>
          <p:cNvSpPr/>
          <p:nvPr/>
        </p:nvSpPr>
        <p:spPr>
          <a:xfrm>
            <a:off x="3364992" y="1033272"/>
            <a:ext cx="23317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60"/>
              <a:buFont typeface="Arial"/>
              <a:buNone/>
            </a:pPr>
            <a:r>
              <a:rPr b="1" i="0" lang="en" sz="11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2. Receive and render it</a:t>
            </a:r>
            <a:endParaRPr b="0" i="0" sz="11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38"/>
          <p:cNvSpPr/>
          <p:nvPr/>
        </p:nvSpPr>
        <p:spPr>
          <a:xfrm>
            <a:off x="3273552" y="1371600"/>
            <a:ext cx="2514600" cy="1417320"/>
          </a:xfrm>
          <a:prstGeom prst="roundRect">
            <a:avLst>
              <a:gd fmla="val 4516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38"/>
          <p:cNvSpPr/>
          <p:nvPr/>
        </p:nvSpPr>
        <p:spPr>
          <a:xfrm>
            <a:off x="3364992" y="1444752"/>
            <a:ext cx="2331720" cy="12710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urier New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function EpisodeCard(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urier New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props: EpisodeCardProps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urier New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urier New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return (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urier New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&lt;h2&gt;{props.title}&lt;/h2&gt;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urier New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);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urier New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38"/>
          <p:cNvSpPr/>
          <p:nvPr/>
        </p:nvSpPr>
        <p:spPr>
          <a:xfrm>
            <a:off x="5925312" y="960120"/>
            <a:ext cx="2633472" cy="292608"/>
          </a:xfrm>
          <a:prstGeom prst="roundRect">
            <a:avLst>
              <a:gd fmla="val 21875" name="adj"/>
            </a:avLst>
          </a:prstGeom>
          <a:solidFill>
            <a:srgbClr val="EFF6FF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38"/>
          <p:cNvSpPr/>
          <p:nvPr/>
        </p:nvSpPr>
        <p:spPr>
          <a:xfrm>
            <a:off x="6016752" y="1033272"/>
            <a:ext cx="245059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60"/>
              <a:buFont typeface="Arial"/>
              <a:buNone/>
            </a:pPr>
            <a:r>
              <a:rPr b="1" i="0" lang="en" sz="11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3. Supply the value</a:t>
            </a:r>
            <a:endParaRPr b="0" i="0" sz="11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38"/>
          <p:cNvSpPr/>
          <p:nvPr/>
        </p:nvSpPr>
        <p:spPr>
          <a:xfrm>
            <a:off x="5925312" y="1371600"/>
            <a:ext cx="2633472" cy="768096"/>
          </a:xfrm>
          <a:prstGeom prst="roundRect">
            <a:avLst>
              <a:gd fmla="val 8333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38"/>
          <p:cNvSpPr/>
          <p:nvPr/>
        </p:nvSpPr>
        <p:spPr>
          <a:xfrm>
            <a:off x="6016752" y="1444752"/>
            <a:ext cx="24505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Courier New"/>
              <a:buNone/>
            </a:pPr>
            <a:r>
              <a:rPr b="0" i="0" lang="en" sz="8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&lt;EpisodeCard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Courier New"/>
              <a:buNone/>
            </a:pPr>
            <a:r>
              <a:rPr b="0" i="0" lang="en" sz="8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title="Tracing an async bug"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Courier New"/>
              <a:buNone/>
            </a:pPr>
            <a:r>
              <a:rPr b="0" i="0" lang="en" sz="8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38"/>
          <p:cNvSpPr/>
          <p:nvPr/>
        </p:nvSpPr>
        <p:spPr>
          <a:xfrm>
            <a:off x="1143000" y="3246120"/>
            <a:ext cx="6858000" cy="438912"/>
          </a:xfrm>
          <a:prstGeom prst="roundRect">
            <a:avLst>
              <a:gd fmla="val 14583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38"/>
          <p:cNvSpPr/>
          <p:nvPr/>
        </p:nvSpPr>
        <p:spPr>
          <a:xfrm>
            <a:off x="1234440" y="3319272"/>
            <a:ext cx="6675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The value supplied by App becomes props.title inside EpisodeCard.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38"/>
          <p:cNvSpPr/>
          <p:nvPr/>
        </p:nvSpPr>
        <p:spPr>
          <a:xfrm>
            <a:off x="3246120" y="3913632"/>
            <a:ext cx="2651760" cy="502920"/>
          </a:xfrm>
          <a:prstGeom prst="roundRect">
            <a:avLst>
              <a:gd fmla="val 10909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38"/>
          <p:cNvSpPr/>
          <p:nvPr/>
        </p:nvSpPr>
        <p:spPr>
          <a:xfrm>
            <a:off x="3246120" y="3913632"/>
            <a:ext cx="2651760" cy="237744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38"/>
          <p:cNvSpPr/>
          <p:nvPr/>
        </p:nvSpPr>
        <p:spPr>
          <a:xfrm>
            <a:off x="3355848" y="3959352"/>
            <a:ext cx="2432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Browser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38"/>
          <p:cNvSpPr/>
          <p:nvPr/>
        </p:nvSpPr>
        <p:spPr>
          <a:xfrm>
            <a:off x="3374136" y="4261104"/>
            <a:ext cx="2395728" cy="82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Tracing an async bug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9"/>
          <p:cNvSpPr/>
          <p:nvPr/>
        </p:nvSpPr>
        <p:spPr>
          <a:xfrm>
            <a:off x="548640" y="365760"/>
            <a:ext cx="6629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EpisodeCardProps tells TypeScript which input is required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39"/>
          <p:cNvSpPr/>
          <p:nvPr/>
        </p:nvSpPr>
        <p:spPr>
          <a:xfrm>
            <a:off x="777240" y="1143000"/>
            <a:ext cx="3063240" cy="841248"/>
          </a:xfrm>
          <a:prstGeom prst="roundRect">
            <a:avLst>
              <a:gd fmla="val 7609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39"/>
          <p:cNvSpPr/>
          <p:nvPr/>
        </p:nvSpPr>
        <p:spPr>
          <a:xfrm>
            <a:off x="868680" y="1216152"/>
            <a:ext cx="2880360" cy="694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type EpisodeCardProps = {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title: string;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39"/>
          <p:cNvSpPr/>
          <p:nvPr/>
        </p:nvSpPr>
        <p:spPr>
          <a:xfrm>
            <a:off x="4343400" y="1060704"/>
            <a:ext cx="1828800" cy="749808"/>
          </a:xfrm>
          <a:prstGeom prst="roundRect">
            <a:avLst>
              <a:gd fmla="val 9756" name="adj"/>
            </a:avLst>
          </a:prstGeom>
          <a:solidFill>
            <a:srgbClr val="EFF6FF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39"/>
          <p:cNvSpPr/>
          <p:nvPr/>
        </p:nvSpPr>
        <p:spPr>
          <a:xfrm>
            <a:off x="4453128" y="1152144"/>
            <a:ext cx="160934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title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39"/>
          <p:cNvSpPr/>
          <p:nvPr/>
        </p:nvSpPr>
        <p:spPr>
          <a:xfrm>
            <a:off x="4453128" y="1463040"/>
            <a:ext cx="16093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The property the component expects.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39"/>
          <p:cNvSpPr/>
          <p:nvPr/>
        </p:nvSpPr>
        <p:spPr>
          <a:xfrm>
            <a:off x="6446520" y="1060704"/>
            <a:ext cx="1828800" cy="749808"/>
          </a:xfrm>
          <a:prstGeom prst="roundRect">
            <a:avLst>
              <a:gd fmla="val 9756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9"/>
          <p:cNvSpPr/>
          <p:nvPr/>
        </p:nvSpPr>
        <p:spPr>
          <a:xfrm>
            <a:off x="6556248" y="1152144"/>
            <a:ext cx="160934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string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39"/>
          <p:cNvSpPr/>
          <p:nvPr/>
        </p:nvSpPr>
        <p:spPr>
          <a:xfrm>
            <a:off x="6556248" y="1463040"/>
            <a:ext cx="16093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The type of value the property accepts.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39"/>
          <p:cNvSpPr/>
          <p:nvPr/>
        </p:nvSpPr>
        <p:spPr>
          <a:xfrm>
            <a:off x="777240" y="2468880"/>
            <a:ext cx="3063240" cy="1051560"/>
          </a:xfrm>
          <a:prstGeom prst="roundRect">
            <a:avLst>
              <a:gd fmla="val 6087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9"/>
          <p:cNvSpPr/>
          <p:nvPr/>
        </p:nvSpPr>
        <p:spPr>
          <a:xfrm>
            <a:off x="868680" y="2542032"/>
            <a:ext cx="2880360" cy="905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function EpisodeCard(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props: EpisodeCardProps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// ...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39"/>
          <p:cNvSpPr/>
          <p:nvPr/>
        </p:nvSpPr>
        <p:spPr>
          <a:xfrm>
            <a:off x="4343400" y="2441448"/>
            <a:ext cx="3931920" cy="713232"/>
          </a:xfrm>
          <a:prstGeom prst="roundRect">
            <a:avLst>
              <a:gd fmla="val 8974" name="adj"/>
            </a:avLst>
          </a:prstGeom>
          <a:solidFill>
            <a:srgbClr val="FEF9C3"/>
          </a:solidFill>
          <a:ln cap="flat" cmpd="sng" w="12700">
            <a:solidFill>
              <a:srgbClr val="FACC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39"/>
          <p:cNvSpPr/>
          <p:nvPr/>
        </p:nvSpPr>
        <p:spPr>
          <a:xfrm>
            <a:off x="4434840" y="2514600"/>
            <a:ext cx="3749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props: EpisodeCardProps tells TypeScript to check the incoming props against that shape.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39"/>
          <p:cNvSpPr/>
          <p:nvPr/>
        </p:nvSpPr>
        <p:spPr>
          <a:xfrm>
            <a:off x="4343400" y="3401568"/>
            <a:ext cx="3931920" cy="502920"/>
          </a:xfrm>
          <a:prstGeom prst="roundRect">
            <a:avLst>
              <a:gd fmla="val 12727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39"/>
          <p:cNvSpPr/>
          <p:nvPr/>
        </p:nvSpPr>
        <p:spPr>
          <a:xfrm>
            <a:off x="4434840" y="3474720"/>
            <a:ext cx="3749040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80"/>
              <a:buFont typeface="Arial"/>
              <a:buNone/>
            </a:pPr>
            <a:r>
              <a:rPr b="0" i="0" lang="en" sz="10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This applies the TypeScript object-shape idea to React component input.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0"/>
          <p:cNvSpPr/>
          <p:nvPr/>
        </p:nvSpPr>
        <p:spPr>
          <a:xfrm>
            <a:off x="548640" y="365760"/>
            <a:ext cx="6629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Pass the complete episode data through props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40"/>
          <p:cNvSpPr/>
          <p:nvPr/>
        </p:nvSpPr>
        <p:spPr>
          <a:xfrm>
            <a:off x="594360" y="960120"/>
            <a:ext cx="2606040" cy="274320"/>
          </a:xfrm>
          <a:prstGeom prst="roundRect">
            <a:avLst>
              <a:gd fmla="val 23333" name="adj"/>
            </a:avLst>
          </a:prstGeom>
          <a:solidFill>
            <a:srgbClr val="EFF6FF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40"/>
          <p:cNvSpPr/>
          <p:nvPr/>
        </p:nvSpPr>
        <p:spPr>
          <a:xfrm>
            <a:off x="685800" y="1033272"/>
            <a:ext cx="242316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20"/>
              <a:buFont typeface="Arial"/>
              <a:buNone/>
            </a:pPr>
            <a:r>
              <a:rPr b="1" i="0" lang="en" sz="12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Define input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40"/>
          <p:cNvSpPr/>
          <p:nvPr/>
        </p:nvSpPr>
        <p:spPr>
          <a:xfrm>
            <a:off x="594360" y="1307592"/>
            <a:ext cx="2606040" cy="1005840"/>
          </a:xfrm>
          <a:prstGeom prst="roundRect">
            <a:avLst>
              <a:gd fmla="val 6364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40"/>
          <p:cNvSpPr/>
          <p:nvPr/>
        </p:nvSpPr>
        <p:spPr>
          <a:xfrm>
            <a:off x="685800" y="1380744"/>
            <a:ext cx="2423160" cy="8595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Courier New"/>
              <a:buNone/>
            </a:pPr>
            <a:r>
              <a:rPr b="0" i="0" lang="en" sz="8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type EpisodeCardProps = {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Courier New"/>
              <a:buNone/>
            </a:pPr>
            <a:r>
              <a:rPr b="0" i="0" lang="en" sz="8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title: string;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Courier New"/>
              <a:buNone/>
            </a:pPr>
            <a:r>
              <a:rPr b="0" i="0" lang="en" sz="8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topic: string;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Courier New"/>
              <a:buNone/>
            </a:pPr>
            <a:r>
              <a:rPr b="0" i="0" lang="en" sz="8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duration: number;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Courier New"/>
              <a:buNone/>
            </a:pPr>
            <a:r>
              <a:rPr b="0" i="0" lang="en" sz="8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40"/>
          <p:cNvSpPr/>
          <p:nvPr/>
        </p:nvSpPr>
        <p:spPr>
          <a:xfrm>
            <a:off x="3429000" y="960120"/>
            <a:ext cx="2606040" cy="274320"/>
          </a:xfrm>
          <a:prstGeom prst="roundRect">
            <a:avLst>
              <a:gd fmla="val 23333" name="adj"/>
            </a:avLst>
          </a:prstGeom>
          <a:solidFill>
            <a:srgbClr val="EFF6FF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40"/>
          <p:cNvSpPr/>
          <p:nvPr/>
        </p:nvSpPr>
        <p:spPr>
          <a:xfrm>
            <a:off x="3520440" y="1033272"/>
            <a:ext cx="242316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20"/>
              <a:buFont typeface="Arial"/>
              <a:buNone/>
            </a:pPr>
            <a:r>
              <a:rPr b="1" i="0" lang="en" sz="12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Pass values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40"/>
          <p:cNvSpPr/>
          <p:nvPr/>
        </p:nvSpPr>
        <p:spPr>
          <a:xfrm>
            <a:off x="3429000" y="1307592"/>
            <a:ext cx="2606040" cy="1005840"/>
          </a:xfrm>
          <a:prstGeom prst="roundRect">
            <a:avLst>
              <a:gd fmla="val 6364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40"/>
          <p:cNvSpPr/>
          <p:nvPr/>
        </p:nvSpPr>
        <p:spPr>
          <a:xfrm>
            <a:off x="3520440" y="1380744"/>
            <a:ext cx="2423160" cy="8595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Courier New"/>
              <a:buNone/>
            </a:pPr>
            <a:r>
              <a:rPr b="0" i="0" lang="en" sz="8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&lt;EpisodeCard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Courier New"/>
              <a:buNone/>
            </a:pPr>
            <a:r>
              <a:rPr b="0" i="0" lang="en" sz="8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title="Tracing an async bug"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Courier New"/>
              <a:buNone/>
            </a:pPr>
            <a:r>
              <a:rPr b="0" i="0" lang="en" sz="8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topic="JavaScript"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Courier New"/>
              <a:buNone/>
            </a:pPr>
            <a:r>
              <a:rPr b="0" i="0" lang="en" sz="8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duration={34}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Courier New"/>
              <a:buNone/>
            </a:pPr>
            <a:r>
              <a:rPr b="0" i="0" lang="en" sz="8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40"/>
          <p:cNvSpPr/>
          <p:nvPr/>
        </p:nvSpPr>
        <p:spPr>
          <a:xfrm>
            <a:off x="6263640" y="960120"/>
            <a:ext cx="2423160" cy="274320"/>
          </a:xfrm>
          <a:prstGeom prst="roundRect">
            <a:avLst>
              <a:gd fmla="val 23333" name="adj"/>
            </a:avLst>
          </a:prstGeom>
          <a:solidFill>
            <a:srgbClr val="EFF6FF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40"/>
          <p:cNvSpPr/>
          <p:nvPr/>
        </p:nvSpPr>
        <p:spPr>
          <a:xfrm>
            <a:off x="6355080" y="1033272"/>
            <a:ext cx="22402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20"/>
              <a:buFont typeface="Arial"/>
              <a:buNone/>
            </a:pPr>
            <a:r>
              <a:rPr b="1" i="0" lang="en" sz="12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Render values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40"/>
          <p:cNvSpPr/>
          <p:nvPr/>
        </p:nvSpPr>
        <p:spPr>
          <a:xfrm>
            <a:off x="6263640" y="1307592"/>
            <a:ext cx="2423160" cy="822960"/>
          </a:xfrm>
          <a:prstGeom prst="roundRect">
            <a:avLst>
              <a:gd fmla="val 7778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40"/>
          <p:cNvSpPr/>
          <p:nvPr/>
        </p:nvSpPr>
        <p:spPr>
          <a:xfrm>
            <a:off x="6355080" y="1380744"/>
            <a:ext cx="224028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Courier New"/>
              <a:buNone/>
            </a:pPr>
            <a:r>
              <a:rPr b="0" i="0" lang="en" sz="8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&lt;p&gt;{props.topic}&lt;/p&gt;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Courier New"/>
              <a:buNone/>
            </a:pPr>
            <a:r>
              <a:rPr b="0" i="0" lang="en" sz="8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&lt;h2&gt;{props.title}&lt;/h2&gt;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Courier New"/>
              <a:buNone/>
            </a:pPr>
            <a:r>
              <a:rPr b="0" i="0" lang="en" sz="8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&lt;p&gt;{props.duration} min&lt;/p&gt;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40"/>
          <p:cNvSpPr/>
          <p:nvPr/>
        </p:nvSpPr>
        <p:spPr>
          <a:xfrm>
            <a:off x="3108960" y="2907792"/>
            <a:ext cx="2926080" cy="1051560"/>
          </a:xfrm>
          <a:prstGeom prst="roundRect">
            <a:avLst>
              <a:gd fmla="val 521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40"/>
          <p:cNvSpPr/>
          <p:nvPr/>
        </p:nvSpPr>
        <p:spPr>
          <a:xfrm>
            <a:off x="3108960" y="2907792"/>
            <a:ext cx="2926080" cy="237744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40"/>
          <p:cNvSpPr/>
          <p:nvPr/>
        </p:nvSpPr>
        <p:spPr>
          <a:xfrm>
            <a:off x="3218688" y="2953512"/>
            <a:ext cx="270662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Browser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40"/>
          <p:cNvSpPr/>
          <p:nvPr/>
        </p:nvSpPr>
        <p:spPr>
          <a:xfrm>
            <a:off x="3236976" y="3255264"/>
            <a:ext cx="2670048" cy="6309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20"/>
              <a:buFont typeface="Arial"/>
              <a:buNone/>
            </a:pPr>
            <a:r>
              <a:rPr b="0" i="0" lang="en" sz="11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JavaScript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20"/>
              <a:buFont typeface="Arial"/>
              <a:buNone/>
            </a:pPr>
            <a:r>
              <a:rPr b="0" i="0" lang="en" sz="11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Tracing an async bug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20"/>
              <a:buFont typeface="Arial"/>
              <a:buNone/>
            </a:pPr>
            <a:r>
              <a:rPr b="0" i="0" lang="en" sz="11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34 min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40"/>
          <p:cNvSpPr/>
          <p:nvPr/>
        </p:nvSpPr>
        <p:spPr>
          <a:xfrm>
            <a:off x="1143000" y="4160520"/>
            <a:ext cx="6903720" cy="393192"/>
          </a:xfrm>
          <a:prstGeom prst="roundRect">
            <a:avLst>
              <a:gd fmla="val 16279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40"/>
          <p:cNvSpPr/>
          <p:nvPr/>
        </p:nvSpPr>
        <p:spPr>
          <a:xfrm>
            <a:off x="1234440" y="4233672"/>
            <a:ext cx="67208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40"/>
              <a:buFont typeface="Arial"/>
              <a:buNone/>
            </a:pPr>
            <a:r>
              <a:rPr b="0" i="0" lang="en" sz="104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Quoted JSX attributes such as "JavaScript" provide strings.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40"/>
              <a:buFont typeface="Arial"/>
              <a:buNone/>
            </a:pPr>
            <a:r>
              <a:rPr b="0" i="0" lang="en" sz="104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{34} provides the JavaScript number 34.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41"/>
          <p:cNvSpPr/>
          <p:nvPr/>
        </p:nvSpPr>
        <p:spPr>
          <a:xfrm>
            <a:off x="548640" y="365760"/>
            <a:ext cx="6629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TypeScript flags a prop with the wrong type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41"/>
          <p:cNvSpPr/>
          <p:nvPr/>
        </p:nvSpPr>
        <p:spPr>
          <a:xfrm>
            <a:off x="685800" y="932688"/>
            <a:ext cx="2926080" cy="960120"/>
          </a:xfrm>
          <a:prstGeom prst="roundRect">
            <a:avLst>
              <a:gd fmla="val 6667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41"/>
          <p:cNvSpPr/>
          <p:nvPr/>
        </p:nvSpPr>
        <p:spPr>
          <a:xfrm>
            <a:off x="777240" y="1005840"/>
            <a:ext cx="2743200" cy="8138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10"/>
              <a:buFont typeface="Courier New"/>
              <a:buNone/>
            </a:pPr>
            <a:r>
              <a:rPr b="0" i="0" lang="en" sz="91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type EpisodeCardProps = {</a:t>
            </a:r>
            <a:endParaRPr b="0" i="0" sz="9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10"/>
              <a:buFont typeface="Courier New"/>
              <a:buNone/>
            </a:pPr>
            <a:r>
              <a:rPr b="0" i="0" lang="en" sz="91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title: string;</a:t>
            </a:r>
            <a:endParaRPr b="0" i="0" sz="9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10"/>
              <a:buFont typeface="Courier New"/>
              <a:buNone/>
            </a:pPr>
            <a:r>
              <a:rPr b="0" i="0" lang="en" sz="91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topic: string;</a:t>
            </a:r>
            <a:endParaRPr b="0" i="0" sz="9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10"/>
              <a:buFont typeface="Courier New"/>
              <a:buNone/>
            </a:pPr>
            <a:r>
              <a:rPr b="0" i="0" lang="en" sz="91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duration: number;</a:t>
            </a:r>
            <a:endParaRPr b="0" i="0" sz="9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10"/>
              <a:buFont typeface="Courier New"/>
              <a:buNone/>
            </a:pPr>
            <a:r>
              <a:rPr b="0" i="0" lang="en" sz="91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b="0" i="0" sz="9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41"/>
          <p:cNvSpPr/>
          <p:nvPr/>
        </p:nvSpPr>
        <p:spPr>
          <a:xfrm>
            <a:off x="685800" y="2221992"/>
            <a:ext cx="2926080" cy="1078992"/>
          </a:xfrm>
          <a:prstGeom prst="roundRect">
            <a:avLst>
              <a:gd fmla="val 5932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41"/>
          <p:cNvSpPr/>
          <p:nvPr/>
        </p:nvSpPr>
        <p:spPr>
          <a:xfrm>
            <a:off x="777240" y="2295144"/>
            <a:ext cx="2743200" cy="932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&lt;EpisodeCard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title="Tracing an async bug"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topic="JavaScript"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duration="34"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41"/>
          <p:cNvSpPr/>
          <p:nvPr/>
        </p:nvSpPr>
        <p:spPr>
          <a:xfrm>
            <a:off x="685800" y="3520440"/>
            <a:ext cx="2926080" cy="438912"/>
          </a:xfrm>
          <a:prstGeom prst="roundRect">
            <a:avLst>
              <a:gd fmla="val 14583" name="adj"/>
            </a:avLst>
          </a:prstGeom>
          <a:solidFill>
            <a:srgbClr val="FFF1F2"/>
          </a:solidFill>
          <a:ln cap="flat" cmpd="sng" w="12700">
            <a:solidFill>
              <a:srgbClr val="FDA4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41"/>
          <p:cNvSpPr/>
          <p:nvPr/>
        </p:nvSpPr>
        <p:spPr>
          <a:xfrm>
            <a:off x="777240" y="3593592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duration expects a number, but this supplies a string.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41"/>
          <p:cNvSpPr/>
          <p:nvPr/>
        </p:nvSpPr>
        <p:spPr>
          <a:xfrm>
            <a:off x="4160520" y="1124712"/>
            <a:ext cx="3703320" cy="960120"/>
          </a:xfrm>
          <a:prstGeom prst="roundRect">
            <a:avLst>
              <a:gd fmla="val 6667" name="adj"/>
            </a:avLst>
          </a:prstGeom>
          <a:solidFill>
            <a:srgbClr val="FEF9C3"/>
          </a:solidFill>
          <a:ln cap="flat" cmpd="sng" w="12700">
            <a:solidFill>
              <a:srgbClr val="FACC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41"/>
          <p:cNvSpPr/>
          <p:nvPr/>
        </p:nvSpPr>
        <p:spPr>
          <a:xfrm>
            <a:off x="4251960" y="1197864"/>
            <a:ext cx="3520440" cy="8138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70"/>
              <a:buFont typeface="Arial"/>
              <a:buNone/>
            </a:pPr>
            <a:r>
              <a:rPr b="0" i="0" lang="en" sz="10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TypeScript feedback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70"/>
              <a:buFont typeface="Arial"/>
              <a:buNone/>
            </a:pPr>
            <a:r>
              <a:rPr b="0" i="0" lang="en" sz="10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Type 'string' is not assignable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70"/>
              <a:buFont typeface="Arial"/>
              <a:buNone/>
            </a:pPr>
            <a:r>
              <a:rPr b="0" i="0" lang="en" sz="10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to type 'number'.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41"/>
          <p:cNvSpPr/>
          <p:nvPr/>
        </p:nvSpPr>
        <p:spPr>
          <a:xfrm>
            <a:off x="4160520" y="2377440"/>
            <a:ext cx="2103120" cy="292608"/>
          </a:xfrm>
          <a:prstGeom prst="roundRect">
            <a:avLst>
              <a:gd fmla="val 21875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41"/>
          <p:cNvSpPr/>
          <p:nvPr/>
        </p:nvSpPr>
        <p:spPr>
          <a:xfrm>
            <a:off x="4251960" y="2450592"/>
            <a:ext cx="19202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20"/>
              <a:buFont typeface="Arial"/>
              <a:buNone/>
            </a:pPr>
            <a:r>
              <a:rPr b="1" i="0" lang="en" sz="12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Correct value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41"/>
          <p:cNvSpPr/>
          <p:nvPr/>
        </p:nvSpPr>
        <p:spPr>
          <a:xfrm>
            <a:off x="4160520" y="2761488"/>
            <a:ext cx="2103120" cy="438912"/>
          </a:xfrm>
          <a:prstGeom prst="roundRect">
            <a:avLst>
              <a:gd fmla="val 14583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41"/>
          <p:cNvSpPr/>
          <p:nvPr/>
        </p:nvSpPr>
        <p:spPr>
          <a:xfrm>
            <a:off x="4251960" y="2834640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duration={34}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41"/>
          <p:cNvSpPr/>
          <p:nvPr/>
        </p:nvSpPr>
        <p:spPr>
          <a:xfrm>
            <a:off x="4160520" y="3474720"/>
            <a:ext cx="3703320" cy="548640"/>
          </a:xfrm>
          <a:prstGeom prst="roundRect">
            <a:avLst>
              <a:gd fmla="val 11667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41"/>
          <p:cNvSpPr/>
          <p:nvPr/>
        </p:nvSpPr>
        <p:spPr>
          <a:xfrm>
            <a:off x="4251960" y="3547872"/>
            <a:ext cx="35204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80"/>
              <a:buFont typeface="Arial"/>
              <a:buNone/>
            </a:pPr>
            <a:r>
              <a:rPr b="0" i="0" lang="en" sz="10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Quotes provide the string "34".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80"/>
              <a:buFont typeface="Arial"/>
              <a:buNone/>
            </a:pPr>
            <a:r>
              <a:rPr b="0" i="0" lang="en" sz="10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Braces supply the numeric value 34.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42"/>
          <p:cNvSpPr/>
          <p:nvPr/>
        </p:nvSpPr>
        <p:spPr>
          <a:xfrm>
            <a:off x="548640" y="365760"/>
            <a:ext cx="6629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Destructuring reads the same props more directly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42"/>
          <p:cNvSpPr/>
          <p:nvPr/>
        </p:nvSpPr>
        <p:spPr>
          <a:xfrm>
            <a:off x="731520" y="960120"/>
            <a:ext cx="2926080" cy="301752"/>
          </a:xfrm>
          <a:prstGeom prst="roundRect">
            <a:avLst>
              <a:gd fmla="val 21212" name="adj"/>
            </a:avLst>
          </a:prstGeom>
          <a:solidFill>
            <a:srgbClr val="EFF6FF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42"/>
          <p:cNvSpPr/>
          <p:nvPr/>
        </p:nvSpPr>
        <p:spPr>
          <a:xfrm>
            <a:off x="822960" y="1033272"/>
            <a:ext cx="274320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20"/>
              <a:buFont typeface="Arial"/>
              <a:buNone/>
            </a:pPr>
            <a:r>
              <a:rPr b="1" i="0" lang="en" sz="12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Through the props object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42"/>
          <p:cNvSpPr/>
          <p:nvPr/>
        </p:nvSpPr>
        <p:spPr>
          <a:xfrm>
            <a:off x="731520" y="1417320"/>
            <a:ext cx="2926080" cy="841248"/>
          </a:xfrm>
          <a:prstGeom prst="roundRect">
            <a:avLst>
              <a:gd fmla="val 7609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42"/>
          <p:cNvSpPr/>
          <p:nvPr/>
        </p:nvSpPr>
        <p:spPr>
          <a:xfrm>
            <a:off x="822960" y="1490472"/>
            <a:ext cx="2743200" cy="694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0"/>
              <a:buFont typeface="Courier New"/>
              <a:buNone/>
            </a:pPr>
            <a:r>
              <a:rPr b="0" i="0" lang="en" sz="11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props.title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0"/>
              <a:buFont typeface="Courier New"/>
              <a:buNone/>
            </a:pPr>
            <a:r>
              <a:rPr b="0" i="0" lang="en" sz="11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props.topic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0"/>
              <a:buFont typeface="Courier New"/>
              <a:buNone/>
            </a:pPr>
            <a:r>
              <a:rPr b="0" i="0" lang="en" sz="11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props.duration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42"/>
          <p:cNvSpPr/>
          <p:nvPr/>
        </p:nvSpPr>
        <p:spPr>
          <a:xfrm>
            <a:off x="4160520" y="960120"/>
            <a:ext cx="4206240" cy="301752"/>
          </a:xfrm>
          <a:prstGeom prst="roundRect">
            <a:avLst>
              <a:gd fmla="val 21212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42"/>
          <p:cNvSpPr/>
          <p:nvPr/>
        </p:nvSpPr>
        <p:spPr>
          <a:xfrm>
            <a:off x="4251960" y="1033272"/>
            <a:ext cx="402336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20"/>
              <a:buFont typeface="Arial"/>
              <a:buNone/>
            </a:pPr>
            <a:r>
              <a:rPr b="1" i="0" lang="en" sz="12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With destructuring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42"/>
          <p:cNvSpPr/>
          <p:nvPr/>
        </p:nvSpPr>
        <p:spPr>
          <a:xfrm>
            <a:off x="4160520" y="1417320"/>
            <a:ext cx="4206240" cy="2697480"/>
          </a:xfrm>
          <a:prstGeom prst="roundRect">
            <a:avLst>
              <a:gd fmla="val 2373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42"/>
          <p:cNvSpPr/>
          <p:nvPr/>
        </p:nvSpPr>
        <p:spPr>
          <a:xfrm>
            <a:off x="4251960" y="1490472"/>
            <a:ext cx="4023360" cy="2551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urier New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function EpisodeCard({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urier New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title,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urier New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topic,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urier New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duration,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urier New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}: EpisodeCardProps) {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urier New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return (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urier New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&lt;article className="episode-card"&gt;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urier New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&lt;p&gt;{topic}&lt;/p&gt;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urier New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&lt;h2&gt;{title}&lt;/h2&gt;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urier New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&lt;p&gt;{duration} min&lt;/p&gt;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urier New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&lt;/article&gt;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urier New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);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urier New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42"/>
          <p:cNvSpPr/>
          <p:nvPr/>
        </p:nvSpPr>
        <p:spPr>
          <a:xfrm>
            <a:off x="731520" y="3063240"/>
            <a:ext cx="2926080" cy="640080"/>
          </a:xfrm>
          <a:prstGeom prst="roundRect">
            <a:avLst>
              <a:gd fmla="val 10000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42"/>
          <p:cNvSpPr/>
          <p:nvPr/>
        </p:nvSpPr>
        <p:spPr>
          <a:xfrm>
            <a:off x="822960" y="3136392"/>
            <a:ext cx="27432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80"/>
              <a:buFont typeface="Arial"/>
              <a:buNone/>
            </a:pPr>
            <a:r>
              <a:rPr b="0" i="0" lang="en" sz="10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The component receives the same props. Only the way we read their properties changes.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42"/>
          <p:cNvSpPr/>
          <p:nvPr/>
        </p:nvSpPr>
        <p:spPr>
          <a:xfrm>
            <a:off x="731520" y="3886200"/>
            <a:ext cx="2926080" cy="502920"/>
          </a:xfrm>
          <a:prstGeom prst="roundRect">
            <a:avLst>
              <a:gd fmla="val 12727" name="adj"/>
            </a:avLst>
          </a:prstGeom>
          <a:solidFill>
            <a:srgbClr val="FEF9C3"/>
          </a:solidFill>
          <a:ln cap="flat" cmpd="sng" w="12700">
            <a:solidFill>
              <a:srgbClr val="FACC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42"/>
          <p:cNvSpPr/>
          <p:nvPr/>
        </p:nvSpPr>
        <p:spPr>
          <a:xfrm>
            <a:off x="822960" y="3959352"/>
            <a:ext cx="2743200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30"/>
              <a:buFont typeface="Arial"/>
              <a:buNone/>
            </a:pPr>
            <a:r>
              <a:rPr b="0" i="0" lang="en" sz="103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This is the same object-destructuring idea used in Advanced JavaScript.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43"/>
          <p:cNvSpPr/>
          <p:nvPr/>
        </p:nvSpPr>
        <p:spPr>
          <a:xfrm>
            <a:off x="548640" y="365760"/>
            <a:ext cx="6629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One component can render different data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43"/>
          <p:cNvSpPr/>
          <p:nvPr/>
        </p:nvSpPr>
        <p:spPr>
          <a:xfrm>
            <a:off x="685800" y="896112"/>
            <a:ext cx="7589520" cy="621792"/>
          </a:xfrm>
          <a:prstGeom prst="roundRect">
            <a:avLst>
              <a:gd fmla="val 10294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43"/>
          <p:cNvSpPr/>
          <p:nvPr/>
        </p:nvSpPr>
        <p:spPr>
          <a:xfrm>
            <a:off x="777240" y="969264"/>
            <a:ext cx="74066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urier New"/>
              <a:buNone/>
            </a:pPr>
            <a:r>
              <a:rPr b="0" i="0" lang="en" sz="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function EpisodeCard({ title, topic, duration }: EpisodeCardProps) {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urier New"/>
              <a:buNone/>
            </a:pPr>
            <a:r>
              <a:rPr b="0" i="0" lang="en" sz="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// episode-card JSX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urier New"/>
              <a:buNone/>
            </a:pPr>
            <a:r>
              <a:rPr b="0" i="0" lang="en" sz="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43"/>
          <p:cNvSpPr/>
          <p:nvPr/>
        </p:nvSpPr>
        <p:spPr>
          <a:xfrm>
            <a:off x="685800" y="1874520"/>
            <a:ext cx="2487168" cy="1298448"/>
          </a:xfrm>
          <a:prstGeom prst="roundRect">
            <a:avLst>
              <a:gd fmla="val 5634" name="adj"/>
            </a:avLst>
          </a:prstGeom>
          <a:solidFill>
            <a:srgbClr val="EFF6FF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43"/>
          <p:cNvSpPr/>
          <p:nvPr/>
        </p:nvSpPr>
        <p:spPr>
          <a:xfrm>
            <a:off x="795528" y="1965960"/>
            <a:ext cx="226771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80"/>
              <a:buFont typeface="Arial"/>
              <a:buNone/>
            </a:pPr>
            <a:r>
              <a:rPr b="1" i="0" lang="en" sz="10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Instance 1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43"/>
          <p:cNvSpPr/>
          <p:nvPr/>
        </p:nvSpPr>
        <p:spPr>
          <a:xfrm>
            <a:off x="795528" y="2276856"/>
            <a:ext cx="2267712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JavaScript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Tracing an async bug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34 min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43"/>
          <p:cNvSpPr/>
          <p:nvPr/>
        </p:nvSpPr>
        <p:spPr>
          <a:xfrm>
            <a:off x="3337560" y="1874520"/>
            <a:ext cx="2487168" cy="1298448"/>
          </a:xfrm>
          <a:prstGeom prst="roundRect">
            <a:avLst>
              <a:gd fmla="val 5634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43"/>
          <p:cNvSpPr/>
          <p:nvPr/>
        </p:nvSpPr>
        <p:spPr>
          <a:xfrm>
            <a:off x="3447288" y="1965960"/>
            <a:ext cx="226771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80"/>
              <a:buFont typeface="Arial"/>
              <a:buNone/>
            </a:pPr>
            <a:r>
              <a:rPr b="1" i="0" lang="en" sz="10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Instance 2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43"/>
          <p:cNvSpPr/>
          <p:nvPr/>
        </p:nvSpPr>
        <p:spPr>
          <a:xfrm>
            <a:off x="3447288" y="2276856"/>
            <a:ext cx="2267712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Frontend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Designing for small screens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28 min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43"/>
          <p:cNvSpPr/>
          <p:nvPr/>
        </p:nvSpPr>
        <p:spPr>
          <a:xfrm>
            <a:off x="5989320" y="1874520"/>
            <a:ext cx="2487168" cy="1298448"/>
          </a:xfrm>
          <a:prstGeom prst="roundRect">
            <a:avLst>
              <a:gd fmla="val 5634" name="adj"/>
            </a:avLst>
          </a:prstGeom>
          <a:solidFill>
            <a:srgbClr val="FEF9C3"/>
          </a:solidFill>
          <a:ln cap="flat" cmpd="sng" w="12700">
            <a:solidFill>
              <a:srgbClr val="FACC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43"/>
          <p:cNvSpPr/>
          <p:nvPr/>
        </p:nvSpPr>
        <p:spPr>
          <a:xfrm>
            <a:off x="6099048" y="1965960"/>
            <a:ext cx="226771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80"/>
              <a:buFont typeface="Arial"/>
              <a:buNone/>
            </a:pPr>
            <a:r>
              <a:rPr b="1" i="0" lang="en" sz="10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Instance 3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43"/>
          <p:cNvSpPr/>
          <p:nvPr/>
        </p:nvSpPr>
        <p:spPr>
          <a:xfrm>
            <a:off x="6099048" y="2276856"/>
            <a:ext cx="2267712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TypeScript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Safer data with TypeScript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31 min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43"/>
          <p:cNvSpPr/>
          <p:nvPr/>
        </p:nvSpPr>
        <p:spPr>
          <a:xfrm>
            <a:off x="960120" y="3858768"/>
            <a:ext cx="7223760" cy="475488"/>
          </a:xfrm>
          <a:prstGeom prst="roundRect">
            <a:avLst>
              <a:gd fmla="val 13462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43"/>
          <p:cNvSpPr/>
          <p:nvPr/>
        </p:nvSpPr>
        <p:spPr>
          <a:xfrm>
            <a:off x="1051560" y="3931920"/>
            <a:ext cx="70408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20"/>
              <a:buFont typeface="Arial"/>
              <a:buNone/>
            </a:pPr>
            <a:r>
              <a:rPr b="0" i="0" lang="en" sz="11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Component reusability means the same component definition can be rendered more than once with different input values.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44"/>
          <p:cNvSpPr/>
          <p:nvPr/>
        </p:nvSpPr>
        <p:spPr>
          <a:xfrm>
            <a:off x="548640" y="365760"/>
            <a:ext cx="6629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Checkpoint: Which prop value needs to change?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44"/>
          <p:cNvSpPr/>
          <p:nvPr/>
        </p:nvSpPr>
        <p:spPr>
          <a:xfrm>
            <a:off x="685800" y="914400"/>
            <a:ext cx="2971800" cy="822960"/>
          </a:xfrm>
          <a:prstGeom prst="roundRect">
            <a:avLst>
              <a:gd fmla="val 7778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44"/>
          <p:cNvSpPr/>
          <p:nvPr/>
        </p:nvSpPr>
        <p:spPr>
          <a:xfrm>
            <a:off x="777240" y="987552"/>
            <a:ext cx="278892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20"/>
              <a:buFont typeface="Courier New"/>
              <a:buNone/>
            </a:pPr>
            <a:r>
              <a:rPr b="0" i="0" lang="en" sz="9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type SessionCardProps = {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20"/>
              <a:buFont typeface="Courier New"/>
              <a:buNone/>
            </a:pPr>
            <a:r>
              <a:rPr b="0" i="0" lang="en" sz="9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title: string;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20"/>
              <a:buFont typeface="Courier New"/>
              <a:buNone/>
            </a:pPr>
            <a:r>
              <a:rPr b="0" i="0" lang="en" sz="9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seats: number;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20"/>
              <a:buFont typeface="Courier New"/>
              <a:buNone/>
            </a:pPr>
            <a:r>
              <a:rPr b="0" i="0" lang="en" sz="9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44"/>
          <p:cNvSpPr/>
          <p:nvPr/>
        </p:nvSpPr>
        <p:spPr>
          <a:xfrm>
            <a:off x="685800" y="1783080"/>
            <a:ext cx="2971800" cy="237744"/>
          </a:xfrm>
          <a:prstGeom prst="roundRect">
            <a:avLst>
              <a:gd fmla="val 26923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44"/>
          <p:cNvSpPr/>
          <p:nvPr/>
        </p:nvSpPr>
        <p:spPr>
          <a:xfrm>
            <a:off x="777240" y="1856232"/>
            <a:ext cx="2788920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First use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44"/>
          <p:cNvSpPr/>
          <p:nvPr/>
        </p:nvSpPr>
        <p:spPr>
          <a:xfrm>
            <a:off x="685800" y="2084832"/>
            <a:ext cx="2971800" cy="658368"/>
          </a:xfrm>
          <a:prstGeom prst="roundRect">
            <a:avLst>
              <a:gd fmla="val 9722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44"/>
          <p:cNvSpPr/>
          <p:nvPr/>
        </p:nvSpPr>
        <p:spPr>
          <a:xfrm>
            <a:off x="777240" y="2157984"/>
            <a:ext cx="27889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b="0" i="0" lang="en" sz="86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&lt;SessionCard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b="0" i="0" lang="en" sz="86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title="React Basics"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b="0" i="0" lang="en" sz="86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seats={12}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b="0" i="0" lang="en" sz="86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44"/>
          <p:cNvSpPr/>
          <p:nvPr/>
        </p:nvSpPr>
        <p:spPr>
          <a:xfrm>
            <a:off x="685800" y="2880360"/>
            <a:ext cx="2971800" cy="237744"/>
          </a:xfrm>
          <a:prstGeom prst="roundRect">
            <a:avLst>
              <a:gd fmla="val 26923" name="adj"/>
            </a:avLst>
          </a:prstGeom>
          <a:solidFill>
            <a:srgbClr val="FEF9C3"/>
          </a:solidFill>
          <a:ln cap="flat" cmpd="sng" w="12700">
            <a:solidFill>
              <a:srgbClr val="FACC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44"/>
          <p:cNvSpPr/>
          <p:nvPr/>
        </p:nvSpPr>
        <p:spPr>
          <a:xfrm>
            <a:off x="777240" y="2953512"/>
            <a:ext cx="2788920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Second use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44"/>
          <p:cNvSpPr/>
          <p:nvPr/>
        </p:nvSpPr>
        <p:spPr>
          <a:xfrm>
            <a:off x="685800" y="3182112"/>
            <a:ext cx="2971800" cy="658368"/>
          </a:xfrm>
          <a:prstGeom prst="roundRect">
            <a:avLst>
              <a:gd fmla="val 9722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44"/>
          <p:cNvSpPr/>
          <p:nvPr/>
        </p:nvSpPr>
        <p:spPr>
          <a:xfrm>
            <a:off x="777240" y="3255264"/>
            <a:ext cx="27889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b="0" i="0" lang="en" sz="86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&lt;SessionCard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b="0" i="0" lang="en" sz="86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title="TypeScript Review"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b="0" i="0" lang="en" sz="86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seats="8"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b="0" i="0" lang="en" sz="86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44"/>
          <p:cNvSpPr/>
          <p:nvPr/>
        </p:nvSpPr>
        <p:spPr>
          <a:xfrm>
            <a:off x="3977640" y="941832"/>
            <a:ext cx="4343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Which statement correctly describes the type-checking result?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44"/>
          <p:cNvSpPr/>
          <p:nvPr/>
        </p:nvSpPr>
        <p:spPr>
          <a:xfrm>
            <a:off x="3977640" y="1417320"/>
            <a:ext cx="4343400" cy="235915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80"/>
              <a:buFont typeface="Arial"/>
              <a:buNone/>
            </a:pPr>
            <a:r>
              <a:rPr b="0" i="0" lang="en" sz="9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A. Both component uses are valid because JSX converts "8" into a number.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80"/>
              <a:buFont typeface="Arial"/>
              <a:buNone/>
            </a:pPr>
            <a:r>
              <a:t/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80"/>
              <a:buFont typeface="Arial"/>
              <a:buNone/>
            </a:pPr>
            <a:r>
              <a:rPr b="0" i="0" lang="en" sz="9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B. The first use is invalid because numeric props must be written inside quotes.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80"/>
              <a:buFont typeface="Arial"/>
              <a:buNone/>
            </a:pPr>
            <a:r>
              <a:t/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80"/>
              <a:buFont typeface="Arial"/>
              <a:buNone/>
            </a:pPr>
            <a:r>
              <a:rPr b="0" i="0" lang="en" sz="9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C. The second use is flagged because seats expects a number. Changing it to seats={8} makes both component uses valid.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80"/>
              <a:buFont typeface="Arial"/>
              <a:buNone/>
            </a:pPr>
            <a:r>
              <a:t/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80"/>
              <a:buFont typeface="Arial"/>
              <a:buNone/>
            </a:pPr>
            <a:r>
              <a:rPr b="0" i="0" lang="en" sz="9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D. SessionCard cannot be rendered twice because both uses share the same props type.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44"/>
          <p:cNvSpPr/>
          <p:nvPr/>
        </p:nvSpPr>
        <p:spPr>
          <a:xfrm>
            <a:off x="685800" y="4114800"/>
            <a:ext cx="6903720" cy="676656"/>
          </a:xfrm>
          <a:prstGeom prst="roundRect">
            <a:avLst>
              <a:gd fmla="val 10811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44"/>
          <p:cNvSpPr/>
          <p:nvPr/>
        </p:nvSpPr>
        <p:spPr>
          <a:xfrm>
            <a:off x="804672" y="4187952"/>
            <a:ext cx="66294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70"/>
              <a:buFont typeface="Arial"/>
              <a:buNone/>
            </a:pPr>
            <a:r>
              <a:rPr b="0" i="0" lang="en" sz="10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Answer: C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70"/>
              <a:buFont typeface="Arial"/>
              <a:buNone/>
            </a:pPr>
            <a:r>
              <a:rPr b="0" i="0" lang="en" sz="10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Why: seats is a number. {12} supplies a number, while "8" supplies a string. seats={8} makes both uses valid.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45"/>
          <p:cNvSpPr/>
          <p:nvPr/>
        </p:nvSpPr>
        <p:spPr>
          <a:xfrm>
            <a:off x="1280160" y="1993392"/>
            <a:ext cx="658368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550"/>
              <a:buFont typeface="Arial"/>
              <a:buNone/>
            </a:pPr>
            <a:r>
              <a:rPr b="0" i="0" lang="en" sz="25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Function and class components</a:t>
            </a:r>
            <a:endParaRPr b="0" i="0" sz="2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45"/>
          <p:cNvSpPr/>
          <p:nvPr/>
        </p:nvSpPr>
        <p:spPr>
          <a:xfrm>
            <a:off x="1554480" y="2615184"/>
            <a:ext cx="6035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30"/>
              <a:buFont typeface="Arial"/>
              <a:buNone/>
            </a:pPr>
            <a:r>
              <a:rPr b="0" i="0" lang="en" sz="123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Compare two ways to define a React component.</a:t>
            </a:r>
            <a:endParaRPr b="0" i="0" sz="12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46"/>
          <p:cNvSpPr/>
          <p:nvPr/>
        </p:nvSpPr>
        <p:spPr>
          <a:xfrm>
            <a:off x="548640" y="365760"/>
            <a:ext cx="6629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React adds a component structure to familiar class syntax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46"/>
          <p:cNvSpPr/>
          <p:nvPr/>
        </p:nvSpPr>
        <p:spPr>
          <a:xfrm>
            <a:off x="713232" y="1005840"/>
            <a:ext cx="3657600" cy="1600200"/>
          </a:xfrm>
          <a:prstGeom prst="roundRect">
            <a:avLst>
              <a:gd fmla="val 4000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46"/>
          <p:cNvSpPr/>
          <p:nvPr/>
        </p:nvSpPr>
        <p:spPr>
          <a:xfrm>
            <a:off x="804672" y="1078992"/>
            <a:ext cx="3474720" cy="1453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30"/>
              <a:buFont typeface="Courier New"/>
              <a:buNone/>
            </a:pPr>
            <a:r>
              <a:rPr b="0" i="0" lang="en" sz="103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class Podcast {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30"/>
              <a:buFont typeface="Courier New"/>
              <a:buNone/>
            </a:pPr>
            <a:r>
              <a:rPr b="0" i="0" lang="en" sz="103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title = "Tracing an async bug";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30"/>
              <a:buFont typeface="Arial"/>
              <a:buNone/>
            </a:pPr>
            <a:r>
              <a:t/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30"/>
              <a:buFont typeface="Courier New"/>
              <a:buNone/>
            </a:pPr>
            <a:r>
              <a:rPr b="0" i="0" lang="en" sz="103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describe() {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30"/>
              <a:buFont typeface="Courier New"/>
              <a:buNone/>
            </a:pPr>
            <a:r>
              <a:rPr b="0" i="0" lang="en" sz="103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this.title;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30"/>
              <a:buFont typeface="Courier New"/>
              <a:buNone/>
            </a:pPr>
            <a:r>
              <a:rPr b="0" i="0" lang="en" sz="103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30"/>
              <a:buFont typeface="Courier New"/>
              <a:buNone/>
            </a:pPr>
            <a:r>
              <a:rPr b="0" i="0" lang="en" sz="103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46"/>
          <p:cNvSpPr/>
          <p:nvPr/>
        </p:nvSpPr>
        <p:spPr>
          <a:xfrm>
            <a:off x="4709160" y="1005840"/>
            <a:ext cx="1600200" cy="685800"/>
          </a:xfrm>
          <a:prstGeom prst="roundRect">
            <a:avLst>
              <a:gd fmla="val 10667" name="adj"/>
            </a:avLst>
          </a:prstGeom>
          <a:solidFill>
            <a:srgbClr val="EFF6FF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46"/>
          <p:cNvSpPr/>
          <p:nvPr/>
        </p:nvSpPr>
        <p:spPr>
          <a:xfrm>
            <a:off x="4818888" y="1097280"/>
            <a:ext cx="138074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Arial"/>
              <a:buNone/>
            </a:pPr>
            <a:r>
              <a:rPr b="1" i="0" lang="en" sz="1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class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46"/>
          <p:cNvSpPr/>
          <p:nvPr/>
        </p:nvSpPr>
        <p:spPr>
          <a:xfrm>
            <a:off x="4818888" y="1408176"/>
            <a:ext cx="1380744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Defines the class.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46"/>
          <p:cNvSpPr/>
          <p:nvPr/>
        </p:nvSpPr>
        <p:spPr>
          <a:xfrm>
            <a:off x="6537960" y="1005840"/>
            <a:ext cx="1737360" cy="685800"/>
          </a:xfrm>
          <a:prstGeom prst="roundRect">
            <a:avLst>
              <a:gd fmla="val 10667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46"/>
          <p:cNvSpPr/>
          <p:nvPr/>
        </p:nvSpPr>
        <p:spPr>
          <a:xfrm>
            <a:off x="6647688" y="1097280"/>
            <a:ext cx="151790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Arial"/>
              <a:buNone/>
            </a:pPr>
            <a:r>
              <a:rPr b="1" i="0" lang="en" sz="1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methods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46"/>
          <p:cNvSpPr/>
          <p:nvPr/>
        </p:nvSpPr>
        <p:spPr>
          <a:xfrm>
            <a:off x="6647688" y="1408176"/>
            <a:ext cx="1517904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 class can contain methods.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46"/>
          <p:cNvSpPr/>
          <p:nvPr/>
        </p:nvSpPr>
        <p:spPr>
          <a:xfrm>
            <a:off x="5577840" y="1965960"/>
            <a:ext cx="1920240" cy="685800"/>
          </a:xfrm>
          <a:prstGeom prst="roundRect">
            <a:avLst>
              <a:gd fmla="val 10667" name="adj"/>
            </a:avLst>
          </a:prstGeom>
          <a:solidFill>
            <a:srgbClr val="FEF9C3"/>
          </a:solidFill>
          <a:ln cap="flat" cmpd="sng" w="12700">
            <a:solidFill>
              <a:srgbClr val="FACC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46"/>
          <p:cNvSpPr/>
          <p:nvPr/>
        </p:nvSpPr>
        <p:spPr>
          <a:xfrm>
            <a:off x="5687568" y="2057400"/>
            <a:ext cx="170078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Arial"/>
              <a:buNone/>
            </a:pPr>
            <a:r>
              <a:rPr b="1" i="0" lang="en" sz="1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this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46"/>
          <p:cNvSpPr/>
          <p:nvPr/>
        </p:nvSpPr>
        <p:spPr>
          <a:xfrm>
            <a:off x="5687568" y="2368296"/>
            <a:ext cx="1700784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Refers to the current instance.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46"/>
          <p:cNvSpPr/>
          <p:nvPr/>
        </p:nvSpPr>
        <p:spPr>
          <a:xfrm>
            <a:off x="1234440" y="3429000"/>
            <a:ext cx="6675120" cy="548640"/>
          </a:xfrm>
          <a:prstGeom prst="roundRect">
            <a:avLst>
              <a:gd fmla="val 11667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46"/>
          <p:cNvSpPr/>
          <p:nvPr/>
        </p:nvSpPr>
        <p:spPr>
          <a:xfrm>
            <a:off x="1325880" y="3502152"/>
            <a:ext cx="64922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20"/>
              <a:buFont typeface="Arial"/>
              <a:buNone/>
            </a:pPr>
            <a:r>
              <a:rPr b="0" i="0" lang="en" sz="11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 React class component builds on those ideas and adds the structure React needs to render UI.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47"/>
          <p:cNvSpPr/>
          <p:nvPr/>
        </p:nvSpPr>
        <p:spPr>
          <a:xfrm>
            <a:off x="548640" y="365760"/>
            <a:ext cx="6629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 class component returns its UI from render()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47"/>
          <p:cNvSpPr/>
          <p:nvPr/>
        </p:nvSpPr>
        <p:spPr>
          <a:xfrm>
            <a:off x="713232" y="914400"/>
            <a:ext cx="4434840" cy="2514600"/>
          </a:xfrm>
          <a:prstGeom prst="roundRect">
            <a:avLst>
              <a:gd fmla="val 2545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47"/>
          <p:cNvSpPr/>
          <p:nvPr/>
        </p:nvSpPr>
        <p:spPr>
          <a:xfrm>
            <a:off x="804672" y="987552"/>
            <a:ext cx="4251960" cy="23682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b="0" i="0" lang="en" sz="86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import { Component } from "react";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60"/>
              <a:buFont typeface="Arial"/>
              <a:buNone/>
            </a:pPr>
            <a:r>
              <a:t/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b="0" i="0" lang="en" sz="86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class EpisodeCardClass extends Component {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b="0" i="0" lang="en" sz="86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render() {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b="0" i="0" lang="en" sz="86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(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b="0" i="0" lang="en" sz="86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&lt;article className="episode-card"&gt;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b="0" i="0" lang="en" sz="86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  &lt;h2&gt;Tracing an async bug&lt;/h2&gt;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b="0" i="0" lang="en" sz="86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&lt;/article&gt;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b="0" i="0" lang="en" sz="86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);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b="0" i="0" lang="en" sz="86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b="0" i="0" lang="en" sz="86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47"/>
          <p:cNvSpPr/>
          <p:nvPr/>
        </p:nvSpPr>
        <p:spPr>
          <a:xfrm>
            <a:off x="5486400" y="1005840"/>
            <a:ext cx="2606040" cy="566928"/>
          </a:xfrm>
          <a:prstGeom prst="roundRect">
            <a:avLst>
              <a:gd fmla="val 12903" name="adj"/>
            </a:avLst>
          </a:prstGeom>
          <a:solidFill>
            <a:srgbClr val="EFF6FF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47"/>
          <p:cNvSpPr/>
          <p:nvPr/>
        </p:nvSpPr>
        <p:spPr>
          <a:xfrm>
            <a:off x="5596128" y="1097280"/>
            <a:ext cx="238658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30"/>
              <a:buFont typeface="Arial"/>
              <a:buNone/>
            </a:pPr>
            <a:r>
              <a:rPr b="1" i="0" lang="en" sz="113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1. Extends</a:t>
            </a:r>
            <a:endParaRPr b="0" i="0" sz="11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47"/>
          <p:cNvSpPr/>
          <p:nvPr/>
        </p:nvSpPr>
        <p:spPr>
          <a:xfrm>
            <a:off x="5596128" y="1408176"/>
            <a:ext cx="2386584" cy="731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Extends React's Component class.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47"/>
          <p:cNvSpPr/>
          <p:nvPr/>
        </p:nvSpPr>
        <p:spPr>
          <a:xfrm>
            <a:off x="5486400" y="1810512"/>
            <a:ext cx="2606040" cy="566928"/>
          </a:xfrm>
          <a:prstGeom prst="roundRect">
            <a:avLst>
              <a:gd fmla="val 12903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47"/>
          <p:cNvSpPr/>
          <p:nvPr/>
        </p:nvSpPr>
        <p:spPr>
          <a:xfrm>
            <a:off x="5596128" y="1901952"/>
            <a:ext cx="238658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30"/>
              <a:buFont typeface="Arial"/>
              <a:buNone/>
            </a:pPr>
            <a:r>
              <a:rPr b="1" i="0" lang="en" sz="113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2. Defines render()</a:t>
            </a:r>
            <a:endParaRPr b="0" i="0" sz="11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47"/>
          <p:cNvSpPr/>
          <p:nvPr/>
        </p:nvSpPr>
        <p:spPr>
          <a:xfrm>
            <a:off x="5596128" y="2212848"/>
            <a:ext cx="2386584" cy="731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render() returns the component UI.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47"/>
          <p:cNvSpPr/>
          <p:nvPr/>
        </p:nvSpPr>
        <p:spPr>
          <a:xfrm>
            <a:off x="5486400" y="2615184"/>
            <a:ext cx="2606040" cy="566928"/>
          </a:xfrm>
          <a:prstGeom prst="roundRect">
            <a:avLst>
              <a:gd fmla="val 12903" name="adj"/>
            </a:avLst>
          </a:prstGeom>
          <a:solidFill>
            <a:srgbClr val="FEF9C3"/>
          </a:solidFill>
          <a:ln cap="flat" cmpd="sng" w="12700">
            <a:solidFill>
              <a:srgbClr val="FACC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47"/>
          <p:cNvSpPr/>
          <p:nvPr/>
        </p:nvSpPr>
        <p:spPr>
          <a:xfrm>
            <a:off x="5596128" y="2706624"/>
            <a:ext cx="238658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30"/>
              <a:buFont typeface="Arial"/>
              <a:buNone/>
            </a:pPr>
            <a:r>
              <a:rPr b="1" i="0" lang="en" sz="113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3. Returns JSX</a:t>
            </a:r>
            <a:endParaRPr b="0" i="0" sz="11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47"/>
          <p:cNvSpPr/>
          <p:nvPr/>
        </p:nvSpPr>
        <p:spPr>
          <a:xfrm>
            <a:off x="5596128" y="3017520"/>
            <a:ext cx="2386584" cy="731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The returned JSX describes the interface.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47"/>
          <p:cNvSpPr/>
          <p:nvPr/>
        </p:nvSpPr>
        <p:spPr>
          <a:xfrm>
            <a:off x="5486400" y="3657600"/>
            <a:ext cx="2606040" cy="411480"/>
          </a:xfrm>
          <a:prstGeom prst="roundRect">
            <a:avLst>
              <a:gd fmla="val 15556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47"/>
          <p:cNvSpPr/>
          <p:nvPr/>
        </p:nvSpPr>
        <p:spPr>
          <a:xfrm>
            <a:off x="5577840" y="3730752"/>
            <a:ext cx="2423160" cy="265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&lt;EpisodeCardClass /&gt;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48"/>
          <p:cNvSpPr/>
          <p:nvPr/>
        </p:nvSpPr>
        <p:spPr>
          <a:xfrm>
            <a:off x="548640" y="365760"/>
            <a:ext cx="6629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Class components read incoming values through this.props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48"/>
          <p:cNvSpPr/>
          <p:nvPr/>
        </p:nvSpPr>
        <p:spPr>
          <a:xfrm>
            <a:off x="713232" y="914400"/>
            <a:ext cx="2468880" cy="841248"/>
          </a:xfrm>
          <a:prstGeom prst="roundRect">
            <a:avLst>
              <a:gd fmla="val 7609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48"/>
          <p:cNvSpPr/>
          <p:nvPr/>
        </p:nvSpPr>
        <p:spPr>
          <a:xfrm>
            <a:off x="804672" y="987552"/>
            <a:ext cx="2286000" cy="694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Courier New"/>
              <a:buNone/>
            </a:pPr>
            <a:r>
              <a:rPr b="0" i="0" lang="en" sz="8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type EpisodeCardProps = {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Courier New"/>
              <a:buNone/>
            </a:pPr>
            <a:r>
              <a:rPr b="0" i="0" lang="en" sz="8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title: string;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Courier New"/>
              <a:buNone/>
            </a:pPr>
            <a:r>
              <a:rPr b="0" i="0" lang="en" sz="8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topic: string;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Courier New"/>
              <a:buNone/>
            </a:pPr>
            <a:r>
              <a:rPr b="0" i="0" lang="en" sz="8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duration: number;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Courier New"/>
              <a:buNone/>
            </a:pPr>
            <a:r>
              <a:rPr b="0" i="0" lang="en" sz="8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48"/>
          <p:cNvSpPr/>
          <p:nvPr/>
        </p:nvSpPr>
        <p:spPr>
          <a:xfrm>
            <a:off x="3429000" y="914400"/>
            <a:ext cx="4800600" cy="2606040"/>
          </a:xfrm>
          <a:prstGeom prst="roundRect">
            <a:avLst>
              <a:gd fmla="val 2456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48"/>
          <p:cNvSpPr/>
          <p:nvPr/>
        </p:nvSpPr>
        <p:spPr>
          <a:xfrm>
            <a:off x="3520440" y="987552"/>
            <a:ext cx="4617720" cy="24597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30"/>
              <a:buFont typeface="Courier New"/>
              <a:buNone/>
            </a:pPr>
            <a:r>
              <a:rPr b="0" i="0" lang="en" sz="93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class EpisodeCardClass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30"/>
              <a:buFont typeface="Courier New"/>
              <a:buNone/>
            </a:pPr>
            <a:r>
              <a:rPr b="0" i="0" lang="en" sz="93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extends Component&lt;EpisodeCardProps&gt; {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0"/>
              <a:buFont typeface="Arial"/>
              <a:buNone/>
            </a:pPr>
            <a:r>
              <a:t/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30"/>
              <a:buFont typeface="Courier New"/>
              <a:buNone/>
            </a:pPr>
            <a:r>
              <a:rPr b="0" i="0" lang="en" sz="93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render() {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30"/>
              <a:buFont typeface="Courier New"/>
              <a:buNone/>
            </a:pPr>
            <a:r>
              <a:rPr b="0" i="0" lang="en" sz="93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const {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30"/>
              <a:buFont typeface="Courier New"/>
              <a:buNone/>
            </a:pPr>
            <a:r>
              <a:rPr b="0" i="0" lang="en" sz="93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title,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30"/>
              <a:buFont typeface="Courier New"/>
              <a:buNone/>
            </a:pPr>
            <a:r>
              <a:rPr b="0" i="0" lang="en" sz="93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topic,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30"/>
              <a:buFont typeface="Courier New"/>
              <a:buNone/>
            </a:pPr>
            <a:r>
              <a:rPr b="0" i="0" lang="en" sz="93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duration,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30"/>
              <a:buFont typeface="Courier New"/>
              <a:buNone/>
            </a:pPr>
            <a:r>
              <a:rPr b="0" i="0" lang="en" sz="93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} = this.props;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0"/>
              <a:buFont typeface="Arial"/>
              <a:buNone/>
            </a:pPr>
            <a:r>
              <a:t/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30"/>
              <a:buFont typeface="Courier New"/>
              <a:buNone/>
            </a:pPr>
            <a:r>
              <a:rPr b="0" i="0" lang="en" sz="93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// return episode JSX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30"/>
              <a:buFont typeface="Courier New"/>
              <a:buNone/>
            </a:pPr>
            <a:r>
              <a:rPr b="0" i="0" lang="en" sz="93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30"/>
              <a:buFont typeface="Courier New"/>
              <a:buNone/>
            </a:pPr>
            <a:r>
              <a:rPr b="0" i="0" lang="en" sz="93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48"/>
          <p:cNvSpPr/>
          <p:nvPr/>
        </p:nvSpPr>
        <p:spPr>
          <a:xfrm>
            <a:off x="713232" y="2103120"/>
            <a:ext cx="2468880" cy="530352"/>
          </a:xfrm>
          <a:prstGeom prst="roundRect">
            <a:avLst>
              <a:gd fmla="val 12069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48"/>
          <p:cNvSpPr/>
          <p:nvPr/>
        </p:nvSpPr>
        <p:spPr>
          <a:xfrm>
            <a:off x="804672" y="2176272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60"/>
              <a:buFont typeface="Arial"/>
              <a:buNone/>
            </a:pPr>
            <a:r>
              <a:rPr b="0" i="0" lang="en" sz="10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this.props contains the prop values supplied to the class component.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48"/>
          <p:cNvSpPr/>
          <p:nvPr/>
        </p:nvSpPr>
        <p:spPr>
          <a:xfrm>
            <a:off x="713232" y="2971800"/>
            <a:ext cx="2468880" cy="594360"/>
          </a:xfrm>
          <a:prstGeom prst="roundRect">
            <a:avLst>
              <a:gd fmla="val 10769" name="adj"/>
            </a:avLst>
          </a:prstGeom>
          <a:solidFill>
            <a:srgbClr val="FEF9C3"/>
          </a:solidFill>
          <a:ln cap="flat" cmpd="sng" w="12700">
            <a:solidFill>
              <a:srgbClr val="FACC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48"/>
          <p:cNvSpPr/>
          <p:nvPr/>
        </p:nvSpPr>
        <p:spPr>
          <a:xfrm>
            <a:off x="804672" y="3044952"/>
            <a:ext cx="228600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Component&lt;EpisodeCardProps&gt; tells TypeScript which props this component expects.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48"/>
          <p:cNvSpPr/>
          <p:nvPr/>
        </p:nvSpPr>
        <p:spPr>
          <a:xfrm>
            <a:off x="3429000" y="3840480"/>
            <a:ext cx="4800600" cy="384048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48"/>
          <p:cNvSpPr/>
          <p:nvPr/>
        </p:nvSpPr>
        <p:spPr>
          <a:xfrm>
            <a:off x="3520440" y="3913632"/>
            <a:ext cx="4617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70"/>
              <a:buFont typeface="Arial"/>
              <a:buNone/>
            </a:pPr>
            <a:r>
              <a:rPr b="0" i="0" lang="en" sz="10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This reconnects to generic syntax learners have already seen.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49"/>
          <p:cNvSpPr/>
          <p:nvPr/>
        </p:nvSpPr>
        <p:spPr>
          <a:xfrm>
            <a:off x="548640" y="365760"/>
            <a:ext cx="6629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Function and class components can render the same UI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49"/>
          <p:cNvSpPr/>
          <p:nvPr/>
        </p:nvSpPr>
        <p:spPr>
          <a:xfrm>
            <a:off x="640080" y="960120"/>
            <a:ext cx="3794760" cy="292608"/>
          </a:xfrm>
          <a:prstGeom prst="roundRect">
            <a:avLst>
              <a:gd fmla="val 21875" name="adj"/>
            </a:avLst>
          </a:prstGeom>
          <a:solidFill>
            <a:srgbClr val="EFF6FF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49"/>
          <p:cNvSpPr/>
          <p:nvPr/>
        </p:nvSpPr>
        <p:spPr>
          <a:xfrm>
            <a:off x="731520" y="1033272"/>
            <a:ext cx="36118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20"/>
              <a:buFont typeface="Arial"/>
              <a:buNone/>
            </a:pPr>
            <a:r>
              <a:rPr b="1" i="0" lang="en" sz="12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Function component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49"/>
          <p:cNvSpPr/>
          <p:nvPr/>
        </p:nvSpPr>
        <p:spPr>
          <a:xfrm>
            <a:off x="640080" y="1353312"/>
            <a:ext cx="3794760" cy="1737360"/>
          </a:xfrm>
          <a:prstGeom prst="roundRect">
            <a:avLst>
              <a:gd fmla="val 3684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49"/>
          <p:cNvSpPr/>
          <p:nvPr/>
        </p:nvSpPr>
        <p:spPr>
          <a:xfrm>
            <a:off x="731520" y="1426464"/>
            <a:ext cx="3611880" cy="15910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70"/>
              <a:buFont typeface="Courier New"/>
              <a:buNone/>
            </a:pPr>
            <a:r>
              <a:rPr b="0" i="0" lang="en" sz="87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function EpisodeCard({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70"/>
              <a:buFont typeface="Courier New"/>
              <a:buNone/>
            </a:pPr>
            <a:r>
              <a:rPr b="0" i="0" lang="en" sz="87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title,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70"/>
              <a:buFont typeface="Courier New"/>
              <a:buNone/>
            </a:pPr>
            <a:r>
              <a:rPr b="0" i="0" lang="en" sz="87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topic,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70"/>
              <a:buFont typeface="Courier New"/>
              <a:buNone/>
            </a:pPr>
            <a:r>
              <a:rPr b="0" i="0" lang="en" sz="87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duration,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70"/>
              <a:buFont typeface="Courier New"/>
              <a:buNone/>
            </a:pPr>
            <a:r>
              <a:rPr b="0" i="0" lang="en" sz="87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}: EpisodeCardProps) {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70"/>
              <a:buFont typeface="Courier New"/>
              <a:buNone/>
            </a:pPr>
            <a:r>
              <a:rPr b="0" i="0" lang="en" sz="87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return (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70"/>
              <a:buFont typeface="Courier New"/>
              <a:buNone/>
            </a:pPr>
            <a:r>
              <a:rPr b="0" i="0" lang="en" sz="87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// episode JSX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70"/>
              <a:buFont typeface="Courier New"/>
              <a:buNone/>
            </a:pPr>
            <a:r>
              <a:rPr b="0" i="0" lang="en" sz="87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);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70"/>
              <a:buFont typeface="Courier New"/>
              <a:buNone/>
            </a:pPr>
            <a:r>
              <a:rPr b="0" i="0" lang="en" sz="87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49"/>
          <p:cNvSpPr/>
          <p:nvPr/>
        </p:nvSpPr>
        <p:spPr>
          <a:xfrm>
            <a:off x="4709160" y="960120"/>
            <a:ext cx="3794760" cy="292608"/>
          </a:xfrm>
          <a:prstGeom prst="roundRect">
            <a:avLst>
              <a:gd fmla="val 21875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49"/>
          <p:cNvSpPr/>
          <p:nvPr/>
        </p:nvSpPr>
        <p:spPr>
          <a:xfrm>
            <a:off x="4800600" y="1033272"/>
            <a:ext cx="36118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20"/>
              <a:buFont typeface="Arial"/>
              <a:buNone/>
            </a:pPr>
            <a:r>
              <a:rPr b="1" i="0" lang="en" sz="12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Class component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49"/>
          <p:cNvSpPr/>
          <p:nvPr/>
        </p:nvSpPr>
        <p:spPr>
          <a:xfrm>
            <a:off x="4709160" y="1353312"/>
            <a:ext cx="3794760" cy="1737360"/>
          </a:xfrm>
          <a:prstGeom prst="roundRect">
            <a:avLst>
              <a:gd fmla="val 3684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49"/>
          <p:cNvSpPr/>
          <p:nvPr/>
        </p:nvSpPr>
        <p:spPr>
          <a:xfrm>
            <a:off x="4800600" y="1426464"/>
            <a:ext cx="3611880" cy="15910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urier New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class EpisodeCardClass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urier New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extends Component&lt;EpisodeCardProps&gt; {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Arial"/>
              <a:buNone/>
            </a:pPr>
            <a:r>
              <a:t/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urier New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render() {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urier New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const { title, topic, duration } = this.props;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Arial"/>
              <a:buNone/>
            </a:pPr>
            <a:r>
              <a:t/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urier New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(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urier New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// episode JSX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urier New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);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urier New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urier New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49"/>
          <p:cNvSpPr/>
          <p:nvPr/>
        </p:nvSpPr>
        <p:spPr>
          <a:xfrm>
            <a:off x="868680" y="3520440"/>
            <a:ext cx="3337560" cy="384048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49"/>
          <p:cNvSpPr/>
          <p:nvPr/>
        </p:nvSpPr>
        <p:spPr>
          <a:xfrm>
            <a:off x="960120" y="3593592"/>
            <a:ext cx="31546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60"/>
              <a:buFont typeface="Arial"/>
              <a:buNone/>
            </a:pPr>
            <a:r>
              <a:rPr b="0" i="0" lang="en" sz="10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Function: props parameter, then return JSX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49"/>
          <p:cNvSpPr/>
          <p:nvPr/>
        </p:nvSpPr>
        <p:spPr>
          <a:xfrm>
            <a:off x="4937760" y="3520440"/>
            <a:ext cx="3337560" cy="384048"/>
          </a:xfrm>
          <a:prstGeom prst="roundRect">
            <a:avLst>
              <a:gd fmla="val 16667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49"/>
          <p:cNvSpPr/>
          <p:nvPr/>
        </p:nvSpPr>
        <p:spPr>
          <a:xfrm>
            <a:off x="5029200" y="3593592"/>
            <a:ext cx="31546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60"/>
              <a:buFont typeface="Arial"/>
              <a:buNone/>
            </a:pPr>
            <a:r>
              <a:rPr b="0" i="0" lang="en" sz="10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Class: this.props, then render(), then return JSX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49"/>
          <p:cNvSpPr/>
          <p:nvPr/>
        </p:nvSpPr>
        <p:spPr>
          <a:xfrm>
            <a:off x="1188720" y="4160520"/>
            <a:ext cx="6766560" cy="329184"/>
          </a:xfrm>
          <a:prstGeom prst="roundRect">
            <a:avLst>
              <a:gd fmla="val 19444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49"/>
          <p:cNvSpPr/>
          <p:nvPr/>
        </p:nvSpPr>
        <p:spPr>
          <a:xfrm>
            <a:off x="1280160" y="4233672"/>
            <a:ext cx="6583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70"/>
              <a:buFont typeface="Arial"/>
              <a:buNone/>
            </a:pPr>
            <a:r>
              <a:rPr b="0" i="0" lang="en" sz="10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For the rest of this course, our main implementation path will continue with function components.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50"/>
          <p:cNvSpPr/>
          <p:nvPr/>
        </p:nvSpPr>
        <p:spPr>
          <a:xfrm>
            <a:off x="548640" y="365760"/>
            <a:ext cx="6629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Checkpoint: How does each component access its props?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50"/>
          <p:cNvSpPr/>
          <p:nvPr/>
        </p:nvSpPr>
        <p:spPr>
          <a:xfrm>
            <a:off x="685800" y="932688"/>
            <a:ext cx="3794760" cy="2761488"/>
          </a:xfrm>
          <a:prstGeom prst="roundRect">
            <a:avLst>
              <a:gd fmla="val 2318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50"/>
          <p:cNvSpPr/>
          <p:nvPr/>
        </p:nvSpPr>
        <p:spPr>
          <a:xfrm>
            <a:off x="777240" y="1005840"/>
            <a:ext cx="3611880" cy="2615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70"/>
              <a:buFont typeface="Courier New"/>
              <a:buNone/>
            </a:pPr>
            <a:r>
              <a:rPr b="0" i="0" lang="en" sz="87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type BadgeProps = {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70"/>
              <a:buFont typeface="Courier New"/>
              <a:buNone/>
            </a:pPr>
            <a:r>
              <a:rPr b="0" i="0" lang="en" sz="87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label: string;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70"/>
              <a:buFont typeface="Courier New"/>
              <a:buNone/>
            </a:pPr>
            <a:r>
              <a:rPr b="0" i="0" lang="en" sz="87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70"/>
              <a:buFont typeface="Arial"/>
              <a:buNone/>
            </a:pPr>
            <a:r>
              <a:t/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70"/>
              <a:buFont typeface="Courier New"/>
              <a:buNone/>
            </a:pPr>
            <a:r>
              <a:rPr b="0" i="0" lang="en" sz="87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function Badge({ label }: BadgeProps) {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70"/>
              <a:buFont typeface="Courier New"/>
              <a:buNone/>
            </a:pPr>
            <a:r>
              <a:rPr b="0" i="0" lang="en" sz="87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return &lt;span&gt;{label}&lt;/span&gt;;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70"/>
              <a:buFont typeface="Courier New"/>
              <a:buNone/>
            </a:pPr>
            <a:r>
              <a:rPr b="0" i="0" lang="en" sz="87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70"/>
              <a:buFont typeface="Arial"/>
              <a:buNone/>
            </a:pPr>
            <a:r>
              <a:t/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70"/>
              <a:buFont typeface="Courier New"/>
              <a:buNone/>
            </a:pPr>
            <a:r>
              <a:rPr b="0" i="0" lang="en" sz="87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class BadgeClass extends Component&lt;BadgeProps&gt; {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70"/>
              <a:buFont typeface="Courier New"/>
              <a:buNone/>
            </a:pPr>
            <a:r>
              <a:rPr b="0" i="0" lang="en" sz="87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render() {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70"/>
              <a:buFont typeface="Courier New"/>
              <a:buNone/>
            </a:pPr>
            <a:r>
              <a:rPr b="0" i="0" lang="en" sz="87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&lt;span&gt;{/* ? */}&lt;/span&gt;;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70"/>
              <a:buFont typeface="Courier New"/>
              <a:buNone/>
            </a:pPr>
            <a:r>
              <a:rPr b="0" i="0" lang="en" sz="87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70"/>
              <a:buFont typeface="Courier New"/>
              <a:buNone/>
            </a:pPr>
            <a:r>
              <a:rPr b="0" i="0" lang="en" sz="87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50"/>
          <p:cNvSpPr/>
          <p:nvPr/>
        </p:nvSpPr>
        <p:spPr>
          <a:xfrm>
            <a:off x="4800600" y="960120"/>
            <a:ext cx="3520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20"/>
              <a:buFont typeface="Arial"/>
              <a:buNone/>
            </a:pPr>
            <a:r>
              <a:rPr b="0" i="0" lang="en" sz="12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What should replace the comment?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50"/>
          <p:cNvSpPr/>
          <p:nvPr/>
        </p:nvSpPr>
        <p:spPr>
          <a:xfrm>
            <a:off x="4800600" y="1508760"/>
            <a:ext cx="352044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20"/>
              <a:buFont typeface="Arial"/>
              <a:buNone/>
            </a:pPr>
            <a:r>
              <a:rPr b="0" i="0" lang="en" sz="11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A. label.props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Arial"/>
              <a:buNone/>
            </a:pPr>
            <a:r>
              <a:t/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20"/>
              <a:buFont typeface="Arial"/>
              <a:buNone/>
            </a:pPr>
            <a:r>
              <a:rPr b="0" i="0" lang="en" sz="11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B. props.label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Arial"/>
              <a:buNone/>
            </a:pPr>
            <a:r>
              <a:t/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20"/>
              <a:buFont typeface="Arial"/>
              <a:buNone/>
            </a:pPr>
            <a:r>
              <a:rPr b="0" i="0" lang="en" sz="11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C. this.label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Arial"/>
              <a:buNone/>
            </a:pPr>
            <a:r>
              <a:t/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20"/>
              <a:buFont typeface="Arial"/>
              <a:buNone/>
            </a:pPr>
            <a:r>
              <a:rPr b="0" i="0" lang="en" sz="11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D. this.props.label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50"/>
          <p:cNvSpPr/>
          <p:nvPr/>
        </p:nvSpPr>
        <p:spPr>
          <a:xfrm>
            <a:off x="685800" y="4078224"/>
            <a:ext cx="6903720" cy="749808"/>
          </a:xfrm>
          <a:prstGeom prst="roundRect">
            <a:avLst>
              <a:gd fmla="val 9756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50"/>
          <p:cNvSpPr/>
          <p:nvPr/>
        </p:nvSpPr>
        <p:spPr>
          <a:xfrm>
            <a:off x="804672" y="4151376"/>
            <a:ext cx="66294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70"/>
              <a:buFont typeface="Arial"/>
              <a:buNone/>
            </a:pPr>
            <a:r>
              <a:rPr b="0" i="0" lang="en" sz="10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Answer: D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70"/>
              <a:buFont typeface="Arial"/>
              <a:buNone/>
            </a:pPr>
            <a:r>
              <a:rPr b="0" i="0" lang="en" sz="10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Why: A function reads props from its parameter. A class component reads the same incoming data through this.props.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51"/>
          <p:cNvSpPr/>
          <p:nvPr/>
        </p:nvSpPr>
        <p:spPr>
          <a:xfrm>
            <a:off x="548640" y="365760"/>
            <a:ext cx="6629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Build a reusable RecipeCard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51"/>
          <p:cNvSpPr/>
          <p:nvPr/>
        </p:nvSpPr>
        <p:spPr>
          <a:xfrm>
            <a:off x="731520" y="960120"/>
            <a:ext cx="32918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You are building part of a recipe browser.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Each card should display a recipe's name, cuisine, and preparation time.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51"/>
          <p:cNvSpPr/>
          <p:nvPr/>
        </p:nvSpPr>
        <p:spPr>
          <a:xfrm>
            <a:off x="4251960" y="1051560"/>
            <a:ext cx="1417320" cy="960120"/>
          </a:xfrm>
          <a:prstGeom prst="roundRect">
            <a:avLst>
              <a:gd fmla="val 7619" name="adj"/>
            </a:avLst>
          </a:prstGeom>
          <a:solidFill>
            <a:srgbClr val="EFF6FF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51"/>
          <p:cNvSpPr/>
          <p:nvPr/>
        </p:nvSpPr>
        <p:spPr>
          <a:xfrm>
            <a:off x="4361688" y="1143000"/>
            <a:ext cx="11978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20"/>
              <a:buFont typeface="Arial"/>
              <a:buNone/>
            </a:pPr>
            <a:r>
              <a:rPr b="1" i="0" lang="en" sz="11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Masala dosa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51"/>
          <p:cNvSpPr/>
          <p:nvPr/>
        </p:nvSpPr>
        <p:spPr>
          <a:xfrm>
            <a:off x="4361688" y="1453896"/>
            <a:ext cx="1197864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40"/>
              <a:buFont typeface="Arial"/>
              <a:buNone/>
            </a:pPr>
            <a:r>
              <a:rPr b="0" i="0" lang="en" sz="104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South Indian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40"/>
              <a:buFont typeface="Arial"/>
              <a:buNone/>
            </a:pPr>
            <a:r>
              <a:rPr b="0" i="0" lang="en" sz="104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25 min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51"/>
          <p:cNvSpPr/>
          <p:nvPr/>
        </p:nvSpPr>
        <p:spPr>
          <a:xfrm>
            <a:off x="5806440" y="1051560"/>
            <a:ext cx="1417320" cy="960120"/>
          </a:xfrm>
          <a:prstGeom prst="roundRect">
            <a:avLst>
              <a:gd fmla="val 7619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51"/>
          <p:cNvSpPr/>
          <p:nvPr/>
        </p:nvSpPr>
        <p:spPr>
          <a:xfrm>
            <a:off x="5916168" y="1143000"/>
            <a:ext cx="11978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70"/>
              <a:buFont typeface="Arial"/>
              <a:buNone/>
            </a:pPr>
            <a:r>
              <a:rPr b="1" i="0" lang="en" sz="10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Vegetable pulao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51"/>
          <p:cNvSpPr/>
          <p:nvPr/>
        </p:nvSpPr>
        <p:spPr>
          <a:xfrm>
            <a:off x="5916168" y="1453896"/>
            <a:ext cx="1197864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40"/>
              <a:buFont typeface="Arial"/>
              <a:buNone/>
            </a:pPr>
            <a:r>
              <a:rPr b="0" i="0" lang="en" sz="104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Indian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40"/>
              <a:buFont typeface="Arial"/>
              <a:buNone/>
            </a:pPr>
            <a:r>
              <a:rPr b="0" i="0" lang="en" sz="104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35 min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51"/>
          <p:cNvSpPr/>
          <p:nvPr/>
        </p:nvSpPr>
        <p:spPr>
          <a:xfrm>
            <a:off x="7360920" y="1051560"/>
            <a:ext cx="1417320" cy="960120"/>
          </a:xfrm>
          <a:prstGeom prst="roundRect">
            <a:avLst>
              <a:gd fmla="val 7619" name="adj"/>
            </a:avLst>
          </a:prstGeom>
          <a:solidFill>
            <a:srgbClr val="FEF9C3"/>
          </a:solidFill>
          <a:ln cap="flat" cmpd="sng" w="12700">
            <a:solidFill>
              <a:srgbClr val="FACC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51"/>
          <p:cNvSpPr/>
          <p:nvPr/>
        </p:nvSpPr>
        <p:spPr>
          <a:xfrm>
            <a:off x="7470648" y="1143000"/>
            <a:ext cx="11978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70"/>
              <a:buFont typeface="Arial"/>
              <a:buNone/>
            </a:pPr>
            <a:r>
              <a:rPr b="1" i="0" lang="en" sz="10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Pasta primavera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51"/>
          <p:cNvSpPr/>
          <p:nvPr/>
        </p:nvSpPr>
        <p:spPr>
          <a:xfrm>
            <a:off x="7470648" y="1453896"/>
            <a:ext cx="1197864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40"/>
              <a:buFont typeface="Arial"/>
              <a:buNone/>
            </a:pPr>
            <a:r>
              <a:rPr b="0" i="0" lang="en" sz="104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Italian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40"/>
              <a:buFont typeface="Arial"/>
              <a:buNone/>
            </a:pPr>
            <a:r>
              <a:rPr b="0" i="0" lang="en" sz="104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30 min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51"/>
          <p:cNvSpPr/>
          <p:nvPr/>
        </p:nvSpPr>
        <p:spPr>
          <a:xfrm>
            <a:off x="1097280" y="3291840"/>
            <a:ext cx="6949440" cy="512064"/>
          </a:xfrm>
          <a:prstGeom prst="roundRect">
            <a:avLst>
              <a:gd fmla="val 12500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51"/>
          <p:cNvSpPr/>
          <p:nvPr/>
        </p:nvSpPr>
        <p:spPr>
          <a:xfrm>
            <a:off x="1188720" y="3364992"/>
            <a:ext cx="6766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80"/>
              <a:buFont typeface="Arial"/>
              <a:buNone/>
            </a:pPr>
            <a:r>
              <a:rPr b="0" i="0" lang="en" sz="11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Build one reusable component that can display all three recipes with different prop values.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52"/>
          <p:cNvSpPr/>
          <p:nvPr/>
        </p:nvSpPr>
        <p:spPr>
          <a:xfrm>
            <a:off x="548640" y="365760"/>
            <a:ext cx="6629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Complete RecipeCard and render three recipes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52"/>
          <p:cNvSpPr/>
          <p:nvPr/>
        </p:nvSpPr>
        <p:spPr>
          <a:xfrm>
            <a:off x="594360" y="914400"/>
            <a:ext cx="2560320" cy="274320"/>
          </a:xfrm>
          <a:prstGeom prst="roundRect">
            <a:avLst>
              <a:gd fmla="val 23333" name="adj"/>
            </a:avLst>
          </a:prstGeom>
          <a:solidFill>
            <a:srgbClr val="EFF6FF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52"/>
          <p:cNvSpPr/>
          <p:nvPr/>
        </p:nvSpPr>
        <p:spPr>
          <a:xfrm>
            <a:off x="685800" y="987552"/>
            <a:ext cx="237744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80"/>
              <a:buFont typeface="Arial"/>
              <a:buNone/>
            </a:pPr>
            <a:r>
              <a:rPr b="1" i="0" lang="en" sz="10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Define the prop type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52"/>
          <p:cNvSpPr/>
          <p:nvPr/>
        </p:nvSpPr>
        <p:spPr>
          <a:xfrm>
            <a:off x="594360" y="1261872"/>
            <a:ext cx="2560320" cy="932688"/>
          </a:xfrm>
          <a:prstGeom prst="roundRect">
            <a:avLst>
              <a:gd fmla="val 6863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52"/>
          <p:cNvSpPr/>
          <p:nvPr/>
        </p:nvSpPr>
        <p:spPr>
          <a:xfrm>
            <a:off x="685800" y="1335024"/>
            <a:ext cx="2377440" cy="7863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urier New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type RecipeCardProps = {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urier New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name: string;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urier New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cuisine: string;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urier New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prepTime: number;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urier New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52"/>
          <p:cNvSpPr/>
          <p:nvPr/>
        </p:nvSpPr>
        <p:spPr>
          <a:xfrm>
            <a:off x="594360" y="2423160"/>
            <a:ext cx="2560320" cy="530352"/>
          </a:xfrm>
          <a:prstGeom prst="roundRect">
            <a:avLst>
              <a:gd fmla="val 12069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52"/>
          <p:cNvSpPr/>
          <p:nvPr/>
        </p:nvSpPr>
        <p:spPr>
          <a:xfrm>
            <a:off x="685800" y="2496312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Create RecipeCard.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The component should receive and render all three values.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52"/>
          <p:cNvSpPr/>
          <p:nvPr/>
        </p:nvSpPr>
        <p:spPr>
          <a:xfrm>
            <a:off x="3474720" y="914400"/>
            <a:ext cx="2514600" cy="274320"/>
          </a:xfrm>
          <a:prstGeom prst="roundRect">
            <a:avLst>
              <a:gd fmla="val 23333" name="adj"/>
            </a:avLst>
          </a:prstGeom>
          <a:solidFill>
            <a:srgbClr val="EFF6FF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52"/>
          <p:cNvSpPr/>
          <p:nvPr/>
        </p:nvSpPr>
        <p:spPr>
          <a:xfrm>
            <a:off x="3566160" y="987552"/>
            <a:ext cx="233172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80"/>
              <a:buFont typeface="Arial"/>
              <a:buNone/>
            </a:pPr>
            <a:r>
              <a:rPr b="1" i="0" lang="en" sz="10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Recipe values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52"/>
          <p:cNvSpPr/>
          <p:nvPr/>
        </p:nvSpPr>
        <p:spPr>
          <a:xfrm>
            <a:off x="3474720" y="1298448"/>
            <a:ext cx="1170432" cy="768096"/>
          </a:xfrm>
          <a:prstGeom prst="roundRect">
            <a:avLst>
              <a:gd fmla="val 8333" name="adj"/>
            </a:avLst>
          </a:prstGeom>
          <a:solidFill>
            <a:srgbClr val="EFF6FF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52"/>
          <p:cNvSpPr/>
          <p:nvPr/>
        </p:nvSpPr>
        <p:spPr>
          <a:xfrm>
            <a:off x="3566160" y="1371600"/>
            <a:ext cx="98755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80"/>
              <a:buFont typeface="Arial"/>
              <a:buNone/>
            </a:pPr>
            <a:r>
              <a:rPr b="0" i="0" lang="en" sz="9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Masala dosa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80"/>
              <a:buFont typeface="Arial"/>
              <a:buNone/>
            </a:pPr>
            <a:r>
              <a:rPr b="0" i="0" lang="en" sz="9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South Indian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80"/>
              <a:buFont typeface="Arial"/>
              <a:buNone/>
            </a:pPr>
            <a:r>
              <a:rPr b="0" i="0" lang="en" sz="9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52"/>
          <p:cNvSpPr/>
          <p:nvPr/>
        </p:nvSpPr>
        <p:spPr>
          <a:xfrm>
            <a:off x="4709160" y="1298448"/>
            <a:ext cx="1234440" cy="768096"/>
          </a:xfrm>
          <a:prstGeom prst="roundRect">
            <a:avLst>
              <a:gd fmla="val 8333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52"/>
          <p:cNvSpPr/>
          <p:nvPr/>
        </p:nvSpPr>
        <p:spPr>
          <a:xfrm>
            <a:off x="4800600" y="1371600"/>
            <a:ext cx="10515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80"/>
              <a:buFont typeface="Arial"/>
              <a:buNone/>
            </a:pPr>
            <a:r>
              <a:rPr b="0" i="0" lang="en" sz="9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Vegetable pulao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80"/>
              <a:buFont typeface="Arial"/>
              <a:buNone/>
            </a:pPr>
            <a:r>
              <a:rPr b="0" i="0" lang="en" sz="9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Indian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80"/>
              <a:buFont typeface="Arial"/>
              <a:buNone/>
            </a:pPr>
            <a:r>
              <a:rPr b="0" i="0" lang="en" sz="9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35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52"/>
          <p:cNvSpPr/>
          <p:nvPr/>
        </p:nvSpPr>
        <p:spPr>
          <a:xfrm>
            <a:off x="6016752" y="1298448"/>
            <a:ext cx="1234440" cy="768096"/>
          </a:xfrm>
          <a:prstGeom prst="roundRect">
            <a:avLst>
              <a:gd fmla="val 8333" name="adj"/>
            </a:avLst>
          </a:prstGeom>
          <a:solidFill>
            <a:srgbClr val="FEF9C3"/>
          </a:solidFill>
          <a:ln cap="flat" cmpd="sng" w="12700">
            <a:solidFill>
              <a:srgbClr val="FACC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52"/>
          <p:cNvSpPr/>
          <p:nvPr/>
        </p:nvSpPr>
        <p:spPr>
          <a:xfrm>
            <a:off x="6108192" y="1371600"/>
            <a:ext cx="10515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80"/>
              <a:buFont typeface="Arial"/>
              <a:buNone/>
            </a:pPr>
            <a:r>
              <a:rPr b="0" i="0" lang="en" sz="9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Pasta primavera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80"/>
              <a:buFont typeface="Arial"/>
              <a:buNone/>
            </a:pPr>
            <a:r>
              <a:rPr b="0" i="0" lang="en" sz="9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Italian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80"/>
              <a:buFont typeface="Arial"/>
              <a:buNone/>
            </a:pPr>
            <a:r>
              <a:rPr b="0" i="0" lang="en" sz="9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52"/>
          <p:cNvSpPr/>
          <p:nvPr/>
        </p:nvSpPr>
        <p:spPr>
          <a:xfrm>
            <a:off x="3474720" y="2331720"/>
            <a:ext cx="3840480" cy="274320"/>
          </a:xfrm>
          <a:prstGeom prst="roundRect">
            <a:avLst>
              <a:gd fmla="val 23333" name="adj"/>
            </a:avLst>
          </a:prstGeom>
          <a:solidFill>
            <a:srgbClr val="EFF6FF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52"/>
          <p:cNvSpPr/>
          <p:nvPr/>
        </p:nvSpPr>
        <p:spPr>
          <a:xfrm>
            <a:off x="3566160" y="2404872"/>
            <a:ext cx="365760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80"/>
              <a:buFont typeface="Arial"/>
              <a:buNone/>
            </a:pPr>
            <a:r>
              <a:rPr b="1" i="0" lang="en" sz="10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Starter reference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52"/>
          <p:cNvSpPr/>
          <p:nvPr/>
        </p:nvSpPr>
        <p:spPr>
          <a:xfrm>
            <a:off x="3474720" y="2670048"/>
            <a:ext cx="3840480" cy="1508760"/>
          </a:xfrm>
          <a:prstGeom prst="roundRect">
            <a:avLst>
              <a:gd fmla="val 4242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52"/>
          <p:cNvSpPr/>
          <p:nvPr/>
        </p:nvSpPr>
        <p:spPr>
          <a:xfrm>
            <a:off x="3566160" y="2743200"/>
            <a:ext cx="3657600" cy="1362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urier New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function App() {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urier New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return (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urier New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&lt;main&gt;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urier New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&lt;h1&gt;Recipe collection&lt;/h1&gt;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Arial"/>
              <a:buNone/>
            </a:pPr>
            <a:r>
              <a:t/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urier New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{/* Render your RecipeCard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urier New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    components here */}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urier New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&lt;/main&gt;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urier New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);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urier New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52"/>
          <p:cNvSpPr/>
          <p:nvPr/>
        </p:nvSpPr>
        <p:spPr>
          <a:xfrm>
            <a:off x="914400" y="4297680"/>
            <a:ext cx="6720840" cy="329184"/>
          </a:xfrm>
          <a:prstGeom prst="roundRect">
            <a:avLst>
              <a:gd fmla="val 19444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52"/>
          <p:cNvSpPr/>
          <p:nvPr/>
        </p:nvSpPr>
        <p:spPr>
          <a:xfrm>
            <a:off x="1005840" y="4370832"/>
            <a:ext cx="6537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10"/>
              <a:buFont typeface="Arial"/>
              <a:buNone/>
            </a:pPr>
            <a:r>
              <a:rPr b="0" i="0" lang="en" sz="101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Completion check: all three recipes appear, and the project has no unintended TypeScript errors.</a:t>
            </a:r>
            <a:endParaRPr b="0" i="0" sz="10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53"/>
          <p:cNvSpPr/>
          <p:nvPr/>
        </p:nvSpPr>
        <p:spPr>
          <a:xfrm>
            <a:off x="548640" y="365760"/>
            <a:ext cx="6629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Trace how RecipeCard becomes reusable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p53"/>
          <p:cNvSpPr/>
          <p:nvPr/>
        </p:nvSpPr>
        <p:spPr>
          <a:xfrm>
            <a:off x="640080" y="987552"/>
            <a:ext cx="2514600" cy="274320"/>
          </a:xfrm>
          <a:prstGeom prst="roundRect">
            <a:avLst>
              <a:gd fmla="val 23333" name="adj"/>
            </a:avLst>
          </a:prstGeom>
          <a:solidFill>
            <a:srgbClr val="EFF6FF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53"/>
          <p:cNvSpPr/>
          <p:nvPr/>
        </p:nvSpPr>
        <p:spPr>
          <a:xfrm>
            <a:off x="731520" y="1060704"/>
            <a:ext cx="233172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Define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53"/>
          <p:cNvSpPr/>
          <p:nvPr/>
        </p:nvSpPr>
        <p:spPr>
          <a:xfrm>
            <a:off x="640080" y="1371600"/>
            <a:ext cx="2514600" cy="932688"/>
          </a:xfrm>
          <a:prstGeom prst="roundRect">
            <a:avLst>
              <a:gd fmla="val 6863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53"/>
          <p:cNvSpPr/>
          <p:nvPr/>
        </p:nvSpPr>
        <p:spPr>
          <a:xfrm>
            <a:off x="731520" y="1444752"/>
            <a:ext cx="2331720" cy="7863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b="0" i="0" lang="en" sz="86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type RecipeCardProps = {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b="0" i="0" lang="en" sz="86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name: string;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b="0" i="0" lang="en" sz="86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cuisine: string;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b="0" i="0" lang="en" sz="86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prepTime: number;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b="0" i="0" lang="en" sz="86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53"/>
          <p:cNvSpPr/>
          <p:nvPr/>
        </p:nvSpPr>
        <p:spPr>
          <a:xfrm>
            <a:off x="3310128" y="987552"/>
            <a:ext cx="2514600" cy="274320"/>
          </a:xfrm>
          <a:prstGeom prst="roundRect">
            <a:avLst>
              <a:gd fmla="val 23333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53"/>
          <p:cNvSpPr/>
          <p:nvPr/>
        </p:nvSpPr>
        <p:spPr>
          <a:xfrm>
            <a:off x="3401568" y="1060704"/>
            <a:ext cx="233172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Receive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p53"/>
          <p:cNvSpPr/>
          <p:nvPr/>
        </p:nvSpPr>
        <p:spPr>
          <a:xfrm>
            <a:off x="3310128" y="1371600"/>
            <a:ext cx="2514600" cy="1280160"/>
          </a:xfrm>
          <a:prstGeom prst="roundRect">
            <a:avLst>
              <a:gd fmla="val 5000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53"/>
          <p:cNvSpPr/>
          <p:nvPr/>
        </p:nvSpPr>
        <p:spPr>
          <a:xfrm>
            <a:off x="3401568" y="1444752"/>
            <a:ext cx="2331720" cy="11338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urier New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function RecipeCard({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urier New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name,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urier New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cuisine,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urier New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prepTime,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urier New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}: RecipeCardProps) {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urier New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// JSX uses the values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urier New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53"/>
          <p:cNvSpPr/>
          <p:nvPr/>
        </p:nvSpPr>
        <p:spPr>
          <a:xfrm>
            <a:off x="5980176" y="987552"/>
            <a:ext cx="2514600" cy="274320"/>
          </a:xfrm>
          <a:prstGeom prst="roundRect">
            <a:avLst>
              <a:gd fmla="val 23333" name="adj"/>
            </a:avLst>
          </a:prstGeom>
          <a:solidFill>
            <a:srgbClr val="FEF9C3"/>
          </a:solidFill>
          <a:ln cap="flat" cmpd="sng" w="12700">
            <a:solidFill>
              <a:srgbClr val="FACC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53"/>
          <p:cNvSpPr/>
          <p:nvPr/>
        </p:nvSpPr>
        <p:spPr>
          <a:xfrm>
            <a:off x="6071616" y="1060704"/>
            <a:ext cx="233172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Reuse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53"/>
          <p:cNvSpPr/>
          <p:nvPr/>
        </p:nvSpPr>
        <p:spPr>
          <a:xfrm>
            <a:off x="5980176" y="1371600"/>
            <a:ext cx="2514600" cy="932688"/>
          </a:xfrm>
          <a:prstGeom prst="roundRect">
            <a:avLst>
              <a:gd fmla="val 6863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53"/>
          <p:cNvSpPr/>
          <p:nvPr/>
        </p:nvSpPr>
        <p:spPr>
          <a:xfrm>
            <a:off x="6071616" y="1444752"/>
            <a:ext cx="2331720" cy="7863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urier New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&lt;RecipeCard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urier New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name="Masala dosa"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urier New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cuisine="South Indian"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urier New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prepTime={25}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urier New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p53"/>
          <p:cNvSpPr/>
          <p:nvPr/>
        </p:nvSpPr>
        <p:spPr>
          <a:xfrm>
            <a:off x="1097280" y="3337560"/>
            <a:ext cx="6949440" cy="411480"/>
          </a:xfrm>
          <a:prstGeom prst="roundRect">
            <a:avLst>
              <a:gd fmla="val 15556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53"/>
          <p:cNvSpPr/>
          <p:nvPr/>
        </p:nvSpPr>
        <p:spPr>
          <a:xfrm>
            <a:off x="1188720" y="3410712"/>
            <a:ext cx="6766560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40"/>
              <a:buFont typeface="Arial"/>
              <a:buNone/>
            </a:pPr>
            <a:r>
              <a:rPr b="0" i="0" lang="en" sz="114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What stayed the same across all three cards, and what changed?</a:t>
            </a:r>
            <a:endParaRPr b="0" i="0" sz="11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p53"/>
          <p:cNvSpPr/>
          <p:nvPr/>
        </p:nvSpPr>
        <p:spPr>
          <a:xfrm>
            <a:off x="1097280" y="3977640"/>
            <a:ext cx="6949440" cy="475488"/>
          </a:xfrm>
          <a:prstGeom prst="roundRect">
            <a:avLst>
              <a:gd fmla="val 13462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53"/>
          <p:cNvSpPr/>
          <p:nvPr/>
        </p:nvSpPr>
        <p:spPr>
          <a:xfrm>
            <a:off x="1188720" y="4050792"/>
            <a:ext cx="6766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60"/>
              <a:buFont typeface="Arial"/>
              <a:buNone/>
            </a:pPr>
            <a:r>
              <a:rPr b="0" i="0" lang="en" sz="10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Expected response: the RecipeCard component definition stayed the same. The prop values changed for each component instance.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54"/>
          <p:cNvSpPr/>
          <p:nvPr/>
        </p:nvSpPr>
        <p:spPr>
          <a:xfrm>
            <a:off x="548640" y="365760"/>
            <a:ext cx="6629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Cool-down 1: What will this TSX render?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p54"/>
          <p:cNvSpPr/>
          <p:nvPr/>
        </p:nvSpPr>
        <p:spPr>
          <a:xfrm>
            <a:off x="685800" y="960120"/>
            <a:ext cx="3749040" cy="2057400"/>
          </a:xfrm>
          <a:prstGeom prst="roundRect">
            <a:avLst>
              <a:gd fmla="val 3111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54"/>
          <p:cNvSpPr/>
          <p:nvPr/>
        </p:nvSpPr>
        <p:spPr>
          <a:xfrm>
            <a:off x="777240" y="1033272"/>
            <a:ext cx="3566160" cy="19110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const episodes = 3;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20"/>
              <a:buFont typeface="Arial"/>
              <a:buNone/>
            </a:pPr>
            <a:r>
              <a:t/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return (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&lt;p&gt;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New this week: {episodes + 2}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&lt;/p&gt;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p54"/>
          <p:cNvSpPr/>
          <p:nvPr/>
        </p:nvSpPr>
        <p:spPr>
          <a:xfrm>
            <a:off x="4800600" y="1024128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30"/>
              <a:buFont typeface="Arial"/>
              <a:buNone/>
            </a:pPr>
            <a:r>
              <a:rPr b="0" i="0" lang="en" sz="123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What appears in the browser?</a:t>
            </a:r>
            <a:endParaRPr b="0" i="0" sz="12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p54"/>
          <p:cNvSpPr/>
          <p:nvPr/>
        </p:nvSpPr>
        <p:spPr>
          <a:xfrm>
            <a:off x="4800600" y="1554480"/>
            <a:ext cx="347472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A. New this week: episodes + 2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B. New this week: 32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C. New this week: 5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D. TypeScript rejects the expression.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p54"/>
          <p:cNvSpPr/>
          <p:nvPr/>
        </p:nvSpPr>
        <p:spPr>
          <a:xfrm>
            <a:off x="685800" y="4078224"/>
            <a:ext cx="6903720" cy="749808"/>
          </a:xfrm>
          <a:prstGeom prst="roundRect">
            <a:avLst>
              <a:gd fmla="val 9756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54"/>
          <p:cNvSpPr/>
          <p:nvPr/>
        </p:nvSpPr>
        <p:spPr>
          <a:xfrm>
            <a:off x="804672" y="4151376"/>
            <a:ext cx="66294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70"/>
              <a:buFont typeface="Arial"/>
              <a:buNone/>
            </a:pPr>
            <a:r>
              <a:rPr b="0" i="0" lang="en" sz="10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Answer: C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70"/>
              <a:buFont typeface="Arial"/>
              <a:buNone/>
            </a:pPr>
            <a:r>
              <a:rPr b="0" i="0" lang="en" sz="10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Why: The expression inside {} is evaluated as JavaScript. episodes + 2 becomes 5, and that value is rendered.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55"/>
          <p:cNvSpPr/>
          <p:nvPr/>
        </p:nvSpPr>
        <p:spPr>
          <a:xfrm>
            <a:off x="548640" y="365760"/>
            <a:ext cx="6629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Cool-down 2: Which line renders the component?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p55"/>
          <p:cNvSpPr/>
          <p:nvPr/>
        </p:nvSpPr>
        <p:spPr>
          <a:xfrm>
            <a:off x="685800" y="896112"/>
            <a:ext cx="3749040" cy="2889504"/>
          </a:xfrm>
          <a:prstGeom prst="roundRect">
            <a:avLst>
              <a:gd fmla="val 2215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55"/>
          <p:cNvSpPr/>
          <p:nvPr/>
        </p:nvSpPr>
        <p:spPr>
          <a:xfrm>
            <a:off x="777240" y="969264"/>
            <a:ext cx="356616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Courier New"/>
              <a:buNone/>
            </a:pPr>
            <a:r>
              <a:rPr b="0" i="0" lang="en" sz="8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function TopicBadge() {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Courier New"/>
              <a:buNone/>
            </a:pPr>
            <a:r>
              <a:rPr b="0" i="0" lang="en" sz="8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return (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Courier New"/>
              <a:buNone/>
            </a:pPr>
            <a:r>
              <a:rPr b="0" i="0" lang="en" sz="8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&lt;span&gt;TypeScript&lt;/span&gt;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Courier New"/>
              <a:buNone/>
            </a:pPr>
            <a:r>
              <a:rPr b="0" i="0" lang="en" sz="8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);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Courier New"/>
              <a:buNone/>
            </a:pPr>
            <a:r>
              <a:rPr b="0" i="0" lang="en" sz="8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"/>
              <a:buFont typeface="Arial"/>
              <a:buNone/>
            </a:pPr>
            <a:r>
              <a:t/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Courier New"/>
              <a:buNone/>
            </a:pPr>
            <a:r>
              <a:rPr b="0" i="0" lang="en" sz="8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function App() {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Courier New"/>
              <a:buNone/>
            </a:pPr>
            <a:r>
              <a:rPr b="0" i="0" lang="en" sz="8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return (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Courier New"/>
              <a:buNone/>
            </a:pPr>
            <a:r>
              <a:rPr b="0" i="0" lang="en" sz="8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&lt;main&gt;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Courier New"/>
              <a:buNone/>
            </a:pPr>
            <a:r>
              <a:rPr b="0" i="0" lang="en" sz="8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&lt;TopicBadge /&gt;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Courier New"/>
              <a:buNone/>
            </a:pPr>
            <a:r>
              <a:rPr b="0" i="0" lang="en" sz="8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&lt;/main&gt;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Courier New"/>
              <a:buNone/>
            </a:pPr>
            <a:r>
              <a:rPr b="0" i="0" lang="en" sz="8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);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Courier New"/>
              <a:buNone/>
            </a:pPr>
            <a:r>
              <a:rPr b="0" i="0" lang="en" sz="8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55"/>
          <p:cNvSpPr/>
          <p:nvPr/>
        </p:nvSpPr>
        <p:spPr>
          <a:xfrm>
            <a:off x="4800600" y="960120"/>
            <a:ext cx="3520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10"/>
              <a:buFont typeface="Arial"/>
              <a:buNone/>
            </a:pPr>
            <a:r>
              <a:rPr b="0" i="0" lang="en" sz="121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Which line asks React to render the custom component?</a:t>
            </a:r>
            <a:endParaRPr b="0" i="0" sz="12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p55"/>
          <p:cNvSpPr/>
          <p:nvPr/>
        </p:nvSpPr>
        <p:spPr>
          <a:xfrm>
            <a:off x="4800600" y="1600200"/>
            <a:ext cx="352044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A. function TopicBadge()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B. &lt;TopicBadge /&gt;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C. &lt;span&gt;TypeScript&lt;/span&gt;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D. function App()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55"/>
          <p:cNvSpPr/>
          <p:nvPr/>
        </p:nvSpPr>
        <p:spPr>
          <a:xfrm>
            <a:off x="685800" y="4078224"/>
            <a:ext cx="6903720" cy="749808"/>
          </a:xfrm>
          <a:prstGeom prst="roundRect">
            <a:avLst>
              <a:gd fmla="val 9756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55"/>
          <p:cNvSpPr/>
          <p:nvPr/>
        </p:nvSpPr>
        <p:spPr>
          <a:xfrm>
            <a:off x="804672" y="4151376"/>
            <a:ext cx="66294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70"/>
              <a:buFont typeface="Arial"/>
              <a:buNone/>
            </a:pPr>
            <a:r>
              <a:rPr b="0" i="0" lang="en" sz="10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Answer: B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70"/>
              <a:buFont typeface="Arial"/>
              <a:buNone/>
            </a:pPr>
            <a:r>
              <a:rPr b="0" i="0" lang="en" sz="10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Why: function TopicBadge() defines the component. &lt;TopicBadge /&gt; renders that component inside App.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56"/>
          <p:cNvSpPr/>
          <p:nvPr/>
        </p:nvSpPr>
        <p:spPr>
          <a:xfrm>
            <a:off x="548640" y="365760"/>
            <a:ext cx="6629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Cool-down 3: Which component use will TypeScript reject?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56"/>
          <p:cNvSpPr/>
          <p:nvPr/>
        </p:nvSpPr>
        <p:spPr>
          <a:xfrm>
            <a:off x="685800" y="868680"/>
            <a:ext cx="2834640" cy="658368"/>
          </a:xfrm>
          <a:prstGeom prst="roundRect">
            <a:avLst>
              <a:gd fmla="val 9722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56"/>
          <p:cNvSpPr/>
          <p:nvPr/>
        </p:nvSpPr>
        <p:spPr>
          <a:xfrm>
            <a:off x="777240" y="941832"/>
            <a:ext cx="26517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urier New"/>
              <a:buNone/>
            </a:pPr>
            <a:r>
              <a:rPr b="0" i="0" lang="en" sz="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type EpisodeCardProps = {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urier New"/>
              <a:buNone/>
            </a:pPr>
            <a:r>
              <a:rPr b="0" i="0" lang="en" sz="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title: string;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urier New"/>
              <a:buNone/>
            </a:pPr>
            <a:r>
              <a:rPr b="0" i="0" lang="en" sz="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duration: number;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urier New"/>
              <a:buNone/>
            </a:pPr>
            <a:r>
              <a:rPr b="0" i="0" lang="en" sz="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9" name="Google Shape;699;p56"/>
          <p:cNvSpPr/>
          <p:nvPr/>
        </p:nvSpPr>
        <p:spPr>
          <a:xfrm>
            <a:off x="3840480" y="960120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10"/>
              <a:buFont typeface="Arial"/>
              <a:buNone/>
            </a:pPr>
            <a:r>
              <a:rPr b="0" i="0" lang="en" sz="121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Which component use does not match the prop type?</a:t>
            </a:r>
            <a:endParaRPr b="0" i="0" sz="12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56"/>
          <p:cNvSpPr/>
          <p:nvPr/>
        </p:nvSpPr>
        <p:spPr>
          <a:xfrm>
            <a:off x="685800" y="1600200"/>
            <a:ext cx="320040" cy="228600"/>
          </a:xfrm>
          <a:prstGeom prst="roundRect">
            <a:avLst>
              <a:gd fmla="val 28000" name="adj"/>
            </a:avLst>
          </a:prstGeom>
          <a:solidFill>
            <a:srgbClr val="EFF6FF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56"/>
          <p:cNvSpPr/>
          <p:nvPr/>
        </p:nvSpPr>
        <p:spPr>
          <a:xfrm>
            <a:off x="777240" y="1673352"/>
            <a:ext cx="137160" cy="82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56"/>
          <p:cNvSpPr/>
          <p:nvPr/>
        </p:nvSpPr>
        <p:spPr>
          <a:xfrm>
            <a:off x="1097280" y="1581912"/>
            <a:ext cx="3246120" cy="804672"/>
          </a:xfrm>
          <a:prstGeom prst="roundRect">
            <a:avLst>
              <a:gd fmla="val 7955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6"/>
          <p:cNvSpPr/>
          <p:nvPr/>
        </p:nvSpPr>
        <p:spPr>
          <a:xfrm>
            <a:off x="1188720" y="1655064"/>
            <a:ext cx="30632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urier New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&lt;EpisodeCard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urier New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title="React foundations"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urier New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duration={24}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urier New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56"/>
          <p:cNvSpPr/>
          <p:nvPr/>
        </p:nvSpPr>
        <p:spPr>
          <a:xfrm>
            <a:off x="4617720" y="1600200"/>
            <a:ext cx="320040" cy="228600"/>
          </a:xfrm>
          <a:prstGeom prst="roundRect">
            <a:avLst>
              <a:gd fmla="val 28000" name="adj"/>
            </a:avLst>
          </a:prstGeom>
          <a:solidFill>
            <a:srgbClr val="EFF6FF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56"/>
          <p:cNvSpPr/>
          <p:nvPr/>
        </p:nvSpPr>
        <p:spPr>
          <a:xfrm>
            <a:off x="4709160" y="1673352"/>
            <a:ext cx="137160" cy="82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56"/>
          <p:cNvSpPr/>
          <p:nvPr/>
        </p:nvSpPr>
        <p:spPr>
          <a:xfrm>
            <a:off x="5029200" y="1581912"/>
            <a:ext cx="3246120" cy="804672"/>
          </a:xfrm>
          <a:prstGeom prst="roundRect">
            <a:avLst>
              <a:gd fmla="val 7955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56"/>
          <p:cNvSpPr/>
          <p:nvPr/>
        </p:nvSpPr>
        <p:spPr>
          <a:xfrm>
            <a:off x="5120640" y="1655064"/>
            <a:ext cx="30632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urier New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&lt;EpisodeCard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urier New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title="Typed components"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urier New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duration={31}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urier New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56"/>
          <p:cNvSpPr/>
          <p:nvPr/>
        </p:nvSpPr>
        <p:spPr>
          <a:xfrm>
            <a:off x="685800" y="2670048"/>
            <a:ext cx="320040" cy="228600"/>
          </a:xfrm>
          <a:prstGeom prst="roundRect">
            <a:avLst>
              <a:gd fmla="val 28000" name="adj"/>
            </a:avLst>
          </a:prstGeom>
          <a:solidFill>
            <a:srgbClr val="EFF6FF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56"/>
          <p:cNvSpPr/>
          <p:nvPr/>
        </p:nvSpPr>
        <p:spPr>
          <a:xfrm>
            <a:off x="777240" y="2743200"/>
            <a:ext cx="137160" cy="82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56"/>
          <p:cNvSpPr/>
          <p:nvPr/>
        </p:nvSpPr>
        <p:spPr>
          <a:xfrm>
            <a:off x="1097280" y="2651760"/>
            <a:ext cx="3246120" cy="804672"/>
          </a:xfrm>
          <a:prstGeom prst="roundRect">
            <a:avLst>
              <a:gd fmla="val 7955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6"/>
          <p:cNvSpPr/>
          <p:nvPr/>
        </p:nvSpPr>
        <p:spPr>
          <a:xfrm>
            <a:off x="1188720" y="2724912"/>
            <a:ext cx="30632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urier New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&lt;EpisodeCard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urier New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title="Working with props"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urier New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duration={18}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urier New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p56"/>
          <p:cNvSpPr/>
          <p:nvPr/>
        </p:nvSpPr>
        <p:spPr>
          <a:xfrm>
            <a:off x="4617720" y="2670048"/>
            <a:ext cx="320040" cy="228600"/>
          </a:xfrm>
          <a:prstGeom prst="roundRect">
            <a:avLst>
              <a:gd fmla="val 28000" name="adj"/>
            </a:avLst>
          </a:prstGeom>
          <a:solidFill>
            <a:srgbClr val="EFF6FF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56"/>
          <p:cNvSpPr/>
          <p:nvPr/>
        </p:nvSpPr>
        <p:spPr>
          <a:xfrm>
            <a:off x="4709160" y="2743200"/>
            <a:ext cx="137160" cy="82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p56"/>
          <p:cNvSpPr/>
          <p:nvPr/>
        </p:nvSpPr>
        <p:spPr>
          <a:xfrm>
            <a:off x="5029200" y="2651760"/>
            <a:ext cx="3246120" cy="804672"/>
          </a:xfrm>
          <a:prstGeom prst="roundRect">
            <a:avLst>
              <a:gd fmla="val 7955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56"/>
          <p:cNvSpPr/>
          <p:nvPr/>
        </p:nvSpPr>
        <p:spPr>
          <a:xfrm>
            <a:off x="5120640" y="2724912"/>
            <a:ext cx="30632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urier New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&lt;EpisodeCard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urier New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title="JSX expressions"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urier New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duration="26"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urier New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p56"/>
          <p:cNvSpPr/>
          <p:nvPr/>
        </p:nvSpPr>
        <p:spPr>
          <a:xfrm>
            <a:off x="685800" y="4078224"/>
            <a:ext cx="6903720" cy="749808"/>
          </a:xfrm>
          <a:prstGeom prst="roundRect">
            <a:avLst>
              <a:gd fmla="val 9756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56"/>
          <p:cNvSpPr/>
          <p:nvPr/>
        </p:nvSpPr>
        <p:spPr>
          <a:xfrm>
            <a:off x="804672" y="4151376"/>
            <a:ext cx="66294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70"/>
              <a:buFont typeface="Arial"/>
              <a:buNone/>
            </a:pPr>
            <a:r>
              <a:rPr b="0" i="0" lang="en" sz="10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Answer: D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70"/>
              <a:buFont typeface="Arial"/>
              <a:buNone/>
            </a:pPr>
            <a:r>
              <a:rPr b="0" i="0" lang="en" sz="10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Why: duration expects a number. "26" is a string, while {24}, {31}, and {18} supply numeric values.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7"/>
          <p:cNvSpPr/>
          <p:nvPr/>
        </p:nvSpPr>
        <p:spPr>
          <a:xfrm>
            <a:off x="548640" y="365760"/>
            <a:ext cx="6629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Cool-down 4: Which example demonstrates component reusability?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4" name="Google Shape;724;p57"/>
          <p:cNvSpPr/>
          <p:nvPr/>
        </p:nvSpPr>
        <p:spPr>
          <a:xfrm>
            <a:off x="685800" y="960120"/>
            <a:ext cx="7589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10"/>
              <a:buFont typeface="Arial"/>
              <a:buNone/>
            </a:pPr>
            <a:r>
              <a:rPr b="0" i="0" lang="en" sz="121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 page needs three cards with the same structure and different content.</a:t>
            </a:r>
            <a:endParaRPr b="0" i="0" sz="12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10"/>
              <a:buFont typeface="Arial"/>
              <a:buNone/>
            </a:pPr>
            <a:r>
              <a:t/>
            </a:r>
            <a:endParaRPr b="0" i="0" sz="12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10"/>
              <a:buFont typeface="Arial"/>
              <a:buNone/>
            </a:pPr>
            <a:r>
              <a:rPr b="0" i="0" lang="en" sz="121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Which approach best demonstrates the idea we practised today?</a:t>
            </a:r>
            <a:endParaRPr b="0" i="0" sz="12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5" name="Google Shape;725;p57"/>
          <p:cNvSpPr/>
          <p:nvPr/>
        </p:nvSpPr>
        <p:spPr>
          <a:xfrm>
            <a:off x="685800" y="1874520"/>
            <a:ext cx="3657600" cy="640080"/>
          </a:xfrm>
          <a:prstGeom prst="roundRect">
            <a:avLst>
              <a:gd fmla="val 11429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57"/>
          <p:cNvSpPr/>
          <p:nvPr/>
        </p:nvSpPr>
        <p:spPr>
          <a:xfrm>
            <a:off x="795528" y="1965960"/>
            <a:ext cx="343814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57"/>
          <p:cNvSpPr/>
          <p:nvPr/>
        </p:nvSpPr>
        <p:spPr>
          <a:xfrm>
            <a:off x="795528" y="2276856"/>
            <a:ext cx="343814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30"/>
              <a:buFont typeface="Arial"/>
              <a:buNone/>
            </a:pPr>
            <a:r>
              <a:rPr b="0" i="0" lang="en" sz="103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Define one CourseCard component and render it three times with different prop values.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57"/>
          <p:cNvSpPr/>
          <p:nvPr/>
        </p:nvSpPr>
        <p:spPr>
          <a:xfrm>
            <a:off x="4617720" y="1874520"/>
            <a:ext cx="3657600" cy="640080"/>
          </a:xfrm>
          <a:prstGeom prst="roundRect">
            <a:avLst>
              <a:gd fmla="val 11429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57"/>
          <p:cNvSpPr/>
          <p:nvPr/>
        </p:nvSpPr>
        <p:spPr>
          <a:xfrm>
            <a:off x="4727448" y="1965960"/>
            <a:ext cx="343814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0" name="Google Shape;730;p57"/>
          <p:cNvSpPr/>
          <p:nvPr/>
        </p:nvSpPr>
        <p:spPr>
          <a:xfrm>
            <a:off x="4727448" y="2276856"/>
            <a:ext cx="343814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30"/>
              <a:buFont typeface="Arial"/>
              <a:buNone/>
            </a:pPr>
            <a:r>
              <a:rPr b="0" i="0" lang="en" sz="103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Write three separate blocks of identical card markup directly inside App.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p57"/>
          <p:cNvSpPr/>
          <p:nvPr/>
        </p:nvSpPr>
        <p:spPr>
          <a:xfrm>
            <a:off x="685800" y="2788920"/>
            <a:ext cx="3657600" cy="640080"/>
          </a:xfrm>
          <a:prstGeom prst="roundRect">
            <a:avLst>
              <a:gd fmla="val 11429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57"/>
          <p:cNvSpPr/>
          <p:nvPr/>
        </p:nvSpPr>
        <p:spPr>
          <a:xfrm>
            <a:off x="795528" y="2880360"/>
            <a:ext cx="343814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p57"/>
          <p:cNvSpPr/>
          <p:nvPr/>
        </p:nvSpPr>
        <p:spPr>
          <a:xfrm>
            <a:off x="795528" y="3191256"/>
            <a:ext cx="343814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30"/>
              <a:buFont typeface="Arial"/>
              <a:buNone/>
            </a:pPr>
            <a:r>
              <a:rPr b="0" i="0" lang="en" sz="103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Create CourseCardOne, CourseCardTwo, and CourseCardThree with the same structure.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p57"/>
          <p:cNvSpPr/>
          <p:nvPr/>
        </p:nvSpPr>
        <p:spPr>
          <a:xfrm>
            <a:off x="4617720" y="2788920"/>
            <a:ext cx="3657600" cy="640080"/>
          </a:xfrm>
          <a:prstGeom prst="roundRect">
            <a:avLst>
              <a:gd fmla="val 11429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57"/>
          <p:cNvSpPr/>
          <p:nvPr/>
        </p:nvSpPr>
        <p:spPr>
          <a:xfrm>
            <a:off x="4727448" y="2880360"/>
            <a:ext cx="343814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p57"/>
          <p:cNvSpPr/>
          <p:nvPr/>
        </p:nvSpPr>
        <p:spPr>
          <a:xfrm>
            <a:off x="4727448" y="3191256"/>
            <a:ext cx="343814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30"/>
              <a:buFont typeface="Arial"/>
              <a:buNone/>
            </a:pPr>
            <a:r>
              <a:rPr b="0" i="0" lang="en" sz="103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Change the component source code before rendering each card.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p57"/>
          <p:cNvSpPr/>
          <p:nvPr/>
        </p:nvSpPr>
        <p:spPr>
          <a:xfrm>
            <a:off x="685800" y="4078224"/>
            <a:ext cx="6903720" cy="749808"/>
          </a:xfrm>
          <a:prstGeom prst="roundRect">
            <a:avLst>
              <a:gd fmla="val 9756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57"/>
          <p:cNvSpPr/>
          <p:nvPr/>
        </p:nvSpPr>
        <p:spPr>
          <a:xfrm>
            <a:off x="804672" y="4151376"/>
            <a:ext cx="66294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70"/>
              <a:buFont typeface="Arial"/>
              <a:buNone/>
            </a:pPr>
            <a:r>
              <a:rPr b="0" i="0" lang="en" sz="10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Answer: A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70"/>
              <a:buFont typeface="Arial"/>
              <a:buNone/>
            </a:pPr>
            <a:r>
              <a:rPr b="0" i="0" lang="en" sz="10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Why: Reusability means keeping one component definition and configuring different instances through their input values.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58"/>
          <p:cNvSpPr/>
          <p:nvPr/>
        </p:nvSpPr>
        <p:spPr>
          <a:xfrm>
            <a:off x="548640" y="365760"/>
            <a:ext cx="6629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Cool-down 5: How does the class component read the title?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p58"/>
          <p:cNvSpPr/>
          <p:nvPr/>
        </p:nvSpPr>
        <p:spPr>
          <a:xfrm>
            <a:off x="685800" y="896112"/>
            <a:ext cx="3794760" cy="2880360"/>
          </a:xfrm>
          <a:prstGeom prst="roundRect">
            <a:avLst>
              <a:gd fmla="val 2222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58"/>
          <p:cNvSpPr/>
          <p:nvPr/>
        </p:nvSpPr>
        <p:spPr>
          <a:xfrm>
            <a:off x="777240" y="969264"/>
            <a:ext cx="3611880" cy="27340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70"/>
              <a:buFont typeface="Courier New"/>
              <a:buNone/>
            </a:pPr>
            <a:r>
              <a:rPr b="0" i="0" lang="en" sz="87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type NoticeProps = {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70"/>
              <a:buFont typeface="Courier New"/>
              <a:buNone/>
            </a:pPr>
            <a:r>
              <a:rPr b="0" i="0" lang="en" sz="87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title: string;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70"/>
              <a:buFont typeface="Courier New"/>
              <a:buNone/>
            </a:pPr>
            <a:r>
              <a:rPr b="0" i="0" lang="en" sz="87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70"/>
              <a:buFont typeface="Arial"/>
              <a:buNone/>
            </a:pPr>
            <a:r>
              <a:t/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70"/>
              <a:buFont typeface="Courier New"/>
              <a:buNone/>
            </a:pPr>
            <a:r>
              <a:rPr b="0" i="0" lang="en" sz="87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class Notice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70"/>
              <a:buFont typeface="Courier New"/>
              <a:buNone/>
            </a:pPr>
            <a:r>
              <a:rPr b="0" i="0" lang="en" sz="87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extends Component&lt;NoticeProps&gt; {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70"/>
              <a:buFont typeface="Arial"/>
              <a:buNone/>
            </a:pPr>
            <a:r>
              <a:t/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70"/>
              <a:buFont typeface="Courier New"/>
              <a:buNone/>
            </a:pPr>
            <a:r>
              <a:rPr b="0" i="0" lang="en" sz="87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render() {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70"/>
              <a:buFont typeface="Courier New"/>
              <a:buNone/>
            </a:pPr>
            <a:r>
              <a:rPr b="0" i="0" lang="en" sz="87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(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70"/>
              <a:buFont typeface="Courier New"/>
              <a:buNone/>
            </a:pPr>
            <a:r>
              <a:rPr b="0" i="0" lang="en" sz="87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&lt;h2&gt;{/* ? */}&lt;/h2&gt;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70"/>
              <a:buFont typeface="Courier New"/>
              <a:buNone/>
            </a:pPr>
            <a:r>
              <a:rPr b="0" i="0" lang="en" sz="87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);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70"/>
              <a:buFont typeface="Courier New"/>
              <a:buNone/>
            </a:pPr>
            <a:r>
              <a:rPr b="0" i="0" lang="en" sz="87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70"/>
              <a:buFont typeface="Courier New"/>
              <a:buNone/>
            </a:pPr>
            <a:r>
              <a:rPr b="0" i="0" lang="en" sz="87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p58"/>
          <p:cNvSpPr/>
          <p:nvPr/>
        </p:nvSpPr>
        <p:spPr>
          <a:xfrm>
            <a:off x="4800600" y="960120"/>
            <a:ext cx="34747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10"/>
              <a:buFont typeface="Arial"/>
              <a:buNone/>
            </a:pPr>
            <a:r>
              <a:rPr b="0" i="0" lang="en" sz="121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Which expression correctly renders the incoming title prop?</a:t>
            </a:r>
            <a:endParaRPr b="0" i="0" sz="12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p58"/>
          <p:cNvSpPr/>
          <p:nvPr/>
        </p:nvSpPr>
        <p:spPr>
          <a:xfrm>
            <a:off x="4800600" y="1645920"/>
            <a:ext cx="347472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A. props.title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B. Notice.title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C. this.props.title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D. this.title.props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p58"/>
          <p:cNvSpPr/>
          <p:nvPr/>
        </p:nvSpPr>
        <p:spPr>
          <a:xfrm>
            <a:off x="685800" y="4078224"/>
            <a:ext cx="6903720" cy="749808"/>
          </a:xfrm>
          <a:prstGeom prst="roundRect">
            <a:avLst>
              <a:gd fmla="val 9756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58"/>
          <p:cNvSpPr/>
          <p:nvPr/>
        </p:nvSpPr>
        <p:spPr>
          <a:xfrm>
            <a:off x="804672" y="4151376"/>
            <a:ext cx="66294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70"/>
              <a:buFont typeface="Arial"/>
              <a:buNone/>
            </a:pPr>
            <a:r>
              <a:rPr b="0" i="0" lang="en" sz="10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Answer: C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70"/>
              <a:buFont typeface="Arial"/>
              <a:buNone/>
            </a:pPr>
            <a:r>
              <a:rPr b="0" i="0" lang="en" sz="10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Why: A class component reads its incoming props through this.props.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59"/>
          <p:cNvSpPr/>
          <p:nvPr/>
        </p:nvSpPr>
        <p:spPr>
          <a:xfrm>
            <a:off x="548640" y="365760"/>
            <a:ext cx="6629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Homework: Build a reusable exhibit card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p59"/>
          <p:cNvSpPr/>
          <p:nvPr/>
        </p:nvSpPr>
        <p:spPr>
          <a:xfrm>
            <a:off x="731520" y="960120"/>
            <a:ext cx="29260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Create a small museum-exhibit page in your React TypeScript project.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Define this prop type: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p59"/>
          <p:cNvSpPr/>
          <p:nvPr/>
        </p:nvSpPr>
        <p:spPr>
          <a:xfrm>
            <a:off x="731520" y="1755648"/>
            <a:ext cx="2926080" cy="960120"/>
          </a:xfrm>
          <a:prstGeom prst="roundRect">
            <a:avLst>
              <a:gd fmla="val 6667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p59"/>
          <p:cNvSpPr/>
          <p:nvPr/>
        </p:nvSpPr>
        <p:spPr>
          <a:xfrm>
            <a:off x="822960" y="1828800"/>
            <a:ext cx="2743200" cy="8138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20"/>
              <a:buFont typeface="Courier New"/>
              <a:buNone/>
            </a:pPr>
            <a:r>
              <a:rPr b="0" i="0" lang="en" sz="9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type ExhibitCardProps = {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20"/>
              <a:buFont typeface="Courier New"/>
              <a:buNone/>
            </a:pPr>
            <a:r>
              <a:rPr b="0" i="0" lang="en" sz="9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title: string;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20"/>
              <a:buFont typeface="Courier New"/>
              <a:buNone/>
            </a:pPr>
            <a:r>
              <a:rPr b="0" i="0" lang="en" sz="9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gallery: string;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20"/>
              <a:buFont typeface="Courier New"/>
              <a:buNone/>
            </a:pPr>
            <a:r>
              <a:rPr b="0" i="0" lang="en" sz="9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year: number;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20"/>
              <a:buFont typeface="Courier New"/>
              <a:buNone/>
            </a:pPr>
            <a:r>
              <a:rPr b="0" i="0" lang="en" sz="9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59"/>
          <p:cNvSpPr/>
          <p:nvPr/>
        </p:nvSpPr>
        <p:spPr>
          <a:xfrm>
            <a:off x="3977640" y="960120"/>
            <a:ext cx="4251960" cy="1207008"/>
          </a:xfrm>
          <a:prstGeom prst="roundRect">
            <a:avLst>
              <a:gd fmla="val 5303" name="adj"/>
            </a:avLst>
          </a:prstGeom>
          <a:solidFill>
            <a:srgbClr val="EFF6FF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p59"/>
          <p:cNvSpPr/>
          <p:nvPr/>
        </p:nvSpPr>
        <p:spPr>
          <a:xfrm>
            <a:off x="4069080" y="1033272"/>
            <a:ext cx="4069080" cy="10607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20"/>
              <a:buFont typeface="Arial"/>
              <a:buNone/>
            </a:pPr>
            <a:r>
              <a:rPr b="0" i="0" lang="en" sz="11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Create an ExhibitCard function component that renders all three values.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Arial"/>
              <a:buNone/>
            </a:pPr>
            <a:r>
              <a:t/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20"/>
              <a:buFont typeface="Arial"/>
              <a:buNone/>
            </a:pPr>
            <a:r>
              <a:rPr b="0" i="0" lang="en" sz="11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Then render at least three ExhibitCard instances directly from App, each with different valid props.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2" name="Google Shape;762;p59"/>
          <p:cNvSpPr/>
          <p:nvPr/>
        </p:nvSpPr>
        <p:spPr>
          <a:xfrm>
            <a:off x="3977640" y="2514600"/>
            <a:ext cx="4251960" cy="1600200"/>
          </a:xfrm>
          <a:prstGeom prst="roundRect">
            <a:avLst>
              <a:gd fmla="val 4571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59"/>
          <p:cNvSpPr/>
          <p:nvPr/>
        </p:nvSpPr>
        <p:spPr>
          <a:xfrm>
            <a:off x="4087368" y="2606040"/>
            <a:ext cx="403250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40"/>
              <a:buFont typeface="Arial"/>
              <a:buNone/>
            </a:pPr>
            <a:r>
              <a:rPr b="1" i="0" lang="en" sz="114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Completion check</a:t>
            </a:r>
            <a:endParaRPr b="0" i="0" sz="11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4" name="Google Shape;764;p59"/>
          <p:cNvSpPr/>
          <p:nvPr/>
        </p:nvSpPr>
        <p:spPr>
          <a:xfrm>
            <a:off x="4087368" y="2916936"/>
            <a:ext cx="4032504" cy="11064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80"/>
              <a:buFont typeface="Arial"/>
              <a:buNone/>
            </a:pPr>
            <a:r>
              <a:rPr b="0" i="0" lang="en" sz="9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ExhibitCard is defined once.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80"/>
              <a:buFont typeface="Arial"/>
              <a:buNone/>
            </a:pPr>
            <a:r>
              <a:rPr b="0" i="0" lang="en" sz="9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Each instance supplies its own prop values.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80"/>
              <a:buFont typeface="Arial"/>
              <a:buNone/>
            </a:pPr>
            <a:r>
              <a:rPr b="0" i="0" lang="en" sz="9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Every prop matches ExhibitCardProps.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80"/>
              <a:buFont typeface="Arial"/>
              <a:buNone/>
            </a:pPr>
            <a:r>
              <a:rPr b="0" i="0" lang="en" sz="9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All three values appear in the browser.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80"/>
              <a:buFont typeface="Arial"/>
              <a:buNone/>
            </a:pPr>
            <a:r>
              <a:rPr b="0" i="0" lang="en" sz="9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The project has no unintended TypeScript errors.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60"/>
          <p:cNvSpPr/>
          <p:nvPr/>
        </p:nvSpPr>
        <p:spPr>
          <a:xfrm>
            <a:off x="548640" y="365760"/>
            <a:ext cx="6629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Next: How can a child send information back?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p60"/>
          <p:cNvSpPr/>
          <p:nvPr/>
        </p:nvSpPr>
        <p:spPr>
          <a:xfrm>
            <a:off x="731520" y="960120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20"/>
              <a:buFont typeface="Arial"/>
              <a:buNone/>
            </a:pPr>
            <a:r>
              <a:rPr b="0" i="0" lang="en" sz="12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Today, data travelled into a component: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2" name="Google Shape;772;p60"/>
          <p:cNvSpPr/>
          <p:nvPr/>
        </p:nvSpPr>
        <p:spPr>
          <a:xfrm>
            <a:off x="868680" y="1572768"/>
            <a:ext cx="1828800" cy="438912"/>
          </a:xfrm>
          <a:prstGeom prst="roundRect">
            <a:avLst>
              <a:gd fmla="val 14583" name="adj"/>
            </a:avLst>
          </a:prstGeom>
          <a:solidFill>
            <a:srgbClr val="EFF6FF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60"/>
          <p:cNvSpPr/>
          <p:nvPr/>
        </p:nvSpPr>
        <p:spPr>
          <a:xfrm>
            <a:off x="960120" y="1645920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20"/>
              <a:buFont typeface="Arial"/>
              <a:buNone/>
            </a:pPr>
            <a:r>
              <a:rPr b="0" i="0" lang="en" sz="11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Parent component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74" name="Google Shape;774;p60"/>
          <p:cNvCxnSpPr/>
          <p:nvPr/>
        </p:nvCxnSpPr>
        <p:spPr>
          <a:xfrm>
            <a:off x="2697480" y="1792224"/>
            <a:ext cx="502920" cy="0"/>
          </a:xfrm>
          <a:prstGeom prst="straightConnector1">
            <a:avLst/>
          </a:prstGeom>
          <a:noFill/>
          <a:ln cap="flat" cmpd="sng" w="15225">
            <a:solidFill>
              <a:srgbClr val="6B728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75" name="Google Shape;775;p60"/>
          <p:cNvSpPr/>
          <p:nvPr/>
        </p:nvSpPr>
        <p:spPr>
          <a:xfrm>
            <a:off x="3200400" y="1572768"/>
            <a:ext cx="1005840" cy="438912"/>
          </a:xfrm>
          <a:prstGeom prst="roundRect">
            <a:avLst>
              <a:gd fmla="val 14583" name="adj"/>
            </a:avLst>
          </a:prstGeom>
          <a:solidFill>
            <a:srgbClr val="FEF9C3"/>
          </a:solidFill>
          <a:ln cap="flat" cmpd="sng" w="12700">
            <a:solidFill>
              <a:srgbClr val="FACC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60"/>
          <p:cNvSpPr/>
          <p:nvPr/>
        </p:nvSpPr>
        <p:spPr>
          <a:xfrm>
            <a:off x="3291840" y="1645920"/>
            <a:ext cx="822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20"/>
              <a:buFont typeface="Arial"/>
              <a:buNone/>
            </a:pPr>
            <a:r>
              <a:rPr b="0" i="0" lang="en" sz="11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props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77" name="Google Shape;777;p60"/>
          <p:cNvCxnSpPr/>
          <p:nvPr/>
        </p:nvCxnSpPr>
        <p:spPr>
          <a:xfrm>
            <a:off x="4206240" y="1792224"/>
            <a:ext cx="502920" cy="0"/>
          </a:xfrm>
          <a:prstGeom prst="straightConnector1">
            <a:avLst/>
          </a:prstGeom>
          <a:noFill/>
          <a:ln cap="flat" cmpd="sng" w="15225">
            <a:solidFill>
              <a:srgbClr val="6B728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78" name="Google Shape;778;p60"/>
          <p:cNvSpPr/>
          <p:nvPr/>
        </p:nvSpPr>
        <p:spPr>
          <a:xfrm>
            <a:off x="4709160" y="1572768"/>
            <a:ext cx="1828800" cy="438912"/>
          </a:xfrm>
          <a:prstGeom prst="roundRect">
            <a:avLst>
              <a:gd fmla="val 14583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60"/>
          <p:cNvSpPr/>
          <p:nvPr/>
        </p:nvSpPr>
        <p:spPr>
          <a:xfrm>
            <a:off x="4800600" y="1645920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20"/>
              <a:buFont typeface="Arial"/>
              <a:buNone/>
            </a:pPr>
            <a:r>
              <a:rPr b="0" i="0" lang="en" sz="11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Child component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0" name="Google Shape;780;p60"/>
          <p:cNvSpPr/>
          <p:nvPr/>
        </p:nvSpPr>
        <p:spPr>
          <a:xfrm>
            <a:off x="960120" y="2606040"/>
            <a:ext cx="6766560" cy="457200"/>
          </a:xfrm>
          <a:prstGeom prst="roundRect">
            <a:avLst>
              <a:gd fmla="val 14000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p60"/>
          <p:cNvSpPr/>
          <p:nvPr/>
        </p:nvSpPr>
        <p:spPr>
          <a:xfrm>
            <a:off x="1051560" y="2679192"/>
            <a:ext cx="65836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You used that pattern to configure reusable components.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" name="Google Shape;782;p60"/>
          <p:cNvSpPr/>
          <p:nvPr/>
        </p:nvSpPr>
        <p:spPr>
          <a:xfrm>
            <a:off x="960120" y="3401568"/>
            <a:ext cx="6766560" cy="548640"/>
          </a:xfrm>
          <a:prstGeom prst="roundRect">
            <a:avLst>
              <a:gd fmla="val 11667" name="adj"/>
            </a:avLst>
          </a:prstGeom>
          <a:solidFill>
            <a:srgbClr val="F5F3FF"/>
          </a:solidFill>
          <a:ln cap="flat" cmpd="sng" w="12700">
            <a:solidFill>
              <a:srgbClr val="C4B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3" name="Google Shape;783;p60"/>
          <p:cNvSpPr/>
          <p:nvPr/>
        </p:nvSpPr>
        <p:spPr>
          <a:xfrm>
            <a:off x="1051560" y="3474720"/>
            <a:ext cx="65836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80"/>
              <a:buFont typeface="Arial"/>
              <a:buNone/>
            </a:pPr>
            <a:r>
              <a:rPr b="1" i="0" lang="en" sz="11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Next question: what happens when something inside the child needs to notify its parent?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