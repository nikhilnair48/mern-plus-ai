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6a7463276_2_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f6a7463276_2_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f6a7463276_2_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6a7463276_2_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f6a7463276_2_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f6a7463276_2_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6a7463276_2_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f6a7463276_2_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6a7463276_2_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6a7463276_2_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f6a7463276_2_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f6a7463276_2_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6a7463276_2_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f6a7463276_2_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6a7463276_2_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6a7463276_2_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6a7463276_2_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6a7463276_2_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6a7463276_2_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f6a7463276_2_9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6a7463276_2_9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6a7463276_2_1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f6a7463276_2_10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6a7463276_2_10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6a7463276_2_1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f6a7463276_2_1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 React official documentation, react.dev, React library for user interfaces and components.</a:t>
            </a:r>
            <a:endParaRPr/>
          </a:p>
        </p:txBody>
      </p:sp>
      <p:sp>
        <p:nvSpPr>
          <p:cNvPr id="172" name="Google Shape;172;g3f6a7463276_2_1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6a7463276_2_1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f6a7463276_2_1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 React official Build a React app from Scratch page, client-only SPA guidance.</a:t>
            </a:r>
            <a:endParaRPr/>
          </a:p>
        </p:txBody>
      </p:sp>
      <p:sp>
        <p:nvSpPr>
          <p:cNvPr id="200" name="Google Shape;200;g3f6a7463276_2_1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6a7463276_2_1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f6a7463276_2_17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6a7463276_2_17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6a7463276_2_1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f6a7463276_2_1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6a7463276_2_1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6a7463276_2_2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f6a7463276_2_2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6a7463276_2_2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6a7463276_2_2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f6a7463276_2_2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f6a7463276_2_2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6a7463276_2_2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f6a7463276_2_2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 npm documentation for dependencies and npm run scripts.</a:t>
            </a:r>
            <a:endParaRPr/>
          </a:p>
        </p:txBody>
      </p:sp>
      <p:sp>
        <p:nvSpPr>
          <p:cNvPr id="303" name="Google Shape;303;g3f6a7463276_2_2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6a7463276_2_2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f6a7463276_2_2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 npm package.json documentation and Vite react-ts template package.json.</a:t>
            </a:r>
            <a:endParaRPr/>
          </a:p>
        </p:txBody>
      </p:sp>
      <p:sp>
        <p:nvSpPr>
          <p:cNvPr id="321" name="Google Shape;321;g3f6a7463276_2_2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6a7463276_2_2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f6a7463276_2_2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 Node.js official documentation and React setup documentation.</a:t>
            </a:r>
            <a:endParaRPr/>
          </a:p>
        </p:txBody>
      </p:sp>
      <p:sp>
        <p:nvSpPr>
          <p:cNvPr id="342" name="Google Shape;342;g3f6a7463276_2_2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6a7463276_2_2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f6a7463276_2_29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 Vite official documentation and React setup with Vite guidance.</a:t>
            </a:r>
            <a:endParaRPr/>
          </a:p>
        </p:txBody>
      </p:sp>
      <p:sp>
        <p:nvSpPr>
          <p:cNvPr id="365" name="Google Shape;365;g3f6a7463276_2_29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6a7463276_2_3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f6a7463276_2_3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f6a7463276_2_3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6a7463276_2_3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f6a7463276_2_34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f6a7463276_2_34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6a7463276_2_3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f6a7463276_2_3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 Vite official Node.js version requirement documentation.</a:t>
            </a:r>
            <a:endParaRPr/>
          </a:p>
        </p:txBody>
      </p:sp>
      <p:sp>
        <p:nvSpPr>
          <p:cNvPr id="433" name="Google Shape;433;g3f6a7463276_2_3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6a7463276_2_3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f6a7463276_2_3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 Vite official create-vite documentation.</a:t>
            </a:r>
            <a:endParaRPr/>
          </a:p>
        </p:txBody>
      </p:sp>
      <p:sp>
        <p:nvSpPr>
          <p:cNvPr id="447" name="Google Shape;447;g3f6a7463276_2_3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6a7463276_2_3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f6a7463276_2_3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 npm documentation and Vite template package.json dev script.</a:t>
            </a:r>
            <a:endParaRPr/>
          </a:p>
        </p:txBody>
      </p:sp>
      <p:sp>
        <p:nvSpPr>
          <p:cNvPr id="467" name="Google Shape;467;g3f6a7463276_2_3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6a7463276_2_4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g3f6a7463276_2_4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 Vite react-ts template index.html.</a:t>
            </a:r>
            <a:endParaRPr/>
          </a:p>
        </p:txBody>
      </p:sp>
      <p:sp>
        <p:nvSpPr>
          <p:cNvPr id="489" name="Google Shape;489;g3f6a7463276_2_4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6a7463276_2_4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g3f6a7463276_2_4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f6a7463276_2_4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6a7463276_2_4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3f6a7463276_2_43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 Vite react-ts template directory structure.</a:t>
            </a:r>
            <a:endParaRPr/>
          </a:p>
        </p:txBody>
      </p:sp>
      <p:sp>
        <p:nvSpPr>
          <p:cNvPr id="515" name="Google Shape;515;g3f6a7463276_2_43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6a7463276_2_4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3f6a7463276_2_4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 Vite react-ts template index.html and src directory.</a:t>
            </a:r>
            <a:endParaRPr/>
          </a:p>
        </p:txBody>
      </p:sp>
      <p:sp>
        <p:nvSpPr>
          <p:cNvPr id="533" name="Google Shape;533;g3f6a7463276_2_4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6a7463276_2_47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g3f6a7463276_2_47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Sources: Vite react-ts template main.tsx and App.tsx.</a:t>
            </a:r>
            <a:endParaRPr/>
          </a:p>
        </p:txBody>
      </p:sp>
      <p:sp>
        <p:nvSpPr>
          <p:cNvPr id="552" name="Google Shape;552;g3f6a7463276_2_47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6a7463276_2_4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f6a7463276_2_49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f6a7463276_2_49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f6a7463276_2_5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g3f6a7463276_2_5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3f6a7463276_2_5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f6a7463276_2_5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f6a7463276_2_5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f6a7463276_2_5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f6a7463276_2_5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g3f6a7463276_2_55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g3f6a7463276_2_55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f6a7463276_2_5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g3f6a7463276_2_5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f6a7463276_2_5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6a7463276_2_5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g3f6a7463276_2_58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g3f6a7463276_2_58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6a7463276_2_6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g3f6a7463276_2_6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reference: starter package.json should define develop but not dev; expected repair is dev: vite.</a:t>
            </a:r>
            <a:endParaRPr/>
          </a:p>
        </p:txBody>
      </p:sp>
      <p:sp>
        <p:nvSpPr>
          <p:cNvPr id="688" name="Google Shape;688;g3f6a7463276_2_6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f6a7463276_2_6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g3f6a7463276_2_6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g3f6a7463276_2_6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RSE_MASTER">
  <p:cSld name="COURSE_MAST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713232" y="1463040"/>
            <a:ext cx="612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Lecture 18 | React &amp; TypeScript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6"/>
          <p:cNvSpPr/>
          <p:nvPr/>
        </p:nvSpPr>
        <p:spPr>
          <a:xfrm>
            <a:off x="713232" y="1847088"/>
            <a:ext cx="6949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Introduction to React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713232" y="2487168"/>
            <a:ext cx="6949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React fundamentals, Vite setup, and project structure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Today's agenda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7"/>
          <p:cNvSpPr/>
          <p:nvPr/>
        </p:nvSpPr>
        <p:spPr>
          <a:xfrm>
            <a:off x="868680" y="1143000"/>
            <a:ext cx="3429000" cy="1143000"/>
          </a:xfrm>
          <a:prstGeom prst="roundRect">
            <a:avLst>
              <a:gd fmla="val 64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7"/>
          <p:cNvSpPr/>
          <p:nvPr/>
        </p:nvSpPr>
        <p:spPr>
          <a:xfrm>
            <a:off x="978408" y="1234440"/>
            <a:ext cx="32095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fundamentals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7"/>
          <p:cNvSpPr/>
          <p:nvPr/>
        </p:nvSpPr>
        <p:spPr>
          <a:xfrm>
            <a:off x="978408" y="1545336"/>
            <a:ext cx="320954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Single-page applications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as a library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7"/>
          <p:cNvSpPr/>
          <p:nvPr/>
        </p:nvSpPr>
        <p:spPr>
          <a:xfrm>
            <a:off x="4617720" y="1143000"/>
            <a:ext cx="3429000" cy="1143000"/>
          </a:xfrm>
          <a:prstGeom prst="roundRect">
            <a:avLst>
              <a:gd fmla="val 64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4727448" y="1234440"/>
            <a:ext cx="32095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Project tooling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4727448" y="1545336"/>
            <a:ext cx="320954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Packages, npm, Node.js, and Vite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868680" y="2606040"/>
            <a:ext cx="3429000" cy="1143000"/>
          </a:xfrm>
          <a:prstGeom prst="roundRect">
            <a:avLst>
              <a:gd fmla="val 640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"/>
          <p:cNvSpPr/>
          <p:nvPr/>
        </p:nvSpPr>
        <p:spPr>
          <a:xfrm>
            <a:off x="978408" y="2697480"/>
            <a:ext cx="32095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Build the project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978408" y="3008376"/>
            <a:ext cx="320954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Create and run a React TypeScript project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4617720" y="2606040"/>
            <a:ext cx="3429000" cy="1143000"/>
          </a:xfrm>
          <a:prstGeom prst="roundRect">
            <a:avLst>
              <a:gd fmla="val 6400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4727448" y="2697480"/>
            <a:ext cx="32095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Read the project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4727448" y="3008376"/>
            <a:ext cx="320954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Explore the generated project structure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1: Typed functions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713232" y="1005840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happens when this code is checked by TypeScript?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713232" y="1353312"/>
            <a:ext cx="3794760" cy="23774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822960" y="1444752"/>
            <a:ext cx="357530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calculateTotal(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price: number,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quantity: number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): number {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price * quantity;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Arial"/>
              <a:buNone/>
            </a:pPr>
            <a:r>
              <a:t/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calculateTotal(250, 2);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4736592" y="1344168"/>
            <a:ext cx="352044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TypeScript reports an error because `250` is not explicitly typed.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0"/>
              <a:buFont typeface="Arial"/>
              <a:buNone/>
            </a:pPr>
            <a:r>
              <a:t/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The call is valid because both arguments match the parameter types.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0"/>
              <a:buFont typeface="Arial"/>
              <a:buNone/>
            </a:pPr>
            <a:r>
              <a:t/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TypeScript reports an error because the return type should be `string`.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0"/>
              <a:buFont typeface="Arial"/>
              <a:buNone/>
            </a:pPr>
            <a:r>
              <a:t/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The function can only accept one argument at a time.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The call is valid because both arguments match the parameter types.</a:t>
            </a:r>
            <a:b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price and quantity both require numbers, and the function returns a number.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2: Arrow functions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713232" y="1005840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return statement would TypeScript reject?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713232" y="1353312"/>
            <a:ext cx="3383280" cy="14173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822960" y="1444752"/>
            <a:ext cx="316382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isPassing = (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score: number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): boolean =&gt; {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// return statement goes here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4572000" y="1289304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4882896" y="1188720"/>
            <a:ext cx="3392424" cy="420624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4992624" y="1280160"/>
            <a:ext cx="31729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return score &gt;= 40;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4572000" y="1956816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4882896" y="1856232"/>
            <a:ext cx="3392424" cy="420624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4992624" y="1947672"/>
            <a:ext cx="31729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return Boolean(score);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4572000" y="2624328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4882896" y="2523744"/>
            <a:ext cx="3392424" cy="420624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4992624" y="2615184"/>
            <a:ext cx="31729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return score &gt; 50;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4572000" y="3291840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4882896" y="3191256"/>
            <a:ext cx="3392424" cy="420624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4992624" y="3282696"/>
            <a:ext cx="31729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return `Score: ${score}`;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return `Score: ${score}`;</a:t>
            </a:r>
            <a:b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function promises to return a boolean. The final expression returns a string.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3: Optional and default parameters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713232" y="1005840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does this code return?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713232" y="1298448"/>
            <a:ext cx="4526280" cy="26060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822960" y="1389888"/>
            <a:ext cx="4306824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welcome(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name: string,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greeting = "Hello",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title?: string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): string {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const displayName = title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? `${title} ${name}`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: name;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"/>
              <a:buFont typeface="Arial"/>
              <a:buNone/>
            </a:pPr>
            <a:r>
              <a:t/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`${greeting}, ${displayName}`;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"/>
              <a:buFont typeface="Arial"/>
              <a:buNone/>
            </a:pPr>
            <a:r>
              <a:t/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welcome("Ravi");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5468112" y="1344168"/>
            <a:ext cx="27432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"Hello, Ravi"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"/>
              <a:buFont typeface="Arial"/>
              <a:buNone/>
            </a:pPr>
            <a:r>
              <a:t/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"undefined, Ravi"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"/>
              <a:buFont typeface="Arial"/>
              <a:buNone/>
            </a:pPr>
            <a:r>
              <a:t/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"Hello, undefined Ravi"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"/>
              <a:buFont typeface="Arial"/>
              <a:buNone/>
            </a:pPr>
            <a:r>
              <a:t/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TypeScript reports an error because `title` is missing.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"Hello, Ravi"</a:t>
            </a:r>
            <a:b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greeting uses its default value. title is optional, so leaving it out is valid.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4: Classes and access modifiers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713232" y="1005840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line causes a TypeScript error?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658368" y="1261872"/>
            <a:ext cx="4389120" cy="26060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768096" y="1353312"/>
            <a:ext cx="4169664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class Account {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public owner: string;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private pin: number;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constructor(owner: string, pin: number) {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this.owner = owner;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this.pin = pin;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public getOwner(): string {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this.owner;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account = new Account("Maya", 1234);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5257800" y="1344168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5550408" y="1243584"/>
            <a:ext cx="2679192" cy="4114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5660136" y="1335024"/>
            <a:ext cx="24597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console.log(account.owner);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5257800" y="1984248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5550408" y="1883664"/>
            <a:ext cx="2679192" cy="4114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5660136" y="1975104"/>
            <a:ext cx="24597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console.log(account.getOwner());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5257800" y="2624328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5550408" y="2523744"/>
            <a:ext cx="2679192" cy="4114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5660136" y="2615184"/>
            <a:ext cx="24597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console.log(account.pin);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5257800" y="3264408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5550408" y="3163824"/>
            <a:ext cx="2679192" cy="4114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5660136" y="3255264"/>
            <a:ext cx="24597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console.log(account instanceof Account);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console.log(account.pin);</a:t>
            </a:r>
            <a:b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pin is private, so it can only be accessed from inside the Account class.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 5: Generics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713232" y="1005840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type does TypeScript infer for firstTopic?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713232" y="1298448"/>
            <a:ext cx="3749040" cy="23317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822960" y="1389888"/>
            <a:ext cx="3529584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urier New"/>
              <a:buNone/>
            </a:pPr>
            <a:r>
              <a:rPr b="0" i="0" lang="en" sz="11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function firstItem&lt;T&gt;(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urier New"/>
              <a:buNone/>
            </a:pPr>
            <a:r>
              <a:rPr b="0" i="0" lang="en" sz="11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items: T[]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urier New"/>
              <a:buNone/>
            </a:pPr>
            <a:r>
              <a:rPr b="0" i="0" lang="en" sz="11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): T {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urier New"/>
              <a:buNone/>
            </a:pPr>
            <a:r>
              <a:rPr b="0" i="0" lang="en" sz="11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return items[0];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urier New"/>
              <a:buNone/>
            </a:pPr>
            <a:r>
              <a:rPr b="0" i="0" lang="en" sz="11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r>
              <a:t/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urier New"/>
              <a:buNone/>
            </a:pPr>
            <a:r>
              <a:rPr b="0" i="0" lang="en" sz="11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const firstTopic = firstItem([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urier New"/>
              <a:buNone/>
            </a:pPr>
            <a:r>
              <a:rPr b="0" i="0" lang="en" sz="11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"React",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urier New"/>
              <a:buNone/>
            </a:pPr>
            <a:r>
              <a:rPr b="0" i="0" lang="en" sz="11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"TypeScript"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Courier New"/>
              <a:buNone/>
            </a:pPr>
            <a:r>
              <a:rPr b="0" i="0" lang="en" sz="11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4754880" y="1325880"/>
            <a:ext cx="34290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number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string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boolean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string[]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4754880" y="2880360"/>
            <a:ext cx="3429000" cy="73152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4882896" y="2990088"/>
            <a:ext cx="31729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 reveal: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 = string   |   T[] = string[]   |   return type = string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685800" y="4114800"/>
            <a:ext cx="7242048" cy="640080"/>
          </a:xfrm>
          <a:prstGeom prst="roundRect">
            <a:avLst>
              <a:gd fmla="val 114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804672" y="4187952"/>
            <a:ext cx="70043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string</a:t>
            </a:r>
            <a:b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TypeScript infers T as string from the array passed to firstItem.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/>
          <p:nvPr/>
        </p:nvSpPr>
        <p:spPr>
          <a:xfrm>
            <a:off x="1280160" y="2057400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Arial"/>
              <a:buNone/>
            </a:pPr>
            <a:r>
              <a:rPr b="1" i="0" lang="en" sz="2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fundamentals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is React?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713232" y="1078992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None/>
            </a:pPr>
            <a:r>
              <a:rPr b="1" i="0" lang="en" sz="13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is a JavaScript library for building user interfaces from reusable components.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713232" y="1783080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component represents a part of the interface, such as a navigation bar, product card, search box, or form.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713232" y="2651760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As an interface grows, React gives us a structured way to build these pieces and keep the displayed UI aligned with the application's data.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4617720" y="1051560"/>
            <a:ext cx="3611880" cy="310896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4617720" y="1051560"/>
            <a:ext cx="3611880" cy="310896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4"/>
          <p:cNvSpPr/>
          <p:nvPr/>
        </p:nvSpPr>
        <p:spPr>
          <a:xfrm>
            <a:off x="5148072" y="1124712"/>
            <a:ext cx="2990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Course dashboard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4718304" y="1161288"/>
            <a:ext cx="73152" cy="7315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4"/>
          <p:cNvSpPr/>
          <p:nvPr/>
        </p:nvSpPr>
        <p:spPr>
          <a:xfrm>
            <a:off x="4846320" y="1161288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4"/>
          <p:cNvSpPr/>
          <p:nvPr/>
        </p:nvSpPr>
        <p:spPr>
          <a:xfrm>
            <a:off x="4974336" y="1161288"/>
            <a:ext cx="73152" cy="7315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/>
          <p:nvPr/>
        </p:nvSpPr>
        <p:spPr>
          <a:xfrm>
            <a:off x="4754880" y="1508760"/>
            <a:ext cx="3337560" cy="36576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4"/>
          <p:cNvSpPr/>
          <p:nvPr/>
        </p:nvSpPr>
        <p:spPr>
          <a:xfrm>
            <a:off x="4828032" y="1581912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Navigation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4754880" y="1993392"/>
            <a:ext cx="1143000" cy="4114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4"/>
          <p:cNvSpPr/>
          <p:nvPr/>
        </p:nvSpPr>
        <p:spPr>
          <a:xfrm>
            <a:off x="4828032" y="210312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6016752" y="1993392"/>
            <a:ext cx="2075688" cy="4114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4"/>
          <p:cNvSpPr/>
          <p:nvPr/>
        </p:nvSpPr>
        <p:spPr>
          <a:xfrm>
            <a:off x="6080760" y="2103120"/>
            <a:ext cx="19202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Filter controls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4754880" y="2606040"/>
            <a:ext cx="1005840" cy="105156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4"/>
          <p:cNvSpPr/>
          <p:nvPr/>
        </p:nvSpPr>
        <p:spPr>
          <a:xfrm>
            <a:off x="4892040" y="299008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Card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5943600" y="2606040"/>
            <a:ext cx="1005840" cy="105156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"/>
          <p:cNvSpPr/>
          <p:nvPr/>
        </p:nvSpPr>
        <p:spPr>
          <a:xfrm>
            <a:off x="6080760" y="299008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Card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7132320" y="2606040"/>
            <a:ext cx="960120" cy="1051560"/>
          </a:xfrm>
          <a:prstGeom prst="rect">
            <a:avLst/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/>
          <p:nvPr/>
        </p:nvSpPr>
        <p:spPr>
          <a:xfrm>
            <a:off x="7242048" y="299008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4617720" y="4251960"/>
            <a:ext cx="3611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Examples of components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How a single-page application works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685800" y="859536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single-page application (SPA) loads the client application in the browser and then updates the visible view as the user moves through it.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685800" y="1389888"/>
            <a:ext cx="3703320" cy="2240280"/>
          </a:xfrm>
          <a:prstGeom prst="roundRect">
            <a:avLst>
              <a:gd fmla="val 3265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850392" y="1554480"/>
            <a:ext cx="3364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Traditional page navigation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960120" y="1901952"/>
            <a:ext cx="1234440" cy="78638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5"/>
          <p:cNvSpPr/>
          <p:nvPr/>
        </p:nvSpPr>
        <p:spPr>
          <a:xfrm>
            <a:off x="960120" y="1901952"/>
            <a:ext cx="1234440" cy="310896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>
            <a:off x="1490472" y="1975104"/>
            <a:ext cx="6126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1060704" y="2011680"/>
            <a:ext cx="73152" cy="7315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1188720" y="2011680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1316736" y="2011680"/>
            <a:ext cx="73152" cy="7315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5"/>
          <p:cNvSpPr/>
          <p:nvPr/>
        </p:nvSpPr>
        <p:spPr>
          <a:xfrm>
            <a:off x="2880360" y="1901952"/>
            <a:ext cx="1234440" cy="78638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2880360" y="1901952"/>
            <a:ext cx="1234440" cy="310896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/>
          <p:nvPr/>
        </p:nvSpPr>
        <p:spPr>
          <a:xfrm>
            <a:off x="3410712" y="1975104"/>
            <a:ext cx="6126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Profile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2980944" y="2011680"/>
            <a:ext cx="73152" cy="7315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3108960" y="2011680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"/>
          <p:cNvSpPr/>
          <p:nvPr/>
        </p:nvSpPr>
        <p:spPr>
          <a:xfrm>
            <a:off x="3236976" y="2011680"/>
            <a:ext cx="73152" cy="7315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" name="Google Shape;218;p25"/>
          <p:cNvCxnSpPr/>
          <p:nvPr/>
        </p:nvCxnSpPr>
        <p:spPr>
          <a:xfrm>
            <a:off x="2258568" y="2286000"/>
            <a:ext cx="530352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" name="Google Shape;219;p25"/>
          <p:cNvSpPr/>
          <p:nvPr/>
        </p:nvSpPr>
        <p:spPr>
          <a:xfrm>
            <a:off x="2240280" y="2514600"/>
            <a:ext cx="685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new HTML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document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4617720" y="1389888"/>
            <a:ext cx="3703320" cy="2240280"/>
          </a:xfrm>
          <a:prstGeom prst="roundRect">
            <a:avLst>
              <a:gd fmla="val 3265" name="adj"/>
            </a:avLst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4782312" y="1554480"/>
            <a:ext cx="3364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Client-side SPA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074920" y="1847088"/>
            <a:ext cx="2761488" cy="118872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5"/>
          <p:cNvSpPr/>
          <p:nvPr/>
        </p:nvSpPr>
        <p:spPr>
          <a:xfrm>
            <a:off x="5074920" y="1847088"/>
            <a:ext cx="2761488" cy="310896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5"/>
          <p:cNvSpPr/>
          <p:nvPr/>
        </p:nvSpPr>
        <p:spPr>
          <a:xfrm>
            <a:off x="5605272" y="1920240"/>
            <a:ext cx="2139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5175504" y="1956816"/>
            <a:ext cx="73152" cy="7315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5"/>
          <p:cNvSpPr/>
          <p:nvPr/>
        </p:nvSpPr>
        <p:spPr>
          <a:xfrm>
            <a:off x="5303520" y="1956816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5431536" y="1956816"/>
            <a:ext cx="73152" cy="7315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5"/>
          <p:cNvSpPr/>
          <p:nvPr/>
        </p:nvSpPr>
        <p:spPr>
          <a:xfrm>
            <a:off x="5285232" y="2404872"/>
            <a:ext cx="749808" cy="256032"/>
          </a:xfrm>
          <a:prstGeom prst="roundRect">
            <a:avLst>
              <a:gd fmla="val 2857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5"/>
          <p:cNvSpPr/>
          <p:nvPr/>
        </p:nvSpPr>
        <p:spPr>
          <a:xfrm>
            <a:off x="5358384" y="2459736"/>
            <a:ext cx="6035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6153912" y="2404872"/>
            <a:ext cx="658368" cy="256032"/>
          </a:xfrm>
          <a:prstGeom prst="roundRect">
            <a:avLst>
              <a:gd fmla="val 28571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6227064" y="2459736"/>
            <a:ext cx="51206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Profile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6931152" y="2404872"/>
            <a:ext cx="658368" cy="256032"/>
          </a:xfrm>
          <a:prstGeom prst="roundRect">
            <a:avLst>
              <a:gd fmla="val 28571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7004304" y="2459736"/>
            <a:ext cx="51206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Settings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006350" y="3127257"/>
            <a:ext cx="289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Visible view changes inside the loaded application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713225" y="3886200"/>
            <a:ext cx="7516500" cy="547200"/>
          </a:xfrm>
          <a:prstGeom prst="roundRect">
            <a:avLst>
              <a:gd fmla="val 16000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850392" y="4005072"/>
            <a:ext cx="7242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Single page does not mean single screen. React can be used to build an SPA, but React and SPA are not the same thing.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is a library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713232" y="950976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focuses primarily on building the user interface.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713232" y="1280160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broader application framework may provide or coordinate more of the application's structure, such as routing, data loading, project conventions, and other development concerns.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868680" y="1874520"/>
            <a:ext cx="3520440" cy="1554480"/>
          </a:xfrm>
          <a:prstGeom prst="roundRect">
            <a:avLst>
              <a:gd fmla="val 4706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6"/>
          <p:cNvSpPr/>
          <p:nvPr/>
        </p:nvSpPr>
        <p:spPr>
          <a:xfrm>
            <a:off x="978408" y="1965960"/>
            <a:ext cx="33009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978408" y="2276856"/>
            <a:ext cx="330098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Focuses on a particular area or capability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Can be combined with other tools as the application requires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React: UI development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4663440" y="1874520"/>
            <a:ext cx="3520440" cy="1554480"/>
          </a:xfrm>
          <a:prstGeom prst="roundRect">
            <a:avLst>
              <a:gd fmla="val 4706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6"/>
          <p:cNvSpPr/>
          <p:nvPr/>
        </p:nvSpPr>
        <p:spPr>
          <a:xfrm>
            <a:off x="4773168" y="1965960"/>
            <a:ext cx="33009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Framework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4773168" y="2276856"/>
            <a:ext cx="330098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Usually provides a broader application structure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More application decisions may already be integrated or prescribed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Frameworks vary in exactly what they provide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868675" y="3867897"/>
            <a:ext cx="7315200" cy="5511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6"/>
          <p:cNvSpPr/>
          <p:nvPr/>
        </p:nvSpPr>
        <p:spPr>
          <a:xfrm>
            <a:off x="1005840" y="3986784"/>
            <a:ext cx="7040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distinction comes from scope and responsibility. Size alone does not determine whether a tool is a library or a framework.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React fundamentals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685800" y="1078992"/>
            <a:ext cx="3246120" cy="2468880"/>
          </a:xfrm>
          <a:prstGeom prst="roundRect">
            <a:avLst>
              <a:gd fmla="val 296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868680" y="1261872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Client-side app with React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1143000" y="1783080"/>
            <a:ext cx="2331720" cy="329184"/>
          </a:xfrm>
          <a:prstGeom prst="roundRect">
            <a:avLst>
              <a:gd fmla="val 22222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1216152" y="1837944"/>
            <a:ext cx="21854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/>
          <p:nvPr/>
        </p:nvSpPr>
        <p:spPr>
          <a:xfrm>
            <a:off x="1143000" y="2304288"/>
            <a:ext cx="2331720" cy="329184"/>
          </a:xfrm>
          <a:prstGeom prst="roundRect">
            <a:avLst>
              <a:gd fmla="val 22222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7"/>
          <p:cNvSpPr/>
          <p:nvPr/>
        </p:nvSpPr>
        <p:spPr>
          <a:xfrm>
            <a:off x="1216152" y="2359152"/>
            <a:ext cx="21854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Profile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1143000" y="2825496"/>
            <a:ext cx="2331720" cy="329184"/>
          </a:xfrm>
          <a:prstGeom prst="roundRect">
            <a:avLst>
              <a:gd fmla="val 22222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7"/>
          <p:cNvSpPr/>
          <p:nvPr/>
        </p:nvSpPr>
        <p:spPr>
          <a:xfrm>
            <a:off x="1216152" y="2880360"/>
            <a:ext cx="21854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Settings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868680" y="3273552"/>
            <a:ext cx="2880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Views change without loading new HTML documents.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7"/>
          <p:cNvSpPr/>
          <p:nvPr/>
        </p:nvSpPr>
        <p:spPr>
          <a:xfrm>
            <a:off x="4251960" y="10515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statement is the most accurate?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4251960" y="1508760"/>
            <a:ext cx="3886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React is a framework because it controls every part of the application.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React and SPA mean the same thing.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React handles the UI, while the application can use other tools for concerns such as navigation.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An SPA can display only one screen.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685800" y="4114800"/>
            <a:ext cx="7242048" cy="713232"/>
          </a:xfrm>
          <a:prstGeom prst="roundRect">
            <a:avLst>
              <a:gd fmla="val 102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7"/>
          <p:cNvSpPr/>
          <p:nvPr/>
        </p:nvSpPr>
        <p:spPr>
          <a:xfrm>
            <a:off x="804672" y="4187952"/>
            <a:ext cx="700430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React handles the UI, while the application can use other tools for concerns such as navigation.</a:t>
            </a:r>
            <a:b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is the UI library. SPA describes how the client application behaves as users move through its views.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/>
          <p:nvPr/>
        </p:nvSpPr>
        <p:spPr>
          <a:xfrm>
            <a:off x="1280160" y="2057400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Arial"/>
              <a:buNone/>
            </a:pPr>
            <a:r>
              <a:rPr b="1" i="0" lang="en" sz="2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project setup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is a package?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713232" y="1097280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package is a reusable unit of code or tooling that can be installed and used in a project.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713232" y="173736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Projects can use packages for reusable code or tooling that solves a specific task.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4617720" y="1078992"/>
            <a:ext cx="3611880" cy="2926080"/>
          </a:xfrm>
          <a:prstGeom prst="roundRect">
            <a:avLst>
              <a:gd fmla="val 25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5715000" y="2084832"/>
            <a:ext cx="1417320" cy="420624"/>
          </a:xfrm>
          <a:prstGeom prst="roundRect">
            <a:avLst>
              <a:gd fmla="val 17391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5760720" y="219456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Your project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9"/>
          <p:cNvSpPr/>
          <p:nvPr/>
        </p:nvSpPr>
        <p:spPr>
          <a:xfrm>
            <a:off x="4892040" y="1508760"/>
            <a:ext cx="1143000" cy="566928"/>
          </a:xfrm>
          <a:prstGeom prst="roundRect">
            <a:avLst>
              <a:gd fmla="val 1290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4965192" y="1609344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9"/>
          <p:cNvSpPr/>
          <p:nvPr/>
        </p:nvSpPr>
        <p:spPr>
          <a:xfrm>
            <a:off x="7086600" y="1508760"/>
            <a:ext cx="1143000" cy="566928"/>
          </a:xfrm>
          <a:prstGeom prst="roundRect">
            <a:avLst>
              <a:gd fmla="val 1290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9"/>
          <p:cNvSpPr/>
          <p:nvPr/>
        </p:nvSpPr>
        <p:spPr>
          <a:xfrm>
            <a:off x="7159752" y="1609344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9"/>
          <p:cNvSpPr/>
          <p:nvPr/>
        </p:nvSpPr>
        <p:spPr>
          <a:xfrm>
            <a:off x="5833872" y="3063240"/>
            <a:ext cx="1143000" cy="566928"/>
          </a:xfrm>
          <a:prstGeom prst="roundRect">
            <a:avLst>
              <a:gd fmla="val 12903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9"/>
          <p:cNvSpPr/>
          <p:nvPr/>
        </p:nvSpPr>
        <p:spPr>
          <a:xfrm>
            <a:off x="5907024" y="3163824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Other reusable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29"/>
          <p:cNvCxnSpPr>
            <a:stCxn id="289" idx="2"/>
            <a:endCxn id="288" idx="1"/>
          </p:cNvCxnSpPr>
          <p:nvPr/>
        </p:nvCxnSpPr>
        <p:spPr>
          <a:xfrm>
            <a:off x="5463540" y="2075688"/>
            <a:ext cx="297300" cy="21030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29"/>
          <p:cNvCxnSpPr>
            <a:stCxn id="291" idx="2"/>
            <a:endCxn id="288" idx="3"/>
          </p:cNvCxnSpPr>
          <p:nvPr/>
        </p:nvCxnSpPr>
        <p:spPr>
          <a:xfrm flipH="1">
            <a:off x="7086600" y="2075688"/>
            <a:ext cx="571500" cy="21030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p29"/>
          <p:cNvCxnSpPr/>
          <p:nvPr/>
        </p:nvCxnSpPr>
        <p:spPr>
          <a:xfrm rot="10800000">
            <a:off x="6400800" y="2514600"/>
            <a:ext cx="0" cy="54864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8" name="Google Shape;298;p29"/>
          <p:cNvSpPr/>
          <p:nvPr/>
        </p:nvSpPr>
        <p:spPr>
          <a:xfrm>
            <a:off x="713225" y="3182099"/>
            <a:ext cx="3429000" cy="631500"/>
          </a:xfrm>
          <a:prstGeom prst="roundRect">
            <a:avLst>
              <a:gd fmla="val 1290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877824" y="3355848"/>
            <a:ext cx="3090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itself is a package dependency in our project.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is npm?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0"/>
          <p:cNvSpPr/>
          <p:nvPr/>
        </p:nvSpPr>
        <p:spPr>
          <a:xfrm>
            <a:off x="713232" y="1005840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npm is the package manager we will use with this project.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0"/>
          <p:cNvSpPr/>
          <p:nvPr/>
        </p:nvSpPr>
        <p:spPr>
          <a:xfrm>
            <a:off x="713232" y="1298448"/>
            <a:ext cx="7406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 today's workflow, npm has two important jobs.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0"/>
          <p:cNvSpPr/>
          <p:nvPr/>
        </p:nvSpPr>
        <p:spPr>
          <a:xfrm>
            <a:off x="758952" y="1764792"/>
            <a:ext cx="3611880" cy="1691640"/>
          </a:xfrm>
          <a:prstGeom prst="roundRect">
            <a:avLst>
              <a:gd fmla="val 4324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0"/>
          <p:cNvSpPr/>
          <p:nvPr/>
        </p:nvSpPr>
        <p:spPr>
          <a:xfrm>
            <a:off x="868680" y="1856232"/>
            <a:ext cx="33924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Install the project's packages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0"/>
          <p:cNvSpPr/>
          <p:nvPr/>
        </p:nvSpPr>
        <p:spPr>
          <a:xfrm>
            <a:off x="868680" y="2167128"/>
            <a:ext cx="3392424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npm reads the dependencies recorded for the project and installs the packages they require.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0"/>
          <p:cNvSpPr/>
          <p:nvPr/>
        </p:nvSpPr>
        <p:spPr>
          <a:xfrm>
            <a:off x="1143000" y="2788920"/>
            <a:ext cx="2834640" cy="4114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1234440" y="2862072"/>
            <a:ext cx="26517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npm install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0"/>
          <p:cNvSpPr/>
          <p:nvPr/>
        </p:nvSpPr>
        <p:spPr>
          <a:xfrm>
            <a:off x="4617720" y="1764792"/>
            <a:ext cx="3611880" cy="1691640"/>
          </a:xfrm>
          <a:prstGeom prst="roundRect">
            <a:avLst>
              <a:gd fmla="val 4324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0"/>
          <p:cNvSpPr/>
          <p:nvPr/>
        </p:nvSpPr>
        <p:spPr>
          <a:xfrm>
            <a:off x="4727448" y="1856232"/>
            <a:ext cx="33924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Run project commands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0"/>
          <p:cNvSpPr/>
          <p:nvPr/>
        </p:nvSpPr>
        <p:spPr>
          <a:xfrm>
            <a:off x="4727448" y="2167128"/>
            <a:ext cx="3392424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npm can run commands defined in the project's package.json.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0"/>
          <p:cNvSpPr/>
          <p:nvPr/>
        </p:nvSpPr>
        <p:spPr>
          <a:xfrm>
            <a:off x="5001768" y="2788920"/>
            <a:ext cx="2834640" cy="4114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5093208" y="2862072"/>
            <a:ext cx="26517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0" i="0" lang="en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npm run dev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package.json and node_modules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713232" y="932688"/>
            <a:ext cx="7406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0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These names appear together often, but they have different jobs.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713232" y="1280160"/>
            <a:ext cx="3703320" cy="2377440"/>
          </a:xfrm>
          <a:prstGeom prst="roundRect">
            <a:avLst>
              <a:gd fmla="val 307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1"/>
          <p:cNvSpPr/>
          <p:nvPr/>
        </p:nvSpPr>
        <p:spPr>
          <a:xfrm>
            <a:off x="896112" y="1444752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package.json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896112" y="1719072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Describes the project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978408" y="1993392"/>
            <a:ext cx="3172968" cy="1170432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1"/>
          <p:cNvSpPr/>
          <p:nvPr/>
        </p:nvSpPr>
        <p:spPr>
          <a:xfrm>
            <a:off x="1088136" y="2084832"/>
            <a:ext cx="29535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"scripts": { "dev": "vite" },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"dependencies": {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"react": "...",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"react-dom": "..."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960120" y="3291840"/>
            <a:ext cx="31729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packages the project depends 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commands the project can run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4617720" y="1280160"/>
            <a:ext cx="3703320" cy="2377440"/>
          </a:xfrm>
          <a:prstGeom prst="roundRect">
            <a:avLst>
              <a:gd fmla="val 307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1"/>
          <p:cNvSpPr/>
          <p:nvPr/>
        </p:nvSpPr>
        <p:spPr>
          <a:xfrm>
            <a:off x="4800600" y="1444752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node_modules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4800600" y="1719072"/>
            <a:ext cx="3337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Contains installed package files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4892040" y="2084832"/>
            <a:ext cx="3154680" cy="9601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1"/>
          <p:cNvSpPr/>
          <p:nvPr/>
        </p:nvSpPr>
        <p:spPr>
          <a:xfrm>
            <a:off x="5001768" y="2176272"/>
            <a:ext cx="293522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node_modules/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react/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react-dom/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vite/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Courier New"/>
              <a:buNone/>
            </a:pPr>
            <a:r>
              <a:rPr b="0" i="0" lang="en" sz="10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...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1"/>
          <p:cNvSpPr/>
          <p:nvPr/>
        </p:nvSpPr>
        <p:spPr>
          <a:xfrm>
            <a:off x="4910328" y="32461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installed package files used by the project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1"/>
          <p:cNvSpPr/>
          <p:nvPr/>
        </p:nvSpPr>
        <p:spPr>
          <a:xfrm>
            <a:off x="713225" y="3977653"/>
            <a:ext cx="7516500" cy="485100"/>
          </a:xfrm>
          <a:prstGeom prst="roundRect">
            <a:avLst>
              <a:gd fmla="val 19048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868680" y="4087368"/>
            <a:ext cx="7223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package.json describes what the project needs. node_modules contains the packages that have been installed.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Node.js runs the development tools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2"/>
          <p:cNvSpPr/>
          <p:nvPr/>
        </p:nvSpPr>
        <p:spPr>
          <a:xfrm>
            <a:off x="713232" y="960120"/>
            <a:ext cx="7498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0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 far, most of the JavaScript you have written has run in the browser. Development tools also need a runtime on your computer.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2"/>
          <p:cNvSpPr/>
          <p:nvPr/>
        </p:nvSpPr>
        <p:spPr>
          <a:xfrm>
            <a:off x="713232" y="1435608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60"/>
              <a:buFont typeface="Arial"/>
              <a:buNone/>
            </a:pPr>
            <a:r>
              <a:rPr b="1" i="0" lang="en" sz="12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Node.js is a JavaScript runtime that can run programs and command-line tools outside the browser.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2"/>
          <p:cNvSpPr/>
          <p:nvPr/>
        </p:nvSpPr>
        <p:spPr>
          <a:xfrm>
            <a:off x="841248" y="1965960"/>
            <a:ext cx="3611880" cy="1645920"/>
          </a:xfrm>
          <a:prstGeom prst="roundRect">
            <a:avLst>
              <a:gd fmla="val 4444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2"/>
          <p:cNvSpPr/>
          <p:nvPr/>
        </p:nvSpPr>
        <p:spPr>
          <a:xfrm>
            <a:off x="960120" y="212140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 your computer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2"/>
          <p:cNvSpPr/>
          <p:nvPr/>
        </p:nvSpPr>
        <p:spPr>
          <a:xfrm>
            <a:off x="1417320" y="2514600"/>
            <a:ext cx="2514600" cy="292608"/>
          </a:xfrm>
          <a:prstGeom prst="roundRect">
            <a:avLst>
              <a:gd fmla="val 25000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1490472" y="2569464"/>
            <a:ext cx="2368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Node.js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2"/>
          <p:cNvSpPr/>
          <p:nvPr/>
        </p:nvSpPr>
        <p:spPr>
          <a:xfrm>
            <a:off x="1417320" y="2926080"/>
            <a:ext cx="1143000" cy="274320"/>
          </a:xfrm>
          <a:prstGeom prst="roundRect">
            <a:avLst>
              <a:gd fmla="val 2666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1490472" y="2980944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npm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2"/>
          <p:cNvSpPr/>
          <p:nvPr/>
        </p:nvSpPr>
        <p:spPr>
          <a:xfrm>
            <a:off x="2788920" y="2926080"/>
            <a:ext cx="1143000" cy="274320"/>
          </a:xfrm>
          <a:prstGeom prst="roundRect">
            <a:avLst>
              <a:gd fmla="val 2666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2"/>
          <p:cNvSpPr/>
          <p:nvPr/>
        </p:nvSpPr>
        <p:spPr>
          <a:xfrm>
            <a:off x="2862072" y="2980944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Vite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4754880" y="1965960"/>
            <a:ext cx="3246120" cy="164592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2"/>
          <p:cNvSpPr/>
          <p:nvPr/>
        </p:nvSpPr>
        <p:spPr>
          <a:xfrm>
            <a:off x="4882896" y="2121408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 the browser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5303520" y="2514600"/>
            <a:ext cx="2148840" cy="292608"/>
          </a:xfrm>
          <a:prstGeom prst="roundRect">
            <a:avLst>
              <a:gd fmla="val 25000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2"/>
          <p:cNvSpPr/>
          <p:nvPr/>
        </p:nvSpPr>
        <p:spPr>
          <a:xfrm>
            <a:off x="5376672" y="2569464"/>
            <a:ext cx="20025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application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5303520" y="2926080"/>
            <a:ext cx="2148840" cy="292608"/>
          </a:xfrm>
          <a:prstGeom prst="roundRect">
            <a:avLst>
              <a:gd fmla="val 2500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2"/>
          <p:cNvSpPr/>
          <p:nvPr/>
        </p:nvSpPr>
        <p:spPr>
          <a:xfrm>
            <a:off x="5376672" y="2980944"/>
            <a:ext cx="20025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Visible user interface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868680" y="3840480"/>
            <a:ext cx="7269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 this project, Node.js provides the environment used by local tools such as npm and Vite.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is Vite?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713232" y="987552"/>
            <a:ext cx="7452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70"/>
              <a:buFont typeface="Arial"/>
              <a:buNone/>
            </a:pPr>
            <a:r>
              <a:rPr b="1" i="0" lang="en" sz="12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Vite is the frontend build tool we will use to create and run our React project during development.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822960" y="1645920"/>
            <a:ext cx="2240280" cy="1417320"/>
          </a:xfrm>
          <a:prstGeom prst="roundRect">
            <a:avLst>
              <a:gd fmla="val 516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3"/>
          <p:cNvSpPr/>
          <p:nvPr/>
        </p:nvSpPr>
        <p:spPr>
          <a:xfrm>
            <a:off x="932688" y="1737360"/>
            <a:ext cx="20208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932688" y="2048256"/>
            <a:ext cx="2020824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Start with a ready-made React TypeScript project structure.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3474720" y="1645920"/>
            <a:ext cx="2240280" cy="1417320"/>
          </a:xfrm>
          <a:prstGeom prst="roundRect">
            <a:avLst>
              <a:gd fmla="val 5161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3"/>
          <p:cNvSpPr/>
          <p:nvPr/>
        </p:nvSpPr>
        <p:spPr>
          <a:xfrm>
            <a:off x="3584448" y="1737360"/>
            <a:ext cx="20208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Develop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3584448" y="2048256"/>
            <a:ext cx="2020824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Run a local development server while we work.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6126480" y="1645920"/>
            <a:ext cx="2240280" cy="1417320"/>
          </a:xfrm>
          <a:prstGeom prst="roundRect">
            <a:avLst>
              <a:gd fmla="val 5161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3"/>
          <p:cNvSpPr/>
          <p:nvPr/>
        </p:nvSpPr>
        <p:spPr>
          <a:xfrm>
            <a:off x="6236208" y="1737360"/>
            <a:ext cx="20208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6236208" y="2048256"/>
            <a:ext cx="2020824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Create production files that can be deployed.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p33"/>
          <p:cNvCxnSpPr/>
          <p:nvPr/>
        </p:nvCxnSpPr>
        <p:spPr>
          <a:xfrm>
            <a:off x="3063240" y="2331720"/>
            <a:ext cx="3657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" name="Google Shape;379;p33"/>
          <p:cNvCxnSpPr/>
          <p:nvPr/>
        </p:nvCxnSpPr>
        <p:spPr>
          <a:xfrm>
            <a:off x="5715000" y="2331720"/>
            <a:ext cx="3657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0" name="Google Shape;380;p33"/>
          <p:cNvSpPr/>
          <p:nvPr/>
        </p:nvSpPr>
        <p:spPr>
          <a:xfrm>
            <a:off x="1005840" y="3730752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Today we focus on creating the project and running it during development.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4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How the development tools work together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768096" y="960120"/>
            <a:ext cx="7406640" cy="3337560"/>
          </a:xfrm>
          <a:prstGeom prst="roundRect">
            <a:avLst>
              <a:gd fmla="val 2192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4"/>
          <p:cNvSpPr/>
          <p:nvPr/>
        </p:nvSpPr>
        <p:spPr>
          <a:xfrm>
            <a:off x="960120" y="1234440"/>
            <a:ext cx="1508760" cy="530352"/>
          </a:xfrm>
          <a:prstGeom prst="roundRect">
            <a:avLst>
              <a:gd fmla="val 1379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1033272" y="1289304"/>
            <a:ext cx="136245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package.json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dependencies + scripts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4"/>
          <p:cNvSpPr/>
          <p:nvPr/>
        </p:nvSpPr>
        <p:spPr>
          <a:xfrm>
            <a:off x="2770632" y="1234440"/>
            <a:ext cx="1417320" cy="530352"/>
          </a:xfrm>
          <a:prstGeom prst="roundRect">
            <a:avLst>
              <a:gd fmla="val 1379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4"/>
          <p:cNvSpPr/>
          <p:nvPr/>
        </p:nvSpPr>
        <p:spPr>
          <a:xfrm>
            <a:off x="2843784" y="1289304"/>
            <a:ext cx="127101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npm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installs + runs scripts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2788920" y="2194560"/>
            <a:ext cx="1417320" cy="530352"/>
          </a:xfrm>
          <a:prstGeom prst="roundRect">
            <a:avLst>
              <a:gd fmla="val 1379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4"/>
          <p:cNvSpPr/>
          <p:nvPr/>
        </p:nvSpPr>
        <p:spPr>
          <a:xfrm>
            <a:off x="2862072" y="2249424"/>
            <a:ext cx="127101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node_modules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installed packages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4617720" y="1234440"/>
            <a:ext cx="1234440" cy="420624"/>
          </a:xfrm>
          <a:prstGeom prst="roundRect">
            <a:avLst>
              <a:gd fmla="val 17391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4"/>
          <p:cNvSpPr/>
          <p:nvPr/>
        </p:nvSpPr>
        <p:spPr>
          <a:xfrm>
            <a:off x="4690872" y="1289304"/>
            <a:ext cx="10881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npm run dev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6172200" y="1234440"/>
            <a:ext cx="1234440" cy="530352"/>
          </a:xfrm>
          <a:prstGeom prst="roundRect">
            <a:avLst>
              <a:gd fmla="val 13793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4"/>
          <p:cNvSpPr/>
          <p:nvPr/>
        </p:nvSpPr>
        <p:spPr>
          <a:xfrm>
            <a:off x="6245352" y="1289304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Vite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dev server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6172200" y="2194560"/>
            <a:ext cx="1234440" cy="530352"/>
          </a:xfrm>
          <a:prstGeom prst="roundRect">
            <a:avLst>
              <a:gd fmla="val 1379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4"/>
          <p:cNvSpPr/>
          <p:nvPr/>
        </p:nvSpPr>
        <p:spPr>
          <a:xfrm>
            <a:off x="6245352" y="2249424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interface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" name="Google Shape;400;p34"/>
          <p:cNvCxnSpPr/>
          <p:nvPr/>
        </p:nvCxnSpPr>
        <p:spPr>
          <a:xfrm>
            <a:off x="2468880" y="1499616"/>
            <a:ext cx="301752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1" name="Google Shape;401;p34"/>
          <p:cNvCxnSpPr/>
          <p:nvPr/>
        </p:nvCxnSpPr>
        <p:spPr>
          <a:xfrm>
            <a:off x="3493008" y="1764792"/>
            <a:ext cx="0" cy="429768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2" name="Google Shape;402;p34"/>
          <p:cNvCxnSpPr/>
          <p:nvPr/>
        </p:nvCxnSpPr>
        <p:spPr>
          <a:xfrm flipH="1" rot="10800000">
            <a:off x="4187952" y="1463040"/>
            <a:ext cx="429768" cy="36576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3" name="Google Shape;403;p34"/>
          <p:cNvCxnSpPr/>
          <p:nvPr/>
        </p:nvCxnSpPr>
        <p:spPr>
          <a:xfrm>
            <a:off x="5852160" y="1463040"/>
            <a:ext cx="32004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4" name="Google Shape;404;p34"/>
          <p:cNvCxnSpPr/>
          <p:nvPr/>
        </p:nvCxnSpPr>
        <p:spPr>
          <a:xfrm>
            <a:off x="6784848" y="1764792"/>
            <a:ext cx="0" cy="429768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5" name="Google Shape;405;p34"/>
          <p:cNvSpPr/>
          <p:nvPr/>
        </p:nvSpPr>
        <p:spPr>
          <a:xfrm>
            <a:off x="2331720" y="3063240"/>
            <a:ext cx="4434840" cy="512064"/>
          </a:xfrm>
          <a:prstGeom prst="roundRect">
            <a:avLst>
              <a:gd fmla="val 14286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4"/>
          <p:cNvSpPr/>
          <p:nvPr/>
        </p:nvSpPr>
        <p:spPr>
          <a:xfrm>
            <a:off x="2514600" y="3227832"/>
            <a:ext cx="4069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Node.js is the runtime underneath the local development tools.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868680" y="3931920"/>
            <a:ext cx="7223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project file describes what is needed. npm installs and runs. Vite serves the app. The browser displays the React interface.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5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Which tool is responsible?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713232" y="100584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developer runs: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713232" y="1353312"/>
            <a:ext cx="2880360" cy="4114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5"/>
          <p:cNvSpPr/>
          <p:nvPr/>
        </p:nvSpPr>
        <p:spPr>
          <a:xfrm>
            <a:off x="804672" y="1426464"/>
            <a:ext cx="269748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npm run dev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713232" y="1965960"/>
            <a:ext cx="3063240" cy="960120"/>
          </a:xfrm>
          <a:prstGeom prst="roundRect">
            <a:avLst>
              <a:gd fmla="val 7619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5"/>
          <p:cNvSpPr/>
          <p:nvPr/>
        </p:nvSpPr>
        <p:spPr>
          <a:xfrm>
            <a:off x="896112" y="2258568"/>
            <a:ext cx="685800" cy="256032"/>
          </a:xfrm>
          <a:prstGeom prst="roundRect">
            <a:avLst>
              <a:gd fmla="val 2857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5"/>
          <p:cNvSpPr/>
          <p:nvPr/>
        </p:nvSpPr>
        <p:spPr>
          <a:xfrm>
            <a:off x="969264" y="2313432"/>
            <a:ext cx="5394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npm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5"/>
          <p:cNvSpPr/>
          <p:nvPr/>
        </p:nvSpPr>
        <p:spPr>
          <a:xfrm>
            <a:off x="1901952" y="2258568"/>
            <a:ext cx="685800" cy="256032"/>
          </a:xfrm>
          <a:prstGeom prst="roundRect">
            <a:avLst>
              <a:gd fmla="val 28571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5"/>
          <p:cNvSpPr/>
          <p:nvPr/>
        </p:nvSpPr>
        <p:spPr>
          <a:xfrm>
            <a:off x="1975104" y="2313432"/>
            <a:ext cx="5394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Vite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5"/>
          <p:cNvSpPr/>
          <p:nvPr/>
        </p:nvSpPr>
        <p:spPr>
          <a:xfrm>
            <a:off x="2907792" y="2258568"/>
            <a:ext cx="685800" cy="256032"/>
          </a:xfrm>
          <a:prstGeom prst="roundRect">
            <a:avLst>
              <a:gd fmla="val 28571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5"/>
          <p:cNvSpPr/>
          <p:nvPr/>
        </p:nvSpPr>
        <p:spPr>
          <a:xfrm>
            <a:off x="2980944" y="2313432"/>
            <a:ext cx="5394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9"/>
              <a:buFont typeface="Arial"/>
              <a:buNone/>
            </a:pPr>
            <a:r>
              <a:rPr b="0" i="0" lang="en" sz="8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35"/>
          <p:cNvCxnSpPr/>
          <p:nvPr/>
        </p:nvCxnSpPr>
        <p:spPr>
          <a:xfrm>
            <a:off x="1581912" y="2386584"/>
            <a:ext cx="32004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5" name="Google Shape;425;p35"/>
          <p:cNvCxnSpPr/>
          <p:nvPr/>
        </p:nvCxnSpPr>
        <p:spPr>
          <a:xfrm>
            <a:off x="2587752" y="2386584"/>
            <a:ext cx="32004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6" name="Google Shape;426;p35"/>
          <p:cNvSpPr/>
          <p:nvPr/>
        </p:nvSpPr>
        <p:spPr>
          <a:xfrm>
            <a:off x="4160520" y="960120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React application becomes available through a local development server. Which explanation is the most accurate?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4160520" y="1609344"/>
            <a:ext cx="40233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React reads package.json and installs Vite into the browser.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npm runs the project's dev script, Vite provides the development server, and Node.js runs the local tooling.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Node.js stores the project's dependencies and React starts the development server.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The browser runs npm, which then starts React as a package manager.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5"/>
          <p:cNvSpPr/>
          <p:nvPr/>
        </p:nvSpPr>
        <p:spPr>
          <a:xfrm>
            <a:off x="685800" y="4114800"/>
            <a:ext cx="7242048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5"/>
          <p:cNvSpPr/>
          <p:nvPr/>
        </p:nvSpPr>
        <p:spPr>
          <a:xfrm>
            <a:off x="804672" y="4187952"/>
            <a:ext cx="70043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npm runs the project's dev script, Vite provides the development server, and Node.js runs the local tooling.</a:t>
            </a:r>
            <a:b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Node.js, npm, Vite, React, and the browser are connected, but they do not perform the same job.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6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 Node.js and npm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713232" y="987552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Before creating the project, confirm that both commands are available.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6"/>
          <p:cNvSpPr/>
          <p:nvPr/>
        </p:nvSpPr>
        <p:spPr>
          <a:xfrm>
            <a:off x="777240" y="1463040"/>
            <a:ext cx="3749040" cy="9144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6"/>
          <p:cNvSpPr/>
          <p:nvPr/>
        </p:nvSpPr>
        <p:spPr>
          <a:xfrm>
            <a:off x="886968" y="1554480"/>
            <a:ext cx="352958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node -v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npm -v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6"/>
          <p:cNvSpPr/>
          <p:nvPr/>
        </p:nvSpPr>
        <p:spPr>
          <a:xfrm>
            <a:off x="4754880" y="1234440"/>
            <a:ext cx="3337560" cy="1700784"/>
          </a:xfrm>
          <a:prstGeom prst="roundRect">
            <a:avLst>
              <a:gd fmla="val 4301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6"/>
          <p:cNvSpPr/>
          <p:nvPr/>
        </p:nvSpPr>
        <p:spPr>
          <a:xfrm>
            <a:off x="4864608" y="1325880"/>
            <a:ext cx="31181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should you see?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6"/>
          <p:cNvSpPr/>
          <p:nvPr/>
        </p:nvSpPr>
        <p:spPr>
          <a:xfrm>
            <a:off x="4864608" y="1636776"/>
            <a:ext cx="3118104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Each command should print a version number.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"/>
              <a:buFont typeface="Arial"/>
              <a:buNone/>
            </a:pPr>
            <a:r>
              <a:t/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$ node -v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v...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"/>
              <a:buFont typeface="Arial"/>
              <a:buNone/>
            </a:pPr>
            <a:r>
              <a:t/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$ npm -v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6"/>
          <p:cNvSpPr/>
          <p:nvPr/>
        </p:nvSpPr>
        <p:spPr>
          <a:xfrm>
            <a:off x="777240" y="3246120"/>
            <a:ext cx="7315200" cy="502920"/>
          </a:xfrm>
          <a:prstGeom prst="roundRect">
            <a:avLst>
              <a:gd fmla="val 14545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6"/>
          <p:cNvSpPr/>
          <p:nvPr/>
        </p:nvSpPr>
        <p:spPr>
          <a:xfrm>
            <a:off x="960120" y="3401568"/>
            <a:ext cx="6949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If either command is not recognised, let the instructor know before continuing.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7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Create a React TypeScript project with Vite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7"/>
          <p:cNvSpPr/>
          <p:nvPr/>
        </p:nvSpPr>
        <p:spPr>
          <a:xfrm>
            <a:off x="713232" y="9418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Run this command from the folder where you want the project to be created: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7"/>
          <p:cNvSpPr/>
          <p:nvPr/>
        </p:nvSpPr>
        <p:spPr>
          <a:xfrm>
            <a:off x="713232" y="1371600"/>
            <a:ext cx="7406640" cy="5486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7"/>
          <p:cNvSpPr/>
          <p:nvPr/>
        </p:nvSpPr>
        <p:spPr>
          <a:xfrm>
            <a:off x="804672" y="1444752"/>
            <a:ext cx="7223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Courier New"/>
              <a:buNone/>
            </a:pPr>
            <a:r>
              <a:rPr b="0" i="0" lang="en" sz="11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npm create vite@latest react-intro-lab -- --template react-ts --no-interactive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7"/>
          <p:cNvSpPr/>
          <p:nvPr/>
        </p:nvSpPr>
        <p:spPr>
          <a:xfrm>
            <a:off x="777240" y="2240280"/>
            <a:ext cx="2331720" cy="822960"/>
          </a:xfrm>
          <a:prstGeom prst="roundRect">
            <a:avLst>
              <a:gd fmla="val 8889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7"/>
          <p:cNvSpPr/>
          <p:nvPr/>
        </p:nvSpPr>
        <p:spPr>
          <a:xfrm>
            <a:off x="886968" y="2331720"/>
            <a:ext cx="2112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npm create vite@latest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7"/>
          <p:cNvSpPr/>
          <p:nvPr/>
        </p:nvSpPr>
        <p:spPr>
          <a:xfrm>
            <a:off x="886968" y="2642616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9"/>
              <a:buFont typeface="Arial"/>
              <a:buNone/>
            </a:pPr>
            <a:r>
              <a:rPr b="0" i="0" lang="en" sz="9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runs the current Vite project creator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7"/>
          <p:cNvSpPr/>
          <p:nvPr/>
        </p:nvSpPr>
        <p:spPr>
          <a:xfrm>
            <a:off x="3355848" y="2240280"/>
            <a:ext cx="1965960" cy="822960"/>
          </a:xfrm>
          <a:prstGeom prst="roundRect">
            <a:avLst>
              <a:gd fmla="val 888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7"/>
          <p:cNvSpPr/>
          <p:nvPr/>
        </p:nvSpPr>
        <p:spPr>
          <a:xfrm>
            <a:off x="3465576" y="2331720"/>
            <a:ext cx="1746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react-intro-lab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7"/>
          <p:cNvSpPr/>
          <p:nvPr/>
        </p:nvSpPr>
        <p:spPr>
          <a:xfrm>
            <a:off x="3465576" y="2642616"/>
            <a:ext cx="17465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9"/>
              <a:buFont typeface="Arial"/>
              <a:buNone/>
            </a:pPr>
            <a:r>
              <a:rPr b="0" i="0" lang="en" sz="9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becomes the project folder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7"/>
          <p:cNvSpPr/>
          <p:nvPr/>
        </p:nvSpPr>
        <p:spPr>
          <a:xfrm>
            <a:off x="5577840" y="2240280"/>
            <a:ext cx="2514600" cy="822960"/>
          </a:xfrm>
          <a:prstGeom prst="roundRect">
            <a:avLst>
              <a:gd fmla="val 8889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7"/>
          <p:cNvSpPr/>
          <p:nvPr/>
        </p:nvSpPr>
        <p:spPr>
          <a:xfrm>
            <a:off x="5687568" y="2331720"/>
            <a:ext cx="22951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--template react-ts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7"/>
          <p:cNvSpPr/>
          <p:nvPr/>
        </p:nvSpPr>
        <p:spPr>
          <a:xfrm>
            <a:off x="5687568" y="2642616"/>
            <a:ext cx="22951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9"/>
              <a:buFont typeface="Arial"/>
              <a:buNone/>
            </a:pPr>
            <a:r>
              <a:rPr b="0" i="0" lang="en" sz="9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uses the React + TypeScript starter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7"/>
          <p:cNvSpPr/>
          <p:nvPr/>
        </p:nvSpPr>
        <p:spPr>
          <a:xfrm>
            <a:off x="2926080" y="3657600"/>
            <a:ext cx="3291840" cy="502920"/>
          </a:xfrm>
          <a:prstGeom prst="roundRect">
            <a:avLst>
              <a:gd fmla="val 14545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7"/>
          <p:cNvSpPr/>
          <p:nvPr/>
        </p:nvSpPr>
        <p:spPr>
          <a:xfrm>
            <a:off x="3108960" y="3831336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Expected result:  react-intro-lab/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8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Start the development server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8"/>
          <p:cNvSpPr/>
          <p:nvPr/>
        </p:nvSpPr>
        <p:spPr>
          <a:xfrm>
            <a:off x="777240" y="1234440"/>
            <a:ext cx="2148840" cy="1051560"/>
          </a:xfrm>
          <a:prstGeom prst="roundRect">
            <a:avLst>
              <a:gd fmla="val 695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8"/>
          <p:cNvSpPr/>
          <p:nvPr/>
        </p:nvSpPr>
        <p:spPr>
          <a:xfrm>
            <a:off x="886968" y="1325880"/>
            <a:ext cx="1929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1. Enter the project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8"/>
          <p:cNvSpPr/>
          <p:nvPr/>
        </p:nvSpPr>
        <p:spPr>
          <a:xfrm>
            <a:off x="886968" y="1636776"/>
            <a:ext cx="1929384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cd react-intro-lab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8"/>
          <p:cNvSpPr/>
          <p:nvPr/>
        </p:nvSpPr>
        <p:spPr>
          <a:xfrm>
            <a:off x="3063240" y="1234440"/>
            <a:ext cx="2148840" cy="1051560"/>
          </a:xfrm>
          <a:prstGeom prst="roundRect">
            <a:avLst>
              <a:gd fmla="val 695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8"/>
          <p:cNvSpPr/>
          <p:nvPr/>
        </p:nvSpPr>
        <p:spPr>
          <a:xfrm>
            <a:off x="3172968" y="1325880"/>
            <a:ext cx="1929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2. Install dependencies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8"/>
          <p:cNvSpPr/>
          <p:nvPr/>
        </p:nvSpPr>
        <p:spPr>
          <a:xfrm>
            <a:off x="3172968" y="1636776"/>
            <a:ext cx="1929384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npm install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8"/>
          <p:cNvSpPr/>
          <p:nvPr/>
        </p:nvSpPr>
        <p:spPr>
          <a:xfrm>
            <a:off x="5349240" y="1234440"/>
            <a:ext cx="2148840" cy="1051560"/>
          </a:xfrm>
          <a:prstGeom prst="roundRect">
            <a:avLst>
              <a:gd fmla="val 6957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8"/>
          <p:cNvSpPr/>
          <p:nvPr/>
        </p:nvSpPr>
        <p:spPr>
          <a:xfrm>
            <a:off x="5458968" y="1325880"/>
            <a:ext cx="1929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3. Start development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8"/>
          <p:cNvSpPr/>
          <p:nvPr/>
        </p:nvSpPr>
        <p:spPr>
          <a:xfrm>
            <a:off x="5458968" y="1636776"/>
            <a:ext cx="1929384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npm run dev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38"/>
          <p:cNvCxnSpPr/>
          <p:nvPr/>
        </p:nvCxnSpPr>
        <p:spPr>
          <a:xfrm>
            <a:off x="2926080" y="1755648"/>
            <a:ext cx="1371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0" name="Google Shape;480;p38"/>
          <p:cNvCxnSpPr/>
          <p:nvPr/>
        </p:nvCxnSpPr>
        <p:spPr>
          <a:xfrm>
            <a:off x="5212080" y="1755648"/>
            <a:ext cx="1371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1" name="Google Shape;481;p38"/>
          <p:cNvSpPr/>
          <p:nvPr/>
        </p:nvSpPr>
        <p:spPr>
          <a:xfrm>
            <a:off x="777240" y="2743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terminal will report a local URL.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8"/>
          <p:cNvSpPr/>
          <p:nvPr/>
        </p:nvSpPr>
        <p:spPr>
          <a:xfrm>
            <a:off x="777240" y="3108960"/>
            <a:ext cx="4023360" cy="5029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8"/>
          <p:cNvSpPr/>
          <p:nvPr/>
        </p:nvSpPr>
        <p:spPr>
          <a:xfrm>
            <a:off x="868680" y="3182112"/>
            <a:ext cx="384048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0"/>
              <a:buFont typeface="Courier New"/>
              <a:buNone/>
            </a:pPr>
            <a:r>
              <a:rPr b="0" i="0" lang="en" sz="12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Local: http://localhost:....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5074920" y="3108960"/>
            <a:ext cx="2926080" cy="502920"/>
          </a:xfrm>
          <a:prstGeom prst="roundRect">
            <a:avLst>
              <a:gd fmla="val 1454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8"/>
          <p:cNvSpPr/>
          <p:nvPr/>
        </p:nvSpPr>
        <p:spPr>
          <a:xfrm>
            <a:off x="5257800" y="3273552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Open the URL shown in your terminal.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9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Change the page title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9"/>
          <p:cNvSpPr/>
          <p:nvPr/>
        </p:nvSpPr>
        <p:spPr>
          <a:xfrm>
            <a:off x="713232" y="960120"/>
            <a:ext cx="7498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Open index.html. Find the title and change it.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9"/>
          <p:cNvSpPr/>
          <p:nvPr/>
        </p:nvSpPr>
        <p:spPr>
          <a:xfrm>
            <a:off x="758952" y="1325880"/>
            <a:ext cx="3749040" cy="2514600"/>
          </a:xfrm>
          <a:prstGeom prst="roundRect">
            <a:avLst>
              <a:gd fmla="val 2909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9"/>
          <p:cNvSpPr/>
          <p:nvPr/>
        </p:nvSpPr>
        <p:spPr>
          <a:xfrm>
            <a:off x="914400" y="1481328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9"/>
          <p:cNvSpPr/>
          <p:nvPr/>
        </p:nvSpPr>
        <p:spPr>
          <a:xfrm>
            <a:off x="978408" y="1901952"/>
            <a:ext cx="3310128" cy="129844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9"/>
          <p:cNvSpPr/>
          <p:nvPr/>
        </p:nvSpPr>
        <p:spPr>
          <a:xfrm>
            <a:off x="1088136" y="1993392"/>
            <a:ext cx="309067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Find: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&lt;title&gt;Vite + React + TS&lt;/title&gt;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Arial"/>
              <a:buNone/>
            </a:pPr>
            <a:r>
              <a:t/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Change to: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&lt;title&gt;React intro lab&lt;/title&gt;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9"/>
          <p:cNvSpPr/>
          <p:nvPr/>
        </p:nvSpPr>
        <p:spPr>
          <a:xfrm>
            <a:off x="4892040" y="1325880"/>
            <a:ext cx="3108960" cy="2514600"/>
          </a:xfrm>
          <a:prstGeom prst="roundRect">
            <a:avLst>
              <a:gd fmla="val 290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9"/>
          <p:cNvSpPr/>
          <p:nvPr/>
        </p:nvSpPr>
        <p:spPr>
          <a:xfrm>
            <a:off x="4892040" y="1325880"/>
            <a:ext cx="3108960" cy="310896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9"/>
          <p:cNvSpPr/>
          <p:nvPr/>
        </p:nvSpPr>
        <p:spPr>
          <a:xfrm>
            <a:off x="5422392" y="1399032"/>
            <a:ext cx="2487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intro lab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9"/>
          <p:cNvSpPr/>
          <p:nvPr/>
        </p:nvSpPr>
        <p:spPr>
          <a:xfrm>
            <a:off x="4992624" y="1435608"/>
            <a:ext cx="73152" cy="7315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9"/>
          <p:cNvSpPr/>
          <p:nvPr/>
        </p:nvSpPr>
        <p:spPr>
          <a:xfrm>
            <a:off x="5120640" y="1435608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9"/>
          <p:cNvSpPr/>
          <p:nvPr/>
        </p:nvSpPr>
        <p:spPr>
          <a:xfrm>
            <a:off x="5248656" y="1435608"/>
            <a:ext cx="73152" cy="7315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9"/>
          <p:cNvSpPr/>
          <p:nvPr/>
        </p:nvSpPr>
        <p:spPr>
          <a:xfrm>
            <a:off x="5349240" y="246888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Vite starter app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9"/>
          <p:cNvSpPr/>
          <p:nvPr/>
        </p:nvSpPr>
        <p:spPr>
          <a:xfrm>
            <a:off x="758952" y="3977640"/>
            <a:ext cx="7242048" cy="365760"/>
          </a:xfrm>
          <a:prstGeom prst="roundRect">
            <a:avLst>
              <a:gd fmla="val 2000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9"/>
          <p:cNvSpPr/>
          <p:nvPr/>
        </p:nvSpPr>
        <p:spPr>
          <a:xfrm>
            <a:off x="960120" y="408736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browser tab should now show: React intro lab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0"/>
          <p:cNvSpPr/>
          <p:nvPr/>
        </p:nvSpPr>
        <p:spPr>
          <a:xfrm>
            <a:off x="1280160" y="2057400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50"/>
              <a:buFont typeface="Arial"/>
              <a:buNone/>
            </a:pPr>
            <a:r>
              <a:rPr b="1" i="0" lang="en" sz="2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Inside a React project</a:t>
            </a:r>
            <a:endParaRPr b="0" i="0" sz="2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1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Project structure at a glance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1"/>
          <p:cNvSpPr/>
          <p:nvPr/>
        </p:nvSpPr>
        <p:spPr>
          <a:xfrm>
            <a:off x="713232" y="850392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React TypeScript project contains application source files, project information, installed packages, and configuration.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1"/>
          <p:cNvSpPr/>
          <p:nvPr/>
        </p:nvSpPr>
        <p:spPr>
          <a:xfrm>
            <a:off x="685800" y="1188720"/>
            <a:ext cx="4526280" cy="32461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1"/>
          <p:cNvSpPr/>
          <p:nvPr/>
        </p:nvSpPr>
        <p:spPr>
          <a:xfrm>
            <a:off x="795528" y="1280160"/>
            <a:ext cx="4306824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react-intro-lab/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node_modules/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public/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src/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assets/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App.tsx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main.tsx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...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index.html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package.json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package-lock.json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tsconfig*.json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vite.config.ts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1"/>
          <p:cNvSpPr/>
          <p:nvPr/>
        </p:nvSpPr>
        <p:spPr>
          <a:xfrm>
            <a:off x="5440680" y="1188720"/>
            <a:ext cx="2834640" cy="1143000"/>
          </a:xfrm>
          <a:prstGeom prst="roundRect">
            <a:avLst>
              <a:gd fmla="val 640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1"/>
          <p:cNvSpPr/>
          <p:nvPr/>
        </p:nvSpPr>
        <p:spPr>
          <a:xfrm>
            <a:off x="5550408" y="1280160"/>
            <a:ext cx="26151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 with today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1"/>
          <p:cNvSpPr/>
          <p:nvPr/>
        </p:nvSpPr>
        <p:spPr>
          <a:xfrm>
            <a:off x="5550408" y="1591056"/>
            <a:ext cx="261518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package.json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src/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main.tsx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App.tsx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1"/>
          <p:cNvSpPr/>
          <p:nvPr/>
        </p:nvSpPr>
        <p:spPr>
          <a:xfrm>
            <a:off x="5440680" y="2542032"/>
            <a:ext cx="2834640" cy="1005840"/>
          </a:xfrm>
          <a:prstGeom prst="roundRect">
            <a:avLst>
              <a:gd fmla="val 7273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1"/>
          <p:cNvSpPr/>
          <p:nvPr/>
        </p:nvSpPr>
        <p:spPr>
          <a:xfrm>
            <a:off x="5550408" y="2633472"/>
            <a:ext cx="26151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Recognise for now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1"/>
          <p:cNvSpPr/>
          <p:nvPr/>
        </p:nvSpPr>
        <p:spPr>
          <a:xfrm>
            <a:off x="5550408" y="2944368"/>
            <a:ext cx="2615184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public/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TypeScript configuration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Vite configuration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lockfile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1"/>
          <p:cNvSpPr/>
          <p:nvPr/>
        </p:nvSpPr>
        <p:spPr>
          <a:xfrm>
            <a:off x="5440680" y="3767328"/>
            <a:ext cx="2834640" cy="658368"/>
          </a:xfrm>
          <a:prstGeom prst="roundRect">
            <a:avLst>
              <a:gd fmla="val 11111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/>
          <p:nvPr/>
        </p:nvSpPr>
        <p:spPr>
          <a:xfrm>
            <a:off x="5550408" y="3858768"/>
            <a:ext cx="26151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Installed dependencies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1"/>
          <p:cNvSpPr/>
          <p:nvPr/>
        </p:nvSpPr>
        <p:spPr>
          <a:xfrm>
            <a:off x="5550408" y="4169664"/>
            <a:ext cx="2615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node_modules/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2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index.html and src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2"/>
          <p:cNvSpPr/>
          <p:nvPr/>
        </p:nvSpPr>
        <p:spPr>
          <a:xfrm>
            <a:off x="713232" y="1097280"/>
            <a:ext cx="3840480" cy="2148840"/>
          </a:xfrm>
          <a:prstGeom prst="roundRect">
            <a:avLst>
              <a:gd fmla="val 3404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2"/>
          <p:cNvSpPr/>
          <p:nvPr/>
        </p:nvSpPr>
        <p:spPr>
          <a:xfrm>
            <a:off x="896112" y="126187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2"/>
          <p:cNvSpPr/>
          <p:nvPr/>
        </p:nvSpPr>
        <p:spPr>
          <a:xfrm>
            <a:off x="896112" y="157276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The project still has an HTML document.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2"/>
          <p:cNvSpPr/>
          <p:nvPr/>
        </p:nvSpPr>
        <p:spPr>
          <a:xfrm>
            <a:off x="987552" y="1874520"/>
            <a:ext cx="3291840" cy="1078992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2"/>
          <p:cNvSpPr/>
          <p:nvPr/>
        </p:nvSpPr>
        <p:spPr>
          <a:xfrm>
            <a:off x="1097280" y="1965960"/>
            <a:ext cx="307238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&lt;div id="root"&gt;&lt;/div&gt;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&lt;script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type="module"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src="/src/main.tsx"&gt;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&lt;/script&gt;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2"/>
          <p:cNvSpPr/>
          <p:nvPr/>
        </p:nvSpPr>
        <p:spPr>
          <a:xfrm>
            <a:off x="4754880" y="1097280"/>
            <a:ext cx="3383280" cy="2148840"/>
          </a:xfrm>
          <a:prstGeom prst="roundRect">
            <a:avLst>
              <a:gd fmla="val 3404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2"/>
          <p:cNvSpPr/>
          <p:nvPr/>
        </p:nvSpPr>
        <p:spPr>
          <a:xfrm>
            <a:off x="4937760" y="126187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src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42"/>
          <p:cNvSpPr/>
          <p:nvPr/>
        </p:nvSpPr>
        <p:spPr>
          <a:xfrm>
            <a:off x="4937760" y="157276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The src folder contains the application's source files.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2"/>
          <p:cNvSpPr/>
          <p:nvPr/>
        </p:nvSpPr>
        <p:spPr>
          <a:xfrm>
            <a:off x="5212080" y="1874520"/>
            <a:ext cx="2560320" cy="1078992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2"/>
          <p:cNvSpPr/>
          <p:nvPr/>
        </p:nvSpPr>
        <p:spPr>
          <a:xfrm>
            <a:off x="5321808" y="1965960"/>
            <a:ext cx="2340864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src/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assets/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App.tsx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main.tsx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...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2"/>
          <p:cNvSpPr/>
          <p:nvPr/>
        </p:nvSpPr>
        <p:spPr>
          <a:xfrm>
            <a:off x="2240280" y="3657600"/>
            <a:ext cx="4389120" cy="43891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2"/>
          <p:cNvSpPr/>
          <p:nvPr/>
        </p:nvSpPr>
        <p:spPr>
          <a:xfrm>
            <a:off x="2514600" y="3785616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index.html loads src/main.tsx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p42"/>
          <p:cNvCxnSpPr/>
          <p:nvPr/>
        </p:nvCxnSpPr>
        <p:spPr>
          <a:xfrm>
            <a:off x="4553712" y="2157984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3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main.tsx and App.tsx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3"/>
          <p:cNvSpPr/>
          <p:nvPr/>
        </p:nvSpPr>
        <p:spPr>
          <a:xfrm>
            <a:off x="713232" y="914400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0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These files have different roles in the starter project.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43"/>
          <p:cNvSpPr/>
          <p:nvPr/>
        </p:nvSpPr>
        <p:spPr>
          <a:xfrm>
            <a:off x="777240" y="1325880"/>
            <a:ext cx="3337560" cy="1508760"/>
          </a:xfrm>
          <a:prstGeom prst="roundRect">
            <a:avLst>
              <a:gd fmla="val 4848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3"/>
          <p:cNvSpPr/>
          <p:nvPr/>
        </p:nvSpPr>
        <p:spPr>
          <a:xfrm>
            <a:off x="886968" y="1417320"/>
            <a:ext cx="31181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main.tsx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3"/>
          <p:cNvSpPr/>
          <p:nvPr/>
        </p:nvSpPr>
        <p:spPr>
          <a:xfrm>
            <a:off x="886968" y="1728216"/>
            <a:ext cx="3118104" cy="1033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Starts the React application.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</a:pPr>
            <a:r>
              <a:t/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One useful relationship to notice: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3"/>
          <p:cNvSpPr/>
          <p:nvPr/>
        </p:nvSpPr>
        <p:spPr>
          <a:xfrm>
            <a:off x="1051560" y="2286000"/>
            <a:ext cx="2788920" cy="38404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3"/>
          <p:cNvSpPr/>
          <p:nvPr/>
        </p:nvSpPr>
        <p:spPr>
          <a:xfrm>
            <a:off x="1143000" y="235915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App from './App.tsx'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3"/>
          <p:cNvSpPr/>
          <p:nvPr/>
        </p:nvSpPr>
        <p:spPr>
          <a:xfrm>
            <a:off x="4709160" y="1325880"/>
            <a:ext cx="3337560" cy="1508760"/>
          </a:xfrm>
          <a:prstGeom prst="roundRect">
            <a:avLst>
              <a:gd fmla="val 4848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3"/>
          <p:cNvSpPr/>
          <p:nvPr/>
        </p:nvSpPr>
        <p:spPr>
          <a:xfrm>
            <a:off x="4818888" y="1417320"/>
            <a:ext cx="31181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App.tsx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3"/>
          <p:cNvSpPr/>
          <p:nvPr/>
        </p:nvSpPr>
        <p:spPr>
          <a:xfrm>
            <a:off x="4818888" y="1728216"/>
            <a:ext cx="3118104" cy="1033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Contains the main starter component shown in the browser.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3"/>
          <p:cNvSpPr/>
          <p:nvPr/>
        </p:nvSpPr>
        <p:spPr>
          <a:xfrm>
            <a:off x="914400" y="3703320"/>
            <a:ext cx="1234440" cy="310896"/>
          </a:xfrm>
          <a:prstGeom prst="roundRect">
            <a:avLst>
              <a:gd fmla="val 2352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3"/>
          <p:cNvSpPr/>
          <p:nvPr/>
        </p:nvSpPr>
        <p:spPr>
          <a:xfrm>
            <a:off x="987552" y="3758184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3"/>
          <p:cNvSpPr/>
          <p:nvPr/>
        </p:nvSpPr>
        <p:spPr>
          <a:xfrm>
            <a:off x="2743200" y="3703320"/>
            <a:ext cx="1234440" cy="310896"/>
          </a:xfrm>
          <a:prstGeom prst="roundRect">
            <a:avLst>
              <a:gd fmla="val 23529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3"/>
          <p:cNvSpPr/>
          <p:nvPr/>
        </p:nvSpPr>
        <p:spPr>
          <a:xfrm>
            <a:off x="2816352" y="3758184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main.tsx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3"/>
          <p:cNvSpPr/>
          <p:nvPr/>
        </p:nvSpPr>
        <p:spPr>
          <a:xfrm>
            <a:off x="4572000" y="3703320"/>
            <a:ext cx="1234440" cy="310896"/>
          </a:xfrm>
          <a:prstGeom prst="roundRect">
            <a:avLst>
              <a:gd fmla="val 235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3"/>
          <p:cNvSpPr/>
          <p:nvPr/>
        </p:nvSpPr>
        <p:spPr>
          <a:xfrm>
            <a:off x="4645152" y="3758184"/>
            <a:ext cx="10881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App.tsx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3"/>
          <p:cNvSpPr/>
          <p:nvPr/>
        </p:nvSpPr>
        <p:spPr>
          <a:xfrm>
            <a:off x="6400800" y="3703320"/>
            <a:ext cx="1371600" cy="310896"/>
          </a:xfrm>
          <a:prstGeom prst="roundRect">
            <a:avLst>
              <a:gd fmla="val 23529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3"/>
          <p:cNvSpPr/>
          <p:nvPr/>
        </p:nvSpPr>
        <p:spPr>
          <a:xfrm>
            <a:off x="6473952" y="3758184"/>
            <a:ext cx="12252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visible interface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2" name="Google Shape;572;p43"/>
          <p:cNvCxnSpPr/>
          <p:nvPr/>
        </p:nvCxnSpPr>
        <p:spPr>
          <a:xfrm>
            <a:off x="2148840" y="3858768"/>
            <a:ext cx="5943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3" name="Google Shape;573;p43"/>
          <p:cNvCxnSpPr/>
          <p:nvPr/>
        </p:nvCxnSpPr>
        <p:spPr>
          <a:xfrm>
            <a:off x="3977640" y="3858768"/>
            <a:ext cx="5943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4" name="Google Shape;574;p43"/>
          <p:cNvCxnSpPr/>
          <p:nvPr/>
        </p:nvCxnSpPr>
        <p:spPr>
          <a:xfrm>
            <a:off x="5806440" y="3858768"/>
            <a:ext cx="5943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4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Find it in the project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4"/>
          <p:cNvSpPr/>
          <p:nvPr/>
        </p:nvSpPr>
        <p:spPr>
          <a:xfrm>
            <a:off x="713232" y="914400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Match each task to the place you would inspect first.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4"/>
          <p:cNvSpPr/>
          <p:nvPr/>
        </p:nvSpPr>
        <p:spPr>
          <a:xfrm>
            <a:off x="713232" y="1280160"/>
            <a:ext cx="3383280" cy="22402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44"/>
          <p:cNvSpPr/>
          <p:nvPr/>
        </p:nvSpPr>
        <p:spPr>
          <a:xfrm>
            <a:off x="822960" y="1371600"/>
            <a:ext cx="316382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react-intro-lab/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node_modules/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src/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App.tsx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main.tsx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index.html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package.json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4"/>
          <p:cNvSpPr/>
          <p:nvPr/>
        </p:nvSpPr>
        <p:spPr>
          <a:xfrm>
            <a:off x="4343400" y="1280160"/>
            <a:ext cx="3886200" cy="2240280"/>
          </a:xfrm>
          <a:prstGeom prst="roundRect">
            <a:avLst>
              <a:gd fmla="val 3265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4"/>
          <p:cNvSpPr/>
          <p:nvPr/>
        </p:nvSpPr>
        <p:spPr>
          <a:xfrm>
            <a:off x="4526280" y="14447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4"/>
          <p:cNvSpPr/>
          <p:nvPr/>
        </p:nvSpPr>
        <p:spPr>
          <a:xfrm>
            <a:off x="4526280" y="1783080"/>
            <a:ext cx="349300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1. Check which packages the project depends on.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2. Find the installed package files.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3. Find the file that starts the React application.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4. Find the main starter component.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4"/>
          <p:cNvSpPr/>
          <p:nvPr/>
        </p:nvSpPr>
        <p:spPr>
          <a:xfrm>
            <a:off x="4526280" y="277063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Choices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4"/>
          <p:cNvSpPr/>
          <p:nvPr/>
        </p:nvSpPr>
        <p:spPr>
          <a:xfrm>
            <a:off x="4526280" y="3063240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package.json   |   node_modules   |   main.tsx   |   App.tsx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4"/>
          <p:cNvSpPr/>
          <p:nvPr/>
        </p:nvSpPr>
        <p:spPr>
          <a:xfrm>
            <a:off x="685800" y="4114800"/>
            <a:ext cx="7242048" cy="713232"/>
          </a:xfrm>
          <a:prstGeom prst="roundRect">
            <a:avLst>
              <a:gd fmla="val 102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4"/>
          <p:cNvSpPr/>
          <p:nvPr/>
        </p:nvSpPr>
        <p:spPr>
          <a:xfrm>
            <a:off x="804672" y="4187952"/>
            <a:ext cx="700430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1 -</a:t>
            </a:r>
            <a:r>
              <a:rPr b="1" lang="en" sz="1070">
                <a:solidFill>
                  <a:srgbClr val="111827"/>
                </a:solidFill>
              </a:rPr>
              <a:t>-&gt; </a:t>
            </a: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package.json   2 </a:t>
            </a:r>
            <a:r>
              <a:rPr b="1" lang="en" sz="1070">
                <a:solidFill>
                  <a:srgbClr val="111827"/>
                </a:solidFill>
              </a:rPr>
              <a:t>--&gt;</a:t>
            </a: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node_modules   3 </a:t>
            </a:r>
            <a:r>
              <a:rPr b="1" lang="en" sz="1070">
                <a:solidFill>
                  <a:srgbClr val="111827"/>
                </a:solidFill>
              </a:rPr>
              <a:t>--&gt;</a:t>
            </a: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main.tsx   4 </a:t>
            </a:r>
            <a:r>
              <a:rPr b="1" lang="en" sz="1070">
                <a:solidFill>
                  <a:srgbClr val="111827"/>
                </a:solidFill>
              </a:rPr>
              <a:t>--&gt;</a:t>
            </a: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App.tsx</a:t>
            </a:r>
            <a:b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Reading structure becomes easier when you know which file or folder answers which kind of question.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5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1</a:t>
            </a: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: React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5"/>
          <p:cNvSpPr/>
          <p:nvPr/>
        </p:nvSpPr>
        <p:spPr>
          <a:xfrm>
            <a:off x="731520" y="1143000"/>
            <a:ext cx="3154680" cy="2423160"/>
          </a:xfrm>
          <a:prstGeom prst="roundRect">
            <a:avLst>
              <a:gd fmla="val 301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5"/>
          <p:cNvSpPr/>
          <p:nvPr/>
        </p:nvSpPr>
        <p:spPr>
          <a:xfrm>
            <a:off x="731520" y="1143000"/>
            <a:ext cx="3154680" cy="310896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5"/>
          <p:cNvSpPr/>
          <p:nvPr/>
        </p:nvSpPr>
        <p:spPr>
          <a:xfrm>
            <a:off x="1261872" y="1216152"/>
            <a:ext cx="2532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5"/>
          <p:cNvSpPr/>
          <p:nvPr/>
        </p:nvSpPr>
        <p:spPr>
          <a:xfrm>
            <a:off x="832104" y="1252728"/>
            <a:ext cx="73152" cy="7315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5"/>
          <p:cNvSpPr/>
          <p:nvPr/>
        </p:nvSpPr>
        <p:spPr>
          <a:xfrm>
            <a:off x="960120" y="1252728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5"/>
          <p:cNvSpPr/>
          <p:nvPr/>
        </p:nvSpPr>
        <p:spPr>
          <a:xfrm>
            <a:off x="1088136" y="1252728"/>
            <a:ext cx="73152" cy="7315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5"/>
          <p:cNvSpPr/>
          <p:nvPr/>
        </p:nvSpPr>
        <p:spPr>
          <a:xfrm>
            <a:off x="960120" y="1627632"/>
            <a:ext cx="2697480" cy="32004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5"/>
          <p:cNvSpPr/>
          <p:nvPr/>
        </p:nvSpPr>
        <p:spPr>
          <a:xfrm>
            <a:off x="1051560" y="1700784"/>
            <a:ext cx="2514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Filters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5"/>
          <p:cNvSpPr/>
          <p:nvPr/>
        </p:nvSpPr>
        <p:spPr>
          <a:xfrm>
            <a:off x="960120" y="2121408"/>
            <a:ext cx="1143000" cy="73152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5"/>
          <p:cNvSpPr/>
          <p:nvPr/>
        </p:nvSpPr>
        <p:spPr>
          <a:xfrm>
            <a:off x="2514600" y="2121408"/>
            <a:ext cx="1143000" cy="73152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45"/>
          <p:cNvSpPr/>
          <p:nvPr/>
        </p:nvSpPr>
        <p:spPr>
          <a:xfrm>
            <a:off x="1161288" y="2395728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Card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5"/>
          <p:cNvSpPr/>
          <p:nvPr/>
        </p:nvSpPr>
        <p:spPr>
          <a:xfrm>
            <a:off x="2724912" y="2395728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Card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5"/>
          <p:cNvSpPr/>
          <p:nvPr/>
        </p:nvSpPr>
        <p:spPr>
          <a:xfrm>
            <a:off x="4160520" y="1005840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team is building a dashboard with repeated cards, filters, forms, and sections that change as application data changes. Which statement best describes the role React can play?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5"/>
          <p:cNvSpPr/>
          <p:nvPr/>
        </p:nvSpPr>
        <p:spPr>
          <a:xfrm>
            <a:off x="4160520" y="1920240"/>
            <a:ext cx="397764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React replaces JavaScript with a new programming language.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React manages the project's installed npm packages.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React provides a structured way to build the user interface from components.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React is the development server used to run the project.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5"/>
          <p:cNvSpPr/>
          <p:nvPr/>
        </p:nvSpPr>
        <p:spPr>
          <a:xfrm>
            <a:off x="685800" y="4114800"/>
            <a:ext cx="7242048" cy="713232"/>
          </a:xfrm>
          <a:prstGeom prst="roundRect">
            <a:avLst>
              <a:gd fmla="val 102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45"/>
          <p:cNvSpPr/>
          <p:nvPr/>
        </p:nvSpPr>
        <p:spPr>
          <a:xfrm>
            <a:off x="804672" y="4187952"/>
            <a:ext cx="700430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React provides a structured way to build the user interface from components.</a:t>
            </a:r>
            <a:b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is a JavaScript library for building user interfaces. Package management and the development server belong to other tools.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6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2: Single-page applications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6"/>
          <p:cNvSpPr/>
          <p:nvPr/>
        </p:nvSpPr>
        <p:spPr>
          <a:xfrm>
            <a:off x="731520" y="1143000"/>
            <a:ext cx="3154680" cy="2423160"/>
          </a:xfrm>
          <a:prstGeom prst="roundRect">
            <a:avLst>
              <a:gd fmla="val 301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46"/>
          <p:cNvSpPr/>
          <p:nvPr/>
        </p:nvSpPr>
        <p:spPr>
          <a:xfrm>
            <a:off x="731520" y="1143000"/>
            <a:ext cx="3154680" cy="310896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6"/>
          <p:cNvSpPr/>
          <p:nvPr/>
        </p:nvSpPr>
        <p:spPr>
          <a:xfrm>
            <a:off x="1261872" y="1216152"/>
            <a:ext cx="2532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Client application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6"/>
          <p:cNvSpPr/>
          <p:nvPr/>
        </p:nvSpPr>
        <p:spPr>
          <a:xfrm>
            <a:off x="832104" y="1252728"/>
            <a:ext cx="73152" cy="7315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6"/>
          <p:cNvSpPr/>
          <p:nvPr/>
        </p:nvSpPr>
        <p:spPr>
          <a:xfrm>
            <a:off x="960120" y="1252728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6"/>
          <p:cNvSpPr/>
          <p:nvPr/>
        </p:nvSpPr>
        <p:spPr>
          <a:xfrm>
            <a:off x="1088136" y="1252728"/>
            <a:ext cx="73152" cy="7315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6"/>
          <p:cNvSpPr/>
          <p:nvPr/>
        </p:nvSpPr>
        <p:spPr>
          <a:xfrm>
            <a:off x="1024128" y="1847088"/>
            <a:ext cx="685800" cy="274320"/>
          </a:xfrm>
          <a:prstGeom prst="roundRect">
            <a:avLst>
              <a:gd fmla="val 2666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6"/>
          <p:cNvSpPr/>
          <p:nvPr/>
        </p:nvSpPr>
        <p:spPr>
          <a:xfrm>
            <a:off x="1097280" y="1901952"/>
            <a:ext cx="539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6"/>
          <p:cNvSpPr/>
          <p:nvPr/>
        </p:nvSpPr>
        <p:spPr>
          <a:xfrm>
            <a:off x="1874520" y="1847088"/>
            <a:ext cx="685800" cy="274320"/>
          </a:xfrm>
          <a:prstGeom prst="roundRect">
            <a:avLst>
              <a:gd fmla="val 26667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46"/>
          <p:cNvSpPr/>
          <p:nvPr/>
        </p:nvSpPr>
        <p:spPr>
          <a:xfrm>
            <a:off x="1947672" y="1901952"/>
            <a:ext cx="539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Orders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6"/>
          <p:cNvSpPr/>
          <p:nvPr/>
        </p:nvSpPr>
        <p:spPr>
          <a:xfrm>
            <a:off x="2724912" y="1847088"/>
            <a:ext cx="777240" cy="274320"/>
          </a:xfrm>
          <a:prstGeom prst="roundRect">
            <a:avLst>
              <a:gd fmla="val 26667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6"/>
          <p:cNvSpPr/>
          <p:nvPr/>
        </p:nvSpPr>
        <p:spPr>
          <a:xfrm>
            <a:off x="2798064" y="1901952"/>
            <a:ext cx="6309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Profile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6"/>
          <p:cNvSpPr/>
          <p:nvPr/>
        </p:nvSpPr>
        <p:spPr>
          <a:xfrm>
            <a:off x="1024128" y="246888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Different views inside one loaded app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46"/>
          <p:cNvSpPr/>
          <p:nvPr/>
        </p:nvSpPr>
        <p:spPr>
          <a:xfrm>
            <a:off x="4160520" y="1005840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web application initially loads in the browser. The user then moves from Home to Orders and then to Profile, while the client application updates the visible view without loading a completely new HTML document for each screen. What does this describe?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6"/>
          <p:cNvSpPr/>
          <p:nvPr/>
        </p:nvSpPr>
        <p:spPr>
          <a:xfrm>
            <a:off x="4160520" y="1920240"/>
            <a:ext cx="397764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A single-page application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A TypeScript package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A Node.js server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A Vite configuration file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6"/>
          <p:cNvSpPr/>
          <p:nvPr/>
        </p:nvSpPr>
        <p:spPr>
          <a:xfrm>
            <a:off x="685800" y="4114800"/>
            <a:ext cx="7242048" cy="713232"/>
          </a:xfrm>
          <a:prstGeom prst="roundRect">
            <a:avLst>
              <a:gd fmla="val 102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6"/>
          <p:cNvSpPr/>
          <p:nvPr/>
        </p:nvSpPr>
        <p:spPr>
          <a:xfrm>
            <a:off x="804672" y="4187952"/>
            <a:ext cx="700430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A single-page application</a:t>
            </a:r>
            <a:b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 SPA can present different views while the client application remains loaded.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7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3: Library and framework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7"/>
          <p:cNvSpPr/>
          <p:nvPr/>
        </p:nvSpPr>
        <p:spPr>
          <a:xfrm>
            <a:off x="777240" y="1143000"/>
            <a:ext cx="3063240" cy="2423160"/>
          </a:xfrm>
          <a:prstGeom prst="roundRect">
            <a:avLst>
              <a:gd fmla="val 3019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7"/>
          <p:cNvSpPr/>
          <p:nvPr/>
        </p:nvSpPr>
        <p:spPr>
          <a:xfrm>
            <a:off x="1005840" y="1353312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focuses on UI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7"/>
          <p:cNvSpPr/>
          <p:nvPr/>
        </p:nvSpPr>
        <p:spPr>
          <a:xfrm>
            <a:off x="1078992" y="1828800"/>
            <a:ext cx="2468880" cy="310896"/>
          </a:xfrm>
          <a:prstGeom prst="roundRect">
            <a:avLst>
              <a:gd fmla="val 23529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/>
          <p:nvPr/>
        </p:nvSpPr>
        <p:spPr>
          <a:xfrm>
            <a:off x="1152144" y="1883664"/>
            <a:ext cx="2322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UI components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7"/>
          <p:cNvSpPr/>
          <p:nvPr/>
        </p:nvSpPr>
        <p:spPr>
          <a:xfrm>
            <a:off x="1078992" y="2395728"/>
            <a:ext cx="2468880" cy="310896"/>
          </a:xfrm>
          <a:prstGeom prst="roundRect">
            <a:avLst>
              <a:gd fmla="val 23529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7"/>
          <p:cNvSpPr/>
          <p:nvPr/>
        </p:nvSpPr>
        <p:spPr>
          <a:xfrm>
            <a:off x="1152144" y="2450592"/>
            <a:ext cx="2322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Other concerns need tools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47"/>
          <p:cNvSpPr/>
          <p:nvPr/>
        </p:nvSpPr>
        <p:spPr>
          <a:xfrm>
            <a:off x="4160520" y="1005840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 is React commonly described as a library rather than an application framework?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7"/>
          <p:cNvSpPr/>
          <p:nvPr/>
        </p:nvSpPr>
        <p:spPr>
          <a:xfrm>
            <a:off x="4160520" y="1920240"/>
            <a:ext cx="397764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A library can only contain a small amount of code.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Libraries run in the browser, while frameworks run only on servers.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React cannot be combined with other tools.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React focuses on UI development while other application concerns can be handled by additional tools.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7"/>
          <p:cNvSpPr/>
          <p:nvPr/>
        </p:nvSpPr>
        <p:spPr>
          <a:xfrm>
            <a:off x="685800" y="4114800"/>
            <a:ext cx="7242048" cy="713232"/>
          </a:xfrm>
          <a:prstGeom prst="roundRect">
            <a:avLst>
              <a:gd fmla="val 102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7"/>
          <p:cNvSpPr/>
          <p:nvPr/>
        </p:nvSpPr>
        <p:spPr>
          <a:xfrm>
            <a:off x="804672" y="4187952"/>
            <a:ext cx="700430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React focuses on UI development while other application concerns can be handled by additional tools.</a:t>
            </a:r>
            <a:b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distinction comes from scope and responsibility. React concentrates on the user interface rather than defining every part of an application.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8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4: Development tools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8"/>
          <p:cNvSpPr/>
          <p:nvPr/>
        </p:nvSpPr>
        <p:spPr>
          <a:xfrm>
            <a:off x="822960" y="1371600"/>
            <a:ext cx="2880360" cy="42976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8"/>
          <p:cNvSpPr/>
          <p:nvPr/>
        </p:nvSpPr>
        <p:spPr>
          <a:xfrm>
            <a:off x="914400" y="1444752"/>
            <a:ext cx="26974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npm install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8"/>
          <p:cNvSpPr/>
          <p:nvPr/>
        </p:nvSpPr>
        <p:spPr>
          <a:xfrm>
            <a:off x="822960" y="2103120"/>
            <a:ext cx="2880360" cy="42976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8"/>
          <p:cNvSpPr/>
          <p:nvPr/>
        </p:nvSpPr>
        <p:spPr>
          <a:xfrm>
            <a:off x="914400" y="2176272"/>
            <a:ext cx="26974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npm run dev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8"/>
          <p:cNvSpPr/>
          <p:nvPr/>
        </p:nvSpPr>
        <p:spPr>
          <a:xfrm>
            <a:off x="4160520" y="1005840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developer has already created a React project. They run npm install and later npm run dev. Which statement is correct?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8"/>
          <p:cNvSpPr/>
          <p:nvPr/>
        </p:nvSpPr>
        <p:spPr>
          <a:xfrm>
            <a:off x="4160520" y="1920240"/>
            <a:ext cx="397764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React installs the packages, and Node.js displays the interface.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npm installs project dependencies and runs the development script, while Vite provides the development server.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Vite stores all installed packages inside package.json.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The browser runs npm and starts Node.js.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8"/>
          <p:cNvSpPr/>
          <p:nvPr/>
        </p:nvSpPr>
        <p:spPr>
          <a:xfrm>
            <a:off x="685800" y="4114800"/>
            <a:ext cx="7242048" cy="713232"/>
          </a:xfrm>
          <a:prstGeom prst="roundRect">
            <a:avLst>
              <a:gd fmla="val 102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8"/>
          <p:cNvSpPr/>
          <p:nvPr/>
        </p:nvSpPr>
        <p:spPr>
          <a:xfrm>
            <a:off x="804672" y="4187952"/>
            <a:ext cx="700430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npm installs project dependencies and runs the development script, while Vite provides the development server.</a:t>
            </a:r>
            <a:b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npm works with the project dependencies and scripts. The development script starts Vite, which provides the local development server.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9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 5: Project structure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9"/>
          <p:cNvSpPr/>
          <p:nvPr/>
        </p:nvSpPr>
        <p:spPr>
          <a:xfrm>
            <a:off x="804672" y="1261872"/>
            <a:ext cx="2971800" cy="1920240"/>
          </a:xfrm>
          <a:prstGeom prst="roundRect">
            <a:avLst>
              <a:gd fmla="val 381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9"/>
          <p:cNvSpPr/>
          <p:nvPr/>
        </p:nvSpPr>
        <p:spPr>
          <a:xfrm>
            <a:off x="1234440" y="1645920"/>
            <a:ext cx="2103120" cy="274320"/>
          </a:xfrm>
          <a:prstGeom prst="roundRect">
            <a:avLst>
              <a:gd fmla="val 2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49"/>
          <p:cNvSpPr/>
          <p:nvPr/>
        </p:nvSpPr>
        <p:spPr>
          <a:xfrm>
            <a:off x="1307592" y="1700784"/>
            <a:ext cx="19568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49"/>
          <p:cNvSpPr/>
          <p:nvPr/>
        </p:nvSpPr>
        <p:spPr>
          <a:xfrm>
            <a:off x="1234440" y="2176272"/>
            <a:ext cx="2103120" cy="274320"/>
          </a:xfrm>
          <a:prstGeom prst="roundRect">
            <a:avLst>
              <a:gd fmla="val 26667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9"/>
          <p:cNvSpPr/>
          <p:nvPr/>
        </p:nvSpPr>
        <p:spPr>
          <a:xfrm>
            <a:off x="1307592" y="2231136"/>
            <a:ext cx="19568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src/main.tsx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9"/>
          <p:cNvSpPr/>
          <p:nvPr/>
        </p:nvSpPr>
        <p:spPr>
          <a:xfrm>
            <a:off x="1234440" y="2706624"/>
            <a:ext cx="2103120" cy="274320"/>
          </a:xfrm>
          <a:prstGeom prst="roundRect">
            <a:avLst>
              <a:gd fmla="val 2666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49"/>
          <p:cNvSpPr/>
          <p:nvPr/>
        </p:nvSpPr>
        <p:spPr>
          <a:xfrm>
            <a:off x="1307592" y="2761488"/>
            <a:ext cx="19568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App.tsx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9" name="Google Shape;679;p49"/>
          <p:cNvCxnSpPr/>
          <p:nvPr/>
        </p:nvCxnSpPr>
        <p:spPr>
          <a:xfrm>
            <a:off x="2286000" y="1920240"/>
            <a:ext cx="0" cy="256032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0" name="Google Shape;680;p49"/>
          <p:cNvCxnSpPr/>
          <p:nvPr/>
        </p:nvCxnSpPr>
        <p:spPr>
          <a:xfrm>
            <a:off x="2286000" y="2450592"/>
            <a:ext cx="0" cy="256032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1" name="Google Shape;681;p49"/>
          <p:cNvSpPr/>
          <p:nvPr/>
        </p:nvSpPr>
        <p:spPr>
          <a:xfrm>
            <a:off x="4160520" y="1005840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You open a Vite React TypeScript project and want to know which file begins the React side of the application. Which file should you inspect first?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9"/>
          <p:cNvSpPr/>
          <p:nvPr/>
        </p:nvSpPr>
        <p:spPr>
          <a:xfrm>
            <a:off x="4160520" y="1920240"/>
            <a:ext cx="397764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A. package.json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B. index.html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src/main.tsx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D. node_modules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49"/>
          <p:cNvSpPr/>
          <p:nvPr/>
        </p:nvSpPr>
        <p:spPr>
          <a:xfrm>
            <a:off x="685800" y="4114800"/>
            <a:ext cx="7242048" cy="713232"/>
          </a:xfrm>
          <a:prstGeom prst="roundRect">
            <a:avLst>
              <a:gd fmla="val 102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49"/>
          <p:cNvSpPr/>
          <p:nvPr/>
        </p:nvSpPr>
        <p:spPr>
          <a:xfrm>
            <a:off x="804672" y="4187952"/>
            <a:ext cx="700430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C. src/main.tsx</a:t>
            </a:r>
            <a:b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index.html is the HTML entry document. It loads src/main.tsx, which begins the React side of the application.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Homework: Fix an existing project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0"/>
          <p:cNvSpPr/>
          <p:nvPr/>
        </p:nvSpPr>
        <p:spPr>
          <a:xfrm>
            <a:off x="713232" y="987552"/>
            <a:ext cx="2423160" cy="749808"/>
          </a:xfrm>
          <a:prstGeom prst="roundRect">
            <a:avLst>
              <a:gd fmla="val 9756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0"/>
          <p:cNvSpPr/>
          <p:nvPr/>
        </p:nvSpPr>
        <p:spPr>
          <a:xfrm>
            <a:off x="822960" y="1078992"/>
            <a:ext cx="22037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Handoff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50"/>
          <p:cNvSpPr/>
          <p:nvPr/>
        </p:nvSpPr>
        <p:spPr>
          <a:xfrm>
            <a:off x="822960" y="1389888"/>
            <a:ext cx="22037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You received a small React TypeScript project named workshop-board.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0"/>
          <p:cNvSpPr/>
          <p:nvPr/>
        </p:nvSpPr>
        <p:spPr>
          <a:xfrm>
            <a:off x="3346704" y="987552"/>
            <a:ext cx="2057400" cy="749808"/>
          </a:xfrm>
          <a:prstGeom prst="roundRect">
            <a:avLst>
              <a:gd fmla="val 9756" name="adj"/>
            </a:avLst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0"/>
          <p:cNvSpPr/>
          <p:nvPr/>
        </p:nvSpPr>
        <p:spPr>
          <a:xfrm>
            <a:off x="3456432" y="1078992"/>
            <a:ext cx="18379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50"/>
          <p:cNvSpPr/>
          <p:nvPr/>
        </p:nvSpPr>
        <p:spPr>
          <a:xfrm>
            <a:off x="3456432" y="1389888"/>
            <a:ext cx="1837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npm run dev fails.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0"/>
          <p:cNvSpPr/>
          <p:nvPr/>
        </p:nvSpPr>
        <p:spPr>
          <a:xfrm>
            <a:off x="5623560" y="987552"/>
            <a:ext cx="2514600" cy="749808"/>
          </a:xfrm>
          <a:prstGeom prst="roundRect">
            <a:avLst>
              <a:gd fmla="val 975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50"/>
          <p:cNvSpPr/>
          <p:nvPr/>
        </p:nvSpPr>
        <p:spPr>
          <a:xfrm>
            <a:off x="5733288" y="1078992"/>
            <a:ext cx="22951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50"/>
          <p:cNvSpPr/>
          <p:nvPr/>
        </p:nvSpPr>
        <p:spPr>
          <a:xfrm>
            <a:off x="5733288" y="1389888"/>
            <a:ext cx="22951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Find the project setup issue and get the app running.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0"/>
          <p:cNvSpPr/>
          <p:nvPr/>
        </p:nvSpPr>
        <p:spPr>
          <a:xfrm>
            <a:off x="713232" y="1901952"/>
            <a:ext cx="3611880" cy="1719072"/>
          </a:xfrm>
          <a:prstGeom prst="roundRect">
            <a:avLst>
              <a:gd fmla="val 4255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0"/>
          <p:cNvSpPr/>
          <p:nvPr/>
        </p:nvSpPr>
        <p:spPr>
          <a:xfrm>
            <a:off x="896112" y="2084832"/>
            <a:ext cx="32461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1. Open the existing project.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2. Inspect the project files before changing anything.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3. Install its dependencies.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4. Run: npm run dev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0"/>
          <p:cNvSpPr/>
          <p:nvPr/>
        </p:nvSpPr>
        <p:spPr>
          <a:xfrm>
            <a:off x="4526280" y="1901952"/>
            <a:ext cx="3611880" cy="1719072"/>
          </a:xfrm>
          <a:prstGeom prst="roundRect">
            <a:avLst>
              <a:gd fmla="val 4255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0"/>
          <p:cNvSpPr/>
          <p:nvPr/>
        </p:nvSpPr>
        <p:spPr>
          <a:xfrm>
            <a:off x="4709160" y="2084832"/>
            <a:ext cx="324612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5. Read the terminal error.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6. Inspect package.json and find the setup problem.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7. Correct the development script.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8. Run the project and open it in the browser.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0"/>
          <p:cNvSpPr/>
          <p:nvPr/>
        </p:nvSpPr>
        <p:spPr>
          <a:xfrm>
            <a:off x="713232" y="3822192"/>
            <a:ext cx="7424928" cy="566928"/>
          </a:xfrm>
          <a:prstGeom prst="roundRect">
            <a:avLst>
              <a:gd fmla="val 12903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50"/>
          <p:cNvSpPr/>
          <p:nvPr/>
        </p:nvSpPr>
        <p:spPr>
          <a:xfrm>
            <a:off x="868680" y="3986784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Submit: corrected scripts section  |  one screenshot of the running app  |  one or two sentences explaining why npm run dev failed before the correction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1"/>
          <p:cNvSpPr/>
          <p:nvPr/>
        </p:nvSpPr>
        <p:spPr>
          <a:xfrm>
            <a:off x="548640" y="365760"/>
            <a:ext cx="6446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Next: TSX, components, and props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51"/>
          <p:cNvSpPr/>
          <p:nvPr/>
        </p:nvSpPr>
        <p:spPr>
          <a:xfrm>
            <a:off x="713232" y="10058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0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Today, we found the files that begin the React application: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51"/>
          <p:cNvSpPr/>
          <p:nvPr/>
        </p:nvSpPr>
        <p:spPr>
          <a:xfrm>
            <a:off x="868680" y="1508760"/>
            <a:ext cx="2606040" cy="822960"/>
          </a:xfrm>
          <a:prstGeom prst="roundRect">
            <a:avLst>
              <a:gd fmla="val 8889" name="adj"/>
            </a:avLst>
          </a:prstGeom>
          <a:solidFill>
            <a:srgbClr val="EFF6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1"/>
          <p:cNvSpPr/>
          <p:nvPr/>
        </p:nvSpPr>
        <p:spPr>
          <a:xfrm>
            <a:off x="1097280" y="1700784"/>
            <a:ext cx="21488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main.tsx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App.tsx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51"/>
          <p:cNvSpPr/>
          <p:nvPr/>
        </p:nvSpPr>
        <p:spPr>
          <a:xfrm>
            <a:off x="4069075" y="1572777"/>
            <a:ext cx="3840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Next, we start working with the React code inside them.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51"/>
          <p:cNvSpPr/>
          <p:nvPr/>
        </p:nvSpPr>
        <p:spPr>
          <a:xfrm>
            <a:off x="4069080" y="2157984"/>
            <a:ext cx="3794760" cy="1417320"/>
          </a:xfrm>
          <a:prstGeom prst="roundRect">
            <a:avLst>
              <a:gd fmla="val 516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51"/>
          <p:cNvSpPr/>
          <p:nvPr/>
        </p:nvSpPr>
        <p:spPr>
          <a:xfrm>
            <a:off x="4315968" y="2331720"/>
            <a:ext cx="33375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Lecture 19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JSX and TSX syntax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functional and class components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passing and typing props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reusable components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8" name="Google Shape;718;p51"/>
          <p:cNvCxnSpPr/>
          <p:nvPr/>
        </p:nvCxnSpPr>
        <p:spPr>
          <a:xfrm>
            <a:off x="3474720" y="1920240"/>
            <a:ext cx="5943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