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https://react.dev/reference/react-dom/components/input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https://react.dev/reference/react-dom/components/input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https://react.dev/reference/react-dom/components/common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https://react.dev/reference/react-dom/components/common
Source: https://react.dev/reference/react-dom/components/form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https://react.dev/learn/typescript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https://react.dev/learn/typescript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https://react.dev/reference/react-dom/components/textarea
Source: https://react.dev/reference/react-dom/components/select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https://react.dev/reference/react-dom/components/input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https://react.dev/reference/react-dom/components/input
Source: https://react.dev/reference/react-dom/components/textarea
Source: https://react.dev/reference/react-dom/components/select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https://react.dev/reference/react-dom/components/form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GUVI_MASTER_L22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VI_MASTER_L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and state in React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8096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&amp; TypeScript | Lecture 22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768096" y="1719072"/>
            <a:ext cx="56692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and state</a:t>
            </a:r>
            <a:endParaRPr lang="en-US" sz="2750" dirty="0"/>
          </a:p>
          <a:p>
            <a:pPr algn="l" indent="0" marL="0">
              <a:buNone/>
            </a:pPr>
            <a:r>
              <a:rPr lang="en-US" sz="2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React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786384" y="2633472"/>
            <a:ext cx="6217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user-entered data with React and TypeScript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786384" y="3127248"/>
            <a:ext cx="2834640" cy="109728"/>
          </a:xfrm>
          <a:prstGeom prst="roundRect">
            <a:avLst>
              <a:gd name="adj" fmla="val 6666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932688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978408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1170432" y="987552"/>
            <a:ext cx="6766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user-entered values to React state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1435608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81328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170432" y="1490472"/>
            <a:ext cx="6766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controlled and uncontrolled form controls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1938528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84248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170432" y="1993392"/>
            <a:ext cx="6766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form events and type event handlers with TypeScript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2441448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487168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170432" y="2496312"/>
            <a:ext cx="6766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common controls and related form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2944368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990088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70432" y="2999232"/>
            <a:ext cx="6766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form state for live feedback, validation and local submission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" y="3447288"/>
            <a:ext cx="320040" cy="31089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493008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170432" y="3502152"/>
            <a:ext cx="6766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pattern in a Profile Editor activity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Predict the final UI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914400"/>
            <a:ext cx="4005072" cy="2148840"/>
          </a:xfrm>
          <a:prstGeom prst="roundRect">
            <a:avLst>
              <a:gd name="adj" fmla="val 340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005840"/>
            <a:ext cx="382219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[scores, setScores]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useState&lt;number[]&gt;([4, 2]);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scores.reduce(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(sum, score) =&gt; sum + score,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addFive()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setScores([...scores, 5]);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83480" y="914400"/>
            <a:ext cx="318211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1060704"/>
            <a:ext cx="2880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clicks Add 5, waits for the interface to update, and clicks Add 5 again.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0" y="1627632"/>
            <a:ext cx="2834640" cy="896112"/>
          </a:xfrm>
          <a:prstGeom prst="roundRect">
            <a:avLst>
              <a:gd name="adj" fmla="val 816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7190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&lt;p&gt;Total: {total}&lt;/p&gt;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onClick={addFive}&gt;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0" y="2688336"/>
            <a:ext cx="2880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UI show after the second click?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138928" y="2935224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Total: 6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Total: 11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Total: 16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Total: 20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9808" y="3959352"/>
            <a:ext cx="7498080" cy="603504"/>
          </a:xfrm>
          <a:prstGeom prst="roundRect">
            <a:avLst>
              <a:gd name="adj" fmla="val 1212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Total: 16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59536" y="4233672"/>
            <a:ext cx="72786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click produces [4, 2, 5]. After that render, the second click produces [4, 2, 5, 5]. The derived total is 16.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Trace the value through the component tree</a:t>
            </a:r>
            <a:endParaRPr lang="en-US" sz="2040" dirty="0"/>
          </a:p>
        </p:txBody>
      </p:sp>
      <p:sp>
        <p:nvSpPr>
          <p:cNvPr id="3" name="Shape 1"/>
          <p:cNvSpPr/>
          <p:nvPr/>
        </p:nvSpPr>
        <p:spPr>
          <a:xfrm>
            <a:off x="749808" y="932688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1133856"/>
            <a:ext cx="12435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PricingPage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PlanButton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PlanSummary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68880" y="896112"/>
            <a:ext cx="3127248" cy="2788920"/>
          </a:xfrm>
          <a:prstGeom prst="roundRect">
            <a:avLst>
              <a:gd name="adj" fmla="val 262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987552"/>
            <a:ext cx="29443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[plan, setPlan]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useState("FREE");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handleChoose(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nextPlan: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setPlan(nextPlan);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&lt;PlanButton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onChoose={handleChoose}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&lt;PlanSummary plan={plan} /&gt;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15584" y="896112"/>
            <a:ext cx="2212848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7024" y="987552"/>
            <a:ext cx="20299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 onChoose("PRO")}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Choose Pro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33872" y="2212848"/>
            <a:ext cx="215798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"PRO" from the click until PlanSummary receives its next plan prop.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5852160" y="2697480"/>
            <a:ext cx="2212848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PlanButton invokes onChoose("PRO")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handleChoose receives "PRO"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setPlan("PRO") requests next 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next render passes plan="PRO"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3959352"/>
            <a:ext cx="7498080" cy="576072"/>
          </a:xfrm>
          <a:prstGeom prst="roundRect">
            <a:avLst>
              <a:gd name="adj" fmla="val 12698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→ setter → next render → prop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59536" y="4233672"/>
            <a:ext cx="7278624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parent supplied the callback. The child invokes it with a value. Parent-owned state changes, then the next render supplies the current state to PlanSummary.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Fix the typed state update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86868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60120"/>
            <a:ext cx="411480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Preferences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density: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[preferences, setPreferences]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useState&lt;Preferences&gt;({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theme: "dark",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density: "compact",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useLightTheme()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setPreferences({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theme: "light",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349240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component should change only the theme. TypeScript rejects the setter call.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5349240" y="1664208"/>
            <a:ext cx="26517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missing? Write the corrected update.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49240" y="2240280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2395728"/>
            <a:ext cx="20574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Hint: a Preferences value still needs both properties.</a:t>
            </a:r>
            <a:endParaRPr lang="en-US" sz="1090" dirty="0"/>
          </a:p>
        </p:txBody>
      </p:sp>
      <p:sp>
        <p:nvSpPr>
          <p:cNvPr id="9" name="Shape 7"/>
          <p:cNvSpPr/>
          <p:nvPr/>
        </p:nvSpPr>
        <p:spPr>
          <a:xfrm>
            <a:off x="749808" y="3959352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59536" y="4233672"/>
            <a:ext cx="727862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setPreferences({ ...preferences, theme: "light" });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Spreading preserves density. The later theme property replaces only that value.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What should be calculated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896112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87552"/>
            <a:ext cx="31089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Task =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done: boolean;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[tasks, setTasks] =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useState&lt;Task[]&gt;(initialTasks);</a:t>
            </a:r>
            <a:endParaRPr lang="en-US" sz="1060" dirty="0"/>
          </a:p>
        </p:txBody>
      </p:sp>
      <p:sp>
        <p:nvSpPr>
          <p:cNvPr id="5" name="Text 3"/>
          <p:cNvSpPr/>
          <p:nvPr/>
        </p:nvSpPr>
        <p:spPr>
          <a:xfrm>
            <a:off x="786384" y="2496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also needs to show: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86384" y="278892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898648"/>
            <a:ext cx="21945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tasks completed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4343400" y="896112"/>
            <a:ext cx="3657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approach avoids storing the same changing information twice?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4389120" y="1353312"/>
            <a:ext cx="36576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Store both tasks and completedCount in state and update both.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Remove tasks from state and store only completedCount.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Calculate completedCount from current tasks.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Calculate once from initialTasks and keep using it.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4480560" y="2679192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7706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completedCount =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tasks.filter((task) =&gt; task.done).length;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749808" y="3959352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59536" y="4233672"/>
            <a:ext cx="727862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completedCount is completely determined by the current tasks. Separate state would create another changing value to keep synchronized.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Complete the toggle behaviour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841248"/>
            <a:ext cx="4498848" cy="2971800"/>
          </a:xfrm>
          <a:prstGeom prst="roundRect">
            <a:avLst>
              <a:gd name="adj" fmla="val 24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32688"/>
            <a:ext cx="4315968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ToggleProps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enabled: boolean;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onToggle: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nextEnabled: boolean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=&gt; void;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Toggle({ enabled, onToggle }: ToggleProps)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onClick={() =&gt; ______}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{enabled ? "Enabled" : "Disabled"}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04688" y="932688"/>
            <a:ext cx="26060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completion asks the parent to use the opposite boolean value?</a:t>
            </a:r>
            <a:endParaRPr lang="en-US" sz="1180" dirty="0"/>
          </a:p>
        </p:txBody>
      </p:sp>
      <p:sp>
        <p:nvSpPr>
          <p:cNvPr id="6" name="Text 4"/>
          <p:cNvSpPr/>
          <p:nvPr/>
        </p:nvSpPr>
        <p:spPr>
          <a:xfrm>
            <a:off x="5541264" y="1572768"/>
            <a:ext cx="228600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onToggle(!enabled)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onToggle(enabled)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enabled = !enabled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onToggle()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5504688" y="2761488"/>
            <a:ext cx="2432304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32704" y="2871216"/>
            <a:ext cx="21214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value: enabled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next value: !enabled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959352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onToggle(!enabled)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59536" y="4233672"/>
            <a:ext cx="727862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 is a prop. The child calculates the requested next value and invokes the callback supplied by the parent.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known values to user-entered values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4023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previous lecture, the application often already had the next value or calculated it.</a:t>
            </a:r>
            <a:endParaRPr lang="en-US" sz="1180" dirty="0"/>
          </a:p>
        </p:txBody>
      </p:sp>
      <p:sp>
        <p:nvSpPr>
          <p:cNvPr id="4" name="Shape 2"/>
          <p:cNvSpPr/>
          <p:nvPr/>
        </p:nvSpPr>
        <p:spPr>
          <a:xfrm>
            <a:off x="822960" y="1389888"/>
            <a:ext cx="3200400" cy="694944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8132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setLatestEscalatedId(ticketId);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setItems(nextItems);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2395728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 introduces a different situation: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822960" y="2779776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712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setName(???);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828032" y="950976"/>
            <a:ext cx="3236976" cy="1993392"/>
          </a:xfrm>
          <a:prstGeom prst="roundRect">
            <a:avLst>
              <a:gd name="adj" fmla="val 3670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261872"/>
            <a:ext cx="2743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does not know in advance what the user will type.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5074920" y="1938528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value the user types, selects or checks become React state?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69080" y="1728216"/>
            <a:ext cx="66751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54680" y="2980944"/>
            <a:ext cx="1581912" cy="-89611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manage a form value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2971800" y="896112"/>
            <a:ext cx="31089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1024128"/>
            <a:ext cx="5029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749040" y="1024128"/>
            <a:ext cx="16459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Lee</a:t>
            </a:r>
            <a:endParaRPr lang="en-US" sz="1070" dirty="0"/>
          </a:p>
        </p:txBody>
      </p:sp>
      <p:sp>
        <p:nvSpPr>
          <p:cNvPr id="6" name="Shape 4"/>
          <p:cNvSpPr/>
          <p:nvPr/>
        </p:nvSpPr>
        <p:spPr>
          <a:xfrm>
            <a:off x="859536" y="1737360"/>
            <a:ext cx="3657600" cy="481584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83080"/>
            <a:ext cx="358444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Uncontrolled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4517136" y="1737360"/>
            <a:ext cx="3657600" cy="481584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783080"/>
            <a:ext cx="358444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859536" y="2218944"/>
            <a:ext cx="3657600" cy="48158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264664"/>
            <a:ext cx="358444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maintains the current value.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17136" y="2218944"/>
            <a:ext cx="3657600" cy="48158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264664"/>
            <a:ext cx="358444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state supplies the current value.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700528"/>
            <a:ext cx="3657600" cy="48158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746248"/>
            <a:ext cx="358444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can provide an initial value.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17136" y="2700528"/>
            <a:ext cx="3657600" cy="48158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2746248"/>
            <a:ext cx="3584448" cy="408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changes need a path that requests next state.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755648" y="3547872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01952" y="3694176"/>
            <a:ext cx="5212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distinction is about who maintains the current value.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Uncontrolled inputs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896112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87552"/>
            <a:ext cx="3566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GuestName()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&lt;label&gt;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Guest name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defaultValue="Guest" /&gt;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&lt;/label&gt;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4773168" y="914400"/>
            <a:ext cx="3200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3480" y="1161288"/>
            <a:ext cx="263347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name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83480" y="1325880"/>
            <a:ext cx="263347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56632" y="1380744"/>
            <a:ext cx="24871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91072" y="1993392"/>
            <a:ext cx="0" cy="3657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73168" y="2395728"/>
            <a:ext cx="32004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578608"/>
            <a:ext cx="263347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name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83480" y="2743200"/>
            <a:ext cx="263347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2798064"/>
            <a:ext cx="248716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Rivera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8096" y="2871216"/>
            <a:ext cx="380390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initial value, the browser maintains the field's current editable value.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447288"/>
            <a:ext cx="429768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React does not need every edit immediately</a:t>
            </a:r>
            <a:endParaRPr lang="en-US" sz="1070" dirty="0"/>
          </a:p>
          <a:p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state wiring for that field</a:t>
            </a:r>
            <a:endParaRPr lang="en-US" sz="1070" dirty="0"/>
          </a:p>
          <a:p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Tradeoff: latest value is not automatically in component state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257800" y="3493008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3621024"/>
            <a:ext cx="2377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revisit direct DOM access with useRef later in the course.</a:t>
            </a:r>
            <a:endParaRPr lang="en-US" sz="10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inputs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49808" y="877824"/>
            <a:ext cx="3749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form control receives its current value from React state.</a:t>
            </a:r>
            <a:endParaRPr lang="en-US" sz="1280" dirty="0"/>
          </a:p>
        </p:txBody>
      </p:sp>
      <p:sp>
        <p:nvSpPr>
          <p:cNvPr id="4" name="Shape 2"/>
          <p:cNvSpPr/>
          <p:nvPr/>
        </p:nvSpPr>
        <p:spPr>
          <a:xfrm>
            <a:off x="4709160" y="932688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64608" y="1060704"/>
            <a:ext cx="2651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state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= "Jordan Lee"</a:t>
            </a:r>
            <a:endParaRPr lang="en-US" sz="1140" dirty="0"/>
          </a:p>
        </p:txBody>
      </p:sp>
      <p:sp>
        <p:nvSpPr>
          <p:cNvPr id="6" name="Shape 4"/>
          <p:cNvSpPr/>
          <p:nvPr/>
        </p:nvSpPr>
        <p:spPr>
          <a:xfrm>
            <a:off x="6199632" y="1554480"/>
            <a:ext cx="0" cy="52120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09160" y="2121408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10912" y="2258568"/>
            <a:ext cx="2359152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Jordan Lee ]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3566160" cy="11338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 control and other React UI can read the same state</a:t>
            </a:r>
            <a:endParaRPr lang="en-US" sz="1100" dirty="0"/>
          </a:p>
          <a:p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can respond to the current value as the user edits</a:t>
            </a:r>
            <a:endParaRPr lang="en-US" sz="1100" dirty="0"/>
          </a:p>
          <a:p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user edit needs a path that requests the next state value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3182112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310128"/>
            <a:ext cx="352958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and uncontrolled inputs are both valid. Choose based on whether React needs to manage the current value.</a:t>
            </a:r>
            <a:endParaRPr lang="en-US" sz="10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state to an input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4315968" cy="3419856"/>
          </a:xfrm>
          <a:prstGeom prst="roundRect">
            <a:avLst>
              <a:gd name="adj" fmla="val 21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32688"/>
            <a:ext cx="4133088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EventRegistration()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[name]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useState("");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&lt;label htmlFor="name"&gt;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&lt;/label&gt;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id="name"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value={name}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React state: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 = "{name}"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230368" y="896112"/>
            <a:ext cx="2788920" cy="1627632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40096" y="987552"/>
            <a:ext cx="2569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registration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5358384" y="1307592"/>
            <a:ext cx="253288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58384" y="1472184"/>
            <a:ext cx="253288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31536" y="1527048"/>
            <a:ext cx="23865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30368" y="2670048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2743200"/>
            <a:ext cx="2606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React state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21808" y="29626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""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230368" y="3529584"/>
            <a:ext cx="2788920" cy="548640"/>
          </a:xfrm>
          <a:prstGeom prst="roundRect">
            <a:avLst>
              <a:gd name="adj" fmla="val 13333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3666744"/>
            <a:ext cx="252374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Intentionally incomplete: state is connected to the field, but edits are not connected back to state.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value alone is not enough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932688"/>
            <a:ext cx="3063240" cy="1298448"/>
          </a:xfrm>
          <a:prstGeom prst="roundRect">
            <a:avLst>
              <a:gd name="adj" fmla="val 563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024128"/>
            <a:ext cx="28803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[name]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id="name"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value={name}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" y="2523744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to type: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786384" y="278892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8803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Jordan Lee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005840"/>
            <a:ext cx="30266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registration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4928616" y="1325880"/>
            <a:ext cx="299008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28616" y="1490472"/>
            <a:ext cx="299008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1768" y="1545336"/>
            <a:ext cx="28437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2487168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560320"/>
            <a:ext cx="3063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React state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77977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""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800600" y="32461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3401568"/>
            <a:ext cx="2889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component never requests a different name value, so React keeps supplying the same empty string.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86384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React state controls an editable field, the user's change needs a path back to that state.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controlled input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4343400" cy="2359152"/>
          </a:xfrm>
          <a:prstGeom prst="roundRect">
            <a:avLst>
              <a:gd name="adj" fmla="val 310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32688"/>
            <a:ext cx="4160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[name, setName]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useState("");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id="name"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value={name}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onChange={(event)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setName(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event.currentTarget.value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230368" y="896112"/>
            <a:ext cx="2788920" cy="1609344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40096" y="987552"/>
            <a:ext cx="25694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registration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5358384" y="1307592"/>
            <a:ext cx="253288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58384" y="1472184"/>
            <a:ext cx="253288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31536" y="1527048"/>
            <a:ext cx="23865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Lee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30368" y="265176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2724912"/>
            <a:ext cx="2606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React state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21808" y="29443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"Jordan Lee"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749808" y="3493008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94176"/>
            <a:ext cx="6903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state → value → input    |    user edits → onChange → setter → next render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one change through React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85800" y="1170432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261872"/>
            <a:ext cx="10881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render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58952" y="1554480"/>
            <a:ext cx="108813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= "Jor"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= "Jor"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65960" y="1709928"/>
            <a:ext cx="2286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49424" y="1170432"/>
            <a:ext cx="11704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22576" y="1261872"/>
            <a:ext cx="10241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user types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22576" y="1554480"/>
            <a:ext cx="102412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65576" y="1709928"/>
            <a:ext cx="274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94760" y="1170432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7912" y="1261872"/>
            <a:ext cx="10881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handler reads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67912" y="1554480"/>
            <a:ext cx="108813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"Jord"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74920" y="1709928"/>
            <a:ext cx="24688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76672" y="1170432"/>
            <a:ext cx="1170432" cy="1078992"/>
          </a:xfrm>
          <a:prstGeom prst="roundRect">
            <a:avLst>
              <a:gd name="adj" fmla="val 6780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1261872"/>
            <a:ext cx="10241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setter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49824" y="1554480"/>
            <a:ext cx="102412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setName("Jord")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92824" y="1709928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12280" y="1170432"/>
            <a:ext cx="135331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1261872"/>
            <a:ext cx="120700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render again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85432" y="1554480"/>
            <a:ext cx="120700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= "Jord"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= "Jord"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70432" y="2926080"/>
            <a:ext cx="6565392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9888" y="3108960"/>
            <a:ext cx="61447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the setter does not rewrite the name variable inside code that is already running. It requests the state value React should use for a subsequent render.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1965960" y="3877056"/>
            <a:ext cx="5212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 and Current React state display now both show "Jord".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Repair the controlled field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868680"/>
            <a:ext cx="3886200" cy="2240280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60120"/>
            <a:ext cx="370332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[query, setQuery]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useState("react");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value={query}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onChange={(event)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event.currentTarget.value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19472" y="950976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console shows what the user types, but the visible field keeps returning to: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19472" y="1463040"/>
            <a:ext cx="1316736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10912" y="155448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19472" y="1993392"/>
            <a:ext cx="2743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change completes the controlled loop?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4919472" y="2359152"/>
            <a:ext cx="315468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setQuery(event.currentTarget.value)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setQuery(query)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Remove onChange and keep value={query}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Replace value={query} with value="typescript"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9808" y="3959352"/>
            <a:ext cx="749808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59536" y="4233672"/>
            <a:ext cx="72786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controls the displayed value. Reading or logging the edited value does not change query. The handler must request that edited value as the next state.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React event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896112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87552"/>
            <a:ext cx="39776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value={name}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onChange={(event)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setName(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event.currentTarget.value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49240" y="987552"/>
            <a:ext cx="2651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49240" y="1207008"/>
            <a:ext cx="2606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about the interaction that occurred.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5349240" y="1627632"/>
            <a:ext cx="2651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event.currentTarget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49240" y="1847088"/>
            <a:ext cx="2606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element whose handler is currently running.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5349240" y="2267712"/>
            <a:ext cx="2651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event.currentTarget.value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2487168"/>
            <a:ext cx="2606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value of that element.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960120" y="3163824"/>
            <a:ext cx="7040880" cy="603504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37560"/>
            <a:ext cx="6629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is where the event originated. currentTarget is the element whose handler is currently running.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33672" y="1847088"/>
            <a:ext cx="996696" cy="-54864"/>
          </a:xfrm>
          <a:prstGeom prst="line">
            <a:avLst/>
          </a:prstGeom>
          <a:noFill/>
          <a:ln w="15240">
            <a:solidFill>
              <a:srgbClr val="BFDBF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33672" y="2011680"/>
            <a:ext cx="996696" cy="365760"/>
          </a:xfrm>
          <a:prstGeom prst="line">
            <a:avLst/>
          </a:prstGeom>
          <a:noFill/>
          <a:ln w="15240">
            <a:solidFill>
              <a:srgbClr val="BFDBFE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events expose different information</a:t>
            </a:r>
            <a:endParaRPr lang="en-US" sz="2040" dirty="0"/>
          </a:p>
        </p:txBody>
      </p:sp>
      <p:sp>
        <p:nvSpPr>
          <p:cNvPr id="3" name="Shape 1"/>
          <p:cNvSpPr/>
          <p:nvPr/>
        </p:nvSpPr>
        <p:spPr>
          <a:xfrm>
            <a:off x="749808" y="896112"/>
            <a:ext cx="2157984" cy="44958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941832"/>
            <a:ext cx="2084832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2907792" y="896112"/>
            <a:ext cx="1371600" cy="44958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941832"/>
            <a:ext cx="1298448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prop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279392" y="896112"/>
            <a:ext cx="3877056" cy="44958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15968" y="941832"/>
            <a:ext cx="3803904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or action we may use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49808" y="1345692"/>
            <a:ext cx="2157984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391412"/>
            <a:ext cx="2084832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edits 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07792" y="1345692"/>
            <a:ext cx="1371600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391412"/>
            <a:ext cx="1298448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onChange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9392" y="1345692"/>
            <a:ext cx="3877056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1391412"/>
            <a:ext cx="3803904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currentTarget.value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1795272"/>
            <a:ext cx="2157984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1840992"/>
            <a:ext cx="2084832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checks a checkbox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07792" y="1795272"/>
            <a:ext cx="1371600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1840992"/>
            <a:ext cx="1298448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onChange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79392" y="1795272"/>
            <a:ext cx="3877056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1840992"/>
            <a:ext cx="3803904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currentTarget.checked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2244852"/>
            <a:ext cx="2157984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2290572"/>
            <a:ext cx="2084832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clicks a button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07792" y="2244852"/>
            <a:ext cx="1371600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44368" y="2290572"/>
            <a:ext cx="1298448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onClick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9392" y="2244852"/>
            <a:ext cx="3877056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2290572"/>
            <a:ext cx="3803904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or button information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9808" y="2694432"/>
            <a:ext cx="2157984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2740152"/>
            <a:ext cx="2084832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submits a form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07792" y="2694432"/>
            <a:ext cx="1371600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44368" y="2740152"/>
            <a:ext cx="1298448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onSubmit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79392" y="2694432"/>
            <a:ext cx="3877056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2740152"/>
            <a:ext cx="3803904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default browser submission; use current controlled state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808" y="3144012"/>
            <a:ext cx="2157984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" y="3189732"/>
            <a:ext cx="2084832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presses a key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07792" y="3144012"/>
            <a:ext cx="1371600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44368" y="3189732"/>
            <a:ext cx="1298448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onKeyDown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79392" y="3144012"/>
            <a:ext cx="3877056" cy="4495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3189732"/>
            <a:ext cx="3803904" cy="3764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event.key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50976" y="3749040"/>
            <a:ext cx="3657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common examples: onFocus and onBlur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4754880" y="3657600"/>
            <a:ext cx="3154680" cy="438912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77647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events describe different interactions, so the useful information can differ.</a:t>
            </a:r>
            <a:endParaRPr lang="en-US" sz="10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TypeScript to discover the event type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914400"/>
            <a:ext cx="3977640" cy="1810512"/>
          </a:xfrm>
          <a:prstGeom prst="roundRect">
            <a:avLst>
              <a:gd name="adj" fmla="val 404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00584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value={name}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onChange={(event)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setName(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event.currentTarget.value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914400"/>
            <a:ext cx="29260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1042416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hover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93792" y="1243584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5232" y="133502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(parameter) event: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React.ChangeEvent&lt;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HTMLInputElement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74920" y="2139696"/>
            <a:ext cx="27432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 the handler inline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Hover event or inspect onChange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the type TypeScript inferred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877824" y="3337560"/>
            <a:ext cx="6912864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93008"/>
            <a:ext cx="647395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TypeScript and your editor to discover the type instead of guessing a long event type from memory.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an extracted event handler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822960"/>
            <a:ext cx="3913632" cy="2889504"/>
          </a:xfrm>
          <a:prstGeom prst="roundRect">
            <a:avLst>
              <a:gd name="adj" fmla="val 253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14400"/>
            <a:ext cx="373075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handleNameChange(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event: React.ChangeEvent&lt;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HTMLInputElement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setName(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event.currentTarget.value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value={name}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onChange={handleNameChange}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19472" y="914400"/>
            <a:ext cx="3090672" cy="969264"/>
          </a:xfrm>
          <a:prstGeom prst="roundRect">
            <a:avLst>
              <a:gd name="adj" fmla="val 75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84064" y="1060704"/>
            <a:ext cx="2788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React.ChangeEvent&lt;HTMLInputElement&gt;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57800" y="1371600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kind + element kind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56048" y="2084832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click example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919472" y="233172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2423160"/>
            <a:ext cx="28346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handleHelpClick(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event: React.MouseEvent&lt;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HTMLButtonElement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use event.currentTarget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19472" y="38404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3931920"/>
            <a:ext cx="2743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handler does not use the event object, do not add an event parameter just to type one.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textareas and selects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49808" y="841248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goal: &lt;textarea&gt;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49808" y="1051560"/>
            <a:ext cx="3657600" cy="2084832"/>
          </a:xfrm>
          <a:prstGeom prst="roundRect">
            <a:avLst>
              <a:gd name="adj" fmla="val 3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1430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value={learningGoal}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onChange={handleLearningGoalChange}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handleLearningGoalChange(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event: React.ChangeEvent&lt;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HTMLTextAreaElement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setLearningGoal(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event.currentTarget.value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81728" y="841248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&lt;select&gt;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81728" y="1051560"/>
            <a:ext cx="3493008" cy="246888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143000"/>
            <a:ext cx="331012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value={track}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onChange={handleTrackChange}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value=""&gt;Choose a track&lt;/option&gt;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value="React &amp; TypeScript"&gt;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React &amp; TypeScript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&lt;/option&gt;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handleTrackChange(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event: React.ChangeEvent&lt;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HTMLSelectElement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... 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657600"/>
            <a:ext cx="7406640" cy="475488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85616"/>
            <a:ext cx="71140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loop: state supplies value → onChange runs → read currentTarget.value → request next state. Changed element types: HTMLTextAreaElement and HTMLSelectElement.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checkboxes and radio groups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49808" y="859536"/>
            <a:ext cx="3291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Checkbox: one boolean value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49808" y="1097280"/>
            <a:ext cx="3986784" cy="2157984"/>
          </a:xfrm>
          <a:prstGeom prst="roundRect">
            <a:avLst>
              <a:gd name="adj" fmla="val 339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188720"/>
            <a:ext cx="380390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[receiveUpdates, setReceiveUpdates]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useState(false);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type="checkbox"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checked={receiveUpdates}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onChange={(event)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setReceiveUpdates(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event.currentTarget.checked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83480" y="859536"/>
            <a:ext cx="3108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group: one value from several choices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83480" y="1115568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8072" y="1261872"/>
            <a:ext cx="2651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In person     ○ Online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83480" y="1938528"/>
            <a:ext cx="2971800" cy="1901952"/>
          </a:xfrm>
          <a:prstGeom prst="roundRect">
            <a:avLst>
              <a:gd name="adj" fmla="val 384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2029968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value="online"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checked={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attendanceMode === "online"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onChange={(event)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setAttendanceMode(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event.currentTarget.value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3968496"/>
            <a:ext cx="7315200" cy="420624"/>
          </a:xfrm>
          <a:prstGeom prst="roundRect">
            <a:avLst>
              <a:gd name="adj" fmla="val 17391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69080"/>
            <a:ext cx="69951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Checkbox: checked → boolean state.    Radio: checked asks “is this option selected?” while value identifies the option.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common controlled form controls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21792" y="822960"/>
            <a:ext cx="1572768" cy="48006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86868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194560" y="822960"/>
            <a:ext cx="1481328" cy="48006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31136" y="868680"/>
            <a:ext cx="14081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prop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75888" y="822960"/>
            <a:ext cx="1508760" cy="48006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2464" y="868680"/>
            <a:ext cx="143560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 change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84648" y="822960"/>
            <a:ext cx="1298448" cy="48006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21224" y="868680"/>
            <a:ext cx="12252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state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83096" y="822960"/>
            <a:ext cx="2020824" cy="48006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868680"/>
            <a:ext cx="194767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element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" y="1303020"/>
            <a:ext cx="157276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34874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&lt;input&gt;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1303020"/>
            <a:ext cx="148132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1136" y="1348740"/>
            <a:ext cx="14081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75888" y="1303020"/>
            <a:ext cx="150876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348740"/>
            <a:ext cx="143560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.value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84648" y="1303020"/>
            <a:ext cx="129844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1224" y="1348740"/>
            <a:ext cx="12252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83096" y="1303020"/>
            <a:ext cx="2020824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1348740"/>
            <a:ext cx="194767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HTMLInputElement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" y="1783080"/>
            <a:ext cx="157276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182880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&lt;textarea&gt;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94560" y="1783080"/>
            <a:ext cx="148132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31136" y="1828800"/>
            <a:ext cx="14081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75888" y="1783080"/>
            <a:ext cx="150876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1828800"/>
            <a:ext cx="143560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.value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84648" y="1783080"/>
            <a:ext cx="129844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21224" y="1828800"/>
            <a:ext cx="12252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83096" y="1783080"/>
            <a:ext cx="2020824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1828800"/>
            <a:ext cx="194767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HTMLTextAreaElement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" y="2263140"/>
            <a:ext cx="157276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230886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&lt;select&gt;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194560" y="2263140"/>
            <a:ext cx="148132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31136" y="2308860"/>
            <a:ext cx="14081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75888" y="2263140"/>
            <a:ext cx="150876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12464" y="2308860"/>
            <a:ext cx="143560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.value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84648" y="2263140"/>
            <a:ext cx="129844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21224" y="2308860"/>
            <a:ext cx="12252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83096" y="2263140"/>
            <a:ext cx="2020824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9672" y="2308860"/>
            <a:ext cx="194767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HTMLSelectElement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1792" y="2743200"/>
            <a:ext cx="157276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278892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&lt;input&gt;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194560" y="2743200"/>
            <a:ext cx="148132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31136" y="2788920"/>
            <a:ext cx="14081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75888" y="2743200"/>
            <a:ext cx="150876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12464" y="2788920"/>
            <a:ext cx="143560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.checked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184648" y="2743200"/>
            <a:ext cx="129844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21224" y="2788920"/>
            <a:ext cx="12252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83096" y="2743200"/>
            <a:ext cx="2020824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9672" y="2788920"/>
            <a:ext cx="194767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HTMLInputElement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1792" y="3223260"/>
            <a:ext cx="157276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" y="3268980"/>
            <a:ext cx="149961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&lt;input&gt;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194560" y="3223260"/>
            <a:ext cx="148132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31136" y="3268980"/>
            <a:ext cx="140817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675888" y="3223260"/>
            <a:ext cx="150876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12464" y="3268980"/>
            <a:ext cx="143560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.value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184648" y="3223260"/>
            <a:ext cx="1298448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21224" y="3268980"/>
            <a:ext cx="122529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string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83096" y="3223260"/>
            <a:ext cx="2020824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19672" y="3268980"/>
            <a:ext cx="194767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HTMLInputElement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87552" y="3840480"/>
            <a:ext cx="7178040" cy="402336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70432" y="3959352"/>
            <a:ext cx="681228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unsure, ask: What event? What element? Which property contains the value I need?</a:t>
            </a:r>
            <a:endParaRPr lang="en-US" sz="10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Repair the notification checkbox</a:t>
            </a:r>
            <a:endParaRPr lang="en-US" sz="2040" dirty="0"/>
          </a:p>
        </p:txBody>
      </p:sp>
      <p:sp>
        <p:nvSpPr>
          <p:cNvPr id="3" name="Shape 1"/>
          <p:cNvSpPr/>
          <p:nvPr/>
        </p:nvSpPr>
        <p:spPr>
          <a:xfrm>
            <a:off x="749808" y="896112"/>
            <a:ext cx="3977640" cy="2304288"/>
          </a:xfrm>
          <a:prstGeom prst="roundRect">
            <a:avLst>
              <a:gd name="adj" fmla="val 317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87552"/>
            <a:ext cx="379476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[notifications, setNotifications]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useState(true);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type="checkbox"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value={notifications}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onChange={(event)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setNotifications(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Boolean(event.currentTarget.value)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10912" y="1005840"/>
            <a:ext cx="2834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is using text-input logic for a boolean control.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5010912" y="1664208"/>
            <a:ext cx="2377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two parts: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5074920" y="1938528"/>
            <a:ext cx="27432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prop should control the checkbox?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event property should supply the next boolean value?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49808" y="3959352"/>
            <a:ext cx="7498080" cy="694944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59536" y="4233672"/>
            <a:ext cx="727862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checked={notifications} and event.currentTarget.checked.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is boolean; .value is a string value associated with the input, not whether it is selected.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related form data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4663440" cy="3337560"/>
          </a:xfrm>
          <a:prstGeom prst="roundRect">
            <a:avLst>
              <a:gd name="adj" fmla="val 219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448056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RegistrationFormData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learningGoal: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attendanceMode: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receiveUpdates: boolean;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initialFormData: RegistrationFormData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learningGoal: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attendanceMode: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receiveUpdates: false,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[formData, setFormData]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useState&lt;RegistrationFormData&gt;(initialFormData);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532120" y="960120"/>
            <a:ext cx="2578608" cy="1609344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3560" y="1033272"/>
            <a:ext cx="23957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React state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23560" y="1252728"/>
            <a:ext cx="23957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learningGoal: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attendanceMode: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receiveUpdates: 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32120" y="2816352"/>
            <a:ext cx="2578608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7568" y="294436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values describe one registration and are often read together.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32120" y="3566160"/>
            <a:ext cx="2578608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3666744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state object is a design choice, not a rule for every form.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one field without losing the others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40080" y="859536"/>
            <a:ext cx="4279392" cy="3035808"/>
          </a:xfrm>
          <a:prstGeom prst="roundRect">
            <a:avLst>
              <a:gd name="adj" fmla="val 241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50976"/>
            <a:ext cx="409651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handleNameChange(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event: React.ChangeEvent&lt;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HTMLInputElement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setFormData({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...formData,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event.currentTarget.value,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Checkbox variation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setFormData({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...formData,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receiveUpdates: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event.currentTarget.checked,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48656" y="941832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212080" y="1170432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280160"/>
            <a:ext cx="2651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learningGoal: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attendanceMode: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receiveUpdates: 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48656" y="2468880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entering Jordan Lee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212080" y="269748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2807208"/>
            <a:ext cx="2651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"Jordan Lee",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learningGoal: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attendanceMode: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receiveUpdates: 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041648"/>
            <a:ext cx="717804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105656"/>
            <a:ext cx="69037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existing properties → replace one property → set the complete next object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a live preview from the same state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13232" y="841248"/>
            <a:ext cx="2487168" cy="310896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32688"/>
            <a:ext cx="22677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registration</a:t>
            </a:r>
            <a:endParaRPr lang="en-US" sz="1060" dirty="0"/>
          </a:p>
        </p:txBody>
      </p:sp>
      <p:sp>
        <p:nvSpPr>
          <p:cNvPr id="5" name="Text 3"/>
          <p:cNvSpPr/>
          <p:nvPr/>
        </p:nvSpPr>
        <p:spPr>
          <a:xfrm>
            <a:off x="841248" y="1252728"/>
            <a:ext cx="223113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" y="1417320"/>
            <a:ext cx="223113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72184"/>
            <a:ext cx="20848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Lee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223113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1993392"/>
            <a:ext cx="223113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48256"/>
            <a:ext cx="20848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confidence with React forms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2414016"/>
            <a:ext cx="223113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2578608"/>
            <a:ext cx="223113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33472"/>
            <a:ext cx="20848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&amp; TypeScript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1248" y="2980944"/>
            <a:ext cx="223113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" y="3145536"/>
            <a:ext cx="22311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In person    ● Online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1248" y="3474720"/>
            <a:ext cx="22311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Receive event updates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19856" y="841248"/>
            <a:ext cx="2606040" cy="1755648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11296" y="914400"/>
            <a:ext cx="2423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React state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11296" y="1133856"/>
            <a:ext cx="24231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"Jordan Lee",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learningGoal: "Build confidence with React forms",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track: "React &amp; TypeScript",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attendanceMode: "online",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receiveUpdates: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2784" y="841248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987552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preview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19088" y="1280160"/>
            <a:ext cx="1600200" cy="1335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Lee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confidence with React forms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React &amp; TypeScript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Attendance: Online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updates: Yes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19856" y="2871216"/>
            <a:ext cx="2606040" cy="987552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11296" y="296265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&lt;p&gt;{formData.name}&lt;/p&gt;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&lt;p&gt;{formData.learningGoal}&lt;/p&gt;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&lt;p&gt;{formData.track}&lt;/p&gt;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&lt;p&gt;{formData.attendanceMode}&lt;/p&gt;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041648"/>
            <a:ext cx="72237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114800"/>
            <a:ext cx="685800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preview state: controls, Current React state and preview all read formData.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with native and derived rules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49808" y="868680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constraints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49808" y="1078992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170432"/>
            <a:ext cx="32004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required minLength={2} ... /&gt;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minLength={10}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maxLength={120}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 required ... /&gt;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0" y="868680"/>
            <a:ext cx="2560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formData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78992"/>
            <a:ext cx="3493008" cy="2212848"/>
          </a:xfrm>
          <a:prstGeom prst="roundRect">
            <a:avLst>
              <a:gd name="adj" fmla="val 33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170432"/>
            <a:ext cx="331012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charactersRemaining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120 -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formData.learningGoal.length;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isFormValid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formData.name.trim().length &gt;= 2 &amp;&amp;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formData.learningGoal.trim().length &gt;= 10 &amp;&amp;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formData.track !== "" &amp;&amp;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formData.attendanceMode !== "";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3639312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730752"/>
            <a:ext cx="28803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rules: required · minLength · maxLength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5152" y="3547872"/>
            <a:ext cx="3246120" cy="512064"/>
          </a:xfrm>
          <a:prstGeom prst="roundRect">
            <a:avLst>
              <a:gd name="adj" fmla="val 14286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3675888"/>
            <a:ext cx="29077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store isFormValid in useState when it can be calculated from formData.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validation feedback in the interface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49808" y="877824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form become valid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49808" y="1207008"/>
            <a:ext cx="33832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280160"/>
            <a:ext cx="685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72768" y="1280160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Lee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27248" y="1280160"/>
            <a:ext cx="89611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disabled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1847088"/>
            <a:ext cx="33832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920240"/>
            <a:ext cx="685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72768" y="1920240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confidence with React forms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27248" y="1920240"/>
            <a:ext cx="89611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disabled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2487168"/>
            <a:ext cx="33832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560320"/>
            <a:ext cx="685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560320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&amp; TypeScript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27248" y="2560320"/>
            <a:ext cx="89611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disabled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" y="3127248"/>
            <a:ext cx="3383280" cy="420624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200400"/>
            <a:ext cx="685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72768" y="3200400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27248" y="3200400"/>
            <a:ext cx="89611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90288" y="877824"/>
            <a:ext cx="2103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feedback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590288" y="1152144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124358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confidence with React forms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characters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120 - 33 = 87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90288" y="2359152"/>
            <a:ext cx="3246120" cy="36576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487168"/>
            <a:ext cx="288950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characters remaining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90288" y="2999232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090672"/>
            <a:ext cx="30632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type="submit"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disabled={!isFormValid}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4078224"/>
            <a:ext cx="7223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receiveUpdates is optional, so it does not determine validity.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form locally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4315968" cy="3154680"/>
          </a:xfrm>
          <a:prstGeom prst="roundRect">
            <a:avLst>
              <a:gd name="adj" fmla="val 23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413308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onSubmit={(event)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event.preventDefault();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console.log(formData);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{/* controlled form controls */}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type="submit"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disabled={!isFormValid}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30368" y="914400"/>
            <a:ext cx="278892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onSubmit runs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preventDefault prevents normal browser navigation or reload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controlled values are already in formData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now, inspect the data locally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230368" y="1865376"/>
            <a:ext cx="2377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formData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5230368" y="2048256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1808" y="215798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"Jordan Lee",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learningGoal: "Build confidence with React forms",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track: "React &amp; TypeScript",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attendanceMode: "online",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receiveUpdates: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30368" y="3328416"/>
            <a:ext cx="278892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6672" y="3456432"/>
            <a:ext cx="24871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type="submit" submits.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type="button" does not submit.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41248" y="4151376"/>
            <a:ext cx="699516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215384"/>
            <a:ext cx="6711696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form → React state → local submission.    Not yet: form → API → server.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Puzzle: Complete the controlled select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4160520" cy="2907792"/>
          </a:xfrm>
          <a:prstGeom prst="roundRect">
            <a:avLst>
              <a:gd name="adj" fmla="val 251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32688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Preferences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digest: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compactMode: boolean;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[preferences, setPreferences]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useState&lt;Preferences&gt;({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digest: "weekly",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compactMode: false,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value={preferences.digest}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onChange={handleDigestChange}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 value="daily"&gt;Daily&lt;/option&gt;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&lt;/select&gt;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0" y="932688"/>
            <a:ext cx="2651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both blanks:</a:t>
            </a:r>
            <a:endParaRPr lang="en-US" sz="1140" dirty="0"/>
          </a:p>
        </p:txBody>
      </p:sp>
      <p:sp>
        <p:nvSpPr>
          <p:cNvPr id="6" name="Shape 4"/>
          <p:cNvSpPr/>
          <p:nvPr/>
        </p:nvSpPr>
        <p:spPr>
          <a:xfrm>
            <a:off x="5029200" y="1207008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298448"/>
            <a:ext cx="2743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handleDigestChange(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event: ____________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setPreferences({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...preferences,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digest: ____________,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47488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compactMode remains unchanged.</a:t>
            </a:r>
            <a:endParaRPr lang="en-US" sz="1090" dirty="0"/>
          </a:p>
        </p:txBody>
      </p:sp>
      <p:sp>
        <p:nvSpPr>
          <p:cNvPr id="9" name="Shape 7"/>
          <p:cNvSpPr/>
          <p:nvPr/>
        </p:nvSpPr>
        <p:spPr>
          <a:xfrm>
            <a:off x="749808" y="3959352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React.ChangeEvent&lt;HTMLSelectElement&gt; and event.currentTarget.value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59536" y="4233672"/>
            <a:ext cx="727862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...preferences preserves compactMode while digest is replaced. After choosing Daily: { digest: "daily", compactMode: false }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Profile Editor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914400"/>
            <a:ext cx="1600200" cy="32004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96012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2350008" y="914400"/>
            <a:ext cx="1417320" cy="32004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86584" y="96012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49808" y="1234440"/>
            <a:ext cx="16002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28016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name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50008" y="1234440"/>
            <a:ext cx="14173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86584" y="128016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1554480"/>
            <a:ext cx="16002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60020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50008" y="1554480"/>
            <a:ext cx="14173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86584" y="160020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textarea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1874520"/>
            <a:ext cx="16002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192024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50008" y="1874520"/>
            <a:ext cx="14173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86584" y="192024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" y="2194560"/>
            <a:ext cx="16002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2240280"/>
            <a:ext cx="1527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collaboration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50008" y="2194560"/>
            <a:ext cx="14173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86584" y="2240280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896112"/>
            <a:ext cx="3337560" cy="2029968"/>
          </a:xfrm>
          <a:prstGeom prst="roundRect">
            <a:avLst>
              <a:gd name="adj" fmla="val 36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060704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editor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4736592" y="1353312"/>
            <a:ext cx="279806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name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36592" y="1517904"/>
            <a:ext cx="2798064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1572768"/>
            <a:ext cx="2651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36592" y="1920240"/>
            <a:ext cx="279806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36592" y="2084832"/>
            <a:ext cx="2798064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2139696"/>
            <a:ext cx="2651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2505456"/>
            <a:ext cx="457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12080" y="244144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2496312"/>
            <a:ext cx="10972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▼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2788920"/>
            <a:ext cx="34747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lang="en-US" sz="10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structure and styling</a:t>
            </a:r>
            <a:endParaRPr lang="en-US" sz="1060" dirty="0"/>
          </a:p>
          <a:p>
            <a:r>
              <a:rPr lang="en-US" sz="10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ProfileFormData and initialProfile</a:t>
            </a:r>
            <a:endParaRPr lang="en-US" sz="1060" dirty="0"/>
          </a:p>
          <a:p>
            <a:r>
              <a:rPr lang="en-US" sz="10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options, controls and preview layout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749808" y="3730752"/>
            <a:ext cx="7333488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3840480"/>
            <a:ext cx="7022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 four short stages: state + one field → text controls → checkbox → preview and feedback.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1: Control the display name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58368" y="859536"/>
            <a:ext cx="2240280" cy="2761488"/>
          </a:xfrm>
          <a:prstGeom prst="roundRect">
            <a:avLst>
              <a:gd name="adj" fmla="val 32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05840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841248" y="1335024"/>
            <a:ext cx="182880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initialProfile in state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Display name controlled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handler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487168"/>
            <a:ext cx="187452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explain: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tells us the event element type? Where does the new string come from?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08960" y="896112"/>
            <a:ext cx="2971800" cy="2999232"/>
          </a:xfrm>
          <a:prstGeom prst="roundRect">
            <a:avLst>
              <a:gd name="adj" fmla="val 24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987552"/>
            <a:ext cx="2788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handleDisplayNameChange(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event: ______________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setProfile({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...profile,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displayName: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______________,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value={profile.displayName}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onChange={handleDisplayNameChange}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28232" y="896112"/>
            <a:ext cx="1691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024128"/>
            <a:ext cx="1280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65392" y="1298448"/>
            <a:ext cx="1325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Elena Ortiz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28232" y="2157984"/>
            <a:ext cx="1691640" cy="786384"/>
          </a:xfrm>
          <a:prstGeom prst="roundRect">
            <a:avLst>
              <a:gd name="adj" fmla="val 930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231136"/>
            <a:ext cx="15087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state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19672" y="245059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displayName: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"Elena Ortiz"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3959352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HTMLInputElement and event.currentTarget.value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859536" y="4233672"/>
            <a:ext cx="72786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handler belongs to an input. The new displayName string comes from the input's current value.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2: Extend the form controls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58368" y="859536"/>
            <a:ext cx="2148840" cy="274320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0584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841248" y="1316736"/>
            <a:ext cx="1737360" cy="6949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Bio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Role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existing profile values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395728"/>
            <a:ext cx="17556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explain: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changing role not remove displayName or bio?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99232" y="896112"/>
            <a:ext cx="3127248" cy="2724912"/>
          </a:xfrm>
          <a:prstGeom prst="roundRect">
            <a:avLst>
              <a:gd name="adj" fmla="val 268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987552"/>
            <a:ext cx="294436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value={profile.bio}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onChange={handleBioChange}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value={profile.role}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onChange={handleRoleChange}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 type: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React.ChangeEvent&lt;________&gt;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type: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React.ChangeEvent&lt;________&gt;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19088" y="896112"/>
            <a:ext cx="1792224" cy="20116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1024128"/>
            <a:ext cx="14630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47104" y="1298448"/>
            <a:ext cx="1444752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Elena Ortiz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accessible React interfaces with TypeScript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3959352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HTMLTextAreaElement and HTMLSelectElement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59536" y="4233672"/>
            <a:ext cx="727862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handlers preserve the current object with ...profile before replacing one property.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3: Add a boolean control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58368" y="859536"/>
            <a:ext cx="2148840" cy="274320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0584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841248" y="1316736"/>
            <a:ext cx="173736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Open to collaboration controlled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handler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.value or .checked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450592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explain: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two input handlers read different properties?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99232" y="896112"/>
            <a:ext cx="3127248" cy="2267712"/>
          </a:xfrm>
          <a:prstGeom prst="roundRect">
            <a:avLst>
              <a:gd name="adj" fmla="val 32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987552"/>
            <a:ext cx="29443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type="checkbox"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checked={profile.openToCollaboration}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onChange={handleCollaborationChange}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type: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value for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openToCollaboration: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19088" y="896112"/>
            <a:ext cx="17922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1024128"/>
            <a:ext cx="14630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47104" y="1298448"/>
            <a:ext cx="14447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→ true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Unchecked → false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values unchanged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3959352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HTMLInputElement and event.currentTarget.checked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59536" y="4233672"/>
            <a:ext cx="727862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property is boolean. A controlled checkbox uses checked and reads the changed boolean from .checked.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4: Use the profile state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58368" y="859536"/>
            <a:ext cx="2176272" cy="2743200"/>
          </a:xfrm>
          <a:prstGeom prst="roundRect">
            <a:avLst>
              <a:gd name="adj" fmla="val 336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0584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841248" y="1316736"/>
            <a:ext cx="1792224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profile preview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the remaining bio characters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create preview state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2450592"/>
            <a:ext cx="179222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explain: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character count not need its own useState?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90672" y="896112"/>
            <a:ext cx="269748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042416"/>
            <a:ext cx="2331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preview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73552" y="1353312"/>
            <a:ext cx="2240280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Elena Ortiz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collaboration: Yes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accessible React interfaces with TypeScript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90672" y="3127248"/>
            <a:ext cx="2697480" cy="493776"/>
          </a:xfrm>
          <a:prstGeom prst="roundRect">
            <a:avLst>
              <a:gd name="adj" fmla="val 1481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32186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bioCharactersRemaining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__________________;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932688"/>
            <a:ext cx="1901952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069848"/>
            <a:ext cx="15544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36208" y="1353312"/>
            <a:ext cx="153619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 length: 52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100 - 52 = 48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characters remaining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3959352"/>
            <a:ext cx="749808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100 - profile.bio.length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859536" y="4233672"/>
            <a:ext cx="72786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preview and character count are derived from profile. No extra state is needed.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Profile Editor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58368" y="804672"/>
            <a:ext cx="1600200" cy="431597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850392"/>
            <a:ext cx="152704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58568" y="804672"/>
            <a:ext cx="2240280" cy="431597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95144" y="850392"/>
            <a:ext cx="216712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type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98848" y="804672"/>
            <a:ext cx="1234440" cy="431597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424" y="850392"/>
            <a:ext cx="116128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33288" y="804672"/>
            <a:ext cx="2697480" cy="431597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9864" y="850392"/>
            <a:ext cx="262432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1236269"/>
            <a:ext cx="160020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81989"/>
            <a:ext cx="152704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name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58568" y="1236269"/>
            <a:ext cx="224028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95144" y="1281989"/>
            <a:ext cx="216712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HTMLInputElement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98848" y="1236269"/>
            <a:ext cx="123444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1281989"/>
            <a:ext cx="116128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.value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33288" y="1236269"/>
            <a:ext cx="269748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9864" y="1281989"/>
            <a:ext cx="262432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displayName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1667866"/>
            <a:ext cx="160020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1713586"/>
            <a:ext cx="152704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58568" y="1667866"/>
            <a:ext cx="224028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95144" y="1713586"/>
            <a:ext cx="216712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HTMLTextAreaElement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98848" y="1667866"/>
            <a:ext cx="123444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5424" y="1713586"/>
            <a:ext cx="116128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.value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33288" y="1667866"/>
            <a:ext cx="269748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1713586"/>
            <a:ext cx="262432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2099462"/>
            <a:ext cx="160020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2145182"/>
            <a:ext cx="152704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58568" y="2099462"/>
            <a:ext cx="224028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95144" y="2145182"/>
            <a:ext cx="216712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HTMLSelectElement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98848" y="2099462"/>
            <a:ext cx="123444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35424" y="2145182"/>
            <a:ext cx="116128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.value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33288" y="2099462"/>
            <a:ext cx="269748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9864" y="2145182"/>
            <a:ext cx="262432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8368" y="2531059"/>
            <a:ext cx="160020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2576779"/>
            <a:ext cx="152704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58568" y="2531059"/>
            <a:ext cx="224028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95144" y="2576779"/>
            <a:ext cx="216712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HTMLInputElement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98848" y="2531059"/>
            <a:ext cx="123444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5424" y="2576779"/>
            <a:ext cx="116128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.checked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33288" y="2531059"/>
            <a:ext cx="2697480" cy="431597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9864" y="2576779"/>
            <a:ext cx="2624328" cy="358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openToCollaboration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49808" y="3054096"/>
            <a:ext cx="21945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profile state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749808" y="3255264"/>
            <a:ext cx="3767328" cy="950976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" y="3364992"/>
            <a:ext cx="35844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displayName: "Elena Ortiz",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bio: "Building accessible...",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"Frontend Developer",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openToCollaboration: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73168" y="3182112"/>
            <a:ext cx="3328416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319272"/>
            <a:ext cx="296265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essential changing data.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interface values that can be derived from it.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preview reads profile.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characters remaining is calculated from profile.bio.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form mistakes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58368" y="822960"/>
            <a:ext cx="2331720" cy="508406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868680"/>
            <a:ext cx="225856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990088" y="822960"/>
            <a:ext cx="2560320" cy="508406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26664" y="868680"/>
            <a:ext cx="248716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cause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50408" y="822960"/>
            <a:ext cx="2926080" cy="508406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86984" y="868680"/>
            <a:ext cx="285292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check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331366"/>
            <a:ext cx="233172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377086"/>
            <a:ext cx="225856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field keeps returning to old 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90088" y="1331366"/>
            <a:ext cx="256032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1377086"/>
            <a:ext cx="248716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never requests edited value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50408" y="1331366"/>
            <a:ext cx="292608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1377086"/>
            <a:ext cx="285292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onChange use the new .value?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1839773"/>
            <a:ext cx="233172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1885493"/>
            <a:ext cx="225856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gives wrong kind of value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90088" y="1839773"/>
            <a:ext cx="256032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26664" y="1885493"/>
            <a:ext cx="248716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Text-input logic reused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50408" y="1839773"/>
            <a:ext cx="292608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6984" y="1885493"/>
            <a:ext cx="285292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checked and .checked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2348179"/>
            <a:ext cx="233172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2393899"/>
            <a:ext cx="225856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one field removes others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0088" y="2348179"/>
            <a:ext cx="256032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26664" y="2393899"/>
            <a:ext cx="248716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Replacement object only has changed property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50408" y="2348179"/>
            <a:ext cx="292608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86984" y="2393899"/>
            <a:ext cx="285292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current object first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2856586"/>
            <a:ext cx="233172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2902306"/>
            <a:ext cx="225856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button submits form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90088" y="2856586"/>
            <a:ext cx="256032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26664" y="2902306"/>
            <a:ext cx="248716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has no explicit type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50408" y="2856586"/>
            <a:ext cx="2926080" cy="50840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86984" y="2902306"/>
            <a:ext cx="2852928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type="button" when needed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77824" y="3657600"/>
            <a:ext cx="72237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2416" y="3794760"/>
            <a:ext cx="69128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habit: What state owns this value? Which prop controls the element? What does the event provide? What next state did the handler request?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Cool-down: Predict the final form state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4224528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96112"/>
            <a:ext cx="404164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[rsvp, setRsvp]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meal: "vegetarian",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bringGuest: false,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meal handler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setRsvp({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...rsvp,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meal: event.currentTarget.value,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guest handler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setRsvp({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...rsvp,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bringGuest: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event.currentTarget.checked,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193792" y="896112"/>
            <a:ext cx="2286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derives: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93792" y="1115568"/>
            <a:ext cx="2697480" cy="768096"/>
          </a:xfrm>
          <a:prstGeom prst="roundRect">
            <a:avLst>
              <a:gd name="adj" fmla="val 95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85232" y="120700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seatLabel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rsvp.bringGuest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"2 seats"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"1 seat";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48656" y="2157984"/>
            <a:ext cx="237744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meal to "vegan"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waits for interface update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Bring a guest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0" y="2971800"/>
            <a:ext cx="2560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final state? What does seatLabel contain?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3959352"/>
            <a:ext cx="749808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meal: "vegan", bringGuest: true }; seatLabel = "2 seats"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59536" y="4233672"/>
            <a:ext cx="72786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update preserves the other property. The derived label is calculated again from the final bringGuest value.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Cool-down: Repair the radio handler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868680"/>
            <a:ext cx="4206240" cy="2487168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60120"/>
            <a:ext cx="40233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[deliveryMethod, setDeliveryMethod]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useState("");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type="radio"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name="deliveryMethod"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value="pickup"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checked={deliveryMethod === "pickup"}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onChange={(event)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setDeliveryMethod(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event.currentTarget.checked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66944" y="987552"/>
            <a:ext cx="26517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reports an error in the setter call.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5266944" y="1572768"/>
            <a:ext cx="26517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incorrect expression. Then explain why .checked is not the value we want to store.</a:t>
            </a:r>
            <a:endParaRPr lang="en-US" sz="1090" dirty="0"/>
          </a:p>
        </p:txBody>
      </p:sp>
      <p:sp>
        <p:nvSpPr>
          <p:cNvPr id="7" name="Shape 5"/>
          <p:cNvSpPr/>
          <p:nvPr/>
        </p:nvSpPr>
        <p:spPr>
          <a:xfrm>
            <a:off x="5266944" y="2505456"/>
            <a:ext cx="2651760" cy="493776"/>
          </a:xfrm>
          <a:prstGeom prst="roundRect">
            <a:avLst>
              <a:gd name="adj" fmla="val 14815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633472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boolean state → .checked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selected-value state → .value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959352"/>
            <a:ext cx="7498080" cy="585216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setDeliveryMethod(event.currentTarget.value)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59536" y="4233672"/>
            <a:ext cx="72786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.checked says whether this option is selected. The state stores which option is selected, and this option represents "pickup" through value.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Cool-down: Find the event-type mismatch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86868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60120"/>
            <a:ext cx="40233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value={notes}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onChange={handleNotesChange}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handleNotesChange(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event: React.ChangeEvent&lt;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HTMLInputElement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setNotes(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event.currentTarget.value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30368" y="969264"/>
            <a:ext cx="2103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5285232" y="1316736"/>
            <a:ext cx="26517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 event element type be?</a:t>
            </a:r>
            <a:endParaRPr lang="en-US" sz="107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7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forgot it, how could you find the correct type without guessing?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5230368" y="2231136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377440"/>
            <a:ext cx="23957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workflow: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inline → hover event → use inferred type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959352"/>
            <a:ext cx="749808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React.ChangeEvent&lt;HTMLTextAreaElement&gt;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59536" y="4233672"/>
            <a:ext cx="7278624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handler belongs to a textarea. Temporarily write the handler inline and hover event to see what TypeScript inferred.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Cool-down: What should be derived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868680"/>
            <a:ext cx="4297680" cy="2487168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60120"/>
            <a:ext cx="411480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SignupFormData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string;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acceptedTerms: boolean;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[formData, setFormData]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useState&lt;SignupFormData&gt;({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acceptedTerms: false,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[canSubmit, setCanSubmit]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useState(false);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285232" y="914400"/>
            <a:ext cx="2523744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40680" y="1024128"/>
            <a:ext cx="221284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40680" y="1298448"/>
            <a:ext cx="22128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contains "@"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acceptedTerms is true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85232" y="2084832"/>
            <a:ext cx="2578608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keep canSubmit as separate state? Explain your state design.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749808" y="3959352"/>
            <a:ext cx="7498080" cy="713232"/>
          </a:xfrm>
          <a:prstGeom prst="roundRect">
            <a:avLst>
              <a:gd name="adj" fmla="val 1025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state is needed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59536" y="4233672"/>
            <a:ext cx="7278624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canSubmit = formData.email.includes("@") &amp;&amp; formData.acceptedTerms;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completely determined by values already stored in formData.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Cool-down: Predict the form behaviour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49808" y="8686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960120"/>
            <a:ext cx="3840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onSubmit={handleSave}&gt;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onClick={showPreview}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 preview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handleSave calls: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event.preventDefault();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120640" y="950976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clicks Show preview.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5193792" y="1371600"/>
            <a:ext cx="265176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happen?</a:t>
            </a:r>
            <a:endParaRPr lang="en-US" sz="108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the first button change if it should only show the preview?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49808" y="3959352"/>
            <a:ext cx="7498080" cy="676656"/>
          </a:xfrm>
          <a:prstGeom prst="roundRect">
            <a:avLst>
              <a:gd name="adj" fmla="val 1081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4032504"/>
            <a:ext cx="7278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type="button" on Show preview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59536" y="4233672"/>
            <a:ext cx="727862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button inside a form behaves as submit unless another type is specified. The click can run showPreview and also trigger onSubmit; preventDefault prevents default browser submission, not the handler call itself.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Homework: Project Idea Form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13232" y="877824"/>
            <a:ext cx="1609344" cy="323088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923544"/>
            <a:ext cx="1536192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2322576" y="877824"/>
            <a:ext cx="1636776" cy="323088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59152" y="923544"/>
            <a:ext cx="1563624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13232" y="1200912"/>
            <a:ext cx="1609344" cy="32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46632"/>
            <a:ext cx="1536192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22576" y="1200912"/>
            <a:ext cx="1636776" cy="32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1246632"/>
            <a:ext cx="1563624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1524000"/>
            <a:ext cx="1609344" cy="32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569720"/>
            <a:ext cx="1536192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22576" y="1524000"/>
            <a:ext cx="1636776" cy="32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1569720"/>
            <a:ext cx="1563624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textarea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1847088"/>
            <a:ext cx="1609344" cy="32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1892808"/>
            <a:ext cx="1536192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22576" y="1847088"/>
            <a:ext cx="1636776" cy="32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9152" y="1892808"/>
            <a:ext cx="1563624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" y="2170176"/>
            <a:ext cx="1609344" cy="32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215896"/>
            <a:ext cx="1536192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22576" y="2170176"/>
            <a:ext cx="1636776" cy="32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9152" y="2215896"/>
            <a:ext cx="1563624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group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2493264"/>
            <a:ext cx="1609344" cy="32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538984"/>
            <a:ext cx="1536192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collaborators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22576" y="2493264"/>
            <a:ext cx="1636776" cy="32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2538984"/>
            <a:ext cx="1563624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877824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024128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Idea Form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736592" y="1316736"/>
            <a:ext cx="27432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36592" y="1481328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1536192"/>
            <a:ext cx="259689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1865376"/>
            <a:ext cx="27432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36592" y="2029968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2084832"/>
            <a:ext cx="259689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2487168"/>
            <a:ext cx="27432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 Productivity / Education / Developer Tools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" y="3154680"/>
            <a:ext cx="3108960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Project Preview</a:t>
            </a:r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summary characters</a:t>
            </a:r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form is ready to submit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0" y="3246120"/>
            <a:ext cx="333756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438144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local. No API, backend or additional library is needed.</a:t>
            </a:r>
            <a:endParaRPr lang="en-US" sz="106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 requirements and completion check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1078992"/>
            <a:ext cx="379476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form-data model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controlled controls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extracted change handlers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.value and .checked correctly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other properties on update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 from current state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limit: 140 characters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remaining count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readiness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onSubmit + preventDefault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54880" y="80467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when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00600" y="1078992"/>
            <a:ext cx="310896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has at least 3 characters</a:t>
            </a:r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has at least 20 characters</a:t>
            </a:r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has been selected</a:t>
            </a:r>
            <a:endParaRPr lang="en-US" sz="1050" dirty="0"/>
          </a:p>
          <a:p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has been selected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0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with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23317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2896" y="2468880"/>
            <a:ext cx="30175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title: Study Planner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Plan focused study sessions and track progress.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 Productivity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Stage: Prototype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Collaborators: Checked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9808" y="3767328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FEF9C3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904488"/>
            <a:ext cx="6949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length: 47 characters → 93 remaining. Explain why canSubmit should be derived. Do not add useRef, useEffect, API calls or a form library.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Working with external data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49808" y="932688"/>
            <a:ext cx="3840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form data remained inside the application.</a:t>
            </a:r>
            <a:endParaRPr lang="en-US" sz="1240" dirty="0"/>
          </a:p>
        </p:txBody>
      </p:sp>
      <p:sp>
        <p:nvSpPr>
          <p:cNvPr id="4" name="Shape 2"/>
          <p:cNvSpPr/>
          <p:nvPr/>
        </p:nvSpPr>
        <p:spPr>
          <a:xfrm>
            <a:off x="896112" y="1481328"/>
            <a:ext cx="3017520" cy="1426464"/>
          </a:xfrm>
          <a:prstGeom prst="roundRect">
            <a:avLst>
              <a:gd name="adj" fmla="val 512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2144" y="1664208"/>
            <a:ext cx="2487168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state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form submission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45152" y="1115568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353312"/>
            <a:ext cx="29260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when a React application needs data from somewhere outside the component?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92624" y="2542032"/>
            <a:ext cx="21945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effects</a:t>
            </a:r>
            <a:endParaRPr lang="en-US" sz="1130" dirty="0"/>
          </a:p>
          <a:p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</a:t>
            </a:r>
            <a:endParaRPr lang="en-US" sz="1130" dirty="0"/>
          </a:p>
          <a:p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 data</a:t>
            </a:r>
            <a:endParaRPr lang="en-US" sz="1130" dirty="0"/>
          </a:p>
          <a:p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MERN + AI Lecture 22 - Forms and State in React</dc:title>
  <dc:subject>MERN + AI Course Lecture 22</dc:subject>
  <dc:creator>OpenAI</dc:creator>
  <cp:lastModifiedBy>OpenAI</cp:lastModifiedBy>
  <cp:revision>1</cp:revision>
  <dcterms:created xsi:type="dcterms:W3CDTF">2026-08-28T23:56:15Z</dcterms:created>
  <dcterms:modified xsi:type="dcterms:W3CDTF">2026-08-28T23:56:15Z</dcterms:modified>
</cp:coreProperties>
</file>