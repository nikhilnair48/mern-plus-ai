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c5c9e399_2_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ac5c9e399_2_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ac5c9e399_2_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c5c9e399_2_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ac5c9e399_2_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ac5c9e399_2_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c5c9e399_2_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ac5c9e399_2_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ac5c9e399_2_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c5c9e399_2_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ac5c9e399_2_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ac5c9e399_2_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c5c9e399_2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ac5c9e399_2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ac5c9e399_2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ac5c9e399_2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fac5c9e399_2_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ac5c9e399_2_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c5c9e399_2_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ac5c9e399_2_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ac5c9e399_2_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c5c9e399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ac5c9e399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ac5c9e399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c5c9e399_2_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ac5c9e399_2_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ac5c9e399_2_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ac5c9e399_2_1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ac5c9e399_2_1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ac5c9e399_2_1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ac5c9e399_2_1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fac5c9e399_2_1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ac5c9e399_2_1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ac5c9e399_2_1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fac5c9e399_2_1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ac5c9e399_2_1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ac5c9e399_2_1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ac5c9e399_2_1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ac5c9e399_2_1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ac5c9e399_2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ac5c9e399_2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ac5c9e399_2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ac5c9e399_2_2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fac5c9e399_2_2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ac5c9e399_2_2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ac5c9e399_2_2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fac5c9e399_2_2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ac5c9e399_2_2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ac5c9e399_2_2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fac5c9e399_2_2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ac5c9e399_2_2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ac5c9e399_2_2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fac5c9e399_2_2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ac5c9e399_2_2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ac5c9e399_2_2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fac5c9e399_2_2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ac5c9e399_2_2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ac5c9e399_2_2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ac5c9e399_2_2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ac5c9e399_2_2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ac5c9e399_2_3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fac5c9e399_2_3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ac5c9e399_2_3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c5c9e399_2_3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fac5c9e399_2_3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ac5c9e399_2_3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ac5c9e399_2_3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fac5c9e399_2_3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ac5c9e399_2_3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ac5c9e399_2_3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fac5c9e399_2_37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fac5c9e399_2_37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ac5c9e399_2_3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fac5c9e399_2_3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ac5c9e399_2_3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ac5c9e399_2_4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fac5c9e399_2_4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ac5c9e399_2_4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ac5c9e399_2_4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fac5c9e399_2_4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ac5c9e399_2_4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ac5c9e399_2_4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fac5c9e399_2_4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fac5c9e399_2_4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ac5c9e399_2_4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fac5c9e399_2_4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fac5c9e399_2_4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ac5c9e399_2_4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fac5c9e399_2_4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fac5c9e399_2_4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ac5c9e399_2_4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fac5c9e399_2_4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ac5c9e399_2_4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ac5c9e399_2_5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fac5c9e399_2_5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fac5c9e399_2_5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ac5c9e399_2_5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g3fac5c9e399_2_5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fac5c9e399_2_5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ac5c9e399_2_5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fac5c9e399_2_5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fac5c9e399_2_5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fac5c9e399_2_5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fac5c9e399_2_5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ac5c9e399_2_5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ac5c9e399_2_5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fac5c9e399_2_5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fac5c9e399_2_5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fac5c9e399_2_6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g3fac5c9e399_2_6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fac5c9e399_2_6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ac5c9e399_2_6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3fac5c9e399_2_6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fac5c9e399_2_6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ac5c9e399_2_6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3fac5c9e399_2_6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3fac5c9e399_2_6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fac5c9e399_2_6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g3fac5c9e399_2_6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g3fac5c9e399_2_6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fac5c9e399_2_6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g3fac5c9e399_2_67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fac5c9e399_2_67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fac5c9e399_2_6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g3fac5c9e399_2_6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3fac5c9e399_2_6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ac5c9e399_2_7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g3fac5c9e399_2_7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3fac5c9e399_2_7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fac5c9e399_2_7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g3fac5c9e399_2_7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fac5c9e399_2_7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fac5c9e399_2_7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g3fac5c9e399_2_7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fac5c9e399_2_7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VI">
  <p:cSld name="GUVI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7).png" id="53" name="Google Shape;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713232" y="157276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Lecture 20 | React &amp; TypeScript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713232" y="1938528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Events and component communication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713232" y="254203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30"/>
              <a:buFont typeface="Arial"/>
              <a:buNone/>
            </a:pPr>
            <a:r>
              <a:rPr b="0" i="0" lang="en" sz="133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Respond to user interactions, pass behaviour between components, and reason about where that behaviour belongs.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Today's agenda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713232" y="1143000"/>
            <a:ext cx="3657600" cy="1051560"/>
          </a:xfrm>
          <a:prstGeom prst="roundRect">
            <a:avLst>
              <a:gd fmla="val 695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914400" y="1353312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Respond to interactions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914400" y="1673352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Connect user actions to event handlers.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4663440" y="1143000"/>
            <a:ext cx="3657600" cy="1051560"/>
          </a:xfrm>
          <a:prstGeom prst="roundRect">
            <a:avLst>
              <a:gd fmla="val 695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4864608" y="1353312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behaviour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864608" y="1673352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typed callback props to let a child invoke parent-owned behaviour.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713232" y="2788920"/>
            <a:ext cx="3657600" cy="1051560"/>
          </a:xfrm>
          <a:prstGeom prst="roundRect">
            <a:avLst>
              <a:gd fmla="val 6957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914400" y="2999232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Trace communication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914400" y="3319272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Follow callbacks through intermediate components and recognise prop drilling.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4663440" y="2788920"/>
            <a:ext cx="3657600" cy="1051560"/>
          </a:xfrm>
          <a:prstGeom prst="roundRect">
            <a:avLst>
              <a:gd fmla="val 695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4864608" y="2999232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Decide ownership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4864608" y="3319272"/>
            <a:ext cx="3246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Choose where shared changing information should belong.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1: Which line renders the component?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685800" y="1005840"/>
            <a:ext cx="3794700" cy="2423100"/>
          </a:xfrm>
          <a:prstGeom prst="roundRect">
            <a:avLst>
              <a:gd fmla="val 188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786384" y="1088136"/>
            <a:ext cx="3593700" cy="22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CourseLabel()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&lt;span&gt;React&lt;/span&gt;;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&lt;CourseLabel /&gt;;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4663440" y="1005840"/>
            <a:ext cx="37490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function CourseLabel() renders the component inside App.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&lt;CourseLabel /&gt; tells React to render the custom component.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&lt;span&gt;React&lt;/span&gt; defines the App component.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CourseLabel should start with lowercase because it returns a &lt;span&gt;.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&lt;CourseLabel /&gt; is the component use.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function defines the component; JSX uses it inside App.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2: Who supplies the prop?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713232" y="960120"/>
            <a:ext cx="3977640" cy="2103120"/>
          </a:xfrm>
          <a:prstGeom prst="roundRect">
            <a:avLst>
              <a:gd fmla="val 217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813816" y="1042416"/>
            <a:ext cx="3776472" cy="1938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GreetingProps = { name: string; };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Greeting({ name }: GreetingProps)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&lt;p&gt;Hello, {name}&lt;/p&gt;;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&lt;Greeting name="Anika" /&gt;;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4892040" y="1005840"/>
            <a:ext cx="3474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Greeting creates "Anika" and sends it to App.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GreetingProps stores "Anika" at runtime.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App supplies "Anika" to Greeting through the name prop.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React automatically creates the name value inside Greeting.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App supplies the value; Greeting receives it.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parent renders the child and provides the prop value through JSX.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3: Which use matches this props contract?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731520" y="932688"/>
            <a:ext cx="3337560" cy="960120"/>
          </a:xfrm>
          <a:prstGeom prst="roundRect">
            <a:avLst>
              <a:gd fmla="val 476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832104" y="1014984"/>
            <a:ext cx="3136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ScoreProps = {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label: string;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value: number;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777240" y="214884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1097280" y="2112264"/>
            <a:ext cx="3383280" cy="384048"/>
          </a:xfrm>
          <a:prstGeom prst="roundRect">
            <a:avLst>
              <a:gd fmla="val 1190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1197864" y="2194560"/>
            <a:ext cx="3182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&lt;Score label="Completed" value={8} 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4572000" y="214884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4892040" y="2112264"/>
            <a:ext cx="3383280" cy="384048"/>
          </a:xfrm>
          <a:prstGeom prst="roundRect">
            <a:avLst>
              <a:gd fmla="val 1190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4992624" y="2194560"/>
            <a:ext cx="3182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&lt;Score label="Completed" value="8" 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777240" y="297180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1097280" y="2935224"/>
            <a:ext cx="3383280" cy="384048"/>
          </a:xfrm>
          <a:prstGeom prst="roundRect">
            <a:avLst>
              <a:gd fmla="val 1190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1197864" y="3017520"/>
            <a:ext cx="3182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&lt;Score label={8} value={8} 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4572000" y="297180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4892040" y="2935224"/>
            <a:ext cx="3383280" cy="384048"/>
          </a:xfrm>
          <a:prstGeom prst="roundRect">
            <a:avLst>
              <a:gd fmla="val 1190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>
            <a:off x="4992624" y="3017520"/>
            <a:ext cx="3182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&lt;Score value={8} 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Both required props match the contract.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label requires a string, value requires a number, and neither prop is missing.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4: What is destructuring doing here?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713232" y="950976"/>
            <a:ext cx="3931920" cy="2148840"/>
          </a:xfrm>
          <a:prstGeom prst="roundRect">
            <a:avLst>
              <a:gd fmla="val 212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813816" y="1033272"/>
            <a:ext cx="3730752" cy="1984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BannerProps =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message: string;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category: string;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Banner({ message, category }: BannerProps)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&lt;p&gt;{category}: {message}&lt;/p&gt;;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892040" y="100584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Creates two new props in the parent.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Makes both props optional.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Converts the props into state.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Reads message and category from the incoming props object.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It reads values from the incoming props object.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Destructuring gives direct names for properties from the same props object.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5: Which version actually reuses the component?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777240" y="10058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page needs three labels with the same structure but different text.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868680" y="1554480"/>
            <a:ext cx="7315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Define one Label component and render it several times with different prop values.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Create LabelOne, LabelTwo and LabelThree with almost identical JSX.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Copy the same JSX three times into App.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Edit the Label component's source code before each render.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Reuse one component and vary the prop values.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structure stays in one component; props provide the values that change.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/>
          <p:nvPr/>
        </p:nvSpPr>
        <p:spPr>
          <a:xfrm>
            <a:off x="1280160" y="2057400"/>
            <a:ext cx="6583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1" lang="en" sz="2550">
                <a:solidFill>
                  <a:srgbClr val="111827"/>
                </a:solidFill>
              </a:rPr>
              <a:t>Please download the starter code!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 txBox="1"/>
          <p:nvPr>
            <p:ph idx="4294967295" type="sldNum"/>
          </p:nvPr>
        </p:nvSpPr>
        <p:spPr>
          <a:xfrm>
            <a:off x="8549640" y="4864608"/>
            <a:ext cx="915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 the component tree before changing the code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777240" y="1097280"/>
            <a:ext cx="2057400" cy="457200"/>
          </a:xfrm>
          <a:prstGeom prst="roundRect">
            <a:avLst>
              <a:gd fmla="val 160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832104" y="1170432"/>
            <a:ext cx="1947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777240" y="1874520"/>
            <a:ext cx="2057400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832104" y="1947672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DashboardHeader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3383280" y="1874520"/>
            <a:ext cx="1737360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3438144" y="1947672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TicketQueue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5806440" y="1874520"/>
            <a:ext cx="1965960" cy="438912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/>
          <p:nvPr/>
        </p:nvSpPr>
        <p:spPr>
          <a:xfrm>
            <a:off x="5861304" y="1947672"/>
            <a:ext cx="1856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EscalationPanel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3383280" y="2670048"/>
            <a:ext cx="1737360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3438144" y="274320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TicketRow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3383280" y="3474720"/>
            <a:ext cx="1737360" cy="438912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3438144" y="3547872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24"/>
          <p:cNvCxnSpPr/>
          <p:nvPr/>
        </p:nvCxnSpPr>
        <p:spPr>
          <a:xfrm>
            <a:off x="1810512" y="1572768"/>
            <a:ext cx="0" cy="27432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24"/>
          <p:cNvCxnSpPr/>
          <p:nvPr/>
        </p:nvCxnSpPr>
        <p:spPr>
          <a:xfrm>
            <a:off x="2724912" y="1325880"/>
            <a:ext cx="640080" cy="612648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3364992" y="2313432"/>
            <a:ext cx="566928" cy="338328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4251960" y="3108960"/>
            <a:ext cx="0" cy="347472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2834640" y="1325880"/>
            <a:ext cx="2962656" cy="612648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24"/>
          <p:cNvSpPr/>
          <p:nvPr/>
        </p:nvSpPr>
        <p:spPr>
          <a:xfrm>
            <a:off x="5669280" y="281635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Find these before coding: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5715000" y="315468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Where is the dashboard defined?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5715000" y="341985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Where is the Escalate button?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5715000" y="368503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data already travels through props?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5715000" y="395020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happens when Escalate is clicked now?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777249" y="4389957"/>
            <a:ext cx="6788700" cy="420600"/>
          </a:xfrm>
          <a:prstGeom prst="roundRect">
            <a:avLst>
              <a:gd fmla="val 17391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970013" y="4517973"/>
            <a:ext cx="636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M0: runnable static interface, existing data props, and no callback behaviour yet.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4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/>
          <p:nvPr/>
        </p:nvSpPr>
        <p:spPr>
          <a:xfrm>
            <a:off x="1280160" y="205740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1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5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responds to interactions with event handlers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713232" y="96926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this lecture, we begin with a button click.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713232" y="13258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Event handler: </a:t>
            </a:r>
            <a:r>
              <a:rPr b="0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function that runs in response to an event.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713232" y="1764792"/>
            <a:ext cx="3703320" cy="1572768"/>
          </a:xfrm>
          <a:prstGeom prst="roundRect">
            <a:avLst>
              <a:gd fmla="val 290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813816" y="1847088"/>
            <a:ext cx="3502152" cy="1408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handleOpen()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console.log("Opening");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onClick={handleOpen}&gt;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Open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5212080" y="1143000"/>
            <a:ext cx="1828800" cy="475488"/>
          </a:xfrm>
          <a:prstGeom prst="roundRect">
            <a:avLst>
              <a:gd fmla="val 1538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5266944" y="1216152"/>
            <a:ext cx="1719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User clicks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5212080" y="2057400"/>
            <a:ext cx="1828800" cy="475488"/>
          </a:xfrm>
          <a:prstGeom prst="roundRect">
            <a:avLst>
              <a:gd fmla="val 1538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5266944" y="2130552"/>
            <a:ext cx="1719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onClick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5212080" y="2971800"/>
            <a:ext cx="1828800" cy="475488"/>
          </a:xfrm>
          <a:prstGeom prst="roundRect">
            <a:avLst>
              <a:gd fmla="val 1538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5266944" y="3044952"/>
            <a:ext cx="17190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handleOpen runs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26"/>
          <p:cNvCxnSpPr/>
          <p:nvPr/>
        </p:nvCxnSpPr>
        <p:spPr>
          <a:xfrm>
            <a:off x="6126480" y="1618488"/>
            <a:ext cx="0" cy="41148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6" name="Google Shape;216;p26"/>
          <p:cNvCxnSpPr/>
          <p:nvPr/>
        </p:nvCxnSpPr>
        <p:spPr>
          <a:xfrm>
            <a:off x="6126480" y="2532888"/>
            <a:ext cx="0" cy="41148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" name="Google Shape;217;p26"/>
          <p:cNvSpPr/>
          <p:nvPr/>
        </p:nvSpPr>
        <p:spPr>
          <a:xfrm>
            <a:off x="822960" y="3950208"/>
            <a:ext cx="7498080" cy="475488"/>
          </a:xfrm>
          <a:prstGeom prst="roundRect">
            <a:avLst>
              <a:gd fmla="val 15385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1005840" y="4096512"/>
            <a:ext cx="7114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Same idea as addEventListener("click", handleOpen): supply a function now so it can run later.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6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the function; do not call it during render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841248" y="111556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the handler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77240" y="1481328"/>
            <a:ext cx="3429000" cy="11430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"/>
          <p:cNvSpPr/>
          <p:nvPr/>
        </p:nvSpPr>
        <p:spPr>
          <a:xfrm>
            <a:off x="877824" y="1563624"/>
            <a:ext cx="322783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onClick={handleOpen}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Open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77250" y="2834654"/>
            <a:ext cx="3429000" cy="526800"/>
          </a:xfrm>
          <a:prstGeom prst="roundRect">
            <a:avLst>
              <a:gd fmla="val 19048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960120" y="2953512"/>
            <a:ext cx="3063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receives the function and calls it after the click.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4919472" y="1115568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Incorrect: call now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4800600" y="1481328"/>
            <a:ext cx="3429000" cy="11430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"/>
          <p:cNvSpPr/>
          <p:nvPr/>
        </p:nvSpPr>
        <p:spPr>
          <a:xfrm>
            <a:off x="4901184" y="1563624"/>
            <a:ext cx="322783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onClick={handleOpen()}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Open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4800600" y="2834640"/>
            <a:ext cx="3429000" cy="384048"/>
          </a:xfrm>
          <a:prstGeom prst="roundRect">
            <a:avLst>
              <a:gd fmla="val 19048" name="adj"/>
            </a:avLst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4983480" y="2953512"/>
            <a:ext cx="3063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function runs while JSX is being evaluated.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1371600" y="3977640"/>
            <a:ext cx="6309360" cy="429768"/>
          </a:xfrm>
          <a:prstGeom prst="roundRect">
            <a:avLst>
              <a:gd fmla="val 17021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>
            <a:off x="1572768" y="4114800"/>
            <a:ext cx="5897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Key distinction: handleOpen is the function; handleOpen() calls the function immediately.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Make the Escalate button respond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8"/>
          <p:cNvSpPr/>
          <p:nvPr/>
        </p:nvSpPr>
        <p:spPr>
          <a:xfrm>
            <a:off x="731520" y="914400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  src/components/TicketActions.tsx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777240" y="13533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Current button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777240" y="1645920"/>
            <a:ext cx="2148840" cy="932688"/>
          </a:xfrm>
          <a:prstGeom prst="roundRect">
            <a:avLst>
              <a:gd fmla="val 490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/>
          <p:nvPr/>
        </p:nvSpPr>
        <p:spPr>
          <a:xfrm>
            <a:off x="877824" y="1728216"/>
            <a:ext cx="1947672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Escalate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3291840" y="13533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Add a local handler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3291840" y="1645920"/>
            <a:ext cx="2606040" cy="932688"/>
          </a:xfrm>
          <a:prstGeom prst="roundRect">
            <a:avLst>
              <a:gd fmla="val 490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3392424" y="1728216"/>
            <a:ext cx="2404872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handleEscalateClick()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window.alert("Escalate clicked");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6263640" y="13533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Connect it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8"/>
          <p:cNvSpPr/>
          <p:nvPr/>
        </p:nvSpPr>
        <p:spPr>
          <a:xfrm>
            <a:off x="6263650" y="1645925"/>
            <a:ext cx="2697600" cy="1323300"/>
          </a:xfrm>
          <a:prstGeom prst="roundRect">
            <a:avLst>
              <a:gd fmla="val 490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6364225" y="1728225"/>
            <a:ext cx="2520300" cy="11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onClick={handleEscalateClick}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Escalate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731515" y="3520440"/>
            <a:ext cx="3063300" cy="493800"/>
          </a:xfrm>
          <a:prstGeom prst="roundRect">
            <a:avLst>
              <a:gd fmla="val 1481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914395" y="3694176"/>
            <a:ext cx="269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After click:  Escalate clicked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4297675" y="3456423"/>
            <a:ext cx="3794700" cy="834600"/>
          </a:xfrm>
          <a:prstGeom prst="roundRect">
            <a:avLst>
              <a:gd fmla="val 1066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"/>
          <p:cNvSpPr/>
          <p:nvPr/>
        </p:nvSpPr>
        <p:spPr>
          <a:xfrm>
            <a:off x="4489699" y="3593592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is still missing?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4489699" y="3858768"/>
            <a:ext cx="338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9"/>
              <a:buFont typeface="Arial"/>
              <a:buNone/>
            </a:pPr>
            <a:r>
              <a:rPr b="0" i="0" lang="en" sz="9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handler does not know which ticket was clicked and still lives inside the leaf button component.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8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When will this function run?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685800" y="1005840"/>
            <a:ext cx="3794760" cy="2423160"/>
          </a:xfrm>
          <a:prstGeom prst="roundRect">
            <a:avLst>
              <a:gd fmla="val 188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"/>
          <p:cNvSpPr/>
          <p:nvPr/>
        </p:nvSpPr>
        <p:spPr>
          <a:xfrm>
            <a:off x="786384" y="1088136"/>
            <a:ext cx="3593592" cy="2258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handleRefresh()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console.log("Refreshing report");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ReportToolbar()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&lt;button onClick={handleRefresh}&gt;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Refresh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&lt;/button&gt;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4663440" y="1005840"/>
            <a:ext cx="37490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handleRefresh runs while ReportToolbar is rendering.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Arial"/>
              <a:buNone/>
            </a:pPr>
            <a:r>
              <a:t/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TypeScript runs handleRefresh because it has no parameters.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Arial"/>
              <a:buNone/>
            </a:pPr>
            <a:r>
              <a:t/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The code must use onClick={handleRefresh()} for the click to work.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Arial"/>
              <a:buNone/>
            </a:pPr>
            <a:r>
              <a:t/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React receives handleRefresh and calls it after the user clicks the button.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React calls the supplied function after the click.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onClick={handleRefresh} supplies the function without executing it during render.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9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/>
          <p:nvPr/>
        </p:nvSpPr>
        <p:spPr>
          <a:xfrm>
            <a:off x="1280160" y="205740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1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Callback props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0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button can react, but who should own the workflow?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777240" y="987552"/>
            <a:ext cx="3520440" cy="804672"/>
          </a:xfrm>
          <a:prstGeom prst="roundRect">
            <a:avLst>
              <a:gd fmla="val 568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877824" y="1069848"/>
            <a:ext cx="33192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handleEscalateClick() {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window.alert("Escalate clicked");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4663440" y="987552"/>
            <a:ext cx="3383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proves the button responds to a click. But the workflow decision belongs elsewhere.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777240" y="2331720"/>
            <a:ext cx="3611880" cy="960120"/>
          </a:xfrm>
          <a:prstGeom prst="roundRect">
            <a:avLst>
              <a:gd fmla="val 761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960120" y="25328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960120" y="28346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Displays ticket actions and detects the Escalate click.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4663440" y="2331720"/>
            <a:ext cx="3611880" cy="960120"/>
          </a:xfrm>
          <a:prstGeom prst="roundRect">
            <a:avLst>
              <a:gd fmla="val 761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1"/>
          <p:cNvSpPr/>
          <p:nvPr/>
        </p:nvSpPr>
        <p:spPr>
          <a:xfrm>
            <a:off x="4846320" y="2532888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4846320" y="28346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Represents the wider support workflow and owns application-level escalation behaviour.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1143000" y="3986784"/>
            <a:ext cx="6720840" cy="420624"/>
          </a:xfrm>
          <a:prstGeom prst="roundRect">
            <a:avLst>
              <a:gd fmla="val 17391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1"/>
          <p:cNvSpPr/>
          <p:nvPr/>
        </p:nvSpPr>
        <p:spPr>
          <a:xfrm>
            <a:off x="1325880" y="4123944"/>
            <a:ext cx="6355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Question: How can a button inside TicketActions trigger behaviour defined in SupportDashboard?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1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Props can carry functions as well as data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2"/>
          <p:cNvSpPr/>
          <p:nvPr/>
        </p:nvSpPr>
        <p:spPr>
          <a:xfrm>
            <a:off x="1097280" y="104241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prop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2"/>
          <p:cNvSpPr/>
          <p:nvPr/>
        </p:nvSpPr>
        <p:spPr>
          <a:xfrm>
            <a:off x="777240" y="1417320"/>
            <a:ext cx="3611880" cy="1554480"/>
          </a:xfrm>
          <a:prstGeom prst="roundRect">
            <a:avLst>
              <a:gd fmla="val 294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2"/>
          <p:cNvSpPr/>
          <p:nvPr/>
        </p:nvSpPr>
        <p:spPr>
          <a:xfrm>
            <a:off x="877824" y="1499616"/>
            <a:ext cx="3410712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TicketLabelProps =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label: string;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&lt;TicketLabel label="High" 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5010912" y="104241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Callback prop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709160" y="1417320"/>
            <a:ext cx="3611880" cy="1554480"/>
          </a:xfrm>
          <a:prstGeom prst="roundRect">
            <a:avLst>
              <a:gd fmla="val 294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2"/>
          <p:cNvSpPr/>
          <p:nvPr/>
        </p:nvSpPr>
        <p:spPr>
          <a:xfrm>
            <a:off x="4809744" y="1499616"/>
            <a:ext cx="3410712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TicketActionsProps =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onEscalate: () =&gt; void;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&lt;TicketActions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onEscalate={handleEscalate}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2"/>
          <p:cNvSpPr/>
          <p:nvPr/>
        </p:nvSpPr>
        <p:spPr>
          <a:xfrm>
            <a:off x="960120" y="3611880"/>
            <a:ext cx="7178040" cy="640080"/>
          </a:xfrm>
          <a:prstGeom prst="roundRect">
            <a:avLst>
              <a:gd fmla="val 11429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2"/>
          <p:cNvSpPr/>
          <p:nvPr/>
        </p:nvSpPr>
        <p:spPr>
          <a:xfrm>
            <a:off x="1143000" y="3794760"/>
            <a:ext cx="6812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callback is a function supplied to other code so the receiving code can call it when needed.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2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describes the callback's function shape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822960" y="1024128"/>
            <a:ext cx="3246120" cy="502920"/>
          </a:xfrm>
          <a:prstGeom prst="roundRect">
            <a:avLst>
              <a:gd fmla="val 909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3"/>
          <p:cNvSpPr/>
          <p:nvPr/>
        </p:nvSpPr>
        <p:spPr>
          <a:xfrm>
            <a:off x="923544" y="1106424"/>
            <a:ext cx="30449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onEscalate: () =&gt; void;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822960" y="182880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3"/>
          <p:cNvSpPr/>
          <p:nvPr/>
        </p:nvSpPr>
        <p:spPr>
          <a:xfrm>
            <a:off x="896112" y="1901952"/>
            <a:ext cx="12710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 name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onEscalate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2514600" y="1828800"/>
            <a:ext cx="1234440" cy="640080"/>
          </a:xfrm>
          <a:prstGeom prst="roundRect">
            <a:avLst>
              <a:gd fmla="val 1142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3"/>
          <p:cNvSpPr/>
          <p:nvPr/>
        </p:nvSpPr>
        <p:spPr>
          <a:xfrm>
            <a:off x="2587752" y="1901952"/>
            <a:ext cx="108813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arguments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3"/>
          <p:cNvSpPr/>
          <p:nvPr/>
        </p:nvSpPr>
        <p:spPr>
          <a:xfrm>
            <a:off x="4023360" y="1828800"/>
            <a:ext cx="1280160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3"/>
          <p:cNvSpPr/>
          <p:nvPr/>
        </p:nvSpPr>
        <p:spPr>
          <a:xfrm>
            <a:off x="4096512" y="1901952"/>
            <a:ext cx="11338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return value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5806440" y="1005840"/>
            <a:ext cx="2514600" cy="1005840"/>
          </a:xfrm>
          <a:prstGeom prst="roundRect">
            <a:avLst>
              <a:gd fmla="val 454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3"/>
          <p:cNvSpPr/>
          <p:nvPr/>
        </p:nvSpPr>
        <p:spPr>
          <a:xfrm>
            <a:off x="5907024" y="1088136"/>
            <a:ext cx="231343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TicketActionsProps = 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onEscalate: () =&gt; void;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5806440" y="22860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void means the code using this callback does not rely on a returned value.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960120" y="3493008"/>
            <a:ext cx="4114800" cy="502920"/>
          </a:xfrm>
          <a:prstGeom prst="roundRect">
            <a:avLst>
              <a:gd fmla="val 909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3"/>
          <p:cNvSpPr/>
          <p:nvPr/>
        </p:nvSpPr>
        <p:spPr>
          <a:xfrm>
            <a:off x="1060704" y="3575304"/>
            <a:ext cx="391363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onMessage: (message: string) =&gt; void;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5486400" y="3493008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function itself can be the type of an object property.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3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parent supplies the callback; the child invokes it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4"/>
          <p:cNvSpPr/>
          <p:nvPr/>
        </p:nvSpPr>
        <p:spPr>
          <a:xfrm>
            <a:off x="777240" y="1005840"/>
            <a:ext cx="1920240" cy="621792"/>
          </a:xfrm>
          <a:prstGeom prst="roundRect">
            <a:avLst>
              <a:gd fmla="val 1176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832104" y="1078992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Parent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defines behaviour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777240" y="3182112"/>
            <a:ext cx="1920240" cy="621792"/>
          </a:xfrm>
          <a:prstGeom prst="roundRect">
            <a:avLst>
              <a:gd fmla="val 1176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4"/>
          <p:cNvSpPr/>
          <p:nvPr/>
        </p:nvSpPr>
        <p:spPr>
          <a:xfrm>
            <a:off x="832104" y="3255264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Child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receives callback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1737360" y="1627632"/>
            <a:ext cx="0" cy="1527048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p34"/>
          <p:cNvSpPr/>
          <p:nvPr/>
        </p:nvSpPr>
        <p:spPr>
          <a:xfrm>
            <a:off x="1207008" y="2244852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callback prop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4"/>
          <p:cNvSpPr/>
          <p:nvPr/>
        </p:nvSpPr>
        <p:spPr>
          <a:xfrm>
            <a:off x="3154680" y="987552"/>
            <a:ext cx="2743200" cy="475488"/>
          </a:xfrm>
          <a:prstGeom prst="roundRect">
            <a:avLst>
              <a:gd fmla="val 961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4"/>
          <p:cNvSpPr/>
          <p:nvPr/>
        </p:nvSpPr>
        <p:spPr>
          <a:xfrm>
            <a:off x="3255264" y="1069848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onEscalate={handleEscalate}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3154680" y="1920240"/>
            <a:ext cx="2743200" cy="475488"/>
          </a:xfrm>
          <a:prstGeom prst="roundRect">
            <a:avLst>
              <a:gd fmla="val 961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/>
          <p:nvPr/>
        </p:nvSpPr>
        <p:spPr>
          <a:xfrm>
            <a:off x="3255264" y="2002536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onEscalate: () =&gt; void;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3154680" y="2852928"/>
            <a:ext cx="2743200" cy="475488"/>
          </a:xfrm>
          <a:prstGeom prst="roundRect">
            <a:avLst>
              <a:gd fmla="val 961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4"/>
          <p:cNvSpPr/>
          <p:nvPr/>
        </p:nvSpPr>
        <p:spPr>
          <a:xfrm>
            <a:off x="3255264" y="2935224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onClick={onEscalate}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6263640" y="960120"/>
            <a:ext cx="2029968" cy="2395728"/>
          </a:xfrm>
          <a:prstGeom prst="roundRect">
            <a:avLst>
              <a:gd fmla="val 3604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6446520" y="11430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6446520" y="1444752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parent supplies the function. The child decides when to invoke it.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6446520" y="214884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callback prop still travels from parent to child.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/>
          <p:nvPr/>
        </p:nvSpPr>
        <p:spPr>
          <a:xfrm>
            <a:off x="6446520" y="281635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child does not directly access or modify the parent.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914400" y="4069080"/>
            <a:ext cx="7406640" cy="384048"/>
          </a:xfrm>
          <a:prstGeom prst="roundRect">
            <a:avLst>
              <a:gd fmla="val 19048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4"/>
          <p:cNvSpPr/>
          <p:nvPr/>
        </p:nvSpPr>
        <p:spPr>
          <a:xfrm>
            <a:off x="1115568" y="4187952"/>
            <a:ext cx="6995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10"/>
              <a:buFont typeface="Arial"/>
              <a:buNone/>
            </a:pPr>
            <a:r>
              <a:rPr b="1" i="0" lang="en" sz="10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Naming: handleEscalate is where behaviour is defined; onEscalate exposes that behaviour as a prop.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4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the ticket ID when the callback is invoked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777240" y="960120"/>
            <a:ext cx="3931920" cy="11430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5"/>
          <p:cNvSpPr/>
          <p:nvPr/>
        </p:nvSpPr>
        <p:spPr>
          <a:xfrm>
            <a:off x="877824" y="1042416"/>
            <a:ext cx="373075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TicketActionsProps = {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ticketId: string;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onEscalate: (ticketId: string) =&gt; void;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5212080" y="1033272"/>
            <a:ext cx="1371600" cy="566928"/>
          </a:xfrm>
          <a:prstGeom prst="roundRect">
            <a:avLst>
              <a:gd fmla="val 1290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5"/>
          <p:cNvSpPr/>
          <p:nvPr/>
        </p:nvSpPr>
        <p:spPr>
          <a:xfrm>
            <a:off x="5285232" y="1106424"/>
            <a:ext cx="122529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prop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5"/>
          <p:cNvSpPr/>
          <p:nvPr/>
        </p:nvSpPr>
        <p:spPr>
          <a:xfrm>
            <a:off x="6903720" y="1033272"/>
            <a:ext cx="1554480" cy="566928"/>
          </a:xfrm>
          <a:prstGeom prst="roundRect">
            <a:avLst>
              <a:gd fmla="val 1290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5"/>
          <p:cNvSpPr/>
          <p:nvPr/>
        </p:nvSpPr>
        <p:spPr>
          <a:xfrm>
            <a:off x="6976872" y="1106424"/>
            <a:ext cx="140817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onEscalate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callback prop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5"/>
          <p:cNvSpPr/>
          <p:nvPr/>
        </p:nvSpPr>
        <p:spPr>
          <a:xfrm>
            <a:off x="777240" y="2743200"/>
            <a:ext cx="3611880" cy="1371600"/>
          </a:xfrm>
          <a:prstGeom prst="roundRect">
            <a:avLst>
              <a:gd fmla="val 333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"/>
          <p:cNvSpPr/>
          <p:nvPr/>
        </p:nvSpPr>
        <p:spPr>
          <a:xfrm>
            <a:off x="877824" y="2825496"/>
            <a:ext cx="3410712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onClick={() =&gt;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onEscalate(ticketId)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Escalate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5"/>
          <p:cNvSpPr/>
          <p:nvPr/>
        </p:nvSpPr>
        <p:spPr>
          <a:xfrm>
            <a:off x="4800600" y="260604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 the arrow function?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4800600" y="2990088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receives the arrow function as the event handler. After the click, that function calls onEscalate(ticketId).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4800600" y="3840480"/>
            <a:ext cx="3337560" cy="438912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5"/>
          <p:cNvSpPr/>
          <p:nvPr/>
        </p:nvSpPr>
        <p:spPr>
          <a:xfrm>
            <a:off x="4983480" y="3977640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Expected argument:  "T-204"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5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Wire the callback through the existing component path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804672" y="1005840"/>
            <a:ext cx="1874520" cy="438912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859536" y="1078992"/>
            <a:ext cx="1764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804672" y="1755648"/>
            <a:ext cx="1874520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859536" y="1828800"/>
            <a:ext cx="1764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TicketQueue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804672" y="2505456"/>
            <a:ext cx="1874520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859536" y="2578608"/>
            <a:ext cx="1764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TicketRow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804672" y="3255264"/>
            <a:ext cx="1874520" cy="438912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6"/>
          <p:cNvSpPr/>
          <p:nvPr/>
        </p:nvSpPr>
        <p:spPr>
          <a:xfrm>
            <a:off x="859536" y="3328416"/>
            <a:ext cx="1764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36"/>
          <p:cNvCxnSpPr/>
          <p:nvPr/>
        </p:nvCxnSpPr>
        <p:spPr>
          <a:xfrm>
            <a:off x="1737360" y="1444752"/>
            <a:ext cx="0" cy="292608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p36"/>
          <p:cNvSpPr/>
          <p:nvPr/>
        </p:nvSpPr>
        <p:spPr>
          <a:xfrm>
            <a:off x="1207008" y="1444752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onEscalate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36"/>
          <p:cNvCxnSpPr/>
          <p:nvPr/>
        </p:nvCxnSpPr>
        <p:spPr>
          <a:xfrm>
            <a:off x="1737360" y="2194560"/>
            <a:ext cx="0" cy="292608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6" name="Google Shape;396;p36"/>
          <p:cNvSpPr/>
          <p:nvPr/>
        </p:nvSpPr>
        <p:spPr>
          <a:xfrm>
            <a:off x="1207008" y="2194560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onEscalate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36"/>
          <p:cNvCxnSpPr/>
          <p:nvPr/>
        </p:nvCxnSpPr>
        <p:spPr>
          <a:xfrm>
            <a:off x="1737360" y="2944368"/>
            <a:ext cx="0" cy="292608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8" name="Google Shape;398;p36"/>
          <p:cNvSpPr/>
          <p:nvPr/>
        </p:nvSpPr>
        <p:spPr>
          <a:xfrm>
            <a:off x="1207008" y="2944368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onEscalate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3063240" y="96012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Live-coding roadmap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3063240" y="1371600"/>
            <a:ext cx="2651760" cy="438912"/>
          </a:xfrm>
          <a:prstGeom prst="roundRect">
            <a:avLst>
              <a:gd fmla="val 1041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6"/>
          <p:cNvSpPr/>
          <p:nvPr/>
        </p:nvSpPr>
        <p:spPr>
          <a:xfrm>
            <a:off x="3163824" y="1453896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onEscalate={handleEscalate}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5989320" y="146304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Parent supplies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3063240" y="2194560"/>
            <a:ext cx="2651760" cy="438912"/>
          </a:xfrm>
          <a:prstGeom prst="roundRect">
            <a:avLst>
              <a:gd fmla="val 1041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6"/>
          <p:cNvSpPr/>
          <p:nvPr/>
        </p:nvSpPr>
        <p:spPr>
          <a:xfrm>
            <a:off x="3163824" y="2276856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ourier New"/>
              <a:buNone/>
            </a:pPr>
            <a:r>
              <a:rPr b="0" i="0" lang="en" sz="10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onEscalate={onEscalate}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5989320" y="228600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Middle forwards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3063240" y="3017520"/>
            <a:ext cx="3291840" cy="438912"/>
          </a:xfrm>
          <a:prstGeom prst="roundRect">
            <a:avLst>
              <a:gd fmla="val 1041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6"/>
          <p:cNvSpPr/>
          <p:nvPr/>
        </p:nvSpPr>
        <p:spPr>
          <a:xfrm>
            <a:off x="3163824" y="3099816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onClick={() =&gt; onEscalate(ticketId)}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6629400" y="3108960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Leaf invokes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841248" y="4096512"/>
            <a:ext cx="7388352" cy="420624"/>
          </a:xfrm>
          <a:prstGeom prst="roundRect">
            <a:avLst>
              <a:gd fmla="val 17391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1051560" y="4224528"/>
            <a:ext cx="69037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makes each component boundary describe a compatible onEscalate callback contract.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6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7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Test the complete callback flow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868680" y="1051560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7"/>
          <p:cNvSpPr/>
          <p:nvPr/>
        </p:nvSpPr>
        <p:spPr>
          <a:xfrm>
            <a:off x="923544" y="1124712"/>
            <a:ext cx="1399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User clicks T-204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2743200" y="1051560"/>
            <a:ext cx="1554480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7"/>
          <p:cNvSpPr/>
          <p:nvPr/>
        </p:nvSpPr>
        <p:spPr>
          <a:xfrm>
            <a:off x="2798064" y="1124712"/>
            <a:ext cx="1444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runs handler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7"/>
          <p:cNvSpPr/>
          <p:nvPr/>
        </p:nvSpPr>
        <p:spPr>
          <a:xfrm>
            <a:off x="4681728" y="932688"/>
            <a:ext cx="1965960" cy="658368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7"/>
          <p:cNvSpPr/>
          <p:nvPr/>
        </p:nvSpPr>
        <p:spPr>
          <a:xfrm>
            <a:off x="4736592" y="1005840"/>
            <a:ext cx="18562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 calls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onEscalate("T-204")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7"/>
          <p:cNvSpPr/>
          <p:nvPr/>
        </p:nvSpPr>
        <p:spPr>
          <a:xfrm>
            <a:off x="7086600" y="932688"/>
            <a:ext cx="1554480" cy="658368"/>
          </a:xfrm>
          <a:prstGeom prst="roundRect">
            <a:avLst>
              <a:gd fmla="val 1111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7"/>
          <p:cNvSpPr/>
          <p:nvPr/>
        </p:nvSpPr>
        <p:spPr>
          <a:xfrm>
            <a:off x="7141464" y="1005840"/>
            <a:ext cx="1444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receives ID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p37"/>
          <p:cNvCxnSpPr/>
          <p:nvPr/>
        </p:nvCxnSpPr>
        <p:spPr>
          <a:xfrm>
            <a:off x="2377440" y="1271016"/>
            <a:ext cx="347472" cy="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37"/>
          <p:cNvCxnSpPr/>
          <p:nvPr/>
        </p:nvCxnSpPr>
        <p:spPr>
          <a:xfrm>
            <a:off x="4297680" y="1271016"/>
            <a:ext cx="365760" cy="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8" name="Google Shape;428;p37"/>
          <p:cNvCxnSpPr/>
          <p:nvPr/>
        </p:nvCxnSpPr>
        <p:spPr>
          <a:xfrm>
            <a:off x="6656832" y="1271016"/>
            <a:ext cx="411480" cy="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9" name="Google Shape;429;p37"/>
          <p:cNvSpPr/>
          <p:nvPr/>
        </p:nvSpPr>
        <p:spPr>
          <a:xfrm>
            <a:off x="868680" y="2148840"/>
            <a:ext cx="3291840" cy="685800"/>
          </a:xfrm>
          <a:prstGeom prst="roundRect">
            <a:avLst>
              <a:gd fmla="val 10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7"/>
          <p:cNvSpPr/>
          <p:nvPr/>
        </p:nvSpPr>
        <p:spPr>
          <a:xfrm>
            <a:off x="1051560" y="230428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T-204 result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7"/>
          <p:cNvSpPr/>
          <p:nvPr/>
        </p:nvSpPr>
        <p:spPr>
          <a:xfrm>
            <a:off x="1051560" y="25786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Escalation requested for T-204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7"/>
          <p:cNvSpPr/>
          <p:nvPr/>
        </p:nvSpPr>
        <p:spPr>
          <a:xfrm>
            <a:off x="4572000" y="2148840"/>
            <a:ext cx="3291840" cy="685800"/>
          </a:xfrm>
          <a:prstGeom prst="roundRect">
            <a:avLst>
              <a:gd fmla="val 10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7"/>
          <p:cNvSpPr/>
          <p:nvPr/>
        </p:nvSpPr>
        <p:spPr>
          <a:xfrm>
            <a:off x="4754880" y="230428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T-318 result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4754880" y="25786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Escalation requested for T-318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1079000" y="3703326"/>
            <a:ext cx="6995100" cy="658200"/>
          </a:xfrm>
          <a:prstGeom prst="roundRect">
            <a:avLst>
              <a:gd fmla="val 12903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"/>
          <p:cNvSpPr/>
          <p:nvPr/>
        </p:nvSpPr>
        <p:spPr>
          <a:xfrm>
            <a:off x="1280160" y="3895344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Responsibility check: TicketActions knows when and which ticket; SupportDashboard owns what the application does.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7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Who defines, supplies, and invokes the callback?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777240" y="906099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Study the four pieces of evidence.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777240" y="1143843"/>
            <a:ext cx="3703200" cy="4116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8"/>
          <p:cNvSpPr/>
          <p:nvPr/>
        </p:nvSpPr>
        <p:spPr>
          <a:xfrm>
            <a:off x="877824" y="1226139"/>
            <a:ext cx="350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onDownload: (fileId: string) =&gt; void;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777240" y="1747347"/>
            <a:ext cx="3703200" cy="4116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8"/>
          <p:cNvSpPr/>
          <p:nvPr/>
        </p:nvSpPr>
        <p:spPr>
          <a:xfrm>
            <a:off x="877824" y="1829643"/>
            <a:ext cx="350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onClick={() =&gt; onDownload(fileId)}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777240" y="2350851"/>
            <a:ext cx="3703200" cy="4116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8"/>
          <p:cNvSpPr/>
          <p:nvPr/>
        </p:nvSpPr>
        <p:spPr>
          <a:xfrm>
            <a:off x="877824" y="2433147"/>
            <a:ext cx="350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handleDownload(fileId: string) { ... 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777240" y="2954355"/>
            <a:ext cx="3703200" cy="411600"/>
          </a:xfrm>
          <a:prstGeom prst="roundRect">
            <a:avLst>
              <a:gd fmla="val 1111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8"/>
          <p:cNvSpPr/>
          <p:nvPr/>
        </p:nvSpPr>
        <p:spPr>
          <a:xfrm>
            <a:off x="877824" y="3036651"/>
            <a:ext cx="3502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onDownload={handleDownload}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4663440" y="1088979"/>
            <a:ext cx="3703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The child defines the handler and the parent invokes it.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The parent defines the behaviour, supplies it through onDownload, and the child invokes it with fileId.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onDownload sends the child component back to the parent.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TypeScript automatically runs handleDownload because the argument type is string.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8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Parent supplies; child invokes with fileId.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parent owns handleDownload and passes it through onDownload; the child calls it after the click.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8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9"/>
          <p:cNvSpPr/>
          <p:nvPr/>
        </p:nvSpPr>
        <p:spPr>
          <a:xfrm>
            <a:off x="1280160" y="205740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1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 drilling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9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0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handler and the button are several components apart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4504015" y="960120"/>
            <a:ext cx="2148900" cy="621900"/>
          </a:xfrm>
          <a:prstGeom prst="roundRect">
            <a:avLst>
              <a:gd fmla="val 1176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0"/>
          <p:cNvSpPr/>
          <p:nvPr/>
        </p:nvSpPr>
        <p:spPr>
          <a:xfrm>
            <a:off x="4558879" y="1033272"/>
            <a:ext cx="203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behaviour owner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0"/>
          <p:cNvSpPr/>
          <p:nvPr/>
        </p:nvSpPr>
        <p:spPr>
          <a:xfrm>
            <a:off x="4504015" y="1874520"/>
            <a:ext cx="2148900" cy="621900"/>
          </a:xfrm>
          <a:prstGeom prst="roundRect">
            <a:avLst>
              <a:gd fmla="val 1176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0"/>
          <p:cNvSpPr/>
          <p:nvPr/>
        </p:nvSpPr>
        <p:spPr>
          <a:xfrm>
            <a:off x="4558879" y="1947672"/>
            <a:ext cx="203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TicketQueue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intermediate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0"/>
          <p:cNvSpPr/>
          <p:nvPr/>
        </p:nvSpPr>
        <p:spPr>
          <a:xfrm>
            <a:off x="4504015" y="2788920"/>
            <a:ext cx="2148900" cy="621900"/>
          </a:xfrm>
          <a:prstGeom prst="roundRect">
            <a:avLst>
              <a:gd fmla="val 1176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0"/>
          <p:cNvSpPr/>
          <p:nvPr/>
        </p:nvSpPr>
        <p:spPr>
          <a:xfrm>
            <a:off x="4558879" y="2862072"/>
            <a:ext cx="203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TicketRow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intermediate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4504015" y="3703320"/>
            <a:ext cx="2148900" cy="621900"/>
          </a:xfrm>
          <a:prstGeom prst="roundRect">
            <a:avLst>
              <a:gd fmla="val 1176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0"/>
          <p:cNvSpPr/>
          <p:nvPr/>
        </p:nvSpPr>
        <p:spPr>
          <a:xfrm>
            <a:off x="4558879" y="3776472"/>
            <a:ext cx="203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callback invoked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40"/>
          <p:cNvCxnSpPr/>
          <p:nvPr/>
        </p:nvCxnSpPr>
        <p:spPr>
          <a:xfrm>
            <a:off x="5573863" y="1581912"/>
            <a:ext cx="0" cy="26520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p40"/>
          <p:cNvCxnSpPr/>
          <p:nvPr/>
        </p:nvCxnSpPr>
        <p:spPr>
          <a:xfrm>
            <a:off x="5573863" y="2496312"/>
            <a:ext cx="0" cy="26520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40"/>
          <p:cNvCxnSpPr/>
          <p:nvPr/>
        </p:nvCxnSpPr>
        <p:spPr>
          <a:xfrm>
            <a:off x="5573863" y="3410712"/>
            <a:ext cx="0" cy="26520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1" name="Google Shape;481;p40"/>
          <p:cNvSpPr/>
          <p:nvPr/>
        </p:nvSpPr>
        <p:spPr>
          <a:xfrm>
            <a:off x="777250" y="1097275"/>
            <a:ext cx="26490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working callback crosses this tree.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777252" y="1554475"/>
            <a:ext cx="29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TicketQueue and TicketRow sit between the component that owns the behaviour and the component that invokes it.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0"/>
          <p:cNvSpPr/>
          <p:nvPr/>
        </p:nvSpPr>
        <p:spPr>
          <a:xfrm>
            <a:off x="777250" y="3218705"/>
            <a:ext cx="2423100" cy="813000"/>
          </a:xfrm>
          <a:prstGeom prst="roundRect">
            <a:avLst>
              <a:gd fmla="val 12903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0"/>
          <p:cNvSpPr/>
          <p:nvPr/>
        </p:nvSpPr>
        <p:spPr>
          <a:xfrm>
            <a:off x="960120" y="3383280"/>
            <a:ext cx="20574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Question: what are the middle components doing with onEscalate?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0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1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 drilling passes a prop through intermediate components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1"/>
          <p:cNvSpPr/>
          <p:nvPr/>
        </p:nvSpPr>
        <p:spPr>
          <a:xfrm>
            <a:off x="3493008" y="914400"/>
            <a:ext cx="2157984" cy="438912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1"/>
          <p:cNvSpPr/>
          <p:nvPr/>
        </p:nvSpPr>
        <p:spPr>
          <a:xfrm>
            <a:off x="3547872" y="987552"/>
            <a:ext cx="2048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3493008" y="1691640"/>
            <a:ext cx="2157984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1"/>
          <p:cNvSpPr/>
          <p:nvPr/>
        </p:nvSpPr>
        <p:spPr>
          <a:xfrm>
            <a:off x="3547872" y="1764792"/>
            <a:ext cx="2048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TicketQueue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1"/>
          <p:cNvSpPr/>
          <p:nvPr/>
        </p:nvSpPr>
        <p:spPr>
          <a:xfrm>
            <a:off x="3493008" y="2468880"/>
            <a:ext cx="2157984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1"/>
          <p:cNvSpPr/>
          <p:nvPr/>
        </p:nvSpPr>
        <p:spPr>
          <a:xfrm>
            <a:off x="3547872" y="2542032"/>
            <a:ext cx="2048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TicketRow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1"/>
          <p:cNvSpPr/>
          <p:nvPr/>
        </p:nvSpPr>
        <p:spPr>
          <a:xfrm>
            <a:off x="3493008" y="3246120"/>
            <a:ext cx="2157984" cy="438912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1"/>
          <p:cNvSpPr/>
          <p:nvPr/>
        </p:nvSpPr>
        <p:spPr>
          <a:xfrm>
            <a:off x="3547872" y="3319272"/>
            <a:ext cx="2048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p41"/>
          <p:cNvCxnSpPr/>
          <p:nvPr/>
        </p:nvCxnSpPr>
        <p:spPr>
          <a:xfrm>
            <a:off x="4572000" y="1353312"/>
            <a:ext cx="0" cy="310896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1" name="Google Shape;501;p41"/>
          <p:cNvSpPr/>
          <p:nvPr/>
        </p:nvSpPr>
        <p:spPr>
          <a:xfrm>
            <a:off x="4041648" y="1362456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onEscalate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p41"/>
          <p:cNvCxnSpPr/>
          <p:nvPr/>
        </p:nvCxnSpPr>
        <p:spPr>
          <a:xfrm>
            <a:off x="4572000" y="2130552"/>
            <a:ext cx="0" cy="310896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3" name="Google Shape;503;p41"/>
          <p:cNvSpPr/>
          <p:nvPr/>
        </p:nvSpPr>
        <p:spPr>
          <a:xfrm>
            <a:off x="4041648" y="2139696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onEscalate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4" name="Google Shape;504;p41"/>
          <p:cNvCxnSpPr/>
          <p:nvPr/>
        </p:nvCxnSpPr>
        <p:spPr>
          <a:xfrm>
            <a:off x="4572000" y="2907792"/>
            <a:ext cx="0" cy="310896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5" name="Google Shape;505;p41"/>
          <p:cNvSpPr/>
          <p:nvPr/>
        </p:nvSpPr>
        <p:spPr>
          <a:xfrm>
            <a:off x="4041648" y="2916936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onEscalate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749800" y="960126"/>
            <a:ext cx="2514600" cy="1266300"/>
          </a:xfrm>
          <a:prstGeom prst="roundRect">
            <a:avLst>
              <a:gd fmla="val 695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1"/>
          <p:cNvSpPr/>
          <p:nvPr/>
        </p:nvSpPr>
        <p:spPr>
          <a:xfrm>
            <a:off x="932688" y="111556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1"/>
          <p:cNvSpPr/>
          <p:nvPr/>
        </p:nvSpPr>
        <p:spPr>
          <a:xfrm>
            <a:off x="932688" y="1389888"/>
            <a:ext cx="2148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 drilling occurs when a prop is passed through intermediate components so that a deeper descendant can receive it.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1"/>
          <p:cNvSpPr/>
          <p:nvPr/>
        </p:nvSpPr>
        <p:spPr>
          <a:xfrm>
            <a:off x="6053325" y="960126"/>
            <a:ext cx="2286000" cy="1266300"/>
          </a:xfrm>
          <a:prstGeom prst="roundRect">
            <a:avLst>
              <a:gd fmla="val 695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1"/>
          <p:cNvSpPr/>
          <p:nvPr/>
        </p:nvSpPr>
        <p:spPr>
          <a:xfrm>
            <a:off x="6236208" y="111556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Important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1"/>
          <p:cNvSpPr/>
          <p:nvPr/>
        </p:nvSpPr>
        <p:spPr>
          <a:xfrm>
            <a:off x="6236208" y="1389888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Nesting alone is not prop drilling. The same prop must be forwarded through middle components.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1"/>
          <p:cNvSpPr/>
          <p:nvPr/>
        </p:nvSpPr>
        <p:spPr>
          <a:xfrm>
            <a:off x="1115568" y="4114800"/>
            <a:ext cx="6812280" cy="384048"/>
          </a:xfrm>
          <a:prstGeom prst="roundRect">
            <a:avLst>
              <a:gd fmla="val 19048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1"/>
          <p:cNvSpPr/>
          <p:nvPr/>
        </p:nvSpPr>
        <p:spPr>
          <a:xfrm>
            <a:off x="1316736" y="4233672"/>
            <a:ext cx="6400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is still ordinary parent-to-child prop passing. The path is just longer.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1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2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Intermediate components receive and forward the callback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822960" y="96926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TicketQueue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2"/>
          <p:cNvSpPr/>
          <p:nvPr/>
        </p:nvSpPr>
        <p:spPr>
          <a:xfrm>
            <a:off x="777240" y="1298448"/>
            <a:ext cx="3703320" cy="1737360"/>
          </a:xfrm>
          <a:prstGeom prst="roundRect">
            <a:avLst>
              <a:gd fmla="val 263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2"/>
          <p:cNvSpPr/>
          <p:nvPr/>
        </p:nvSpPr>
        <p:spPr>
          <a:xfrm>
            <a:off x="877824" y="1380744"/>
            <a:ext cx="3502152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onEscalate: (ticketId: string) =&gt; void;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&lt;TicketRow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ticket={paymentTicket}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onEscalate={onEscalate}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2"/>
          <p:cNvSpPr/>
          <p:nvPr/>
        </p:nvSpPr>
        <p:spPr>
          <a:xfrm>
            <a:off x="4754880" y="96926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TicketRow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2"/>
          <p:cNvSpPr/>
          <p:nvPr/>
        </p:nvSpPr>
        <p:spPr>
          <a:xfrm>
            <a:off x="4709160" y="1298448"/>
            <a:ext cx="3703320" cy="1737360"/>
          </a:xfrm>
          <a:prstGeom prst="roundRect">
            <a:avLst>
              <a:gd fmla="val 263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2"/>
          <p:cNvSpPr/>
          <p:nvPr/>
        </p:nvSpPr>
        <p:spPr>
          <a:xfrm>
            <a:off x="4809744" y="1380744"/>
            <a:ext cx="3502152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onEscalate: (ticketId: string) =&gt; void;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&lt;TicketActions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ticketId={ticket.id}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onEscalate={onEscalate}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2"/>
          <p:cNvSpPr/>
          <p:nvPr/>
        </p:nvSpPr>
        <p:spPr>
          <a:xfrm>
            <a:off x="1143000" y="3767328"/>
            <a:ext cx="6858000" cy="502920"/>
          </a:xfrm>
          <a:prstGeom prst="roundRect">
            <a:avLst>
              <a:gd fmla="val 1454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2"/>
          <p:cNvSpPr/>
          <p:nvPr/>
        </p:nvSpPr>
        <p:spPr>
          <a:xfrm>
            <a:off x="1353312" y="3931920"/>
            <a:ext cx="6446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Both middle components forward onEscalate. Neither invokes it; TicketActions does.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2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3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 drilling becomes harder to maintain as forwarding grows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3"/>
          <p:cNvSpPr/>
          <p:nvPr/>
        </p:nvSpPr>
        <p:spPr>
          <a:xfrm>
            <a:off x="822960" y="1024971"/>
            <a:ext cx="4983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5"/>
              <a:buFont typeface="Arial"/>
              <a:buChar char="•"/>
            </a:pPr>
            <a:r>
              <a:rPr b="0" i="0" lang="en" sz="106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Intermediate prop types grow even when components do not use the prop themselves.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3"/>
          <p:cNvSpPr/>
          <p:nvPr/>
        </p:nvSpPr>
        <p:spPr>
          <a:xfrm>
            <a:off x="1024128" y="1317579"/>
            <a:ext cx="4782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14"/>
              <a:buFont typeface="Arial"/>
              <a:buChar char="◦"/>
            </a:pPr>
            <a:r>
              <a:rPr b="0" i="0" lang="en" sz="101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TicketQueue and TicketRow accept onEscalate only so a deeper component can receive it.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822960" y="1582755"/>
            <a:ext cx="4983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5"/>
              <a:buFont typeface="Arial"/>
              <a:buChar char="•"/>
            </a:pPr>
            <a:r>
              <a:rPr b="0" i="0" lang="en" sz="106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Changing the callback contract can touch several layers.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3"/>
          <p:cNvSpPr/>
          <p:nvPr/>
        </p:nvSpPr>
        <p:spPr>
          <a:xfrm>
            <a:off x="1024128" y="1875363"/>
            <a:ext cx="4782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14"/>
              <a:buFont typeface="Arial"/>
              <a:buChar char="◦"/>
            </a:pPr>
            <a:r>
              <a:rPr b="0" i="0" lang="en" sz="101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Each forwarding type and JSX use may need checking.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822960" y="2140539"/>
            <a:ext cx="4983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5"/>
              <a:buFont typeface="Arial"/>
              <a:buChar char="•"/>
            </a:pPr>
            <a:r>
              <a:rPr b="0" i="0" lang="en" sz="106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Debugging requires tracing the entire forwarding path.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3"/>
          <p:cNvSpPr/>
          <p:nvPr/>
        </p:nvSpPr>
        <p:spPr>
          <a:xfrm>
            <a:off x="1024128" y="2433147"/>
            <a:ext cx="4782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14"/>
              <a:buFont typeface="Arial"/>
              <a:buChar char="◦"/>
            </a:pPr>
            <a:r>
              <a:rPr b="0" i="0" lang="en" sz="101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missing prop at a middle layer stops the deeper component from receiving it.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6309360" y="1115568"/>
            <a:ext cx="1691640" cy="411480"/>
          </a:xfrm>
          <a:prstGeom prst="roundRect">
            <a:avLst>
              <a:gd fmla="val 17778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3"/>
          <p:cNvSpPr/>
          <p:nvPr/>
        </p:nvSpPr>
        <p:spPr>
          <a:xfrm>
            <a:off x="6364224" y="1188720"/>
            <a:ext cx="158191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6309360" y="1847088"/>
            <a:ext cx="1691640" cy="411480"/>
          </a:xfrm>
          <a:prstGeom prst="roundRect">
            <a:avLst>
              <a:gd fmla="val 17778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3"/>
          <p:cNvSpPr/>
          <p:nvPr/>
        </p:nvSpPr>
        <p:spPr>
          <a:xfrm>
            <a:off x="6364224" y="1920240"/>
            <a:ext cx="158191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TicketQueue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6309360" y="2578608"/>
            <a:ext cx="1691640" cy="411480"/>
          </a:xfrm>
          <a:prstGeom prst="roundRect">
            <a:avLst>
              <a:gd fmla="val 17778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6364224" y="2651760"/>
            <a:ext cx="158191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TicketRow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3"/>
          <p:cNvSpPr/>
          <p:nvPr/>
        </p:nvSpPr>
        <p:spPr>
          <a:xfrm>
            <a:off x="6309360" y="3310128"/>
            <a:ext cx="1691640" cy="411480"/>
          </a:xfrm>
          <a:prstGeom prst="roundRect">
            <a:avLst>
              <a:gd fmla="val 17778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3"/>
          <p:cNvSpPr/>
          <p:nvPr/>
        </p:nvSpPr>
        <p:spPr>
          <a:xfrm>
            <a:off x="6364224" y="3383280"/>
            <a:ext cx="158191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43"/>
          <p:cNvCxnSpPr/>
          <p:nvPr/>
        </p:nvCxnSpPr>
        <p:spPr>
          <a:xfrm>
            <a:off x="7150608" y="1527048"/>
            <a:ext cx="0" cy="301752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43"/>
          <p:cNvCxnSpPr/>
          <p:nvPr/>
        </p:nvCxnSpPr>
        <p:spPr>
          <a:xfrm>
            <a:off x="7150608" y="2258568"/>
            <a:ext cx="0" cy="301752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43"/>
          <p:cNvCxnSpPr/>
          <p:nvPr/>
        </p:nvCxnSpPr>
        <p:spPr>
          <a:xfrm>
            <a:off x="7150608" y="2990088"/>
            <a:ext cx="0" cy="301752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3" name="Google Shape;553;p43"/>
          <p:cNvSpPr/>
          <p:nvPr/>
        </p:nvSpPr>
        <p:spPr>
          <a:xfrm>
            <a:off x="822960" y="4114800"/>
            <a:ext cx="7360920" cy="384048"/>
          </a:xfrm>
          <a:prstGeom prst="roundRect">
            <a:avLst>
              <a:gd fmla="val 19048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3"/>
          <p:cNvSpPr/>
          <p:nvPr/>
        </p:nvSpPr>
        <p:spPr>
          <a:xfrm>
            <a:off x="1024128" y="4233672"/>
            <a:ext cx="6949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 drilling is not automatically wrong. The concern is the growing dependency path.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3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Where did the callback chain break?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4"/>
          <p:cNvSpPr/>
          <p:nvPr/>
        </p:nvSpPr>
        <p:spPr>
          <a:xfrm>
            <a:off x="777240" y="93268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777240" y="1188720"/>
            <a:ext cx="2423160" cy="658368"/>
          </a:xfrm>
          <a:prstGeom prst="roundRect">
            <a:avLst>
              <a:gd fmla="val 694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4"/>
          <p:cNvSpPr/>
          <p:nvPr/>
        </p:nvSpPr>
        <p:spPr>
          <a:xfrm>
            <a:off x="877824" y="1271016"/>
            <a:ext cx="22219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&lt;ReportToolbar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onExport={handleExport}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4"/>
          <p:cNvSpPr/>
          <p:nvPr/>
        </p:nvSpPr>
        <p:spPr>
          <a:xfrm>
            <a:off x="3383280" y="93268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Broken middle layer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4"/>
          <p:cNvSpPr/>
          <p:nvPr/>
        </p:nvSpPr>
        <p:spPr>
          <a:xfrm>
            <a:off x="3383280" y="1188720"/>
            <a:ext cx="2423160" cy="658368"/>
          </a:xfrm>
          <a:prstGeom prst="roundRect">
            <a:avLst>
              <a:gd fmla="val 694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4"/>
          <p:cNvSpPr/>
          <p:nvPr/>
        </p:nvSpPr>
        <p:spPr>
          <a:xfrm>
            <a:off x="3483864" y="1271016"/>
            <a:ext cx="22219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&lt;ExportButton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reportId="R-88"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4"/>
          <p:cNvSpPr/>
          <p:nvPr/>
        </p:nvSpPr>
        <p:spPr>
          <a:xfrm>
            <a:off x="5989320" y="93268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Expected consumer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4"/>
          <p:cNvSpPr/>
          <p:nvPr/>
        </p:nvSpPr>
        <p:spPr>
          <a:xfrm>
            <a:off x="5989320" y="1188720"/>
            <a:ext cx="2423160" cy="658368"/>
          </a:xfrm>
          <a:prstGeom prst="roundRect">
            <a:avLst>
              <a:gd fmla="val 694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4"/>
          <p:cNvSpPr/>
          <p:nvPr/>
        </p:nvSpPr>
        <p:spPr>
          <a:xfrm>
            <a:off x="6089904" y="1271016"/>
            <a:ext cx="22219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onExport: 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reportId: string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=&gt; void;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4"/>
          <p:cNvSpPr/>
          <p:nvPr/>
        </p:nvSpPr>
        <p:spPr>
          <a:xfrm>
            <a:off x="868680" y="2578608"/>
            <a:ext cx="7406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Remove onExport from ReportToolbar.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Change reportId to a number.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Pass onExport={onExport} from ReportToolbar to ExportButton.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Call handleExport() while ReportToolbar renders.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4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ReportToolbar must forward onExport.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 receives the callback but never passes it to ExportButton, so the chain stops.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4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5"/>
          <p:cNvSpPr/>
          <p:nvPr/>
        </p:nvSpPr>
        <p:spPr>
          <a:xfrm>
            <a:off x="1280160" y="205740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1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Lifting state up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5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6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Components sometimes need to remember changing information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6"/>
          <p:cNvSpPr/>
          <p:nvPr/>
        </p:nvSpPr>
        <p:spPr>
          <a:xfrm>
            <a:off x="777240" y="960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State: </a:t>
            </a: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component-specific information that React can remember as it changes over time.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6"/>
          <p:cNvSpPr/>
          <p:nvPr/>
        </p:nvSpPr>
        <p:spPr>
          <a:xfrm>
            <a:off x="868680" y="1645920"/>
            <a:ext cx="3474720" cy="1143000"/>
          </a:xfrm>
          <a:prstGeom prst="roundRect">
            <a:avLst>
              <a:gd fmla="val 64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6"/>
          <p:cNvSpPr/>
          <p:nvPr/>
        </p:nvSpPr>
        <p:spPr>
          <a:xfrm>
            <a:off x="1097280" y="182880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6"/>
          <p:cNvSpPr/>
          <p:nvPr/>
        </p:nvSpPr>
        <p:spPr>
          <a:xfrm>
            <a:off x="1097280" y="2176272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Information supplied to a component by its parent.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6"/>
          <p:cNvSpPr/>
          <p:nvPr/>
        </p:nvSpPr>
        <p:spPr>
          <a:xfrm>
            <a:off x="4754880" y="1645920"/>
            <a:ext cx="3474720" cy="1143000"/>
          </a:xfrm>
          <a:prstGeom prst="roundRect">
            <a:avLst>
              <a:gd fmla="val 64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6"/>
          <p:cNvSpPr/>
          <p:nvPr/>
        </p:nvSpPr>
        <p:spPr>
          <a:xfrm>
            <a:off x="4983480" y="182880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6"/>
          <p:cNvSpPr/>
          <p:nvPr/>
        </p:nvSpPr>
        <p:spPr>
          <a:xfrm>
            <a:off x="4983480" y="2176272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Changing information owned and remembered by a component.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6"/>
          <p:cNvSpPr/>
          <p:nvPr/>
        </p:nvSpPr>
        <p:spPr>
          <a:xfrm>
            <a:off x="1097280" y="32461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which FAQ item is open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which tab is selected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which item is currently active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6"/>
          <p:cNvSpPr/>
          <p:nvPr/>
        </p:nvSpPr>
        <p:spPr>
          <a:xfrm>
            <a:off x="4754875" y="3218703"/>
            <a:ext cx="3474600" cy="910200"/>
          </a:xfrm>
          <a:prstGeom prst="roundRect">
            <a:avLst>
              <a:gd fmla="val 10256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6"/>
          <p:cNvSpPr/>
          <p:nvPr/>
        </p:nvSpPr>
        <p:spPr>
          <a:xfrm>
            <a:off x="4956050" y="3410687"/>
            <a:ext cx="3063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Today: decide where changing information belongs. </a:t>
            </a:r>
            <a:endParaRPr b="1" i="0" sz="104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 lecture: useState (hooks) stores and updates it.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6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7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Sibling components need a shared owner when they must coordinate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7"/>
          <p:cNvSpPr/>
          <p:nvPr/>
        </p:nvSpPr>
        <p:spPr>
          <a:xfrm>
            <a:off x="3657600" y="1143000"/>
            <a:ext cx="1828800" cy="457200"/>
          </a:xfrm>
          <a:prstGeom prst="roundRect">
            <a:avLst>
              <a:gd fmla="val 160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7"/>
          <p:cNvSpPr/>
          <p:nvPr/>
        </p:nvSpPr>
        <p:spPr>
          <a:xfrm>
            <a:off x="3712464" y="1216152"/>
            <a:ext cx="1719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FaqList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7"/>
          <p:cNvSpPr/>
          <p:nvPr/>
        </p:nvSpPr>
        <p:spPr>
          <a:xfrm>
            <a:off x="2103120" y="2560320"/>
            <a:ext cx="1600200" cy="621792"/>
          </a:xfrm>
          <a:prstGeom prst="roundRect">
            <a:avLst>
              <a:gd fmla="val 1176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7"/>
          <p:cNvSpPr/>
          <p:nvPr/>
        </p:nvSpPr>
        <p:spPr>
          <a:xfrm>
            <a:off x="2157984" y="2633472"/>
            <a:ext cx="1490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FaqItem A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7"/>
          <p:cNvSpPr/>
          <p:nvPr/>
        </p:nvSpPr>
        <p:spPr>
          <a:xfrm>
            <a:off x="5440680" y="2560320"/>
            <a:ext cx="1600200" cy="621792"/>
          </a:xfrm>
          <a:prstGeom prst="roundRect">
            <a:avLst>
              <a:gd fmla="val 1176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7"/>
          <p:cNvSpPr/>
          <p:nvPr/>
        </p:nvSpPr>
        <p:spPr>
          <a:xfrm>
            <a:off x="5495544" y="2633472"/>
            <a:ext cx="1490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FaqItem B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47"/>
          <p:cNvCxnSpPr/>
          <p:nvPr/>
        </p:nvCxnSpPr>
        <p:spPr>
          <a:xfrm flipH="1">
            <a:off x="2907792" y="1600200"/>
            <a:ext cx="1252728" cy="941832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2" name="Google Shape;612;p47"/>
          <p:cNvCxnSpPr/>
          <p:nvPr/>
        </p:nvCxnSpPr>
        <p:spPr>
          <a:xfrm>
            <a:off x="4983480" y="1600200"/>
            <a:ext cx="1252728" cy="941832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3" name="Google Shape;613;p47"/>
          <p:cNvSpPr/>
          <p:nvPr/>
        </p:nvSpPr>
        <p:spPr>
          <a:xfrm>
            <a:off x="777250" y="1280148"/>
            <a:ext cx="2148900" cy="941700"/>
          </a:xfrm>
          <a:prstGeom prst="roundRect">
            <a:avLst>
              <a:gd fmla="val 9302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7"/>
          <p:cNvSpPr/>
          <p:nvPr/>
        </p:nvSpPr>
        <p:spPr>
          <a:xfrm>
            <a:off x="96012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7"/>
          <p:cNvSpPr/>
          <p:nvPr/>
        </p:nvSpPr>
        <p:spPr>
          <a:xfrm>
            <a:off x="960120" y="1719072"/>
            <a:ext cx="1783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Only one FAQ item should be open at a time.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7"/>
          <p:cNvSpPr/>
          <p:nvPr/>
        </p:nvSpPr>
        <p:spPr>
          <a:xfrm>
            <a:off x="6355075" y="1280147"/>
            <a:ext cx="1965900" cy="1022100"/>
          </a:xfrm>
          <a:prstGeom prst="roundRect">
            <a:avLst>
              <a:gd fmla="val 9302" name="adj"/>
            </a:avLst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7"/>
          <p:cNvSpPr/>
          <p:nvPr/>
        </p:nvSpPr>
        <p:spPr>
          <a:xfrm>
            <a:off x="653796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6537960" y="1719072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Two children can disagree if each controls the same shared rule.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1280160" y="3986784"/>
            <a:ext cx="6583680" cy="420624"/>
          </a:xfrm>
          <a:prstGeom prst="roundRect">
            <a:avLst>
              <a:gd fmla="val 1739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7"/>
          <p:cNvSpPr/>
          <p:nvPr/>
        </p:nvSpPr>
        <p:spPr>
          <a:xfrm>
            <a:off x="1481328" y="4123944"/>
            <a:ext cx="6172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closest common parent can see and coordinate both children.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7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8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Lift shared state to the closest common parent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8"/>
          <p:cNvSpPr/>
          <p:nvPr/>
        </p:nvSpPr>
        <p:spPr>
          <a:xfrm>
            <a:off x="1143000" y="98755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8"/>
          <p:cNvSpPr/>
          <p:nvPr/>
        </p:nvSpPr>
        <p:spPr>
          <a:xfrm>
            <a:off x="822960" y="1463040"/>
            <a:ext cx="2148840" cy="640080"/>
          </a:xfrm>
          <a:prstGeom prst="roundRect">
            <a:avLst>
              <a:gd fmla="val 1142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8"/>
          <p:cNvSpPr/>
          <p:nvPr/>
        </p:nvSpPr>
        <p:spPr>
          <a:xfrm>
            <a:off x="877824" y="1536192"/>
            <a:ext cx="20391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FaqItem A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owns open?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822960" y="2560320"/>
            <a:ext cx="2148840" cy="640080"/>
          </a:xfrm>
          <a:prstGeom prst="roundRect">
            <a:avLst>
              <a:gd fmla="val 1142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8"/>
          <p:cNvSpPr/>
          <p:nvPr/>
        </p:nvSpPr>
        <p:spPr>
          <a:xfrm>
            <a:off x="877824" y="2633472"/>
            <a:ext cx="20391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FaqItem B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owns open?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4937760" y="98755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8"/>
          <p:cNvSpPr/>
          <p:nvPr/>
        </p:nvSpPr>
        <p:spPr>
          <a:xfrm>
            <a:off x="5074920" y="1371600"/>
            <a:ext cx="2331720" cy="676656"/>
          </a:xfrm>
          <a:prstGeom prst="roundRect">
            <a:avLst>
              <a:gd fmla="val 1081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8"/>
          <p:cNvSpPr/>
          <p:nvPr/>
        </p:nvSpPr>
        <p:spPr>
          <a:xfrm>
            <a:off x="5129784" y="1444752"/>
            <a:ext cx="222199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FaqList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owns shared information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8"/>
          <p:cNvSpPr/>
          <p:nvPr/>
        </p:nvSpPr>
        <p:spPr>
          <a:xfrm>
            <a:off x="4160520" y="2852928"/>
            <a:ext cx="1691640" cy="4572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8"/>
          <p:cNvSpPr/>
          <p:nvPr/>
        </p:nvSpPr>
        <p:spPr>
          <a:xfrm>
            <a:off x="4215384" y="2926080"/>
            <a:ext cx="1581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FaqItem A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8"/>
          <p:cNvSpPr/>
          <p:nvPr/>
        </p:nvSpPr>
        <p:spPr>
          <a:xfrm>
            <a:off x="6629400" y="2852928"/>
            <a:ext cx="1691640" cy="4572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8"/>
          <p:cNvSpPr/>
          <p:nvPr/>
        </p:nvSpPr>
        <p:spPr>
          <a:xfrm>
            <a:off x="6684264" y="2926080"/>
            <a:ext cx="1581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FaqItem B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48"/>
          <p:cNvCxnSpPr/>
          <p:nvPr/>
        </p:nvCxnSpPr>
        <p:spPr>
          <a:xfrm flipH="1">
            <a:off x="5010912" y="2057400"/>
            <a:ext cx="658368" cy="77724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1" name="Google Shape;641;p48"/>
          <p:cNvSpPr/>
          <p:nvPr/>
        </p:nvSpPr>
        <p:spPr>
          <a:xfrm>
            <a:off x="4809744" y="2299716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value + callback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2" name="Google Shape;642;p48"/>
          <p:cNvCxnSpPr/>
          <p:nvPr/>
        </p:nvCxnSpPr>
        <p:spPr>
          <a:xfrm>
            <a:off x="6803136" y="2057400"/>
            <a:ext cx="676656" cy="77724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3" name="Google Shape;643;p48"/>
          <p:cNvSpPr/>
          <p:nvPr/>
        </p:nvSpPr>
        <p:spPr>
          <a:xfrm>
            <a:off x="6611112" y="2299716"/>
            <a:ext cx="1060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value + callback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8"/>
          <p:cNvSpPr/>
          <p:nvPr/>
        </p:nvSpPr>
        <p:spPr>
          <a:xfrm>
            <a:off x="868680" y="3977640"/>
            <a:ext cx="7498080" cy="512064"/>
          </a:xfrm>
          <a:prstGeom prst="roundRect">
            <a:avLst>
              <a:gd fmla="val 14286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8"/>
          <p:cNvSpPr/>
          <p:nvPr/>
        </p:nvSpPr>
        <p:spPr>
          <a:xfrm>
            <a:off x="1078992" y="4142232"/>
            <a:ext cx="7086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5"/>
              <a:buFont typeface="Arial"/>
              <a:buNone/>
            </a:pPr>
            <a:r>
              <a:rPr b="1" i="0" lang="en" sz="10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Decision rule: put shared state in the closest common parent that needs to coordinate the components using it.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8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Which component should own the shared information?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9"/>
          <p:cNvSpPr/>
          <p:nvPr/>
        </p:nvSpPr>
        <p:spPr>
          <a:xfrm>
            <a:off x="868680" y="1005840"/>
            <a:ext cx="3200400" cy="1143000"/>
          </a:xfrm>
          <a:prstGeom prst="roundRect">
            <a:avLst>
              <a:gd fmla="val 64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9"/>
          <p:cNvSpPr/>
          <p:nvPr/>
        </p:nvSpPr>
        <p:spPr>
          <a:xfrm>
            <a:off x="1014984" y="1115568"/>
            <a:ext cx="2907792" cy="923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MediaPlayer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├── PlaybackButton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└── PlaybackStatus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9"/>
          <p:cNvSpPr/>
          <p:nvPr/>
        </p:nvSpPr>
        <p:spPr>
          <a:xfrm>
            <a:off x="4572000" y="102412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Arial"/>
              <a:buNone/>
            </a:pPr>
            <a:r>
              <a:rPr b="1" i="0" lang="en" sz="11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Both components depend on the same information:  Is the media currently playing?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9"/>
          <p:cNvSpPr/>
          <p:nvPr/>
        </p:nvSpPr>
        <p:spPr>
          <a:xfrm>
            <a:off x="960120" y="2514600"/>
            <a:ext cx="73152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PlaybackButton, because the user clicks it.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PlaybackStatus, because it displays the value.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MediaPlayer, because it is the closest common parent coordinating both components.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Both children should maintain separate copies.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9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9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MediaPlayer should own the shared information.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value affects both children, and MediaPlayer is their closest common parent.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9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0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111827"/>
                </a:solidFill>
              </a:rPr>
              <a:t>Your turn: b</a:t>
            </a: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uild a document approval flow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0"/>
          <p:cNvSpPr/>
          <p:nvPr/>
        </p:nvSpPr>
        <p:spPr>
          <a:xfrm>
            <a:off x="777240" y="1005840"/>
            <a:ext cx="2468880" cy="1691640"/>
          </a:xfrm>
          <a:prstGeom prst="roundRect">
            <a:avLst>
              <a:gd fmla="val 432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/>
          <p:nvPr/>
        </p:nvSpPr>
        <p:spPr>
          <a:xfrm>
            <a:off x="923544" y="1115568"/>
            <a:ext cx="2176272" cy="1472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ReviewPage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  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ReviewActions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  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ApproveButton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0"/>
          <p:cNvSpPr/>
          <p:nvPr/>
        </p:nvSpPr>
        <p:spPr>
          <a:xfrm>
            <a:off x="3794760" y="1005840"/>
            <a:ext cx="4206240" cy="1691640"/>
          </a:xfrm>
          <a:prstGeom prst="roundRect">
            <a:avLst>
              <a:gd fmla="val 4324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50"/>
          <p:cNvSpPr/>
          <p:nvPr/>
        </p:nvSpPr>
        <p:spPr>
          <a:xfrm>
            <a:off x="4005072" y="118872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Document review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0"/>
          <p:cNvSpPr/>
          <p:nvPr/>
        </p:nvSpPr>
        <p:spPr>
          <a:xfrm>
            <a:off x="4005072" y="155448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DOC-481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Vendor contract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Status: Awaiting review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 Approve ]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0"/>
          <p:cNvSpPr/>
          <p:nvPr/>
        </p:nvSpPr>
        <p:spPr>
          <a:xfrm>
            <a:off x="777250" y="3154674"/>
            <a:ext cx="3612000" cy="8121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0"/>
          <p:cNvSpPr/>
          <p:nvPr/>
        </p:nvSpPr>
        <p:spPr>
          <a:xfrm>
            <a:off x="960120" y="331012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0"/>
          <p:cNvSpPr/>
          <p:nvPr/>
        </p:nvSpPr>
        <p:spPr>
          <a:xfrm>
            <a:off x="960120" y="356616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documentId already flows as data; Approve is visible but inactive.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50"/>
          <p:cNvSpPr/>
          <p:nvPr/>
        </p:nvSpPr>
        <p:spPr>
          <a:xfrm>
            <a:off x="4663450" y="3154673"/>
            <a:ext cx="3337500" cy="887700"/>
          </a:xfrm>
          <a:prstGeom prst="roundRect">
            <a:avLst>
              <a:gd fmla="val 1111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0"/>
          <p:cNvSpPr/>
          <p:nvPr/>
        </p:nvSpPr>
        <p:spPr>
          <a:xfrm>
            <a:off x="4846320" y="331012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50"/>
          <p:cNvSpPr/>
          <p:nvPr/>
        </p:nvSpPr>
        <p:spPr>
          <a:xfrm>
            <a:off x="4846320" y="356616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Clicking Approve triggers application-level behaviour using the current document ID.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0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1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Complete the communication path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1"/>
          <p:cNvSpPr/>
          <p:nvPr/>
        </p:nvSpPr>
        <p:spPr>
          <a:xfrm>
            <a:off x="749808" y="896112"/>
            <a:ext cx="7589520" cy="502920"/>
          </a:xfrm>
          <a:prstGeom prst="roundRect">
            <a:avLst>
              <a:gd fmla="val 1454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1"/>
          <p:cNvSpPr/>
          <p:nvPr/>
        </p:nvSpPr>
        <p:spPr>
          <a:xfrm>
            <a:off x="960120" y="1069848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Goal: make Approve reach application-level behaviour with the current document ID.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822960" y="164592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1"/>
          <p:cNvSpPr/>
          <p:nvPr/>
        </p:nvSpPr>
        <p:spPr>
          <a:xfrm>
            <a:off x="868680" y="1956816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Keep the existing component hierarchy.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1"/>
          <p:cNvSpPr/>
          <p:nvPr/>
        </p:nvSpPr>
        <p:spPr>
          <a:xfrm>
            <a:off x="868680" y="2221992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a typed callback that can receive documentId as a string.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1069848" y="2487168"/>
            <a:ext cx="4233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Char char="◦"/>
            </a:pPr>
            <a:r>
              <a:rPr b="0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 not hardcode "DOC-481" inside the leaf component.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1"/>
          <p:cNvSpPr/>
          <p:nvPr/>
        </p:nvSpPr>
        <p:spPr>
          <a:xfrm>
            <a:off x="868680" y="2724912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Follow the on... naming convention for the callback prop.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/>
          <p:nvPr/>
        </p:nvSpPr>
        <p:spPr>
          <a:xfrm>
            <a:off x="868680" y="2990088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Decide where the approval handler belongs.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1"/>
          <p:cNvSpPr/>
          <p:nvPr/>
        </p:nvSpPr>
        <p:spPr>
          <a:xfrm>
            <a:off x="868680" y="3255264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the needed information and behaviour through the existing hierarchy.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1"/>
          <p:cNvSpPr/>
          <p:nvPr/>
        </p:nvSpPr>
        <p:spPr>
          <a:xfrm>
            <a:off x="5577840" y="16459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Done when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1"/>
          <p:cNvSpPr/>
          <p:nvPr/>
        </p:nvSpPr>
        <p:spPr>
          <a:xfrm>
            <a:off x="5623560" y="195681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project type-checks.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1"/>
          <p:cNvSpPr/>
          <p:nvPr/>
        </p:nvSpPr>
        <p:spPr>
          <a:xfrm>
            <a:off x="5623560" y="223113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Clicking Approve shows Approved DOC-481.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1"/>
          <p:cNvSpPr/>
          <p:nvPr/>
        </p:nvSpPr>
        <p:spPr>
          <a:xfrm>
            <a:off x="5623560" y="2505456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correct ID reaches the application-level handler.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1"/>
          <p:cNvSpPr/>
          <p:nvPr/>
        </p:nvSpPr>
        <p:spPr>
          <a:xfrm>
            <a:off x="5577840" y="3355848"/>
            <a:ext cx="2606040" cy="640080"/>
          </a:xfrm>
          <a:prstGeom prst="roundRect">
            <a:avLst>
              <a:gd fmla="val 11429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1"/>
          <p:cNvSpPr/>
          <p:nvPr/>
        </p:nvSpPr>
        <p:spPr>
          <a:xfrm>
            <a:off x="5760720" y="3566160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 useState, Context, arrays, map(), or extra packages.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1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2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Trace the completed approval flow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2"/>
          <p:cNvSpPr/>
          <p:nvPr/>
        </p:nvSpPr>
        <p:spPr>
          <a:xfrm>
            <a:off x="822960" y="1051560"/>
            <a:ext cx="1920240" cy="621792"/>
          </a:xfrm>
          <a:prstGeom prst="roundRect">
            <a:avLst>
              <a:gd fmla="val 1176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2"/>
          <p:cNvSpPr/>
          <p:nvPr/>
        </p:nvSpPr>
        <p:spPr>
          <a:xfrm>
            <a:off x="877824" y="1124712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ReviewPage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defines behaviour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52"/>
          <p:cNvSpPr/>
          <p:nvPr/>
        </p:nvSpPr>
        <p:spPr>
          <a:xfrm>
            <a:off x="3611880" y="1051560"/>
            <a:ext cx="1920240" cy="621792"/>
          </a:xfrm>
          <a:prstGeom prst="roundRect">
            <a:avLst>
              <a:gd fmla="val 1176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2"/>
          <p:cNvSpPr/>
          <p:nvPr/>
        </p:nvSpPr>
        <p:spPr>
          <a:xfrm>
            <a:off x="3666744" y="1124712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ReviewActions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forwards callback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52"/>
          <p:cNvSpPr/>
          <p:nvPr/>
        </p:nvSpPr>
        <p:spPr>
          <a:xfrm>
            <a:off x="6400800" y="1051560"/>
            <a:ext cx="1920240" cy="621792"/>
          </a:xfrm>
          <a:prstGeom prst="roundRect">
            <a:avLst>
              <a:gd fmla="val 11765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2"/>
          <p:cNvSpPr/>
          <p:nvPr/>
        </p:nvSpPr>
        <p:spPr>
          <a:xfrm>
            <a:off x="6455664" y="1124712"/>
            <a:ext cx="18105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ApproveButton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invokes callback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p52"/>
          <p:cNvCxnSpPr/>
          <p:nvPr/>
        </p:nvCxnSpPr>
        <p:spPr>
          <a:xfrm>
            <a:off x="2761488" y="1362456"/>
            <a:ext cx="822960" cy="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3" name="Google Shape;713;p52"/>
          <p:cNvCxnSpPr/>
          <p:nvPr/>
        </p:nvCxnSpPr>
        <p:spPr>
          <a:xfrm>
            <a:off x="5550408" y="1362456"/>
            <a:ext cx="822960" cy="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4" name="Google Shape;714;p52"/>
          <p:cNvSpPr/>
          <p:nvPr/>
        </p:nvSpPr>
        <p:spPr>
          <a:xfrm>
            <a:off x="822960" y="235915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Focused code evidence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2"/>
          <p:cNvSpPr/>
          <p:nvPr/>
        </p:nvSpPr>
        <p:spPr>
          <a:xfrm>
            <a:off x="822960" y="2761488"/>
            <a:ext cx="2331720" cy="530352"/>
          </a:xfrm>
          <a:prstGeom prst="roundRect">
            <a:avLst>
              <a:gd fmla="val 862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2"/>
          <p:cNvSpPr/>
          <p:nvPr/>
        </p:nvSpPr>
        <p:spPr>
          <a:xfrm>
            <a:off x="923544" y="2843784"/>
            <a:ext cx="2130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onApprove={handleApprove}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2"/>
          <p:cNvSpPr/>
          <p:nvPr/>
        </p:nvSpPr>
        <p:spPr>
          <a:xfrm>
            <a:off x="3429000" y="2761488"/>
            <a:ext cx="2286000" cy="530352"/>
          </a:xfrm>
          <a:prstGeom prst="roundRect">
            <a:avLst>
              <a:gd fmla="val 862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2"/>
          <p:cNvSpPr/>
          <p:nvPr/>
        </p:nvSpPr>
        <p:spPr>
          <a:xfrm>
            <a:off x="3529584" y="2843784"/>
            <a:ext cx="2084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onApprove={onApprove}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2"/>
          <p:cNvSpPr/>
          <p:nvPr/>
        </p:nvSpPr>
        <p:spPr>
          <a:xfrm>
            <a:off x="5989320" y="2761488"/>
            <a:ext cx="2240280" cy="530352"/>
          </a:xfrm>
          <a:prstGeom prst="roundRect">
            <a:avLst>
              <a:gd fmla="val 862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2"/>
          <p:cNvSpPr/>
          <p:nvPr/>
        </p:nvSpPr>
        <p:spPr>
          <a:xfrm>
            <a:off x="6089904" y="2843784"/>
            <a:ext cx="20391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onApprove(documentId)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2"/>
          <p:cNvSpPr/>
          <p:nvPr/>
        </p:nvSpPr>
        <p:spPr>
          <a:xfrm>
            <a:off x="1143000" y="3977640"/>
            <a:ext cx="6812280" cy="457200"/>
          </a:xfrm>
          <a:prstGeom prst="roundRect">
            <a:avLst>
              <a:gd fmla="val 160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2"/>
          <p:cNvSpPr/>
          <p:nvPr/>
        </p:nvSpPr>
        <p:spPr>
          <a:xfrm>
            <a:off x="1353312" y="412394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Define → pass → forward → invoke. The complete solution stays in VS Code and reference files.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2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3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1: When does handleOpen run?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3"/>
          <p:cNvSpPr/>
          <p:nvPr/>
        </p:nvSpPr>
        <p:spPr>
          <a:xfrm>
            <a:off x="685800" y="1005840"/>
            <a:ext cx="3794760" cy="2423160"/>
          </a:xfrm>
          <a:prstGeom prst="roundRect">
            <a:avLst>
              <a:gd fmla="val 188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3"/>
          <p:cNvSpPr/>
          <p:nvPr/>
        </p:nvSpPr>
        <p:spPr>
          <a:xfrm>
            <a:off x="786384" y="1088136"/>
            <a:ext cx="3593592" cy="2258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handleOpen()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console.log("Opening");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onClick={() =&gt; handleOpen()}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Open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3"/>
          <p:cNvSpPr/>
          <p:nvPr/>
        </p:nvSpPr>
        <p:spPr>
          <a:xfrm>
            <a:off x="4663440" y="1005840"/>
            <a:ext cx="37490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While the component is rendering.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After the click, when React runs the supplied arrow-function handler.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When TypeScript checks the component.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Before the button appears because parentheses are visible.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3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3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After the click.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arrow function is passed to onClick; it calls handleOpen only when React runs it.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3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4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2: Which function matches this callback type?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4"/>
          <p:cNvSpPr/>
          <p:nvPr/>
        </p:nvSpPr>
        <p:spPr>
          <a:xfrm>
            <a:off x="777240" y="896112"/>
            <a:ext cx="7315200" cy="420624"/>
          </a:xfrm>
          <a:prstGeom prst="roundRect">
            <a:avLst>
              <a:gd fmla="val 1087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4"/>
          <p:cNvSpPr/>
          <p:nvPr/>
        </p:nvSpPr>
        <p:spPr>
          <a:xfrm>
            <a:off x="877824" y="978408"/>
            <a:ext cx="7114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onOpen: (orderId: string) =&gt; void;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4"/>
          <p:cNvSpPr/>
          <p:nvPr/>
        </p:nvSpPr>
        <p:spPr>
          <a:xfrm>
            <a:off x="594360" y="181051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4"/>
          <p:cNvSpPr/>
          <p:nvPr/>
        </p:nvSpPr>
        <p:spPr>
          <a:xfrm>
            <a:off x="868680" y="1737360"/>
            <a:ext cx="3337560" cy="749808"/>
          </a:xfrm>
          <a:prstGeom prst="roundRect">
            <a:avLst>
              <a:gd fmla="val 609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4"/>
          <p:cNvSpPr/>
          <p:nvPr/>
        </p:nvSpPr>
        <p:spPr>
          <a:xfrm>
            <a:off x="969264" y="1819656"/>
            <a:ext cx="313639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handleOpen(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orderId: string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): void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console.log(orderId);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4"/>
          <p:cNvSpPr/>
          <p:nvPr/>
        </p:nvSpPr>
        <p:spPr>
          <a:xfrm>
            <a:off x="4389120" y="181051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4"/>
          <p:cNvSpPr/>
          <p:nvPr/>
        </p:nvSpPr>
        <p:spPr>
          <a:xfrm>
            <a:off x="4663440" y="1737360"/>
            <a:ext cx="3337560" cy="749808"/>
          </a:xfrm>
          <a:prstGeom prst="roundRect">
            <a:avLst>
              <a:gd fmla="val 609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4"/>
          <p:cNvSpPr/>
          <p:nvPr/>
        </p:nvSpPr>
        <p:spPr>
          <a:xfrm>
            <a:off x="4764024" y="1819656"/>
            <a:ext cx="313639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handleOpen(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orderId: number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): void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console.log(orderId);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54"/>
          <p:cNvSpPr/>
          <p:nvPr/>
        </p:nvSpPr>
        <p:spPr>
          <a:xfrm>
            <a:off x="594360" y="281635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4"/>
          <p:cNvSpPr/>
          <p:nvPr/>
        </p:nvSpPr>
        <p:spPr>
          <a:xfrm>
            <a:off x="868680" y="2743200"/>
            <a:ext cx="3337560" cy="749808"/>
          </a:xfrm>
          <a:prstGeom prst="roundRect">
            <a:avLst>
              <a:gd fmla="val 609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4"/>
          <p:cNvSpPr/>
          <p:nvPr/>
        </p:nvSpPr>
        <p:spPr>
          <a:xfrm>
            <a:off x="969264" y="2825496"/>
            <a:ext cx="313639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handleOpen =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"ORD-42";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4"/>
          <p:cNvSpPr/>
          <p:nvPr/>
        </p:nvSpPr>
        <p:spPr>
          <a:xfrm>
            <a:off x="4389120" y="281635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4"/>
          <p:cNvSpPr/>
          <p:nvPr/>
        </p:nvSpPr>
        <p:spPr>
          <a:xfrm>
            <a:off x="4663440" y="2743200"/>
            <a:ext cx="3337560" cy="749808"/>
          </a:xfrm>
          <a:prstGeom prst="roundRect">
            <a:avLst>
              <a:gd fmla="val 609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4"/>
          <p:cNvSpPr/>
          <p:nvPr/>
        </p:nvSpPr>
        <p:spPr>
          <a:xfrm>
            <a:off x="4764024" y="2825496"/>
            <a:ext cx="313639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handleOpen(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orderId: string,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source: string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): void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console.log(orderId, source);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4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4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It accepts the required string argument.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callback expects one required string argument; option A directly matches that shape.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4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5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3: Who owns the behaviour?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5"/>
          <p:cNvSpPr/>
          <p:nvPr/>
        </p:nvSpPr>
        <p:spPr>
          <a:xfrm>
            <a:off x="777240" y="960120"/>
            <a:ext cx="3611880" cy="1554480"/>
          </a:xfrm>
          <a:prstGeom prst="roundRect">
            <a:avLst>
              <a:gd fmla="val 294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5"/>
          <p:cNvSpPr/>
          <p:nvPr/>
        </p:nvSpPr>
        <p:spPr>
          <a:xfrm>
            <a:off x="877824" y="1042416"/>
            <a:ext cx="3410712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handleClear() {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console.log("Cleared");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&lt;ClearButton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onClear={handleClear}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5"/>
          <p:cNvSpPr/>
          <p:nvPr/>
        </p:nvSpPr>
        <p:spPr>
          <a:xfrm>
            <a:off x="777240" y="2852928"/>
            <a:ext cx="3611880" cy="658368"/>
          </a:xfrm>
          <a:prstGeom prst="roundRect">
            <a:avLst>
              <a:gd fmla="val 694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5"/>
          <p:cNvSpPr/>
          <p:nvPr/>
        </p:nvSpPr>
        <p:spPr>
          <a:xfrm>
            <a:off x="877824" y="2935224"/>
            <a:ext cx="34107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onClick={onClear}&gt;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Clear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5"/>
          <p:cNvSpPr/>
          <p:nvPr/>
        </p:nvSpPr>
        <p:spPr>
          <a:xfrm>
            <a:off x="4663440" y="960120"/>
            <a:ext cx="370332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ClearButton owns the behaviour because it contains the button.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Both components define separate clear behaviours.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React automatically creates onClear.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SearchPage defines the behaviour; ClearButton invokes the supplied callback.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5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5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SearchPage defines the behaviour; ClearButton invokes it.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parent supplies the function, and the child calls that supplied function after the interaction.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5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6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4: Which components are drilling the prop?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6"/>
          <p:cNvSpPr/>
          <p:nvPr/>
        </p:nvSpPr>
        <p:spPr>
          <a:xfrm>
            <a:off x="868680" y="1005840"/>
            <a:ext cx="2743200" cy="1737360"/>
          </a:xfrm>
          <a:prstGeom prst="roundRect">
            <a:avLst>
              <a:gd fmla="val 42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6"/>
          <p:cNvSpPr/>
          <p:nvPr/>
        </p:nvSpPr>
        <p:spPr>
          <a:xfrm>
            <a:off x="1014984" y="1115568"/>
            <a:ext cx="2450592" cy="1517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  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Toolbar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  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ExportGroup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  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ExportButton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6"/>
          <p:cNvSpPr/>
          <p:nvPr/>
        </p:nvSpPr>
        <p:spPr>
          <a:xfrm>
            <a:off x="4160520" y="1042416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 defines the export behaviour. ExportButton is the only component that invokes the callback.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6"/>
          <p:cNvSpPr/>
          <p:nvPr/>
        </p:nvSpPr>
        <p:spPr>
          <a:xfrm>
            <a:off x="960120" y="2788920"/>
            <a:ext cx="7315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64"/>
              <a:buFont typeface="Arial"/>
              <a:buNone/>
            </a:pPr>
            <a:r>
              <a:rPr b="0" i="0" lang="en" sz="96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Only ExportButton participates because it calls the callback.</a:t>
            </a:r>
            <a:endParaRPr b="0" i="0" sz="9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5"/>
              <a:buFont typeface="Arial"/>
              <a:buNone/>
            </a:pPr>
            <a:r>
              <a:t/>
            </a:r>
            <a:endParaRPr b="0" i="0" sz="9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64"/>
              <a:buFont typeface="Arial"/>
              <a:buNone/>
            </a:pPr>
            <a:r>
              <a:rPr b="0" i="0" lang="en" sz="96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This is not prop drilling because the components are nested.</a:t>
            </a:r>
            <a:endParaRPr b="0" i="0" sz="9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5"/>
              <a:buFont typeface="Arial"/>
              <a:buNone/>
            </a:pPr>
            <a:r>
              <a:t/>
            </a:r>
            <a:endParaRPr b="0" i="0" sz="9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64"/>
              <a:buFont typeface="Arial"/>
              <a:buNone/>
            </a:pPr>
            <a:r>
              <a:rPr b="0" i="0" lang="en" sz="96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Toolbar and ExportGroup are intermediate components forwarding the callback.</a:t>
            </a:r>
            <a:endParaRPr b="0" i="0" sz="9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5"/>
              <a:buFont typeface="Arial"/>
              <a:buNone/>
            </a:pPr>
            <a:r>
              <a:t/>
            </a:r>
            <a:endParaRPr b="0" i="0" sz="9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64"/>
              <a:buFont typeface="Arial"/>
              <a:buNone/>
            </a:pPr>
            <a:r>
              <a:rPr b="0" i="0" lang="en" sz="96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React automatically forwards the callback through the component tree.</a:t>
            </a:r>
            <a:endParaRPr b="0" i="0" sz="9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6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6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Toolbar and ExportGroup are forwarding components.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They carry the callback through their props so the deeper ExportButton can receive it.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6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7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5: Where should the shared selection live?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7"/>
          <p:cNvSpPr/>
          <p:nvPr/>
        </p:nvSpPr>
        <p:spPr>
          <a:xfrm>
            <a:off x="868680" y="1005840"/>
            <a:ext cx="3291840" cy="1097280"/>
          </a:xfrm>
          <a:prstGeom prst="roundRect">
            <a:avLst>
              <a:gd fmla="val 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7"/>
          <p:cNvSpPr/>
          <p:nvPr/>
        </p:nvSpPr>
        <p:spPr>
          <a:xfrm>
            <a:off x="1014984" y="11155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ShippingOptions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├── StandardOption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└── ExpressOption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7"/>
          <p:cNvSpPr/>
          <p:nvPr/>
        </p:nvSpPr>
        <p:spPr>
          <a:xfrm>
            <a:off x="4617720" y="105156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Only one shipping option may be selected at a time.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7"/>
          <p:cNvSpPr/>
          <p:nvPr/>
        </p:nvSpPr>
        <p:spPr>
          <a:xfrm>
            <a:off x="960120" y="246888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5"/>
              <a:buFont typeface="Arial"/>
              <a:buNone/>
            </a:pPr>
            <a:r>
              <a:rPr b="0" i="0" lang="en" sz="98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Each option should maintain a separate copy.</a:t>
            </a:r>
            <a:endParaRPr b="0" i="0" sz="9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5"/>
              <a:buFont typeface="Arial"/>
              <a:buNone/>
            </a:pPr>
            <a:r>
              <a:t/>
            </a:r>
            <a:endParaRPr b="0" i="0" sz="9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5"/>
              <a:buFont typeface="Arial"/>
              <a:buNone/>
            </a:pPr>
            <a:r>
              <a:rPr b="0" i="0" lang="en" sz="98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ShippingOptions, because it is the closest common parent coordinating both choices.</a:t>
            </a:r>
            <a:endParaRPr b="0" i="0" sz="9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5"/>
              <a:buFont typeface="Arial"/>
              <a:buNone/>
            </a:pPr>
            <a:r>
              <a:t/>
            </a:r>
            <a:endParaRPr b="0" i="0" sz="9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5"/>
              <a:buFont typeface="Arial"/>
              <a:buNone/>
            </a:pPr>
            <a:r>
              <a:rPr b="0" i="0" lang="en" sz="98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StandardOption, because it appears first.</a:t>
            </a:r>
            <a:endParaRPr b="0" i="0" sz="9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5"/>
              <a:buFont typeface="Arial"/>
              <a:buNone/>
            </a:pPr>
            <a:r>
              <a:t/>
            </a:r>
            <a:endParaRPr b="0" i="0" sz="9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5"/>
              <a:buFont typeface="Arial"/>
              <a:buNone/>
            </a:pPr>
            <a:r>
              <a:rPr b="0" i="0" lang="en" sz="98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Always in App, because all shared state belongs at the top.</a:t>
            </a:r>
            <a:endParaRPr b="0" i="0" sz="9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7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57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ShippingOptions should own the shared selection.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value affects both children, and ShippingOptions is their closest common parent.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7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8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Homework: Complete the booking cancellation flow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8"/>
          <p:cNvSpPr/>
          <p:nvPr/>
        </p:nvSpPr>
        <p:spPr>
          <a:xfrm>
            <a:off x="777240" y="960120"/>
            <a:ext cx="2240280" cy="1371600"/>
          </a:xfrm>
          <a:prstGeom prst="roundRect">
            <a:avLst>
              <a:gd fmla="val 533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58"/>
          <p:cNvSpPr/>
          <p:nvPr/>
        </p:nvSpPr>
        <p:spPr>
          <a:xfrm>
            <a:off x="923544" y="1069848"/>
            <a:ext cx="1947672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BookingDetails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  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BookingActions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  ↓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CancelButton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8"/>
          <p:cNvSpPr/>
          <p:nvPr/>
        </p:nvSpPr>
        <p:spPr>
          <a:xfrm>
            <a:off x="3337560" y="960120"/>
            <a:ext cx="2148840" cy="1371600"/>
          </a:xfrm>
          <a:prstGeom prst="roundRect">
            <a:avLst>
              <a:gd fmla="val 533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8"/>
          <p:cNvSpPr/>
          <p:nvPr/>
        </p:nvSpPr>
        <p:spPr>
          <a:xfrm>
            <a:off x="3547872" y="1115568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Booking BK-372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Saturday, 7:00 PM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 guests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 Cancel booking ]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8"/>
          <p:cNvSpPr/>
          <p:nvPr/>
        </p:nvSpPr>
        <p:spPr>
          <a:xfrm>
            <a:off x="5806440" y="960120"/>
            <a:ext cx="2514600" cy="1371600"/>
          </a:xfrm>
          <a:prstGeom prst="roundRect">
            <a:avLst>
              <a:gd fmla="val 5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58"/>
          <p:cNvSpPr/>
          <p:nvPr/>
        </p:nvSpPr>
        <p:spPr>
          <a:xfrm>
            <a:off x="5998464" y="111556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8"/>
          <p:cNvSpPr/>
          <p:nvPr/>
        </p:nvSpPr>
        <p:spPr>
          <a:xfrm>
            <a:off x="5998464" y="1408176"/>
            <a:ext cx="21214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Clicking Cancel booking triggers application-level behaviour with the current booking ID.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58"/>
          <p:cNvSpPr/>
          <p:nvPr/>
        </p:nvSpPr>
        <p:spPr>
          <a:xfrm>
            <a:off x="822960" y="27889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58"/>
          <p:cNvSpPr/>
          <p:nvPr/>
        </p:nvSpPr>
        <p:spPr>
          <a:xfrm>
            <a:off x="868680" y="309067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Keep the existing hierarchy and typed props.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58"/>
          <p:cNvSpPr/>
          <p:nvPr/>
        </p:nvSpPr>
        <p:spPr>
          <a:xfrm>
            <a:off x="868680" y="333756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the existing booking ID.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8"/>
          <p:cNvSpPr/>
          <p:nvPr/>
        </p:nvSpPr>
        <p:spPr>
          <a:xfrm>
            <a:off x="1069848" y="3584448"/>
            <a:ext cx="7296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Char char="◦"/>
            </a:pPr>
            <a:r>
              <a:rPr b="0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 not hardcode "BK-372" inside CancelButton.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58"/>
          <p:cNvSpPr/>
          <p:nvPr/>
        </p:nvSpPr>
        <p:spPr>
          <a:xfrm>
            <a:off x="868680" y="3803904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an on... callback prop.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8"/>
          <p:cNvSpPr/>
          <p:nvPr/>
        </p:nvSpPr>
        <p:spPr>
          <a:xfrm>
            <a:off x="868680" y="405079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Decide which component owns cancellation behaviour.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8"/>
          <p:cNvSpPr/>
          <p:nvPr/>
        </p:nvSpPr>
        <p:spPr>
          <a:xfrm>
            <a:off x="868680" y="429768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Char char="•"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Ensure the callback reaches the component containing the interaction.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8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9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Homework: Completion check and explanation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59"/>
          <p:cNvSpPr/>
          <p:nvPr/>
        </p:nvSpPr>
        <p:spPr>
          <a:xfrm>
            <a:off x="822960" y="1005840"/>
            <a:ext cx="3337560" cy="658368"/>
          </a:xfrm>
          <a:prstGeom prst="roundRect">
            <a:avLst>
              <a:gd fmla="val 1111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9"/>
          <p:cNvSpPr/>
          <p:nvPr/>
        </p:nvSpPr>
        <p:spPr>
          <a:xfrm>
            <a:off x="1005840" y="117043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Expected result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9"/>
          <p:cNvSpPr/>
          <p:nvPr/>
        </p:nvSpPr>
        <p:spPr>
          <a:xfrm>
            <a:off x="1005840" y="1444752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Cancellation requested for BK-372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9"/>
          <p:cNvSpPr/>
          <p:nvPr/>
        </p:nvSpPr>
        <p:spPr>
          <a:xfrm>
            <a:off x="4572000" y="102412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Explain your solution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9"/>
          <p:cNvSpPr/>
          <p:nvPr/>
        </p:nvSpPr>
        <p:spPr>
          <a:xfrm>
            <a:off x="4617720" y="138988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Char char="•"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component defines the behaviour?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9"/>
          <p:cNvSpPr/>
          <p:nvPr/>
        </p:nvSpPr>
        <p:spPr>
          <a:xfrm>
            <a:off x="4617720" y="166420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Char char="•"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component only forwards the callback?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59"/>
          <p:cNvSpPr/>
          <p:nvPr/>
        </p:nvSpPr>
        <p:spPr>
          <a:xfrm>
            <a:off x="4617720" y="193852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Char char="•"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component invokes it?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9"/>
          <p:cNvSpPr/>
          <p:nvPr/>
        </p:nvSpPr>
        <p:spPr>
          <a:xfrm>
            <a:off x="4617720" y="221284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Char char="•"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Does the solution contain prop drilling? Explain briefly.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9"/>
          <p:cNvSpPr/>
          <p:nvPr/>
        </p:nvSpPr>
        <p:spPr>
          <a:xfrm>
            <a:off x="822960" y="2926080"/>
            <a:ext cx="7315200" cy="713232"/>
          </a:xfrm>
          <a:prstGeom prst="roundRect">
            <a:avLst>
              <a:gd fmla="val 10256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9"/>
          <p:cNvSpPr/>
          <p:nvPr/>
        </p:nvSpPr>
        <p:spPr>
          <a:xfrm>
            <a:off x="1024128" y="30906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9"/>
          <p:cNvSpPr/>
          <p:nvPr/>
        </p:nvSpPr>
        <p:spPr>
          <a:xfrm>
            <a:off x="1024128" y="340156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 not use useState, Context, list rendering, or additional packages. The task is communication and ownership only.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9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0"/>
          <p:cNvSpPr/>
          <p:nvPr/>
        </p:nvSpPr>
        <p:spPr>
          <a:xfrm>
            <a:off x="548640" y="347472"/>
            <a:ext cx="6629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Next: Make the interface remember what changed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60"/>
          <p:cNvSpPr/>
          <p:nvPr/>
        </p:nvSpPr>
        <p:spPr>
          <a:xfrm>
            <a:off x="868680" y="114300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60"/>
          <p:cNvSpPr/>
          <p:nvPr/>
        </p:nvSpPr>
        <p:spPr>
          <a:xfrm>
            <a:off x="923544" y="1216152"/>
            <a:ext cx="1901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invokes callback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60"/>
          <p:cNvSpPr/>
          <p:nvPr/>
        </p:nvSpPr>
        <p:spPr>
          <a:xfrm>
            <a:off x="3611880" y="114300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60"/>
          <p:cNvSpPr/>
          <p:nvPr/>
        </p:nvSpPr>
        <p:spPr>
          <a:xfrm>
            <a:off x="3666744" y="1216152"/>
            <a:ext cx="19019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receives ticketId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60"/>
          <p:cNvSpPr/>
          <p:nvPr/>
        </p:nvSpPr>
        <p:spPr>
          <a:xfrm>
            <a:off x="6355080" y="1143000"/>
            <a:ext cx="1828800" cy="640080"/>
          </a:xfrm>
          <a:prstGeom prst="roundRect">
            <a:avLst>
              <a:gd fmla="val 1142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60"/>
          <p:cNvSpPr/>
          <p:nvPr/>
        </p:nvSpPr>
        <p:spPr>
          <a:xfrm>
            <a:off x="6409944" y="1216152"/>
            <a:ext cx="171907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EscalationPanel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currently static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0" name="Google Shape;850;p60"/>
          <p:cNvCxnSpPr/>
          <p:nvPr/>
        </p:nvCxnSpPr>
        <p:spPr>
          <a:xfrm>
            <a:off x="2898648" y="1463040"/>
            <a:ext cx="685800" cy="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1" name="Google Shape;851;p60"/>
          <p:cNvCxnSpPr/>
          <p:nvPr/>
        </p:nvCxnSpPr>
        <p:spPr>
          <a:xfrm>
            <a:off x="5641848" y="1463040"/>
            <a:ext cx="685800" cy="0"/>
          </a:xfrm>
          <a:prstGeom prst="straightConnector1">
            <a:avLst/>
          </a:prstGeom>
          <a:noFill/>
          <a:ln cap="flat" cmpd="sng" w="171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2" name="Google Shape;852;p60"/>
          <p:cNvSpPr/>
          <p:nvPr/>
        </p:nvSpPr>
        <p:spPr>
          <a:xfrm>
            <a:off x="868680" y="2468880"/>
            <a:ext cx="3520440" cy="841248"/>
          </a:xfrm>
          <a:prstGeom prst="roundRect">
            <a:avLst>
              <a:gd fmla="val 8696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0"/>
          <p:cNvSpPr/>
          <p:nvPr/>
        </p:nvSpPr>
        <p:spPr>
          <a:xfrm>
            <a:off x="1078992" y="26334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60"/>
          <p:cNvSpPr/>
          <p:nvPr/>
        </p:nvSpPr>
        <p:spPr>
          <a:xfrm>
            <a:off x="1078992" y="292608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Where should behaviour belong? Where should shared changing information belong?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60"/>
          <p:cNvSpPr/>
          <p:nvPr/>
        </p:nvSpPr>
        <p:spPr>
          <a:xfrm>
            <a:off x="4709160" y="2468880"/>
            <a:ext cx="3520440" cy="841248"/>
          </a:xfrm>
          <a:prstGeom prst="roundRect">
            <a:avLst>
              <a:gd fmla="val 869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0"/>
          <p:cNvSpPr/>
          <p:nvPr/>
        </p:nvSpPr>
        <p:spPr>
          <a:xfrm>
            <a:off x="4919472" y="263347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 lecture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60"/>
          <p:cNvSpPr/>
          <p:nvPr/>
        </p:nvSpPr>
        <p:spPr>
          <a:xfrm>
            <a:off x="4919472" y="292608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How does a component remember and update changing information with useState?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60"/>
          <p:cNvSpPr/>
          <p:nvPr/>
        </p:nvSpPr>
        <p:spPr>
          <a:xfrm>
            <a:off x="1234450" y="3931927"/>
            <a:ext cx="6720900" cy="640200"/>
          </a:xfrm>
          <a:prstGeom prst="roundRect">
            <a:avLst>
              <a:gd fmla="val 16000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60"/>
          <p:cNvSpPr/>
          <p:nvPr/>
        </p:nvSpPr>
        <p:spPr>
          <a:xfrm>
            <a:off x="1444752" y="4078224"/>
            <a:ext cx="6309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Handoff question: how can SupportDashboard remember the latest escalated ticket and update EscalationPanel?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60"/>
          <p:cNvSpPr txBox="1"/>
          <p:nvPr>
            <p:ph idx="4294967295" type="sldNum"/>
          </p:nvPr>
        </p:nvSpPr>
        <p:spPr>
          <a:xfrm>
            <a:off x="8549640" y="4864608"/>
            <a:ext cx="914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