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Give learners the destination without defining useEffect before the problem that requires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Give learners a meaningful map of the lecture without turning the agenda into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Transition into prior-knowledge retrieval without introducing Effects yet.
Instructor notes
These questions use the form and state patterns from the previous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Retrieve controlled text input, object state, replacement updates, spread, and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Retrieve the difference between text-like controls and checkbox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Retrieve the state-design principle: store essential changing data and derive values that can be calculated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Retrieve element-specific event typing, currentTarget, select .value, and object-state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Retrieve the endpoint of the previous forms work and set up the limitation that the data is still local.
Instructor notes
After this slide, transition verbally: browser behavior and remote APIs can live outside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Frame the section question before introducing useEffect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Establish the application, existing state/UI, the new browser requirement, Page Visibility API, and event-listener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Use existing knowledge of rendering and event handlers to expose the missing capability without reteaching either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Formally introduce side effect, external system, synchronization, and Effect after learners have seen the concrete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Introduce useEffect through the browser problem, focusing only on setup.
Instructor notes
Do not run this as the completed implementation; cleanup is added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Introduce cleanup through one concrete setup/cleanup pair. When React runs cleanup is explained in the dependency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Make Effect behavior observable and connect the new browser synchronization to familiar state-update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Give learners a technical map of useEffect(setup, dependencies) after they have already understood the working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Check whether learners understand the reason for using an Effect rather than recognizing syntax.
Instructor notes
Ask why B and C both use browser features but only C is an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Require cleanup reasoning from the external setup rather than mechanical syntax matching.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Transition from the first fixed Effect into dependency-driven re-synchronization.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Make the purpose of the example change explicit: the checkbox is familiar; the new learning is what its state means for the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Establish that the Effect behavior now depends on React state and define reactive values accurately.
Instructor notes
The next slide explains why trackingEnabled belongs in the dependency list.
Sources
React useEffect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Teach dependency reasoning from Effect code rather than a run-when scheduling recipe.
Instructor notes
Read the Effect body, identify reactive values, then declare those dependencies.
Sources
React useEffect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Make re-synchronization concrete: dependency change, previous cleanup, then setup using current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Give [] and [trackingEnabled] meaning through the same Effect rather than as independent syntax patterns.
Instructor notes
React compares dependencies with Object.is.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Introduce the Effect lifecycle as its own synchronization lifecycle, distinct from the component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Move cleanup beyond unmount-only thinking and show why it matters when dependencies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Explain the development-only setup/cleanup/setup stress test without implying an extra production synchronization cycle.
Instructor notes
If duplicate browser behavior appears in development, inspect whether cleanup exactly reverses setup.
Sources
React Strict Mode/useEffect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Explicitly announce the example change and prepare learners for async network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Make the new requirement concrete before HTTP, JSONPlaceholder, or Axios.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Give the minimum HTTP model needed for the rest of the lecture.
Instructor notes
Open the browser Network panel and point out URL, method, and response when the live request is shown later.
Sources
MDN HTTP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Connect HTTP vocabulary to the exact endpoint and actual JSON shape before introducing Axios.
Instructor notes
Open the endpoint or Network panel and identify URL, GET method, array, and one object.
Sources
Live JSONPlaceholder response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Reactivate only the async/await knowledge needed for the HTTP request; do not reteach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Introduce Axios as a library with a specific purpose before its syntax becomes part of an Effect.
Instructor notes
Do not present Axios as a React feature.
Sources
Axios getting-started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Make response.data meaningful before it appears inside the state update.
Instructor notes
Prevent learners from treating response itself as the feedback array.
Sources
Axios response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Connect the actual server response to familiar TypeScript object and array types.
Instructor notes
The generic describes expected response data, not runtime validation.
Sources
Axios TypeScript response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Reconnect the HTTP request to the existing Effect mental model rather than teaching fetching as a recipe.
Instructor notes
There is no Load feedback event; the request belongs to synchronization because the component is present.
Sources
React synchronization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Make the inner async-function pattern follow from async return behavior and the Effect setup cleanup contract.
Instructor notes
feedbackUrl is outside the component, so [] remains correct.
Sources
React useEffect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Complete the smallest useful server-to-state path and connect it back to the familiar state setter/subsequent render model.
Instructor notes
Follow only the successful path here; loading/error/empty come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Consolidate the complete first request and expose the exact ambiguity that motivates loading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Create the need for loading state from an ambiguity learners can observe in the current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Introduce loading state because the component needs to represent a fact its data array cannot express.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Motivate error state from another possible request outcome while keeping the first error model intentionally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Consolidate success, failure, and loading-finished state after each piece has already been motivated.
Instructor notes
Do not branch into retries, cancellation, status handling, or Axios error-object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Compress the request-state model and reconnect it to the principle of deriving information instead of duplicating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Introduce conditional rendering through a real request-state requirement and keep one clear decision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Complete the success-data branch while deliberately reusing existing map and key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Connect the asynchronous request path and rendering path into one complete mental model.
Instructor notes
In Strict Mode development, an extra GET may appear because React checks Effect setup behavior. Do not turn this into a cancellation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Test the difference between loading and empty plus the effect of conditional-rendering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Give learners a short transfer task focused on the request logic.
Instructor notes
Do not reveal the solution or unfinished source code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Check rendering versus event handler versus Effect using scenarios different from the earlier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Check dependency reasoning through a new request scenario rather than repeating trackingEnabled.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Retrieve the setup-cleanup relationship through a keyboard listener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Check the relationship between the typed Axios request, response object, response.data, and React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Check that learners can distinguish loading, failure, empty success, and successful data from current request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job
Give learners a more independent application of the complete request pattern without adding new concepts.
Instructor notes
Detailed setup, endpoint information, and verification guidance belong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UVI_MASTER">
    <p:bg>
      <p:bgPr>
        <a:solidFill>
          <a:srgbClr val="FFFFFF"/>
        </a:solidFill>
      </p:bgPr>
    </p:bg>
    <p:spTree>
      <p:nvGrpSpPr>
        <p:cNvPr id="1" name=""/>
        <p:cNvGrpSpPr/>
        <p:nvPr/>
      </p:nvGrpSpPr>
      <p:grpSpPr>
        <a:xfrm>
          <a:off x="0" y="0"/>
          <a:ext cx="0" cy="0"/>
          <a:chOff x="0" y="0"/>
          <a:chExt cx="0" cy="0"/>
        </a:xfrm>
      </p:grpSpPr>
      <p:pic>
        <p:nvPicPr>
          <p:cNvPr id="2" name="template-background" descr="/mnt/data/PPT-Slide-Template(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ody-text"/>
          <p:cNvSpPr/>
          <p:nvPr/>
        </p:nvSpPr>
        <p:spPr>
          <a:xfrm>
            <a:off x="585216" y="658368"/>
            <a:ext cx="2423160" cy="219456"/>
          </a:xfrm>
          <a:prstGeom prst="rect">
            <a:avLst/>
          </a:prstGeom>
          <a:noFill/>
          <a:ln/>
        </p:spPr>
        <p:txBody>
          <a:bodyPr wrap="square" lIns="0" tIns="0" rIns="0" bIns="0" rtlCol="0" anchor="t"/>
          <a:lstStyle/>
          <a:p>
            <a:pPr algn="l" indent="0" marL="0">
              <a:buNone/>
            </a:pPr>
            <a:r>
              <a:rPr lang="en-US" sz="1020" b="1" dirty="0">
                <a:solidFill>
                  <a:srgbClr val="1E3A8A"/>
                </a:solidFill>
                <a:latin typeface="Arial" pitchFamily="34" charset="0"/>
                <a:ea typeface="Arial" pitchFamily="34" charset="-122"/>
                <a:cs typeface="Arial" pitchFamily="34" charset="-120"/>
              </a:rPr>
              <a:t>Lecture 23 | React &amp; TypeScript</a:t>
            </a:r>
            <a:endParaRPr lang="en-US" sz="1020" dirty="0"/>
          </a:p>
        </p:txBody>
      </p:sp>
      <p:sp>
        <p:nvSpPr>
          <p:cNvPr id="3" name="body-text"/>
          <p:cNvSpPr/>
          <p:nvPr/>
        </p:nvSpPr>
        <p:spPr>
          <a:xfrm>
            <a:off x="585216" y="1078992"/>
            <a:ext cx="4754880" cy="1188720"/>
          </a:xfrm>
          <a:prstGeom prst="rect">
            <a:avLst/>
          </a:prstGeom>
          <a:noFill/>
          <a:ln/>
        </p:spPr>
        <p:txBody>
          <a:bodyPr wrap="square" lIns="0" tIns="0" rIns="0" bIns="0" rtlCol="0" anchor="t"/>
          <a:lstStyle/>
          <a:p>
            <a:pPr algn="l" indent="0" marL="0">
              <a:buNone/>
            </a:pPr>
            <a:r>
              <a:rPr lang="en-US" sz="3000" b="1" dirty="0">
                <a:solidFill>
                  <a:srgbClr val="0F172A"/>
                </a:solidFill>
                <a:latin typeface="Arial" pitchFamily="34" charset="0"/>
                <a:ea typeface="Arial" pitchFamily="34" charset="-122"/>
                <a:cs typeface="Arial" pitchFamily="34" charset="-120"/>
              </a:rPr>
              <a:t>Effects and external</a:t>
            </a:r>
            <a:endParaRPr lang="en-US" sz="3000" dirty="0"/>
          </a:p>
          <a:p>
            <a:pPr algn="l" indent="0" marL="0">
              <a:buNone/>
            </a:pPr>
            <a:r>
              <a:rPr lang="en-US" sz="3000" b="1" dirty="0">
                <a:solidFill>
                  <a:srgbClr val="0F172A"/>
                </a:solidFill>
                <a:latin typeface="Arial" pitchFamily="34" charset="0"/>
                <a:ea typeface="Arial" pitchFamily="34" charset="-122"/>
                <a:cs typeface="Arial" pitchFamily="34" charset="-120"/>
              </a:rPr>
              <a:t>data in React</a:t>
            </a:r>
            <a:endParaRPr lang="en-US" sz="3000" dirty="0"/>
          </a:p>
        </p:txBody>
      </p:sp>
      <p:sp>
        <p:nvSpPr>
          <p:cNvPr id="4" name="body-text"/>
          <p:cNvSpPr/>
          <p:nvPr/>
        </p:nvSpPr>
        <p:spPr>
          <a:xfrm>
            <a:off x="603504" y="2487168"/>
            <a:ext cx="4718304" cy="786384"/>
          </a:xfrm>
          <a:prstGeom prst="rect">
            <a:avLst/>
          </a:prstGeom>
          <a:noFill/>
          <a:ln/>
        </p:spPr>
        <p:txBody>
          <a:bodyPr wrap="square" lIns="0" tIns="0" rIns="0" bIns="0" rtlCol="0" anchor="t"/>
          <a:lstStyle/>
          <a:p>
            <a:pPr algn="l" indent="0" marL="0">
              <a:buNone/>
            </a:pPr>
            <a:r>
              <a:rPr lang="en-US" sz="1400" dirty="0">
                <a:solidFill>
                  <a:srgbClr val="475569"/>
                </a:solidFill>
                <a:latin typeface="Arial" pitchFamily="34" charset="0"/>
                <a:ea typeface="Arial" pitchFamily="34" charset="-122"/>
                <a:cs typeface="Arial" pitchFamily="34" charset="-120"/>
              </a:rPr>
              <a:t>Use Effects to keep a component synchronized with systems outside React, then load and render typed data from an API.</a:t>
            </a:r>
            <a:endParaRPr lang="en-US" sz="1400" dirty="0"/>
          </a:p>
        </p:txBody>
      </p:sp>
      <p:sp>
        <p:nvSpPr>
          <p:cNvPr id="5" name="pill"/>
          <p:cNvSpPr/>
          <p:nvPr/>
        </p:nvSpPr>
        <p:spPr>
          <a:xfrm>
            <a:off x="603504" y="3547872"/>
            <a:ext cx="1005840" cy="274320"/>
          </a:xfrm>
          <a:prstGeom prst="rect">
            <a:avLst/>
          </a:prstGeom>
          <a:solidFill>
            <a:srgbClr val="EFF6FF"/>
          </a:solidFill>
          <a:ln w="10160">
            <a:solidFill>
              <a:srgbClr val="EFF6FF"/>
            </a:solidFill>
          </a:ln>
        </p:spPr>
        <p:txBody>
          <a:bodyPr wrap="square" lIns="635" tIns="1270" rIns="1270" bIns="635" rtlCol="0" anchor="ctr"/>
          <a:lstStyle/>
          <a:p>
            <a:pPr algn="ctr" indent="0" marL="0">
              <a:buNone/>
            </a:pPr>
            <a:r>
              <a:rPr lang="en-US" sz="960" b="1" dirty="0">
                <a:solidFill>
                  <a:srgbClr val="1E3A8A"/>
                </a:solidFill>
                <a:latin typeface="Arial" pitchFamily="34" charset="0"/>
                <a:ea typeface="Arial" pitchFamily="34" charset="-122"/>
                <a:cs typeface="Arial" pitchFamily="34" charset="-120"/>
              </a:rPr>
              <a:t>useEffect</a:t>
            </a:r>
            <a:endParaRPr lang="en-US" sz="960" dirty="0"/>
          </a:p>
        </p:txBody>
      </p:sp>
      <p:sp>
        <p:nvSpPr>
          <p:cNvPr id="6" name="pill"/>
          <p:cNvSpPr/>
          <p:nvPr/>
        </p:nvSpPr>
        <p:spPr>
          <a:xfrm>
            <a:off x="1719072" y="3547872"/>
            <a:ext cx="1316736" cy="274320"/>
          </a:xfrm>
          <a:prstGeom prst="rect">
            <a:avLst/>
          </a:prstGeom>
          <a:solidFill>
            <a:srgbClr val="F5F3FF"/>
          </a:solidFill>
          <a:ln w="10160">
            <a:solidFill>
              <a:srgbClr val="F5F3FF"/>
            </a:solidFill>
          </a:ln>
        </p:spPr>
        <p:txBody>
          <a:bodyPr wrap="square" lIns="635" tIns="1270" rIns="1270" bIns="635" rtlCol="0" anchor="ctr"/>
          <a:lstStyle/>
          <a:p>
            <a:pPr algn="ctr" indent="0" marL="0">
              <a:buNone/>
            </a:pPr>
            <a:r>
              <a:rPr lang="en-US" sz="960" b="1" dirty="0">
                <a:solidFill>
                  <a:srgbClr val="6D28D9"/>
                </a:solidFill>
                <a:latin typeface="Arial" pitchFamily="34" charset="0"/>
                <a:ea typeface="Arial" pitchFamily="34" charset="-122"/>
                <a:cs typeface="Arial" pitchFamily="34" charset="-120"/>
              </a:rPr>
              <a:t>dependencies</a:t>
            </a:r>
            <a:endParaRPr lang="en-US" sz="960" dirty="0"/>
          </a:p>
        </p:txBody>
      </p:sp>
      <p:sp>
        <p:nvSpPr>
          <p:cNvPr id="7" name="pill"/>
          <p:cNvSpPr/>
          <p:nvPr/>
        </p:nvSpPr>
        <p:spPr>
          <a:xfrm>
            <a:off x="3145536" y="3547872"/>
            <a:ext cx="1005840" cy="274320"/>
          </a:xfrm>
          <a:prstGeom prst="rect">
            <a:avLst/>
          </a:prstGeom>
          <a:solidFill>
            <a:srgbClr val="FEE2E2"/>
          </a:solidFill>
          <a:ln w="10160">
            <a:solidFill>
              <a:srgbClr val="FEE2E2"/>
            </a:solidFill>
          </a:ln>
        </p:spPr>
        <p:txBody>
          <a:bodyPr wrap="square" lIns="635" tIns="1270" rIns="1270" bIns="635" rtlCol="0" anchor="ctr"/>
          <a:lstStyle/>
          <a:p>
            <a:pPr algn="ctr" indent="0" marL="0">
              <a:buNone/>
            </a:pPr>
            <a:r>
              <a:rPr lang="en-US" sz="960" b="1" dirty="0">
                <a:solidFill>
                  <a:srgbClr val="991B1B"/>
                </a:solidFill>
                <a:latin typeface="Arial" pitchFamily="34" charset="0"/>
                <a:ea typeface="Arial" pitchFamily="34" charset="-122"/>
                <a:cs typeface="Arial" pitchFamily="34" charset="-120"/>
              </a:rPr>
              <a:t>cleanup</a:t>
            </a:r>
            <a:endParaRPr lang="en-US" sz="960" dirty="0"/>
          </a:p>
        </p:txBody>
      </p:sp>
      <p:sp>
        <p:nvSpPr>
          <p:cNvPr id="8" name="pill"/>
          <p:cNvSpPr/>
          <p:nvPr/>
        </p:nvSpPr>
        <p:spPr>
          <a:xfrm>
            <a:off x="4261104" y="3547872"/>
            <a:ext cx="1005840" cy="274320"/>
          </a:xfrm>
          <a:prstGeom prst="rect">
            <a:avLst/>
          </a:prstGeom>
          <a:solidFill>
            <a:srgbClr val="DCFCE7"/>
          </a:solidFill>
          <a:ln w="10160">
            <a:solidFill>
              <a:srgbClr val="DCFCE7"/>
            </a:solidFill>
          </a:ln>
        </p:spPr>
        <p:txBody>
          <a:bodyPr wrap="square" lIns="635" tIns="1270" rIns="1270" bIns="635" rtlCol="0" anchor="ctr"/>
          <a:lstStyle/>
          <a:p>
            <a:pPr algn="ctr" indent="0" marL="0">
              <a:buNone/>
            </a:pPr>
            <a:r>
              <a:rPr lang="en-US" sz="960" b="1" dirty="0">
                <a:solidFill>
                  <a:srgbClr val="166534"/>
                </a:solidFill>
                <a:latin typeface="Arial" pitchFamily="34" charset="0"/>
                <a:ea typeface="Arial" pitchFamily="34" charset="-122"/>
                <a:cs typeface="Arial" pitchFamily="34" charset="-120"/>
              </a:rPr>
              <a:t>Axios</a:t>
            </a:r>
            <a:endParaRPr lang="en-US" sz="960" dirty="0"/>
          </a:p>
        </p:txBody>
      </p:sp>
      <p:sp>
        <p:nvSpPr>
          <p:cNvPr id="9" name="pill"/>
          <p:cNvSpPr/>
          <p:nvPr/>
        </p:nvSpPr>
        <p:spPr>
          <a:xfrm>
            <a:off x="5376672" y="3547872"/>
            <a:ext cx="1316736" cy="274320"/>
          </a:xfrm>
          <a:prstGeom prst="rect">
            <a:avLst/>
          </a:prstGeom>
          <a:solidFill>
            <a:srgbClr val="FEF9C3"/>
          </a:solidFill>
          <a:ln w="10160">
            <a:solidFill>
              <a:srgbClr val="FEF9C3"/>
            </a:solidFill>
          </a:ln>
        </p:spPr>
        <p:txBody>
          <a:bodyPr wrap="square" lIns="635" tIns="1270" rIns="1270" bIns="635" rtlCol="0" anchor="ctr"/>
          <a:lstStyle/>
          <a:p>
            <a:pPr algn="ctr" indent="0" marL="0">
              <a:buNone/>
            </a:pPr>
            <a:r>
              <a:rPr lang="en-US" sz="960" b="1" dirty="0">
                <a:solidFill>
                  <a:srgbClr val="854D0E"/>
                </a:solidFill>
                <a:latin typeface="Arial" pitchFamily="34" charset="0"/>
                <a:ea typeface="Arial" pitchFamily="34" charset="-122"/>
                <a:cs typeface="Arial" pitchFamily="34" charset="-120"/>
              </a:rPr>
              <a:t>request states</a:t>
            </a:r>
            <a:endParaRPr lang="en-US" sz="960" dirty="0"/>
          </a:p>
        </p:txBody>
      </p:sp>
      <p:sp>
        <p:nvSpPr>
          <p:cNvPr id="10" name="title-visual"/>
          <p:cNvSpPr/>
          <p:nvPr/>
        </p:nvSpPr>
        <p:spPr>
          <a:xfrm>
            <a:off x="5669280" y="1170432"/>
            <a:ext cx="2395728" cy="2487168"/>
          </a:xfrm>
          <a:prstGeom prst="roundRect">
            <a:avLst/>
          </a:prstGeom>
          <a:solidFill>
            <a:srgbClr val="F8FAFC"/>
          </a:solidFill>
          <a:ln w="12700">
            <a:solidFill>
              <a:srgbClr val="CBD5E1"/>
            </a:solidFill>
            <a:prstDash val="solid"/>
          </a:ln>
        </p:spPr>
      </p:sp>
      <p:sp>
        <p:nvSpPr>
          <p:cNvPr id="11" name="body-text"/>
          <p:cNvSpPr/>
          <p:nvPr/>
        </p:nvSpPr>
        <p:spPr>
          <a:xfrm>
            <a:off x="6080760" y="1481328"/>
            <a:ext cx="1572768" cy="219456"/>
          </a:xfrm>
          <a:prstGeom prst="rect">
            <a:avLst/>
          </a:prstGeom>
          <a:noFill/>
          <a:ln/>
        </p:spPr>
        <p:txBody>
          <a:bodyPr wrap="square" lIns="0" tIns="0" rIns="0" bIns="0" rtlCol="0" anchor="t"/>
          <a:lstStyle/>
          <a:p>
            <a:pPr algn="ctr" indent="0" marL="0">
              <a:buNone/>
            </a:pPr>
            <a:r>
              <a:rPr lang="en-US" sz="1140" b="1" dirty="0">
                <a:solidFill>
                  <a:srgbClr val="1E3A8A"/>
                </a:solidFill>
                <a:latin typeface="Arial" pitchFamily="34" charset="0"/>
                <a:ea typeface="Arial" pitchFamily="34" charset="-122"/>
                <a:cs typeface="Arial" pitchFamily="34" charset="-120"/>
              </a:rPr>
              <a:t>React component</a:t>
            </a:r>
            <a:endParaRPr lang="en-US" sz="1140" dirty="0"/>
          </a:p>
        </p:txBody>
      </p:sp>
      <p:sp>
        <p:nvSpPr>
          <p:cNvPr id="12" name="title-effect"/>
          <p:cNvSpPr/>
          <p:nvPr/>
        </p:nvSpPr>
        <p:spPr>
          <a:xfrm>
            <a:off x="6053328" y="1901952"/>
            <a:ext cx="1627632" cy="493776"/>
          </a:xfrm>
          <a:prstGeom prst="roundRect">
            <a:avLst/>
          </a:prstGeom>
          <a:solidFill>
            <a:srgbClr val="EFF6FF"/>
          </a:solidFill>
          <a:ln w="12700">
            <a:solidFill>
              <a:srgbClr val="BFDBFE"/>
            </a:solidFill>
            <a:prstDash val="solid"/>
          </a:ln>
        </p:spPr>
      </p:sp>
      <p:sp>
        <p:nvSpPr>
          <p:cNvPr id="13" name="body-text"/>
          <p:cNvSpPr/>
          <p:nvPr/>
        </p:nvSpPr>
        <p:spPr>
          <a:xfrm>
            <a:off x="6053328" y="2039112"/>
            <a:ext cx="1627632" cy="182880"/>
          </a:xfrm>
          <a:prstGeom prst="rect">
            <a:avLst/>
          </a:prstGeom>
          <a:noFill/>
          <a:ln/>
        </p:spPr>
        <p:txBody>
          <a:bodyPr wrap="square" lIns="0" tIns="0" rIns="0" bIns="0" rtlCol="0" anchor="t"/>
          <a:lstStyle/>
          <a:p>
            <a:pPr algn="ctr" indent="0" marL="0">
              <a:buNone/>
            </a:pPr>
            <a:r>
              <a:rPr lang="en-US" sz="1120" b="1" dirty="0">
                <a:solidFill>
                  <a:srgbClr val="1E3A8A"/>
                </a:solidFill>
                <a:latin typeface="Arial" pitchFamily="34" charset="0"/>
                <a:ea typeface="Arial" pitchFamily="34" charset="-122"/>
                <a:cs typeface="Arial" pitchFamily="34" charset="-120"/>
              </a:rPr>
              <a:t>Effect</a:t>
            </a:r>
            <a:endParaRPr lang="en-US" sz="1120" dirty="0"/>
          </a:p>
        </p:txBody>
      </p:sp>
      <p:sp>
        <p:nvSpPr>
          <p:cNvPr id="14" name="connector"/>
          <p:cNvSpPr/>
          <p:nvPr/>
        </p:nvSpPr>
        <p:spPr>
          <a:xfrm>
            <a:off x="6858000" y="2468880"/>
            <a:ext cx="0" cy="438912"/>
          </a:xfrm>
          <a:prstGeom prst="line">
            <a:avLst/>
          </a:prstGeom>
          <a:noFill/>
          <a:ln w="19050">
            <a:solidFill>
              <a:srgbClr val="64748B"/>
            </a:solidFill>
            <a:prstDash val="solid"/>
            <a:tailEnd type="triangle"/>
          </a:ln>
        </p:spPr>
      </p:sp>
      <p:sp>
        <p:nvSpPr>
          <p:cNvPr id="15" name="title-external"/>
          <p:cNvSpPr/>
          <p:nvPr/>
        </p:nvSpPr>
        <p:spPr>
          <a:xfrm>
            <a:off x="5943600" y="2926080"/>
            <a:ext cx="1847088" cy="493776"/>
          </a:xfrm>
          <a:prstGeom prst="roundRect">
            <a:avLst/>
          </a:prstGeom>
          <a:solidFill>
            <a:srgbClr val="DCFCE7"/>
          </a:solidFill>
          <a:ln w="12700">
            <a:solidFill>
              <a:srgbClr val="86EFAC"/>
            </a:solidFill>
            <a:prstDash val="solid"/>
          </a:ln>
        </p:spPr>
      </p:sp>
      <p:sp>
        <p:nvSpPr>
          <p:cNvPr id="16" name="body-text"/>
          <p:cNvSpPr/>
          <p:nvPr/>
        </p:nvSpPr>
        <p:spPr>
          <a:xfrm>
            <a:off x="5943600" y="3063240"/>
            <a:ext cx="1847088" cy="182880"/>
          </a:xfrm>
          <a:prstGeom prst="rect">
            <a:avLst/>
          </a:prstGeom>
          <a:noFill/>
          <a:ln/>
        </p:spPr>
        <p:txBody>
          <a:bodyPr wrap="square" lIns="0" tIns="0" rIns="0" bIns="0" rtlCol="0" anchor="t"/>
          <a:lstStyle/>
          <a:p>
            <a:pPr algn="ctr" indent="0" marL="0">
              <a:buNone/>
            </a:pPr>
            <a:r>
              <a:rPr lang="en-US" sz="1100" b="1" dirty="0">
                <a:solidFill>
                  <a:srgbClr val="166534"/>
                </a:solidFill>
                <a:latin typeface="Arial" pitchFamily="34" charset="0"/>
                <a:ea typeface="Arial" pitchFamily="34" charset="-122"/>
                <a:cs typeface="Arial" pitchFamily="34" charset="-120"/>
              </a:rPr>
              <a:t>External system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Today's plan</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OPENING</a:t>
            </a:r>
            <a:endParaRPr lang="en-US" sz="940" dirty="0"/>
          </a:p>
        </p:txBody>
      </p:sp>
      <p:sp>
        <p:nvSpPr>
          <p:cNvPr id="4" name="agenda-0"/>
          <p:cNvSpPr/>
          <p:nvPr/>
        </p:nvSpPr>
        <p:spPr>
          <a:xfrm>
            <a:off x="713232" y="1051560"/>
            <a:ext cx="7424928" cy="530352"/>
          </a:xfrm>
          <a:prstGeom prst="roundRect">
            <a:avLst/>
          </a:prstGeom>
          <a:solidFill>
            <a:srgbClr val="F8FAFC"/>
          </a:solidFill>
          <a:ln w="12700">
            <a:solidFill>
              <a:srgbClr val="CBD5E1"/>
            </a:solidFill>
            <a:prstDash val="solid"/>
          </a:ln>
        </p:spPr>
      </p:sp>
      <p:sp>
        <p:nvSpPr>
          <p:cNvPr id="5" name="pill"/>
          <p:cNvSpPr/>
          <p:nvPr/>
        </p:nvSpPr>
        <p:spPr>
          <a:xfrm>
            <a:off x="859536" y="1179576"/>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60" b="1" dirty="0">
                <a:solidFill>
                  <a:srgbClr val="FFFFFF"/>
                </a:solidFill>
                <a:latin typeface="Arial" pitchFamily="34" charset="0"/>
                <a:ea typeface="Arial" pitchFamily="34" charset="-122"/>
                <a:cs typeface="Arial" pitchFamily="34" charset="-120"/>
              </a:rPr>
              <a:t>1</a:t>
            </a:r>
            <a:endParaRPr lang="en-US" sz="960" dirty="0"/>
          </a:p>
        </p:txBody>
      </p:sp>
      <p:sp>
        <p:nvSpPr>
          <p:cNvPr id="6" name="body-text"/>
          <p:cNvSpPr/>
          <p:nvPr/>
        </p:nvSpPr>
        <p:spPr>
          <a:xfrm>
            <a:off x="1298448" y="1143000"/>
            <a:ext cx="2670048" cy="201168"/>
          </a:xfrm>
          <a:prstGeom prst="rect">
            <a:avLst/>
          </a:prstGeom>
          <a:noFill/>
          <a:ln/>
        </p:spPr>
        <p:txBody>
          <a:bodyPr wrap="square" lIns="0" tIns="0" rIns="0" bIns="0" rtlCol="0" anchor="t"/>
          <a:lstStyle/>
          <a:p>
            <a:pPr algn="l" indent="0" marL="0">
              <a:buNone/>
            </a:pPr>
            <a:r>
              <a:rPr lang="en-US" sz="1130" b="1" dirty="0">
                <a:solidFill>
                  <a:srgbClr val="0F172A"/>
                </a:solidFill>
                <a:latin typeface="Arial" pitchFamily="34" charset="0"/>
                <a:ea typeface="Arial" pitchFamily="34" charset="-122"/>
                <a:cs typeface="Arial" pitchFamily="34" charset="-120"/>
              </a:rPr>
              <a:t>Decide where code belongs</a:t>
            </a:r>
            <a:endParaRPr lang="en-US" sz="1130" dirty="0"/>
          </a:p>
        </p:txBody>
      </p:sp>
      <p:sp>
        <p:nvSpPr>
          <p:cNvPr id="7" name="body-text"/>
          <p:cNvSpPr/>
          <p:nvPr/>
        </p:nvSpPr>
        <p:spPr>
          <a:xfrm>
            <a:off x="4041648" y="1143000"/>
            <a:ext cx="3822192" cy="256032"/>
          </a:xfrm>
          <a:prstGeom prst="rect">
            <a:avLst/>
          </a:prstGeom>
          <a:noFill/>
          <a:ln/>
        </p:spPr>
        <p:txBody>
          <a:bodyPr wrap="square" lIns="0" tIns="0" rIns="0" bIns="0" rtlCol="0" anchor="t"/>
          <a:lstStyle/>
          <a:p>
            <a:pPr algn="l" indent="0" marL="0">
              <a:buNone/>
            </a:pPr>
            <a:r>
              <a:rPr lang="en-US" sz="1040" dirty="0">
                <a:solidFill>
                  <a:srgbClr val="475569"/>
                </a:solidFill>
                <a:latin typeface="Arial" pitchFamily="34" charset="0"/>
                <a:ea typeface="Arial" pitchFamily="34" charset="-122"/>
                <a:cs typeface="Arial" pitchFamily="34" charset="-120"/>
              </a:rPr>
              <a:t>Rendering, user actions, or external synchronization</a:t>
            </a:r>
            <a:endParaRPr lang="en-US" sz="1040" dirty="0"/>
          </a:p>
        </p:txBody>
      </p:sp>
      <p:sp>
        <p:nvSpPr>
          <p:cNvPr id="8" name="agenda-1"/>
          <p:cNvSpPr/>
          <p:nvPr/>
        </p:nvSpPr>
        <p:spPr>
          <a:xfrm>
            <a:off x="713232" y="1728216"/>
            <a:ext cx="7424928" cy="530352"/>
          </a:xfrm>
          <a:prstGeom prst="roundRect">
            <a:avLst/>
          </a:prstGeom>
          <a:solidFill>
            <a:srgbClr val="FFFFFF"/>
          </a:solidFill>
          <a:ln w="12700">
            <a:solidFill>
              <a:srgbClr val="CBD5E1"/>
            </a:solidFill>
            <a:prstDash val="solid"/>
          </a:ln>
        </p:spPr>
      </p:sp>
      <p:sp>
        <p:nvSpPr>
          <p:cNvPr id="9" name="pill"/>
          <p:cNvSpPr/>
          <p:nvPr/>
        </p:nvSpPr>
        <p:spPr>
          <a:xfrm>
            <a:off x="859536" y="1856232"/>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60" b="1" dirty="0">
                <a:solidFill>
                  <a:srgbClr val="FFFFFF"/>
                </a:solidFill>
                <a:latin typeface="Arial" pitchFamily="34" charset="0"/>
                <a:ea typeface="Arial" pitchFamily="34" charset="-122"/>
                <a:cs typeface="Arial" pitchFamily="34" charset="-120"/>
              </a:rPr>
              <a:t>2</a:t>
            </a:r>
            <a:endParaRPr lang="en-US" sz="960" dirty="0"/>
          </a:p>
        </p:txBody>
      </p:sp>
      <p:sp>
        <p:nvSpPr>
          <p:cNvPr id="10" name="body-text"/>
          <p:cNvSpPr/>
          <p:nvPr/>
        </p:nvSpPr>
        <p:spPr>
          <a:xfrm>
            <a:off x="1298448" y="1819656"/>
            <a:ext cx="2670048" cy="201168"/>
          </a:xfrm>
          <a:prstGeom prst="rect">
            <a:avLst/>
          </a:prstGeom>
          <a:noFill/>
          <a:ln/>
        </p:spPr>
        <p:txBody>
          <a:bodyPr wrap="square" lIns="0" tIns="0" rIns="0" bIns="0" rtlCol="0" anchor="t"/>
          <a:lstStyle/>
          <a:p>
            <a:pPr algn="l" indent="0" marL="0">
              <a:buNone/>
            </a:pPr>
            <a:r>
              <a:rPr lang="en-US" sz="1130" b="1" dirty="0">
                <a:solidFill>
                  <a:srgbClr val="0F172A"/>
                </a:solidFill>
                <a:latin typeface="Arial" pitchFamily="34" charset="0"/>
                <a:ea typeface="Arial" pitchFamily="34" charset="-122"/>
                <a:cs typeface="Arial" pitchFamily="34" charset="-120"/>
              </a:rPr>
              <a:t>Work with Effects</a:t>
            </a:r>
            <a:endParaRPr lang="en-US" sz="1130" dirty="0"/>
          </a:p>
        </p:txBody>
      </p:sp>
      <p:sp>
        <p:nvSpPr>
          <p:cNvPr id="11" name="body-text"/>
          <p:cNvSpPr/>
          <p:nvPr/>
        </p:nvSpPr>
        <p:spPr>
          <a:xfrm>
            <a:off x="4041648" y="1819656"/>
            <a:ext cx="3822192" cy="256032"/>
          </a:xfrm>
          <a:prstGeom prst="rect">
            <a:avLst/>
          </a:prstGeom>
          <a:noFill/>
          <a:ln/>
        </p:spPr>
        <p:txBody>
          <a:bodyPr wrap="square" lIns="0" tIns="0" rIns="0" bIns="0" rtlCol="0" anchor="t"/>
          <a:lstStyle/>
          <a:p>
            <a:pPr algn="l" indent="0" marL="0">
              <a:buNone/>
            </a:pPr>
            <a:r>
              <a:rPr lang="en-US" sz="1040" dirty="0">
                <a:solidFill>
                  <a:srgbClr val="475569"/>
                </a:solidFill>
                <a:latin typeface="Arial" pitchFamily="34" charset="0"/>
                <a:ea typeface="Arial" pitchFamily="34" charset="-122"/>
                <a:cs typeface="Arial" pitchFamily="34" charset="-120"/>
              </a:rPr>
              <a:t>useEffect, dependencies, cleanup</a:t>
            </a:r>
            <a:endParaRPr lang="en-US" sz="1040" dirty="0"/>
          </a:p>
        </p:txBody>
      </p:sp>
      <p:sp>
        <p:nvSpPr>
          <p:cNvPr id="12" name="agenda-2"/>
          <p:cNvSpPr/>
          <p:nvPr/>
        </p:nvSpPr>
        <p:spPr>
          <a:xfrm>
            <a:off x="713232" y="2404872"/>
            <a:ext cx="7424928" cy="530352"/>
          </a:xfrm>
          <a:prstGeom prst="roundRect">
            <a:avLst/>
          </a:prstGeom>
          <a:solidFill>
            <a:srgbClr val="F8FAFC"/>
          </a:solidFill>
          <a:ln w="12700">
            <a:solidFill>
              <a:srgbClr val="CBD5E1"/>
            </a:solidFill>
            <a:prstDash val="solid"/>
          </a:ln>
        </p:spPr>
      </p:sp>
      <p:sp>
        <p:nvSpPr>
          <p:cNvPr id="13" name="pill"/>
          <p:cNvSpPr/>
          <p:nvPr/>
        </p:nvSpPr>
        <p:spPr>
          <a:xfrm>
            <a:off x="859536" y="2532888"/>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60" b="1" dirty="0">
                <a:solidFill>
                  <a:srgbClr val="FFFFFF"/>
                </a:solidFill>
                <a:latin typeface="Arial" pitchFamily="34" charset="0"/>
                <a:ea typeface="Arial" pitchFamily="34" charset="-122"/>
                <a:cs typeface="Arial" pitchFamily="34" charset="-120"/>
              </a:rPr>
              <a:t>3</a:t>
            </a:r>
            <a:endParaRPr lang="en-US" sz="960" dirty="0"/>
          </a:p>
        </p:txBody>
      </p:sp>
      <p:sp>
        <p:nvSpPr>
          <p:cNvPr id="14" name="body-text"/>
          <p:cNvSpPr/>
          <p:nvPr/>
        </p:nvSpPr>
        <p:spPr>
          <a:xfrm>
            <a:off x="1298448" y="2496312"/>
            <a:ext cx="2670048" cy="201168"/>
          </a:xfrm>
          <a:prstGeom prst="rect">
            <a:avLst/>
          </a:prstGeom>
          <a:noFill/>
          <a:ln/>
        </p:spPr>
        <p:txBody>
          <a:bodyPr wrap="square" lIns="0" tIns="0" rIns="0" bIns="0" rtlCol="0" anchor="t"/>
          <a:lstStyle/>
          <a:p>
            <a:pPr algn="l" indent="0" marL="0">
              <a:buNone/>
            </a:pPr>
            <a:r>
              <a:rPr lang="en-US" sz="1130" b="1" dirty="0">
                <a:solidFill>
                  <a:srgbClr val="0F172A"/>
                </a:solidFill>
                <a:latin typeface="Arial" pitchFamily="34" charset="0"/>
                <a:ea typeface="Arial" pitchFamily="34" charset="-122"/>
                <a:cs typeface="Arial" pitchFamily="34" charset="-120"/>
              </a:rPr>
              <a:t>Fetch external data</a:t>
            </a:r>
            <a:endParaRPr lang="en-US" sz="1130" dirty="0"/>
          </a:p>
        </p:txBody>
      </p:sp>
      <p:sp>
        <p:nvSpPr>
          <p:cNvPr id="15" name="body-text"/>
          <p:cNvSpPr/>
          <p:nvPr/>
        </p:nvSpPr>
        <p:spPr>
          <a:xfrm>
            <a:off x="4041648" y="2496312"/>
            <a:ext cx="3822192" cy="256032"/>
          </a:xfrm>
          <a:prstGeom prst="rect">
            <a:avLst/>
          </a:prstGeom>
          <a:noFill/>
          <a:ln/>
        </p:spPr>
        <p:txBody>
          <a:bodyPr wrap="square" lIns="0" tIns="0" rIns="0" bIns="0" rtlCol="0" anchor="t"/>
          <a:lstStyle/>
          <a:p>
            <a:pPr algn="l" indent="0" marL="0">
              <a:buNone/>
            </a:pPr>
            <a:r>
              <a:rPr lang="en-US" sz="1040" dirty="0">
                <a:solidFill>
                  <a:srgbClr val="475569"/>
                </a:solidFill>
                <a:latin typeface="Arial" pitchFamily="34" charset="0"/>
                <a:ea typeface="Arial" pitchFamily="34" charset="-122"/>
                <a:cs typeface="Arial" pitchFamily="34" charset="-120"/>
              </a:rPr>
              <a:t>async/await, Axios, JSONPlaceholder</a:t>
            </a:r>
            <a:endParaRPr lang="en-US" sz="1040" dirty="0"/>
          </a:p>
        </p:txBody>
      </p:sp>
      <p:sp>
        <p:nvSpPr>
          <p:cNvPr id="16" name="agenda-3"/>
          <p:cNvSpPr/>
          <p:nvPr/>
        </p:nvSpPr>
        <p:spPr>
          <a:xfrm>
            <a:off x="713232" y="3081528"/>
            <a:ext cx="7424928" cy="530352"/>
          </a:xfrm>
          <a:prstGeom prst="roundRect">
            <a:avLst/>
          </a:prstGeom>
          <a:solidFill>
            <a:srgbClr val="FFFFFF"/>
          </a:solidFill>
          <a:ln w="12700">
            <a:solidFill>
              <a:srgbClr val="CBD5E1"/>
            </a:solidFill>
            <a:prstDash val="solid"/>
          </a:ln>
        </p:spPr>
      </p:sp>
      <p:sp>
        <p:nvSpPr>
          <p:cNvPr id="17" name="pill"/>
          <p:cNvSpPr/>
          <p:nvPr/>
        </p:nvSpPr>
        <p:spPr>
          <a:xfrm>
            <a:off x="859536" y="3209544"/>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60" b="1" dirty="0">
                <a:solidFill>
                  <a:srgbClr val="FFFFFF"/>
                </a:solidFill>
                <a:latin typeface="Arial" pitchFamily="34" charset="0"/>
                <a:ea typeface="Arial" pitchFamily="34" charset="-122"/>
                <a:cs typeface="Arial" pitchFamily="34" charset="-120"/>
              </a:rPr>
              <a:t>4</a:t>
            </a:r>
            <a:endParaRPr lang="en-US" sz="960" dirty="0"/>
          </a:p>
        </p:txBody>
      </p:sp>
      <p:sp>
        <p:nvSpPr>
          <p:cNvPr id="18" name="body-text"/>
          <p:cNvSpPr/>
          <p:nvPr/>
        </p:nvSpPr>
        <p:spPr>
          <a:xfrm>
            <a:off x="1298448" y="3172968"/>
            <a:ext cx="2670048" cy="201168"/>
          </a:xfrm>
          <a:prstGeom prst="rect">
            <a:avLst/>
          </a:prstGeom>
          <a:noFill/>
          <a:ln/>
        </p:spPr>
        <p:txBody>
          <a:bodyPr wrap="square" lIns="0" tIns="0" rIns="0" bIns="0" rtlCol="0" anchor="t"/>
          <a:lstStyle/>
          <a:p>
            <a:pPr algn="l" indent="0" marL="0">
              <a:buNone/>
            </a:pPr>
            <a:r>
              <a:rPr lang="en-US" sz="1130" b="1" dirty="0">
                <a:solidFill>
                  <a:srgbClr val="0F172A"/>
                </a:solidFill>
                <a:latin typeface="Arial" pitchFamily="34" charset="0"/>
                <a:ea typeface="Arial" pitchFamily="34" charset="-122"/>
                <a:cs typeface="Arial" pitchFamily="34" charset="-120"/>
              </a:rPr>
              <a:t>Represent the request in the UI</a:t>
            </a:r>
            <a:endParaRPr lang="en-US" sz="1130" dirty="0"/>
          </a:p>
        </p:txBody>
      </p:sp>
      <p:sp>
        <p:nvSpPr>
          <p:cNvPr id="19" name="body-text"/>
          <p:cNvSpPr/>
          <p:nvPr/>
        </p:nvSpPr>
        <p:spPr>
          <a:xfrm>
            <a:off x="4041648" y="3172968"/>
            <a:ext cx="3822192" cy="256032"/>
          </a:xfrm>
          <a:prstGeom prst="rect">
            <a:avLst/>
          </a:prstGeom>
          <a:noFill/>
          <a:ln/>
        </p:spPr>
        <p:txBody>
          <a:bodyPr wrap="square" lIns="0" tIns="0" rIns="0" bIns="0" rtlCol="0" anchor="t"/>
          <a:lstStyle/>
          <a:p>
            <a:pPr algn="l" indent="0" marL="0">
              <a:buNone/>
            </a:pPr>
            <a:r>
              <a:rPr lang="en-US" sz="1040" dirty="0">
                <a:solidFill>
                  <a:srgbClr val="475569"/>
                </a:solidFill>
                <a:latin typeface="Arial" pitchFamily="34" charset="0"/>
                <a:ea typeface="Arial" pitchFamily="34" charset="-122"/>
                <a:cs typeface="Arial" pitchFamily="34" charset="-120"/>
              </a:rPr>
              <a:t>loading, failure, empty, data</a:t>
            </a:r>
            <a:endParaRPr lang="en-US" sz="1040" dirty="0"/>
          </a:p>
        </p:txBody>
      </p:sp>
      <p:sp>
        <p:nvSpPr>
          <p:cNvPr id="20" name="agenda-4"/>
          <p:cNvSpPr/>
          <p:nvPr/>
        </p:nvSpPr>
        <p:spPr>
          <a:xfrm>
            <a:off x="713232" y="3758184"/>
            <a:ext cx="7424928" cy="530352"/>
          </a:xfrm>
          <a:prstGeom prst="roundRect">
            <a:avLst/>
          </a:prstGeom>
          <a:solidFill>
            <a:srgbClr val="F8FAFC"/>
          </a:solidFill>
          <a:ln w="12700">
            <a:solidFill>
              <a:srgbClr val="CBD5E1"/>
            </a:solidFill>
            <a:prstDash val="solid"/>
          </a:ln>
        </p:spPr>
      </p:sp>
      <p:sp>
        <p:nvSpPr>
          <p:cNvPr id="21" name="pill"/>
          <p:cNvSpPr/>
          <p:nvPr/>
        </p:nvSpPr>
        <p:spPr>
          <a:xfrm>
            <a:off x="859536" y="3886200"/>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60" b="1" dirty="0">
                <a:solidFill>
                  <a:srgbClr val="FFFFFF"/>
                </a:solidFill>
                <a:latin typeface="Arial" pitchFamily="34" charset="0"/>
                <a:ea typeface="Arial" pitchFamily="34" charset="-122"/>
                <a:cs typeface="Arial" pitchFamily="34" charset="-120"/>
              </a:rPr>
              <a:t>5</a:t>
            </a:r>
            <a:endParaRPr lang="en-US" sz="960" dirty="0"/>
          </a:p>
        </p:txBody>
      </p:sp>
      <p:sp>
        <p:nvSpPr>
          <p:cNvPr id="22" name="body-text"/>
          <p:cNvSpPr/>
          <p:nvPr/>
        </p:nvSpPr>
        <p:spPr>
          <a:xfrm>
            <a:off x="1298448" y="3849624"/>
            <a:ext cx="2670048" cy="201168"/>
          </a:xfrm>
          <a:prstGeom prst="rect">
            <a:avLst/>
          </a:prstGeom>
          <a:noFill/>
          <a:ln/>
        </p:spPr>
        <p:txBody>
          <a:bodyPr wrap="square" lIns="0" tIns="0" rIns="0" bIns="0" rtlCol="0" anchor="t"/>
          <a:lstStyle/>
          <a:p>
            <a:pPr algn="l" indent="0" marL="0">
              <a:buNone/>
            </a:pPr>
            <a:r>
              <a:rPr lang="en-US" sz="1130" b="1" dirty="0">
                <a:solidFill>
                  <a:srgbClr val="0F172A"/>
                </a:solidFill>
                <a:latin typeface="Arial" pitchFamily="34" charset="0"/>
                <a:ea typeface="Arial" pitchFamily="34" charset="-122"/>
                <a:cs typeface="Arial" pitchFamily="34" charset="-120"/>
              </a:rPr>
              <a:t>Apply the complete pattern</a:t>
            </a:r>
            <a:endParaRPr lang="en-US" sz="1130" dirty="0"/>
          </a:p>
        </p:txBody>
      </p:sp>
      <p:sp>
        <p:nvSpPr>
          <p:cNvPr id="23" name="body-text"/>
          <p:cNvSpPr/>
          <p:nvPr/>
        </p:nvSpPr>
        <p:spPr>
          <a:xfrm>
            <a:off x="4041648" y="3849624"/>
            <a:ext cx="3822192" cy="256032"/>
          </a:xfrm>
          <a:prstGeom prst="rect">
            <a:avLst/>
          </a:prstGeom>
          <a:noFill/>
          <a:ln/>
        </p:spPr>
        <p:txBody>
          <a:bodyPr wrap="square" lIns="0" tIns="0" rIns="0" bIns="0" rtlCol="0" anchor="t"/>
          <a:lstStyle/>
          <a:p>
            <a:pPr algn="l" indent="0" marL="0">
              <a:buNone/>
            </a:pPr>
            <a:r>
              <a:rPr lang="en-US" sz="1040" dirty="0">
                <a:solidFill>
                  <a:srgbClr val="475569"/>
                </a:solidFill>
                <a:latin typeface="Arial" pitchFamily="34" charset="0"/>
                <a:ea typeface="Arial" pitchFamily="34" charset="-122"/>
                <a:cs typeface="Arial" pitchFamily="34" charset="-120"/>
              </a:rPr>
              <a:t>small API-driven React interface</a:t>
            </a:r>
            <a:endParaRPr lang="en-US" sz="10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lide-title"/>
          <p:cNvSpPr/>
          <p:nvPr/>
        </p:nvSpPr>
        <p:spPr>
          <a:xfrm>
            <a:off x="548640" y="256032"/>
            <a:ext cx="64465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Warm-up</a:t>
            </a:r>
            <a:endParaRPr lang="en-US" sz="2600" dirty="0"/>
          </a:p>
        </p:txBody>
      </p:sp>
      <p:sp>
        <p:nvSpPr>
          <p:cNvPr id="3" name="body-text"/>
          <p:cNvSpPr/>
          <p:nvPr/>
        </p:nvSpPr>
        <p:spPr>
          <a:xfrm>
            <a:off x="566928" y="1051560"/>
            <a:ext cx="7040880" cy="548640"/>
          </a:xfrm>
          <a:prstGeom prst="rect">
            <a:avLst/>
          </a:prstGeom>
          <a:noFill/>
          <a:ln/>
        </p:spPr>
        <p:txBody>
          <a:bodyPr wrap="square" lIns="0" tIns="0" rIns="0" bIns="0" rtlCol="0" anchor="t"/>
          <a:lstStyle/>
          <a:p>
            <a:pPr algn="l" indent="0" marL="0">
              <a:buNone/>
            </a:pPr>
            <a:r>
              <a:rPr lang="en-US" sz="1340" dirty="0">
                <a:solidFill>
                  <a:srgbClr val="475569"/>
                </a:solidFill>
                <a:latin typeface="Arial" pitchFamily="34" charset="0"/>
                <a:ea typeface="Arial" pitchFamily="34" charset="-122"/>
                <a:cs typeface="Arial" pitchFamily="34" charset="-120"/>
              </a:rPr>
              <a:t>Retrieve the forms and state patterns we will reuse when external data enters the picture.</a:t>
            </a:r>
            <a:endParaRPr lang="en-US" sz="1340" dirty="0"/>
          </a:p>
        </p:txBody>
      </p:sp>
      <p:sp>
        <p:nvSpPr>
          <p:cNvPr id="4" name="section-step-0"/>
          <p:cNvSpPr/>
          <p:nvPr/>
        </p:nvSpPr>
        <p:spPr>
          <a:xfrm>
            <a:off x="713232" y="2267712"/>
            <a:ext cx="1298448" cy="658368"/>
          </a:xfrm>
          <a:prstGeom prst="roundRect">
            <a:avLst/>
          </a:prstGeom>
          <a:solidFill>
            <a:srgbClr val="EFF6FF"/>
          </a:solidFill>
          <a:ln w="12700">
            <a:solidFill>
              <a:srgbClr val="93C5FD"/>
            </a:solidFill>
            <a:prstDash val="solid"/>
          </a:ln>
        </p:spPr>
      </p:sp>
      <p:sp>
        <p:nvSpPr>
          <p:cNvPr id="5" name="pill"/>
          <p:cNvSpPr/>
          <p:nvPr/>
        </p:nvSpPr>
        <p:spPr>
          <a:xfrm>
            <a:off x="822960" y="2395728"/>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1</a:t>
            </a:r>
            <a:endParaRPr lang="en-US" sz="920" dirty="0"/>
          </a:p>
        </p:txBody>
      </p:sp>
      <p:sp>
        <p:nvSpPr>
          <p:cNvPr id="6" name="body-text"/>
          <p:cNvSpPr/>
          <p:nvPr/>
        </p:nvSpPr>
        <p:spPr>
          <a:xfrm>
            <a:off x="1188720" y="2368296"/>
            <a:ext cx="694944" cy="201168"/>
          </a:xfrm>
          <a:prstGeom prst="rect">
            <a:avLst/>
          </a:prstGeom>
          <a:noFill/>
          <a:ln/>
        </p:spPr>
        <p:txBody>
          <a:bodyPr wrap="square" lIns="0" tIns="0" rIns="0" bIns="0" rtlCol="0" anchor="t"/>
          <a:lstStyle/>
          <a:p>
            <a:pPr algn="l" indent="0" marL="0">
              <a:buNone/>
            </a:pPr>
            <a:r>
              <a:rPr lang="en-US" sz="950" b="1" dirty="0">
                <a:solidFill>
                  <a:srgbClr val="1E3A8A"/>
                </a:solidFill>
                <a:latin typeface="Arial" pitchFamily="34" charset="0"/>
                <a:ea typeface="Arial" pitchFamily="34" charset="-122"/>
                <a:cs typeface="Arial" pitchFamily="34" charset="-120"/>
              </a:rPr>
              <a:t>Warm-up</a:t>
            </a:r>
            <a:endParaRPr lang="en-US" sz="950" dirty="0"/>
          </a:p>
        </p:txBody>
      </p:sp>
      <p:sp>
        <p:nvSpPr>
          <p:cNvPr id="7" name="section-step-1"/>
          <p:cNvSpPr/>
          <p:nvPr/>
        </p:nvSpPr>
        <p:spPr>
          <a:xfrm>
            <a:off x="2240280" y="2267712"/>
            <a:ext cx="1298448" cy="658368"/>
          </a:xfrm>
          <a:prstGeom prst="roundRect">
            <a:avLst/>
          </a:prstGeom>
          <a:solidFill>
            <a:srgbClr val="F8FAFC"/>
          </a:solidFill>
          <a:ln w="12700">
            <a:solidFill>
              <a:srgbClr val="CBD5E1"/>
            </a:solidFill>
            <a:prstDash val="solid"/>
          </a:ln>
        </p:spPr>
      </p:sp>
      <p:sp>
        <p:nvSpPr>
          <p:cNvPr id="8" name="pill"/>
          <p:cNvSpPr/>
          <p:nvPr/>
        </p:nvSpPr>
        <p:spPr>
          <a:xfrm>
            <a:off x="2350008"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2</a:t>
            </a:r>
            <a:endParaRPr lang="en-US" sz="920" dirty="0"/>
          </a:p>
        </p:txBody>
      </p:sp>
      <p:sp>
        <p:nvSpPr>
          <p:cNvPr id="9" name="body-text"/>
          <p:cNvSpPr/>
          <p:nvPr/>
        </p:nvSpPr>
        <p:spPr>
          <a:xfrm>
            <a:off x="2715768"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Effects</a:t>
            </a:r>
            <a:endParaRPr lang="en-US" sz="950" dirty="0"/>
          </a:p>
        </p:txBody>
      </p:sp>
      <p:sp>
        <p:nvSpPr>
          <p:cNvPr id="10" name="section-step-2"/>
          <p:cNvSpPr/>
          <p:nvPr/>
        </p:nvSpPr>
        <p:spPr>
          <a:xfrm>
            <a:off x="3767328" y="2267712"/>
            <a:ext cx="1298448" cy="658368"/>
          </a:xfrm>
          <a:prstGeom prst="roundRect">
            <a:avLst/>
          </a:prstGeom>
          <a:solidFill>
            <a:srgbClr val="F8FAFC"/>
          </a:solidFill>
          <a:ln w="12700">
            <a:solidFill>
              <a:srgbClr val="CBD5E1"/>
            </a:solidFill>
            <a:prstDash val="solid"/>
          </a:ln>
        </p:spPr>
      </p:sp>
      <p:sp>
        <p:nvSpPr>
          <p:cNvPr id="11" name="pill"/>
          <p:cNvSpPr/>
          <p:nvPr/>
        </p:nvSpPr>
        <p:spPr>
          <a:xfrm>
            <a:off x="3877056"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3</a:t>
            </a:r>
            <a:endParaRPr lang="en-US" sz="920" dirty="0"/>
          </a:p>
        </p:txBody>
      </p:sp>
      <p:sp>
        <p:nvSpPr>
          <p:cNvPr id="12" name="body-text"/>
          <p:cNvSpPr/>
          <p:nvPr/>
        </p:nvSpPr>
        <p:spPr>
          <a:xfrm>
            <a:off x="4242816"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Dependencies</a:t>
            </a:r>
            <a:endParaRPr lang="en-US" sz="950" dirty="0"/>
          </a:p>
        </p:txBody>
      </p:sp>
      <p:sp>
        <p:nvSpPr>
          <p:cNvPr id="13" name="section-step-3"/>
          <p:cNvSpPr/>
          <p:nvPr/>
        </p:nvSpPr>
        <p:spPr>
          <a:xfrm>
            <a:off x="5294376" y="2267712"/>
            <a:ext cx="1298448" cy="658368"/>
          </a:xfrm>
          <a:prstGeom prst="roundRect">
            <a:avLst/>
          </a:prstGeom>
          <a:solidFill>
            <a:srgbClr val="F8FAFC"/>
          </a:solidFill>
          <a:ln w="12700">
            <a:solidFill>
              <a:srgbClr val="CBD5E1"/>
            </a:solidFill>
            <a:prstDash val="solid"/>
          </a:ln>
        </p:spPr>
      </p:sp>
      <p:sp>
        <p:nvSpPr>
          <p:cNvPr id="14" name="pill"/>
          <p:cNvSpPr/>
          <p:nvPr/>
        </p:nvSpPr>
        <p:spPr>
          <a:xfrm>
            <a:off x="5404104"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4</a:t>
            </a:r>
            <a:endParaRPr lang="en-US" sz="920" dirty="0"/>
          </a:p>
        </p:txBody>
      </p:sp>
      <p:sp>
        <p:nvSpPr>
          <p:cNvPr id="15" name="body-text"/>
          <p:cNvSpPr/>
          <p:nvPr/>
        </p:nvSpPr>
        <p:spPr>
          <a:xfrm>
            <a:off x="5769864"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External data</a:t>
            </a:r>
            <a:endParaRPr lang="en-US" sz="950" dirty="0"/>
          </a:p>
        </p:txBody>
      </p:sp>
      <p:sp>
        <p:nvSpPr>
          <p:cNvPr id="16" name="section-step-4"/>
          <p:cNvSpPr/>
          <p:nvPr/>
        </p:nvSpPr>
        <p:spPr>
          <a:xfrm>
            <a:off x="6821424" y="2267712"/>
            <a:ext cx="1298448" cy="658368"/>
          </a:xfrm>
          <a:prstGeom prst="roundRect">
            <a:avLst/>
          </a:prstGeom>
          <a:solidFill>
            <a:srgbClr val="F8FAFC"/>
          </a:solidFill>
          <a:ln w="12700">
            <a:solidFill>
              <a:srgbClr val="CBD5E1"/>
            </a:solidFill>
            <a:prstDash val="solid"/>
          </a:ln>
        </p:spPr>
      </p:sp>
      <p:sp>
        <p:nvSpPr>
          <p:cNvPr id="17" name="pill"/>
          <p:cNvSpPr/>
          <p:nvPr/>
        </p:nvSpPr>
        <p:spPr>
          <a:xfrm>
            <a:off x="6931152"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5</a:t>
            </a:r>
            <a:endParaRPr lang="en-US" sz="920" dirty="0"/>
          </a:p>
        </p:txBody>
      </p:sp>
      <p:sp>
        <p:nvSpPr>
          <p:cNvPr id="18" name="body-text"/>
          <p:cNvSpPr/>
          <p:nvPr/>
        </p:nvSpPr>
        <p:spPr>
          <a:xfrm>
            <a:off x="7296912"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Request states</a:t>
            </a:r>
            <a:endParaRPr lang="en-US" sz="950" dirty="0"/>
          </a:p>
        </p:txBody>
      </p:sp>
      <p:sp>
        <p:nvSpPr>
          <p:cNvPr id="19" name="section-rail"/>
          <p:cNvSpPr/>
          <p:nvPr/>
        </p:nvSpPr>
        <p:spPr>
          <a:xfrm>
            <a:off x="1005840" y="3328416"/>
            <a:ext cx="7095744" cy="0"/>
          </a:xfrm>
          <a:prstGeom prst="line">
            <a:avLst/>
          </a:prstGeom>
          <a:noFill/>
          <a:ln w="25400">
            <a:solidFill>
              <a:srgbClr val="CBD5E1"/>
            </a:solidFill>
            <a:prstDash val="solid"/>
          </a:ln>
        </p:spPr>
      </p:sp>
      <p:sp>
        <p:nvSpPr>
          <p:cNvPr id="20" name="section-current"/>
          <p:cNvSpPr/>
          <p:nvPr/>
        </p:nvSpPr>
        <p:spPr>
          <a:xfrm>
            <a:off x="905256" y="3227832"/>
            <a:ext cx="201168" cy="201168"/>
          </a:xfrm>
          <a:prstGeom prst="ellipse">
            <a:avLst/>
          </a:prstGeom>
          <a:solidFill>
            <a:srgbClr val="1E3A8A"/>
          </a:solidFill>
          <a:ln w="12700">
            <a:solidFill>
              <a:srgbClr val="1E3A8A"/>
            </a:solidFill>
            <a:prstDash val="solid"/>
          </a:ln>
        </p:spPr>
      </p:sp>
      <p:sp>
        <p:nvSpPr>
          <p:cNvPr id="21" name="body-text"/>
          <p:cNvSpPr/>
          <p:nvPr/>
        </p:nvSpPr>
        <p:spPr>
          <a:xfrm>
            <a:off x="713232" y="3785616"/>
            <a:ext cx="1005840" cy="201168"/>
          </a:xfrm>
          <a:prstGeom prst="rect">
            <a:avLst/>
          </a:prstGeom>
          <a:noFill/>
          <a:ln/>
        </p:spPr>
        <p:txBody>
          <a:bodyPr wrap="square" lIns="0" tIns="0" rIns="0" bIns="0" rtlCol="0" anchor="t"/>
          <a:lstStyle/>
          <a:p>
            <a:pPr algn="l" indent="0" marL="0">
              <a:buNone/>
            </a:pPr>
            <a:r>
              <a:rPr lang="en-US" sz="1000" b="1" dirty="0">
                <a:solidFill>
                  <a:srgbClr val="1E3A8A"/>
                </a:solidFill>
                <a:latin typeface="Arial" pitchFamily="34" charset="0"/>
                <a:ea typeface="Arial" pitchFamily="34" charset="-122"/>
                <a:cs typeface="Arial" pitchFamily="34" charset="-120"/>
              </a:rPr>
              <a:t>Section 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Warm-up 1: Update one form field</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WARM-UP</a:t>
            </a:r>
            <a:endParaRPr lang="en-US" sz="940" dirty="0"/>
          </a:p>
        </p:txBody>
      </p:sp>
      <p:sp>
        <p:nvSpPr>
          <p:cNvPr id="4" name="label"/>
          <p:cNvSpPr/>
          <p:nvPr/>
        </p:nvSpPr>
        <p:spPr>
          <a:xfrm>
            <a:off x="658368" y="960120"/>
            <a:ext cx="2286000"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Current state and controlled input</a:t>
            </a:r>
            <a:endParaRPr lang="en-US" sz="1050" dirty="0"/>
          </a:p>
        </p:txBody>
      </p:sp>
      <p:sp>
        <p:nvSpPr>
          <p:cNvPr id="5" name="warmup-state"/>
          <p:cNvSpPr/>
          <p:nvPr/>
        </p:nvSpPr>
        <p:spPr>
          <a:xfrm>
            <a:off x="658368" y="1207008"/>
            <a:ext cx="3685032" cy="65836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40" dirty="0">
                <a:solidFill>
                  <a:srgbClr val="FFFFFF"/>
                </a:solidFill>
                <a:latin typeface="Courier New" pitchFamily="34" charset="0"/>
                <a:ea typeface="Courier New" pitchFamily="34" charset="-122"/>
                <a:cs typeface="Courier New" pitchFamily="34" charset="-120"/>
              </a:rPr>
              <a:t>const [profile, setProfile] = useState&lt;Profile&gt;({</a:t>
            </a:r>
            <a:endParaRPr lang="en-US" sz="1040" dirty="0"/>
          </a:p>
          <a:p>
            <a:pPr indent="0" marL="0">
              <a:buNone/>
            </a:pPr>
            <a:r>
              <a:rPr lang="en-US" sz="1040" dirty="0">
                <a:solidFill>
                  <a:srgbClr val="FFFFFF"/>
                </a:solidFill>
                <a:latin typeface="Courier New" pitchFamily="34" charset="0"/>
                <a:ea typeface="Courier New" pitchFamily="34" charset="-122"/>
                <a:cs typeface="Courier New" pitchFamily="34" charset="-120"/>
              </a:rPr>
              <a:t>  displayName: "Mira", role: "Student"</a:t>
            </a:r>
            <a:endParaRPr lang="en-US" sz="1040" dirty="0"/>
          </a:p>
          <a:p>
            <a:pPr indent="0" marL="0">
              <a:buNone/>
            </a:pPr>
            <a:r>
              <a:rPr lang="en-US" sz="1040" dirty="0">
                <a:solidFill>
                  <a:srgbClr val="FFFFFF"/>
                </a:solidFill>
                <a:latin typeface="Courier New" pitchFamily="34" charset="0"/>
                <a:ea typeface="Courier New" pitchFamily="34" charset="-122"/>
                <a:cs typeface="Courier New" pitchFamily="34" charset="-120"/>
              </a:rPr>
              <a:t>});</a:t>
            </a:r>
            <a:endParaRPr lang="en-US" sz="1040" dirty="0"/>
          </a:p>
        </p:txBody>
      </p:sp>
      <p:sp>
        <p:nvSpPr>
          <p:cNvPr id="6" name="warmup-input"/>
          <p:cNvSpPr/>
          <p:nvPr/>
        </p:nvSpPr>
        <p:spPr>
          <a:xfrm>
            <a:off x="4498848" y="1207008"/>
            <a:ext cx="3657600" cy="65836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40" dirty="0">
                <a:solidFill>
                  <a:srgbClr val="FFFFFF"/>
                </a:solidFill>
                <a:latin typeface="Courier New" pitchFamily="34" charset="0"/>
                <a:ea typeface="Courier New" pitchFamily="34" charset="-122"/>
                <a:cs typeface="Courier New" pitchFamily="34" charset="-120"/>
              </a:rPr>
              <a:t>&lt;input value={profile.displayName}</a:t>
            </a:r>
            <a:endParaRPr lang="en-US" sz="1040" dirty="0"/>
          </a:p>
          <a:p>
            <a:pPr indent="0" marL="0">
              <a:buNone/>
            </a:pPr>
            <a:r>
              <a:rPr lang="en-US" sz="1040" dirty="0">
                <a:solidFill>
                  <a:srgbClr val="FFFFFF"/>
                </a:solidFill>
                <a:latin typeface="Courier New" pitchFamily="34" charset="0"/>
                <a:ea typeface="Courier New" pitchFamily="34" charset="-122"/>
                <a:cs typeface="Courier New" pitchFamily="34" charset="-120"/>
              </a:rPr>
              <a:t>  onChange={(event) =&gt; { /* update */ }} /&gt;</a:t>
            </a:r>
            <a:endParaRPr lang="en-US" sz="1040" dirty="0"/>
          </a:p>
        </p:txBody>
      </p:sp>
      <p:sp>
        <p:nvSpPr>
          <p:cNvPr id="7" name="body-text"/>
          <p:cNvSpPr/>
          <p:nvPr/>
        </p:nvSpPr>
        <p:spPr>
          <a:xfrm>
            <a:off x="658368" y="2011680"/>
            <a:ext cx="7498080" cy="292608"/>
          </a:xfrm>
          <a:prstGeom prst="rect">
            <a:avLst/>
          </a:prstGeom>
          <a:noFill/>
          <a:ln/>
        </p:spPr>
        <p:txBody>
          <a:bodyPr wrap="square" lIns="0" tIns="0" rIns="0" bIns="0" rtlCol="0" anchor="t"/>
          <a:lstStyle/>
          <a:p>
            <a:pPr algn="l" indent="0" marL="0">
              <a:buNone/>
            </a:pPr>
            <a:r>
              <a:rPr lang="en-US" sz="1210" b="1" dirty="0">
                <a:solidFill>
                  <a:srgbClr val="0F172A"/>
                </a:solidFill>
                <a:latin typeface="Arial" pitchFamily="34" charset="0"/>
                <a:ea typeface="Arial" pitchFamily="34" charset="-122"/>
                <a:cs typeface="Arial" pitchFamily="34" charset="-120"/>
              </a:rPr>
              <a:t>Which update changes only displayName and preserves the current role?</a:t>
            </a:r>
            <a:endParaRPr lang="en-US" sz="1210" dirty="0"/>
          </a:p>
        </p:txBody>
      </p:sp>
      <p:sp>
        <p:nvSpPr>
          <p:cNvPr id="8" name="option-A"/>
          <p:cNvSpPr/>
          <p:nvPr/>
        </p:nvSpPr>
        <p:spPr>
          <a:xfrm>
            <a:off x="658368" y="2414016"/>
            <a:ext cx="3657600" cy="658368"/>
          </a:xfrm>
          <a:prstGeom prst="roundRect">
            <a:avLst/>
          </a:prstGeom>
          <a:solidFill>
            <a:srgbClr val="FFFFFF"/>
          </a:solidFill>
          <a:ln w="12700">
            <a:solidFill>
              <a:srgbClr val="CBD5E1"/>
            </a:solidFill>
            <a:prstDash val="solid"/>
          </a:ln>
        </p:spPr>
      </p:sp>
      <p:sp>
        <p:nvSpPr>
          <p:cNvPr id="9" name="option-A-badge"/>
          <p:cNvSpPr/>
          <p:nvPr/>
        </p:nvSpPr>
        <p:spPr>
          <a:xfrm>
            <a:off x="768096" y="252374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A</a:t>
            </a:r>
            <a:endParaRPr lang="en-US" sz="1080" dirty="0"/>
          </a:p>
        </p:txBody>
      </p:sp>
      <p:sp>
        <p:nvSpPr>
          <p:cNvPr id="10" name="option-A-code"/>
          <p:cNvSpPr/>
          <p:nvPr/>
        </p:nvSpPr>
        <p:spPr>
          <a:xfrm>
            <a:off x="1170432" y="2505456"/>
            <a:ext cx="3035808" cy="47548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80" dirty="0">
                <a:solidFill>
                  <a:srgbClr val="FFFFFF"/>
                </a:solidFill>
                <a:latin typeface="Courier New" pitchFamily="34" charset="0"/>
                <a:ea typeface="Courier New" pitchFamily="34" charset="-122"/>
                <a:cs typeface="Courier New" pitchFamily="34" charset="-120"/>
              </a:rPr>
              <a:t>setProfile({ ...profile,</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displayName: event.currentTarget.value</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a:t>
            </a:r>
            <a:endParaRPr lang="en-US" sz="980" dirty="0"/>
          </a:p>
        </p:txBody>
      </p:sp>
      <p:sp>
        <p:nvSpPr>
          <p:cNvPr id="11" name="option-B"/>
          <p:cNvSpPr/>
          <p:nvPr/>
        </p:nvSpPr>
        <p:spPr>
          <a:xfrm>
            <a:off x="4498848" y="2414016"/>
            <a:ext cx="3657600" cy="658368"/>
          </a:xfrm>
          <a:prstGeom prst="roundRect">
            <a:avLst/>
          </a:prstGeom>
          <a:solidFill>
            <a:srgbClr val="FFFFFF"/>
          </a:solidFill>
          <a:ln w="12700">
            <a:solidFill>
              <a:srgbClr val="CBD5E1"/>
            </a:solidFill>
            <a:prstDash val="solid"/>
          </a:ln>
        </p:spPr>
      </p:sp>
      <p:sp>
        <p:nvSpPr>
          <p:cNvPr id="12" name="option-B-badge"/>
          <p:cNvSpPr/>
          <p:nvPr/>
        </p:nvSpPr>
        <p:spPr>
          <a:xfrm>
            <a:off x="4608576" y="252374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B</a:t>
            </a:r>
            <a:endParaRPr lang="en-US" sz="1080" dirty="0"/>
          </a:p>
        </p:txBody>
      </p:sp>
      <p:sp>
        <p:nvSpPr>
          <p:cNvPr id="13" name="option-B-code"/>
          <p:cNvSpPr/>
          <p:nvPr/>
        </p:nvSpPr>
        <p:spPr>
          <a:xfrm>
            <a:off x="5010912" y="2505456"/>
            <a:ext cx="3035808" cy="47548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80" dirty="0">
                <a:solidFill>
                  <a:srgbClr val="FFFFFF"/>
                </a:solidFill>
                <a:latin typeface="Courier New" pitchFamily="34" charset="0"/>
                <a:ea typeface="Courier New" pitchFamily="34" charset="-122"/>
                <a:cs typeface="Courier New" pitchFamily="34" charset="-120"/>
              </a:rPr>
              <a:t>setProfile({</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displayName: event.currentTarget.value</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a:t>
            </a:r>
            <a:endParaRPr lang="en-US" sz="980" dirty="0"/>
          </a:p>
        </p:txBody>
      </p:sp>
      <p:sp>
        <p:nvSpPr>
          <p:cNvPr id="14" name="option-C"/>
          <p:cNvSpPr/>
          <p:nvPr/>
        </p:nvSpPr>
        <p:spPr>
          <a:xfrm>
            <a:off x="658368" y="3182112"/>
            <a:ext cx="3657600" cy="694944"/>
          </a:xfrm>
          <a:prstGeom prst="roundRect">
            <a:avLst/>
          </a:prstGeom>
          <a:solidFill>
            <a:srgbClr val="FFFFFF"/>
          </a:solidFill>
          <a:ln w="12700">
            <a:solidFill>
              <a:srgbClr val="CBD5E1"/>
            </a:solidFill>
            <a:prstDash val="solid"/>
          </a:ln>
        </p:spPr>
      </p:sp>
      <p:sp>
        <p:nvSpPr>
          <p:cNvPr id="15" name="option-C-badge"/>
          <p:cNvSpPr/>
          <p:nvPr/>
        </p:nvSpPr>
        <p:spPr>
          <a:xfrm>
            <a:off x="768096" y="3291840"/>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C</a:t>
            </a:r>
            <a:endParaRPr lang="en-US" sz="1080" dirty="0"/>
          </a:p>
        </p:txBody>
      </p:sp>
      <p:sp>
        <p:nvSpPr>
          <p:cNvPr id="16" name="option-C-code"/>
          <p:cNvSpPr/>
          <p:nvPr/>
        </p:nvSpPr>
        <p:spPr>
          <a:xfrm>
            <a:off x="1170432" y="3273552"/>
            <a:ext cx="3035808" cy="512064"/>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30" dirty="0">
                <a:solidFill>
                  <a:srgbClr val="FFFFFF"/>
                </a:solidFill>
                <a:latin typeface="Courier New" pitchFamily="34" charset="0"/>
                <a:ea typeface="Courier New" pitchFamily="34" charset="-122"/>
                <a:cs typeface="Courier New" pitchFamily="34" charset="-120"/>
              </a:rPr>
              <a:t>setProfile({ ...profile,</a:t>
            </a:r>
            <a:endParaRPr lang="en-US" sz="930" dirty="0"/>
          </a:p>
          <a:p>
            <a:pPr indent="0" marL="0">
              <a:buNone/>
            </a:pPr>
            <a:r>
              <a:rPr lang="en-US" sz="930" dirty="0">
                <a:solidFill>
                  <a:srgbClr val="FFFFFF"/>
                </a:solidFill>
                <a:latin typeface="Courier New" pitchFamily="34" charset="0"/>
                <a:ea typeface="Courier New" pitchFamily="34" charset="-122"/>
                <a:cs typeface="Courier New" pitchFamily="34" charset="-120"/>
              </a:rPr>
              <a:t>  displayName: event.currentTarget.checked</a:t>
            </a:r>
            <a:endParaRPr lang="en-US" sz="930" dirty="0"/>
          </a:p>
          <a:p>
            <a:pPr indent="0" marL="0">
              <a:buNone/>
            </a:pPr>
            <a:r>
              <a:rPr lang="en-US" sz="930" dirty="0">
                <a:solidFill>
                  <a:srgbClr val="FFFFFF"/>
                </a:solidFill>
                <a:latin typeface="Courier New" pitchFamily="34" charset="0"/>
                <a:ea typeface="Courier New" pitchFamily="34" charset="-122"/>
                <a:cs typeface="Courier New" pitchFamily="34" charset="-120"/>
              </a:rPr>
              <a:t>});</a:t>
            </a:r>
            <a:endParaRPr lang="en-US" sz="930" dirty="0"/>
          </a:p>
        </p:txBody>
      </p:sp>
      <p:sp>
        <p:nvSpPr>
          <p:cNvPr id="17" name="option-D"/>
          <p:cNvSpPr/>
          <p:nvPr/>
        </p:nvSpPr>
        <p:spPr>
          <a:xfrm>
            <a:off x="4498848" y="3182112"/>
            <a:ext cx="3657600" cy="694944"/>
          </a:xfrm>
          <a:prstGeom prst="roundRect">
            <a:avLst/>
          </a:prstGeom>
          <a:solidFill>
            <a:srgbClr val="FFFFFF"/>
          </a:solidFill>
          <a:ln w="12700">
            <a:solidFill>
              <a:srgbClr val="CBD5E1"/>
            </a:solidFill>
            <a:prstDash val="solid"/>
          </a:ln>
        </p:spPr>
      </p:sp>
      <p:sp>
        <p:nvSpPr>
          <p:cNvPr id="18" name="option-D-badge"/>
          <p:cNvSpPr/>
          <p:nvPr/>
        </p:nvSpPr>
        <p:spPr>
          <a:xfrm>
            <a:off x="4608576" y="3291840"/>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D</a:t>
            </a:r>
            <a:endParaRPr lang="en-US" sz="1080" dirty="0"/>
          </a:p>
        </p:txBody>
      </p:sp>
      <p:sp>
        <p:nvSpPr>
          <p:cNvPr id="19" name="option-D-code"/>
          <p:cNvSpPr/>
          <p:nvPr/>
        </p:nvSpPr>
        <p:spPr>
          <a:xfrm>
            <a:off x="5010912" y="3273552"/>
            <a:ext cx="3035808" cy="512064"/>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profile.displayName = event.currentTarget.value;</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setProfile(profile);</a:t>
            </a:r>
            <a:endParaRPr lang="en-US" sz="950" dirty="0"/>
          </a:p>
        </p:txBody>
      </p:sp>
      <p:sp>
        <p:nvSpPr>
          <p:cNvPr id="20" name="answer-box"/>
          <p:cNvSpPr/>
          <p:nvPr/>
        </p:nvSpPr>
        <p:spPr>
          <a:xfrm>
            <a:off x="658368" y="3959352"/>
            <a:ext cx="7498080" cy="566928"/>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1030" b="1" dirty="0">
                <a:solidFill>
                  <a:srgbClr val="166534"/>
                </a:solidFill>
                <a:latin typeface="Arial" pitchFamily="34" charset="0"/>
                <a:ea typeface="Arial" pitchFamily="34" charset="-122"/>
                <a:cs typeface="Arial" pitchFamily="34" charset="-120"/>
              </a:rPr>
              <a:t>Answer: </a:t>
            </a:r>
            <a:pPr indent="0" marL="0">
              <a:buNone/>
            </a:pPr>
            <a:r>
              <a:rPr lang="en-US" sz="1030" b="1" dirty="0">
                <a:solidFill>
                  <a:srgbClr val="0F172A"/>
                </a:solidFill>
                <a:latin typeface="Arial" pitchFamily="34" charset="0"/>
                <a:ea typeface="Arial" pitchFamily="34" charset="-122"/>
                <a:cs typeface="Arial" pitchFamily="34" charset="-120"/>
              </a:rPr>
              <a:t>A</a:t>
            </a:r>
            <a:pPr indent="0" marL="0">
              <a:buNone/>
            </a:pPr>
            <a:endParaRPr lang="en-US" sz="1030" dirty="0"/>
          </a:p>
          <a:p>
            <a:pPr indent="0" marL="0">
              <a:buNone/>
            </a:pPr>
            <a:r>
              <a:rPr lang="en-US" sz="1030" b="1" dirty="0">
                <a:solidFill>
                  <a:srgbClr val="166534"/>
                </a:solidFill>
                <a:latin typeface="Arial" pitchFamily="34" charset="0"/>
                <a:ea typeface="Arial" pitchFamily="34" charset="-122"/>
                <a:cs typeface="Arial" pitchFamily="34" charset="-120"/>
              </a:rPr>
              <a:t>Why: </a:t>
            </a:r>
            <a:endParaRPr lang="en-US" sz="1030" dirty="0"/>
          </a:p>
          <a:p>
            <a:pPr indent="0" marL="0">
              <a:buNone/>
            </a:pPr>
            <a:r>
              <a:rPr lang="en-US" sz="1030" dirty="0">
                <a:solidFill>
                  <a:srgbClr val="0F172A"/>
                </a:solidFill>
                <a:latin typeface="Arial" pitchFamily="34" charset="0"/>
                <a:ea typeface="Arial" pitchFamily="34" charset="-122"/>
                <a:cs typeface="Arial" pitchFamily="34" charset="-120"/>
              </a:rPr>
              <a:t>Spreading profile preserves role; the later displayName property replaces only that field.</a:t>
            </a:r>
            <a:endParaRPr lang="en-US" sz="10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Warm-up 2: Read a checkbox correctly</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WARM-UP</a:t>
            </a:r>
            <a:endParaRPr lang="en-US" sz="940" dirty="0"/>
          </a:p>
        </p:txBody>
      </p:sp>
      <p:sp>
        <p:nvSpPr>
          <p:cNvPr id="4" name="checkbox-code"/>
          <p:cNvSpPr/>
          <p:nvPr/>
        </p:nvSpPr>
        <p:spPr>
          <a:xfrm>
            <a:off x="694944" y="1097280"/>
            <a:ext cx="3364992" cy="126187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80" dirty="0">
                <a:solidFill>
                  <a:srgbClr val="FFFFFF"/>
                </a:solidFill>
                <a:latin typeface="Courier New" pitchFamily="34" charset="0"/>
                <a:ea typeface="Courier New" pitchFamily="34" charset="-122"/>
                <a:cs typeface="Courier New" pitchFamily="34" charset="-120"/>
              </a:rPr>
              <a:t>&lt;input</a:t>
            </a:r>
            <a:endParaRPr lang="en-US" sz="1080" dirty="0"/>
          </a:p>
          <a:p>
            <a:pPr indent="0" marL="0">
              <a:buNone/>
            </a:pPr>
            <a:r>
              <a:rPr lang="en-US" sz="1080" dirty="0">
                <a:solidFill>
                  <a:srgbClr val="FFFFFF"/>
                </a:solidFill>
                <a:latin typeface="Courier New" pitchFamily="34" charset="0"/>
                <a:ea typeface="Courier New" pitchFamily="34" charset="-122"/>
                <a:cs typeface="Courier New" pitchFamily="34" charset="-120"/>
              </a:rPr>
              <a:t>  type="checkbox"</a:t>
            </a:r>
            <a:endParaRPr lang="en-US" sz="1080" dirty="0"/>
          </a:p>
          <a:p>
            <a:pPr indent="0" marL="0">
              <a:buNone/>
            </a:pPr>
            <a:r>
              <a:rPr lang="en-US" sz="1080" dirty="0">
                <a:solidFill>
                  <a:srgbClr val="FFFFFF"/>
                </a:solidFill>
                <a:latin typeface="Courier New" pitchFamily="34" charset="0"/>
                <a:ea typeface="Courier New" pitchFamily="34" charset="-122"/>
                <a:cs typeface="Courier New" pitchFamily="34" charset="-120"/>
              </a:rPr>
              <a:t>  checked={profile.openToCollaboration}</a:t>
            </a:r>
            <a:endParaRPr lang="en-US" sz="1080" dirty="0"/>
          </a:p>
          <a:p>
            <a:pPr indent="0" marL="0">
              <a:buNone/>
            </a:pPr>
            <a:r>
              <a:rPr lang="en-US" sz="1080" dirty="0">
                <a:solidFill>
                  <a:srgbClr val="FFFFFF"/>
                </a:solidFill>
                <a:latin typeface="Courier New" pitchFamily="34" charset="0"/>
                <a:ea typeface="Courier New" pitchFamily="34" charset="-122"/>
                <a:cs typeface="Courier New" pitchFamily="34" charset="-120"/>
              </a:rPr>
              <a:t>  onChange={handleCollaborationChange}</a:t>
            </a:r>
            <a:endParaRPr lang="en-US" sz="1080" dirty="0"/>
          </a:p>
          <a:p>
            <a:pPr indent="0" marL="0">
              <a:buNone/>
            </a:pPr>
            <a:r>
              <a:rPr lang="en-US" sz="1080" dirty="0">
                <a:solidFill>
                  <a:srgbClr val="FFFFFF"/>
                </a:solidFill>
                <a:latin typeface="Courier New" pitchFamily="34" charset="0"/>
                <a:ea typeface="Courier New" pitchFamily="34" charset="-122"/>
                <a:cs typeface="Courier New" pitchFamily="34" charset="-120"/>
              </a:rPr>
              <a:t>/&gt;</a:t>
            </a:r>
            <a:endParaRPr lang="en-US" sz="1080" dirty="0"/>
          </a:p>
        </p:txBody>
      </p:sp>
      <p:sp>
        <p:nvSpPr>
          <p:cNvPr id="5" name="body-text"/>
          <p:cNvSpPr/>
          <p:nvPr/>
        </p:nvSpPr>
        <p:spPr>
          <a:xfrm>
            <a:off x="4334256" y="1078992"/>
            <a:ext cx="3749040" cy="438912"/>
          </a:xfrm>
          <a:prstGeom prst="rect">
            <a:avLst/>
          </a:prstGeom>
          <a:noFill/>
          <a:ln/>
        </p:spPr>
        <p:txBody>
          <a:bodyPr wrap="square" lIns="0" tIns="0" rIns="0" bIns="0" rtlCol="0" anchor="t"/>
          <a:lstStyle/>
          <a:p>
            <a:pPr algn="l" indent="0" marL="0">
              <a:buNone/>
            </a:pPr>
            <a:r>
              <a:rPr lang="en-US" sz="1210" b="1" dirty="0">
                <a:solidFill>
                  <a:srgbClr val="0F172A"/>
                </a:solidFill>
                <a:latin typeface="Arial" pitchFamily="34" charset="0"/>
                <a:ea typeface="Arial" pitchFamily="34" charset="-122"/>
                <a:cs typeface="Arial" pitchFamily="34" charset="-120"/>
              </a:rPr>
              <a:t>Which statement correctly describes how React controls this checkbox?</a:t>
            </a:r>
            <a:endParaRPr lang="en-US" sz="1210" dirty="0"/>
          </a:p>
        </p:txBody>
      </p:sp>
      <p:sp>
        <p:nvSpPr>
          <p:cNvPr id="6" name="option-A"/>
          <p:cNvSpPr/>
          <p:nvPr/>
        </p:nvSpPr>
        <p:spPr>
          <a:xfrm>
            <a:off x="4334256" y="1682496"/>
            <a:ext cx="3730752" cy="512064"/>
          </a:xfrm>
          <a:prstGeom prst="roundRect">
            <a:avLst/>
          </a:prstGeom>
          <a:solidFill>
            <a:srgbClr val="FFFFFF"/>
          </a:solidFill>
          <a:ln w="12700">
            <a:solidFill>
              <a:srgbClr val="CBD5E1"/>
            </a:solidFill>
            <a:prstDash val="solid"/>
          </a:ln>
        </p:spPr>
      </p:sp>
      <p:sp>
        <p:nvSpPr>
          <p:cNvPr id="7" name="option-A-badge"/>
          <p:cNvSpPr/>
          <p:nvPr/>
        </p:nvSpPr>
        <p:spPr>
          <a:xfrm>
            <a:off x="4443984" y="179222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A</a:t>
            </a:r>
            <a:endParaRPr lang="en-US" sz="1080" dirty="0"/>
          </a:p>
        </p:txBody>
      </p:sp>
      <p:sp>
        <p:nvSpPr>
          <p:cNvPr id="8" name="option-A-text"/>
          <p:cNvSpPr/>
          <p:nvPr/>
        </p:nvSpPr>
        <p:spPr>
          <a:xfrm>
            <a:off x="4864608" y="1773936"/>
            <a:ext cx="3090672" cy="329184"/>
          </a:xfrm>
          <a:prstGeom prst="rect">
            <a:avLst/>
          </a:prstGeom>
          <a:noFill/>
          <a:ln/>
        </p:spPr>
        <p:txBody>
          <a:bodyPr wrap="square" lIns="0" tIns="0" rIns="0" bIns="0" rtlCol="0" anchor="ctr"/>
          <a:lstStyle/>
          <a:p>
            <a:pPr algn="l" indent="0" marL="0">
              <a:buNone/>
            </a:pPr>
            <a:r>
              <a:rPr lang="en-US" sz="990" dirty="0">
                <a:solidFill>
                  <a:srgbClr val="0F172A"/>
                </a:solidFill>
                <a:latin typeface="Arial" pitchFamily="34" charset="0"/>
                <a:ea typeface="Arial" pitchFamily="34" charset="-122"/>
                <a:cs typeface="Arial" pitchFamily="34" charset="-120"/>
              </a:rPr>
              <a:t>React supplies value; the handler reads currentTarget.value.</a:t>
            </a:r>
            <a:endParaRPr lang="en-US" sz="990" dirty="0"/>
          </a:p>
        </p:txBody>
      </p:sp>
      <p:sp>
        <p:nvSpPr>
          <p:cNvPr id="9" name="option-B"/>
          <p:cNvSpPr/>
          <p:nvPr/>
        </p:nvSpPr>
        <p:spPr>
          <a:xfrm>
            <a:off x="4334256" y="2267712"/>
            <a:ext cx="3730752" cy="512064"/>
          </a:xfrm>
          <a:prstGeom prst="roundRect">
            <a:avLst/>
          </a:prstGeom>
          <a:solidFill>
            <a:srgbClr val="DCFCE7"/>
          </a:solidFill>
          <a:ln w="12700">
            <a:solidFill>
              <a:srgbClr val="86EFAC"/>
            </a:solidFill>
            <a:prstDash val="solid"/>
          </a:ln>
        </p:spPr>
      </p:sp>
      <p:sp>
        <p:nvSpPr>
          <p:cNvPr id="10" name="option-B-badge"/>
          <p:cNvSpPr/>
          <p:nvPr/>
        </p:nvSpPr>
        <p:spPr>
          <a:xfrm>
            <a:off x="4443984" y="2377440"/>
            <a:ext cx="310896" cy="310896"/>
          </a:xfrm>
          <a:prstGeom prst="rect">
            <a:avLst/>
          </a:prstGeom>
          <a:solidFill>
            <a:srgbClr val="DCFCE7"/>
          </a:solidFill>
          <a:ln>
            <a:solidFill>
              <a:srgbClr val="DCFCE7"/>
            </a:solidFill>
          </a:ln>
        </p:spPr>
        <p:txBody>
          <a:bodyPr wrap="square" lIns="0" tIns="0" rIns="0" bIns="0" rtlCol="0" anchor="ctr"/>
          <a:lstStyle/>
          <a:p>
            <a:pPr algn="ctr" indent="0" marL="0">
              <a:buNone/>
            </a:pPr>
            <a:r>
              <a:rPr lang="en-US" sz="1080" b="1" dirty="0">
                <a:solidFill>
                  <a:srgbClr val="166534"/>
                </a:solidFill>
                <a:latin typeface="Arial" pitchFamily="34" charset="0"/>
                <a:ea typeface="Arial" pitchFamily="34" charset="-122"/>
                <a:cs typeface="Arial" pitchFamily="34" charset="-120"/>
              </a:rPr>
              <a:t>B</a:t>
            </a:r>
            <a:endParaRPr lang="en-US" sz="1080" dirty="0"/>
          </a:p>
        </p:txBody>
      </p:sp>
      <p:sp>
        <p:nvSpPr>
          <p:cNvPr id="11" name="option-B-text"/>
          <p:cNvSpPr/>
          <p:nvPr/>
        </p:nvSpPr>
        <p:spPr>
          <a:xfrm>
            <a:off x="4864608" y="2359152"/>
            <a:ext cx="3090672" cy="329184"/>
          </a:xfrm>
          <a:prstGeom prst="rect">
            <a:avLst/>
          </a:prstGeom>
          <a:noFill/>
          <a:ln/>
        </p:spPr>
        <p:txBody>
          <a:bodyPr wrap="square" lIns="0" tIns="0" rIns="0" bIns="0" rtlCol="0" anchor="ctr"/>
          <a:lstStyle/>
          <a:p>
            <a:pPr algn="l" indent="0" marL="0">
              <a:buNone/>
            </a:pPr>
            <a:r>
              <a:rPr lang="en-US" sz="990" dirty="0">
                <a:solidFill>
                  <a:srgbClr val="0F172A"/>
                </a:solidFill>
                <a:latin typeface="Arial" pitchFamily="34" charset="0"/>
                <a:ea typeface="Arial" pitchFamily="34" charset="-122"/>
                <a:cs typeface="Arial" pitchFamily="34" charset="-120"/>
              </a:rPr>
              <a:t>React supplies checked; the handler reads currentTarget.checked.</a:t>
            </a:r>
            <a:endParaRPr lang="en-US" sz="990" dirty="0"/>
          </a:p>
        </p:txBody>
      </p:sp>
      <p:sp>
        <p:nvSpPr>
          <p:cNvPr id="12" name="option-C"/>
          <p:cNvSpPr/>
          <p:nvPr/>
        </p:nvSpPr>
        <p:spPr>
          <a:xfrm>
            <a:off x="4334256" y="2852928"/>
            <a:ext cx="3730752" cy="512064"/>
          </a:xfrm>
          <a:prstGeom prst="roundRect">
            <a:avLst/>
          </a:prstGeom>
          <a:solidFill>
            <a:srgbClr val="FFFFFF"/>
          </a:solidFill>
          <a:ln w="12700">
            <a:solidFill>
              <a:srgbClr val="CBD5E1"/>
            </a:solidFill>
            <a:prstDash val="solid"/>
          </a:ln>
        </p:spPr>
      </p:sp>
      <p:sp>
        <p:nvSpPr>
          <p:cNvPr id="13" name="option-C-badge"/>
          <p:cNvSpPr/>
          <p:nvPr/>
        </p:nvSpPr>
        <p:spPr>
          <a:xfrm>
            <a:off x="4443984" y="2962656"/>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C</a:t>
            </a:r>
            <a:endParaRPr lang="en-US" sz="1080" dirty="0"/>
          </a:p>
        </p:txBody>
      </p:sp>
      <p:sp>
        <p:nvSpPr>
          <p:cNvPr id="14" name="option-C-text"/>
          <p:cNvSpPr/>
          <p:nvPr/>
        </p:nvSpPr>
        <p:spPr>
          <a:xfrm>
            <a:off x="4864608" y="2944368"/>
            <a:ext cx="3090672" cy="329184"/>
          </a:xfrm>
          <a:prstGeom prst="rect">
            <a:avLst/>
          </a:prstGeom>
          <a:noFill/>
          <a:ln/>
        </p:spPr>
        <p:txBody>
          <a:bodyPr wrap="square" lIns="0" tIns="0" rIns="0" bIns="0" rtlCol="0" anchor="ctr"/>
          <a:lstStyle/>
          <a:p>
            <a:pPr algn="l" indent="0" marL="0">
              <a:buNone/>
            </a:pPr>
            <a:r>
              <a:rPr lang="en-US" sz="990" dirty="0">
                <a:solidFill>
                  <a:srgbClr val="0F172A"/>
                </a:solidFill>
                <a:latin typeface="Arial" pitchFamily="34" charset="0"/>
                <a:ea typeface="Arial" pitchFamily="34" charset="-122"/>
                <a:cs typeface="Arial" pitchFamily="34" charset="-120"/>
              </a:rPr>
              <a:t>React supplies checked; the handler reads currentTarget.value.</a:t>
            </a:r>
            <a:endParaRPr lang="en-US" sz="990" dirty="0"/>
          </a:p>
        </p:txBody>
      </p:sp>
      <p:sp>
        <p:nvSpPr>
          <p:cNvPr id="15" name="option-D"/>
          <p:cNvSpPr/>
          <p:nvPr/>
        </p:nvSpPr>
        <p:spPr>
          <a:xfrm>
            <a:off x="4334256" y="3438144"/>
            <a:ext cx="3730752" cy="512064"/>
          </a:xfrm>
          <a:prstGeom prst="roundRect">
            <a:avLst/>
          </a:prstGeom>
          <a:solidFill>
            <a:srgbClr val="FFFFFF"/>
          </a:solidFill>
          <a:ln w="12700">
            <a:solidFill>
              <a:srgbClr val="CBD5E1"/>
            </a:solidFill>
            <a:prstDash val="solid"/>
          </a:ln>
        </p:spPr>
      </p:sp>
      <p:sp>
        <p:nvSpPr>
          <p:cNvPr id="16" name="option-D-badge"/>
          <p:cNvSpPr/>
          <p:nvPr/>
        </p:nvSpPr>
        <p:spPr>
          <a:xfrm>
            <a:off x="4443984" y="3547872"/>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D</a:t>
            </a:r>
            <a:endParaRPr lang="en-US" sz="1080" dirty="0"/>
          </a:p>
        </p:txBody>
      </p:sp>
      <p:sp>
        <p:nvSpPr>
          <p:cNvPr id="17" name="option-D-text"/>
          <p:cNvSpPr/>
          <p:nvPr/>
        </p:nvSpPr>
        <p:spPr>
          <a:xfrm>
            <a:off x="4864608" y="3529584"/>
            <a:ext cx="3090672" cy="329184"/>
          </a:xfrm>
          <a:prstGeom prst="rect">
            <a:avLst/>
          </a:prstGeom>
          <a:noFill/>
          <a:ln/>
        </p:spPr>
        <p:txBody>
          <a:bodyPr wrap="square" lIns="0" tIns="0" rIns="0" bIns="0" rtlCol="0" anchor="ctr"/>
          <a:lstStyle/>
          <a:p>
            <a:pPr algn="l" indent="0" marL="0">
              <a:buNone/>
            </a:pPr>
            <a:r>
              <a:rPr lang="en-US" sz="990" dirty="0">
                <a:solidFill>
                  <a:srgbClr val="0F172A"/>
                </a:solidFill>
                <a:latin typeface="Arial" pitchFamily="34" charset="0"/>
                <a:ea typeface="Arial" pitchFamily="34" charset="-122"/>
                <a:cs typeface="Arial" pitchFamily="34" charset="-120"/>
              </a:rPr>
              <a:t>React supplies value; the handler reads currentTarget.checked.</a:t>
            </a:r>
            <a:endParaRPr lang="en-US" sz="990" dirty="0"/>
          </a:p>
        </p:txBody>
      </p:sp>
      <p:sp>
        <p:nvSpPr>
          <p:cNvPr id="18" name="strip-Retrieves"/>
          <p:cNvSpPr/>
          <p:nvPr/>
        </p:nvSpPr>
        <p:spPr>
          <a:xfrm>
            <a:off x="694944" y="2633472"/>
            <a:ext cx="3364992" cy="493776"/>
          </a:xfrm>
          <a:prstGeom prst="roundRect">
            <a:avLst/>
          </a:prstGeom>
          <a:solidFill>
            <a:srgbClr val="EFF6FF"/>
          </a:solidFill>
          <a:ln w="12700">
            <a:solidFill>
              <a:srgbClr val="EFF6FF"/>
            </a:solidFill>
            <a:prstDash val="solid"/>
          </a:ln>
        </p:spPr>
      </p:sp>
      <p:sp>
        <p:nvSpPr>
          <p:cNvPr id="19" name="strip-text-Retrieves"/>
          <p:cNvSpPr/>
          <p:nvPr/>
        </p:nvSpPr>
        <p:spPr>
          <a:xfrm>
            <a:off x="841248" y="2734056"/>
            <a:ext cx="3072384" cy="310896"/>
          </a:xfrm>
          <a:prstGeom prst="rect">
            <a:avLst/>
          </a:prstGeom>
          <a:noFill/>
          <a:ln/>
        </p:spPr>
        <p:txBody>
          <a:bodyPr wrap="square" lIns="0" tIns="0" rIns="0" bIns="0" rtlCol="0" anchor="t"/>
          <a:lstStyle/>
          <a:p>
            <a:pPr indent="0" marL="0">
              <a:buNone/>
            </a:pPr>
            <a:r>
              <a:rPr lang="en-US" sz="1030" b="1" dirty="0">
                <a:solidFill>
                  <a:srgbClr val="1E3A8A"/>
                </a:solidFill>
                <a:latin typeface="Arial" pitchFamily="34" charset="0"/>
                <a:ea typeface="Arial" pitchFamily="34" charset="-122"/>
                <a:cs typeface="Arial" pitchFamily="34" charset="-120"/>
              </a:rPr>
              <a:t>Retrieves  </a:t>
            </a:r>
            <a:pPr indent="0" marL="0">
              <a:buNone/>
            </a:pPr>
            <a:r>
              <a:rPr lang="en-US" sz="1030" dirty="0">
                <a:solidFill>
                  <a:srgbClr val="0F172A"/>
                </a:solidFill>
                <a:latin typeface="Arial" pitchFamily="34" charset="0"/>
                <a:ea typeface="Arial" pitchFamily="34" charset="-122"/>
                <a:cs typeface="Arial" pitchFamily="34" charset="-120"/>
              </a:rPr>
              <a:t>controlled checkbox · checked · currentTarget.checked</a:t>
            </a:r>
            <a:endParaRPr lang="en-US" sz="1030" dirty="0"/>
          </a:p>
        </p:txBody>
      </p:sp>
      <p:sp>
        <p:nvSpPr>
          <p:cNvPr id="20" name="answer-box"/>
          <p:cNvSpPr/>
          <p:nvPr/>
        </p:nvSpPr>
        <p:spPr>
          <a:xfrm>
            <a:off x="694944" y="4041648"/>
            <a:ext cx="7370064" cy="530352"/>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1010" b="1" dirty="0">
                <a:solidFill>
                  <a:srgbClr val="166534"/>
                </a:solidFill>
                <a:latin typeface="Arial" pitchFamily="34" charset="0"/>
                <a:ea typeface="Arial" pitchFamily="34" charset="-122"/>
                <a:cs typeface="Arial" pitchFamily="34" charset="-120"/>
              </a:rPr>
              <a:t>Answer: </a:t>
            </a:r>
            <a:pPr indent="0" marL="0">
              <a:buNone/>
            </a:pPr>
            <a:r>
              <a:rPr lang="en-US" sz="1010" b="1" dirty="0">
                <a:solidFill>
                  <a:srgbClr val="0F172A"/>
                </a:solidFill>
                <a:latin typeface="Arial" pitchFamily="34" charset="0"/>
                <a:ea typeface="Arial" pitchFamily="34" charset="-122"/>
                <a:cs typeface="Arial" pitchFamily="34" charset="-120"/>
              </a:rPr>
              <a:t>B</a:t>
            </a:r>
            <a:pPr indent="0" marL="0">
              <a:buNone/>
            </a:pPr>
            <a:endParaRPr lang="en-US" sz="1010" dirty="0"/>
          </a:p>
          <a:p>
            <a:pPr indent="0" marL="0">
              <a:buNone/>
            </a:pPr>
            <a:r>
              <a:rPr lang="en-US" sz="1010" b="1" dirty="0">
                <a:solidFill>
                  <a:srgbClr val="166534"/>
                </a:solidFill>
                <a:latin typeface="Arial" pitchFamily="34" charset="0"/>
                <a:ea typeface="Arial" pitchFamily="34" charset="-122"/>
                <a:cs typeface="Arial" pitchFamily="34" charset="-120"/>
              </a:rPr>
              <a:t>Why: </a:t>
            </a:r>
            <a:endParaRPr lang="en-US" sz="1010" dirty="0"/>
          </a:p>
          <a:p>
            <a:pPr indent="0" marL="0">
              <a:buNone/>
            </a:pPr>
            <a:r>
              <a:rPr lang="en-US" sz="1010" dirty="0">
                <a:solidFill>
                  <a:srgbClr val="0F172A"/>
                </a:solidFill>
                <a:latin typeface="Arial" pitchFamily="34" charset="0"/>
                <a:ea typeface="Arial" pitchFamily="34" charset="-122"/>
                <a:cs typeface="Arial" pitchFamily="34" charset="-120"/>
              </a:rPr>
              <a:t>A controlled checkbox uses the Boolean checked prop, and its new Boolean value is read from event.currentTarget.checked.</a:t>
            </a:r>
            <a:endParaRPr lang="en-US" sz="10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Warm-up 3: Store it or calculate it?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WARM-UP</a:t>
            </a:r>
            <a:endParaRPr lang="en-US" sz="940" dirty="0"/>
          </a:p>
        </p:txBody>
      </p:sp>
      <p:sp>
        <p:nvSpPr>
          <p:cNvPr id="4" name="formdata-code"/>
          <p:cNvSpPr/>
          <p:nvPr/>
        </p:nvSpPr>
        <p:spPr>
          <a:xfrm>
            <a:off x="676656" y="1097280"/>
            <a:ext cx="3072384" cy="129844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const [formData, setFormData]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useState&lt;SignupFormData&gt;({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email: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acceptedTerms: false,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p:txBody>
      </p:sp>
      <p:sp>
        <p:nvSpPr>
          <p:cNvPr id="5" name="submit-rule"/>
          <p:cNvSpPr/>
          <p:nvPr/>
        </p:nvSpPr>
        <p:spPr>
          <a:xfrm>
            <a:off x="676656" y="2596896"/>
            <a:ext cx="3072384" cy="841248"/>
          </a:xfrm>
          <a:prstGeom prst="roundRect">
            <a:avLst/>
          </a:prstGeom>
          <a:solidFill>
            <a:srgbClr val="FEF9C3"/>
          </a:solidFill>
          <a:ln w="12700">
            <a:solidFill>
              <a:srgbClr val="FEF9C3"/>
            </a:solidFill>
            <a:prstDash val="solid"/>
          </a:ln>
        </p:spPr>
      </p:sp>
      <p:sp>
        <p:nvSpPr>
          <p:cNvPr id="6" name="body-text"/>
          <p:cNvSpPr/>
          <p:nvPr/>
        </p:nvSpPr>
        <p:spPr>
          <a:xfrm>
            <a:off x="859536" y="2779776"/>
            <a:ext cx="2706624" cy="475488"/>
          </a:xfrm>
          <a:prstGeom prst="rect">
            <a:avLst/>
          </a:prstGeom>
          <a:noFill/>
          <a:ln/>
        </p:spPr>
        <p:txBody>
          <a:bodyPr wrap="square" lIns="0" tIns="0" rIns="0" bIns="0" rtlCol="0" anchor="t"/>
          <a:lstStyle/>
          <a:p>
            <a:pPr algn="l" indent="0" marL="0">
              <a:buNone/>
            </a:pPr>
            <a:r>
              <a:rPr lang="en-US" sz="1070" b="1" dirty="0">
                <a:solidFill>
                  <a:srgbClr val="854D0E"/>
                </a:solidFill>
                <a:latin typeface="Arial" pitchFamily="34" charset="0"/>
                <a:ea typeface="Arial" pitchFamily="34" charset="-122"/>
                <a:cs typeface="Arial" pitchFamily="34" charset="-120"/>
              </a:rPr>
              <a:t>Submit is enabled only when:</a:t>
            </a:r>
            <a:endParaRPr lang="en-US" sz="1070" dirty="0"/>
          </a:p>
          <a:p>
            <a:pPr algn="l" indent="0" marL="0">
              <a:buNone/>
            </a:pPr>
            <a:r>
              <a:rPr lang="en-US" sz="1070" b="1" dirty="0">
                <a:solidFill>
                  <a:srgbClr val="854D0E"/>
                </a:solidFill>
                <a:latin typeface="Arial" pitchFamily="34" charset="0"/>
                <a:ea typeface="Arial" pitchFamily="34" charset="-122"/>
                <a:cs typeface="Arial" pitchFamily="34" charset="-120"/>
              </a:rPr>
              <a:t>• email contains "@"</a:t>
            </a:r>
            <a:endParaRPr lang="en-US" sz="1070" dirty="0"/>
          </a:p>
          <a:p>
            <a:pPr algn="l" indent="0" marL="0">
              <a:buNone/>
            </a:pPr>
            <a:r>
              <a:rPr lang="en-US" sz="1070" b="1" dirty="0">
                <a:solidFill>
                  <a:srgbClr val="854D0E"/>
                </a:solidFill>
                <a:latin typeface="Arial" pitchFamily="34" charset="0"/>
                <a:ea typeface="Arial" pitchFamily="34" charset="-122"/>
                <a:cs typeface="Arial" pitchFamily="34" charset="-120"/>
              </a:rPr>
              <a:t>• terms are accepted</a:t>
            </a:r>
            <a:endParaRPr lang="en-US" sz="1070" dirty="0"/>
          </a:p>
        </p:txBody>
      </p:sp>
      <p:sp>
        <p:nvSpPr>
          <p:cNvPr id="7" name="body-text"/>
          <p:cNvSpPr/>
          <p:nvPr/>
        </p:nvSpPr>
        <p:spPr>
          <a:xfrm>
            <a:off x="3968496" y="1078992"/>
            <a:ext cx="4059936" cy="475488"/>
          </a:xfrm>
          <a:prstGeom prst="rect">
            <a:avLst/>
          </a:prstGeom>
          <a:noFill/>
          <a:ln/>
        </p:spPr>
        <p:txBody>
          <a:bodyPr wrap="square" lIns="0" tIns="0" rIns="0" bIns="0" rtlCol="0" anchor="t"/>
          <a:lstStyle/>
          <a:p>
            <a:pPr algn="l" indent="0" marL="0">
              <a:buNone/>
            </a:pPr>
            <a:r>
              <a:rPr lang="en-US" sz="1200" b="1" dirty="0">
                <a:solidFill>
                  <a:srgbClr val="0F172A"/>
                </a:solidFill>
                <a:latin typeface="Arial" pitchFamily="34" charset="0"/>
                <a:ea typeface="Arial" pitchFamily="34" charset="-122"/>
                <a:cs typeface="Arial" pitchFamily="34" charset="-120"/>
              </a:rPr>
              <a:t>Which approach keeps formData as the source of truth without storing the same information twice?</a:t>
            </a:r>
            <a:endParaRPr lang="en-US" sz="1200" dirty="0"/>
          </a:p>
        </p:txBody>
      </p:sp>
      <p:sp>
        <p:nvSpPr>
          <p:cNvPr id="8" name="option-A"/>
          <p:cNvSpPr/>
          <p:nvPr/>
        </p:nvSpPr>
        <p:spPr>
          <a:xfrm>
            <a:off x="3968496" y="1682496"/>
            <a:ext cx="4041648" cy="530352"/>
          </a:xfrm>
          <a:prstGeom prst="roundRect">
            <a:avLst/>
          </a:prstGeom>
          <a:solidFill>
            <a:srgbClr val="FFFFFF"/>
          </a:solidFill>
          <a:ln w="12700">
            <a:solidFill>
              <a:srgbClr val="CBD5E1"/>
            </a:solidFill>
            <a:prstDash val="solid"/>
          </a:ln>
        </p:spPr>
      </p:sp>
      <p:sp>
        <p:nvSpPr>
          <p:cNvPr id="9" name="option-A-badge"/>
          <p:cNvSpPr/>
          <p:nvPr/>
        </p:nvSpPr>
        <p:spPr>
          <a:xfrm>
            <a:off x="4078224" y="179222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A</a:t>
            </a:r>
            <a:endParaRPr lang="en-US" sz="1080" dirty="0"/>
          </a:p>
        </p:txBody>
      </p:sp>
      <p:sp>
        <p:nvSpPr>
          <p:cNvPr id="10" name="option-A-text"/>
          <p:cNvSpPr/>
          <p:nvPr/>
        </p:nvSpPr>
        <p:spPr>
          <a:xfrm>
            <a:off x="4498848" y="1773936"/>
            <a:ext cx="3401568" cy="347472"/>
          </a:xfrm>
          <a:prstGeom prst="rect">
            <a:avLst/>
          </a:prstGeom>
          <a:noFill/>
          <a:ln/>
        </p:spPr>
        <p:txBody>
          <a:bodyPr wrap="square" lIns="0" tIns="0" rIns="0" bIns="0" rtlCol="0" anchor="ctr"/>
          <a:lstStyle/>
          <a:p>
            <a:pPr algn="l" indent="0" marL="0">
              <a:buNone/>
            </a:pPr>
            <a:r>
              <a:rPr lang="en-US" sz="980" dirty="0">
                <a:solidFill>
                  <a:srgbClr val="0F172A"/>
                </a:solidFill>
                <a:latin typeface="Arial" pitchFamily="34" charset="0"/>
                <a:ea typeface="Arial" pitchFamily="34" charset="-122"/>
                <a:cs typeface="Arial" pitchFamily="34" charset="-120"/>
              </a:rPr>
              <a:t>Store canSubmit in state and update it in every form handler.</a:t>
            </a:r>
            <a:endParaRPr lang="en-US" sz="980" dirty="0"/>
          </a:p>
        </p:txBody>
      </p:sp>
      <p:sp>
        <p:nvSpPr>
          <p:cNvPr id="11" name="option-B"/>
          <p:cNvSpPr/>
          <p:nvPr/>
        </p:nvSpPr>
        <p:spPr>
          <a:xfrm>
            <a:off x="3968496" y="2286000"/>
            <a:ext cx="4041648" cy="530352"/>
          </a:xfrm>
          <a:prstGeom prst="roundRect">
            <a:avLst/>
          </a:prstGeom>
          <a:solidFill>
            <a:srgbClr val="DCFCE7"/>
          </a:solidFill>
          <a:ln w="12700">
            <a:solidFill>
              <a:srgbClr val="86EFAC"/>
            </a:solidFill>
            <a:prstDash val="solid"/>
          </a:ln>
        </p:spPr>
      </p:sp>
      <p:sp>
        <p:nvSpPr>
          <p:cNvPr id="12" name="option-B-badge"/>
          <p:cNvSpPr/>
          <p:nvPr/>
        </p:nvSpPr>
        <p:spPr>
          <a:xfrm>
            <a:off x="4078224" y="2395728"/>
            <a:ext cx="310896" cy="310896"/>
          </a:xfrm>
          <a:prstGeom prst="rect">
            <a:avLst/>
          </a:prstGeom>
          <a:solidFill>
            <a:srgbClr val="DCFCE7"/>
          </a:solidFill>
          <a:ln>
            <a:solidFill>
              <a:srgbClr val="DCFCE7"/>
            </a:solidFill>
          </a:ln>
        </p:spPr>
        <p:txBody>
          <a:bodyPr wrap="square" lIns="0" tIns="0" rIns="0" bIns="0" rtlCol="0" anchor="ctr"/>
          <a:lstStyle/>
          <a:p>
            <a:pPr algn="ctr" indent="0" marL="0">
              <a:buNone/>
            </a:pPr>
            <a:r>
              <a:rPr lang="en-US" sz="1080" b="1" dirty="0">
                <a:solidFill>
                  <a:srgbClr val="166534"/>
                </a:solidFill>
                <a:latin typeface="Arial" pitchFamily="34" charset="0"/>
                <a:ea typeface="Arial" pitchFamily="34" charset="-122"/>
                <a:cs typeface="Arial" pitchFamily="34" charset="-120"/>
              </a:rPr>
              <a:t>B</a:t>
            </a:r>
            <a:endParaRPr lang="en-US" sz="1080" dirty="0"/>
          </a:p>
        </p:txBody>
      </p:sp>
      <p:sp>
        <p:nvSpPr>
          <p:cNvPr id="13" name="option-B-code"/>
          <p:cNvSpPr/>
          <p:nvPr/>
        </p:nvSpPr>
        <p:spPr>
          <a:xfrm>
            <a:off x="4480560" y="2377440"/>
            <a:ext cx="3419856" cy="34747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30" dirty="0">
                <a:solidFill>
                  <a:srgbClr val="FFFFFF"/>
                </a:solidFill>
                <a:latin typeface="Courier New" pitchFamily="34" charset="0"/>
                <a:ea typeface="Courier New" pitchFamily="34" charset="-122"/>
                <a:cs typeface="Courier New" pitchFamily="34" charset="-120"/>
              </a:rPr>
              <a:t>const canSubmit = formData.email.includes("@") &amp;&amp; formData.acceptedTerms;</a:t>
            </a:r>
            <a:endParaRPr lang="en-US" sz="930" dirty="0"/>
          </a:p>
        </p:txBody>
      </p:sp>
      <p:sp>
        <p:nvSpPr>
          <p:cNvPr id="14" name="option-C"/>
          <p:cNvSpPr/>
          <p:nvPr/>
        </p:nvSpPr>
        <p:spPr>
          <a:xfrm>
            <a:off x="3968496" y="2889504"/>
            <a:ext cx="4041648" cy="530352"/>
          </a:xfrm>
          <a:prstGeom prst="roundRect">
            <a:avLst/>
          </a:prstGeom>
          <a:solidFill>
            <a:srgbClr val="FFFFFF"/>
          </a:solidFill>
          <a:ln w="12700">
            <a:solidFill>
              <a:srgbClr val="CBD5E1"/>
            </a:solidFill>
            <a:prstDash val="solid"/>
          </a:ln>
        </p:spPr>
      </p:sp>
      <p:sp>
        <p:nvSpPr>
          <p:cNvPr id="15" name="option-C-badge"/>
          <p:cNvSpPr/>
          <p:nvPr/>
        </p:nvSpPr>
        <p:spPr>
          <a:xfrm>
            <a:off x="4078224" y="2999232"/>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C</a:t>
            </a:r>
            <a:endParaRPr lang="en-US" sz="1080" dirty="0"/>
          </a:p>
        </p:txBody>
      </p:sp>
      <p:sp>
        <p:nvSpPr>
          <p:cNvPr id="16" name="option-C-text"/>
          <p:cNvSpPr/>
          <p:nvPr/>
        </p:nvSpPr>
        <p:spPr>
          <a:xfrm>
            <a:off x="4498848" y="2980944"/>
            <a:ext cx="3401568" cy="347472"/>
          </a:xfrm>
          <a:prstGeom prst="rect">
            <a:avLst/>
          </a:prstGeom>
          <a:noFill/>
          <a:ln/>
        </p:spPr>
        <p:txBody>
          <a:bodyPr wrap="square" lIns="0" tIns="0" rIns="0" bIns="0" rtlCol="0" anchor="ctr"/>
          <a:lstStyle/>
          <a:p>
            <a:pPr algn="l" indent="0" marL="0">
              <a:buNone/>
            </a:pPr>
            <a:r>
              <a:rPr lang="en-US" sz="980" dirty="0">
                <a:solidFill>
                  <a:srgbClr val="0F172A"/>
                </a:solidFill>
                <a:latin typeface="Arial" pitchFamily="34" charset="0"/>
                <a:ea typeface="Arial" pitchFamily="34" charset="-122"/>
                <a:cs typeface="Arial" pitchFamily="34" charset="-120"/>
              </a:rPr>
              <a:t>Calculate canSubmit once from the initial values and reuse it.</a:t>
            </a:r>
            <a:endParaRPr lang="en-US" sz="980" dirty="0"/>
          </a:p>
        </p:txBody>
      </p:sp>
      <p:sp>
        <p:nvSpPr>
          <p:cNvPr id="17" name="option-D"/>
          <p:cNvSpPr/>
          <p:nvPr/>
        </p:nvSpPr>
        <p:spPr>
          <a:xfrm>
            <a:off x="3968496" y="3493008"/>
            <a:ext cx="4041648" cy="530352"/>
          </a:xfrm>
          <a:prstGeom prst="roundRect">
            <a:avLst/>
          </a:prstGeom>
          <a:solidFill>
            <a:srgbClr val="FFFFFF"/>
          </a:solidFill>
          <a:ln w="12700">
            <a:solidFill>
              <a:srgbClr val="CBD5E1"/>
            </a:solidFill>
            <a:prstDash val="solid"/>
          </a:ln>
        </p:spPr>
      </p:sp>
      <p:sp>
        <p:nvSpPr>
          <p:cNvPr id="18" name="option-D-badge"/>
          <p:cNvSpPr/>
          <p:nvPr/>
        </p:nvSpPr>
        <p:spPr>
          <a:xfrm>
            <a:off x="4078224" y="3602736"/>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D</a:t>
            </a:r>
            <a:endParaRPr lang="en-US" sz="1080" dirty="0"/>
          </a:p>
        </p:txBody>
      </p:sp>
      <p:sp>
        <p:nvSpPr>
          <p:cNvPr id="19" name="option-D-text"/>
          <p:cNvSpPr/>
          <p:nvPr/>
        </p:nvSpPr>
        <p:spPr>
          <a:xfrm>
            <a:off x="4498848" y="3584448"/>
            <a:ext cx="3401568" cy="347472"/>
          </a:xfrm>
          <a:prstGeom prst="rect">
            <a:avLst/>
          </a:prstGeom>
          <a:noFill/>
          <a:ln/>
        </p:spPr>
        <p:txBody>
          <a:bodyPr wrap="square" lIns="0" tIns="0" rIns="0" bIns="0" rtlCol="0" anchor="ctr"/>
          <a:lstStyle/>
          <a:p>
            <a:pPr algn="l" indent="0" marL="0">
              <a:buNone/>
            </a:pPr>
            <a:r>
              <a:rPr lang="en-US" sz="980" dirty="0">
                <a:solidFill>
                  <a:srgbClr val="0F172A"/>
                </a:solidFill>
                <a:latin typeface="Arial" pitchFamily="34" charset="0"/>
                <a:ea typeface="Arial" pitchFamily="34" charset="-122"/>
                <a:cs typeface="Arial" pitchFamily="34" charset="-120"/>
              </a:rPr>
              <a:t>Remove formData and store only canSubmit.</a:t>
            </a:r>
            <a:endParaRPr lang="en-US" sz="980" dirty="0"/>
          </a:p>
        </p:txBody>
      </p:sp>
      <p:sp>
        <p:nvSpPr>
          <p:cNvPr id="20" name="answer-box"/>
          <p:cNvSpPr/>
          <p:nvPr/>
        </p:nvSpPr>
        <p:spPr>
          <a:xfrm>
            <a:off x="676656" y="4096512"/>
            <a:ext cx="7059168" cy="493776"/>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950" b="1" dirty="0">
                <a:solidFill>
                  <a:srgbClr val="166534"/>
                </a:solidFill>
                <a:latin typeface="Arial" pitchFamily="34" charset="0"/>
                <a:ea typeface="Arial" pitchFamily="34" charset="-122"/>
                <a:cs typeface="Arial" pitchFamily="34" charset="-120"/>
              </a:rPr>
              <a:t>Answer: </a:t>
            </a:r>
            <a:pPr indent="0" marL="0">
              <a:buNone/>
            </a:pPr>
            <a:r>
              <a:rPr lang="en-US" sz="950" b="1" dirty="0">
                <a:solidFill>
                  <a:srgbClr val="0F172A"/>
                </a:solidFill>
                <a:latin typeface="Arial" pitchFamily="34" charset="0"/>
                <a:ea typeface="Arial" pitchFamily="34" charset="-122"/>
                <a:cs typeface="Arial" pitchFamily="34" charset="-120"/>
              </a:rPr>
              <a:t>B</a:t>
            </a:r>
            <a:pPr indent="0" marL="0">
              <a:buNone/>
            </a:pPr>
            <a:endParaRPr lang="en-US" sz="950" dirty="0"/>
          </a:p>
          <a:p>
            <a:pPr indent="0" marL="0">
              <a:buNone/>
            </a:pPr>
            <a:r>
              <a:rPr lang="en-US" sz="950" b="1" dirty="0">
                <a:solidFill>
                  <a:srgbClr val="166534"/>
                </a:solidFill>
                <a:latin typeface="Arial" pitchFamily="34" charset="0"/>
                <a:ea typeface="Arial" pitchFamily="34" charset="-122"/>
                <a:cs typeface="Arial" pitchFamily="34" charset="-120"/>
              </a:rPr>
              <a:t>Why: </a:t>
            </a:r>
            <a:endParaRPr lang="en-US" sz="950" dirty="0"/>
          </a:p>
          <a:p>
            <a:pPr indent="0" marL="0">
              <a:buNone/>
            </a:pPr>
            <a:r>
              <a:rPr lang="en-US" sz="950" dirty="0">
                <a:solidFill>
                  <a:srgbClr val="0F172A"/>
                </a:solidFill>
                <a:latin typeface="Arial" pitchFamily="34" charset="0"/>
                <a:ea typeface="Arial" pitchFamily="34" charset="-122"/>
                <a:cs typeface="Arial" pitchFamily="34" charset="-120"/>
              </a:rPr>
              <a:t>canSubmit is derived from formData, so calculate it during rendering rather than storing it separately.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Warm-up 4: Complete the select handler</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WARM-UP</a:t>
            </a:r>
            <a:endParaRPr lang="en-US" sz="940" dirty="0"/>
          </a:p>
        </p:txBody>
      </p:sp>
      <p:sp>
        <p:nvSpPr>
          <p:cNvPr id="4" name="body-text"/>
          <p:cNvSpPr/>
          <p:nvPr/>
        </p:nvSpPr>
        <p:spPr>
          <a:xfrm>
            <a:off x="694944" y="1005840"/>
            <a:ext cx="3200400" cy="274320"/>
          </a:xfrm>
          <a:prstGeom prst="rect">
            <a:avLst/>
          </a:prstGeom>
          <a:noFill/>
          <a:ln/>
        </p:spPr>
        <p:txBody>
          <a:bodyPr wrap="square" lIns="0" tIns="0" rIns="0" bIns="0" rtlCol="0" anchor="t"/>
          <a:lstStyle/>
          <a:p>
            <a:pPr algn="l" indent="0" marL="0">
              <a:buNone/>
            </a:pPr>
            <a:r>
              <a:rPr lang="en-US" sz="1160" b="1" dirty="0">
                <a:solidFill>
                  <a:srgbClr val="0F172A"/>
                </a:solidFill>
                <a:latin typeface="Arial" pitchFamily="34" charset="0"/>
                <a:ea typeface="Arial" pitchFamily="34" charset="-122"/>
                <a:cs typeface="Arial" pitchFamily="34" charset="-120"/>
              </a:rPr>
              <a:t>A controlled select updates the learner's chosen track.</a:t>
            </a:r>
            <a:endParaRPr lang="en-US" sz="1160" dirty="0"/>
          </a:p>
        </p:txBody>
      </p:sp>
      <p:sp>
        <p:nvSpPr>
          <p:cNvPr id="5" name="select-handler"/>
          <p:cNvSpPr/>
          <p:nvPr/>
        </p:nvSpPr>
        <p:spPr>
          <a:xfrm>
            <a:off x="694944" y="1408176"/>
            <a:ext cx="4133088" cy="199339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function handleTrackChange(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event: React.ChangeEvent&lt;__________&gt;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setFormData({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...formData,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track: event.currentTarget.__________,</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p:txBody>
      </p:sp>
      <p:sp>
        <p:nvSpPr>
          <p:cNvPr id="6" name="select-prompts"/>
          <p:cNvSpPr/>
          <p:nvPr/>
        </p:nvSpPr>
        <p:spPr>
          <a:xfrm>
            <a:off x="5084064" y="1408176"/>
            <a:ext cx="2962656" cy="932688"/>
          </a:xfrm>
          <a:prstGeom prst="roundRect">
            <a:avLst/>
          </a:prstGeom>
          <a:solidFill>
            <a:srgbClr val="EFF6FF"/>
          </a:solidFill>
          <a:ln w="12700">
            <a:solidFill>
              <a:srgbClr val="BFDBFE"/>
            </a:solidFill>
            <a:prstDash val="solid"/>
          </a:ln>
        </p:spPr>
      </p:sp>
      <p:sp>
        <p:nvSpPr>
          <p:cNvPr id="7" name="body-text"/>
          <p:cNvSpPr/>
          <p:nvPr/>
        </p:nvSpPr>
        <p:spPr>
          <a:xfrm>
            <a:off x="5266944" y="1609344"/>
            <a:ext cx="2596896" cy="530352"/>
          </a:xfrm>
          <a:prstGeom prst="rect">
            <a:avLst/>
          </a:prstGeom>
          <a:noFill/>
          <a:ln/>
        </p:spPr>
        <p:txBody>
          <a:bodyPr wrap="square" lIns="0" tIns="0" rIns="0" bIns="0" rtlCol="0" anchor="t"/>
          <a:lstStyle/>
          <a:p>
            <a:pPr algn="l" indent="0" marL="0">
              <a:buNone/>
            </a:pPr>
            <a:r>
              <a:rPr lang="en-US" sz="1060" b="1" dirty="0">
                <a:solidFill>
                  <a:srgbClr val="1E3A8A"/>
                </a:solidFill>
                <a:latin typeface="Arial" pitchFamily="34" charset="0"/>
                <a:ea typeface="Arial" pitchFamily="34" charset="-122"/>
                <a:cs typeface="Arial" pitchFamily="34" charset="-120"/>
              </a:rPr>
              <a:t>1. Which HTML element type belongs in ChangeEvent?</a:t>
            </a:r>
            <a:endParaRPr lang="en-US" sz="1060" dirty="0"/>
          </a:p>
          <a:p>
            <a:pPr algn="l" indent="0" marL="0">
              <a:buNone/>
            </a:pPr>
            <a:r>
              <a:rPr lang="en-US" sz="1060" b="1" dirty="0">
                <a:solidFill>
                  <a:srgbClr val="1E3A8A"/>
                </a:solidFill>
                <a:latin typeface="Arial" pitchFamily="34" charset="0"/>
                <a:ea typeface="Arial" pitchFamily="34" charset="-122"/>
                <a:cs typeface="Arial" pitchFamily="34" charset="-120"/>
              </a:rPr>
              <a:t>2. Which property gives the selected value?</a:t>
            </a:r>
            <a:endParaRPr lang="en-US" sz="1060" dirty="0"/>
          </a:p>
        </p:txBody>
      </p:sp>
      <p:sp>
        <p:nvSpPr>
          <p:cNvPr id="8" name="strip-Answer"/>
          <p:cNvSpPr/>
          <p:nvPr/>
        </p:nvSpPr>
        <p:spPr>
          <a:xfrm>
            <a:off x="5084064" y="2560320"/>
            <a:ext cx="2962656" cy="493776"/>
          </a:xfrm>
          <a:prstGeom prst="roundRect">
            <a:avLst/>
          </a:prstGeom>
          <a:solidFill>
            <a:srgbClr val="DCFCE7"/>
          </a:solidFill>
          <a:ln w="12700">
            <a:solidFill>
              <a:srgbClr val="DCFCE7"/>
            </a:solidFill>
            <a:prstDash val="solid"/>
          </a:ln>
        </p:spPr>
      </p:sp>
      <p:sp>
        <p:nvSpPr>
          <p:cNvPr id="9" name="strip-text-Answer"/>
          <p:cNvSpPr/>
          <p:nvPr/>
        </p:nvSpPr>
        <p:spPr>
          <a:xfrm>
            <a:off x="5230368" y="2660904"/>
            <a:ext cx="2670048" cy="310896"/>
          </a:xfrm>
          <a:prstGeom prst="rect">
            <a:avLst/>
          </a:prstGeom>
          <a:noFill/>
          <a:ln/>
        </p:spPr>
        <p:txBody>
          <a:bodyPr wrap="square" lIns="0" tIns="0" rIns="0" bIns="0" rtlCol="0" anchor="t"/>
          <a:lstStyle/>
          <a:p>
            <a:pPr indent="0" marL="0">
              <a:buNone/>
            </a:pPr>
            <a:r>
              <a:rPr lang="en-US" sz="1030" b="1" dirty="0">
                <a:solidFill>
                  <a:srgbClr val="166534"/>
                </a:solidFill>
                <a:latin typeface="Arial" pitchFamily="34" charset="0"/>
                <a:ea typeface="Arial" pitchFamily="34" charset="-122"/>
                <a:cs typeface="Arial" pitchFamily="34" charset="-120"/>
              </a:rPr>
              <a:t>Answer  </a:t>
            </a:r>
            <a:pPr indent="0" marL="0">
              <a:buNone/>
            </a:pPr>
            <a:r>
              <a:rPr lang="en-US" sz="1030" dirty="0">
                <a:solidFill>
                  <a:srgbClr val="0F172A"/>
                </a:solidFill>
                <a:latin typeface="Arial" pitchFamily="34" charset="0"/>
                <a:ea typeface="Arial" pitchFamily="34" charset="-122"/>
                <a:cs typeface="Arial" pitchFamily="34" charset="-120"/>
              </a:rPr>
              <a:t>HTMLSelectElement  ·  value</a:t>
            </a:r>
            <a:endParaRPr lang="en-US" sz="1030" dirty="0"/>
          </a:p>
        </p:txBody>
      </p:sp>
      <p:sp>
        <p:nvSpPr>
          <p:cNvPr id="10" name="select-answer-code"/>
          <p:cNvSpPr/>
          <p:nvPr/>
        </p:nvSpPr>
        <p:spPr>
          <a:xfrm>
            <a:off x="5084064" y="3255264"/>
            <a:ext cx="2962656" cy="65836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10" dirty="0">
                <a:solidFill>
                  <a:srgbClr val="FFFFFF"/>
                </a:solidFill>
                <a:latin typeface="Courier New" pitchFamily="34" charset="0"/>
                <a:ea typeface="Courier New" pitchFamily="34" charset="-122"/>
                <a:cs typeface="Courier New" pitchFamily="34" charset="-120"/>
              </a:rPr>
              <a:t>React.ChangeEvent&lt;HTMLSelectElement&gt;</a:t>
            </a:r>
            <a:endParaRPr lang="en-US" sz="1010" dirty="0"/>
          </a:p>
          <a:p>
            <a:pPr indent="0" marL="0">
              <a:buNone/>
            </a:pPr>
            <a:r>
              <a:rPr lang="en-US" sz="1010" dirty="0">
                <a:solidFill>
                  <a:srgbClr val="FFFFFF"/>
                </a:solidFill>
                <a:latin typeface="Courier New" pitchFamily="34" charset="0"/>
                <a:ea typeface="Courier New" pitchFamily="34" charset="-122"/>
                <a:cs typeface="Courier New" pitchFamily="34" charset="-120"/>
              </a:rPr>
              <a:t>event.currentTarget.value</a:t>
            </a:r>
            <a:endParaRPr lang="en-US" sz="1010" dirty="0"/>
          </a:p>
        </p:txBody>
      </p:sp>
      <p:sp>
        <p:nvSpPr>
          <p:cNvPr id="11" name="answer-box"/>
          <p:cNvSpPr/>
          <p:nvPr/>
        </p:nvSpPr>
        <p:spPr>
          <a:xfrm>
            <a:off x="694944" y="4096512"/>
            <a:ext cx="7351776" cy="548640"/>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990" b="1" dirty="0">
                <a:solidFill>
                  <a:srgbClr val="166534"/>
                </a:solidFill>
                <a:latin typeface="Arial" pitchFamily="34" charset="0"/>
                <a:ea typeface="Arial" pitchFamily="34" charset="-122"/>
                <a:cs typeface="Arial" pitchFamily="34" charset="-120"/>
              </a:rPr>
              <a:t>Answer: </a:t>
            </a:r>
            <a:pPr indent="0" marL="0">
              <a:buNone/>
            </a:pPr>
            <a:r>
              <a:rPr lang="en-US" sz="990" b="1" dirty="0">
                <a:solidFill>
                  <a:srgbClr val="0F172A"/>
                </a:solidFill>
                <a:latin typeface="Arial" pitchFamily="34" charset="0"/>
                <a:ea typeface="Arial" pitchFamily="34" charset="-122"/>
                <a:cs typeface="Arial" pitchFamily="34" charset="-120"/>
              </a:rPr>
              <a:t>HTMLSelectElement and value</a:t>
            </a:r>
            <a:pPr indent="0" marL="0">
              <a:buNone/>
            </a:pPr>
            <a:endParaRPr lang="en-US" sz="990" dirty="0"/>
          </a:p>
          <a:p>
            <a:pPr indent="0" marL="0">
              <a:buNone/>
            </a:pPr>
            <a:r>
              <a:rPr lang="en-US" sz="990" b="1" dirty="0">
                <a:solidFill>
                  <a:srgbClr val="166534"/>
                </a:solidFill>
                <a:latin typeface="Arial" pitchFamily="34" charset="0"/>
                <a:ea typeface="Arial" pitchFamily="34" charset="-122"/>
                <a:cs typeface="Arial" pitchFamily="34" charset="-120"/>
              </a:rPr>
              <a:t>Why: </a:t>
            </a:r>
            <a:endParaRPr lang="en-US" sz="990" dirty="0"/>
          </a:p>
          <a:p>
            <a:pPr indent="0" marL="0">
              <a:buNone/>
            </a:pPr>
            <a:r>
              <a:rPr lang="en-US" sz="990" dirty="0">
                <a:solidFill>
                  <a:srgbClr val="0F172A"/>
                </a:solidFill>
                <a:latin typeface="Arial" pitchFamily="34" charset="0"/>
                <a:ea typeface="Arial" pitchFamily="34" charset="-122"/>
                <a:cs typeface="Arial" pitchFamily="34" charset="-120"/>
              </a:rPr>
              <a:t>The handler belongs to a select, so currentTarget is an HTMLSelectElement and its selected option is read from .value.</a:t>
            </a:r>
            <a:endParaRPr lang="en-US" sz="9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Warm-up 5: Complete local form submission</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WARM-UP</a:t>
            </a:r>
            <a:endParaRPr lang="en-US" sz="940" dirty="0"/>
          </a:p>
        </p:txBody>
      </p:sp>
      <p:sp>
        <p:nvSpPr>
          <p:cNvPr id="4" name="body-text"/>
          <p:cNvSpPr/>
          <p:nvPr/>
        </p:nvSpPr>
        <p:spPr>
          <a:xfrm>
            <a:off x="694944" y="969264"/>
            <a:ext cx="7315200" cy="256032"/>
          </a:xfrm>
          <a:prstGeom prst="rect">
            <a:avLst/>
          </a:prstGeom>
          <a:noFill/>
          <a:ln/>
        </p:spPr>
        <p:txBody>
          <a:bodyPr wrap="square" lIns="0" tIns="0" rIns="0" bIns="0" rtlCol="0" anchor="t"/>
          <a:lstStyle/>
          <a:p>
            <a:pPr algn="l" indent="0" marL="0">
              <a:buNone/>
            </a:pPr>
            <a:r>
              <a:rPr lang="en-US" sz="1160" b="1" dirty="0">
                <a:solidFill>
                  <a:srgbClr val="0F172A"/>
                </a:solidFill>
                <a:latin typeface="Arial" pitchFamily="34" charset="0"/>
                <a:ea typeface="Arial" pitchFamily="34" charset="-122"/>
                <a:cs typeface="Arial" pitchFamily="34" charset="-120"/>
              </a:rPr>
              <a:t>The form controls are already connected to React state.</a:t>
            </a:r>
            <a:endParaRPr lang="en-US" sz="1160" dirty="0"/>
          </a:p>
        </p:txBody>
      </p:sp>
      <p:sp>
        <p:nvSpPr>
          <p:cNvPr id="5" name="submit-code"/>
          <p:cNvSpPr/>
          <p:nvPr/>
        </p:nvSpPr>
        <p:spPr>
          <a:xfrm>
            <a:off x="694944" y="1353312"/>
            <a:ext cx="3822192" cy="233172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&lt;form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onSubmit={(event) =&gt;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event.____________();</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console.log(____________);</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&gt;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 controlled form controls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&lt;/form&gt;</a:t>
            </a:r>
            <a:endParaRPr lang="en-US" sz="1050" dirty="0"/>
          </a:p>
        </p:txBody>
      </p:sp>
      <p:sp>
        <p:nvSpPr>
          <p:cNvPr id="6" name="submit-prompts"/>
          <p:cNvSpPr/>
          <p:nvPr/>
        </p:nvSpPr>
        <p:spPr>
          <a:xfrm>
            <a:off x="4791456" y="1353312"/>
            <a:ext cx="3255264" cy="1078992"/>
          </a:xfrm>
          <a:prstGeom prst="roundRect">
            <a:avLst/>
          </a:prstGeom>
          <a:solidFill>
            <a:srgbClr val="EFF6FF"/>
          </a:solidFill>
          <a:ln w="12700">
            <a:solidFill>
              <a:srgbClr val="BFDBFE"/>
            </a:solidFill>
            <a:prstDash val="solid"/>
          </a:ln>
        </p:spPr>
      </p:sp>
      <p:sp>
        <p:nvSpPr>
          <p:cNvPr id="7" name="body-text"/>
          <p:cNvSpPr/>
          <p:nvPr/>
        </p:nvSpPr>
        <p:spPr>
          <a:xfrm>
            <a:off x="4974336" y="1581912"/>
            <a:ext cx="2889504" cy="585216"/>
          </a:xfrm>
          <a:prstGeom prst="rect">
            <a:avLst/>
          </a:prstGeom>
          <a:noFill/>
          <a:ln/>
        </p:spPr>
        <p:txBody>
          <a:bodyPr wrap="square" lIns="0" tIns="0" rIns="0" bIns="0" rtlCol="0" anchor="t"/>
          <a:lstStyle/>
          <a:p>
            <a:pPr algn="l" indent="0" marL="0">
              <a:buNone/>
            </a:pPr>
            <a:r>
              <a:rPr lang="en-US" sz="1070" b="1" dirty="0">
                <a:solidFill>
                  <a:srgbClr val="1E3A8A"/>
                </a:solidFill>
                <a:latin typeface="Arial" pitchFamily="34" charset="0"/>
                <a:ea typeface="Arial" pitchFamily="34" charset="-122"/>
                <a:cs typeface="Arial" pitchFamily="34" charset="-120"/>
              </a:rPr>
              <a:t>1. Which method prevents normal browser submission?</a:t>
            </a:r>
            <a:endParaRPr lang="en-US" sz="1070" dirty="0"/>
          </a:p>
          <a:p>
            <a:pPr algn="l" indent="0" marL="0">
              <a:buNone/>
            </a:pPr>
            <a:r>
              <a:rPr lang="en-US" sz="1070" b="1" dirty="0">
                <a:solidFill>
                  <a:srgbClr val="1E3A8A"/>
                </a:solidFill>
                <a:latin typeface="Arial" pitchFamily="34" charset="0"/>
                <a:ea typeface="Arial" pitchFamily="34" charset="-122"/>
                <a:cs typeface="Arial" pitchFamily="34" charset="-120"/>
              </a:rPr>
              <a:t>2. Which value already contains the current form data?</a:t>
            </a:r>
            <a:endParaRPr lang="en-US" sz="1070" dirty="0"/>
          </a:p>
        </p:txBody>
      </p:sp>
      <p:sp>
        <p:nvSpPr>
          <p:cNvPr id="8" name="submit-answer-code"/>
          <p:cNvSpPr/>
          <p:nvPr/>
        </p:nvSpPr>
        <p:spPr>
          <a:xfrm>
            <a:off x="4791456" y="2688336"/>
            <a:ext cx="3255264" cy="71323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70" dirty="0">
                <a:solidFill>
                  <a:srgbClr val="FFFFFF"/>
                </a:solidFill>
                <a:latin typeface="Courier New" pitchFamily="34" charset="0"/>
                <a:ea typeface="Courier New" pitchFamily="34" charset="-122"/>
                <a:cs typeface="Courier New" pitchFamily="34" charset="-120"/>
              </a:rPr>
              <a:t>event.preventDefault();</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console.log(formData);</a:t>
            </a:r>
            <a:endParaRPr lang="en-US" sz="1070" dirty="0"/>
          </a:p>
        </p:txBody>
      </p:sp>
      <p:sp>
        <p:nvSpPr>
          <p:cNvPr id="9" name="strip-Pattern"/>
          <p:cNvSpPr/>
          <p:nvPr/>
        </p:nvSpPr>
        <p:spPr>
          <a:xfrm>
            <a:off x="4791456" y="3621024"/>
            <a:ext cx="3255264" cy="475488"/>
          </a:xfrm>
          <a:prstGeom prst="roundRect">
            <a:avLst/>
          </a:prstGeom>
          <a:solidFill>
            <a:srgbClr val="F8FAFC"/>
          </a:solidFill>
          <a:ln w="12700">
            <a:solidFill>
              <a:srgbClr val="F8FAFC"/>
            </a:solidFill>
            <a:prstDash val="solid"/>
          </a:ln>
        </p:spPr>
      </p:sp>
      <p:sp>
        <p:nvSpPr>
          <p:cNvPr id="10" name="strip-text-Pattern"/>
          <p:cNvSpPr/>
          <p:nvPr/>
        </p:nvSpPr>
        <p:spPr>
          <a:xfrm>
            <a:off x="4937760" y="3721608"/>
            <a:ext cx="2962656" cy="292608"/>
          </a:xfrm>
          <a:prstGeom prst="rect">
            <a:avLst/>
          </a:prstGeom>
          <a:noFill/>
          <a:ln/>
        </p:spPr>
        <p:txBody>
          <a:bodyPr wrap="square" lIns="0" tIns="0" rIns="0" bIns="0" rtlCol="0" anchor="t"/>
          <a:lstStyle/>
          <a:p>
            <a:pPr indent="0" marL="0">
              <a:buNone/>
            </a:pPr>
            <a:r>
              <a:rPr lang="en-US" sz="1030" b="1" dirty="0">
                <a:solidFill>
                  <a:srgbClr val="1E3A8A"/>
                </a:solidFill>
                <a:latin typeface="Arial" pitchFamily="34" charset="0"/>
                <a:ea typeface="Arial" pitchFamily="34" charset="-122"/>
                <a:cs typeface="Arial" pitchFamily="34" charset="-120"/>
              </a:rPr>
              <a:t>Pattern  </a:t>
            </a:r>
            <a:pPr indent="0" marL="0">
              <a:buNone/>
            </a:pPr>
            <a:r>
              <a:rPr lang="en-US" sz="1030" dirty="0">
                <a:solidFill>
                  <a:srgbClr val="0F172A"/>
                </a:solidFill>
                <a:latin typeface="Arial" pitchFamily="34" charset="0"/>
                <a:ea typeface="Arial" pitchFamily="34" charset="-122"/>
                <a:cs typeface="Arial" pitchFamily="34" charset="-120"/>
              </a:rPr>
              <a:t>user enters values · form state holds them · submit handler reads that state</a:t>
            </a:r>
            <a:endParaRPr lang="en-US" sz="1030" dirty="0"/>
          </a:p>
        </p:txBody>
      </p:sp>
      <p:sp>
        <p:nvSpPr>
          <p:cNvPr id="11" name="answer-box"/>
          <p:cNvSpPr/>
          <p:nvPr/>
        </p:nvSpPr>
        <p:spPr>
          <a:xfrm>
            <a:off x="694944" y="4133088"/>
            <a:ext cx="7351776" cy="493776"/>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990" b="1" dirty="0">
                <a:solidFill>
                  <a:srgbClr val="166534"/>
                </a:solidFill>
                <a:latin typeface="Arial" pitchFamily="34" charset="0"/>
                <a:ea typeface="Arial" pitchFamily="34" charset="-122"/>
                <a:cs typeface="Arial" pitchFamily="34" charset="-120"/>
              </a:rPr>
              <a:t>Answer: </a:t>
            </a:r>
            <a:pPr indent="0" marL="0">
              <a:buNone/>
            </a:pPr>
            <a:r>
              <a:rPr lang="en-US" sz="990" b="1" dirty="0">
                <a:solidFill>
                  <a:srgbClr val="0F172A"/>
                </a:solidFill>
                <a:latin typeface="Arial" pitchFamily="34" charset="0"/>
                <a:ea typeface="Arial" pitchFamily="34" charset="-122"/>
                <a:cs typeface="Arial" pitchFamily="34" charset="-120"/>
              </a:rPr>
              <a:t>preventDefault and formData</a:t>
            </a:r>
            <a:pPr indent="0" marL="0">
              <a:buNone/>
            </a:pPr>
            <a:endParaRPr lang="en-US" sz="990" dirty="0"/>
          </a:p>
          <a:p>
            <a:pPr indent="0" marL="0">
              <a:buNone/>
            </a:pPr>
            <a:r>
              <a:rPr lang="en-US" sz="990" b="1" dirty="0">
                <a:solidFill>
                  <a:srgbClr val="166534"/>
                </a:solidFill>
                <a:latin typeface="Arial" pitchFamily="34" charset="0"/>
                <a:ea typeface="Arial" pitchFamily="34" charset="-122"/>
                <a:cs typeface="Arial" pitchFamily="34" charset="-120"/>
              </a:rPr>
              <a:t>Why: </a:t>
            </a:r>
            <a:endParaRPr lang="en-US" sz="990" dirty="0"/>
          </a:p>
          <a:p>
            <a:pPr indent="0" marL="0">
              <a:buNone/>
            </a:pPr>
            <a:r>
              <a:rPr lang="en-US" sz="990" dirty="0">
                <a:solidFill>
                  <a:srgbClr val="0F172A"/>
                </a:solidFill>
                <a:latin typeface="Arial" pitchFamily="34" charset="0"/>
                <a:ea typeface="Arial" pitchFamily="34" charset="-122"/>
                <a:cs typeface="Arial" pitchFamily="34" charset="-120"/>
              </a:rPr>
              <a:t>Because the controls already update React state, formData contains the current values when the submit handler runs.</a:t>
            </a:r>
            <a:endParaRPr lang="en-US" sz="99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lide-title"/>
          <p:cNvSpPr/>
          <p:nvPr/>
        </p:nvSpPr>
        <p:spPr>
          <a:xfrm>
            <a:off x="548640" y="256032"/>
            <a:ext cx="64465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When do we need an Effect?</a:t>
            </a:r>
            <a:endParaRPr lang="en-US" sz="2600" dirty="0"/>
          </a:p>
        </p:txBody>
      </p:sp>
      <p:sp>
        <p:nvSpPr>
          <p:cNvPr id="3" name="body-text"/>
          <p:cNvSpPr/>
          <p:nvPr/>
        </p:nvSpPr>
        <p:spPr>
          <a:xfrm>
            <a:off x="566928" y="1051560"/>
            <a:ext cx="7040880" cy="548640"/>
          </a:xfrm>
          <a:prstGeom prst="rect">
            <a:avLst/>
          </a:prstGeom>
          <a:noFill/>
          <a:ln/>
        </p:spPr>
        <p:txBody>
          <a:bodyPr wrap="square" lIns="0" tIns="0" rIns="0" bIns="0" rtlCol="0" anchor="t"/>
          <a:lstStyle/>
          <a:p>
            <a:pPr algn="l" indent="0" marL="0">
              <a:buNone/>
            </a:pPr>
            <a:r>
              <a:rPr lang="en-US" sz="1340" dirty="0">
                <a:solidFill>
                  <a:srgbClr val="475569"/>
                </a:solidFill>
                <a:latin typeface="Arial" pitchFamily="34" charset="0"/>
                <a:ea typeface="Arial" pitchFamily="34" charset="-122"/>
                <a:cs typeface="Arial" pitchFamily="34" charset="-120"/>
              </a:rPr>
              <a:t>Separate calculations and interaction-driven work from synchronization with systems outside React.</a:t>
            </a:r>
            <a:endParaRPr lang="en-US" sz="1340" dirty="0"/>
          </a:p>
        </p:txBody>
      </p:sp>
      <p:sp>
        <p:nvSpPr>
          <p:cNvPr id="4" name="section-step-0"/>
          <p:cNvSpPr/>
          <p:nvPr/>
        </p:nvSpPr>
        <p:spPr>
          <a:xfrm>
            <a:off x="713232" y="2267712"/>
            <a:ext cx="1298448" cy="658368"/>
          </a:xfrm>
          <a:prstGeom prst="roundRect">
            <a:avLst/>
          </a:prstGeom>
          <a:solidFill>
            <a:srgbClr val="F8FAFC"/>
          </a:solidFill>
          <a:ln w="12700">
            <a:solidFill>
              <a:srgbClr val="CBD5E1"/>
            </a:solidFill>
            <a:prstDash val="solid"/>
          </a:ln>
        </p:spPr>
      </p:sp>
      <p:sp>
        <p:nvSpPr>
          <p:cNvPr id="5" name="pill"/>
          <p:cNvSpPr/>
          <p:nvPr/>
        </p:nvSpPr>
        <p:spPr>
          <a:xfrm>
            <a:off x="822960"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1</a:t>
            </a:r>
            <a:endParaRPr lang="en-US" sz="920" dirty="0"/>
          </a:p>
        </p:txBody>
      </p:sp>
      <p:sp>
        <p:nvSpPr>
          <p:cNvPr id="6" name="body-text"/>
          <p:cNvSpPr/>
          <p:nvPr/>
        </p:nvSpPr>
        <p:spPr>
          <a:xfrm>
            <a:off x="1188720"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Warm-up</a:t>
            </a:r>
            <a:endParaRPr lang="en-US" sz="950" dirty="0"/>
          </a:p>
        </p:txBody>
      </p:sp>
      <p:sp>
        <p:nvSpPr>
          <p:cNvPr id="7" name="section-step-1"/>
          <p:cNvSpPr/>
          <p:nvPr/>
        </p:nvSpPr>
        <p:spPr>
          <a:xfrm>
            <a:off x="2240280" y="2267712"/>
            <a:ext cx="1298448" cy="658368"/>
          </a:xfrm>
          <a:prstGeom prst="roundRect">
            <a:avLst/>
          </a:prstGeom>
          <a:solidFill>
            <a:srgbClr val="EFF6FF"/>
          </a:solidFill>
          <a:ln w="12700">
            <a:solidFill>
              <a:srgbClr val="93C5FD"/>
            </a:solidFill>
            <a:prstDash val="solid"/>
          </a:ln>
        </p:spPr>
      </p:sp>
      <p:sp>
        <p:nvSpPr>
          <p:cNvPr id="8" name="pill"/>
          <p:cNvSpPr/>
          <p:nvPr/>
        </p:nvSpPr>
        <p:spPr>
          <a:xfrm>
            <a:off x="2350008" y="2395728"/>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2</a:t>
            </a:r>
            <a:endParaRPr lang="en-US" sz="920" dirty="0"/>
          </a:p>
        </p:txBody>
      </p:sp>
      <p:sp>
        <p:nvSpPr>
          <p:cNvPr id="9" name="body-text"/>
          <p:cNvSpPr/>
          <p:nvPr/>
        </p:nvSpPr>
        <p:spPr>
          <a:xfrm>
            <a:off x="2715768" y="2368296"/>
            <a:ext cx="694944" cy="201168"/>
          </a:xfrm>
          <a:prstGeom prst="rect">
            <a:avLst/>
          </a:prstGeom>
          <a:noFill/>
          <a:ln/>
        </p:spPr>
        <p:txBody>
          <a:bodyPr wrap="square" lIns="0" tIns="0" rIns="0" bIns="0" rtlCol="0" anchor="t"/>
          <a:lstStyle/>
          <a:p>
            <a:pPr algn="l" indent="0" marL="0">
              <a:buNone/>
            </a:pPr>
            <a:r>
              <a:rPr lang="en-US" sz="950" b="1" dirty="0">
                <a:solidFill>
                  <a:srgbClr val="1E3A8A"/>
                </a:solidFill>
                <a:latin typeface="Arial" pitchFamily="34" charset="0"/>
                <a:ea typeface="Arial" pitchFamily="34" charset="-122"/>
                <a:cs typeface="Arial" pitchFamily="34" charset="-120"/>
              </a:rPr>
              <a:t>Effects</a:t>
            </a:r>
            <a:endParaRPr lang="en-US" sz="950" dirty="0"/>
          </a:p>
        </p:txBody>
      </p:sp>
      <p:sp>
        <p:nvSpPr>
          <p:cNvPr id="10" name="section-step-2"/>
          <p:cNvSpPr/>
          <p:nvPr/>
        </p:nvSpPr>
        <p:spPr>
          <a:xfrm>
            <a:off x="3767328" y="2267712"/>
            <a:ext cx="1298448" cy="658368"/>
          </a:xfrm>
          <a:prstGeom prst="roundRect">
            <a:avLst/>
          </a:prstGeom>
          <a:solidFill>
            <a:srgbClr val="F8FAFC"/>
          </a:solidFill>
          <a:ln w="12700">
            <a:solidFill>
              <a:srgbClr val="CBD5E1"/>
            </a:solidFill>
            <a:prstDash val="solid"/>
          </a:ln>
        </p:spPr>
      </p:sp>
      <p:sp>
        <p:nvSpPr>
          <p:cNvPr id="11" name="pill"/>
          <p:cNvSpPr/>
          <p:nvPr/>
        </p:nvSpPr>
        <p:spPr>
          <a:xfrm>
            <a:off x="3877056"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3</a:t>
            </a:r>
            <a:endParaRPr lang="en-US" sz="920" dirty="0"/>
          </a:p>
        </p:txBody>
      </p:sp>
      <p:sp>
        <p:nvSpPr>
          <p:cNvPr id="12" name="body-text"/>
          <p:cNvSpPr/>
          <p:nvPr/>
        </p:nvSpPr>
        <p:spPr>
          <a:xfrm>
            <a:off x="4242816"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Dependencies</a:t>
            </a:r>
            <a:endParaRPr lang="en-US" sz="950" dirty="0"/>
          </a:p>
        </p:txBody>
      </p:sp>
      <p:sp>
        <p:nvSpPr>
          <p:cNvPr id="13" name="section-step-3"/>
          <p:cNvSpPr/>
          <p:nvPr/>
        </p:nvSpPr>
        <p:spPr>
          <a:xfrm>
            <a:off x="5294376" y="2267712"/>
            <a:ext cx="1298448" cy="658368"/>
          </a:xfrm>
          <a:prstGeom prst="roundRect">
            <a:avLst/>
          </a:prstGeom>
          <a:solidFill>
            <a:srgbClr val="F8FAFC"/>
          </a:solidFill>
          <a:ln w="12700">
            <a:solidFill>
              <a:srgbClr val="CBD5E1"/>
            </a:solidFill>
            <a:prstDash val="solid"/>
          </a:ln>
        </p:spPr>
      </p:sp>
      <p:sp>
        <p:nvSpPr>
          <p:cNvPr id="14" name="pill"/>
          <p:cNvSpPr/>
          <p:nvPr/>
        </p:nvSpPr>
        <p:spPr>
          <a:xfrm>
            <a:off x="5404104"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4</a:t>
            </a:r>
            <a:endParaRPr lang="en-US" sz="920" dirty="0"/>
          </a:p>
        </p:txBody>
      </p:sp>
      <p:sp>
        <p:nvSpPr>
          <p:cNvPr id="15" name="body-text"/>
          <p:cNvSpPr/>
          <p:nvPr/>
        </p:nvSpPr>
        <p:spPr>
          <a:xfrm>
            <a:off x="5769864"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External data</a:t>
            </a:r>
            <a:endParaRPr lang="en-US" sz="950" dirty="0"/>
          </a:p>
        </p:txBody>
      </p:sp>
      <p:sp>
        <p:nvSpPr>
          <p:cNvPr id="16" name="section-step-4"/>
          <p:cNvSpPr/>
          <p:nvPr/>
        </p:nvSpPr>
        <p:spPr>
          <a:xfrm>
            <a:off x="6821424" y="2267712"/>
            <a:ext cx="1298448" cy="658368"/>
          </a:xfrm>
          <a:prstGeom prst="roundRect">
            <a:avLst/>
          </a:prstGeom>
          <a:solidFill>
            <a:srgbClr val="F8FAFC"/>
          </a:solidFill>
          <a:ln w="12700">
            <a:solidFill>
              <a:srgbClr val="CBD5E1"/>
            </a:solidFill>
            <a:prstDash val="solid"/>
          </a:ln>
        </p:spPr>
      </p:sp>
      <p:sp>
        <p:nvSpPr>
          <p:cNvPr id="17" name="pill"/>
          <p:cNvSpPr/>
          <p:nvPr/>
        </p:nvSpPr>
        <p:spPr>
          <a:xfrm>
            <a:off x="6931152"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5</a:t>
            </a:r>
            <a:endParaRPr lang="en-US" sz="920" dirty="0"/>
          </a:p>
        </p:txBody>
      </p:sp>
      <p:sp>
        <p:nvSpPr>
          <p:cNvPr id="18" name="body-text"/>
          <p:cNvSpPr/>
          <p:nvPr/>
        </p:nvSpPr>
        <p:spPr>
          <a:xfrm>
            <a:off x="7296912"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Request states</a:t>
            </a:r>
            <a:endParaRPr lang="en-US" sz="950" dirty="0"/>
          </a:p>
        </p:txBody>
      </p:sp>
      <p:sp>
        <p:nvSpPr>
          <p:cNvPr id="19" name="section-rail"/>
          <p:cNvSpPr/>
          <p:nvPr/>
        </p:nvSpPr>
        <p:spPr>
          <a:xfrm>
            <a:off x="1005840" y="3328416"/>
            <a:ext cx="7095744" cy="0"/>
          </a:xfrm>
          <a:prstGeom prst="line">
            <a:avLst/>
          </a:prstGeom>
          <a:noFill/>
          <a:ln w="25400">
            <a:solidFill>
              <a:srgbClr val="CBD5E1"/>
            </a:solidFill>
            <a:prstDash val="solid"/>
          </a:ln>
        </p:spPr>
      </p:sp>
      <p:sp>
        <p:nvSpPr>
          <p:cNvPr id="20" name="section-current"/>
          <p:cNvSpPr/>
          <p:nvPr/>
        </p:nvSpPr>
        <p:spPr>
          <a:xfrm>
            <a:off x="2679192" y="3227832"/>
            <a:ext cx="201168" cy="201168"/>
          </a:xfrm>
          <a:prstGeom prst="ellipse">
            <a:avLst/>
          </a:prstGeom>
          <a:solidFill>
            <a:srgbClr val="1E3A8A"/>
          </a:solidFill>
          <a:ln w="12700">
            <a:solidFill>
              <a:srgbClr val="1E3A8A"/>
            </a:solidFill>
            <a:prstDash val="solid"/>
          </a:ln>
        </p:spPr>
      </p:sp>
      <p:sp>
        <p:nvSpPr>
          <p:cNvPr id="21" name="body-text"/>
          <p:cNvSpPr/>
          <p:nvPr/>
        </p:nvSpPr>
        <p:spPr>
          <a:xfrm>
            <a:off x="713232" y="3785616"/>
            <a:ext cx="1005840" cy="201168"/>
          </a:xfrm>
          <a:prstGeom prst="rect">
            <a:avLst/>
          </a:prstGeom>
          <a:noFill/>
          <a:ln/>
        </p:spPr>
        <p:txBody>
          <a:bodyPr wrap="square" lIns="0" tIns="0" rIns="0" bIns="0" rtlCol="0" anchor="t"/>
          <a:lstStyle/>
          <a:p>
            <a:pPr algn="l" indent="0" marL="0">
              <a:buNone/>
            </a:pPr>
            <a:r>
              <a:rPr lang="en-US" sz="1000" b="1" dirty="0">
                <a:solidFill>
                  <a:srgbClr val="1E3A8A"/>
                </a:solidFill>
                <a:latin typeface="Arial" pitchFamily="34" charset="0"/>
                <a:ea typeface="Arial" pitchFamily="34" charset="-122"/>
                <a:cs typeface="Arial" pitchFamily="34" charset="-120"/>
              </a:rPr>
              <a:t>Section 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Our first Effect problem: tab visibility</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EFFECTS</a:t>
            </a:r>
            <a:endParaRPr lang="en-US" sz="940" dirty="0"/>
          </a:p>
        </p:txBody>
      </p:sp>
      <p:sp>
        <p:nvSpPr>
          <p:cNvPr id="4" name="tab-ui"/>
          <p:cNvSpPr/>
          <p:nvPr/>
        </p:nvSpPr>
        <p:spPr>
          <a:xfrm>
            <a:off x="658368" y="1042416"/>
            <a:ext cx="3547872" cy="3154680"/>
          </a:xfrm>
          <a:prstGeom prst="roundRect">
            <a:avLst/>
          </a:prstGeom>
          <a:solidFill>
            <a:srgbClr val="FFFFFF"/>
          </a:solidFill>
          <a:ln w="12700">
            <a:solidFill>
              <a:srgbClr val="CBD5E1"/>
            </a:solidFill>
            <a:prstDash val="solid"/>
          </a:ln>
        </p:spPr>
      </p:sp>
      <p:sp>
        <p:nvSpPr>
          <p:cNvPr id="5" name="tab-ui-bar"/>
          <p:cNvSpPr/>
          <p:nvPr/>
        </p:nvSpPr>
        <p:spPr>
          <a:xfrm>
            <a:off x="658368" y="1042416"/>
            <a:ext cx="3547872" cy="310896"/>
          </a:xfrm>
          <a:prstGeom prst="rect">
            <a:avLst/>
          </a:prstGeom>
          <a:solidFill>
            <a:srgbClr val="F8FAFC"/>
          </a:solidFill>
          <a:ln w="8890">
            <a:solidFill>
              <a:srgbClr val="CBD5E1"/>
            </a:solidFill>
            <a:prstDash val="solid"/>
          </a:ln>
        </p:spPr>
      </p:sp>
      <p:sp>
        <p:nvSpPr>
          <p:cNvPr id="6" name="tab-ui-dot0"/>
          <p:cNvSpPr/>
          <p:nvPr/>
        </p:nvSpPr>
        <p:spPr>
          <a:xfrm>
            <a:off x="768096" y="1152144"/>
            <a:ext cx="73152" cy="73152"/>
          </a:xfrm>
          <a:prstGeom prst="ellipse">
            <a:avLst/>
          </a:prstGeom>
          <a:solidFill>
            <a:srgbClr val="F87171"/>
          </a:solidFill>
          <a:ln w="12700">
            <a:solidFill>
              <a:srgbClr val="F87171"/>
            </a:solidFill>
            <a:prstDash val="solid"/>
          </a:ln>
        </p:spPr>
      </p:sp>
      <p:sp>
        <p:nvSpPr>
          <p:cNvPr id="7" name="tab-ui-dot1"/>
          <p:cNvSpPr/>
          <p:nvPr/>
        </p:nvSpPr>
        <p:spPr>
          <a:xfrm>
            <a:off x="886968" y="1152144"/>
            <a:ext cx="73152" cy="73152"/>
          </a:xfrm>
          <a:prstGeom prst="ellipse">
            <a:avLst/>
          </a:prstGeom>
          <a:solidFill>
            <a:srgbClr val="FBBF24"/>
          </a:solidFill>
          <a:ln w="12700">
            <a:solidFill>
              <a:srgbClr val="FBBF24"/>
            </a:solidFill>
            <a:prstDash val="solid"/>
          </a:ln>
        </p:spPr>
      </p:sp>
      <p:sp>
        <p:nvSpPr>
          <p:cNvPr id="8" name="tab-ui-dot2"/>
          <p:cNvSpPr/>
          <p:nvPr/>
        </p:nvSpPr>
        <p:spPr>
          <a:xfrm>
            <a:off x="1005840" y="1152144"/>
            <a:ext cx="73152" cy="73152"/>
          </a:xfrm>
          <a:prstGeom prst="ellipse">
            <a:avLst/>
          </a:prstGeom>
          <a:solidFill>
            <a:srgbClr val="34D399"/>
          </a:solidFill>
          <a:ln w="12700">
            <a:solidFill>
              <a:srgbClr val="34D399"/>
            </a:solidFill>
            <a:prstDash val="solid"/>
          </a:ln>
        </p:spPr>
      </p:sp>
      <p:sp>
        <p:nvSpPr>
          <p:cNvPr id="9" name="tab-ui-title"/>
          <p:cNvSpPr/>
          <p:nvPr/>
        </p:nvSpPr>
        <p:spPr>
          <a:xfrm>
            <a:off x="1188720" y="1110996"/>
            <a:ext cx="2889504"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Community Feedback Desk</a:t>
            </a:r>
            <a:endParaRPr lang="en-US" sz="920" dirty="0"/>
          </a:p>
        </p:txBody>
      </p:sp>
      <p:sp>
        <p:nvSpPr>
          <p:cNvPr id="10" name="body-text"/>
          <p:cNvSpPr/>
          <p:nvPr/>
        </p:nvSpPr>
        <p:spPr>
          <a:xfrm>
            <a:off x="950976" y="1572768"/>
            <a:ext cx="2926080" cy="237744"/>
          </a:xfrm>
          <a:prstGeom prst="rect">
            <a:avLst/>
          </a:prstGeom>
          <a:noFill/>
          <a:ln/>
        </p:spPr>
        <p:txBody>
          <a:bodyPr wrap="square" lIns="0" tIns="0" rIns="0" bIns="0" rtlCol="0" anchor="t"/>
          <a:lstStyle/>
          <a:p>
            <a:pPr algn="l" indent="0" marL="0">
              <a:buNone/>
            </a:pPr>
            <a:r>
              <a:rPr lang="en-US" sz="1350" b="1" dirty="0">
                <a:solidFill>
                  <a:srgbClr val="0F172A"/>
                </a:solidFill>
                <a:latin typeface="Arial" pitchFamily="34" charset="0"/>
                <a:ea typeface="Arial" pitchFamily="34" charset="-122"/>
                <a:cs typeface="Arial" pitchFamily="34" charset="-120"/>
              </a:rPr>
              <a:t>Tab activity</a:t>
            </a:r>
            <a:endParaRPr lang="en-US" sz="1350" dirty="0"/>
          </a:p>
        </p:txBody>
      </p:sp>
      <p:sp>
        <p:nvSpPr>
          <p:cNvPr id="11" name="body-text"/>
          <p:cNvSpPr/>
          <p:nvPr/>
        </p:nvSpPr>
        <p:spPr>
          <a:xfrm>
            <a:off x="950976" y="2084832"/>
            <a:ext cx="1938528" cy="219456"/>
          </a:xfrm>
          <a:prstGeom prst="rect">
            <a:avLst/>
          </a:prstGeom>
          <a:noFill/>
          <a:ln/>
        </p:spPr>
        <p:txBody>
          <a:bodyPr wrap="square" lIns="0" tIns="0" rIns="0" bIns="0" rtlCol="0" anchor="t"/>
          <a:lstStyle/>
          <a:p>
            <a:pPr algn="l" indent="0" marL="0">
              <a:buNone/>
            </a:pPr>
            <a:r>
              <a:rPr lang="en-US" sz="1080" dirty="0">
                <a:solidFill>
                  <a:srgbClr val="475569"/>
                </a:solidFill>
                <a:latin typeface="Arial" pitchFamily="34" charset="0"/>
                <a:ea typeface="Arial" pitchFamily="34" charset="-122"/>
                <a:cs typeface="Arial" pitchFamily="34" charset="-120"/>
              </a:rPr>
              <a:t>Backgrounded since load: </a:t>
            </a:r>
            <a:endParaRPr lang="en-US" sz="1080" dirty="0"/>
          </a:p>
        </p:txBody>
      </p:sp>
      <p:sp>
        <p:nvSpPr>
          <p:cNvPr id="12" name="pill"/>
          <p:cNvSpPr/>
          <p:nvPr/>
        </p:nvSpPr>
        <p:spPr>
          <a:xfrm>
            <a:off x="2907792" y="2029968"/>
            <a:ext cx="530352" cy="274320"/>
          </a:xfrm>
          <a:prstGeom prst="rect">
            <a:avLst/>
          </a:prstGeom>
          <a:solidFill>
            <a:srgbClr val="EFF6FF"/>
          </a:solidFill>
          <a:ln w="10160">
            <a:solidFill>
              <a:srgbClr val="EFF6FF"/>
            </a:solidFill>
          </a:ln>
        </p:spPr>
        <p:txBody>
          <a:bodyPr wrap="square" lIns="635" tIns="1270" rIns="1270" bIns="635" rtlCol="0" anchor="ctr"/>
          <a:lstStyle/>
          <a:p>
            <a:pPr algn="ctr" indent="0" marL="0">
              <a:buNone/>
            </a:pPr>
            <a:r>
              <a:rPr lang="en-US" sz="960" b="1" dirty="0">
                <a:solidFill>
                  <a:srgbClr val="1E3A8A"/>
                </a:solidFill>
                <a:latin typeface="Arial" pitchFamily="34" charset="0"/>
                <a:ea typeface="Arial" pitchFamily="34" charset="-122"/>
                <a:cs typeface="Arial" pitchFamily="34" charset="-120"/>
              </a:rPr>
              <a:t>No</a:t>
            </a:r>
            <a:endParaRPr lang="en-US" sz="960" dirty="0"/>
          </a:p>
        </p:txBody>
      </p:sp>
      <p:sp>
        <p:nvSpPr>
          <p:cNvPr id="13" name="pill"/>
          <p:cNvSpPr/>
          <p:nvPr/>
        </p:nvSpPr>
        <p:spPr>
          <a:xfrm>
            <a:off x="950976" y="2596896"/>
            <a:ext cx="658368" cy="274320"/>
          </a:xfrm>
          <a:prstGeom prst="rect">
            <a:avLst/>
          </a:prstGeom>
          <a:solidFill>
            <a:srgbClr val="F8FAFC"/>
          </a:solidFill>
          <a:ln w="10160">
            <a:solidFill>
              <a:srgbClr val="CBD5E1"/>
            </a:solidFill>
          </a:ln>
        </p:spPr>
        <p:txBody>
          <a:bodyPr wrap="square" lIns="635" tIns="1270" rIns="1270" bIns="635" rtlCol="0" anchor="ctr"/>
          <a:lstStyle/>
          <a:p>
            <a:pPr algn="ctr" indent="0" marL="0">
              <a:buNone/>
            </a:pPr>
            <a:r>
              <a:rPr lang="en-US" sz="930" b="1" dirty="0">
                <a:solidFill>
                  <a:srgbClr val="475569"/>
                </a:solidFill>
                <a:latin typeface="Arial" pitchFamily="34" charset="0"/>
                <a:ea typeface="Arial" pitchFamily="34" charset="-122"/>
                <a:cs typeface="Arial" pitchFamily="34" charset="-120"/>
              </a:rPr>
              <a:t>Reset</a:t>
            </a:r>
            <a:endParaRPr lang="en-US" sz="930" dirty="0"/>
          </a:p>
        </p:txBody>
      </p:sp>
      <p:sp>
        <p:nvSpPr>
          <p:cNvPr id="14" name="strip-State"/>
          <p:cNvSpPr/>
          <p:nvPr/>
        </p:nvSpPr>
        <p:spPr>
          <a:xfrm>
            <a:off x="950976" y="3182112"/>
            <a:ext cx="2962656" cy="457200"/>
          </a:xfrm>
          <a:prstGeom prst="roundRect">
            <a:avLst/>
          </a:prstGeom>
          <a:solidFill>
            <a:srgbClr val="F8FAFC"/>
          </a:solidFill>
          <a:ln w="12700">
            <a:solidFill>
              <a:srgbClr val="F8FAFC"/>
            </a:solidFill>
            <a:prstDash val="solid"/>
          </a:ln>
        </p:spPr>
      </p:sp>
      <p:sp>
        <p:nvSpPr>
          <p:cNvPr id="15" name="strip-text-State"/>
          <p:cNvSpPr/>
          <p:nvPr/>
        </p:nvSpPr>
        <p:spPr>
          <a:xfrm>
            <a:off x="1097280" y="3282696"/>
            <a:ext cx="2670048" cy="274320"/>
          </a:xfrm>
          <a:prstGeom prst="rect">
            <a:avLst/>
          </a:prstGeom>
          <a:noFill/>
          <a:ln/>
        </p:spPr>
        <p:txBody>
          <a:bodyPr wrap="square" lIns="0" tIns="0" rIns="0" bIns="0" rtlCol="0" anchor="t"/>
          <a:lstStyle/>
          <a:p>
            <a:pPr indent="0" marL="0">
              <a:buNone/>
            </a:pPr>
            <a:r>
              <a:rPr lang="en-US" sz="1030" b="1" dirty="0">
                <a:solidFill>
                  <a:srgbClr val="1E3A8A"/>
                </a:solidFill>
                <a:latin typeface="Arial" pitchFamily="34" charset="0"/>
                <a:ea typeface="Arial" pitchFamily="34" charset="-122"/>
                <a:cs typeface="Arial" pitchFamily="34" charset="-120"/>
              </a:rPr>
              <a:t>State  </a:t>
            </a:r>
            <a:pPr indent="0" marL="0">
              <a:buNone/>
            </a:pPr>
            <a:r>
              <a:rPr lang="en-US" sz="1030" dirty="0">
                <a:solidFill>
                  <a:srgbClr val="0F172A"/>
                </a:solidFill>
                <a:latin typeface="Arial" pitchFamily="34" charset="0"/>
                <a:ea typeface="Arial" pitchFamily="34" charset="-122"/>
                <a:cs typeface="Arial" pitchFamily="34" charset="-120"/>
              </a:rPr>
              <a:t>wasBackgrounded = false</a:t>
            </a:r>
            <a:endParaRPr lang="en-US" sz="1030" dirty="0"/>
          </a:p>
        </p:txBody>
      </p:sp>
      <p:sp>
        <p:nvSpPr>
          <p:cNvPr id="16" name="label"/>
          <p:cNvSpPr/>
          <p:nvPr/>
        </p:nvSpPr>
        <p:spPr>
          <a:xfrm>
            <a:off x="4517136" y="1078992"/>
            <a:ext cx="1463040" cy="201168"/>
          </a:xfrm>
          <a:prstGeom prst="rect">
            <a:avLst/>
          </a:prstGeom>
          <a:noFill/>
          <a:ln/>
        </p:spPr>
        <p:txBody>
          <a:bodyPr wrap="square" lIns="0" tIns="0" rIns="0" bIns="0" rtlCol="0" anchor="ctr"/>
          <a:lstStyle/>
          <a:p>
            <a:pPr algn="l" indent="0" marL="0">
              <a:buNone/>
            </a:pPr>
            <a:r>
              <a:rPr lang="en-US" sz="1050" b="1" dirty="0">
                <a:solidFill>
                  <a:srgbClr val="991B1B"/>
                </a:solidFill>
                <a:latin typeface="Arial" pitchFamily="34" charset="0"/>
                <a:ea typeface="Arial" pitchFamily="34" charset="-122"/>
                <a:cs typeface="Arial" pitchFamily="34" charset="-120"/>
              </a:rPr>
              <a:t>New requirement</a:t>
            </a:r>
            <a:endParaRPr lang="en-US" sz="1050" dirty="0"/>
          </a:p>
        </p:txBody>
      </p:sp>
      <p:sp>
        <p:nvSpPr>
          <p:cNvPr id="17" name="body-text"/>
          <p:cNvSpPr/>
          <p:nvPr/>
        </p:nvSpPr>
        <p:spPr>
          <a:xfrm>
            <a:off x="4517136" y="1371600"/>
            <a:ext cx="3566160" cy="640080"/>
          </a:xfrm>
          <a:prstGeom prst="rect">
            <a:avLst/>
          </a:prstGeom>
          <a:noFill/>
          <a:ln/>
        </p:spPr>
        <p:txBody>
          <a:bodyPr wrap="square" lIns="0" tIns="0" rIns="0" bIns="0" rtlCol="0" anchor="t"/>
          <a:lstStyle/>
          <a:p>
            <a:pPr algn="l" indent="0" marL="0">
              <a:buNone/>
            </a:pPr>
            <a:r>
              <a:rPr lang="en-US" sz="1170" b="1" dirty="0">
                <a:solidFill>
                  <a:srgbClr val="0F172A"/>
                </a:solidFill>
                <a:latin typeface="Arial" pitchFamily="34" charset="0"/>
                <a:ea typeface="Arial" pitchFamily="34" charset="-122"/>
                <a:cs typeface="Arial" pitchFamily="34" charset="-120"/>
              </a:rPr>
              <a:t>If the user switches to another browser tab, remember that the page was moved into the background.</a:t>
            </a:r>
            <a:endParaRPr lang="en-US" sz="1170" dirty="0"/>
          </a:p>
        </p:txBody>
      </p:sp>
      <p:sp>
        <p:nvSpPr>
          <p:cNvPr id="18" name="visibility-api"/>
          <p:cNvSpPr/>
          <p:nvPr/>
        </p:nvSpPr>
        <p:spPr>
          <a:xfrm>
            <a:off x="4517136" y="2212848"/>
            <a:ext cx="3566160" cy="1316736"/>
          </a:xfrm>
          <a:prstGeom prst="roundRect">
            <a:avLst/>
          </a:prstGeom>
          <a:solidFill>
            <a:srgbClr val="EFF6FF"/>
          </a:solidFill>
          <a:ln w="12700">
            <a:solidFill>
              <a:srgbClr val="BFDBFE"/>
            </a:solidFill>
            <a:prstDash val="solid"/>
          </a:ln>
        </p:spPr>
      </p:sp>
      <p:sp>
        <p:nvSpPr>
          <p:cNvPr id="19" name="body-text"/>
          <p:cNvSpPr/>
          <p:nvPr/>
        </p:nvSpPr>
        <p:spPr>
          <a:xfrm>
            <a:off x="4700016" y="2395728"/>
            <a:ext cx="2011680" cy="201168"/>
          </a:xfrm>
          <a:prstGeom prst="rect">
            <a:avLst/>
          </a:prstGeom>
          <a:noFill/>
          <a:ln/>
        </p:spPr>
        <p:txBody>
          <a:bodyPr wrap="square" lIns="0" tIns="0" rIns="0" bIns="0" rtlCol="0" anchor="t"/>
          <a:lstStyle/>
          <a:p>
            <a:pPr algn="l" indent="0" marL="0">
              <a:buNone/>
            </a:pPr>
            <a:r>
              <a:rPr lang="en-US" sz="1140" b="1" dirty="0">
                <a:solidFill>
                  <a:srgbClr val="1E3A8A"/>
                </a:solidFill>
                <a:latin typeface="Arial" pitchFamily="34" charset="0"/>
                <a:ea typeface="Arial" pitchFamily="34" charset="-122"/>
                <a:cs typeface="Arial" pitchFamily="34" charset="-120"/>
              </a:rPr>
              <a:t>Page Visibility API</a:t>
            </a:r>
            <a:endParaRPr lang="en-US" sz="1140" dirty="0"/>
          </a:p>
        </p:txBody>
      </p:sp>
      <p:sp>
        <p:nvSpPr>
          <p:cNvPr id="20" name="mini-code"/>
          <p:cNvSpPr/>
          <p:nvPr/>
        </p:nvSpPr>
        <p:spPr>
          <a:xfrm>
            <a:off x="4700016" y="2724912"/>
            <a:ext cx="2139696" cy="310896"/>
          </a:xfrm>
          <a:prstGeom prst="rect">
            <a:avLst/>
          </a:prstGeom>
          <a:solidFill>
            <a:srgbClr val="FFFFFF"/>
          </a:solidFill>
          <a:ln w="8890">
            <a:solidFill>
              <a:srgbClr val="BFDBFE"/>
            </a:solidFill>
          </a:ln>
        </p:spPr>
        <p:txBody>
          <a:bodyPr wrap="square" lIns="635" tIns="1270" rIns="1270" bIns="635" rtlCol="0" anchor="ctr"/>
          <a:lstStyle/>
          <a:p>
            <a:pPr algn="ctr" indent="0" marL="0">
              <a:buNone/>
            </a:pPr>
            <a:r>
              <a:rPr lang="en-US" sz="1020" dirty="0">
                <a:solidFill>
                  <a:srgbClr val="0F172A"/>
                </a:solidFill>
                <a:latin typeface="Courier New" pitchFamily="34" charset="0"/>
                <a:ea typeface="Courier New" pitchFamily="34" charset="-122"/>
                <a:cs typeface="Courier New" pitchFamily="34" charset="-120"/>
              </a:rPr>
              <a:t>document.visibilityState</a:t>
            </a:r>
            <a:endParaRPr lang="en-US" sz="1020" dirty="0"/>
          </a:p>
        </p:txBody>
      </p:sp>
      <p:sp>
        <p:nvSpPr>
          <p:cNvPr id="21" name="mini-code"/>
          <p:cNvSpPr/>
          <p:nvPr/>
        </p:nvSpPr>
        <p:spPr>
          <a:xfrm>
            <a:off x="4700016" y="3090672"/>
            <a:ext cx="2139696" cy="310896"/>
          </a:xfrm>
          <a:prstGeom prst="rect">
            <a:avLst/>
          </a:prstGeom>
          <a:solidFill>
            <a:srgbClr val="FFFFFF"/>
          </a:solidFill>
          <a:ln w="8890">
            <a:solidFill>
              <a:srgbClr val="BFDBFE"/>
            </a:solidFill>
          </a:ln>
        </p:spPr>
        <p:txBody>
          <a:bodyPr wrap="square" lIns="635" tIns="1270" rIns="1270" bIns="635" rtlCol="0" anchor="ctr"/>
          <a:lstStyle/>
          <a:p>
            <a:pPr algn="ctr" indent="0" marL="0">
              <a:buNone/>
            </a:pPr>
            <a:r>
              <a:rPr lang="en-US" sz="1020" dirty="0">
                <a:solidFill>
                  <a:srgbClr val="0F172A"/>
                </a:solidFill>
                <a:latin typeface="Courier New" pitchFamily="34" charset="0"/>
                <a:ea typeface="Courier New" pitchFamily="34" charset="-122"/>
                <a:cs typeface="Courier New" pitchFamily="34" charset="-120"/>
              </a:rPr>
              <a:t>"visible"   "hidden"</a:t>
            </a:r>
            <a:endParaRPr lang="en-US" sz="1020" dirty="0"/>
          </a:p>
        </p:txBody>
      </p:sp>
      <p:sp>
        <p:nvSpPr>
          <p:cNvPr id="22" name="pill"/>
          <p:cNvSpPr/>
          <p:nvPr/>
        </p:nvSpPr>
        <p:spPr>
          <a:xfrm>
            <a:off x="6967728" y="2779776"/>
            <a:ext cx="932688" cy="274320"/>
          </a:xfrm>
          <a:prstGeom prst="rect">
            <a:avLst/>
          </a:prstGeom>
          <a:solidFill>
            <a:srgbClr val="F5F3FF"/>
          </a:solidFill>
          <a:ln w="10160">
            <a:solidFill>
              <a:srgbClr val="F5F3FF"/>
            </a:solidFill>
          </a:ln>
        </p:spPr>
        <p:txBody>
          <a:bodyPr wrap="square" lIns="635" tIns="1270" rIns="1270" bIns="635" rtlCol="0" anchor="ctr"/>
          <a:lstStyle/>
          <a:p>
            <a:pPr algn="ctr" indent="0" marL="0">
              <a:buNone/>
            </a:pPr>
            <a:r>
              <a:rPr lang="en-US" sz="870" b="1" dirty="0">
                <a:solidFill>
                  <a:srgbClr val="6D28D9"/>
                </a:solidFill>
                <a:latin typeface="Arial" pitchFamily="34" charset="0"/>
                <a:ea typeface="Arial" pitchFamily="34" charset="-122"/>
                <a:cs typeface="Arial" pitchFamily="34" charset="-120"/>
              </a:rPr>
              <a:t>visibilitychange</a:t>
            </a:r>
            <a:endParaRPr lang="en-US" sz="870" dirty="0"/>
          </a:p>
        </p:txBody>
      </p:sp>
      <p:sp>
        <p:nvSpPr>
          <p:cNvPr id="23" name="body-text"/>
          <p:cNvSpPr/>
          <p:nvPr/>
        </p:nvSpPr>
        <p:spPr>
          <a:xfrm>
            <a:off x="4517136" y="3785616"/>
            <a:ext cx="3529584" cy="384048"/>
          </a:xfrm>
          <a:prstGeom prst="rect">
            <a:avLst/>
          </a:prstGeom>
          <a:noFill/>
          <a:ln/>
        </p:spPr>
        <p:txBody>
          <a:bodyPr wrap="square" lIns="0" tIns="0" rIns="0" bIns="0" rtlCol="0" anchor="t"/>
          <a:lstStyle/>
          <a:p>
            <a:pPr algn="l" indent="0" marL="0">
              <a:buNone/>
            </a:pPr>
            <a:r>
              <a:rPr lang="en-US" sz="1070" b="1" dirty="0">
                <a:solidFill>
                  <a:srgbClr val="475569"/>
                </a:solidFill>
                <a:latin typeface="Arial" pitchFamily="34" charset="0"/>
                <a:ea typeface="Arial" pitchFamily="34" charset="-122"/>
                <a:cs typeface="Arial" pitchFamily="34" charset="-120"/>
              </a:rPr>
              <a:t>The browser can change visibility without a click, submit, or React input change.</a:t>
            </a:r>
            <a:endParaRPr lang="en-US" sz="10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Where should the listener go?</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EFFECTS</a:t>
            </a:r>
            <a:endParaRPr lang="en-US" sz="940" dirty="0"/>
          </a:p>
        </p:txBody>
      </p:sp>
      <p:sp>
        <p:nvSpPr>
          <p:cNvPr id="4" name="listener-known"/>
          <p:cNvSpPr/>
          <p:nvPr/>
        </p:nvSpPr>
        <p:spPr>
          <a:xfrm>
            <a:off x="713232" y="987552"/>
            <a:ext cx="3163824" cy="85953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document.addEventListener(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"visibilitychange",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handleVisibilityChange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p:txBody>
      </p:sp>
      <p:sp>
        <p:nvSpPr>
          <p:cNvPr id="5" name="body-text"/>
          <p:cNvSpPr/>
          <p:nvPr/>
        </p:nvSpPr>
        <p:spPr>
          <a:xfrm>
            <a:off x="4151376" y="987552"/>
            <a:ext cx="3840480" cy="493776"/>
          </a:xfrm>
          <a:prstGeom prst="rect">
            <a:avLst/>
          </a:prstGeom>
          <a:noFill/>
          <a:ln/>
        </p:spPr>
        <p:txBody>
          <a:bodyPr wrap="square" lIns="0" tIns="0" rIns="0" bIns="0" rtlCol="0" anchor="t"/>
          <a:lstStyle/>
          <a:p>
            <a:pPr algn="l" indent="0" marL="0">
              <a:buNone/>
            </a:pPr>
            <a:r>
              <a:rPr lang="en-US" sz="1200" b="1" dirty="0">
                <a:solidFill>
                  <a:srgbClr val="0F172A"/>
                </a:solidFill>
                <a:latin typeface="Arial" pitchFamily="34" charset="0"/>
                <a:ea typeface="Arial" pitchFamily="34" charset="-122"/>
                <a:cs typeface="Arial" pitchFamily="34" charset="-120"/>
              </a:rPr>
              <a:t>We know the listener we need. The question is where a React component should register it.</a:t>
            </a:r>
            <a:endParaRPr lang="en-US" sz="1200" dirty="0"/>
          </a:p>
        </p:txBody>
      </p:sp>
      <p:sp>
        <p:nvSpPr>
          <p:cNvPr id="6" name="location-0"/>
          <p:cNvSpPr/>
          <p:nvPr/>
        </p:nvSpPr>
        <p:spPr>
          <a:xfrm>
            <a:off x="713232" y="2157984"/>
            <a:ext cx="7333488" cy="566928"/>
          </a:xfrm>
          <a:prstGeom prst="roundRect">
            <a:avLst/>
          </a:prstGeom>
          <a:solidFill>
            <a:srgbClr val="FEE2E2"/>
          </a:solidFill>
          <a:ln w="12700">
            <a:solidFill>
              <a:srgbClr val="FEE2E2"/>
            </a:solidFill>
            <a:prstDash val="solid"/>
          </a:ln>
        </p:spPr>
      </p:sp>
      <p:sp>
        <p:nvSpPr>
          <p:cNvPr id="7" name="body-text"/>
          <p:cNvSpPr/>
          <p:nvPr/>
        </p:nvSpPr>
        <p:spPr>
          <a:xfrm>
            <a:off x="877824" y="2258568"/>
            <a:ext cx="1554480" cy="182880"/>
          </a:xfrm>
          <a:prstGeom prst="rect">
            <a:avLst/>
          </a:prstGeom>
          <a:noFill/>
          <a:ln/>
        </p:spPr>
        <p:txBody>
          <a:bodyPr wrap="square" lIns="0" tIns="0" rIns="0" bIns="0" rtlCol="0" anchor="t"/>
          <a:lstStyle/>
          <a:p>
            <a:pPr algn="l" indent="0" marL="0">
              <a:buNone/>
            </a:pPr>
            <a:r>
              <a:rPr lang="en-US" sz="1060" b="1" dirty="0">
                <a:solidFill>
                  <a:srgbClr val="991B1B"/>
                </a:solidFill>
                <a:latin typeface="Arial" pitchFamily="34" charset="0"/>
                <a:ea typeface="Arial" pitchFamily="34" charset="-122"/>
                <a:cs typeface="Arial" pitchFamily="34" charset="-120"/>
              </a:rPr>
              <a:t>During rendering</a:t>
            </a:r>
            <a:endParaRPr lang="en-US" sz="1060" dirty="0"/>
          </a:p>
        </p:txBody>
      </p:sp>
      <p:sp>
        <p:nvSpPr>
          <p:cNvPr id="8" name="pill"/>
          <p:cNvSpPr/>
          <p:nvPr/>
        </p:nvSpPr>
        <p:spPr>
          <a:xfrm>
            <a:off x="2542032" y="2276856"/>
            <a:ext cx="1024128" cy="274320"/>
          </a:xfrm>
          <a:prstGeom prst="rect">
            <a:avLst/>
          </a:prstGeom>
          <a:solidFill>
            <a:srgbClr val="FFFFFF"/>
          </a:solidFill>
          <a:ln w="10160">
            <a:solidFill>
              <a:srgbClr val="FFFFFF"/>
            </a:solidFill>
          </a:ln>
        </p:spPr>
        <p:txBody>
          <a:bodyPr wrap="square" lIns="635" tIns="1270" rIns="1270" bIns="635" rtlCol="0" anchor="ctr"/>
          <a:lstStyle/>
          <a:p>
            <a:pPr algn="ctr" indent="0" marL="0">
              <a:buNone/>
            </a:pPr>
            <a:r>
              <a:rPr lang="en-US" sz="880" b="1" dirty="0">
                <a:solidFill>
                  <a:srgbClr val="991B1B"/>
                </a:solidFill>
                <a:latin typeface="Arial" pitchFamily="34" charset="0"/>
                <a:ea typeface="Arial" pitchFamily="34" charset="-122"/>
                <a:cs typeface="Arial" pitchFamily="34" charset="-120"/>
              </a:rPr>
              <a:t>No</a:t>
            </a:r>
            <a:endParaRPr lang="en-US" sz="880" dirty="0"/>
          </a:p>
        </p:txBody>
      </p:sp>
      <p:sp>
        <p:nvSpPr>
          <p:cNvPr id="9" name="body-text"/>
          <p:cNvSpPr/>
          <p:nvPr/>
        </p:nvSpPr>
        <p:spPr>
          <a:xfrm>
            <a:off x="3749040" y="2249424"/>
            <a:ext cx="4078224" cy="310896"/>
          </a:xfrm>
          <a:prstGeom prst="rect">
            <a:avLst/>
          </a:prstGeom>
          <a:noFill/>
          <a:ln/>
        </p:spPr>
        <p:txBody>
          <a:bodyPr wrap="square" lIns="0" tIns="0" rIns="0" bIns="0" rtlCol="0" anchor="t"/>
          <a:lstStyle/>
          <a:p>
            <a:pPr algn="l" indent="0" marL="0">
              <a:buNone/>
            </a:pPr>
            <a:r>
              <a:rPr lang="en-US" sz="1010" dirty="0">
                <a:solidFill>
                  <a:srgbClr val="0F172A"/>
                </a:solidFill>
                <a:latin typeface="Arial" pitchFamily="34" charset="0"/>
                <a:ea typeface="Arial" pitchFamily="34" charset="-122"/>
                <a:cs typeface="Arial" pitchFamily="34" charset="-120"/>
              </a:rPr>
              <a:t>External setup would run while React is calculating UI; later renders could register extra listeners.</a:t>
            </a:r>
            <a:endParaRPr lang="en-US" sz="1010" dirty="0"/>
          </a:p>
        </p:txBody>
      </p:sp>
      <p:sp>
        <p:nvSpPr>
          <p:cNvPr id="10" name="location-1"/>
          <p:cNvSpPr/>
          <p:nvPr/>
        </p:nvSpPr>
        <p:spPr>
          <a:xfrm>
            <a:off x="713232" y="2871216"/>
            <a:ext cx="7333488" cy="566928"/>
          </a:xfrm>
          <a:prstGeom prst="roundRect">
            <a:avLst/>
          </a:prstGeom>
          <a:solidFill>
            <a:srgbClr val="FEF9C3"/>
          </a:solidFill>
          <a:ln w="12700">
            <a:solidFill>
              <a:srgbClr val="FEF9C3"/>
            </a:solidFill>
            <a:prstDash val="solid"/>
          </a:ln>
        </p:spPr>
      </p:sp>
      <p:sp>
        <p:nvSpPr>
          <p:cNvPr id="11" name="body-text"/>
          <p:cNvSpPr/>
          <p:nvPr/>
        </p:nvSpPr>
        <p:spPr>
          <a:xfrm>
            <a:off x="877824" y="2971800"/>
            <a:ext cx="1554480" cy="182880"/>
          </a:xfrm>
          <a:prstGeom prst="rect">
            <a:avLst/>
          </a:prstGeom>
          <a:noFill/>
          <a:ln/>
        </p:spPr>
        <p:txBody>
          <a:bodyPr wrap="square" lIns="0" tIns="0" rIns="0" bIns="0" rtlCol="0" anchor="t"/>
          <a:lstStyle/>
          <a:p>
            <a:pPr algn="l" indent="0" marL="0">
              <a:buNone/>
            </a:pPr>
            <a:r>
              <a:rPr lang="en-US" sz="1060" b="1" dirty="0">
                <a:solidFill>
                  <a:srgbClr val="854D0E"/>
                </a:solidFill>
                <a:latin typeface="Arial" pitchFamily="34" charset="0"/>
                <a:ea typeface="Arial" pitchFamily="34" charset="-122"/>
                <a:cs typeface="Arial" pitchFamily="34" charset="-120"/>
              </a:rPr>
              <a:t>Existing event handler</a:t>
            </a:r>
            <a:endParaRPr lang="en-US" sz="1060" dirty="0"/>
          </a:p>
        </p:txBody>
      </p:sp>
      <p:sp>
        <p:nvSpPr>
          <p:cNvPr id="12" name="pill"/>
          <p:cNvSpPr/>
          <p:nvPr/>
        </p:nvSpPr>
        <p:spPr>
          <a:xfrm>
            <a:off x="2542032" y="2990088"/>
            <a:ext cx="1024128" cy="274320"/>
          </a:xfrm>
          <a:prstGeom prst="rect">
            <a:avLst/>
          </a:prstGeom>
          <a:solidFill>
            <a:srgbClr val="FFFFFF"/>
          </a:solidFill>
          <a:ln w="10160">
            <a:solidFill>
              <a:srgbClr val="FFFFFF"/>
            </a:solidFill>
          </a:ln>
        </p:spPr>
        <p:txBody>
          <a:bodyPr wrap="square" lIns="635" tIns="1270" rIns="1270" bIns="635" rtlCol="0" anchor="ctr"/>
          <a:lstStyle/>
          <a:p>
            <a:pPr algn="ctr" indent="0" marL="0">
              <a:buNone/>
            </a:pPr>
            <a:r>
              <a:rPr lang="en-US" sz="880" b="1" dirty="0">
                <a:solidFill>
                  <a:srgbClr val="854D0E"/>
                </a:solidFill>
                <a:latin typeface="Arial" pitchFamily="34" charset="0"/>
                <a:ea typeface="Arial" pitchFamily="34" charset="-122"/>
                <a:cs typeface="Arial" pitchFamily="34" charset="-120"/>
              </a:rPr>
              <a:t>Not this cause</a:t>
            </a:r>
            <a:endParaRPr lang="en-US" sz="880" dirty="0"/>
          </a:p>
        </p:txBody>
      </p:sp>
      <p:sp>
        <p:nvSpPr>
          <p:cNvPr id="13" name="body-text"/>
          <p:cNvSpPr/>
          <p:nvPr/>
        </p:nvSpPr>
        <p:spPr>
          <a:xfrm>
            <a:off x="3749040" y="2962656"/>
            <a:ext cx="4078224" cy="310896"/>
          </a:xfrm>
          <a:prstGeom prst="rect">
            <a:avLst/>
          </a:prstGeom>
          <a:noFill/>
          <a:ln/>
        </p:spPr>
        <p:txBody>
          <a:bodyPr wrap="square" lIns="0" tIns="0" rIns="0" bIns="0" rtlCol="0" anchor="t"/>
          <a:lstStyle/>
          <a:p>
            <a:pPr algn="l" indent="0" marL="0">
              <a:buNone/>
            </a:pPr>
            <a:r>
              <a:rPr lang="en-US" sz="1010" dirty="0">
                <a:solidFill>
                  <a:srgbClr val="0F172A"/>
                </a:solidFill>
                <a:latin typeface="Arial" pitchFamily="34" charset="0"/>
                <a:ea typeface="Arial" pitchFamily="34" charset="-122"/>
                <a:cs typeface="Arial" pitchFamily="34" charset="-120"/>
              </a:rPr>
              <a:t>Reset is caused by a click. Tab visibility can change independently of a React control.</a:t>
            </a:r>
            <a:endParaRPr lang="en-US" sz="1010" dirty="0"/>
          </a:p>
        </p:txBody>
      </p:sp>
      <p:sp>
        <p:nvSpPr>
          <p:cNvPr id="14" name="location-2"/>
          <p:cNvSpPr/>
          <p:nvPr/>
        </p:nvSpPr>
        <p:spPr>
          <a:xfrm>
            <a:off x="713232" y="3584448"/>
            <a:ext cx="7333488" cy="566928"/>
          </a:xfrm>
          <a:prstGeom prst="roundRect">
            <a:avLst/>
          </a:prstGeom>
          <a:solidFill>
            <a:srgbClr val="EFF6FF"/>
          </a:solidFill>
          <a:ln w="12700">
            <a:solidFill>
              <a:srgbClr val="EFF6FF"/>
            </a:solidFill>
            <a:prstDash val="solid"/>
          </a:ln>
        </p:spPr>
      </p:sp>
      <p:sp>
        <p:nvSpPr>
          <p:cNvPr id="15" name="body-text"/>
          <p:cNvSpPr/>
          <p:nvPr/>
        </p:nvSpPr>
        <p:spPr>
          <a:xfrm>
            <a:off x="877824" y="3685032"/>
            <a:ext cx="1554480" cy="182880"/>
          </a:xfrm>
          <a:prstGeom prst="rect">
            <a:avLst/>
          </a:prstGeom>
          <a:noFill/>
          <a:ln/>
        </p:spPr>
        <p:txBody>
          <a:bodyPr wrap="square" lIns="0" tIns="0" rIns="0" bIns="0" rtlCol="0" anchor="t"/>
          <a:lstStyle/>
          <a:p>
            <a:pPr algn="l" indent="0" marL="0">
              <a:buNone/>
            </a:pPr>
            <a:r>
              <a:rPr lang="en-US" sz="1060" b="1" dirty="0">
                <a:solidFill>
                  <a:srgbClr val="1E3A8A"/>
                </a:solidFill>
                <a:latin typeface="Arial" pitchFamily="34" charset="0"/>
                <a:ea typeface="Arial" pitchFamily="34" charset="-122"/>
                <a:cs typeface="Arial" pitchFamily="34" charset="-120"/>
              </a:rPr>
              <a:t>Because the component is present</a:t>
            </a:r>
            <a:endParaRPr lang="en-US" sz="1060" dirty="0"/>
          </a:p>
        </p:txBody>
      </p:sp>
      <p:sp>
        <p:nvSpPr>
          <p:cNvPr id="16" name="pill"/>
          <p:cNvSpPr/>
          <p:nvPr/>
        </p:nvSpPr>
        <p:spPr>
          <a:xfrm>
            <a:off x="2542032" y="3703320"/>
            <a:ext cx="1024128" cy="274320"/>
          </a:xfrm>
          <a:prstGeom prst="rect">
            <a:avLst/>
          </a:prstGeom>
          <a:solidFill>
            <a:srgbClr val="FFFFFF"/>
          </a:solidFill>
          <a:ln w="10160">
            <a:solidFill>
              <a:srgbClr val="FFFFFF"/>
            </a:solidFill>
          </a:ln>
        </p:spPr>
        <p:txBody>
          <a:bodyPr wrap="square" lIns="635" tIns="1270" rIns="1270" bIns="635" rtlCol="0" anchor="ctr"/>
          <a:lstStyle/>
          <a:p>
            <a:pPr algn="ctr" indent="0" marL="0">
              <a:buNone/>
            </a:pPr>
            <a:r>
              <a:rPr lang="en-US" sz="880" b="1" dirty="0">
                <a:solidFill>
                  <a:srgbClr val="1E3A8A"/>
                </a:solidFill>
                <a:latin typeface="Arial" pitchFamily="34" charset="0"/>
                <a:ea typeface="Arial" pitchFamily="34" charset="-122"/>
                <a:cs typeface="Arial" pitchFamily="34" charset="-120"/>
              </a:rPr>
              <a:t>Missing capability</a:t>
            </a:r>
            <a:endParaRPr lang="en-US" sz="880" dirty="0"/>
          </a:p>
        </p:txBody>
      </p:sp>
      <p:sp>
        <p:nvSpPr>
          <p:cNvPr id="17" name="body-text"/>
          <p:cNvSpPr/>
          <p:nvPr/>
        </p:nvSpPr>
        <p:spPr>
          <a:xfrm>
            <a:off x="3749040" y="3675888"/>
            <a:ext cx="4078224" cy="310896"/>
          </a:xfrm>
          <a:prstGeom prst="rect">
            <a:avLst/>
          </a:prstGeom>
          <a:noFill/>
          <a:ln/>
        </p:spPr>
        <p:txBody>
          <a:bodyPr wrap="square" lIns="0" tIns="0" rIns="0" bIns="0" rtlCol="0" anchor="t"/>
          <a:lstStyle/>
          <a:p>
            <a:pPr algn="l" indent="0" marL="0">
              <a:buNone/>
            </a:pPr>
            <a:r>
              <a:rPr lang="en-US" sz="1010" dirty="0">
                <a:solidFill>
                  <a:srgbClr val="0F172A"/>
                </a:solidFill>
                <a:latin typeface="Arial" pitchFamily="34" charset="0"/>
                <a:ea typeface="Arial" pitchFamily="34" charset="-122"/>
                <a:cs typeface="Arial" pitchFamily="34" charset="-120"/>
              </a:rPr>
              <a:t>We need a place to establish the browser relationship while the component is on screen.</a:t>
            </a:r>
            <a:endParaRPr lang="en-US" sz="10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React needs to synchronize with the browser</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EFFECTS</a:t>
            </a:r>
            <a:endParaRPr lang="en-US" sz="940" dirty="0"/>
          </a:p>
        </p:txBody>
      </p:sp>
      <p:sp>
        <p:nvSpPr>
          <p:cNvPr id="4" name="body-text"/>
          <p:cNvSpPr/>
          <p:nvPr/>
        </p:nvSpPr>
        <p:spPr>
          <a:xfrm>
            <a:off x="676656" y="941832"/>
            <a:ext cx="7406640" cy="329184"/>
          </a:xfrm>
          <a:prstGeom prst="rect">
            <a:avLst/>
          </a:prstGeom>
          <a:noFill/>
          <a:ln/>
        </p:spPr>
        <p:txBody>
          <a:bodyPr wrap="square" lIns="0" tIns="0" rIns="0" bIns="0" rtlCol="0" anchor="t"/>
          <a:lstStyle/>
          <a:p>
            <a:pPr algn="l" indent="0" marL="0">
              <a:buNone/>
            </a:pPr>
            <a:r>
              <a:rPr lang="en-US" sz="1210" b="1" dirty="0">
                <a:solidFill>
                  <a:srgbClr val="0F172A"/>
                </a:solidFill>
                <a:latin typeface="Arial" pitchFamily="34" charset="0"/>
                <a:ea typeface="Arial" pitchFamily="34" charset="-122"/>
                <a:cs typeface="Arial" pitchFamily="34" charset="-120"/>
              </a:rPr>
              <a:t>The browser controls tab visibility; our component needs to stay coordinated with those changes.</a:t>
            </a:r>
            <a:endParaRPr lang="en-US" sz="1210" dirty="0"/>
          </a:p>
        </p:txBody>
      </p:sp>
      <p:sp>
        <p:nvSpPr>
          <p:cNvPr id="5" name="concept-0"/>
          <p:cNvSpPr/>
          <p:nvPr/>
        </p:nvSpPr>
        <p:spPr>
          <a:xfrm>
            <a:off x="713232" y="1481328"/>
            <a:ext cx="4663440" cy="658368"/>
          </a:xfrm>
          <a:prstGeom prst="roundRect">
            <a:avLst/>
          </a:prstGeom>
          <a:solidFill>
            <a:srgbClr val="FEF9C3"/>
          </a:solidFill>
          <a:ln w="12700">
            <a:solidFill>
              <a:srgbClr val="FEF9C3"/>
            </a:solidFill>
            <a:prstDash val="solid"/>
          </a:ln>
        </p:spPr>
      </p:sp>
      <p:sp>
        <p:nvSpPr>
          <p:cNvPr id="6" name="body-text"/>
          <p:cNvSpPr/>
          <p:nvPr/>
        </p:nvSpPr>
        <p:spPr>
          <a:xfrm>
            <a:off x="896112" y="1600200"/>
            <a:ext cx="1115568" cy="201168"/>
          </a:xfrm>
          <a:prstGeom prst="rect">
            <a:avLst/>
          </a:prstGeom>
          <a:noFill/>
          <a:ln/>
        </p:spPr>
        <p:txBody>
          <a:bodyPr wrap="square" lIns="0" tIns="0" rIns="0" bIns="0" rtlCol="0" anchor="t"/>
          <a:lstStyle/>
          <a:p>
            <a:pPr algn="l" indent="0" marL="0">
              <a:buNone/>
            </a:pPr>
            <a:r>
              <a:rPr lang="en-US" sz="1120" b="1" dirty="0">
                <a:solidFill>
                  <a:srgbClr val="854D0E"/>
                </a:solidFill>
                <a:latin typeface="Arial" pitchFamily="34" charset="0"/>
                <a:ea typeface="Arial" pitchFamily="34" charset="-122"/>
                <a:cs typeface="Arial" pitchFamily="34" charset="-120"/>
              </a:rPr>
              <a:t>Side effect</a:t>
            </a:r>
            <a:endParaRPr lang="en-US" sz="1120" dirty="0"/>
          </a:p>
        </p:txBody>
      </p:sp>
      <p:sp>
        <p:nvSpPr>
          <p:cNvPr id="7" name="body-text"/>
          <p:cNvSpPr/>
          <p:nvPr/>
        </p:nvSpPr>
        <p:spPr>
          <a:xfrm>
            <a:off x="2139696" y="1581912"/>
            <a:ext cx="3017520" cy="365760"/>
          </a:xfrm>
          <a:prstGeom prst="rect">
            <a:avLst/>
          </a:prstGeom>
          <a:noFill/>
          <a:ln/>
        </p:spPr>
        <p:txBody>
          <a:bodyPr wrap="square" lIns="0" tIns="0" rIns="0" bIns="0" rtlCol="0" anchor="t"/>
          <a:lstStyle/>
          <a:p>
            <a:pPr algn="l" indent="0" marL="0">
              <a:buNone/>
            </a:pPr>
            <a:r>
              <a:rPr lang="en-US" sz="990" dirty="0">
                <a:solidFill>
                  <a:srgbClr val="0F172A"/>
                </a:solidFill>
                <a:latin typeface="Arial" pitchFamily="34" charset="0"/>
                <a:ea typeface="Arial" pitchFamily="34" charset="-122"/>
                <a:cs typeface="Arial" pitchFamily="34" charset="-120"/>
              </a:rPr>
              <a:t>Work that does more than calculate the current UI. Examples: changing browser state, making a network request, registering a browser listener.</a:t>
            </a:r>
            <a:endParaRPr lang="en-US" sz="990" dirty="0"/>
          </a:p>
        </p:txBody>
      </p:sp>
      <p:sp>
        <p:nvSpPr>
          <p:cNvPr id="8" name="concept-1"/>
          <p:cNvSpPr/>
          <p:nvPr/>
        </p:nvSpPr>
        <p:spPr>
          <a:xfrm>
            <a:off x="713232" y="2340864"/>
            <a:ext cx="4663440" cy="658368"/>
          </a:xfrm>
          <a:prstGeom prst="roundRect">
            <a:avLst/>
          </a:prstGeom>
          <a:solidFill>
            <a:srgbClr val="EFF6FF"/>
          </a:solidFill>
          <a:ln w="12700">
            <a:solidFill>
              <a:srgbClr val="EFF6FF"/>
            </a:solidFill>
            <a:prstDash val="solid"/>
          </a:ln>
        </p:spPr>
      </p:sp>
      <p:sp>
        <p:nvSpPr>
          <p:cNvPr id="9" name="body-text"/>
          <p:cNvSpPr/>
          <p:nvPr/>
        </p:nvSpPr>
        <p:spPr>
          <a:xfrm>
            <a:off x="896112" y="2459736"/>
            <a:ext cx="1115568" cy="201168"/>
          </a:xfrm>
          <a:prstGeom prst="rect">
            <a:avLst/>
          </a:prstGeom>
          <a:noFill/>
          <a:ln/>
        </p:spPr>
        <p:txBody>
          <a:bodyPr wrap="square" lIns="0" tIns="0" rIns="0" bIns="0" rtlCol="0" anchor="t"/>
          <a:lstStyle/>
          <a:p>
            <a:pPr algn="l" indent="0" marL="0">
              <a:buNone/>
            </a:pPr>
            <a:r>
              <a:rPr lang="en-US" sz="1120" b="1" dirty="0">
                <a:solidFill>
                  <a:srgbClr val="1E3A8A"/>
                </a:solidFill>
                <a:latin typeface="Arial" pitchFamily="34" charset="0"/>
                <a:ea typeface="Arial" pitchFamily="34" charset="-122"/>
                <a:cs typeface="Arial" pitchFamily="34" charset="-120"/>
              </a:rPr>
              <a:t>External system</a:t>
            </a:r>
            <a:endParaRPr lang="en-US" sz="1120" dirty="0"/>
          </a:p>
        </p:txBody>
      </p:sp>
      <p:sp>
        <p:nvSpPr>
          <p:cNvPr id="10" name="body-text"/>
          <p:cNvSpPr/>
          <p:nvPr/>
        </p:nvSpPr>
        <p:spPr>
          <a:xfrm>
            <a:off x="2139696" y="2441448"/>
            <a:ext cx="3017520" cy="365760"/>
          </a:xfrm>
          <a:prstGeom prst="rect">
            <a:avLst/>
          </a:prstGeom>
          <a:noFill/>
          <a:ln/>
        </p:spPr>
        <p:txBody>
          <a:bodyPr wrap="square" lIns="0" tIns="0" rIns="0" bIns="0" rtlCol="0" anchor="t"/>
          <a:lstStyle/>
          <a:p>
            <a:pPr algn="l" indent="0" marL="0">
              <a:buNone/>
            </a:pPr>
            <a:r>
              <a:rPr lang="en-US" sz="990" dirty="0">
                <a:solidFill>
                  <a:srgbClr val="0F172A"/>
                </a:solidFill>
                <a:latin typeface="Arial" pitchFamily="34" charset="0"/>
                <a:ea typeface="Arial" pitchFamily="34" charset="-122"/>
                <a:cs typeface="Arial" pitchFamily="34" charset="-120"/>
              </a:rPr>
              <a:t>Something outside React's control that the component needs to interact with: browser APIs, network services, or third-party libraries.</a:t>
            </a:r>
            <a:endParaRPr lang="en-US" sz="990" dirty="0"/>
          </a:p>
        </p:txBody>
      </p:sp>
      <p:sp>
        <p:nvSpPr>
          <p:cNvPr id="11" name="concept-2"/>
          <p:cNvSpPr/>
          <p:nvPr/>
        </p:nvSpPr>
        <p:spPr>
          <a:xfrm>
            <a:off x="713232" y="3200400"/>
            <a:ext cx="4663440" cy="658368"/>
          </a:xfrm>
          <a:prstGeom prst="roundRect">
            <a:avLst/>
          </a:prstGeom>
          <a:solidFill>
            <a:srgbClr val="DCFCE7"/>
          </a:solidFill>
          <a:ln w="12700">
            <a:solidFill>
              <a:srgbClr val="DCFCE7"/>
            </a:solidFill>
            <a:prstDash val="solid"/>
          </a:ln>
        </p:spPr>
      </p:sp>
      <p:sp>
        <p:nvSpPr>
          <p:cNvPr id="12" name="body-text"/>
          <p:cNvSpPr/>
          <p:nvPr/>
        </p:nvSpPr>
        <p:spPr>
          <a:xfrm>
            <a:off x="896112" y="3319272"/>
            <a:ext cx="1115568" cy="201168"/>
          </a:xfrm>
          <a:prstGeom prst="rect">
            <a:avLst/>
          </a:prstGeom>
          <a:noFill/>
          <a:ln/>
        </p:spPr>
        <p:txBody>
          <a:bodyPr wrap="square" lIns="0" tIns="0" rIns="0" bIns="0" rtlCol="0" anchor="t"/>
          <a:lstStyle/>
          <a:p>
            <a:pPr algn="l" indent="0" marL="0">
              <a:buNone/>
            </a:pPr>
            <a:r>
              <a:rPr lang="en-US" sz="1120" b="1" dirty="0">
                <a:solidFill>
                  <a:srgbClr val="166534"/>
                </a:solidFill>
                <a:latin typeface="Arial" pitchFamily="34" charset="0"/>
                <a:ea typeface="Arial" pitchFamily="34" charset="-122"/>
                <a:cs typeface="Arial" pitchFamily="34" charset="-120"/>
              </a:rPr>
              <a:t>Effect</a:t>
            </a:r>
            <a:endParaRPr lang="en-US" sz="1120" dirty="0"/>
          </a:p>
        </p:txBody>
      </p:sp>
      <p:sp>
        <p:nvSpPr>
          <p:cNvPr id="13" name="body-text"/>
          <p:cNvSpPr/>
          <p:nvPr/>
        </p:nvSpPr>
        <p:spPr>
          <a:xfrm>
            <a:off x="2139696" y="3300984"/>
            <a:ext cx="3017520" cy="365760"/>
          </a:xfrm>
          <a:prstGeom prst="rect">
            <a:avLst/>
          </a:prstGeom>
          <a:noFill/>
          <a:ln/>
        </p:spPr>
        <p:txBody>
          <a:bodyPr wrap="square" lIns="0" tIns="0" rIns="0" bIns="0" rtlCol="0" anchor="t"/>
          <a:lstStyle/>
          <a:p>
            <a:pPr algn="l" indent="0" marL="0">
              <a:buNone/>
            </a:pPr>
            <a:r>
              <a:rPr lang="en-US" sz="990" dirty="0">
                <a:solidFill>
                  <a:srgbClr val="0F172A"/>
                </a:solidFill>
                <a:latin typeface="Arial" pitchFamily="34" charset="0"/>
                <a:ea typeface="Arial" pitchFamily="34" charset="-122"/>
                <a:cs typeface="Arial" pitchFamily="34" charset="-120"/>
              </a:rPr>
              <a:t>React's mechanism for synchronizing a component with an external system because the component is rendered.</a:t>
            </a:r>
            <a:endParaRPr lang="en-US" sz="990" dirty="0"/>
          </a:p>
        </p:txBody>
      </p:sp>
      <p:sp>
        <p:nvSpPr>
          <p:cNvPr id="14" name="sync-visual"/>
          <p:cNvSpPr/>
          <p:nvPr/>
        </p:nvSpPr>
        <p:spPr>
          <a:xfrm>
            <a:off x="5632704" y="1481328"/>
            <a:ext cx="2359152" cy="2377440"/>
          </a:xfrm>
          <a:prstGeom prst="roundRect">
            <a:avLst/>
          </a:prstGeom>
          <a:solidFill>
            <a:srgbClr val="F8FAFC"/>
          </a:solidFill>
          <a:ln w="12700">
            <a:solidFill>
              <a:srgbClr val="CBD5E1"/>
            </a:solidFill>
            <a:prstDash val="solid"/>
          </a:ln>
        </p:spPr>
      </p:sp>
      <p:sp>
        <p:nvSpPr>
          <p:cNvPr id="15" name="body-text"/>
          <p:cNvSpPr/>
          <p:nvPr/>
        </p:nvSpPr>
        <p:spPr>
          <a:xfrm>
            <a:off x="6254496" y="1755648"/>
            <a:ext cx="1097280" cy="201168"/>
          </a:xfrm>
          <a:prstGeom prst="rect">
            <a:avLst/>
          </a:prstGeom>
          <a:noFill/>
          <a:ln/>
        </p:spPr>
        <p:txBody>
          <a:bodyPr wrap="square" lIns="0" tIns="0" rIns="0" bIns="0" rtlCol="0" anchor="t"/>
          <a:lstStyle/>
          <a:p>
            <a:pPr algn="ctr" indent="0" marL="0">
              <a:buNone/>
            </a:pPr>
            <a:r>
              <a:rPr lang="en-US" sz="1120" b="1" dirty="0">
                <a:solidFill>
                  <a:srgbClr val="1E3A8A"/>
                </a:solidFill>
                <a:latin typeface="Arial" pitchFamily="34" charset="0"/>
                <a:ea typeface="Arial" pitchFamily="34" charset="-122"/>
                <a:cs typeface="Arial" pitchFamily="34" charset="-120"/>
              </a:rPr>
              <a:t>Browser</a:t>
            </a:r>
            <a:endParaRPr lang="en-US" sz="1120" dirty="0"/>
          </a:p>
        </p:txBody>
      </p:sp>
      <p:sp>
        <p:nvSpPr>
          <p:cNvPr id="16" name="pill"/>
          <p:cNvSpPr/>
          <p:nvPr/>
        </p:nvSpPr>
        <p:spPr>
          <a:xfrm>
            <a:off x="6053328" y="2212848"/>
            <a:ext cx="1517904" cy="274320"/>
          </a:xfrm>
          <a:prstGeom prst="rect">
            <a:avLst/>
          </a:prstGeom>
          <a:solidFill>
            <a:srgbClr val="F5F3FF"/>
          </a:solidFill>
          <a:ln w="10160">
            <a:solidFill>
              <a:srgbClr val="F5F3FF"/>
            </a:solidFill>
          </a:ln>
        </p:spPr>
        <p:txBody>
          <a:bodyPr wrap="square" lIns="635" tIns="1270" rIns="1270" bIns="635" rtlCol="0" anchor="ctr"/>
          <a:lstStyle/>
          <a:p>
            <a:pPr algn="ctr" indent="0" marL="0">
              <a:buNone/>
            </a:pPr>
            <a:r>
              <a:rPr lang="en-US" sz="900" b="1" dirty="0">
                <a:solidFill>
                  <a:srgbClr val="6D28D9"/>
                </a:solidFill>
                <a:latin typeface="Arial" pitchFamily="34" charset="0"/>
                <a:ea typeface="Arial" pitchFamily="34" charset="-122"/>
                <a:cs typeface="Arial" pitchFamily="34" charset="-120"/>
              </a:rPr>
              <a:t>visibilitychange</a:t>
            </a:r>
            <a:endParaRPr lang="en-US" sz="900" dirty="0"/>
          </a:p>
        </p:txBody>
      </p:sp>
      <p:sp>
        <p:nvSpPr>
          <p:cNvPr id="17" name="connector"/>
          <p:cNvSpPr/>
          <p:nvPr/>
        </p:nvSpPr>
        <p:spPr>
          <a:xfrm>
            <a:off x="6812280" y="2560320"/>
            <a:ext cx="0" cy="475488"/>
          </a:xfrm>
          <a:prstGeom prst="line">
            <a:avLst/>
          </a:prstGeom>
          <a:noFill/>
          <a:ln w="19050">
            <a:solidFill>
              <a:srgbClr val="64748B"/>
            </a:solidFill>
            <a:prstDash val="solid"/>
            <a:tailEnd type="triangle"/>
          </a:ln>
        </p:spPr>
      </p:sp>
      <p:sp>
        <p:nvSpPr>
          <p:cNvPr id="18" name="body-text"/>
          <p:cNvSpPr/>
          <p:nvPr/>
        </p:nvSpPr>
        <p:spPr>
          <a:xfrm>
            <a:off x="6016752" y="3145536"/>
            <a:ext cx="1591056" cy="201168"/>
          </a:xfrm>
          <a:prstGeom prst="rect">
            <a:avLst/>
          </a:prstGeom>
          <a:noFill/>
          <a:ln/>
        </p:spPr>
        <p:txBody>
          <a:bodyPr wrap="square" lIns="0" tIns="0" rIns="0" bIns="0" rtlCol="0" anchor="t"/>
          <a:lstStyle/>
          <a:p>
            <a:pPr algn="ctr" indent="0" marL="0">
              <a:buNone/>
            </a:pPr>
            <a:r>
              <a:rPr lang="en-US" sz="1100" b="1" dirty="0">
                <a:solidFill>
                  <a:srgbClr val="166534"/>
                </a:solidFill>
                <a:latin typeface="Arial" pitchFamily="34" charset="0"/>
                <a:ea typeface="Arial" pitchFamily="34" charset="-122"/>
                <a:cs typeface="Arial" pitchFamily="34" charset="-120"/>
              </a:rPr>
              <a:t>React component</a:t>
            </a:r>
            <a:endParaRPr lang="en-US" sz="1100" dirty="0"/>
          </a:p>
        </p:txBody>
      </p:sp>
      <p:sp>
        <p:nvSpPr>
          <p:cNvPr id="19" name="body-text"/>
          <p:cNvSpPr/>
          <p:nvPr/>
        </p:nvSpPr>
        <p:spPr>
          <a:xfrm>
            <a:off x="1207008" y="4160520"/>
            <a:ext cx="6565392" cy="274320"/>
          </a:xfrm>
          <a:prstGeom prst="rect">
            <a:avLst/>
          </a:prstGeom>
          <a:noFill/>
          <a:ln/>
        </p:spPr>
        <p:txBody>
          <a:bodyPr wrap="square" lIns="0" tIns="0" rIns="0" bIns="0" rtlCol="0" anchor="t"/>
          <a:lstStyle/>
          <a:p>
            <a:pPr algn="ctr" indent="0" marL="0">
              <a:buNone/>
            </a:pPr>
            <a:r>
              <a:rPr lang="en-US" sz="1120" b="1" dirty="0">
                <a:solidFill>
                  <a:srgbClr val="1E3A8A"/>
                </a:solidFill>
                <a:latin typeface="Arial" pitchFamily="34" charset="0"/>
                <a:ea typeface="Arial" pitchFamily="34" charset="-122"/>
                <a:cs typeface="Arial" pitchFamily="34" charset="-120"/>
              </a:rPr>
              <a:t>Key question: What external system does this component need to stay synchronized with?</a:t>
            </a:r>
            <a:endParaRPr lang="en-US" sz="11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Listen for visibility changes with useEffect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EFFECTS</a:t>
            </a:r>
            <a:endParaRPr lang="en-US" sz="940" dirty="0"/>
          </a:p>
        </p:txBody>
      </p:sp>
      <p:sp>
        <p:nvSpPr>
          <p:cNvPr id="4" name="effect-setup"/>
          <p:cNvSpPr/>
          <p:nvPr/>
        </p:nvSpPr>
        <p:spPr>
          <a:xfrm>
            <a:off x="658368" y="1005840"/>
            <a:ext cx="4626864" cy="331012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20" dirty="0">
                <a:solidFill>
                  <a:srgbClr val="FFFFFF"/>
                </a:solidFill>
                <a:latin typeface="Courier New" pitchFamily="34" charset="0"/>
                <a:ea typeface="Courier New" pitchFamily="34" charset="-122"/>
                <a:cs typeface="Courier New" pitchFamily="34" charset="-120"/>
              </a:rPr>
              <a:t>useEffect(() =&gt; {</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function handleVisibilityChange() {</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if (document.visibilityState === "hidden") {</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setWasBackgrounded(true);</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a:t>
            </a:r>
            <a:endParaRPr lang="en-US" sz="1020" dirty="0"/>
          </a:p>
          <a:p>
            <a:pPr indent="0" marL="0">
              <a:buNone/>
            </a:pP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document.addEventListener(</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"visibilitychange",</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handleVisibilityChange</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a:t>
            </a:r>
            <a:endParaRPr lang="en-US" sz="1020" dirty="0"/>
          </a:p>
          <a:p>
            <a:pPr indent="0" marL="0">
              <a:buNone/>
            </a:pP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 cleanup will be added next</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a:t>
            </a:r>
            <a:endParaRPr lang="en-US" sz="1020" dirty="0"/>
          </a:p>
        </p:txBody>
      </p:sp>
      <p:sp>
        <p:nvSpPr>
          <p:cNvPr id="5" name="label"/>
          <p:cNvSpPr/>
          <p:nvPr/>
        </p:nvSpPr>
        <p:spPr>
          <a:xfrm>
            <a:off x="5541264" y="1024128"/>
            <a:ext cx="1700784"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What this setup does</a:t>
            </a:r>
            <a:endParaRPr lang="en-US" sz="1050" dirty="0"/>
          </a:p>
        </p:txBody>
      </p:sp>
      <p:sp>
        <p:nvSpPr>
          <p:cNvPr id="6" name="pill"/>
          <p:cNvSpPr/>
          <p:nvPr/>
        </p:nvSpPr>
        <p:spPr>
          <a:xfrm>
            <a:off x="5559552" y="1426464"/>
            <a:ext cx="310896"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1</a:t>
            </a:r>
            <a:endParaRPr lang="en-US" sz="920" dirty="0"/>
          </a:p>
        </p:txBody>
      </p:sp>
      <p:sp>
        <p:nvSpPr>
          <p:cNvPr id="7" name="body-text"/>
          <p:cNvSpPr/>
          <p:nvPr/>
        </p:nvSpPr>
        <p:spPr>
          <a:xfrm>
            <a:off x="5998464" y="1417320"/>
            <a:ext cx="1975104" cy="384048"/>
          </a:xfrm>
          <a:prstGeom prst="rect">
            <a:avLst/>
          </a:prstGeom>
          <a:noFill/>
          <a:ln/>
        </p:spPr>
        <p:txBody>
          <a:bodyPr wrap="square" lIns="0" tIns="0" rIns="0" bIns="0" rtlCol="0" anchor="t"/>
          <a:lstStyle/>
          <a:p>
            <a:pPr algn="l" indent="0" marL="0">
              <a:buNone/>
            </a:pPr>
            <a:r>
              <a:rPr lang="en-US" sz="1020" dirty="0">
                <a:solidFill>
                  <a:srgbClr val="0F172A"/>
                </a:solidFill>
                <a:latin typeface="Arial" pitchFamily="34" charset="0"/>
                <a:ea typeface="Arial" pitchFamily="34" charset="-122"/>
                <a:cs typeface="Arial" pitchFamily="34" charset="-120"/>
              </a:rPr>
              <a:t>creates handleVisibilityChange</a:t>
            </a:r>
            <a:endParaRPr lang="en-US" sz="1020" dirty="0"/>
          </a:p>
        </p:txBody>
      </p:sp>
      <p:sp>
        <p:nvSpPr>
          <p:cNvPr id="8" name="pill"/>
          <p:cNvSpPr/>
          <p:nvPr/>
        </p:nvSpPr>
        <p:spPr>
          <a:xfrm>
            <a:off x="5559552" y="2084832"/>
            <a:ext cx="310896"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2</a:t>
            </a:r>
            <a:endParaRPr lang="en-US" sz="920" dirty="0"/>
          </a:p>
        </p:txBody>
      </p:sp>
      <p:sp>
        <p:nvSpPr>
          <p:cNvPr id="9" name="body-text"/>
          <p:cNvSpPr/>
          <p:nvPr/>
        </p:nvSpPr>
        <p:spPr>
          <a:xfrm>
            <a:off x="5998464" y="2075688"/>
            <a:ext cx="1975104" cy="384048"/>
          </a:xfrm>
          <a:prstGeom prst="rect">
            <a:avLst/>
          </a:prstGeom>
          <a:noFill/>
          <a:ln/>
        </p:spPr>
        <p:txBody>
          <a:bodyPr wrap="square" lIns="0" tIns="0" rIns="0" bIns="0" rtlCol="0" anchor="t"/>
          <a:lstStyle/>
          <a:p>
            <a:pPr algn="l" indent="0" marL="0">
              <a:buNone/>
            </a:pPr>
            <a:r>
              <a:rPr lang="en-US" sz="1020" dirty="0">
                <a:solidFill>
                  <a:srgbClr val="0F172A"/>
                </a:solidFill>
                <a:latin typeface="Arial" pitchFamily="34" charset="0"/>
                <a:ea typeface="Arial" pitchFamily="34" charset="-122"/>
                <a:cs typeface="Arial" pitchFamily="34" charset="-120"/>
              </a:rPr>
              <a:t>registers the browser listener</a:t>
            </a:r>
            <a:endParaRPr lang="en-US" sz="1020" dirty="0"/>
          </a:p>
        </p:txBody>
      </p:sp>
      <p:sp>
        <p:nvSpPr>
          <p:cNvPr id="10" name="pill"/>
          <p:cNvSpPr/>
          <p:nvPr/>
        </p:nvSpPr>
        <p:spPr>
          <a:xfrm>
            <a:off x="5559552" y="2743200"/>
            <a:ext cx="310896"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3</a:t>
            </a:r>
            <a:endParaRPr lang="en-US" sz="920" dirty="0"/>
          </a:p>
        </p:txBody>
      </p:sp>
      <p:sp>
        <p:nvSpPr>
          <p:cNvPr id="11" name="body-text"/>
          <p:cNvSpPr/>
          <p:nvPr/>
        </p:nvSpPr>
        <p:spPr>
          <a:xfrm>
            <a:off x="5998464" y="2734056"/>
            <a:ext cx="1975104" cy="384048"/>
          </a:xfrm>
          <a:prstGeom prst="rect">
            <a:avLst/>
          </a:prstGeom>
          <a:noFill/>
          <a:ln/>
        </p:spPr>
        <p:txBody>
          <a:bodyPr wrap="square" lIns="0" tIns="0" rIns="0" bIns="0" rtlCol="0" anchor="t"/>
          <a:lstStyle/>
          <a:p>
            <a:pPr algn="l" indent="0" marL="0">
              <a:buNone/>
            </a:pPr>
            <a:r>
              <a:rPr lang="en-US" sz="1020" b="1" dirty="0">
                <a:solidFill>
                  <a:srgbClr val="0F172A"/>
                </a:solidFill>
                <a:latin typeface="Arial" pitchFamily="34" charset="0"/>
                <a:ea typeface="Arial" pitchFamily="34" charset="-122"/>
                <a:cs typeface="Arial" pitchFamily="34" charset="-120"/>
              </a:rPr>
              <a:t>sets wasBackgrounded to true when the document becomes hidden</a:t>
            </a:r>
            <a:endParaRPr lang="en-US" sz="1020" dirty="0"/>
          </a:p>
        </p:txBody>
      </p:sp>
      <p:sp>
        <p:nvSpPr>
          <p:cNvPr id="12" name="dependency-note"/>
          <p:cNvSpPr/>
          <p:nvPr/>
        </p:nvSpPr>
        <p:spPr>
          <a:xfrm>
            <a:off x="5559552" y="3547872"/>
            <a:ext cx="2414016" cy="658368"/>
          </a:xfrm>
          <a:prstGeom prst="roundRect">
            <a:avLst/>
          </a:prstGeom>
          <a:solidFill>
            <a:srgbClr val="FEF9C3"/>
          </a:solidFill>
          <a:ln w="12700">
            <a:solidFill>
              <a:srgbClr val="FEF9C3"/>
            </a:solidFill>
            <a:prstDash val="solid"/>
          </a:ln>
        </p:spPr>
      </p:sp>
      <p:sp>
        <p:nvSpPr>
          <p:cNvPr id="13" name="rich-text"/>
          <p:cNvSpPr/>
          <p:nvPr/>
        </p:nvSpPr>
        <p:spPr>
          <a:xfrm>
            <a:off x="5724144" y="3675888"/>
            <a:ext cx="2084832" cy="365760"/>
          </a:xfrm>
          <a:prstGeom prst="rect">
            <a:avLst/>
          </a:prstGeom>
          <a:noFill/>
          <a:ln/>
        </p:spPr>
        <p:txBody>
          <a:bodyPr wrap="square" lIns="0" tIns="0" rIns="0" bIns="0" rtlCol="0" anchor="t"/>
          <a:lstStyle/>
          <a:p>
            <a:pPr indent="0" marL="0">
              <a:buNone/>
            </a:pPr>
            <a:r>
              <a:rPr lang="en-US" sz="980" b="1" dirty="0">
                <a:solidFill>
                  <a:srgbClr val="854D0E"/>
                </a:solidFill>
                <a:latin typeface="Courier New" pitchFamily="34" charset="0"/>
                <a:ea typeface="Courier New" pitchFamily="34" charset="-122"/>
                <a:cs typeface="Courier New" pitchFamily="34" charset="-120"/>
              </a:rPr>
              <a:t>[]</a:t>
            </a:r>
            <a:pPr indent="0" marL="0">
              <a:buNone/>
            </a:pPr>
            <a:r>
              <a:rPr lang="en-US" sz="980" dirty="0">
                <a:solidFill>
                  <a:srgbClr val="0F172A"/>
                </a:solidFill>
                <a:latin typeface="Arial" pitchFamily="34" charset="0"/>
                <a:ea typeface="Arial" pitchFamily="34" charset="-122"/>
                <a:cs typeface="Arial" pitchFamily="34" charset="-120"/>
              </a:rPr>
              <a:t> is the dependency list. Identify it now; we explain why it is empty later.</a:t>
            </a:r>
            <a:endParaRPr lang="en-US" sz="9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Cleanup removes the browser listener</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EFFECTS</a:t>
            </a:r>
            <a:endParaRPr lang="en-US" sz="940" dirty="0"/>
          </a:p>
        </p:txBody>
      </p:sp>
      <p:sp>
        <p:nvSpPr>
          <p:cNvPr id="4" name="effect-cleanup-code"/>
          <p:cNvSpPr/>
          <p:nvPr/>
        </p:nvSpPr>
        <p:spPr>
          <a:xfrm>
            <a:off x="658368" y="987552"/>
            <a:ext cx="4700016" cy="340156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95" dirty="0">
                <a:solidFill>
                  <a:srgbClr val="FFFFFF"/>
                </a:solidFill>
                <a:latin typeface="Courier New" pitchFamily="34" charset="0"/>
                <a:ea typeface="Courier New" pitchFamily="34" charset="-122"/>
                <a:cs typeface="Courier New" pitchFamily="34" charset="-120"/>
              </a:rPr>
              <a:t>useEffect(() =&gt; {</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function handleVisibilityChange() {</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if (document.visibilityState === "hidden") {</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setWasBackgrounded(true);</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a:t>
            </a:r>
            <a:endParaRPr lang="en-US" sz="995" dirty="0"/>
          </a:p>
          <a:p>
            <a:pPr indent="0" marL="0">
              <a:buNone/>
            </a:pP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document.addEventListener(</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"visibilitychange", handleVisibilityChange</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a:t>
            </a:r>
            <a:endParaRPr lang="en-US" sz="995" dirty="0"/>
          </a:p>
          <a:p>
            <a:pPr indent="0" marL="0">
              <a:buNone/>
            </a:pP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return () =&gt; {</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document.removeEventListener(</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"visibilitychange", handleVisibilityChange</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a:t>
            </a:r>
            <a:endParaRPr lang="en-US" sz="995" dirty="0"/>
          </a:p>
          <a:p>
            <a:pPr indent="0" marL="0">
              <a:buNone/>
            </a:pPr>
            <a:r>
              <a:rPr lang="en-US" sz="995" dirty="0">
                <a:solidFill>
                  <a:srgbClr val="FFFFFF"/>
                </a:solidFill>
                <a:latin typeface="Courier New" pitchFamily="34" charset="0"/>
                <a:ea typeface="Courier New" pitchFamily="34" charset="-122"/>
                <a:cs typeface="Courier New" pitchFamily="34" charset="-120"/>
              </a:rPr>
              <a:t>}, []);</a:t>
            </a:r>
            <a:endParaRPr lang="en-US" sz="995" dirty="0"/>
          </a:p>
        </p:txBody>
      </p:sp>
      <p:sp>
        <p:nvSpPr>
          <p:cNvPr id="5" name="setup-panel"/>
          <p:cNvSpPr/>
          <p:nvPr/>
        </p:nvSpPr>
        <p:spPr>
          <a:xfrm>
            <a:off x="5577840" y="1170432"/>
            <a:ext cx="2414016" cy="1024128"/>
          </a:xfrm>
          <a:prstGeom prst="roundRect">
            <a:avLst/>
          </a:prstGeom>
          <a:solidFill>
            <a:srgbClr val="EFF6FF"/>
          </a:solidFill>
          <a:ln w="12700">
            <a:solidFill>
              <a:srgbClr val="BFDBFE"/>
            </a:solidFill>
            <a:prstDash val="solid"/>
          </a:ln>
        </p:spPr>
      </p:sp>
      <p:sp>
        <p:nvSpPr>
          <p:cNvPr id="6" name="body-text"/>
          <p:cNvSpPr/>
          <p:nvPr/>
        </p:nvSpPr>
        <p:spPr>
          <a:xfrm>
            <a:off x="5742432" y="1353312"/>
            <a:ext cx="950976" cy="201168"/>
          </a:xfrm>
          <a:prstGeom prst="rect">
            <a:avLst/>
          </a:prstGeom>
          <a:noFill/>
          <a:ln/>
        </p:spPr>
        <p:txBody>
          <a:bodyPr wrap="square" lIns="0" tIns="0" rIns="0" bIns="0" rtlCol="0" anchor="t"/>
          <a:lstStyle/>
          <a:p>
            <a:pPr algn="l" indent="0" marL="0">
              <a:buNone/>
            </a:pPr>
            <a:r>
              <a:rPr lang="en-US" sz="1140" b="1" dirty="0">
                <a:solidFill>
                  <a:srgbClr val="1E3A8A"/>
                </a:solidFill>
                <a:latin typeface="Arial" pitchFamily="34" charset="0"/>
                <a:ea typeface="Arial" pitchFamily="34" charset="-122"/>
                <a:cs typeface="Arial" pitchFamily="34" charset="-120"/>
              </a:rPr>
              <a:t>Setup</a:t>
            </a:r>
            <a:endParaRPr lang="en-US" sz="1140" dirty="0"/>
          </a:p>
        </p:txBody>
      </p:sp>
      <p:sp>
        <p:nvSpPr>
          <p:cNvPr id="7" name="mini-code"/>
          <p:cNvSpPr/>
          <p:nvPr/>
        </p:nvSpPr>
        <p:spPr>
          <a:xfrm>
            <a:off x="5742432" y="1700784"/>
            <a:ext cx="1883664" cy="310896"/>
          </a:xfrm>
          <a:prstGeom prst="rect">
            <a:avLst/>
          </a:prstGeom>
          <a:solidFill>
            <a:srgbClr val="FFFFFF"/>
          </a:solidFill>
          <a:ln w="8890">
            <a:solidFill>
              <a:srgbClr val="BFDBFE"/>
            </a:solidFill>
          </a:ln>
        </p:spPr>
        <p:txBody>
          <a:bodyPr wrap="square" lIns="635" tIns="1270" rIns="1270" bIns="635" rtlCol="0" anchor="ctr"/>
          <a:lstStyle/>
          <a:p>
            <a:pPr algn="ctr" indent="0" marL="0">
              <a:buNone/>
            </a:pPr>
            <a:r>
              <a:rPr lang="en-US" sz="920" dirty="0">
                <a:solidFill>
                  <a:srgbClr val="0F172A"/>
                </a:solidFill>
                <a:latin typeface="Courier New" pitchFamily="34" charset="0"/>
                <a:ea typeface="Courier New" pitchFamily="34" charset="-122"/>
                <a:cs typeface="Courier New" pitchFamily="34" charset="-120"/>
              </a:rPr>
              <a:t>addEventListener(...)</a:t>
            </a:r>
            <a:endParaRPr lang="en-US" sz="920" dirty="0"/>
          </a:p>
        </p:txBody>
      </p:sp>
      <p:sp>
        <p:nvSpPr>
          <p:cNvPr id="8" name="cleanup-panel"/>
          <p:cNvSpPr/>
          <p:nvPr/>
        </p:nvSpPr>
        <p:spPr>
          <a:xfrm>
            <a:off x="5577840" y="2414016"/>
            <a:ext cx="2414016" cy="1024128"/>
          </a:xfrm>
          <a:prstGeom prst="roundRect">
            <a:avLst/>
          </a:prstGeom>
          <a:solidFill>
            <a:srgbClr val="FEE2E2"/>
          </a:solidFill>
          <a:ln w="12700">
            <a:solidFill>
              <a:srgbClr val="FCA5A5"/>
            </a:solidFill>
            <a:prstDash val="solid"/>
          </a:ln>
        </p:spPr>
      </p:sp>
      <p:sp>
        <p:nvSpPr>
          <p:cNvPr id="9" name="body-text"/>
          <p:cNvSpPr/>
          <p:nvPr/>
        </p:nvSpPr>
        <p:spPr>
          <a:xfrm>
            <a:off x="5742432" y="2596896"/>
            <a:ext cx="950976" cy="201168"/>
          </a:xfrm>
          <a:prstGeom prst="rect">
            <a:avLst/>
          </a:prstGeom>
          <a:noFill/>
          <a:ln/>
        </p:spPr>
        <p:txBody>
          <a:bodyPr wrap="square" lIns="0" tIns="0" rIns="0" bIns="0" rtlCol="0" anchor="t"/>
          <a:lstStyle/>
          <a:p>
            <a:pPr algn="l" indent="0" marL="0">
              <a:buNone/>
            </a:pPr>
            <a:r>
              <a:rPr lang="en-US" sz="1140" b="1" dirty="0">
                <a:solidFill>
                  <a:srgbClr val="991B1B"/>
                </a:solidFill>
                <a:latin typeface="Arial" pitchFamily="34" charset="0"/>
                <a:ea typeface="Arial" pitchFamily="34" charset="-122"/>
                <a:cs typeface="Arial" pitchFamily="34" charset="-120"/>
              </a:rPr>
              <a:t>Cleanup</a:t>
            </a:r>
            <a:endParaRPr lang="en-US" sz="1140" dirty="0"/>
          </a:p>
        </p:txBody>
      </p:sp>
      <p:sp>
        <p:nvSpPr>
          <p:cNvPr id="10" name="mini-code"/>
          <p:cNvSpPr/>
          <p:nvPr/>
        </p:nvSpPr>
        <p:spPr>
          <a:xfrm>
            <a:off x="5742432" y="2944368"/>
            <a:ext cx="1920240" cy="310896"/>
          </a:xfrm>
          <a:prstGeom prst="rect">
            <a:avLst/>
          </a:prstGeom>
          <a:solidFill>
            <a:srgbClr val="FFFFFF"/>
          </a:solidFill>
          <a:ln w="8890">
            <a:solidFill>
              <a:srgbClr val="FCA5A5"/>
            </a:solidFill>
          </a:ln>
        </p:spPr>
        <p:txBody>
          <a:bodyPr wrap="square" lIns="635" tIns="1270" rIns="1270" bIns="635" rtlCol="0" anchor="ctr"/>
          <a:lstStyle/>
          <a:p>
            <a:pPr algn="ctr" indent="0" marL="0">
              <a:buNone/>
            </a:pPr>
            <a:r>
              <a:rPr lang="en-US" sz="890" dirty="0">
                <a:solidFill>
                  <a:srgbClr val="0F172A"/>
                </a:solidFill>
                <a:latin typeface="Courier New" pitchFamily="34" charset="0"/>
                <a:ea typeface="Courier New" pitchFamily="34" charset="-122"/>
                <a:cs typeface="Courier New" pitchFamily="34" charset="-120"/>
              </a:rPr>
              <a:t>removeEventListener(...)</a:t>
            </a:r>
            <a:endParaRPr lang="en-US" sz="890" dirty="0"/>
          </a:p>
        </p:txBody>
      </p:sp>
      <p:sp>
        <p:nvSpPr>
          <p:cNvPr id="11" name="body-text"/>
          <p:cNvSpPr/>
          <p:nvPr/>
        </p:nvSpPr>
        <p:spPr>
          <a:xfrm>
            <a:off x="5577840" y="3785616"/>
            <a:ext cx="2414016" cy="475488"/>
          </a:xfrm>
          <a:prstGeom prst="rect">
            <a:avLst/>
          </a:prstGeom>
          <a:noFill/>
          <a:ln/>
        </p:spPr>
        <p:txBody>
          <a:bodyPr wrap="square" lIns="0" tIns="0" rIns="0" bIns="0" rtlCol="0" anchor="t"/>
          <a:lstStyle/>
          <a:p>
            <a:pPr algn="ctr" indent="0" marL="0">
              <a:buNone/>
            </a:pPr>
            <a:r>
              <a:rPr lang="en-US" sz="1050" b="1" dirty="0">
                <a:solidFill>
                  <a:srgbClr val="0F172A"/>
                </a:solidFill>
                <a:latin typeface="Arial" pitchFamily="34" charset="0"/>
                <a:ea typeface="Arial" pitchFamily="34" charset="-122"/>
                <a:cs typeface="Arial" pitchFamily="34" charset="-120"/>
              </a:rPr>
              <a:t>Cleanup reverses the external setup performed by this Effect.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Trace the visibility change</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EFFECTS</a:t>
            </a:r>
            <a:endParaRPr lang="en-US" sz="940" dirty="0"/>
          </a:p>
        </p:txBody>
      </p:sp>
      <p:sp>
        <p:nvSpPr>
          <p:cNvPr id="4" name="trace-browser"/>
          <p:cNvSpPr/>
          <p:nvPr/>
        </p:nvSpPr>
        <p:spPr>
          <a:xfrm>
            <a:off x="694944" y="1005840"/>
            <a:ext cx="2212848" cy="2084832"/>
          </a:xfrm>
          <a:prstGeom prst="roundRect">
            <a:avLst/>
          </a:prstGeom>
          <a:solidFill>
            <a:srgbClr val="FFFFFF"/>
          </a:solidFill>
          <a:ln w="12700">
            <a:solidFill>
              <a:srgbClr val="CBD5E1"/>
            </a:solidFill>
            <a:prstDash val="solid"/>
          </a:ln>
        </p:spPr>
      </p:sp>
      <p:sp>
        <p:nvSpPr>
          <p:cNvPr id="5" name="trace-browser-bar"/>
          <p:cNvSpPr/>
          <p:nvPr/>
        </p:nvSpPr>
        <p:spPr>
          <a:xfrm>
            <a:off x="694944" y="1005840"/>
            <a:ext cx="2212848" cy="310896"/>
          </a:xfrm>
          <a:prstGeom prst="rect">
            <a:avLst/>
          </a:prstGeom>
          <a:solidFill>
            <a:srgbClr val="F8FAFC"/>
          </a:solidFill>
          <a:ln w="8890">
            <a:solidFill>
              <a:srgbClr val="CBD5E1"/>
            </a:solidFill>
            <a:prstDash val="solid"/>
          </a:ln>
        </p:spPr>
      </p:sp>
      <p:sp>
        <p:nvSpPr>
          <p:cNvPr id="6" name="trace-browser-dot0"/>
          <p:cNvSpPr/>
          <p:nvPr/>
        </p:nvSpPr>
        <p:spPr>
          <a:xfrm>
            <a:off x="804672" y="1115568"/>
            <a:ext cx="73152" cy="73152"/>
          </a:xfrm>
          <a:prstGeom prst="ellipse">
            <a:avLst/>
          </a:prstGeom>
          <a:solidFill>
            <a:srgbClr val="F87171"/>
          </a:solidFill>
          <a:ln w="12700">
            <a:solidFill>
              <a:srgbClr val="F87171"/>
            </a:solidFill>
            <a:prstDash val="solid"/>
          </a:ln>
        </p:spPr>
      </p:sp>
      <p:sp>
        <p:nvSpPr>
          <p:cNvPr id="7" name="trace-browser-dot1"/>
          <p:cNvSpPr/>
          <p:nvPr/>
        </p:nvSpPr>
        <p:spPr>
          <a:xfrm>
            <a:off x="923544" y="1115568"/>
            <a:ext cx="73152" cy="73152"/>
          </a:xfrm>
          <a:prstGeom prst="ellipse">
            <a:avLst/>
          </a:prstGeom>
          <a:solidFill>
            <a:srgbClr val="FBBF24"/>
          </a:solidFill>
          <a:ln w="12700">
            <a:solidFill>
              <a:srgbClr val="FBBF24"/>
            </a:solidFill>
            <a:prstDash val="solid"/>
          </a:ln>
        </p:spPr>
      </p:sp>
      <p:sp>
        <p:nvSpPr>
          <p:cNvPr id="8" name="trace-browser-dot2"/>
          <p:cNvSpPr/>
          <p:nvPr/>
        </p:nvSpPr>
        <p:spPr>
          <a:xfrm>
            <a:off x="1042416" y="1115568"/>
            <a:ext cx="73152" cy="73152"/>
          </a:xfrm>
          <a:prstGeom prst="ellipse">
            <a:avLst/>
          </a:prstGeom>
          <a:solidFill>
            <a:srgbClr val="34D399"/>
          </a:solidFill>
          <a:ln w="12700">
            <a:solidFill>
              <a:srgbClr val="34D399"/>
            </a:solidFill>
            <a:prstDash val="solid"/>
          </a:ln>
        </p:spPr>
      </p:sp>
      <p:sp>
        <p:nvSpPr>
          <p:cNvPr id="9" name="trace-browser-title"/>
          <p:cNvSpPr/>
          <p:nvPr/>
        </p:nvSpPr>
        <p:spPr>
          <a:xfrm>
            <a:off x="1225296" y="1074420"/>
            <a:ext cx="1554480"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TabActivityDetector</a:t>
            </a:r>
            <a:endParaRPr lang="en-US" sz="920" dirty="0"/>
          </a:p>
        </p:txBody>
      </p:sp>
      <p:sp>
        <p:nvSpPr>
          <p:cNvPr id="10" name="body-text"/>
          <p:cNvSpPr/>
          <p:nvPr/>
        </p:nvSpPr>
        <p:spPr>
          <a:xfrm>
            <a:off x="896112" y="1572768"/>
            <a:ext cx="1426464" cy="201168"/>
          </a:xfrm>
          <a:prstGeom prst="rect">
            <a:avLst/>
          </a:prstGeom>
          <a:noFill/>
          <a:ln/>
        </p:spPr>
        <p:txBody>
          <a:bodyPr wrap="square" lIns="0" tIns="0" rIns="0" bIns="0" rtlCol="0" anchor="t"/>
          <a:lstStyle/>
          <a:p>
            <a:pPr algn="l" indent="0" marL="0">
              <a:buNone/>
            </a:pPr>
            <a:r>
              <a:rPr lang="en-US" sz="1020" dirty="0">
                <a:solidFill>
                  <a:srgbClr val="475569"/>
                </a:solidFill>
                <a:latin typeface="Arial" pitchFamily="34" charset="0"/>
                <a:ea typeface="Arial" pitchFamily="34" charset="-122"/>
                <a:cs typeface="Arial" pitchFamily="34" charset="-120"/>
              </a:rPr>
              <a:t>Backgrounded since load:</a:t>
            </a:r>
            <a:endParaRPr lang="en-US" sz="1020" dirty="0"/>
          </a:p>
        </p:txBody>
      </p:sp>
      <p:sp>
        <p:nvSpPr>
          <p:cNvPr id="11" name="pill"/>
          <p:cNvSpPr/>
          <p:nvPr/>
        </p:nvSpPr>
        <p:spPr>
          <a:xfrm>
            <a:off x="2304288" y="1517904"/>
            <a:ext cx="420624" cy="274320"/>
          </a:xfrm>
          <a:prstGeom prst="rect">
            <a:avLst/>
          </a:prstGeom>
          <a:solidFill>
            <a:srgbClr val="EFF6FF"/>
          </a:solidFill>
          <a:ln w="10160">
            <a:solidFill>
              <a:srgbClr val="EFF6FF"/>
            </a:solidFill>
          </a:ln>
        </p:spPr>
        <p:txBody>
          <a:bodyPr wrap="square" lIns="635" tIns="1270" rIns="1270" bIns="635" rtlCol="0" anchor="ctr"/>
          <a:lstStyle/>
          <a:p>
            <a:pPr algn="ctr" indent="0" marL="0">
              <a:buNone/>
            </a:pPr>
            <a:r>
              <a:rPr lang="en-US" sz="900" b="1" dirty="0">
                <a:solidFill>
                  <a:srgbClr val="1E3A8A"/>
                </a:solidFill>
                <a:latin typeface="Arial" pitchFamily="34" charset="0"/>
                <a:ea typeface="Arial" pitchFamily="34" charset="-122"/>
                <a:cs typeface="Arial" pitchFamily="34" charset="-120"/>
              </a:rPr>
              <a:t>No</a:t>
            </a:r>
            <a:endParaRPr lang="en-US" sz="900" dirty="0"/>
          </a:p>
        </p:txBody>
      </p:sp>
      <p:sp>
        <p:nvSpPr>
          <p:cNvPr id="12" name="body-text"/>
          <p:cNvSpPr/>
          <p:nvPr/>
        </p:nvSpPr>
        <p:spPr>
          <a:xfrm>
            <a:off x="841248" y="2286000"/>
            <a:ext cx="1847088" cy="347472"/>
          </a:xfrm>
          <a:prstGeom prst="rect">
            <a:avLst/>
          </a:prstGeom>
          <a:noFill/>
          <a:ln/>
        </p:spPr>
        <p:txBody>
          <a:bodyPr wrap="square" lIns="0" tIns="0" rIns="0" bIns="0" rtlCol="0" anchor="t"/>
          <a:lstStyle/>
          <a:p>
            <a:pPr algn="ctr" indent="0" marL="0">
              <a:buNone/>
            </a:pPr>
            <a:r>
              <a:rPr lang="en-US" sz="1010" b="1" dirty="0">
                <a:solidFill>
                  <a:srgbClr val="0F172A"/>
                </a:solidFill>
                <a:latin typeface="Arial" pitchFamily="34" charset="0"/>
                <a:ea typeface="Arial" pitchFamily="34" charset="-122"/>
                <a:cs typeface="Arial" pitchFamily="34" charset="-120"/>
              </a:rPr>
              <a:t>Predict: switch to another tab and return.</a:t>
            </a:r>
            <a:endParaRPr lang="en-US" sz="1010" dirty="0"/>
          </a:p>
        </p:txBody>
      </p:sp>
      <p:sp>
        <p:nvSpPr>
          <p:cNvPr id="13" name="visibility-step-0"/>
          <p:cNvSpPr/>
          <p:nvPr/>
        </p:nvSpPr>
        <p:spPr>
          <a:xfrm>
            <a:off x="3182112" y="1280160"/>
            <a:ext cx="841248" cy="1993392"/>
          </a:xfrm>
          <a:prstGeom prst="roundRect">
            <a:avLst/>
          </a:prstGeom>
          <a:solidFill>
            <a:srgbClr val="F8FAFC"/>
          </a:solidFill>
          <a:ln w="12700">
            <a:solidFill>
              <a:srgbClr val="CBD5E1"/>
            </a:solidFill>
            <a:prstDash val="solid"/>
          </a:ln>
        </p:spPr>
      </p:sp>
      <p:sp>
        <p:nvSpPr>
          <p:cNvPr id="14" name="pill"/>
          <p:cNvSpPr/>
          <p:nvPr/>
        </p:nvSpPr>
        <p:spPr>
          <a:xfrm>
            <a:off x="3291840" y="1426464"/>
            <a:ext cx="256032"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15" name="body-text"/>
          <p:cNvSpPr/>
          <p:nvPr/>
        </p:nvSpPr>
        <p:spPr>
          <a:xfrm>
            <a:off x="3273552" y="1847088"/>
            <a:ext cx="658368" cy="310896"/>
          </a:xfrm>
          <a:prstGeom prst="rect">
            <a:avLst/>
          </a:prstGeom>
          <a:noFill/>
          <a:ln/>
        </p:spPr>
        <p:txBody>
          <a:bodyPr wrap="square" lIns="0" tIns="0" rIns="0" bIns="0" rtlCol="0" anchor="t"/>
          <a:lstStyle/>
          <a:p>
            <a:pPr algn="ctr" indent="0" marL="0">
              <a:buNone/>
            </a:pPr>
            <a:r>
              <a:rPr lang="en-US" sz="930" b="1" dirty="0">
                <a:solidFill>
                  <a:srgbClr val="1E3A8A"/>
                </a:solidFill>
                <a:latin typeface="Arial" pitchFamily="34" charset="0"/>
                <a:ea typeface="Arial" pitchFamily="34" charset="-122"/>
                <a:cs typeface="Arial" pitchFamily="34" charset="-120"/>
              </a:rPr>
              <a:t>document visible</a:t>
            </a:r>
            <a:endParaRPr lang="en-US" sz="930" dirty="0"/>
          </a:p>
        </p:txBody>
      </p:sp>
      <p:sp>
        <p:nvSpPr>
          <p:cNvPr id="16" name="body-text"/>
          <p:cNvSpPr/>
          <p:nvPr/>
        </p:nvSpPr>
        <p:spPr>
          <a:xfrm>
            <a:off x="3273552" y="2359152"/>
            <a:ext cx="658368" cy="548640"/>
          </a:xfrm>
          <a:prstGeom prst="rect">
            <a:avLst/>
          </a:prstGeom>
          <a:noFill/>
          <a:ln/>
        </p:spPr>
        <p:txBody>
          <a:bodyPr wrap="square" lIns="0" tIns="0" rIns="0" bIns="0" rtlCol="0" anchor="t"/>
          <a:lstStyle/>
          <a:p>
            <a:pPr algn="ctr" indent="0" marL="0">
              <a:buNone/>
            </a:pPr>
            <a:r>
              <a:rPr lang="en-US" sz="870" dirty="0">
                <a:solidFill>
                  <a:srgbClr val="475569"/>
                </a:solidFill>
                <a:latin typeface="Arial" pitchFamily="34" charset="0"/>
                <a:ea typeface="Arial" pitchFamily="34" charset="-122"/>
                <a:cs typeface="Arial" pitchFamily="34" charset="-120"/>
              </a:rPr>
              <a:t>visibilityState</a:t>
            </a:r>
            <a:endParaRPr lang="en-US" sz="870" dirty="0"/>
          </a:p>
          <a:p>
            <a:pPr algn="ctr" indent="0" marL="0">
              <a:buNone/>
            </a:pPr>
            <a:r>
              <a:rPr lang="en-US" sz="870" dirty="0">
                <a:solidFill>
                  <a:srgbClr val="475569"/>
                </a:solidFill>
                <a:latin typeface="Arial" pitchFamily="34" charset="0"/>
                <a:ea typeface="Arial" pitchFamily="34" charset="-122"/>
                <a:cs typeface="Arial" pitchFamily="34" charset="-120"/>
              </a:rPr>
              <a:t>"visible"</a:t>
            </a:r>
            <a:endParaRPr lang="en-US" sz="870" dirty="0"/>
          </a:p>
        </p:txBody>
      </p:sp>
      <p:sp>
        <p:nvSpPr>
          <p:cNvPr id="17" name="visibility-conn-0"/>
          <p:cNvSpPr/>
          <p:nvPr/>
        </p:nvSpPr>
        <p:spPr>
          <a:xfrm>
            <a:off x="4041648" y="2267712"/>
            <a:ext cx="91440" cy="0"/>
          </a:xfrm>
          <a:prstGeom prst="line">
            <a:avLst/>
          </a:prstGeom>
          <a:noFill/>
          <a:ln w="19050">
            <a:solidFill>
              <a:srgbClr val="64748B"/>
            </a:solidFill>
            <a:prstDash val="solid"/>
            <a:tailEnd type="triangle"/>
          </a:ln>
        </p:spPr>
      </p:sp>
      <p:sp>
        <p:nvSpPr>
          <p:cNvPr id="18" name="visibility-step-1"/>
          <p:cNvSpPr/>
          <p:nvPr/>
        </p:nvSpPr>
        <p:spPr>
          <a:xfrm>
            <a:off x="4160520" y="1280160"/>
            <a:ext cx="841248" cy="1993392"/>
          </a:xfrm>
          <a:prstGeom prst="roundRect">
            <a:avLst/>
          </a:prstGeom>
          <a:solidFill>
            <a:srgbClr val="F8FAFC"/>
          </a:solidFill>
          <a:ln w="12700">
            <a:solidFill>
              <a:srgbClr val="CBD5E1"/>
            </a:solidFill>
            <a:prstDash val="solid"/>
          </a:ln>
        </p:spPr>
      </p:sp>
      <p:sp>
        <p:nvSpPr>
          <p:cNvPr id="19" name="pill"/>
          <p:cNvSpPr/>
          <p:nvPr/>
        </p:nvSpPr>
        <p:spPr>
          <a:xfrm>
            <a:off x="4270248" y="1426464"/>
            <a:ext cx="256032"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20" name="body-text"/>
          <p:cNvSpPr/>
          <p:nvPr/>
        </p:nvSpPr>
        <p:spPr>
          <a:xfrm>
            <a:off x="4251960" y="1847088"/>
            <a:ext cx="658368" cy="310896"/>
          </a:xfrm>
          <a:prstGeom prst="rect">
            <a:avLst/>
          </a:prstGeom>
          <a:noFill/>
          <a:ln/>
        </p:spPr>
        <p:txBody>
          <a:bodyPr wrap="square" lIns="0" tIns="0" rIns="0" bIns="0" rtlCol="0" anchor="t"/>
          <a:lstStyle/>
          <a:p>
            <a:pPr algn="ctr" indent="0" marL="0">
              <a:buNone/>
            </a:pPr>
            <a:r>
              <a:rPr lang="en-US" sz="930" b="1" dirty="0">
                <a:solidFill>
                  <a:srgbClr val="1E3A8A"/>
                </a:solidFill>
                <a:latin typeface="Arial" pitchFamily="34" charset="0"/>
                <a:ea typeface="Arial" pitchFamily="34" charset="-122"/>
                <a:cs typeface="Arial" pitchFamily="34" charset="-120"/>
              </a:rPr>
              <a:t>user switches tab</a:t>
            </a:r>
            <a:endParaRPr lang="en-US" sz="930" dirty="0"/>
          </a:p>
        </p:txBody>
      </p:sp>
      <p:sp>
        <p:nvSpPr>
          <p:cNvPr id="21" name="body-text"/>
          <p:cNvSpPr/>
          <p:nvPr/>
        </p:nvSpPr>
        <p:spPr>
          <a:xfrm>
            <a:off x="4251960" y="2359152"/>
            <a:ext cx="658368" cy="548640"/>
          </a:xfrm>
          <a:prstGeom prst="rect">
            <a:avLst/>
          </a:prstGeom>
          <a:noFill/>
          <a:ln/>
        </p:spPr>
        <p:txBody>
          <a:bodyPr wrap="square" lIns="0" tIns="0" rIns="0" bIns="0" rtlCol="0" anchor="t"/>
          <a:lstStyle/>
          <a:p>
            <a:pPr algn="ctr" indent="0" marL="0">
              <a:buNone/>
            </a:pPr>
            <a:r>
              <a:rPr lang="en-US" sz="870" dirty="0">
                <a:solidFill>
                  <a:srgbClr val="475569"/>
                </a:solidFill>
                <a:latin typeface="Arial" pitchFamily="34" charset="0"/>
                <a:ea typeface="Arial" pitchFamily="34" charset="-122"/>
                <a:cs typeface="Arial" pitchFamily="34" charset="-120"/>
              </a:rPr>
              <a:t>browser sets</a:t>
            </a:r>
            <a:endParaRPr lang="en-US" sz="870" dirty="0"/>
          </a:p>
          <a:p>
            <a:pPr algn="ctr" indent="0" marL="0">
              <a:buNone/>
            </a:pPr>
            <a:r>
              <a:rPr lang="en-US" sz="870" dirty="0">
                <a:solidFill>
                  <a:srgbClr val="475569"/>
                </a:solidFill>
                <a:latin typeface="Arial" pitchFamily="34" charset="0"/>
                <a:ea typeface="Arial" pitchFamily="34" charset="-122"/>
                <a:cs typeface="Arial" pitchFamily="34" charset="-120"/>
              </a:rPr>
              <a:t>"hidden"</a:t>
            </a:r>
            <a:endParaRPr lang="en-US" sz="870" dirty="0"/>
          </a:p>
        </p:txBody>
      </p:sp>
      <p:sp>
        <p:nvSpPr>
          <p:cNvPr id="22" name="visibility-conn-1"/>
          <p:cNvSpPr/>
          <p:nvPr/>
        </p:nvSpPr>
        <p:spPr>
          <a:xfrm>
            <a:off x="5020056" y="2267712"/>
            <a:ext cx="91440" cy="0"/>
          </a:xfrm>
          <a:prstGeom prst="line">
            <a:avLst/>
          </a:prstGeom>
          <a:noFill/>
          <a:ln w="19050">
            <a:solidFill>
              <a:srgbClr val="64748B"/>
            </a:solidFill>
            <a:prstDash val="solid"/>
            <a:tailEnd type="triangle"/>
          </a:ln>
        </p:spPr>
      </p:sp>
      <p:sp>
        <p:nvSpPr>
          <p:cNvPr id="23" name="visibility-step-2"/>
          <p:cNvSpPr/>
          <p:nvPr/>
        </p:nvSpPr>
        <p:spPr>
          <a:xfrm>
            <a:off x="5138928" y="1280160"/>
            <a:ext cx="841248" cy="1993392"/>
          </a:xfrm>
          <a:prstGeom prst="roundRect">
            <a:avLst/>
          </a:prstGeom>
          <a:solidFill>
            <a:srgbClr val="F8FAFC"/>
          </a:solidFill>
          <a:ln w="12700">
            <a:solidFill>
              <a:srgbClr val="CBD5E1"/>
            </a:solidFill>
            <a:prstDash val="solid"/>
          </a:ln>
        </p:spPr>
      </p:sp>
      <p:sp>
        <p:nvSpPr>
          <p:cNvPr id="24" name="pill"/>
          <p:cNvSpPr/>
          <p:nvPr/>
        </p:nvSpPr>
        <p:spPr>
          <a:xfrm>
            <a:off x="5248656" y="1426464"/>
            <a:ext cx="256032"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25" name="body-text"/>
          <p:cNvSpPr/>
          <p:nvPr/>
        </p:nvSpPr>
        <p:spPr>
          <a:xfrm>
            <a:off x="5230368" y="1847088"/>
            <a:ext cx="658368" cy="310896"/>
          </a:xfrm>
          <a:prstGeom prst="rect">
            <a:avLst/>
          </a:prstGeom>
          <a:noFill/>
          <a:ln/>
        </p:spPr>
        <p:txBody>
          <a:bodyPr wrap="square" lIns="0" tIns="0" rIns="0" bIns="0" rtlCol="0" anchor="t"/>
          <a:lstStyle/>
          <a:p>
            <a:pPr algn="ctr" indent="0" marL="0">
              <a:buNone/>
            </a:pPr>
            <a:r>
              <a:rPr lang="en-US" sz="930" b="1" dirty="0">
                <a:solidFill>
                  <a:srgbClr val="1E3A8A"/>
                </a:solidFill>
                <a:latin typeface="Arial" pitchFamily="34" charset="0"/>
                <a:ea typeface="Arial" pitchFamily="34" charset="-122"/>
                <a:cs typeface="Arial" pitchFamily="34" charset="-120"/>
              </a:rPr>
              <a:t>browser event</a:t>
            </a:r>
            <a:endParaRPr lang="en-US" sz="930" dirty="0"/>
          </a:p>
        </p:txBody>
      </p:sp>
      <p:sp>
        <p:nvSpPr>
          <p:cNvPr id="26" name="body-text"/>
          <p:cNvSpPr/>
          <p:nvPr/>
        </p:nvSpPr>
        <p:spPr>
          <a:xfrm>
            <a:off x="5230368" y="2359152"/>
            <a:ext cx="658368" cy="548640"/>
          </a:xfrm>
          <a:prstGeom prst="rect">
            <a:avLst/>
          </a:prstGeom>
          <a:noFill/>
          <a:ln/>
        </p:spPr>
        <p:txBody>
          <a:bodyPr wrap="square" lIns="0" tIns="0" rIns="0" bIns="0" rtlCol="0" anchor="t"/>
          <a:lstStyle/>
          <a:p>
            <a:pPr algn="ctr" indent="0" marL="0">
              <a:buNone/>
            </a:pPr>
            <a:r>
              <a:rPr lang="en-US" sz="870" dirty="0">
                <a:solidFill>
                  <a:srgbClr val="475569"/>
                </a:solidFill>
                <a:latin typeface="Arial" pitchFamily="34" charset="0"/>
                <a:ea typeface="Arial" pitchFamily="34" charset="-122"/>
                <a:cs typeface="Arial" pitchFamily="34" charset="-120"/>
              </a:rPr>
              <a:t>visibility event</a:t>
            </a:r>
            <a:endParaRPr lang="en-US" sz="870" dirty="0"/>
          </a:p>
          <a:p>
            <a:pPr algn="ctr" indent="0" marL="0">
              <a:buNone/>
            </a:pPr>
            <a:r>
              <a:rPr lang="en-US" sz="870" dirty="0">
                <a:solidFill>
                  <a:srgbClr val="475569"/>
                </a:solidFill>
                <a:latin typeface="Arial" pitchFamily="34" charset="0"/>
                <a:ea typeface="Arial" pitchFamily="34" charset="-122"/>
                <a:cs typeface="Arial" pitchFamily="34" charset="-120"/>
              </a:rPr>
              <a:t>fires</a:t>
            </a:r>
            <a:endParaRPr lang="en-US" sz="870" dirty="0"/>
          </a:p>
        </p:txBody>
      </p:sp>
      <p:sp>
        <p:nvSpPr>
          <p:cNvPr id="27" name="visibility-conn-2"/>
          <p:cNvSpPr/>
          <p:nvPr/>
        </p:nvSpPr>
        <p:spPr>
          <a:xfrm>
            <a:off x="5998464" y="2267712"/>
            <a:ext cx="91440" cy="0"/>
          </a:xfrm>
          <a:prstGeom prst="line">
            <a:avLst/>
          </a:prstGeom>
          <a:noFill/>
          <a:ln w="19050">
            <a:solidFill>
              <a:srgbClr val="64748B"/>
            </a:solidFill>
            <a:prstDash val="solid"/>
            <a:tailEnd type="triangle"/>
          </a:ln>
        </p:spPr>
      </p:sp>
      <p:sp>
        <p:nvSpPr>
          <p:cNvPr id="28" name="visibility-step-3"/>
          <p:cNvSpPr/>
          <p:nvPr/>
        </p:nvSpPr>
        <p:spPr>
          <a:xfrm>
            <a:off x="6117336" y="1280160"/>
            <a:ext cx="841248" cy="1993392"/>
          </a:xfrm>
          <a:prstGeom prst="roundRect">
            <a:avLst/>
          </a:prstGeom>
          <a:solidFill>
            <a:srgbClr val="F8FAFC"/>
          </a:solidFill>
          <a:ln w="12700">
            <a:solidFill>
              <a:srgbClr val="CBD5E1"/>
            </a:solidFill>
            <a:prstDash val="solid"/>
          </a:ln>
        </p:spPr>
      </p:sp>
      <p:sp>
        <p:nvSpPr>
          <p:cNvPr id="29" name="pill"/>
          <p:cNvSpPr/>
          <p:nvPr/>
        </p:nvSpPr>
        <p:spPr>
          <a:xfrm>
            <a:off x="6227064" y="1426464"/>
            <a:ext cx="256032"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30" name="body-text"/>
          <p:cNvSpPr/>
          <p:nvPr/>
        </p:nvSpPr>
        <p:spPr>
          <a:xfrm>
            <a:off x="6208776" y="1847088"/>
            <a:ext cx="658368" cy="310896"/>
          </a:xfrm>
          <a:prstGeom prst="rect">
            <a:avLst/>
          </a:prstGeom>
          <a:noFill/>
          <a:ln/>
        </p:spPr>
        <p:txBody>
          <a:bodyPr wrap="square" lIns="0" tIns="0" rIns="0" bIns="0" rtlCol="0" anchor="t"/>
          <a:lstStyle/>
          <a:p>
            <a:pPr algn="ctr" indent="0" marL="0">
              <a:buNone/>
            </a:pPr>
            <a:r>
              <a:rPr lang="en-US" sz="930" b="1" dirty="0">
                <a:solidFill>
                  <a:srgbClr val="1E3A8A"/>
                </a:solidFill>
                <a:latin typeface="Arial" pitchFamily="34" charset="0"/>
                <a:ea typeface="Arial" pitchFamily="34" charset="-122"/>
                <a:cs typeface="Arial" pitchFamily="34" charset="-120"/>
              </a:rPr>
              <a:t>listener runs</a:t>
            </a:r>
            <a:endParaRPr lang="en-US" sz="930" dirty="0"/>
          </a:p>
        </p:txBody>
      </p:sp>
      <p:sp>
        <p:nvSpPr>
          <p:cNvPr id="31" name="body-text"/>
          <p:cNvSpPr/>
          <p:nvPr/>
        </p:nvSpPr>
        <p:spPr>
          <a:xfrm>
            <a:off x="6208776" y="2359152"/>
            <a:ext cx="658368" cy="548640"/>
          </a:xfrm>
          <a:prstGeom prst="rect">
            <a:avLst/>
          </a:prstGeom>
          <a:noFill/>
          <a:ln/>
        </p:spPr>
        <p:txBody>
          <a:bodyPr wrap="square" lIns="0" tIns="0" rIns="0" bIns="0" rtlCol="0" anchor="t"/>
          <a:lstStyle/>
          <a:p>
            <a:pPr algn="ctr" indent="0" marL="0">
              <a:buNone/>
            </a:pPr>
            <a:r>
              <a:rPr lang="en-US" sz="870" dirty="0">
                <a:solidFill>
                  <a:srgbClr val="475569"/>
                </a:solidFill>
                <a:latin typeface="Arial" pitchFamily="34" charset="0"/>
                <a:ea typeface="Arial" pitchFamily="34" charset="-122"/>
                <a:cs typeface="Arial" pitchFamily="34" charset="-120"/>
              </a:rPr>
              <a:t>requests state</a:t>
            </a:r>
            <a:endParaRPr lang="en-US" sz="870" dirty="0"/>
          </a:p>
          <a:p>
            <a:pPr algn="ctr" indent="0" marL="0">
              <a:buNone/>
            </a:pPr>
            <a:r>
              <a:rPr lang="en-US" sz="870" dirty="0">
                <a:solidFill>
                  <a:srgbClr val="475569"/>
                </a:solidFill>
                <a:latin typeface="Arial" pitchFamily="34" charset="0"/>
                <a:ea typeface="Arial" pitchFamily="34" charset="-122"/>
                <a:cs typeface="Arial" pitchFamily="34" charset="-120"/>
              </a:rPr>
              <a:t>update to true</a:t>
            </a:r>
            <a:endParaRPr lang="en-US" sz="870" dirty="0"/>
          </a:p>
        </p:txBody>
      </p:sp>
      <p:sp>
        <p:nvSpPr>
          <p:cNvPr id="32" name="visibility-conn-3"/>
          <p:cNvSpPr/>
          <p:nvPr/>
        </p:nvSpPr>
        <p:spPr>
          <a:xfrm>
            <a:off x="6976872" y="2267712"/>
            <a:ext cx="91440" cy="0"/>
          </a:xfrm>
          <a:prstGeom prst="line">
            <a:avLst/>
          </a:prstGeom>
          <a:noFill/>
          <a:ln w="19050">
            <a:solidFill>
              <a:srgbClr val="64748B"/>
            </a:solidFill>
            <a:prstDash val="solid"/>
            <a:tailEnd type="triangle"/>
          </a:ln>
        </p:spPr>
      </p:sp>
      <p:sp>
        <p:nvSpPr>
          <p:cNvPr id="33" name="visibility-step-4"/>
          <p:cNvSpPr/>
          <p:nvPr/>
        </p:nvSpPr>
        <p:spPr>
          <a:xfrm>
            <a:off x="7095744" y="1280160"/>
            <a:ext cx="841248" cy="1993392"/>
          </a:xfrm>
          <a:prstGeom prst="roundRect">
            <a:avLst/>
          </a:prstGeom>
          <a:solidFill>
            <a:srgbClr val="DCFCE7"/>
          </a:solidFill>
          <a:ln w="12700">
            <a:solidFill>
              <a:srgbClr val="86EFAC"/>
            </a:solidFill>
            <a:prstDash val="solid"/>
          </a:ln>
        </p:spPr>
      </p:sp>
      <p:sp>
        <p:nvSpPr>
          <p:cNvPr id="34" name="pill"/>
          <p:cNvSpPr/>
          <p:nvPr/>
        </p:nvSpPr>
        <p:spPr>
          <a:xfrm>
            <a:off x="7205472" y="1426464"/>
            <a:ext cx="256032" cy="274320"/>
          </a:xfrm>
          <a:prstGeom prst="rect">
            <a:avLst/>
          </a:prstGeom>
          <a:solidFill>
            <a:srgbClr val="166534"/>
          </a:solidFill>
          <a:ln w="10160">
            <a:solidFill>
              <a:srgbClr val="166534"/>
            </a:solidFill>
          </a:ln>
        </p:spPr>
        <p:txBody>
          <a:bodyPr wrap="square" lIns="635" tIns="1270" rIns="1270" bIns="635"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35" name="body-text"/>
          <p:cNvSpPr/>
          <p:nvPr/>
        </p:nvSpPr>
        <p:spPr>
          <a:xfrm>
            <a:off x="7187184" y="1847088"/>
            <a:ext cx="658368" cy="310896"/>
          </a:xfrm>
          <a:prstGeom prst="rect">
            <a:avLst/>
          </a:prstGeom>
          <a:noFill/>
          <a:ln/>
        </p:spPr>
        <p:txBody>
          <a:bodyPr wrap="square" lIns="0" tIns="0" rIns="0" bIns="0" rtlCol="0" anchor="t"/>
          <a:lstStyle/>
          <a:p>
            <a:pPr algn="ctr" indent="0" marL="0">
              <a:buNone/>
            </a:pPr>
            <a:r>
              <a:rPr lang="en-US" sz="930" b="1" dirty="0">
                <a:solidFill>
                  <a:srgbClr val="166534"/>
                </a:solidFill>
                <a:latin typeface="Arial" pitchFamily="34" charset="0"/>
                <a:ea typeface="Arial" pitchFamily="34" charset="-122"/>
                <a:cs typeface="Arial" pitchFamily="34" charset="-120"/>
              </a:rPr>
              <a:t>React renders</a:t>
            </a:r>
            <a:endParaRPr lang="en-US" sz="930" dirty="0"/>
          </a:p>
        </p:txBody>
      </p:sp>
      <p:sp>
        <p:nvSpPr>
          <p:cNvPr id="36" name="body-text"/>
          <p:cNvSpPr/>
          <p:nvPr/>
        </p:nvSpPr>
        <p:spPr>
          <a:xfrm>
            <a:off x="7187184" y="2359152"/>
            <a:ext cx="658368" cy="548640"/>
          </a:xfrm>
          <a:prstGeom prst="rect">
            <a:avLst/>
          </a:prstGeom>
          <a:noFill/>
          <a:ln/>
        </p:spPr>
        <p:txBody>
          <a:bodyPr wrap="square" lIns="0" tIns="0" rIns="0" bIns="0" rtlCol="0" anchor="t"/>
          <a:lstStyle/>
          <a:p>
            <a:pPr algn="ctr" indent="0" marL="0">
              <a:buNone/>
            </a:pPr>
            <a:r>
              <a:rPr lang="en-US" sz="870" dirty="0">
                <a:solidFill>
                  <a:srgbClr val="475569"/>
                </a:solidFill>
                <a:latin typeface="Arial" pitchFamily="34" charset="0"/>
                <a:ea typeface="Arial" pitchFamily="34" charset="-122"/>
                <a:cs typeface="Arial" pitchFamily="34" charset="-120"/>
              </a:rPr>
              <a:t>UI shows</a:t>
            </a:r>
            <a:endParaRPr lang="en-US" sz="870" dirty="0"/>
          </a:p>
          <a:p>
            <a:pPr algn="ctr" indent="0" marL="0">
              <a:buNone/>
            </a:pPr>
            <a:r>
              <a:rPr lang="en-US" sz="870" dirty="0">
                <a:solidFill>
                  <a:srgbClr val="475569"/>
                </a:solidFill>
                <a:latin typeface="Arial" pitchFamily="34" charset="0"/>
                <a:ea typeface="Arial" pitchFamily="34" charset="-122"/>
                <a:cs typeface="Arial" pitchFamily="34" charset="-120"/>
              </a:rPr>
              <a:t>Yes</a:t>
            </a:r>
            <a:endParaRPr lang="en-US" sz="870" dirty="0"/>
          </a:p>
        </p:txBody>
      </p:sp>
      <p:sp>
        <p:nvSpPr>
          <p:cNvPr id="37" name="strip-Key connection"/>
          <p:cNvSpPr/>
          <p:nvPr/>
        </p:nvSpPr>
        <p:spPr>
          <a:xfrm>
            <a:off x="877824" y="3730752"/>
            <a:ext cx="7132320" cy="530352"/>
          </a:xfrm>
          <a:prstGeom prst="roundRect">
            <a:avLst/>
          </a:prstGeom>
          <a:solidFill>
            <a:srgbClr val="EFF6FF"/>
          </a:solidFill>
          <a:ln w="12700">
            <a:solidFill>
              <a:srgbClr val="EFF6FF"/>
            </a:solidFill>
            <a:prstDash val="solid"/>
          </a:ln>
        </p:spPr>
      </p:sp>
      <p:sp>
        <p:nvSpPr>
          <p:cNvPr id="38" name="strip-text-Key connection"/>
          <p:cNvSpPr/>
          <p:nvPr/>
        </p:nvSpPr>
        <p:spPr>
          <a:xfrm>
            <a:off x="1024128" y="3831336"/>
            <a:ext cx="6839712" cy="347472"/>
          </a:xfrm>
          <a:prstGeom prst="rect">
            <a:avLst/>
          </a:prstGeom>
          <a:noFill/>
          <a:ln/>
        </p:spPr>
        <p:txBody>
          <a:bodyPr wrap="square" lIns="0" tIns="0" rIns="0" bIns="0" rtlCol="0" anchor="t"/>
          <a:lstStyle/>
          <a:p>
            <a:pPr indent="0" marL="0">
              <a:buNone/>
            </a:pPr>
            <a:r>
              <a:rPr lang="en-US" sz="1030" b="1" dirty="0">
                <a:solidFill>
                  <a:srgbClr val="1E3A8A"/>
                </a:solidFill>
                <a:latin typeface="Arial" pitchFamily="34" charset="0"/>
                <a:ea typeface="Arial" pitchFamily="34" charset="-122"/>
                <a:cs typeface="Arial" pitchFamily="34" charset="-120"/>
              </a:rPr>
              <a:t>Key connection  </a:t>
            </a:r>
            <a:pPr indent="0" marL="0">
              <a:buNone/>
            </a:pPr>
            <a:r>
              <a:rPr lang="en-US" sz="1030" dirty="0">
                <a:solidFill>
                  <a:srgbClr val="0F172A"/>
                </a:solidFill>
                <a:latin typeface="Arial" pitchFamily="34" charset="0"/>
                <a:ea typeface="Arial" pitchFamily="34" charset="-122"/>
                <a:cs typeface="Arial" pitchFamily="34" charset="-120"/>
              </a:rPr>
              <a:t>The Effect establishes communication with the browser. After the listener runs, ordinary state update and rendering rules take over.</a:t>
            </a:r>
            <a:endParaRPr lang="en-US" sz="10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Anatomy of our first Effect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EFFECTS</a:t>
            </a:r>
            <a:endParaRPr lang="en-US" sz="940" dirty="0"/>
          </a:p>
        </p:txBody>
      </p:sp>
      <p:sp>
        <p:nvSpPr>
          <p:cNvPr id="4" name="effect-signature"/>
          <p:cNvSpPr/>
          <p:nvPr/>
        </p:nvSpPr>
        <p:spPr>
          <a:xfrm>
            <a:off x="2084832" y="1115568"/>
            <a:ext cx="4754880" cy="56692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420" dirty="0">
                <a:solidFill>
                  <a:srgbClr val="FFFFFF"/>
                </a:solidFill>
                <a:latin typeface="Courier New" pitchFamily="34" charset="0"/>
                <a:ea typeface="Courier New" pitchFamily="34" charset="-122"/>
                <a:cs typeface="Courier New" pitchFamily="34" charset="-120"/>
              </a:rPr>
              <a:t>useEffect(setup, dependencies);</a:t>
            </a:r>
            <a:endParaRPr lang="en-US" sz="1420" dirty="0"/>
          </a:p>
        </p:txBody>
      </p:sp>
      <p:sp>
        <p:nvSpPr>
          <p:cNvPr id="5" name="anatomy-0"/>
          <p:cNvSpPr/>
          <p:nvPr/>
        </p:nvSpPr>
        <p:spPr>
          <a:xfrm>
            <a:off x="658368" y="2048256"/>
            <a:ext cx="2322576" cy="1572768"/>
          </a:xfrm>
          <a:prstGeom prst="roundRect">
            <a:avLst/>
          </a:prstGeom>
          <a:solidFill>
            <a:srgbClr val="EFF6FF"/>
          </a:solidFill>
          <a:ln w="12700">
            <a:solidFill>
              <a:srgbClr val="EFF6FF"/>
            </a:solidFill>
            <a:prstDash val="solid"/>
          </a:ln>
        </p:spPr>
      </p:sp>
      <p:sp>
        <p:nvSpPr>
          <p:cNvPr id="6" name="body-text"/>
          <p:cNvSpPr/>
          <p:nvPr/>
        </p:nvSpPr>
        <p:spPr>
          <a:xfrm>
            <a:off x="804672" y="2249424"/>
            <a:ext cx="2029968" cy="256032"/>
          </a:xfrm>
          <a:prstGeom prst="rect">
            <a:avLst/>
          </a:prstGeom>
          <a:noFill/>
          <a:ln/>
        </p:spPr>
        <p:txBody>
          <a:bodyPr wrap="square" lIns="0" tIns="0" rIns="0" bIns="0" rtlCol="0" anchor="t"/>
          <a:lstStyle/>
          <a:p>
            <a:pPr algn="ctr" indent="0" marL="0">
              <a:buNone/>
            </a:pPr>
            <a:r>
              <a:rPr lang="en-US" sz="1140" b="1" dirty="0">
                <a:solidFill>
                  <a:srgbClr val="1E3A8A"/>
                </a:solidFill>
                <a:latin typeface="Arial" pitchFamily="34" charset="0"/>
                <a:ea typeface="Arial" pitchFamily="34" charset="-122"/>
                <a:cs typeface="Arial" pitchFamily="34" charset="-120"/>
              </a:rPr>
              <a:t>Setup function</a:t>
            </a:r>
            <a:endParaRPr lang="en-US" sz="1140" dirty="0"/>
          </a:p>
        </p:txBody>
      </p:sp>
      <p:sp>
        <p:nvSpPr>
          <p:cNvPr id="7" name="body-text"/>
          <p:cNvSpPr/>
          <p:nvPr/>
        </p:nvSpPr>
        <p:spPr>
          <a:xfrm>
            <a:off x="822960" y="2706624"/>
            <a:ext cx="1993392" cy="658368"/>
          </a:xfrm>
          <a:prstGeom prst="rect">
            <a:avLst/>
          </a:prstGeom>
          <a:noFill/>
          <a:ln/>
        </p:spPr>
        <p:txBody>
          <a:bodyPr wrap="square" lIns="0" tIns="0" rIns="0" bIns="0" rtlCol="0" anchor="t"/>
          <a:lstStyle/>
          <a:p>
            <a:pPr algn="ctr" indent="0" marL="0">
              <a:buNone/>
            </a:pPr>
            <a:r>
              <a:rPr lang="en-US" sz="990" dirty="0">
                <a:solidFill>
                  <a:srgbClr val="0F172A"/>
                </a:solidFill>
                <a:latin typeface="Arial" pitchFamily="34" charset="0"/>
                <a:ea typeface="Arial" pitchFamily="34" charset="-122"/>
                <a:cs typeface="Arial" pitchFamily="34" charset="-120"/>
              </a:rPr>
              <a:t>Contains synchronization logic. Here it defines the visibility handler and registers the listener.</a:t>
            </a:r>
            <a:endParaRPr lang="en-US" sz="990" dirty="0"/>
          </a:p>
        </p:txBody>
      </p:sp>
      <p:sp>
        <p:nvSpPr>
          <p:cNvPr id="8" name="anatomy-1"/>
          <p:cNvSpPr/>
          <p:nvPr/>
        </p:nvSpPr>
        <p:spPr>
          <a:xfrm>
            <a:off x="3191256" y="2048256"/>
            <a:ext cx="2322576" cy="1572768"/>
          </a:xfrm>
          <a:prstGeom prst="roundRect">
            <a:avLst/>
          </a:prstGeom>
          <a:solidFill>
            <a:srgbClr val="FEE2E2"/>
          </a:solidFill>
          <a:ln w="12700">
            <a:solidFill>
              <a:srgbClr val="FEE2E2"/>
            </a:solidFill>
            <a:prstDash val="solid"/>
          </a:ln>
        </p:spPr>
      </p:sp>
      <p:sp>
        <p:nvSpPr>
          <p:cNvPr id="9" name="body-text"/>
          <p:cNvSpPr/>
          <p:nvPr/>
        </p:nvSpPr>
        <p:spPr>
          <a:xfrm>
            <a:off x="3337560" y="2249424"/>
            <a:ext cx="2029968" cy="256032"/>
          </a:xfrm>
          <a:prstGeom prst="rect">
            <a:avLst/>
          </a:prstGeom>
          <a:noFill/>
          <a:ln/>
        </p:spPr>
        <p:txBody>
          <a:bodyPr wrap="square" lIns="0" tIns="0" rIns="0" bIns="0" rtlCol="0" anchor="t"/>
          <a:lstStyle/>
          <a:p>
            <a:pPr algn="ctr" indent="0" marL="0">
              <a:buNone/>
            </a:pPr>
            <a:r>
              <a:rPr lang="en-US" sz="1140" b="1" dirty="0">
                <a:solidFill>
                  <a:srgbClr val="991B1B"/>
                </a:solidFill>
                <a:latin typeface="Arial" pitchFamily="34" charset="0"/>
                <a:ea typeface="Arial" pitchFamily="34" charset="-122"/>
                <a:cs typeface="Arial" pitchFamily="34" charset="-120"/>
              </a:rPr>
              <a:t>Cleanup function</a:t>
            </a:r>
            <a:endParaRPr lang="en-US" sz="1140" dirty="0"/>
          </a:p>
        </p:txBody>
      </p:sp>
      <p:sp>
        <p:nvSpPr>
          <p:cNvPr id="10" name="body-text"/>
          <p:cNvSpPr/>
          <p:nvPr/>
        </p:nvSpPr>
        <p:spPr>
          <a:xfrm>
            <a:off x="3355848" y="2706624"/>
            <a:ext cx="1993392" cy="658368"/>
          </a:xfrm>
          <a:prstGeom prst="rect">
            <a:avLst/>
          </a:prstGeom>
          <a:noFill/>
          <a:ln/>
        </p:spPr>
        <p:txBody>
          <a:bodyPr wrap="square" lIns="0" tIns="0" rIns="0" bIns="0" rtlCol="0" anchor="t"/>
          <a:lstStyle/>
          <a:p>
            <a:pPr algn="ctr" indent="0" marL="0">
              <a:buNone/>
            </a:pPr>
            <a:r>
              <a:rPr lang="en-US" sz="990" dirty="0">
                <a:solidFill>
                  <a:srgbClr val="0F172A"/>
                </a:solidFill>
                <a:latin typeface="Arial" pitchFamily="34" charset="0"/>
                <a:ea typeface="Arial" pitchFamily="34" charset="-122"/>
                <a:cs typeface="Arial" pitchFamily="34" charset="-120"/>
              </a:rPr>
              <a:t>Optional function returned by setup. Here it removes the listener created by setup.</a:t>
            </a:r>
            <a:endParaRPr lang="en-US" sz="990" dirty="0"/>
          </a:p>
        </p:txBody>
      </p:sp>
      <p:sp>
        <p:nvSpPr>
          <p:cNvPr id="11" name="anatomy-2"/>
          <p:cNvSpPr/>
          <p:nvPr/>
        </p:nvSpPr>
        <p:spPr>
          <a:xfrm>
            <a:off x="5724144" y="2048256"/>
            <a:ext cx="2322576" cy="1572768"/>
          </a:xfrm>
          <a:prstGeom prst="roundRect">
            <a:avLst/>
          </a:prstGeom>
          <a:solidFill>
            <a:srgbClr val="DCFCE7"/>
          </a:solidFill>
          <a:ln w="12700">
            <a:solidFill>
              <a:srgbClr val="DCFCE7"/>
            </a:solidFill>
            <a:prstDash val="solid"/>
          </a:ln>
        </p:spPr>
      </p:sp>
      <p:sp>
        <p:nvSpPr>
          <p:cNvPr id="12" name="body-text"/>
          <p:cNvSpPr/>
          <p:nvPr/>
        </p:nvSpPr>
        <p:spPr>
          <a:xfrm>
            <a:off x="5870448" y="2249424"/>
            <a:ext cx="2029968" cy="256032"/>
          </a:xfrm>
          <a:prstGeom prst="rect">
            <a:avLst/>
          </a:prstGeom>
          <a:noFill/>
          <a:ln/>
        </p:spPr>
        <p:txBody>
          <a:bodyPr wrap="square" lIns="0" tIns="0" rIns="0" bIns="0" rtlCol="0" anchor="t"/>
          <a:lstStyle/>
          <a:p>
            <a:pPr algn="ctr" indent="0" marL="0">
              <a:buNone/>
            </a:pPr>
            <a:r>
              <a:rPr lang="en-US" sz="1140" b="1" dirty="0">
                <a:solidFill>
                  <a:srgbClr val="166534"/>
                </a:solidFill>
                <a:latin typeface="Arial" pitchFamily="34" charset="0"/>
                <a:ea typeface="Arial" pitchFamily="34" charset="-122"/>
                <a:cs typeface="Arial" pitchFamily="34" charset="-120"/>
              </a:rPr>
              <a:t>Dependency list</a:t>
            </a:r>
            <a:endParaRPr lang="en-US" sz="1140" dirty="0"/>
          </a:p>
        </p:txBody>
      </p:sp>
      <p:sp>
        <p:nvSpPr>
          <p:cNvPr id="13" name="body-text"/>
          <p:cNvSpPr/>
          <p:nvPr/>
        </p:nvSpPr>
        <p:spPr>
          <a:xfrm>
            <a:off x="5888736" y="2706624"/>
            <a:ext cx="1993392" cy="658368"/>
          </a:xfrm>
          <a:prstGeom prst="rect">
            <a:avLst/>
          </a:prstGeom>
          <a:noFill/>
          <a:ln/>
        </p:spPr>
        <p:txBody>
          <a:bodyPr wrap="square" lIns="0" tIns="0" rIns="0" bIns="0" rtlCol="0" anchor="t"/>
          <a:lstStyle/>
          <a:p>
            <a:pPr algn="ctr" indent="0" marL="0">
              <a:buNone/>
            </a:pPr>
            <a:r>
              <a:rPr lang="en-US" sz="990" dirty="0">
                <a:solidFill>
                  <a:srgbClr val="0F172A"/>
                </a:solidFill>
                <a:latin typeface="Arial" pitchFamily="34" charset="0"/>
                <a:ea typeface="Arial" pitchFamily="34" charset="-122"/>
                <a:cs typeface="Arial" pitchFamily="34" charset="-120"/>
              </a:rPr>
              <a:t>Reactive values the Effect depends on. Our first Effect currently uses [].</a:t>
            </a:r>
            <a:endParaRPr lang="en-US" sz="990" dirty="0"/>
          </a:p>
        </p:txBody>
      </p:sp>
      <p:sp>
        <p:nvSpPr>
          <p:cNvPr id="14" name="body-text"/>
          <p:cNvSpPr/>
          <p:nvPr/>
        </p:nvSpPr>
        <p:spPr>
          <a:xfrm>
            <a:off x="987552" y="3968496"/>
            <a:ext cx="7095744" cy="493776"/>
          </a:xfrm>
          <a:prstGeom prst="rect">
            <a:avLst/>
          </a:prstGeom>
          <a:noFill/>
          <a:ln/>
        </p:spPr>
        <p:txBody>
          <a:bodyPr wrap="square" lIns="0" tIns="0" rIns="0" bIns="0" rtlCol="0" anchor="t"/>
          <a:lstStyle/>
          <a:p>
            <a:pPr algn="ctr" indent="0" marL="0">
              <a:buNone/>
            </a:pPr>
            <a:r>
              <a:rPr lang="en-US" sz="1070" b="1" dirty="0">
                <a:solidFill>
                  <a:srgbClr val="475569"/>
                </a:solidFill>
                <a:latin typeface="Arial" pitchFamily="34" charset="0"/>
                <a:ea typeface="Arial" pitchFamily="34" charset="-122"/>
                <a:cs typeface="Arial" pitchFamily="34" charset="-120"/>
              </a:rPr>
              <a:t>We have identified the dependency syntax. The next section explains why this list is empty and what changes when state becomes a dependency.</a:t>
            </a:r>
            <a:endParaRPr lang="en-US" sz="107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Checkpoint: Does this need an Effect?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CHECKPOINT</a:t>
            </a:r>
            <a:endParaRPr lang="en-US" sz="940" dirty="0"/>
          </a:p>
        </p:txBody>
      </p:sp>
      <p:sp>
        <p:nvSpPr>
          <p:cNvPr id="4" name="scenario-A"/>
          <p:cNvSpPr/>
          <p:nvPr/>
        </p:nvSpPr>
        <p:spPr>
          <a:xfrm>
            <a:off x="658368" y="1152144"/>
            <a:ext cx="2322576" cy="1572768"/>
          </a:xfrm>
          <a:prstGeom prst="roundRect">
            <a:avLst/>
          </a:prstGeom>
          <a:solidFill>
            <a:srgbClr val="FFFFFF"/>
          </a:solidFill>
          <a:ln w="12700">
            <a:solidFill>
              <a:srgbClr val="CBD5E1"/>
            </a:solidFill>
            <a:prstDash val="solid"/>
          </a:ln>
        </p:spPr>
      </p:sp>
      <p:sp>
        <p:nvSpPr>
          <p:cNvPr id="5" name="pill"/>
          <p:cNvSpPr/>
          <p:nvPr/>
        </p:nvSpPr>
        <p:spPr>
          <a:xfrm>
            <a:off x="804672" y="1298448"/>
            <a:ext cx="310896"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a:t>
            </a:r>
            <a:endParaRPr lang="en-US" sz="1000" dirty="0"/>
          </a:p>
        </p:txBody>
      </p:sp>
      <p:sp>
        <p:nvSpPr>
          <p:cNvPr id="6" name="body-text"/>
          <p:cNvSpPr/>
          <p:nvPr/>
        </p:nvSpPr>
        <p:spPr>
          <a:xfrm>
            <a:off x="804672" y="1755648"/>
            <a:ext cx="2029968" cy="256032"/>
          </a:xfrm>
          <a:prstGeom prst="rect">
            <a:avLst/>
          </a:prstGeom>
          <a:noFill/>
          <a:ln/>
        </p:spPr>
        <p:txBody>
          <a:bodyPr wrap="square" lIns="0" tIns="0" rIns="0" bIns="0" rtlCol="0" anchor="t"/>
          <a:lstStyle/>
          <a:p>
            <a:pPr algn="l" indent="0" marL="0">
              <a:buNone/>
            </a:pPr>
            <a:r>
              <a:rPr lang="en-US" sz="1100" b="1" dirty="0">
                <a:solidFill>
                  <a:srgbClr val="1E3A8A"/>
                </a:solidFill>
                <a:latin typeface="Arial" pitchFamily="34" charset="0"/>
                <a:ea typeface="Arial" pitchFamily="34" charset="-122"/>
                <a:cs typeface="Arial" pitchFamily="34" charset="-120"/>
              </a:rPr>
              <a:t>Display a full name</a:t>
            </a:r>
            <a:endParaRPr lang="en-US" sz="1100" dirty="0"/>
          </a:p>
        </p:txBody>
      </p:sp>
      <p:sp>
        <p:nvSpPr>
          <p:cNvPr id="7" name="body-text"/>
          <p:cNvSpPr/>
          <p:nvPr/>
        </p:nvSpPr>
        <p:spPr>
          <a:xfrm>
            <a:off x="804672" y="2139696"/>
            <a:ext cx="2029968" cy="438912"/>
          </a:xfrm>
          <a:prstGeom prst="rect">
            <a:avLst/>
          </a:prstGeom>
          <a:noFill/>
          <a:ln/>
        </p:spPr>
        <p:txBody>
          <a:bodyPr wrap="square" lIns="0" tIns="0" rIns="0" bIns="0" rtlCol="0" anchor="t"/>
          <a:lstStyle/>
          <a:p>
            <a:pPr algn="l" indent="0" marL="0">
              <a:buNone/>
            </a:pPr>
            <a:r>
              <a:rPr lang="en-US" sz="960" dirty="0">
                <a:solidFill>
                  <a:srgbClr val="475569"/>
                </a:solidFill>
                <a:latin typeface="Arial" pitchFamily="34" charset="0"/>
                <a:ea typeface="Arial" pitchFamily="34" charset="-122"/>
                <a:cs typeface="Arial" pitchFamily="34" charset="-120"/>
              </a:rPr>
              <a:t>Combine firstName and lastName already available in the component.</a:t>
            </a:r>
            <a:endParaRPr lang="en-US" sz="960" dirty="0"/>
          </a:p>
        </p:txBody>
      </p:sp>
      <p:sp>
        <p:nvSpPr>
          <p:cNvPr id="8" name="scenario-B"/>
          <p:cNvSpPr/>
          <p:nvPr/>
        </p:nvSpPr>
        <p:spPr>
          <a:xfrm>
            <a:off x="3200400" y="1152144"/>
            <a:ext cx="2322576" cy="1572768"/>
          </a:xfrm>
          <a:prstGeom prst="roundRect">
            <a:avLst/>
          </a:prstGeom>
          <a:solidFill>
            <a:srgbClr val="FFFFFF"/>
          </a:solidFill>
          <a:ln w="12700">
            <a:solidFill>
              <a:srgbClr val="CBD5E1"/>
            </a:solidFill>
            <a:prstDash val="solid"/>
          </a:ln>
        </p:spPr>
      </p:sp>
      <p:sp>
        <p:nvSpPr>
          <p:cNvPr id="9" name="pill"/>
          <p:cNvSpPr/>
          <p:nvPr/>
        </p:nvSpPr>
        <p:spPr>
          <a:xfrm>
            <a:off x="3346704" y="1298448"/>
            <a:ext cx="310896"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a:t>
            </a:r>
            <a:endParaRPr lang="en-US" sz="1000" dirty="0"/>
          </a:p>
        </p:txBody>
      </p:sp>
      <p:sp>
        <p:nvSpPr>
          <p:cNvPr id="10" name="body-text"/>
          <p:cNvSpPr/>
          <p:nvPr/>
        </p:nvSpPr>
        <p:spPr>
          <a:xfrm>
            <a:off x="3346704" y="1755648"/>
            <a:ext cx="2029968" cy="256032"/>
          </a:xfrm>
          <a:prstGeom prst="rect">
            <a:avLst/>
          </a:prstGeom>
          <a:noFill/>
          <a:ln/>
        </p:spPr>
        <p:txBody>
          <a:bodyPr wrap="square" lIns="0" tIns="0" rIns="0" bIns="0" rtlCol="0" anchor="t"/>
          <a:lstStyle/>
          <a:p>
            <a:pPr algn="l" indent="0" marL="0">
              <a:buNone/>
            </a:pPr>
            <a:r>
              <a:rPr lang="en-US" sz="1100" b="1" dirty="0">
                <a:solidFill>
                  <a:srgbClr val="1E3A8A"/>
                </a:solidFill>
                <a:latin typeface="Arial" pitchFamily="34" charset="0"/>
                <a:ea typeface="Arial" pitchFamily="34" charset="-122"/>
                <a:cs typeface="Arial" pitchFamily="34" charset="-120"/>
              </a:rPr>
              <a:t>Copy an email address</a:t>
            </a:r>
            <a:endParaRPr lang="en-US" sz="1100" dirty="0"/>
          </a:p>
        </p:txBody>
      </p:sp>
      <p:sp>
        <p:nvSpPr>
          <p:cNvPr id="11" name="body-text"/>
          <p:cNvSpPr/>
          <p:nvPr/>
        </p:nvSpPr>
        <p:spPr>
          <a:xfrm>
            <a:off x="3346704" y="2139696"/>
            <a:ext cx="2029968" cy="438912"/>
          </a:xfrm>
          <a:prstGeom prst="rect">
            <a:avLst/>
          </a:prstGeom>
          <a:noFill/>
          <a:ln/>
        </p:spPr>
        <p:txBody>
          <a:bodyPr wrap="square" lIns="0" tIns="0" rIns="0" bIns="0" rtlCol="0" anchor="t"/>
          <a:lstStyle/>
          <a:p>
            <a:pPr algn="l" indent="0" marL="0">
              <a:buNone/>
            </a:pPr>
            <a:r>
              <a:rPr lang="en-US" sz="960" dirty="0">
                <a:solidFill>
                  <a:srgbClr val="475569"/>
                </a:solidFill>
                <a:latin typeface="Arial" pitchFamily="34" charset="0"/>
                <a:ea typeface="Arial" pitchFamily="34" charset="-122"/>
                <a:cs typeface="Arial" pitchFamily="34" charset="-120"/>
              </a:rPr>
              <a:t>The user clicks Copy email and the app copies the displayed address.</a:t>
            </a:r>
            <a:endParaRPr lang="en-US" sz="960" dirty="0"/>
          </a:p>
        </p:txBody>
      </p:sp>
      <p:sp>
        <p:nvSpPr>
          <p:cNvPr id="12" name="scenario-C"/>
          <p:cNvSpPr/>
          <p:nvPr/>
        </p:nvSpPr>
        <p:spPr>
          <a:xfrm>
            <a:off x="5742432" y="1152144"/>
            <a:ext cx="2322576" cy="1572768"/>
          </a:xfrm>
          <a:prstGeom prst="roundRect">
            <a:avLst/>
          </a:prstGeom>
          <a:solidFill>
            <a:srgbClr val="FFFFFF"/>
          </a:solidFill>
          <a:ln w="12700">
            <a:solidFill>
              <a:srgbClr val="CBD5E1"/>
            </a:solidFill>
            <a:prstDash val="solid"/>
          </a:ln>
        </p:spPr>
      </p:sp>
      <p:sp>
        <p:nvSpPr>
          <p:cNvPr id="13" name="pill"/>
          <p:cNvSpPr/>
          <p:nvPr/>
        </p:nvSpPr>
        <p:spPr>
          <a:xfrm>
            <a:off x="5888736" y="1298448"/>
            <a:ext cx="310896"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a:t>
            </a:r>
            <a:endParaRPr lang="en-US" sz="1000" dirty="0"/>
          </a:p>
        </p:txBody>
      </p:sp>
      <p:sp>
        <p:nvSpPr>
          <p:cNvPr id="14" name="body-text"/>
          <p:cNvSpPr/>
          <p:nvPr/>
        </p:nvSpPr>
        <p:spPr>
          <a:xfrm>
            <a:off x="5888736" y="1755648"/>
            <a:ext cx="2029968" cy="256032"/>
          </a:xfrm>
          <a:prstGeom prst="rect">
            <a:avLst/>
          </a:prstGeom>
          <a:noFill/>
          <a:ln/>
        </p:spPr>
        <p:txBody>
          <a:bodyPr wrap="square" lIns="0" tIns="0" rIns="0" bIns="0" rtlCol="0" anchor="t"/>
          <a:lstStyle/>
          <a:p>
            <a:pPr algn="l" indent="0" marL="0">
              <a:buNone/>
            </a:pPr>
            <a:r>
              <a:rPr lang="en-US" sz="1100" b="1" dirty="0">
                <a:solidFill>
                  <a:srgbClr val="1E3A8A"/>
                </a:solidFill>
                <a:latin typeface="Arial" pitchFamily="34" charset="0"/>
                <a:ea typeface="Arial" pitchFamily="34" charset="-122"/>
                <a:cs typeface="Arial" pitchFamily="34" charset="-120"/>
              </a:rPr>
              <a:t>Track browser width</a:t>
            </a:r>
            <a:endParaRPr lang="en-US" sz="1100" dirty="0"/>
          </a:p>
        </p:txBody>
      </p:sp>
      <p:sp>
        <p:nvSpPr>
          <p:cNvPr id="15" name="body-text"/>
          <p:cNvSpPr/>
          <p:nvPr/>
        </p:nvSpPr>
        <p:spPr>
          <a:xfrm>
            <a:off x="5888736" y="2139696"/>
            <a:ext cx="2029968" cy="438912"/>
          </a:xfrm>
          <a:prstGeom prst="rect">
            <a:avLst/>
          </a:prstGeom>
          <a:noFill/>
          <a:ln/>
        </p:spPr>
        <p:txBody>
          <a:bodyPr wrap="square" lIns="0" tIns="0" rIns="0" bIns="0" rtlCol="0" anchor="t"/>
          <a:lstStyle/>
          <a:p>
            <a:pPr algn="l" indent="0" marL="0">
              <a:buNone/>
            </a:pPr>
            <a:r>
              <a:rPr lang="en-US" sz="960" dirty="0">
                <a:solidFill>
                  <a:srgbClr val="475569"/>
                </a:solidFill>
                <a:latin typeface="Arial" pitchFamily="34" charset="0"/>
                <a:ea typeface="Arial" pitchFamily="34" charset="-122"/>
                <a:cs typeface="Arial" pitchFamily="34" charset="-120"/>
              </a:rPr>
              <a:t>While a dashboard is present, listen for resize events and display window width.</a:t>
            </a:r>
            <a:endParaRPr lang="en-US" sz="960" dirty="0"/>
          </a:p>
        </p:txBody>
      </p:sp>
      <p:sp>
        <p:nvSpPr>
          <p:cNvPr id="16" name="body-text"/>
          <p:cNvSpPr/>
          <p:nvPr/>
        </p:nvSpPr>
        <p:spPr>
          <a:xfrm>
            <a:off x="1225296" y="2962656"/>
            <a:ext cx="6583680" cy="256032"/>
          </a:xfrm>
          <a:prstGeom prst="rect">
            <a:avLst/>
          </a:prstGeom>
          <a:noFill/>
          <a:ln/>
        </p:spPr>
        <p:txBody>
          <a:bodyPr wrap="square" lIns="0" tIns="0" rIns="0" bIns="0" rtlCol="0" anchor="t"/>
          <a:lstStyle/>
          <a:p>
            <a:pPr algn="ctr" indent="0" marL="0">
              <a:buNone/>
            </a:pPr>
            <a:r>
              <a:rPr lang="en-US" sz="1120" b="1" dirty="0">
                <a:solidFill>
                  <a:srgbClr val="0F172A"/>
                </a:solidFill>
                <a:latin typeface="Arial" pitchFamily="34" charset="0"/>
                <a:ea typeface="Arial" pitchFamily="34" charset="-122"/>
                <a:cs typeface="Arial" pitchFamily="34" charset="-120"/>
              </a:rPr>
              <a:t>Choose the best place for each: Rendering · Event handler · Effect</a:t>
            </a:r>
            <a:endParaRPr lang="en-US" sz="1120" dirty="0"/>
          </a:p>
        </p:txBody>
      </p:sp>
      <p:sp>
        <p:nvSpPr>
          <p:cNvPr id="17" name="answer-box"/>
          <p:cNvSpPr/>
          <p:nvPr/>
        </p:nvSpPr>
        <p:spPr>
          <a:xfrm>
            <a:off x="658368" y="3456432"/>
            <a:ext cx="7443216" cy="877824"/>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1000" b="1" dirty="0">
                <a:solidFill>
                  <a:srgbClr val="166534"/>
                </a:solidFill>
                <a:latin typeface="Arial" pitchFamily="34" charset="0"/>
                <a:ea typeface="Arial" pitchFamily="34" charset="-122"/>
                <a:cs typeface="Arial" pitchFamily="34" charset="-120"/>
              </a:rPr>
              <a:t>Answer: </a:t>
            </a:r>
            <a:pPr indent="0" marL="0">
              <a:buNone/>
            </a:pPr>
            <a:r>
              <a:rPr lang="en-US" sz="1000" b="1" dirty="0">
                <a:solidFill>
                  <a:srgbClr val="0F172A"/>
                </a:solidFill>
                <a:latin typeface="Arial" pitchFamily="34" charset="0"/>
                <a:ea typeface="Arial" pitchFamily="34" charset="-122"/>
                <a:cs typeface="Arial" pitchFamily="34" charset="-120"/>
              </a:rPr>
              <a:t>A — Rendering   ·   B — Event handler   ·   C — Effect</a:t>
            </a:r>
            <a:pPr indent="0" marL="0">
              <a:buNone/>
            </a:pPr>
            <a:endParaRPr lang="en-US" sz="1000" dirty="0"/>
          </a:p>
          <a:p>
            <a:pPr indent="0" marL="0">
              <a:buNone/>
            </a:pPr>
            <a:r>
              <a:rPr lang="en-US" sz="1000" b="1" dirty="0">
                <a:solidFill>
                  <a:srgbClr val="166534"/>
                </a:solidFill>
                <a:latin typeface="Arial" pitchFamily="34" charset="0"/>
                <a:ea typeface="Arial" pitchFamily="34" charset="-122"/>
                <a:cs typeface="Arial" pitchFamily="34" charset="-120"/>
              </a:rPr>
              <a:t>Why: </a:t>
            </a:r>
            <a:endParaRPr lang="en-US" sz="1000" dirty="0"/>
          </a:p>
          <a:p>
            <a:pPr indent="0" marL="0">
              <a:buNone/>
            </a:pPr>
            <a:r>
              <a:rPr lang="en-US" sz="1000" dirty="0">
                <a:solidFill>
                  <a:srgbClr val="0F172A"/>
                </a:solidFill>
                <a:latin typeface="Arial" pitchFamily="34" charset="0"/>
                <a:ea typeface="Arial" pitchFamily="34" charset="-122"/>
                <a:cs typeface="Arial" pitchFamily="34" charset="-120"/>
              </a:rPr>
              <a:t>A is derived from existing data. B is caused by a specific click. C requires ongoing coordination with a browser event while the component is present.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Checkpoint: What cleanup is missing?</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CHECKPOINT</a:t>
            </a:r>
            <a:endParaRPr lang="en-US" sz="940" dirty="0"/>
          </a:p>
        </p:txBody>
      </p:sp>
      <p:sp>
        <p:nvSpPr>
          <p:cNvPr id="4" name="resize-effect"/>
          <p:cNvSpPr/>
          <p:nvPr/>
        </p:nvSpPr>
        <p:spPr>
          <a:xfrm>
            <a:off x="694944" y="1060704"/>
            <a:ext cx="3840480" cy="235915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useEffect(() =&gt;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function handleResize()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setWidth(window.innerWidth);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window.addEventListener(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"resize", handleResize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p:txBody>
      </p:sp>
      <p:sp>
        <p:nvSpPr>
          <p:cNvPr id="5" name="cleanup-question"/>
          <p:cNvSpPr/>
          <p:nvPr/>
        </p:nvSpPr>
        <p:spPr>
          <a:xfrm>
            <a:off x="4809744" y="1060704"/>
            <a:ext cx="3255264" cy="1207008"/>
          </a:xfrm>
          <a:prstGeom prst="roundRect">
            <a:avLst/>
          </a:prstGeom>
          <a:solidFill>
            <a:srgbClr val="FEF9C3"/>
          </a:solidFill>
          <a:ln w="12700">
            <a:solidFill>
              <a:srgbClr val="FEF9C3"/>
            </a:solidFill>
            <a:prstDash val="solid"/>
          </a:ln>
        </p:spPr>
      </p:sp>
      <p:sp>
        <p:nvSpPr>
          <p:cNvPr id="6" name="body-text"/>
          <p:cNvSpPr/>
          <p:nvPr/>
        </p:nvSpPr>
        <p:spPr>
          <a:xfrm>
            <a:off x="5029200" y="1371600"/>
            <a:ext cx="2816352" cy="384048"/>
          </a:xfrm>
          <a:prstGeom prst="rect">
            <a:avLst/>
          </a:prstGeom>
          <a:noFill/>
          <a:ln/>
        </p:spPr>
        <p:txBody>
          <a:bodyPr wrap="square" lIns="0" tIns="0" rIns="0" bIns="0" rtlCol="0" anchor="t"/>
          <a:lstStyle/>
          <a:p>
            <a:pPr algn="ctr" indent="0" marL="0">
              <a:buNone/>
            </a:pPr>
            <a:r>
              <a:rPr lang="en-US" sz="1200" b="1" dirty="0">
                <a:solidFill>
                  <a:srgbClr val="854D0E"/>
                </a:solidFill>
                <a:latin typeface="Arial" pitchFamily="34" charset="0"/>
                <a:ea typeface="Arial" pitchFamily="34" charset="-122"/>
                <a:cs typeface="Arial" pitchFamily="34" charset="-120"/>
              </a:rPr>
              <a:t>What should this Effect add, and why?</a:t>
            </a:r>
            <a:endParaRPr lang="en-US" sz="1200" dirty="0"/>
          </a:p>
        </p:txBody>
      </p:sp>
      <p:sp>
        <p:nvSpPr>
          <p:cNvPr id="7" name="resize-cleanup"/>
          <p:cNvSpPr/>
          <p:nvPr/>
        </p:nvSpPr>
        <p:spPr>
          <a:xfrm>
            <a:off x="4809744" y="2542032"/>
            <a:ext cx="3255264" cy="102412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20" dirty="0">
                <a:solidFill>
                  <a:srgbClr val="FFFFFF"/>
                </a:solidFill>
                <a:latin typeface="Courier New" pitchFamily="34" charset="0"/>
                <a:ea typeface="Courier New" pitchFamily="34" charset="-122"/>
                <a:cs typeface="Courier New" pitchFamily="34" charset="-120"/>
              </a:rPr>
              <a:t>return () =&gt; {</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window.removeEventListener(</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"resize", handleResize</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a:t>
            </a:r>
            <a:endParaRPr lang="en-US" sz="1020" dirty="0"/>
          </a:p>
        </p:txBody>
      </p:sp>
      <p:sp>
        <p:nvSpPr>
          <p:cNvPr id="8" name="answer-box"/>
          <p:cNvSpPr/>
          <p:nvPr/>
        </p:nvSpPr>
        <p:spPr>
          <a:xfrm>
            <a:off x="694944" y="3767328"/>
            <a:ext cx="7370064" cy="786384"/>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1000" b="1" dirty="0">
                <a:solidFill>
                  <a:srgbClr val="166534"/>
                </a:solidFill>
                <a:latin typeface="Arial" pitchFamily="34" charset="0"/>
                <a:ea typeface="Arial" pitchFamily="34" charset="-122"/>
                <a:cs typeface="Arial" pitchFamily="34" charset="-120"/>
              </a:rPr>
              <a:t>Answer: </a:t>
            </a:r>
            <a:pPr indent="0" marL="0">
              <a:buNone/>
            </a:pPr>
            <a:r>
              <a:rPr lang="en-US" sz="1000" b="1" dirty="0">
                <a:solidFill>
                  <a:srgbClr val="0F172A"/>
                </a:solidFill>
                <a:latin typeface="Arial" pitchFamily="34" charset="0"/>
                <a:ea typeface="Arial" pitchFamily="34" charset="-122"/>
                <a:cs typeface="Arial" pitchFamily="34" charset="-120"/>
              </a:rPr>
              <a:t>Return a cleanup function that removes the resize listener.</a:t>
            </a:r>
            <a:pPr indent="0" marL="0">
              <a:buNone/>
            </a:pPr>
            <a:endParaRPr lang="en-US" sz="1000" dirty="0"/>
          </a:p>
          <a:p>
            <a:pPr indent="0" marL="0">
              <a:buNone/>
            </a:pPr>
            <a:r>
              <a:rPr lang="en-US" sz="1000" b="1" dirty="0">
                <a:solidFill>
                  <a:srgbClr val="166534"/>
                </a:solidFill>
                <a:latin typeface="Arial" pitchFamily="34" charset="0"/>
                <a:ea typeface="Arial" pitchFamily="34" charset="-122"/>
                <a:cs typeface="Arial" pitchFamily="34" charset="-120"/>
              </a:rPr>
              <a:t>Why: </a:t>
            </a:r>
            <a:endParaRPr lang="en-US" sz="1000" dirty="0"/>
          </a:p>
          <a:p>
            <a:pPr indent="0" marL="0">
              <a:buNone/>
            </a:pPr>
            <a:r>
              <a:rPr lang="en-US" sz="1000" dirty="0">
                <a:solidFill>
                  <a:srgbClr val="0F172A"/>
                </a:solidFill>
                <a:latin typeface="Arial" pitchFamily="34" charset="0"/>
                <a:ea typeface="Arial" pitchFamily="34" charset="-122"/>
                <a:cs typeface="Arial" pitchFamily="34" charset="-120"/>
              </a:rPr>
              <a:t>The Effect registered external behavior that continues after setup finishes. Cleanup should remove that ongoing browser listener when React tears down the setup.</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lide-title"/>
          <p:cNvSpPr/>
          <p:nvPr/>
        </p:nvSpPr>
        <p:spPr>
          <a:xfrm>
            <a:off x="548640" y="256032"/>
            <a:ext cx="64465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How Effects stay synchronized</a:t>
            </a:r>
            <a:endParaRPr lang="en-US" sz="2600" dirty="0"/>
          </a:p>
        </p:txBody>
      </p:sp>
      <p:sp>
        <p:nvSpPr>
          <p:cNvPr id="3" name="body-text"/>
          <p:cNvSpPr/>
          <p:nvPr/>
        </p:nvSpPr>
        <p:spPr>
          <a:xfrm>
            <a:off x="566928" y="1051560"/>
            <a:ext cx="7040880" cy="548640"/>
          </a:xfrm>
          <a:prstGeom prst="rect">
            <a:avLst/>
          </a:prstGeom>
          <a:noFill/>
          <a:ln/>
        </p:spPr>
        <p:txBody>
          <a:bodyPr wrap="square" lIns="0" tIns="0" rIns="0" bIns="0" rtlCol="0" anchor="t"/>
          <a:lstStyle/>
          <a:p>
            <a:pPr algn="l" indent="0" marL="0">
              <a:buNone/>
            </a:pPr>
            <a:r>
              <a:rPr lang="en-US" sz="1340" dirty="0">
                <a:solidFill>
                  <a:srgbClr val="475569"/>
                </a:solidFill>
                <a:latin typeface="Arial" pitchFamily="34" charset="0"/>
                <a:ea typeface="Arial" pitchFamily="34" charset="-122"/>
                <a:cs typeface="Arial" pitchFamily="34" charset="-120"/>
              </a:rPr>
              <a:t>Continue the same TabActivityDetector and let changing React state control whether synchronization stays active.</a:t>
            </a:r>
            <a:endParaRPr lang="en-US" sz="1340" dirty="0"/>
          </a:p>
        </p:txBody>
      </p:sp>
      <p:sp>
        <p:nvSpPr>
          <p:cNvPr id="4" name="section-step-0"/>
          <p:cNvSpPr/>
          <p:nvPr/>
        </p:nvSpPr>
        <p:spPr>
          <a:xfrm>
            <a:off x="713232" y="2267712"/>
            <a:ext cx="1298448" cy="658368"/>
          </a:xfrm>
          <a:prstGeom prst="roundRect">
            <a:avLst/>
          </a:prstGeom>
          <a:solidFill>
            <a:srgbClr val="F8FAFC"/>
          </a:solidFill>
          <a:ln w="12700">
            <a:solidFill>
              <a:srgbClr val="CBD5E1"/>
            </a:solidFill>
            <a:prstDash val="solid"/>
          </a:ln>
        </p:spPr>
      </p:sp>
      <p:sp>
        <p:nvSpPr>
          <p:cNvPr id="5" name="pill"/>
          <p:cNvSpPr/>
          <p:nvPr/>
        </p:nvSpPr>
        <p:spPr>
          <a:xfrm>
            <a:off x="822960"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1</a:t>
            </a:r>
            <a:endParaRPr lang="en-US" sz="920" dirty="0"/>
          </a:p>
        </p:txBody>
      </p:sp>
      <p:sp>
        <p:nvSpPr>
          <p:cNvPr id="6" name="body-text"/>
          <p:cNvSpPr/>
          <p:nvPr/>
        </p:nvSpPr>
        <p:spPr>
          <a:xfrm>
            <a:off x="1188720"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Warm-up</a:t>
            </a:r>
            <a:endParaRPr lang="en-US" sz="950" dirty="0"/>
          </a:p>
        </p:txBody>
      </p:sp>
      <p:sp>
        <p:nvSpPr>
          <p:cNvPr id="7" name="section-step-1"/>
          <p:cNvSpPr/>
          <p:nvPr/>
        </p:nvSpPr>
        <p:spPr>
          <a:xfrm>
            <a:off x="2240280" y="2267712"/>
            <a:ext cx="1298448" cy="658368"/>
          </a:xfrm>
          <a:prstGeom prst="roundRect">
            <a:avLst/>
          </a:prstGeom>
          <a:solidFill>
            <a:srgbClr val="F8FAFC"/>
          </a:solidFill>
          <a:ln w="12700">
            <a:solidFill>
              <a:srgbClr val="CBD5E1"/>
            </a:solidFill>
            <a:prstDash val="solid"/>
          </a:ln>
        </p:spPr>
      </p:sp>
      <p:sp>
        <p:nvSpPr>
          <p:cNvPr id="8" name="pill"/>
          <p:cNvSpPr/>
          <p:nvPr/>
        </p:nvSpPr>
        <p:spPr>
          <a:xfrm>
            <a:off x="2350008"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2</a:t>
            </a:r>
            <a:endParaRPr lang="en-US" sz="920" dirty="0"/>
          </a:p>
        </p:txBody>
      </p:sp>
      <p:sp>
        <p:nvSpPr>
          <p:cNvPr id="9" name="body-text"/>
          <p:cNvSpPr/>
          <p:nvPr/>
        </p:nvSpPr>
        <p:spPr>
          <a:xfrm>
            <a:off x="2715768"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Effects</a:t>
            </a:r>
            <a:endParaRPr lang="en-US" sz="950" dirty="0"/>
          </a:p>
        </p:txBody>
      </p:sp>
      <p:sp>
        <p:nvSpPr>
          <p:cNvPr id="10" name="section-step-2"/>
          <p:cNvSpPr/>
          <p:nvPr/>
        </p:nvSpPr>
        <p:spPr>
          <a:xfrm>
            <a:off x="3767328" y="2267712"/>
            <a:ext cx="1298448" cy="658368"/>
          </a:xfrm>
          <a:prstGeom prst="roundRect">
            <a:avLst/>
          </a:prstGeom>
          <a:solidFill>
            <a:srgbClr val="EFF6FF"/>
          </a:solidFill>
          <a:ln w="12700">
            <a:solidFill>
              <a:srgbClr val="93C5FD"/>
            </a:solidFill>
            <a:prstDash val="solid"/>
          </a:ln>
        </p:spPr>
      </p:sp>
      <p:sp>
        <p:nvSpPr>
          <p:cNvPr id="11" name="pill"/>
          <p:cNvSpPr/>
          <p:nvPr/>
        </p:nvSpPr>
        <p:spPr>
          <a:xfrm>
            <a:off x="3877056" y="2395728"/>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3</a:t>
            </a:r>
            <a:endParaRPr lang="en-US" sz="920" dirty="0"/>
          </a:p>
        </p:txBody>
      </p:sp>
      <p:sp>
        <p:nvSpPr>
          <p:cNvPr id="12" name="body-text"/>
          <p:cNvSpPr/>
          <p:nvPr/>
        </p:nvSpPr>
        <p:spPr>
          <a:xfrm>
            <a:off x="4242816" y="2368296"/>
            <a:ext cx="694944" cy="201168"/>
          </a:xfrm>
          <a:prstGeom prst="rect">
            <a:avLst/>
          </a:prstGeom>
          <a:noFill/>
          <a:ln/>
        </p:spPr>
        <p:txBody>
          <a:bodyPr wrap="square" lIns="0" tIns="0" rIns="0" bIns="0" rtlCol="0" anchor="t"/>
          <a:lstStyle/>
          <a:p>
            <a:pPr algn="l" indent="0" marL="0">
              <a:buNone/>
            </a:pPr>
            <a:r>
              <a:rPr lang="en-US" sz="950" b="1" dirty="0">
                <a:solidFill>
                  <a:srgbClr val="1E3A8A"/>
                </a:solidFill>
                <a:latin typeface="Arial" pitchFamily="34" charset="0"/>
                <a:ea typeface="Arial" pitchFamily="34" charset="-122"/>
                <a:cs typeface="Arial" pitchFamily="34" charset="-120"/>
              </a:rPr>
              <a:t>Dependencies</a:t>
            </a:r>
            <a:endParaRPr lang="en-US" sz="950" dirty="0"/>
          </a:p>
        </p:txBody>
      </p:sp>
      <p:sp>
        <p:nvSpPr>
          <p:cNvPr id="13" name="section-step-3"/>
          <p:cNvSpPr/>
          <p:nvPr/>
        </p:nvSpPr>
        <p:spPr>
          <a:xfrm>
            <a:off x="5294376" y="2267712"/>
            <a:ext cx="1298448" cy="658368"/>
          </a:xfrm>
          <a:prstGeom prst="roundRect">
            <a:avLst/>
          </a:prstGeom>
          <a:solidFill>
            <a:srgbClr val="F8FAFC"/>
          </a:solidFill>
          <a:ln w="12700">
            <a:solidFill>
              <a:srgbClr val="CBD5E1"/>
            </a:solidFill>
            <a:prstDash val="solid"/>
          </a:ln>
        </p:spPr>
      </p:sp>
      <p:sp>
        <p:nvSpPr>
          <p:cNvPr id="14" name="pill"/>
          <p:cNvSpPr/>
          <p:nvPr/>
        </p:nvSpPr>
        <p:spPr>
          <a:xfrm>
            <a:off x="5404104"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4</a:t>
            </a:r>
            <a:endParaRPr lang="en-US" sz="920" dirty="0"/>
          </a:p>
        </p:txBody>
      </p:sp>
      <p:sp>
        <p:nvSpPr>
          <p:cNvPr id="15" name="body-text"/>
          <p:cNvSpPr/>
          <p:nvPr/>
        </p:nvSpPr>
        <p:spPr>
          <a:xfrm>
            <a:off x="5769864"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External data</a:t>
            </a:r>
            <a:endParaRPr lang="en-US" sz="950" dirty="0"/>
          </a:p>
        </p:txBody>
      </p:sp>
      <p:sp>
        <p:nvSpPr>
          <p:cNvPr id="16" name="section-step-4"/>
          <p:cNvSpPr/>
          <p:nvPr/>
        </p:nvSpPr>
        <p:spPr>
          <a:xfrm>
            <a:off x="6821424" y="2267712"/>
            <a:ext cx="1298448" cy="658368"/>
          </a:xfrm>
          <a:prstGeom prst="roundRect">
            <a:avLst/>
          </a:prstGeom>
          <a:solidFill>
            <a:srgbClr val="F8FAFC"/>
          </a:solidFill>
          <a:ln w="12700">
            <a:solidFill>
              <a:srgbClr val="CBD5E1"/>
            </a:solidFill>
            <a:prstDash val="solid"/>
          </a:ln>
        </p:spPr>
      </p:sp>
      <p:sp>
        <p:nvSpPr>
          <p:cNvPr id="17" name="pill"/>
          <p:cNvSpPr/>
          <p:nvPr/>
        </p:nvSpPr>
        <p:spPr>
          <a:xfrm>
            <a:off x="6931152"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5</a:t>
            </a:r>
            <a:endParaRPr lang="en-US" sz="920" dirty="0"/>
          </a:p>
        </p:txBody>
      </p:sp>
      <p:sp>
        <p:nvSpPr>
          <p:cNvPr id="18" name="body-text"/>
          <p:cNvSpPr/>
          <p:nvPr/>
        </p:nvSpPr>
        <p:spPr>
          <a:xfrm>
            <a:off x="7296912"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Request states</a:t>
            </a:r>
            <a:endParaRPr lang="en-US" sz="950" dirty="0"/>
          </a:p>
        </p:txBody>
      </p:sp>
      <p:sp>
        <p:nvSpPr>
          <p:cNvPr id="19" name="section-rail"/>
          <p:cNvSpPr/>
          <p:nvPr/>
        </p:nvSpPr>
        <p:spPr>
          <a:xfrm>
            <a:off x="1005840" y="3328416"/>
            <a:ext cx="7095744" cy="0"/>
          </a:xfrm>
          <a:prstGeom prst="line">
            <a:avLst/>
          </a:prstGeom>
          <a:noFill/>
          <a:ln w="25400">
            <a:solidFill>
              <a:srgbClr val="CBD5E1"/>
            </a:solidFill>
            <a:prstDash val="solid"/>
          </a:ln>
        </p:spPr>
      </p:sp>
      <p:sp>
        <p:nvSpPr>
          <p:cNvPr id="20" name="section-current"/>
          <p:cNvSpPr/>
          <p:nvPr/>
        </p:nvSpPr>
        <p:spPr>
          <a:xfrm>
            <a:off x="4453128" y="3227832"/>
            <a:ext cx="201168" cy="201168"/>
          </a:xfrm>
          <a:prstGeom prst="ellipse">
            <a:avLst/>
          </a:prstGeom>
          <a:solidFill>
            <a:srgbClr val="1E3A8A"/>
          </a:solidFill>
          <a:ln w="12700">
            <a:solidFill>
              <a:srgbClr val="1E3A8A"/>
            </a:solidFill>
            <a:prstDash val="solid"/>
          </a:ln>
        </p:spPr>
      </p:sp>
      <p:sp>
        <p:nvSpPr>
          <p:cNvPr id="21" name="body-text"/>
          <p:cNvSpPr/>
          <p:nvPr/>
        </p:nvSpPr>
        <p:spPr>
          <a:xfrm>
            <a:off x="713232" y="3785616"/>
            <a:ext cx="1005840" cy="201168"/>
          </a:xfrm>
          <a:prstGeom prst="rect">
            <a:avLst/>
          </a:prstGeom>
          <a:noFill/>
          <a:ln/>
        </p:spPr>
        <p:txBody>
          <a:bodyPr wrap="square" lIns="0" tIns="0" rIns="0" bIns="0" rtlCol="0" anchor="t"/>
          <a:lstStyle/>
          <a:p>
            <a:pPr algn="l" indent="0" marL="0">
              <a:buNone/>
            </a:pPr>
            <a:r>
              <a:rPr lang="en-US" sz="1000" b="1" dirty="0">
                <a:solidFill>
                  <a:srgbClr val="1E3A8A"/>
                </a:solidFill>
                <a:latin typeface="Arial" pitchFamily="34" charset="0"/>
                <a:ea typeface="Arial" pitchFamily="34" charset="-122"/>
                <a:cs typeface="Arial" pitchFamily="34" charset="-120"/>
              </a:rPr>
              <a:t>Section 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Make tab monitoring optional</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DEPENDENCIES</a:t>
            </a:r>
            <a:endParaRPr lang="en-US" sz="940" dirty="0"/>
          </a:p>
        </p:txBody>
      </p:sp>
      <p:sp>
        <p:nvSpPr>
          <p:cNvPr id="4" name="tracking-ui"/>
          <p:cNvSpPr/>
          <p:nvPr/>
        </p:nvSpPr>
        <p:spPr>
          <a:xfrm>
            <a:off x="658368" y="1078992"/>
            <a:ext cx="3566160" cy="2926080"/>
          </a:xfrm>
          <a:prstGeom prst="roundRect">
            <a:avLst/>
          </a:prstGeom>
          <a:solidFill>
            <a:srgbClr val="FFFFFF"/>
          </a:solidFill>
          <a:ln w="12700">
            <a:solidFill>
              <a:srgbClr val="CBD5E1"/>
            </a:solidFill>
            <a:prstDash val="solid"/>
          </a:ln>
        </p:spPr>
      </p:sp>
      <p:sp>
        <p:nvSpPr>
          <p:cNvPr id="5" name="tracking-ui-bar"/>
          <p:cNvSpPr/>
          <p:nvPr/>
        </p:nvSpPr>
        <p:spPr>
          <a:xfrm>
            <a:off x="658368" y="1078992"/>
            <a:ext cx="3566160" cy="310896"/>
          </a:xfrm>
          <a:prstGeom prst="rect">
            <a:avLst/>
          </a:prstGeom>
          <a:solidFill>
            <a:srgbClr val="F8FAFC"/>
          </a:solidFill>
          <a:ln w="8890">
            <a:solidFill>
              <a:srgbClr val="CBD5E1"/>
            </a:solidFill>
            <a:prstDash val="solid"/>
          </a:ln>
        </p:spPr>
      </p:sp>
      <p:sp>
        <p:nvSpPr>
          <p:cNvPr id="6" name="tracking-ui-dot0"/>
          <p:cNvSpPr/>
          <p:nvPr/>
        </p:nvSpPr>
        <p:spPr>
          <a:xfrm>
            <a:off x="768096" y="1188720"/>
            <a:ext cx="73152" cy="73152"/>
          </a:xfrm>
          <a:prstGeom prst="ellipse">
            <a:avLst/>
          </a:prstGeom>
          <a:solidFill>
            <a:srgbClr val="F87171"/>
          </a:solidFill>
          <a:ln w="12700">
            <a:solidFill>
              <a:srgbClr val="F87171"/>
            </a:solidFill>
            <a:prstDash val="solid"/>
          </a:ln>
        </p:spPr>
      </p:sp>
      <p:sp>
        <p:nvSpPr>
          <p:cNvPr id="7" name="tracking-ui-dot1"/>
          <p:cNvSpPr/>
          <p:nvPr/>
        </p:nvSpPr>
        <p:spPr>
          <a:xfrm>
            <a:off x="886968" y="1188720"/>
            <a:ext cx="73152" cy="73152"/>
          </a:xfrm>
          <a:prstGeom prst="ellipse">
            <a:avLst/>
          </a:prstGeom>
          <a:solidFill>
            <a:srgbClr val="FBBF24"/>
          </a:solidFill>
          <a:ln w="12700">
            <a:solidFill>
              <a:srgbClr val="FBBF24"/>
            </a:solidFill>
            <a:prstDash val="solid"/>
          </a:ln>
        </p:spPr>
      </p:sp>
      <p:sp>
        <p:nvSpPr>
          <p:cNvPr id="8" name="tracking-ui-dot2"/>
          <p:cNvSpPr/>
          <p:nvPr/>
        </p:nvSpPr>
        <p:spPr>
          <a:xfrm>
            <a:off x="1005840" y="1188720"/>
            <a:ext cx="73152" cy="73152"/>
          </a:xfrm>
          <a:prstGeom prst="ellipse">
            <a:avLst/>
          </a:prstGeom>
          <a:solidFill>
            <a:srgbClr val="34D399"/>
          </a:solidFill>
          <a:ln w="12700">
            <a:solidFill>
              <a:srgbClr val="34D399"/>
            </a:solidFill>
            <a:prstDash val="solid"/>
          </a:ln>
        </p:spPr>
      </p:sp>
      <p:sp>
        <p:nvSpPr>
          <p:cNvPr id="9" name="tracking-ui-title"/>
          <p:cNvSpPr/>
          <p:nvPr/>
        </p:nvSpPr>
        <p:spPr>
          <a:xfrm>
            <a:off x="1188720" y="1147572"/>
            <a:ext cx="2907792"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TabActivityDetector</a:t>
            </a:r>
            <a:endParaRPr lang="en-US" sz="920" dirty="0"/>
          </a:p>
        </p:txBody>
      </p:sp>
      <p:sp>
        <p:nvSpPr>
          <p:cNvPr id="10" name="body-text"/>
          <p:cNvSpPr/>
          <p:nvPr/>
        </p:nvSpPr>
        <p:spPr>
          <a:xfrm>
            <a:off x="950976" y="1572768"/>
            <a:ext cx="2907792" cy="219456"/>
          </a:xfrm>
          <a:prstGeom prst="rect">
            <a:avLst/>
          </a:prstGeom>
          <a:noFill/>
          <a:ln/>
        </p:spPr>
        <p:txBody>
          <a:bodyPr wrap="square" lIns="0" tIns="0" rIns="0" bIns="0" rtlCol="0" anchor="t"/>
          <a:lstStyle/>
          <a:p>
            <a:pPr algn="l" indent="0" marL="0">
              <a:buNone/>
            </a:pPr>
            <a:r>
              <a:rPr lang="en-US" sz="1320" b="1" dirty="0">
                <a:solidFill>
                  <a:srgbClr val="0F172A"/>
                </a:solidFill>
                <a:latin typeface="Arial" pitchFamily="34" charset="0"/>
                <a:ea typeface="Arial" pitchFamily="34" charset="-122"/>
                <a:cs typeface="Arial" pitchFamily="34" charset="-120"/>
              </a:rPr>
              <a:t>Tab activity</a:t>
            </a:r>
            <a:endParaRPr lang="en-US" sz="1320" dirty="0"/>
          </a:p>
        </p:txBody>
      </p:sp>
      <p:sp>
        <p:nvSpPr>
          <p:cNvPr id="11" name="body-text"/>
          <p:cNvSpPr/>
          <p:nvPr/>
        </p:nvSpPr>
        <p:spPr>
          <a:xfrm>
            <a:off x="1280160" y="2212848"/>
            <a:ext cx="1298448" cy="201168"/>
          </a:xfrm>
          <a:prstGeom prst="rect">
            <a:avLst/>
          </a:prstGeom>
          <a:noFill/>
          <a:ln/>
        </p:spPr>
        <p:txBody>
          <a:bodyPr wrap="square" lIns="0" tIns="0" rIns="0" bIns="0" rtlCol="0" anchor="t"/>
          <a:lstStyle/>
          <a:p>
            <a:pPr algn="l" indent="0" marL="0">
              <a:buNone/>
            </a:pPr>
            <a:r>
              <a:rPr lang="en-US" sz="1060" b="1" dirty="0">
                <a:solidFill>
                  <a:srgbClr val="0F172A"/>
                </a:solidFill>
                <a:latin typeface="Arial" pitchFamily="34" charset="0"/>
                <a:ea typeface="Arial" pitchFamily="34" charset="-122"/>
                <a:cs typeface="Arial" pitchFamily="34" charset="-120"/>
              </a:rPr>
              <a:t>Track tab activity</a:t>
            </a:r>
            <a:endParaRPr lang="en-US" sz="1060" dirty="0"/>
          </a:p>
        </p:txBody>
      </p:sp>
      <p:sp>
        <p:nvSpPr>
          <p:cNvPr id="12" name="checkbox"/>
          <p:cNvSpPr/>
          <p:nvPr/>
        </p:nvSpPr>
        <p:spPr>
          <a:xfrm>
            <a:off x="969264" y="2194560"/>
            <a:ext cx="201168" cy="201168"/>
          </a:xfrm>
          <a:prstGeom prst="rect">
            <a:avLst/>
          </a:prstGeom>
          <a:solidFill>
            <a:srgbClr val="FFFFFF"/>
          </a:solidFill>
          <a:ln w="15240">
            <a:solidFill>
              <a:srgbClr val="1E3A8A"/>
            </a:solidFill>
            <a:prstDash val="solid"/>
          </a:ln>
        </p:spPr>
      </p:sp>
      <p:sp>
        <p:nvSpPr>
          <p:cNvPr id="13" name="check1"/>
          <p:cNvSpPr/>
          <p:nvPr/>
        </p:nvSpPr>
        <p:spPr>
          <a:xfrm>
            <a:off x="1005840" y="2286000"/>
            <a:ext cx="54864" cy="54864"/>
          </a:xfrm>
          <a:prstGeom prst="line">
            <a:avLst/>
          </a:prstGeom>
          <a:noFill/>
          <a:ln w="17780">
            <a:solidFill>
              <a:srgbClr val="1E3A8A"/>
            </a:solidFill>
            <a:prstDash val="solid"/>
          </a:ln>
        </p:spPr>
      </p:sp>
      <p:sp>
        <p:nvSpPr>
          <p:cNvPr id="14" name="check2"/>
          <p:cNvSpPr/>
          <p:nvPr/>
        </p:nvSpPr>
        <p:spPr>
          <a:xfrm>
            <a:off x="1060704" y="2340864"/>
            <a:ext cx="91440" cy="-109728"/>
          </a:xfrm>
          <a:prstGeom prst="line">
            <a:avLst/>
          </a:prstGeom>
          <a:noFill/>
          <a:ln w="17780">
            <a:solidFill>
              <a:srgbClr val="1E3A8A"/>
            </a:solidFill>
            <a:prstDash val="solid"/>
          </a:ln>
        </p:spPr>
      </p:sp>
      <p:sp>
        <p:nvSpPr>
          <p:cNvPr id="15" name="pill"/>
          <p:cNvSpPr/>
          <p:nvPr/>
        </p:nvSpPr>
        <p:spPr>
          <a:xfrm>
            <a:off x="950976" y="2816352"/>
            <a:ext cx="786384" cy="274320"/>
          </a:xfrm>
          <a:prstGeom prst="rect">
            <a:avLst/>
          </a:prstGeom>
          <a:solidFill>
            <a:srgbClr val="DCFCE7"/>
          </a:solidFill>
          <a:ln w="10160">
            <a:solidFill>
              <a:srgbClr val="DCFCE7"/>
            </a:solidFill>
          </a:ln>
        </p:spPr>
        <p:txBody>
          <a:bodyPr wrap="square" lIns="635" tIns="1270" rIns="1270" bIns="635" rtlCol="0" anchor="ctr"/>
          <a:lstStyle/>
          <a:p>
            <a:pPr algn="ctr" indent="0" marL="0">
              <a:buNone/>
            </a:pPr>
            <a:r>
              <a:rPr lang="en-US" sz="900" b="1" dirty="0">
                <a:solidFill>
                  <a:srgbClr val="166534"/>
                </a:solidFill>
                <a:latin typeface="Arial" pitchFamily="34" charset="0"/>
                <a:ea typeface="Arial" pitchFamily="34" charset="-122"/>
                <a:cs typeface="Arial" pitchFamily="34" charset="-120"/>
              </a:rPr>
              <a:t>Enabled</a:t>
            </a:r>
            <a:endParaRPr lang="en-US" sz="900" dirty="0"/>
          </a:p>
        </p:txBody>
      </p:sp>
      <p:sp>
        <p:nvSpPr>
          <p:cNvPr id="16" name="body-text"/>
          <p:cNvSpPr/>
          <p:nvPr/>
        </p:nvSpPr>
        <p:spPr>
          <a:xfrm>
            <a:off x="1865376" y="2871216"/>
            <a:ext cx="1188720" cy="164592"/>
          </a:xfrm>
          <a:prstGeom prst="rect">
            <a:avLst/>
          </a:prstGeom>
          <a:noFill/>
          <a:ln/>
        </p:spPr>
        <p:txBody>
          <a:bodyPr wrap="square" lIns="0" tIns="0" rIns="0" bIns="0" rtlCol="0" anchor="t"/>
          <a:lstStyle/>
          <a:p>
            <a:pPr algn="l" indent="0" marL="0">
              <a:buNone/>
            </a:pPr>
            <a:r>
              <a:rPr lang="en-US" sz="960" dirty="0">
                <a:solidFill>
                  <a:srgbClr val="475569"/>
                </a:solidFill>
                <a:latin typeface="Arial" pitchFamily="34" charset="0"/>
                <a:ea typeface="Arial" pitchFamily="34" charset="-122"/>
                <a:cs typeface="Arial" pitchFamily="34" charset="-120"/>
              </a:rPr>
              <a:t>listener active</a:t>
            </a:r>
            <a:endParaRPr lang="en-US" sz="960" dirty="0"/>
          </a:p>
        </p:txBody>
      </p:sp>
      <p:sp>
        <p:nvSpPr>
          <p:cNvPr id="17" name="label"/>
          <p:cNvSpPr/>
          <p:nvPr/>
        </p:nvSpPr>
        <p:spPr>
          <a:xfrm>
            <a:off x="4517136" y="1097280"/>
            <a:ext cx="914400"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New state</a:t>
            </a:r>
            <a:endParaRPr lang="en-US" sz="1050" dirty="0"/>
          </a:p>
        </p:txBody>
      </p:sp>
      <p:sp>
        <p:nvSpPr>
          <p:cNvPr id="18" name="tracking-state"/>
          <p:cNvSpPr/>
          <p:nvPr/>
        </p:nvSpPr>
        <p:spPr>
          <a:xfrm>
            <a:off x="4517136" y="1389888"/>
            <a:ext cx="3566160" cy="603504"/>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30" dirty="0">
                <a:solidFill>
                  <a:srgbClr val="FFFFFF"/>
                </a:solidFill>
                <a:latin typeface="Courier New" pitchFamily="34" charset="0"/>
                <a:ea typeface="Courier New" pitchFamily="34" charset="-122"/>
                <a:cs typeface="Courier New" pitchFamily="34" charset="-120"/>
              </a:rPr>
              <a:t>const [trackingEnabled, setTrackingEnabled] =</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useState(true);</a:t>
            </a:r>
            <a:endParaRPr lang="en-US" sz="1030" dirty="0"/>
          </a:p>
        </p:txBody>
      </p:sp>
      <p:sp>
        <p:nvSpPr>
          <p:cNvPr id="19" name="tracking-checkbox-code"/>
          <p:cNvSpPr/>
          <p:nvPr/>
        </p:nvSpPr>
        <p:spPr>
          <a:xfrm>
            <a:off x="4517136" y="2212848"/>
            <a:ext cx="3566160" cy="138988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&lt;input</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type="checkbox"</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checked={trackingEnabled}</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onChange={(event) =&gt; {</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setTrackingEnabled(event.currentTarget.checked);</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/&gt;</a:t>
            </a:r>
            <a:endParaRPr lang="en-US" sz="1000" dirty="0"/>
          </a:p>
        </p:txBody>
      </p:sp>
      <p:sp>
        <p:nvSpPr>
          <p:cNvPr id="20" name="strip-Expected"/>
          <p:cNvSpPr/>
          <p:nvPr/>
        </p:nvSpPr>
        <p:spPr>
          <a:xfrm>
            <a:off x="4517136" y="3822192"/>
            <a:ext cx="3566160" cy="457200"/>
          </a:xfrm>
          <a:prstGeom prst="roundRect">
            <a:avLst/>
          </a:prstGeom>
          <a:solidFill>
            <a:srgbClr val="EFF6FF"/>
          </a:solidFill>
          <a:ln w="12700">
            <a:solidFill>
              <a:srgbClr val="EFF6FF"/>
            </a:solidFill>
            <a:prstDash val="solid"/>
          </a:ln>
        </p:spPr>
      </p:sp>
      <p:sp>
        <p:nvSpPr>
          <p:cNvPr id="21" name="strip-text-Expected"/>
          <p:cNvSpPr/>
          <p:nvPr/>
        </p:nvSpPr>
        <p:spPr>
          <a:xfrm>
            <a:off x="4663440" y="3922776"/>
            <a:ext cx="3273552" cy="274320"/>
          </a:xfrm>
          <a:prstGeom prst="rect">
            <a:avLst/>
          </a:prstGeom>
          <a:noFill/>
          <a:ln/>
        </p:spPr>
        <p:txBody>
          <a:bodyPr wrap="square" lIns="0" tIns="0" rIns="0" bIns="0" rtlCol="0" anchor="t"/>
          <a:lstStyle/>
          <a:p>
            <a:pPr indent="0" marL="0">
              <a:buNone/>
            </a:pPr>
            <a:r>
              <a:rPr lang="en-US" sz="1030" b="1" dirty="0">
                <a:solidFill>
                  <a:srgbClr val="1E3A8A"/>
                </a:solidFill>
                <a:latin typeface="Arial" pitchFamily="34" charset="0"/>
                <a:ea typeface="Arial" pitchFamily="34" charset="-122"/>
                <a:cs typeface="Arial" pitchFamily="34" charset="-120"/>
              </a:rPr>
              <a:t>Expected  </a:t>
            </a:r>
            <a:pPr indent="0" marL="0">
              <a:buNone/>
            </a:pPr>
            <a:r>
              <a:rPr lang="en-US" sz="1030" dirty="0">
                <a:solidFill>
                  <a:srgbClr val="0F172A"/>
                </a:solidFill>
                <a:latin typeface="Arial" pitchFamily="34" charset="0"/>
                <a:ea typeface="Arial" pitchFamily="34" charset="-122"/>
                <a:cs typeface="Arial" pitchFamily="34" charset="-120"/>
              </a:rPr>
              <a:t>enabled: listen for visibility changes · disabled: stop listening</a:t>
            </a:r>
            <a:endParaRPr lang="en-US" sz="10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The Effect now uses React state</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DEPENDENCIES</a:t>
            </a:r>
            <a:endParaRPr lang="en-US" sz="940" dirty="0"/>
          </a:p>
        </p:txBody>
      </p:sp>
      <p:sp>
        <p:nvSpPr>
          <p:cNvPr id="4" name="stateful-effect"/>
          <p:cNvSpPr/>
          <p:nvPr/>
        </p:nvSpPr>
        <p:spPr>
          <a:xfrm>
            <a:off x="658368" y="969264"/>
            <a:ext cx="4736592" cy="345643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65" dirty="0">
                <a:solidFill>
                  <a:srgbClr val="FFFFFF"/>
                </a:solidFill>
                <a:latin typeface="Courier New" pitchFamily="34" charset="0"/>
                <a:ea typeface="Courier New" pitchFamily="34" charset="-122"/>
                <a:cs typeface="Courier New" pitchFamily="34" charset="-120"/>
              </a:rPr>
              <a:t>useEffect(() =&gt; {</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if (!trackingEnabled) {</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return;</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a:t>
            </a:r>
            <a:endParaRPr lang="en-US" sz="965" dirty="0"/>
          </a:p>
          <a:p>
            <a:pPr indent="0" marL="0">
              <a:buNone/>
            </a:pP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function handleVisibilityChange() {</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if (document.visibilityState === "hidden") {</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setWasBackgrounded(true);</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a:t>
            </a:r>
            <a:endParaRPr lang="en-US" sz="965" dirty="0"/>
          </a:p>
          <a:p>
            <a:pPr indent="0" marL="0">
              <a:buNone/>
            </a:pP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document.addEventListener(</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"visibilitychange", handleVisibilityChange</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a:t>
            </a:r>
            <a:endParaRPr lang="en-US" sz="965" dirty="0"/>
          </a:p>
          <a:p>
            <a:pPr indent="0" marL="0">
              <a:buNone/>
            </a:pP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return () =&gt; {</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document.removeEventListener(</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"visibilitychange", handleVisibilityChange</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a:t>
            </a:r>
            <a:endParaRPr lang="en-US" sz="965" dirty="0"/>
          </a:p>
          <a:p>
            <a:pPr indent="0" marL="0">
              <a:buNone/>
            </a:pPr>
            <a:r>
              <a:rPr lang="en-US" sz="965" dirty="0">
                <a:solidFill>
                  <a:srgbClr val="FFFFFF"/>
                </a:solidFill>
                <a:latin typeface="Courier New" pitchFamily="34" charset="0"/>
                <a:ea typeface="Courier New" pitchFamily="34" charset="-122"/>
                <a:cs typeface="Courier New" pitchFamily="34" charset="-120"/>
              </a:rPr>
              <a:t>}, [trackingEnabled]);</a:t>
            </a:r>
            <a:endParaRPr lang="en-US" sz="965" dirty="0"/>
          </a:p>
        </p:txBody>
      </p:sp>
      <p:sp>
        <p:nvSpPr>
          <p:cNvPr id="5" name="label"/>
          <p:cNvSpPr/>
          <p:nvPr/>
        </p:nvSpPr>
        <p:spPr>
          <a:xfrm>
            <a:off x="5650992" y="1024128"/>
            <a:ext cx="1243584" cy="201168"/>
          </a:xfrm>
          <a:prstGeom prst="rect">
            <a:avLst/>
          </a:prstGeom>
          <a:noFill/>
          <a:ln/>
        </p:spPr>
        <p:txBody>
          <a:bodyPr wrap="square" lIns="0" tIns="0" rIns="0" bIns="0" rtlCol="0" anchor="ctr"/>
          <a:lstStyle/>
          <a:p>
            <a:pPr algn="l" indent="0" marL="0">
              <a:buNone/>
            </a:pPr>
            <a:r>
              <a:rPr lang="en-US" sz="1050" b="1" dirty="0">
                <a:solidFill>
                  <a:srgbClr val="991B1B"/>
                </a:solidFill>
                <a:latin typeface="Arial" pitchFamily="34" charset="0"/>
                <a:ea typeface="Arial" pitchFamily="34" charset="-122"/>
                <a:cs typeface="Arial" pitchFamily="34" charset="-120"/>
              </a:rPr>
              <a:t>Important change</a:t>
            </a:r>
            <a:endParaRPr lang="en-US" sz="1050" dirty="0"/>
          </a:p>
        </p:txBody>
      </p:sp>
      <p:sp>
        <p:nvSpPr>
          <p:cNvPr id="6" name="tracking-guard"/>
          <p:cNvSpPr/>
          <p:nvPr/>
        </p:nvSpPr>
        <p:spPr>
          <a:xfrm>
            <a:off x="5650992" y="1335024"/>
            <a:ext cx="2340864" cy="65836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30" dirty="0">
                <a:solidFill>
                  <a:srgbClr val="FFFFFF"/>
                </a:solidFill>
                <a:latin typeface="Courier New" pitchFamily="34" charset="0"/>
                <a:ea typeface="Courier New" pitchFamily="34" charset="-122"/>
                <a:cs typeface="Courier New" pitchFamily="34" charset="-120"/>
              </a:rPr>
              <a:t>if (!trackingEnabled) {</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return;</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a:t>
            </a:r>
            <a:endParaRPr lang="en-US" sz="1030" dirty="0"/>
          </a:p>
        </p:txBody>
      </p:sp>
      <p:sp>
        <p:nvSpPr>
          <p:cNvPr id="7" name="reactive-value"/>
          <p:cNvSpPr/>
          <p:nvPr/>
        </p:nvSpPr>
        <p:spPr>
          <a:xfrm>
            <a:off x="5650992" y="2267712"/>
            <a:ext cx="2340864" cy="1261872"/>
          </a:xfrm>
          <a:prstGeom prst="roundRect">
            <a:avLst/>
          </a:prstGeom>
          <a:solidFill>
            <a:srgbClr val="EFF6FF"/>
          </a:solidFill>
          <a:ln w="12700">
            <a:solidFill>
              <a:srgbClr val="BFDBFE"/>
            </a:solidFill>
            <a:prstDash val="solid"/>
          </a:ln>
        </p:spPr>
      </p:sp>
      <p:sp>
        <p:nvSpPr>
          <p:cNvPr id="8" name="body-text"/>
          <p:cNvSpPr/>
          <p:nvPr/>
        </p:nvSpPr>
        <p:spPr>
          <a:xfrm>
            <a:off x="5833872" y="2432304"/>
            <a:ext cx="1243584" cy="201168"/>
          </a:xfrm>
          <a:prstGeom prst="rect">
            <a:avLst/>
          </a:prstGeom>
          <a:noFill/>
          <a:ln/>
        </p:spPr>
        <p:txBody>
          <a:bodyPr wrap="square" lIns="0" tIns="0" rIns="0" bIns="0" rtlCol="0" anchor="t"/>
          <a:lstStyle/>
          <a:p>
            <a:pPr algn="l" indent="0" marL="0">
              <a:buNone/>
            </a:pPr>
            <a:r>
              <a:rPr lang="en-US" sz="1100" b="1" dirty="0">
                <a:solidFill>
                  <a:srgbClr val="1E3A8A"/>
                </a:solidFill>
                <a:latin typeface="Arial" pitchFamily="34" charset="0"/>
                <a:ea typeface="Arial" pitchFamily="34" charset="-122"/>
                <a:cs typeface="Arial" pitchFamily="34" charset="-120"/>
              </a:rPr>
              <a:t>Reactive value</a:t>
            </a:r>
            <a:endParaRPr lang="en-US" sz="1100" dirty="0"/>
          </a:p>
        </p:txBody>
      </p:sp>
      <p:sp>
        <p:nvSpPr>
          <p:cNvPr id="9" name="body-text"/>
          <p:cNvSpPr/>
          <p:nvPr/>
        </p:nvSpPr>
        <p:spPr>
          <a:xfrm>
            <a:off x="5833872" y="2761488"/>
            <a:ext cx="1956816" cy="566928"/>
          </a:xfrm>
          <a:prstGeom prst="rect">
            <a:avLst/>
          </a:prstGeom>
          <a:noFill/>
          <a:ln/>
        </p:spPr>
        <p:txBody>
          <a:bodyPr wrap="square" lIns="0" tIns="0" rIns="0" bIns="0" rtlCol="0" anchor="t"/>
          <a:lstStyle/>
          <a:p>
            <a:pPr algn="l" indent="0" marL="0">
              <a:buNone/>
            </a:pPr>
            <a:r>
              <a:rPr lang="en-US" sz="970" dirty="0">
                <a:solidFill>
                  <a:srgbClr val="0F172A"/>
                </a:solidFill>
                <a:latin typeface="Arial" pitchFamily="34" charset="0"/>
                <a:ea typeface="Arial" pitchFamily="34" charset="-122"/>
                <a:cs typeface="Arial" pitchFamily="34" charset="-120"/>
              </a:rPr>
              <a:t>Props, state, and variables or functions declared directly inside the component body are reactive values for Effect dependencies.</a:t>
            </a:r>
            <a:endParaRPr lang="en-US" sz="970" dirty="0"/>
          </a:p>
        </p:txBody>
      </p:sp>
      <p:sp>
        <p:nvSpPr>
          <p:cNvPr id="10" name="tracking-here"/>
          <p:cNvSpPr/>
          <p:nvPr/>
        </p:nvSpPr>
        <p:spPr>
          <a:xfrm>
            <a:off x="5650992" y="3639312"/>
            <a:ext cx="2340864" cy="768096"/>
          </a:xfrm>
          <a:prstGeom prst="roundRect">
            <a:avLst/>
          </a:prstGeom>
          <a:solidFill>
            <a:srgbClr val="DCFCE7"/>
          </a:solidFill>
          <a:ln w="12700">
            <a:solidFill>
              <a:srgbClr val="DCFCE7"/>
            </a:solidFill>
            <a:prstDash val="solid"/>
          </a:ln>
        </p:spPr>
      </p:sp>
      <p:sp>
        <p:nvSpPr>
          <p:cNvPr id="11" name="tracking-here-text"/>
          <p:cNvSpPr/>
          <p:nvPr/>
        </p:nvSpPr>
        <p:spPr>
          <a:xfrm>
            <a:off x="5815584" y="3767328"/>
            <a:ext cx="1993392" cy="493776"/>
          </a:xfrm>
          <a:prstGeom prst="rect">
            <a:avLst/>
          </a:prstGeom>
          <a:noFill/>
          <a:ln/>
        </p:spPr>
        <p:txBody>
          <a:bodyPr wrap="square" lIns="0" tIns="0" rIns="0" bIns="0" rtlCol="0" anchor="t"/>
          <a:lstStyle/>
          <a:p>
            <a:pPr indent="0" marL="0">
              <a:buNone/>
            </a:pPr>
            <a:r>
              <a:rPr lang="en-US" sz="960" b="1" dirty="0">
                <a:solidFill>
                  <a:srgbClr val="166534"/>
                </a:solidFill>
                <a:latin typeface="Arial" pitchFamily="34" charset="0"/>
                <a:ea typeface="Arial" pitchFamily="34" charset="-122"/>
                <a:cs typeface="Arial" pitchFamily="34" charset="-120"/>
              </a:rPr>
              <a:t>Here  </a:t>
            </a:r>
            <a:pPr indent="0" marL="0">
              <a:buNone/>
            </a:pPr>
            <a:r>
              <a:rPr lang="en-US" sz="960" dirty="0">
                <a:solidFill>
                  <a:srgbClr val="0F172A"/>
                </a:solidFill>
                <a:latin typeface="Arial" pitchFamily="34" charset="0"/>
                <a:ea typeface="Arial" pitchFamily="34" charset="-122"/>
                <a:cs typeface="Arial" pitchFamily="34" charset="-120"/>
              </a:rPr>
              <a:t>trackingEnabled is component state. The synchronization depends on its current value.</a:t>
            </a:r>
            <a:endParaRPr lang="en-US" sz="9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Why is trackingEnabled a dependency?</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DEPENDENCIES</a:t>
            </a:r>
            <a:endParaRPr lang="en-US" sz="940" dirty="0"/>
          </a:p>
        </p:txBody>
      </p:sp>
      <p:sp>
        <p:nvSpPr>
          <p:cNvPr id="4" name="body-text"/>
          <p:cNvSpPr/>
          <p:nvPr/>
        </p:nvSpPr>
        <p:spPr>
          <a:xfrm>
            <a:off x="676656" y="969264"/>
            <a:ext cx="2834640" cy="237744"/>
          </a:xfrm>
          <a:prstGeom prst="rect">
            <a:avLst/>
          </a:prstGeom>
          <a:noFill/>
          <a:ln/>
        </p:spPr>
        <p:txBody>
          <a:bodyPr wrap="square" lIns="0" tIns="0" rIns="0" bIns="0" rtlCol="0" anchor="t"/>
          <a:lstStyle/>
          <a:p>
            <a:pPr algn="l" indent="0" marL="0">
              <a:buNone/>
            </a:pPr>
            <a:r>
              <a:rPr lang="en-US" sz="1180" b="1" dirty="0">
                <a:solidFill>
                  <a:srgbClr val="0F172A"/>
                </a:solidFill>
                <a:latin typeface="Arial" pitchFamily="34" charset="0"/>
                <a:ea typeface="Arial" pitchFamily="34" charset="-122"/>
                <a:cs typeface="Arial" pitchFamily="34" charset="-120"/>
              </a:rPr>
              <a:t>Start with the Effect body. It reads:</a:t>
            </a:r>
            <a:endParaRPr lang="en-US" sz="1180" dirty="0"/>
          </a:p>
        </p:txBody>
      </p:sp>
      <p:sp>
        <p:nvSpPr>
          <p:cNvPr id="5" name="dep-value"/>
          <p:cNvSpPr/>
          <p:nvPr/>
        </p:nvSpPr>
        <p:spPr>
          <a:xfrm>
            <a:off x="3255264" y="914400"/>
            <a:ext cx="1737360" cy="420624"/>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220" dirty="0">
                <a:solidFill>
                  <a:srgbClr val="FFFFFF"/>
                </a:solidFill>
                <a:latin typeface="Courier New" pitchFamily="34" charset="0"/>
                <a:ea typeface="Courier New" pitchFamily="34" charset="-122"/>
                <a:cs typeface="Courier New" pitchFamily="34" charset="-120"/>
              </a:rPr>
              <a:t>trackingEnabled</a:t>
            </a:r>
            <a:endParaRPr lang="en-US" sz="1220" dirty="0"/>
          </a:p>
        </p:txBody>
      </p:sp>
      <p:sp>
        <p:nvSpPr>
          <p:cNvPr id="6" name="dependency-question-0"/>
          <p:cNvSpPr/>
          <p:nvPr/>
        </p:nvSpPr>
        <p:spPr>
          <a:xfrm>
            <a:off x="749808" y="1572768"/>
            <a:ext cx="7315200" cy="603504"/>
          </a:xfrm>
          <a:prstGeom prst="roundRect">
            <a:avLst/>
          </a:prstGeom>
          <a:solidFill>
            <a:srgbClr val="F8FAFC"/>
          </a:solidFill>
          <a:ln w="12700">
            <a:solidFill>
              <a:srgbClr val="CBD5E1"/>
            </a:solidFill>
            <a:prstDash val="solid"/>
          </a:ln>
        </p:spPr>
      </p:sp>
      <p:sp>
        <p:nvSpPr>
          <p:cNvPr id="7" name="pill"/>
          <p:cNvSpPr/>
          <p:nvPr/>
        </p:nvSpPr>
        <p:spPr>
          <a:xfrm>
            <a:off x="914400" y="1719072"/>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1</a:t>
            </a:r>
            <a:endParaRPr lang="en-US" sz="920" dirty="0"/>
          </a:p>
        </p:txBody>
      </p:sp>
      <p:sp>
        <p:nvSpPr>
          <p:cNvPr id="8" name="body-text"/>
          <p:cNvSpPr/>
          <p:nvPr/>
        </p:nvSpPr>
        <p:spPr>
          <a:xfrm>
            <a:off x="1389888" y="1682496"/>
            <a:ext cx="2615184" cy="201168"/>
          </a:xfrm>
          <a:prstGeom prst="rect">
            <a:avLst/>
          </a:prstGeom>
          <a:noFill/>
          <a:ln/>
        </p:spPr>
        <p:txBody>
          <a:bodyPr wrap="square" lIns="0" tIns="0" rIns="0" bIns="0" rtlCol="0" anchor="t"/>
          <a:lstStyle/>
          <a:p>
            <a:pPr algn="l" indent="0" marL="0">
              <a:buNone/>
            </a:pPr>
            <a:r>
              <a:rPr lang="en-US" sz="1070" b="1" dirty="0">
                <a:solidFill>
                  <a:srgbClr val="1E3A8A"/>
                </a:solidFill>
                <a:latin typeface="Arial" pitchFamily="34" charset="0"/>
                <a:ea typeface="Arial" pitchFamily="34" charset="-122"/>
                <a:cs typeface="Arial" pitchFamily="34" charset="-120"/>
              </a:rPr>
              <a:t>Is it reactive?</a:t>
            </a:r>
            <a:endParaRPr lang="en-US" sz="1070" dirty="0"/>
          </a:p>
        </p:txBody>
      </p:sp>
      <p:sp>
        <p:nvSpPr>
          <p:cNvPr id="9" name="body-text"/>
          <p:cNvSpPr/>
          <p:nvPr/>
        </p:nvSpPr>
        <p:spPr>
          <a:xfrm>
            <a:off x="4169664" y="1673352"/>
            <a:ext cx="3657600" cy="310896"/>
          </a:xfrm>
          <a:prstGeom prst="rect">
            <a:avLst/>
          </a:prstGeom>
          <a:noFill/>
          <a:ln/>
        </p:spPr>
        <p:txBody>
          <a:bodyPr wrap="square" lIns="0" tIns="0" rIns="0" bIns="0" rtlCol="0" anchor="t"/>
          <a:lstStyle/>
          <a:p>
            <a:pPr algn="l" indent="0" marL="0">
              <a:buNone/>
            </a:pPr>
            <a:r>
              <a:rPr lang="en-US" sz="1000" dirty="0">
                <a:solidFill>
                  <a:srgbClr val="0F172A"/>
                </a:solidFill>
                <a:latin typeface="Arial" pitchFamily="34" charset="0"/>
                <a:ea typeface="Arial" pitchFamily="34" charset="-122"/>
                <a:cs typeface="Arial" pitchFamily="34" charset="-120"/>
              </a:rPr>
              <a:t>Yes. It is component state.</a:t>
            </a:r>
            <a:endParaRPr lang="en-US" sz="1000" dirty="0"/>
          </a:p>
        </p:txBody>
      </p:sp>
      <p:sp>
        <p:nvSpPr>
          <p:cNvPr id="10" name="dependency-question-1"/>
          <p:cNvSpPr/>
          <p:nvPr/>
        </p:nvSpPr>
        <p:spPr>
          <a:xfrm>
            <a:off x="749808" y="2322576"/>
            <a:ext cx="7315200" cy="603504"/>
          </a:xfrm>
          <a:prstGeom prst="roundRect">
            <a:avLst/>
          </a:prstGeom>
          <a:solidFill>
            <a:srgbClr val="F8FAFC"/>
          </a:solidFill>
          <a:ln w="12700">
            <a:solidFill>
              <a:srgbClr val="CBD5E1"/>
            </a:solidFill>
            <a:prstDash val="solid"/>
          </a:ln>
        </p:spPr>
      </p:sp>
      <p:sp>
        <p:nvSpPr>
          <p:cNvPr id="11" name="pill"/>
          <p:cNvSpPr/>
          <p:nvPr/>
        </p:nvSpPr>
        <p:spPr>
          <a:xfrm>
            <a:off x="914400" y="2468880"/>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2</a:t>
            </a:r>
            <a:endParaRPr lang="en-US" sz="920" dirty="0"/>
          </a:p>
        </p:txBody>
      </p:sp>
      <p:sp>
        <p:nvSpPr>
          <p:cNvPr id="12" name="body-text"/>
          <p:cNvSpPr/>
          <p:nvPr/>
        </p:nvSpPr>
        <p:spPr>
          <a:xfrm>
            <a:off x="1389888" y="2432304"/>
            <a:ext cx="2615184" cy="201168"/>
          </a:xfrm>
          <a:prstGeom prst="rect">
            <a:avLst/>
          </a:prstGeom>
          <a:noFill/>
          <a:ln/>
        </p:spPr>
        <p:txBody>
          <a:bodyPr wrap="square" lIns="0" tIns="0" rIns="0" bIns="0" rtlCol="0" anchor="t"/>
          <a:lstStyle/>
          <a:p>
            <a:pPr algn="l" indent="0" marL="0">
              <a:buNone/>
            </a:pPr>
            <a:r>
              <a:rPr lang="en-US" sz="1070" b="1" dirty="0">
                <a:solidFill>
                  <a:srgbClr val="1E3A8A"/>
                </a:solidFill>
                <a:latin typeface="Arial" pitchFamily="34" charset="0"/>
                <a:ea typeface="Arial" pitchFamily="34" charset="-122"/>
                <a:cs typeface="Arial" pitchFamily="34" charset="-120"/>
              </a:rPr>
              <a:t>Can it differ on a later render?</a:t>
            </a:r>
            <a:endParaRPr lang="en-US" sz="1070" dirty="0"/>
          </a:p>
        </p:txBody>
      </p:sp>
      <p:sp>
        <p:nvSpPr>
          <p:cNvPr id="13" name="body-text"/>
          <p:cNvSpPr/>
          <p:nvPr/>
        </p:nvSpPr>
        <p:spPr>
          <a:xfrm>
            <a:off x="4169664" y="2423160"/>
            <a:ext cx="3657600" cy="310896"/>
          </a:xfrm>
          <a:prstGeom prst="rect">
            <a:avLst/>
          </a:prstGeom>
          <a:noFill/>
          <a:ln/>
        </p:spPr>
        <p:txBody>
          <a:bodyPr wrap="square" lIns="0" tIns="0" rIns="0" bIns="0" rtlCol="0" anchor="t"/>
          <a:lstStyle/>
          <a:p>
            <a:pPr algn="l" indent="0" marL="0">
              <a:buNone/>
            </a:pPr>
            <a:r>
              <a:rPr lang="en-US" sz="1000" dirty="0">
                <a:solidFill>
                  <a:srgbClr val="0F172A"/>
                </a:solidFill>
                <a:latin typeface="Arial" pitchFamily="34" charset="0"/>
                <a:ea typeface="Arial" pitchFamily="34" charset="-122"/>
                <a:cs typeface="Arial" pitchFamily="34" charset="-120"/>
              </a:rPr>
              <a:t>Yes. The checkbox can enable or disable tracking.</a:t>
            </a:r>
            <a:endParaRPr lang="en-US" sz="1000" dirty="0"/>
          </a:p>
        </p:txBody>
      </p:sp>
      <p:sp>
        <p:nvSpPr>
          <p:cNvPr id="14" name="dependency-question-2"/>
          <p:cNvSpPr/>
          <p:nvPr/>
        </p:nvSpPr>
        <p:spPr>
          <a:xfrm>
            <a:off x="749808" y="3072384"/>
            <a:ext cx="7315200" cy="603504"/>
          </a:xfrm>
          <a:prstGeom prst="roundRect">
            <a:avLst/>
          </a:prstGeom>
          <a:solidFill>
            <a:srgbClr val="DCFCE7"/>
          </a:solidFill>
          <a:ln w="12700">
            <a:solidFill>
              <a:srgbClr val="86EFAC"/>
            </a:solidFill>
            <a:prstDash val="solid"/>
          </a:ln>
        </p:spPr>
      </p:sp>
      <p:sp>
        <p:nvSpPr>
          <p:cNvPr id="15" name="pill"/>
          <p:cNvSpPr/>
          <p:nvPr/>
        </p:nvSpPr>
        <p:spPr>
          <a:xfrm>
            <a:off x="914400" y="3218688"/>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3</a:t>
            </a:r>
            <a:endParaRPr lang="en-US" sz="920" dirty="0"/>
          </a:p>
        </p:txBody>
      </p:sp>
      <p:sp>
        <p:nvSpPr>
          <p:cNvPr id="16" name="body-text"/>
          <p:cNvSpPr/>
          <p:nvPr/>
        </p:nvSpPr>
        <p:spPr>
          <a:xfrm>
            <a:off x="1389888" y="3182112"/>
            <a:ext cx="2615184" cy="201168"/>
          </a:xfrm>
          <a:prstGeom prst="rect">
            <a:avLst/>
          </a:prstGeom>
          <a:noFill/>
          <a:ln/>
        </p:spPr>
        <p:txBody>
          <a:bodyPr wrap="square" lIns="0" tIns="0" rIns="0" bIns="0" rtlCol="0" anchor="t"/>
          <a:lstStyle/>
          <a:p>
            <a:pPr algn="l" indent="0" marL="0">
              <a:buNone/>
            </a:pPr>
            <a:r>
              <a:rPr lang="en-US" sz="1070" b="1" dirty="0">
                <a:solidFill>
                  <a:srgbClr val="1E3A8A"/>
                </a:solidFill>
                <a:latin typeface="Arial" pitchFamily="34" charset="0"/>
                <a:ea typeface="Arial" pitchFamily="34" charset="-122"/>
                <a:cs typeface="Arial" pitchFamily="34" charset="-120"/>
              </a:rPr>
              <a:t>Does the new value change synchronization?</a:t>
            </a:r>
            <a:endParaRPr lang="en-US" sz="1070" dirty="0"/>
          </a:p>
        </p:txBody>
      </p:sp>
      <p:sp>
        <p:nvSpPr>
          <p:cNvPr id="17" name="body-text"/>
          <p:cNvSpPr/>
          <p:nvPr/>
        </p:nvSpPr>
        <p:spPr>
          <a:xfrm>
            <a:off x="4169664" y="3172968"/>
            <a:ext cx="3657600" cy="310896"/>
          </a:xfrm>
          <a:prstGeom prst="rect">
            <a:avLst/>
          </a:prstGeom>
          <a:noFill/>
          <a:ln/>
        </p:spPr>
        <p:txBody>
          <a:bodyPr wrap="square" lIns="0" tIns="0" rIns="0" bIns="0" rtlCol="0" anchor="t"/>
          <a:lstStyle/>
          <a:p>
            <a:pPr algn="l" indent="0" marL="0">
              <a:buNone/>
            </a:pPr>
            <a:r>
              <a:rPr lang="en-US" sz="1000" dirty="0">
                <a:solidFill>
                  <a:srgbClr val="0F172A"/>
                </a:solidFill>
                <a:latin typeface="Arial" pitchFamily="34" charset="0"/>
                <a:ea typeface="Arial" pitchFamily="34" charset="-122"/>
                <a:cs typeface="Arial" pitchFamily="34" charset="-120"/>
              </a:rPr>
              <a:t>Yes. true registers the listener; false leaves it inactive.</a:t>
            </a:r>
            <a:endParaRPr lang="en-US" sz="1000" dirty="0"/>
          </a:p>
        </p:txBody>
      </p:sp>
      <p:sp>
        <p:nvSpPr>
          <p:cNvPr id="18" name="dep-result"/>
          <p:cNvSpPr/>
          <p:nvPr/>
        </p:nvSpPr>
        <p:spPr>
          <a:xfrm>
            <a:off x="2304288" y="3968496"/>
            <a:ext cx="4206240" cy="43891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120" dirty="0">
                <a:solidFill>
                  <a:srgbClr val="FFFFFF"/>
                </a:solidFill>
                <a:latin typeface="Courier New" pitchFamily="34" charset="0"/>
                <a:ea typeface="Courier New" pitchFamily="34" charset="-122"/>
                <a:cs typeface="Courier New" pitchFamily="34" charset="-120"/>
              </a:rPr>
              <a:t>useEffect(setup, [trackingEnabled]);</a:t>
            </a:r>
            <a:endParaRPr lang="en-US" sz="1120" dirty="0"/>
          </a:p>
        </p:txBody>
      </p:sp>
      <p:sp>
        <p:nvSpPr>
          <p:cNvPr id="19" name="body-text"/>
          <p:cNvSpPr/>
          <p:nvPr/>
        </p:nvSpPr>
        <p:spPr>
          <a:xfrm>
            <a:off x="1499616" y="4498848"/>
            <a:ext cx="5852160" cy="201168"/>
          </a:xfrm>
          <a:prstGeom prst="rect">
            <a:avLst/>
          </a:prstGeom>
          <a:noFill/>
          <a:ln/>
        </p:spPr>
        <p:txBody>
          <a:bodyPr wrap="square" lIns="0" tIns="0" rIns="0" bIns="0" rtlCol="0" anchor="t"/>
          <a:lstStyle/>
          <a:p>
            <a:pPr algn="ctr" indent="0" marL="0">
              <a:buNone/>
            </a:pPr>
            <a:r>
              <a:rPr lang="en-US" sz="1080" b="1" dirty="0">
                <a:solidFill>
                  <a:srgbClr val="1E3A8A"/>
                </a:solidFill>
                <a:latin typeface="Arial" pitchFamily="34" charset="0"/>
                <a:ea typeface="Arial" pitchFamily="34" charset="-122"/>
                <a:cs typeface="Arial" pitchFamily="34" charset="-120"/>
              </a:rPr>
              <a:t>Dependencies come from the reactive values used by the Effect.</a:t>
            </a:r>
            <a:endParaRPr lang="en-US" sz="10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Trace the re-synchronization</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DEPENDENCIES</a:t>
            </a:r>
            <a:endParaRPr lang="en-US" sz="940" dirty="0"/>
          </a:p>
        </p:txBody>
      </p:sp>
      <p:sp>
        <p:nvSpPr>
          <p:cNvPr id="4" name="body-text"/>
          <p:cNvSpPr/>
          <p:nvPr/>
        </p:nvSpPr>
        <p:spPr>
          <a:xfrm>
            <a:off x="621792" y="932688"/>
            <a:ext cx="7699248" cy="347472"/>
          </a:xfrm>
          <a:prstGeom prst="rect">
            <a:avLst/>
          </a:prstGeom>
          <a:noFill/>
          <a:ln/>
        </p:spPr>
        <p:txBody>
          <a:bodyPr wrap="square" lIns="0" tIns="0" rIns="0" bIns="0" rtlCol="0" anchor="t"/>
          <a:lstStyle/>
          <a:p>
            <a:pPr algn="l" indent="0" marL="0">
              <a:buNone/>
            </a:pPr>
            <a:r>
              <a:rPr lang="en-US" sz="1210" b="1" dirty="0">
                <a:solidFill>
                  <a:srgbClr val="0F172A"/>
                </a:solidFill>
                <a:latin typeface="Arial" pitchFamily="34" charset="0"/>
                <a:ea typeface="Arial" pitchFamily="34" charset="-122"/>
                <a:cs typeface="Arial" pitchFamily="34" charset="-120"/>
              </a:rPr>
              <a:t>When trackingEnabled changes, React stops the previous synchronization before running setup with the new value.</a:t>
            </a:r>
            <a:endParaRPr lang="en-US" sz="1210" dirty="0"/>
          </a:p>
        </p:txBody>
      </p:sp>
      <p:sp>
        <p:nvSpPr>
          <p:cNvPr id="5" name="trace-node-1"/>
          <p:cNvSpPr/>
          <p:nvPr/>
        </p:nvSpPr>
        <p:spPr>
          <a:xfrm>
            <a:off x="713232" y="1554480"/>
            <a:ext cx="1591056" cy="987552"/>
          </a:xfrm>
          <a:prstGeom prst="roundRect">
            <a:avLst/>
          </a:prstGeom>
          <a:solidFill>
            <a:srgbClr val="EFF6FF"/>
          </a:solidFill>
          <a:ln w="12700">
            <a:solidFill>
              <a:srgbClr val="EFF6FF"/>
            </a:solidFill>
            <a:prstDash val="solid"/>
          </a:ln>
        </p:spPr>
      </p:sp>
      <p:sp>
        <p:nvSpPr>
          <p:cNvPr id="6" name="pill"/>
          <p:cNvSpPr/>
          <p:nvPr/>
        </p:nvSpPr>
        <p:spPr>
          <a:xfrm>
            <a:off x="822960" y="1664208"/>
            <a:ext cx="310896" cy="274320"/>
          </a:xfrm>
          <a:prstGeom prst="rect">
            <a:avLst/>
          </a:prstGeom>
          <a:solidFill>
            <a:srgbClr val="FFFFFF"/>
          </a:solidFill>
          <a:ln w="10160">
            <a:solidFill>
              <a:srgbClr val="FFFFFF"/>
            </a:solidFill>
          </a:ln>
        </p:spPr>
        <p:txBody>
          <a:bodyPr wrap="square" lIns="635" tIns="1270" rIns="1270" bIns="635" rtlCol="0" anchor="ctr"/>
          <a:lstStyle/>
          <a:p>
            <a:pPr algn="ctr" indent="0" marL="0">
              <a:buNone/>
            </a:pPr>
            <a:r>
              <a:rPr lang="en-US" sz="960" b="1" dirty="0">
                <a:solidFill>
                  <a:srgbClr val="1E3A8A"/>
                </a:solidFill>
                <a:latin typeface="Arial" pitchFamily="34" charset="0"/>
                <a:ea typeface="Arial" pitchFamily="34" charset="-122"/>
                <a:cs typeface="Arial" pitchFamily="34" charset="-120"/>
              </a:rPr>
              <a:t>1</a:t>
            </a:r>
            <a:endParaRPr lang="en-US" sz="960" dirty="0"/>
          </a:p>
        </p:txBody>
      </p:sp>
      <p:sp>
        <p:nvSpPr>
          <p:cNvPr id="7" name="body-text"/>
          <p:cNvSpPr/>
          <p:nvPr/>
        </p:nvSpPr>
        <p:spPr>
          <a:xfrm>
            <a:off x="822960" y="1975104"/>
            <a:ext cx="1371600" cy="201168"/>
          </a:xfrm>
          <a:prstGeom prst="rect">
            <a:avLst/>
          </a:prstGeom>
          <a:noFill/>
          <a:ln/>
        </p:spPr>
        <p:txBody>
          <a:bodyPr wrap="square" lIns="0" tIns="0" rIns="0" bIns="0" rtlCol="0" anchor="t"/>
          <a:lstStyle/>
          <a:p>
            <a:pPr algn="l" indent="0" marL="0">
              <a:buNone/>
            </a:pPr>
            <a:r>
              <a:rPr lang="en-US" sz="1040" b="1" dirty="0">
                <a:solidFill>
                  <a:srgbClr val="1E3A8A"/>
                </a:solidFill>
                <a:latin typeface="Arial" pitchFamily="34" charset="0"/>
                <a:ea typeface="Arial" pitchFamily="34" charset="-122"/>
                <a:cs typeface="Arial" pitchFamily="34" charset="-120"/>
              </a:rPr>
              <a:t>Tracking on</a:t>
            </a:r>
            <a:endParaRPr lang="en-US" sz="1040" dirty="0"/>
          </a:p>
        </p:txBody>
      </p:sp>
      <p:sp>
        <p:nvSpPr>
          <p:cNvPr id="8" name="body-text"/>
          <p:cNvSpPr/>
          <p:nvPr/>
        </p:nvSpPr>
        <p:spPr>
          <a:xfrm>
            <a:off x="822960" y="2176272"/>
            <a:ext cx="1371600" cy="310896"/>
          </a:xfrm>
          <a:prstGeom prst="rect">
            <a:avLst/>
          </a:prstGeom>
          <a:noFill/>
          <a:ln/>
        </p:spPr>
        <p:txBody>
          <a:bodyPr wrap="square" lIns="0" tIns="0" rIns="0" bIns="0" rtlCol="0" anchor="t"/>
          <a:lstStyle/>
          <a:p>
            <a:pPr algn="ctr" indent="0" marL="0">
              <a:buNone/>
            </a:pPr>
            <a:r>
              <a:rPr lang="en-US" sz="930" dirty="0">
                <a:solidFill>
                  <a:srgbClr val="475569"/>
                </a:solidFill>
                <a:latin typeface="Arial" pitchFamily="34" charset="0"/>
                <a:ea typeface="Arial" pitchFamily="34" charset="-122"/>
                <a:cs typeface="Arial" pitchFamily="34" charset="-120"/>
              </a:rPr>
              <a:t>trackingEnabled = true</a:t>
            </a:r>
            <a:endParaRPr lang="en-US" sz="930" dirty="0"/>
          </a:p>
        </p:txBody>
      </p:sp>
      <p:sp>
        <p:nvSpPr>
          <p:cNvPr id="9" name="connector"/>
          <p:cNvSpPr/>
          <p:nvPr/>
        </p:nvSpPr>
        <p:spPr>
          <a:xfrm>
            <a:off x="2322576" y="1993392"/>
            <a:ext cx="310896" cy="0"/>
          </a:xfrm>
          <a:prstGeom prst="line">
            <a:avLst/>
          </a:prstGeom>
          <a:noFill/>
          <a:ln w="19050">
            <a:solidFill>
              <a:srgbClr val="64748B"/>
            </a:solidFill>
            <a:prstDash val="solid"/>
            <a:tailEnd type="triangle"/>
          </a:ln>
        </p:spPr>
      </p:sp>
      <p:sp>
        <p:nvSpPr>
          <p:cNvPr id="10" name="trace-node-2"/>
          <p:cNvSpPr/>
          <p:nvPr/>
        </p:nvSpPr>
        <p:spPr>
          <a:xfrm>
            <a:off x="2670048" y="1554480"/>
            <a:ext cx="1591056" cy="987552"/>
          </a:xfrm>
          <a:prstGeom prst="roundRect">
            <a:avLst/>
          </a:prstGeom>
          <a:solidFill>
            <a:srgbClr val="FEF9C3"/>
          </a:solidFill>
          <a:ln w="12700">
            <a:solidFill>
              <a:srgbClr val="FEF9C3"/>
            </a:solidFill>
            <a:prstDash val="solid"/>
          </a:ln>
        </p:spPr>
      </p:sp>
      <p:sp>
        <p:nvSpPr>
          <p:cNvPr id="11" name="pill"/>
          <p:cNvSpPr/>
          <p:nvPr/>
        </p:nvSpPr>
        <p:spPr>
          <a:xfrm>
            <a:off x="2779776" y="1664208"/>
            <a:ext cx="310896" cy="274320"/>
          </a:xfrm>
          <a:prstGeom prst="rect">
            <a:avLst/>
          </a:prstGeom>
          <a:solidFill>
            <a:srgbClr val="FFFFFF"/>
          </a:solidFill>
          <a:ln w="10160">
            <a:solidFill>
              <a:srgbClr val="FFFFFF"/>
            </a:solidFill>
          </a:ln>
        </p:spPr>
        <p:txBody>
          <a:bodyPr wrap="square" lIns="635" tIns="1270" rIns="1270" bIns="635" rtlCol="0" anchor="ctr"/>
          <a:lstStyle/>
          <a:p>
            <a:pPr algn="ctr" indent="0" marL="0">
              <a:buNone/>
            </a:pPr>
            <a:r>
              <a:rPr lang="en-US" sz="960" b="1" dirty="0">
                <a:solidFill>
                  <a:srgbClr val="854D0E"/>
                </a:solidFill>
                <a:latin typeface="Arial" pitchFamily="34" charset="0"/>
                <a:ea typeface="Arial" pitchFamily="34" charset="-122"/>
                <a:cs typeface="Arial" pitchFamily="34" charset="-120"/>
              </a:rPr>
              <a:t>2</a:t>
            </a:r>
            <a:endParaRPr lang="en-US" sz="960" dirty="0"/>
          </a:p>
        </p:txBody>
      </p:sp>
      <p:sp>
        <p:nvSpPr>
          <p:cNvPr id="12" name="body-text"/>
          <p:cNvSpPr/>
          <p:nvPr/>
        </p:nvSpPr>
        <p:spPr>
          <a:xfrm>
            <a:off x="2779776" y="1975104"/>
            <a:ext cx="1371600" cy="201168"/>
          </a:xfrm>
          <a:prstGeom prst="rect">
            <a:avLst/>
          </a:prstGeom>
          <a:noFill/>
          <a:ln/>
        </p:spPr>
        <p:txBody>
          <a:bodyPr wrap="square" lIns="0" tIns="0" rIns="0" bIns="0" rtlCol="0" anchor="t"/>
          <a:lstStyle/>
          <a:p>
            <a:pPr algn="l" indent="0" marL="0">
              <a:buNone/>
            </a:pPr>
            <a:r>
              <a:rPr lang="en-US" sz="1040" b="1" dirty="0">
                <a:solidFill>
                  <a:srgbClr val="854D0E"/>
                </a:solidFill>
                <a:latin typeface="Arial" pitchFamily="34" charset="0"/>
                <a:ea typeface="Arial" pitchFamily="34" charset="-122"/>
                <a:cs typeface="Arial" pitchFamily="34" charset="-120"/>
              </a:rPr>
              <a:t>User disables</a:t>
            </a:r>
            <a:endParaRPr lang="en-US" sz="1040" dirty="0"/>
          </a:p>
        </p:txBody>
      </p:sp>
      <p:sp>
        <p:nvSpPr>
          <p:cNvPr id="13" name="body-text"/>
          <p:cNvSpPr/>
          <p:nvPr/>
        </p:nvSpPr>
        <p:spPr>
          <a:xfrm>
            <a:off x="2779776" y="2176272"/>
            <a:ext cx="1371600" cy="310896"/>
          </a:xfrm>
          <a:prstGeom prst="rect">
            <a:avLst/>
          </a:prstGeom>
          <a:noFill/>
          <a:ln/>
        </p:spPr>
        <p:txBody>
          <a:bodyPr wrap="square" lIns="0" tIns="0" rIns="0" bIns="0" rtlCol="0" anchor="t"/>
          <a:lstStyle/>
          <a:p>
            <a:pPr algn="ctr" indent="0" marL="0">
              <a:buNone/>
            </a:pPr>
            <a:r>
              <a:rPr lang="en-US" sz="930" dirty="0">
                <a:solidFill>
                  <a:srgbClr val="475569"/>
                </a:solidFill>
                <a:latin typeface="Arial" pitchFamily="34" charset="0"/>
                <a:ea typeface="Arial" pitchFamily="34" charset="-122"/>
                <a:cs typeface="Arial" pitchFamily="34" charset="-120"/>
              </a:rPr>
              <a:t>setTrackingEnabled</a:t>
            </a:r>
            <a:endParaRPr lang="en-US" sz="930" dirty="0"/>
          </a:p>
          <a:p>
            <a:pPr algn="ctr" indent="0" marL="0">
              <a:buNone/>
            </a:pPr>
            <a:r>
              <a:rPr lang="en-US" sz="930" dirty="0">
                <a:solidFill>
                  <a:srgbClr val="475569"/>
                </a:solidFill>
                <a:latin typeface="Arial" pitchFamily="34" charset="0"/>
                <a:ea typeface="Arial" pitchFamily="34" charset="-122"/>
                <a:cs typeface="Arial" pitchFamily="34" charset="-120"/>
              </a:rPr>
              <a:t>(false)</a:t>
            </a:r>
            <a:endParaRPr lang="en-US" sz="930" dirty="0"/>
          </a:p>
        </p:txBody>
      </p:sp>
      <p:sp>
        <p:nvSpPr>
          <p:cNvPr id="14" name="connector"/>
          <p:cNvSpPr/>
          <p:nvPr/>
        </p:nvSpPr>
        <p:spPr>
          <a:xfrm>
            <a:off x="4279392" y="1993392"/>
            <a:ext cx="310896" cy="0"/>
          </a:xfrm>
          <a:prstGeom prst="line">
            <a:avLst/>
          </a:prstGeom>
          <a:noFill/>
          <a:ln w="19050">
            <a:solidFill>
              <a:srgbClr val="64748B"/>
            </a:solidFill>
            <a:prstDash val="solid"/>
            <a:tailEnd type="triangle"/>
          </a:ln>
        </p:spPr>
      </p:sp>
      <p:sp>
        <p:nvSpPr>
          <p:cNvPr id="15" name="trace-node-3"/>
          <p:cNvSpPr/>
          <p:nvPr/>
        </p:nvSpPr>
        <p:spPr>
          <a:xfrm>
            <a:off x="4626864" y="1554480"/>
            <a:ext cx="1591056" cy="987552"/>
          </a:xfrm>
          <a:prstGeom prst="roundRect">
            <a:avLst/>
          </a:prstGeom>
          <a:solidFill>
            <a:srgbClr val="FEE2E2"/>
          </a:solidFill>
          <a:ln w="12700">
            <a:solidFill>
              <a:srgbClr val="FEE2E2"/>
            </a:solidFill>
            <a:prstDash val="solid"/>
          </a:ln>
        </p:spPr>
      </p:sp>
      <p:sp>
        <p:nvSpPr>
          <p:cNvPr id="16" name="pill"/>
          <p:cNvSpPr/>
          <p:nvPr/>
        </p:nvSpPr>
        <p:spPr>
          <a:xfrm>
            <a:off x="4736592" y="1664208"/>
            <a:ext cx="310896" cy="274320"/>
          </a:xfrm>
          <a:prstGeom prst="rect">
            <a:avLst/>
          </a:prstGeom>
          <a:solidFill>
            <a:srgbClr val="FFFFFF"/>
          </a:solidFill>
          <a:ln w="10160">
            <a:solidFill>
              <a:srgbClr val="FFFFFF"/>
            </a:solidFill>
          </a:ln>
        </p:spPr>
        <p:txBody>
          <a:bodyPr wrap="square" lIns="635" tIns="1270" rIns="1270" bIns="635" rtlCol="0" anchor="ctr"/>
          <a:lstStyle/>
          <a:p>
            <a:pPr algn="ctr" indent="0" marL="0">
              <a:buNone/>
            </a:pPr>
            <a:r>
              <a:rPr lang="en-US" sz="960" b="1" dirty="0">
                <a:solidFill>
                  <a:srgbClr val="991B1B"/>
                </a:solidFill>
                <a:latin typeface="Arial" pitchFamily="34" charset="0"/>
                <a:ea typeface="Arial" pitchFamily="34" charset="-122"/>
                <a:cs typeface="Arial" pitchFamily="34" charset="-120"/>
              </a:rPr>
              <a:t>3</a:t>
            </a:r>
            <a:endParaRPr lang="en-US" sz="960" dirty="0"/>
          </a:p>
        </p:txBody>
      </p:sp>
      <p:sp>
        <p:nvSpPr>
          <p:cNvPr id="17" name="body-text"/>
          <p:cNvSpPr/>
          <p:nvPr/>
        </p:nvSpPr>
        <p:spPr>
          <a:xfrm>
            <a:off x="4736592" y="1975104"/>
            <a:ext cx="1371600" cy="201168"/>
          </a:xfrm>
          <a:prstGeom prst="rect">
            <a:avLst/>
          </a:prstGeom>
          <a:noFill/>
          <a:ln/>
        </p:spPr>
        <p:txBody>
          <a:bodyPr wrap="square" lIns="0" tIns="0" rIns="0" bIns="0" rtlCol="0" anchor="t"/>
          <a:lstStyle/>
          <a:p>
            <a:pPr algn="l" indent="0" marL="0">
              <a:buNone/>
            </a:pPr>
            <a:r>
              <a:rPr lang="en-US" sz="1040" b="1" dirty="0">
                <a:solidFill>
                  <a:srgbClr val="991B1B"/>
                </a:solidFill>
                <a:latin typeface="Arial" pitchFamily="34" charset="0"/>
                <a:ea typeface="Arial" pitchFamily="34" charset="-122"/>
                <a:cs typeface="Arial" pitchFamily="34" charset="-120"/>
              </a:rPr>
              <a:t>Cleanup</a:t>
            </a:r>
            <a:endParaRPr lang="en-US" sz="1040" dirty="0"/>
          </a:p>
        </p:txBody>
      </p:sp>
      <p:sp>
        <p:nvSpPr>
          <p:cNvPr id="18" name="body-text"/>
          <p:cNvSpPr/>
          <p:nvPr/>
        </p:nvSpPr>
        <p:spPr>
          <a:xfrm>
            <a:off x="4736592" y="2176272"/>
            <a:ext cx="1371600" cy="310896"/>
          </a:xfrm>
          <a:prstGeom prst="rect">
            <a:avLst/>
          </a:prstGeom>
          <a:noFill/>
          <a:ln/>
        </p:spPr>
        <p:txBody>
          <a:bodyPr wrap="square" lIns="0" tIns="0" rIns="0" bIns="0" rtlCol="0" anchor="t"/>
          <a:lstStyle/>
          <a:p>
            <a:pPr algn="ctr" indent="0" marL="0">
              <a:buNone/>
            </a:pPr>
            <a:r>
              <a:rPr lang="en-US" sz="930" dirty="0">
                <a:solidFill>
                  <a:srgbClr val="475569"/>
                </a:solidFill>
                <a:latin typeface="Arial" pitchFamily="34" charset="0"/>
                <a:ea typeface="Arial" pitchFamily="34" charset="-122"/>
                <a:cs typeface="Arial" pitchFamily="34" charset="-120"/>
              </a:rPr>
              <a:t>remove visibility listener</a:t>
            </a:r>
            <a:endParaRPr lang="en-US" sz="930" dirty="0"/>
          </a:p>
        </p:txBody>
      </p:sp>
      <p:sp>
        <p:nvSpPr>
          <p:cNvPr id="19" name="connector"/>
          <p:cNvSpPr/>
          <p:nvPr/>
        </p:nvSpPr>
        <p:spPr>
          <a:xfrm>
            <a:off x="6236208" y="1993392"/>
            <a:ext cx="310896" cy="0"/>
          </a:xfrm>
          <a:prstGeom prst="line">
            <a:avLst/>
          </a:prstGeom>
          <a:noFill/>
          <a:ln w="19050">
            <a:solidFill>
              <a:srgbClr val="64748B"/>
            </a:solidFill>
            <a:prstDash val="solid"/>
            <a:tailEnd type="triangle"/>
          </a:ln>
        </p:spPr>
      </p:sp>
      <p:sp>
        <p:nvSpPr>
          <p:cNvPr id="20" name="trace-node-4"/>
          <p:cNvSpPr/>
          <p:nvPr/>
        </p:nvSpPr>
        <p:spPr>
          <a:xfrm>
            <a:off x="6583680" y="1554480"/>
            <a:ext cx="1591056" cy="987552"/>
          </a:xfrm>
          <a:prstGeom prst="roundRect">
            <a:avLst/>
          </a:prstGeom>
          <a:solidFill>
            <a:srgbClr val="DCFCE7"/>
          </a:solidFill>
          <a:ln w="12700">
            <a:solidFill>
              <a:srgbClr val="DCFCE7"/>
            </a:solidFill>
            <a:prstDash val="solid"/>
          </a:ln>
        </p:spPr>
      </p:sp>
      <p:sp>
        <p:nvSpPr>
          <p:cNvPr id="21" name="pill"/>
          <p:cNvSpPr/>
          <p:nvPr/>
        </p:nvSpPr>
        <p:spPr>
          <a:xfrm>
            <a:off x="6693408" y="1664208"/>
            <a:ext cx="310896" cy="274320"/>
          </a:xfrm>
          <a:prstGeom prst="rect">
            <a:avLst/>
          </a:prstGeom>
          <a:solidFill>
            <a:srgbClr val="FFFFFF"/>
          </a:solidFill>
          <a:ln w="10160">
            <a:solidFill>
              <a:srgbClr val="FFFFFF"/>
            </a:solidFill>
          </a:ln>
        </p:spPr>
        <p:txBody>
          <a:bodyPr wrap="square" lIns="635" tIns="1270" rIns="1270" bIns="635" rtlCol="0" anchor="ctr"/>
          <a:lstStyle/>
          <a:p>
            <a:pPr algn="ctr" indent="0" marL="0">
              <a:buNone/>
            </a:pPr>
            <a:r>
              <a:rPr lang="en-US" sz="960" b="1" dirty="0">
                <a:solidFill>
                  <a:srgbClr val="166534"/>
                </a:solidFill>
                <a:latin typeface="Arial" pitchFamily="34" charset="0"/>
                <a:ea typeface="Arial" pitchFamily="34" charset="-122"/>
                <a:cs typeface="Arial" pitchFamily="34" charset="-120"/>
              </a:rPr>
              <a:t>4</a:t>
            </a:r>
            <a:endParaRPr lang="en-US" sz="960" dirty="0"/>
          </a:p>
        </p:txBody>
      </p:sp>
      <p:sp>
        <p:nvSpPr>
          <p:cNvPr id="22" name="body-text"/>
          <p:cNvSpPr/>
          <p:nvPr/>
        </p:nvSpPr>
        <p:spPr>
          <a:xfrm>
            <a:off x="6693408" y="1975104"/>
            <a:ext cx="1371600" cy="201168"/>
          </a:xfrm>
          <a:prstGeom prst="rect">
            <a:avLst/>
          </a:prstGeom>
          <a:noFill/>
          <a:ln/>
        </p:spPr>
        <p:txBody>
          <a:bodyPr wrap="square" lIns="0" tIns="0" rIns="0" bIns="0" rtlCol="0" anchor="t"/>
          <a:lstStyle/>
          <a:p>
            <a:pPr algn="l" indent="0" marL="0">
              <a:buNone/>
            </a:pPr>
            <a:r>
              <a:rPr lang="en-US" sz="1040" b="1" dirty="0">
                <a:solidFill>
                  <a:srgbClr val="166534"/>
                </a:solidFill>
                <a:latin typeface="Arial" pitchFamily="34" charset="0"/>
                <a:ea typeface="Arial" pitchFamily="34" charset="-122"/>
                <a:cs typeface="Arial" pitchFamily="34" charset="-120"/>
              </a:rPr>
              <a:t>New setup</a:t>
            </a:r>
            <a:endParaRPr lang="en-US" sz="1040" dirty="0"/>
          </a:p>
        </p:txBody>
      </p:sp>
      <p:sp>
        <p:nvSpPr>
          <p:cNvPr id="23" name="body-text"/>
          <p:cNvSpPr/>
          <p:nvPr/>
        </p:nvSpPr>
        <p:spPr>
          <a:xfrm>
            <a:off x="6693408" y="2176272"/>
            <a:ext cx="1371600" cy="310896"/>
          </a:xfrm>
          <a:prstGeom prst="rect">
            <a:avLst/>
          </a:prstGeom>
          <a:noFill/>
          <a:ln/>
        </p:spPr>
        <p:txBody>
          <a:bodyPr wrap="square" lIns="0" tIns="0" rIns="0" bIns="0" rtlCol="0" anchor="t"/>
          <a:lstStyle/>
          <a:p>
            <a:pPr algn="ctr" indent="0" marL="0">
              <a:buNone/>
            </a:pPr>
            <a:r>
              <a:rPr lang="en-US" sz="930" dirty="0">
                <a:solidFill>
                  <a:srgbClr val="475569"/>
                </a:solidFill>
                <a:latin typeface="Arial" pitchFamily="34" charset="0"/>
                <a:ea typeface="Arial" pitchFamily="34" charset="-122"/>
                <a:cs typeface="Arial" pitchFamily="34" charset="-120"/>
              </a:rPr>
              <a:t>trackingEnabled = false</a:t>
            </a:r>
            <a:endParaRPr lang="en-US" sz="930" dirty="0"/>
          </a:p>
        </p:txBody>
      </p:sp>
      <p:sp>
        <p:nvSpPr>
          <p:cNvPr id="24" name="cleanup-code"/>
          <p:cNvSpPr/>
          <p:nvPr/>
        </p:nvSpPr>
        <p:spPr>
          <a:xfrm>
            <a:off x="859536" y="2834640"/>
            <a:ext cx="3090672" cy="95097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70" dirty="0">
                <a:solidFill>
                  <a:srgbClr val="FFFFFF"/>
                </a:solidFill>
                <a:latin typeface="Courier New" pitchFamily="34" charset="0"/>
                <a:ea typeface="Courier New" pitchFamily="34" charset="-122"/>
                <a:cs typeface="Courier New" pitchFamily="34" charset="-120"/>
              </a:rPr>
              <a:t>document.removeEventListener(</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"visibilitychange",</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handleVisibilityChange</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a:t>
            </a:r>
            <a:endParaRPr lang="en-US" sz="1070" dirty="0"/>
          </a:p>
        </p:txBody>
      </p:sp>
      <p:sp>
        <p:nvSpPr>
          <p:cNvPr id="25" name="new-setup-code"/>
          <p:cNvSpPr/>
          <p:nvPr/>
        </p:nvSpPr>
        <p:spPr>
          <a:xfrm>
            <a:off x="4151376" y="2834640"/>
            <a:ext cx="3273552" cy="95097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70" dirty="0">
                <a:solidFill>
                  <a:srgbClr val="FFFFFF"/>
                </a:solidFill>
                <a:latin typeface="Courier New" pitchFamily="34" charset="0"/>
                <a:ea typeface="Courier New" pitchFamily="34" charset="-122"/>
                <a:cs typeface="Courier New" pitchFamily="34" charset="-120"/>
              </a:rPr>
              <a:t>if (!trackingEnabled) {</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return;</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a:t>
            </a:r>
            <a:endParaRPr lang="en-US" sz="1070" dirty="0"/>
          </a:p>
          <a:p>
            <a:pPr indent="0" marL="0">
              <a:buNone/>
            </a:pP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no new listener is registered</a:t>
            </a:r>
            <a:endParaRPr lang="en-US" sz="1070" dirty="0"/>
          </a:p>
        </p:txBody>
      </p:sp>
      <p:sp>
        <p:nvSpPr>
          <p:cNvPr id="26" name="label"/>
          <p:cNvSpPr/>
          <p:nvPr/>
        </p:nvSpPr>
        <p:spPr>
          <a:xfrm>
            <a:off x="859536" y="3877056"/>
            <a:ext cx="3090672" cy="201168"/>
          </a:xfrm>
          <a:prstGeom prst="rect">
            <a:avLst/>
          </a:prstGeom>
          <a:noFill/>
          <a:ln/>
        </p:spPr>
        <p:txBody>
          <a:bodyPr wrap="square" lIns="0" tIns="0" rIns="0" bIns="0" rtlCol="0" anchor="ctr"/>
          <a:lstStyle/>
          <a:p>
            <a:pPr algn="ctr" indent="0" marL="0">
              <a:buNone/>
            </a:pPr>
            <a:r>
              <a:rPr lang="en-US" sz="1050" b="1" dirty="0">
                <a:solidFill>
                  <a:srgbClr val="991B1B"/>
                </a:solidFill>
                <a:latin typeface="Arial" pitchFamily="34" charset="0"/>
                <a:ea typeface="Arial" pitchFamily="34" charset="-122"/>
                <a:cs typeface="Arial" pitchFamily="34" charset="-120"/>
              </a:rPr>
              <a:t>Previous setup is stopped</a:t>
            </a:r>
            <a:endParaRPr lang="en-US" sz="1050" dirty="0"/>
          </a:p>
        </p:txBody>
      </p:sp>
      <p:sp>
        <p:nvSpPr>
          <p:cNvPr id="27" name="label"/>
          <p:cNvSpPr/>
          <p:nvPr/>
        </p:nvSpPr>
        <p:spPr>
          <a:xfrm>
            <a:off x="4151376" y="3877056"/>
            <a:ext cx="3273552" cy="201168"/>
          </a:xfrm>
          <a:prstGeom prst="rect">
            <a:avLst/>
          </a:prstGeom>
          <a:noFill/>
          <a:ln/>
        </p:spPr>
        <p:txBody>
          <a:bodyPr wrap="square" lIns="0" tIns="0" rIns="0" bIns="0" rtlCol="0" anchor="ctr"/>
          <a:lstStyle/>
          <a:p>
            <a:pPr algn="ctr" indent="0" marL="0">
              <a:buNone/>
            </a:pPr>
            <a:r>
              <a:rPr lang="en-US" sz="1050" b="1" dirty="0">
                <a:solidFill>
                  <a:srgbClr val="166534"/>
                </a:solidFill>
                <a:latin typeface="Arial" pitchFamily="34" charset="0"/>
                <a:ea typeface="Arial" pitchFamily="34" charset="-122"/>
                <a:cs typeface="Arial" pitchFamily="34" charset="-120"/>
              </a:rPr>
              <a:t>Setup uses the current state</a:t>
            </a:r>
            <a:endParaRPr lang="en-US" sz="1050" dirty="0"/>
          </a:p>
        </p:txBody>
      </p:sp>
      <p:sp>
        <p:nvSpPr>
          <p:cNvPr id="28" name="body-text"/>
          <p:cNvSpPr/>
          <p:nvPr/>
        </p:nvSpPr>
        <p:spPr>
          <a:xfrm>
            <a:off x="2011680" y="4187952"/>
            <a:ext cx="5120640" cy="256032"/>
          </a:xfrm>
          <a:prstGeom prst="rect">
            <a:avLst/>
          </a:prstGeom>
          <a:noFill/>
          <a:ln/>
        </p:spPr>
        <p:txBody>
          <a:bodyPr wrap="square" lIns="0" tIns="0" rIns="0" bIns="0" rtlCol="0" anchor="t"/>
          <a:lstStyle/>
          <a:p>
            <a:pPr algn="ctr" indent="0" marL="0">
              <a:buNone/>
            </a:pPr>
            <a:r>
              <a:rPr lang="en-US" sz="1100" b="1" dirty="0">
                <a:solidFill>
                  <a:srgbClr val="1E3A8A"/>
                </a:solidFill>
                <a:latin typeface="Arial" pitchFamily="34" charset="0"/>
                <a:ea typeface="Arial" pitchFamily="34" charset="-122"/>
                <a:cs typeface="Arial" pitchFamily="34" charset="-120"/>
              </a:rPr>
              <a:t>Enable tracking again and the same Effect setup registers a fresh listener.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Compare [] and [trackingEnabled]</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DEPENDENCIES</a:t>
            </a:r>
            <a:endParaRPr lang="en-US" sz="940" dirty="0"/>
          </a:p>
        </p:txBody>
      </p:sp>
      <p:sp>
        <p:nvSpPr>
          <p:cNvPr id="4" name="empty-deps"/>
          <p:cNvSpPr/>
          <p:nvPr/>
        </p:nvSpPr>
        <p:spPr>
          <a:xfrm>
            <a:off x="658368" y="1060704"/>
            <a:ext cx="3657600" cy="2688336"/>
          </a:xfrm>
          <a:prstGeom prst="roundRect">
            <a:avLst/>
          </a:prstGeom>
          <a:solidFill>
            <a:srgbClr val="EFF6FF"/>
          </a:solidFill>
          <a:ln w="12700">
            <a:solidFill>
              <a:srgbClr val="BFDBFE"/>
            </a:solidFill>
            <a:prstDash val="solid"/>
          </a:ln>
        </p:spPr>
      </p:sp>
      <p:sp>
        <p:nvSpPr>
          <p:cNvPr id="5" name="label"/>
          <p:cNvSpPr/>
          <p:nvPr/>
        </p:nvSpPr>
        <p:spPr>
          <a:xfrm>
            <a:off x="859536" y="1280160"/>
            <a:ext cx="1316736" cy="201168"/>
          </a:xfrm>
          <a:prstGeom prst="rect">
            <a:avLst/>
          </a:prstGeom>
          <a:noFill/>
          <a:ln/>
        </p:spPr>
        <p:txBody>
          <a:bodyPr wrap="square" lIns="0" tIns="0" rIns="0" bIns="0" rtlCol="0" anchor="ctr"/>
          <a:lstStyle/>
          <a:p>
            <a:pPr algn="l" indent="0" marL="0">
              <a:buNone/>
            </a:pPr>
            <a:r>
              <a:rPr lang="en-US" sz="1050" b="1" dirty="0">
                <a:solidFill>
                  <a:srgbClr val="1E3A8A"/>
                </a:solidFill>
                <a:latin typeface="Arial" pitchFamily="34" charset="0"/>
                <a:ea typeface="Arial" pitchFamily="34" charset="-122"/>
                <a:cs typeface="Arial" pitchFamily="34" charset="-120"/>
              </a:rPr>
              <a:t>Earlier version</a:t>
            </a:r>
            <a:endParaRPr lang="en-US" sz="1050" dirty="0"/>
          </a:p>
        </p:txBody>
      </p:sp>
      <p:sp>
        <p:nvSpPr>
          <p:cNvPr id="6" name="empty-deps-code"/>
          <p:cNvSpPr/>
          <p:nvPr/>
        </p:nvSpPr>
        <p:spPr>
          <a:xfrm>
            <a:off x="859536" y="1627632"/>
            <a:ext cx="3255264" cy="140817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30" dirty="0">
                <a:solidFill>
                  <a:srgbClr val="FFFFFF"/>
                </a:solidFill>
                <a:latin typeface="Courier New" pitchFamily="34" charset="0"/>
                <a:ea typeface="Courier New" pitchFamily="34" charset="-122"/>
                <a:cs typeface="Courier New" pitchFamily="34" charset="-120"/>
              </a:rPr>
              <a:t>useEffect(() =&gt; {</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 register visibility listener</a:t>
            </a:r>
            <a:endParaRPr lang="en-US" sz="1030" dirty="0"/>
          </a:p>
          <a:p>
            <a:pPr indent="0" marL="0">
              <a:buNone/>
            </a:pP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return () =&gt; {</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 remove visibility listener</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a:t>
            </a:r>
            <a:endParaRPr lang="en-US" sz="1030" dirty="0"/>
          </a:p>
        </p:txBody>
      </p:sp>
      <p:sp>
        <p:nvSpPr>
          <p:cNvPr id="7" name="mini-code"/>
          <p:cNvSpPr/>
          <p:nvPr/>
        </p:nvSpPr>
        <p:spPr>
          <a:xfrm>
            <a:off x="1993392" y="3218688"/>
            <a:ext cx="987552" cy="310896"/>
          </a:xfrm>
          <a:prstGeom prst="rect">
            <a:avLst/>
          </a:prstGeom>
          <a:solidFill>
            <a:srgbClr val="FFFFFF"/>
          </a:solidFill>
          <a:ln w="8890">
            <a:solidFill>
              <a:srgbClr val="BFDBFE"/>
            </a:solidFill>
          </a:ln>
        </p:spPr>
        <p:txBody>
          <a:bodyPr wrap="square" lIns="635" tIns="1270" rIns="1270" bIns="635" rtlCol="0" anchor="ctr"/>
          <a:lstStyle/>
          <a:p>
            <a:pPr algn="ctr" indent="0" marL="0">
              <a:buNone/>
            </a:pPr>
            <a:r>
              <a:rPr lang="en-US" sz="1200" dirty="0">
                <a:solidFill>
                  <a:srgbClr val="0F172A"/>
                </a:solidFill>
                <a:latin typeface="Courier New" pitchFamily="34" charset="0"/>
                <a:ea typeface="Courier New" pitchFamily="34" charset="-122"/>
                <a:cs typeface="Courier New" pitchFamily="34" charset="-120"/>
              </a:rPr>
              <a:t>[]</a:t>
            </a:r>
            <a:endParaRPr lang="en-US" sz="1200" dirty="0"/>
          </a:p>
        </p:txBody>
      </p:sp>
      <p:sp>
        <p:nvSpPr>
          <p:cNvPr id="8" name="body-text"/>
          <p:cNvSpPr/>
          <p:nvPr/>
        </p:nvSpPr>
        <p:spPr>
          <a:xfrm>
            <a:off x="859536" y="3547872"/>
            <a:ext cx="3255264" cy="347472"/>
          </a:xfrm>
          <a:prstGeom prst="rect">
            <a:avLst/>
          </a:prstGeom>
          <a:noFill/>
          <a:ln/>
        </p:spPr>
        <p:txBody>
          <a:bodyPr wrap="square" lIns="0" tIns="0" rIns="0" bIns="0" rtlCol="0" anchor="t"/>
          <a:lstStyle/>
          <a:p>
            <a:pPr algn="ctr" indent="0" marL="0">
              <a:buNone/>
            </a:pPr>
            <a:r>
              <a:rPr lang="en-US" sz="980" dirty="0">
                <a:solidFill>
                  <a:srgbClr val="475569"/>
                </a:solidFill>
                <a:latin typeface="Arial" pitchFamily="34" charset="0"/>
                <a:ea typeface="Arial" pitchFamily="34" charset="-122"/>
                <a:cs typeface="Arial" pitchFamily="34" charset="-120"/>
              </a:rPr>
              <a:t>The Effect does not read a changing reactive value from the component.</a:t>
            </a:r>
            <a:endParaRPr lang="en-US" sz="980" dirty="0"/>
          </a:p>
        </p:txBody>
      </p:sp>
      <p:sp>
        <p:nvSpPr>
          <p:cNvPr id="9" name="state-deps"/>
          <p:cNvSpPr/>
          <p:nvPr/>
        </p:nvSpPr>
        <p:spPr>
          <a:xfrm>
            <a:off x="4498848" y="1060704"/>
            <a:ext cx="3657600" cy="2688336"/>
          </a:xfrm>
          <a:prstGeom prst="roundRect">
            <a:avLst/>
          </a:prstGeom>
          <a:solidFill>
            <a:srgbClr val="DCFCE7"/>
          </a:solidFill>
          <a:ln w="12700">
            <a:solidFill>
              <a:srgbClr val="86EFAC"/>
            </a:solidFill>
            <a:prstDash val="solid"/>
          </a:ln>
        </p:spPr>
      </p:sp>
      <p:sp>
        <p:nvSpPr>
          <p:cNvPr id="10" name="label"/>
          <p:cNvSpPr/>
          <p:nvPr/>
        </p:nvSpPr>
        <p:spPr>
          <a:xfrm>
            <a:off x="4700016" y="1280160"/>
            <a:ext cx="1316736" cy="201168"/>
          </a:xfrm>
          <a:prstGeom prst="rect">
            <a:avLst/>
          </a:prstGeom>
          <a:noFill/>
          <a:ln/>
        </p:spPr>
        <p:txBody>
          <a:bodyPr wrap="square" lIns="0" tIns="0" rIns="0" bIns="0" rtlCol="0" anchor="ctr"/>
          <a:lstStyle/>
          <a:p>
            <a:pPr algn="l" indent="0" marL="0">
              <a:buNone/>
            </a:pPr>
            <a:r>
              <a:rPr lang="en-US" sz="1050" b="1" dirty="0">
                <a:solidFill>
                  <a:srgbClr val="166534"/>
                </a:solidFill>
                <a:latin typeface="Arial" pitchFamily="34" charset="0"/>
                <a:ea typeface="Arial" pitchFamily="34" charset="-122"/>
                <a:cs typeface="Arial" pitchFamily="34" charset="-120"/>
              </a:rPr>
              <a:t>Current version</a:t>
            </a:r>
            <a:endParaRPr lang="en-US" sz="1050" dirty="0"/>
          </a:p>
        </p:txBody>
      </p:sp>
      <p:sp>
        <p:nvSpPr>
          <p:cNvPr id="11" name="state-deps-code"/>
          <p:cNvSpPr/>
          <p:nvPr/>
        </p:nvSpPr>
        <p:spPr>
          <a:xfrm>
            <a:off x="4700016" y="1627632"/>
            <a:ext cx="3255264" cy="140817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30" dirty="0">
                <a:solidFill>
                  <a:srgbClr val="FFFFFF"/>
                </a:solidFill>
                <a:latin typeface="Courier New" pitchFamily="34" charset="0"/>
                <a:ea typeface="Courier New" pitchFamily="34" charset="-122"/>
                <a:cs typeface="Courier New" pitchFamily="34" charset="-120"/>
              </a:rPr>
              <a:t>useEffect(() =&gt; {</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if (!trackingEnabled) {</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return;</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a:t>
            </a:r>
            <a:endParaRPr lang="en-US" sz="1030" dirty="0"/>
          </a:p>
          <a:p>
            <a:pPr indent="0" marL="0">
              <a:buNone/>
            </a:pP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 register listener</a:t>
            </a:r>
            <a:endParaRPr lang="en-US" sz="1030" dirty="0"/>
          </a:p>
          <a:p>
            <a:pPr indent="0" marL="0">
              <a:buNone/>
            </a:pPr>
            <a:r>
              <a:rPr lang="en-US" sz="1030" dirty="0">
                <a:solidFill>
                  <a:srgbClr val="FFFFFF"/>
                </a:solidFill>
                <a:latin typeface="Courier New" pitchFamily="34" charset="0"/>
                <a:ea typeface="Courier New" pitchFamily="34" charset="-122"/>
                <a:cs typeface="Courier New" pitchFamily="34" charset="-120"/>
              </a:rPr>
              <a:t>}, [trackingEnabled]);</a:t>
            </a:r>
            <a:endParaRPr lang="en-US" sz="1030" dirty="0"/>
          </a:p>
        </p:txBody>
      </p:sp>
      <p:sp>
        <p:nvSpPr>
          <p:cNvPr id="12" name="mini-code"/>
          <p:cNvSpPr/>
          <p:nvPr/>
        </p:nvSpPr>
        <p:spPr>
          <a:xfrm>
            <a:off x="5650992" y="3218688"/>
            <a:ext cx="1389888" cy="310896"/>
          </a:xfrm>
          <a:prstGeom prst="rect">
            <a:avLst/>
          </a:prstGeom>
          <a:solidFill>
            <a:srgbClr val="FFFFFF"/>
          </a:solidFill>
          <a:ln w="8890">
            <a:solidFill>
              <a:srgbClr val="86EFAC"/>
            </a:solidFill>
          </a:ln>
        </p:spPr>
        <p:txBody>
          <a:bodyPr wrap="square" lIns="635" tIns="1270" rIns="1270" bIns="635" rtlCol="0" anchor="ctr"/>
          <a:lstStyle/>
          <a:p>
            <a:pPr algn="ctr" indent="0" marL="0">
              <a:buNone/>
            </a:pPr>
            <a:r>
              <a:rPr lang="en-US" sz="1000" dirty="0">
                <a:solidFill>
                  <a:srgbClr val="0F172A"/>
                </a:solidFill>
                <a:latin typeface="Courier New" pitchFamily="34" charset="0"/>
                <a:ea typeface="Courier New" pitchFamily="34" charset="-122"/>
                <a:cs typeface="Courier New" pitchFamily="34" charset="-120"/>
              </a:rPr>
              <a:t>[trackingEnabled]</a:t>
            </a:r>
            <a:endParaRPr lang="en-US" sz="1000" dirty="0"/>
          </a:p>
        </p:txBody>
      </p:sp>
      <p:sp>
        <p:nvSpPr>
          <p:cNvPr id="13" name="body-text"/>
          <p:cNvSpPr/>
          <p:nvPr/>
        </p:nvSpPr>
        <p:spPr>
          <a:xfrm>
            <a:off x="4700016" y="3547872"/>
            <a:ext cx="3255264" cy="347472"/>
          </a:xfrm>
          <a:prstGeom prst="rect">
            <a:avLst/>
          </a:prstGeom>
          <a:noFill/>
          <a:ln/>
        </p:spPr>
        <p:txBody>
          <a:bodyPr wrap="square" lIns="0" tIns="0" rIns="0" bIns="0" rtlCol="0" anchor="t"/>
          <a:lstStyle/>
          <a:p>
            <a:pPr algn="ctr" indent="0" marL="0">
              <a:buNone/>
            </a:pPr>
            <a:r>
              <a:rPr lang="en-US" sz="980" dirty="0">
                <a:solidFill>
                  <a:srgbClr val="475569"/>
                </a:solidFill>
                <a:latin typeface="Arial" pitchFamily="34" charset="0"/>
                <a:ea typeface="Arial" pitchFamily="34" charset="-122"/>
                <a:cs typeface="Arial" pitchFamily="34" charset="-120"/>
              </a:rPr>
              <a:t>The current state determines whether the listener should be active.</a:t>
            </a:r>
            <a:endParaRPr lang="en-US" sz="980" dirty="0"/>
          </a:p>
        </p:txBody>
      </p:sp>
      <p:sp>
        <p:nvSpPr>
          <p:cNvPr id="14" name="strip-React"/>
          <p:cNvSpPr/>
          <p:nvPr/>
        </p:nvSpPr>
        <p:spPr>
          <a:xfrm>
            <a:off x="1005840" y="4133088"/>
            <a:ext cx="6803136" cy="475488"/>
          </a:xfrm>
          <a:prstGeom prst="roundRect">
            <a:avLst/>
          </a:prstGeom>
          <a:solidFill>
            <a:srgbClr val="F8FAFC"/>
          </a:solidFill>
          <a:ln w="12700">
            <a:solidFill>
              <a:srgbClr val="F8FAFC"/>
            </a:solidFill>
            <a:prstDash val="solid"/>
          </a:ln>
        </p:spPr>
      </p:sp>
      <p:sp>
        <p:nvSpPr>
          <p:cNvPr id="15" name="strip-text-React"/>
          <p:cNvSpPr/>
          <p:nvPr/>
        </p:nvSpPr>
        <p:spPr>
          <a:xfrm>
            <a:off x="1152144" y="4233672"/>
            <a:ext cx="6510528" cy="292608"/>
          </a:xfrm>
          <a:prstGeom prst="rect">
            <a:avLst/>
          </a:prstGeom>
          <a:noFill/>
          <a:ln/>
        </p:spPr>
        <p:txBody>
          <a:bodyPr wrap="square" lIns="0" tIns="0" rIns="0" bIns="0" rtlCol="0" anchor="t"/>
          <a:lstStyle/>
          <a:p>
            <a:pPr indent="0" marL="0">
              <a:buNone/>
            </a:pPr>
            <a:r>
              <a:rPr lang="en-US" sz="1030" b="1" dirty="0">
                <a:solidFill>
                  <a:srgbClr val="1E3A8A"/>
                </a:solidFill>
                <a:latin typeface="Arial" pitchFamily="34" charset="0"/>
                <a:ea typeface="Arial" pitchFamily="34" charset="-122"/>
                <a:cs typeface="Arial" pitchFamily="34" charset="-120"/>
              </a:rPr>
              <a:t>React  </a:t>
            </a:r>
            <a:pPr indent="0" marL="0">
              <a:buNone/>
            </a:pPr>
            <a:r>
              <a:rPr lang="en-US" sz="1030" dirty="0">
                <a:solidFill>
                  <a:srgbClr val="0F172A"/>
                </a:solidFill>
                <a:latin typeface="Arial" pitchFamily="34" charset="0"/>
                <a:ea typeface="Arial" pitchFamily="34" charset="-122"/>
                <a:cs typeface="Arial" pitchFamily="34" charset="-120"/>
              </a:rPr>
              <a:t>After a render, React compares each dependency with its previous value. If one changed, React re-synchronizes that Effect.</a:t>
            </a:r>
            <a:endParaRPr lang="en-US" sz="10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The lifecycle of an Effect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DEPENDENCIES</a:t>
            </a:r>
            <a:endParaRPr lang="en-US" sz="940" dirty="0"/>
          </a:p>
        </p:txBody>
      </p:sp>
      <p:sp>
        <p:nvSpPr>
          <p:cNvPr id="4" name="body-text"/>
          <p:cNvSpPr/>
          <p:nvPr/>
        </p:nvSpPr>
        <p:spPr>
          <a:xfrm>
            <a:off x="621792" y="914400"/>
            <a:ext cx="7589520" cy="347472"/>
          </a:xfrm>
          <a:prstGeom prst="rect">
            <a:avLst/>
          </a:prstGeom>
          <a:noFill/>
          <a:ln/>
        </p:spPr>
        <p:txBody>
          <a:bodyPr wrap="square" lIns="0" tIns="0" rIns="0" bIns="0" rtlCol="0" anchor="t"/>
          <a:lstStyle/>
          <a:p>
            <a:pPr algn="l" indent="0" marL="0">
              <a:buNone/>
            </a:pPr>
            <a:r>
              <a:rPr lang="en-US" sz="1220" b="1" dirty="0">
                <a:solidFill>
                  <a:srgbClr val="0F172A"/>
                </a:solidFill>
                <a:latin typeface="Arial" pitchFamily="34" charset="0"/>
                <a:ea typeface="Arial" pitchFamily="34" charset="-122"/>
                <a:cs typeface="Arial" pitchFamily="34" charset="-120"/>
              </a:rPr>
              <a:t>A component can stay mounted while one of its Effects stops and starts synchronization multiple times.</a:t>
            </a:r>
            <a:endParaRPr lang="en-US" sz="1220" dirty="0"/>
          </a:p>
        </p:txBody>
      </p:sp>
      <p:sp>
        <p:nvSpPr>
          <p:cNvPr id="5" name="label"/>
          <p:cNvSpPr/>
          <p:nvPr/>
        </p:nvSpPr>
        <p:spPr>
          <a:xfrm>
            <a:off x="713232" y="1417320"/>
            <a:ext cx="1325880"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Component lifetime</a:t>
            </a:r>
            <a:endParaRPr lang="en-US" sz="1050" dirty="0"/>
          </a:p>
        </p:txBody>
      </p:sp>
      <p:sp>
        <p:nvSpPr>
          <p:cNvPr id="6" name="component-rail"/>
          <p:cNvSpPr/>
          <p:nvPr/>
        </p:nvSpPr>
        <p:spPr>
          <a:xfrm>
            <a:off x="2011680" y="1536192"/>
            <a:ext cx="5623560" cy="0"/>
          </a:xfrm>
          <a:prstGeom prst="line">
            <a:avLst/>
          </a:prstGeom>
          <a:noFill/>
          <a:ln w="38100">
            <a:solidFill>
              <a:srgbClr val="CBD5E1"/>
            </a:solidFill>
            <a:prstDash val="solid"/>
          </a:ln>
        </p:spPr>
      </p:sp>
      <p:sp>
        <p:nvSpPr>
          <p:cNvPr id="7" name="component-dot-0"/>
          <p:cNvSpPr/>
          <p:nvPr/>
        </p:nvSpPr>
        <p:spPr>
          <a:xfrm>
            <a:off x="2103120" y="1426464"/>
            <a:ext cx="219456" cy="219456"/>
          </a:xfrm>
          <a:prstGeom prst="ellipse">
            <a:avLst/>
          </a:prstGeom>
          <a:solidFill>
            <a:srgbClr val="1E3A8A"/>
          </a:solidFill>
          <a:ln w="12700">
            <a:solidFill>
              <a:srgbClr val="1E3A8A"/>
            </a:solidFill>
            <a:prstDash val="solid"/>
          </a:ln>
        </p:spPr>
      </p:sp>
      <p:sp>
        <p:nvSpPr>
          <p:cNvPr id="8" name="body-text"/>
          <p:cNvSpPr/>
          <p:nvPr/>
        </p:nvSpPr>
        <p:spPr>
          <a:xfrm>
            <a:off x="1847088" y="1700784"/>
            <a:ext cx="731520" cy="201168"/>
          </a:xfrm>
          <a:prstGeom prst="rect">
            <a:avLst/>
          </a:prstGeom>
          <a:noFill/>
          <a:ln/>
        </p:spPr>
        <p:txBody>
          <a:bodyPr wrap="square" lIns="0" tIns="0" rIns="0" bIns="0" rtlCol="0" anchor="t"/>
          <a:lstStyle/>
          <a:p>
            <a:pPr algn="ctr" indent="0" marL="0">
              <a:buNone/>
            </a:pPr>
            <a:r>
              <a:rPr lang="en-US" sz="1040" b="1" dirty="0">
                <a:solidFill>
                  <a:srgbClr val="1E3A8A"/>
                </a:solidFill>
                <a:latin typeface="Arial" pitchFamily="34" charset="0"/>
                <a:ea typeface="Arial" pitchFamily="34" charset="-122"/>
                <a:cs typeface="Arial" pitchFamily="34" charset="-120"/>
              </a:rPr>
              <a:t>Mount</a:t>
            </a:r>
            <a:endParaRPr lang="en-US" sz="1040" dirty="0"/>
          </a:p>
        </p:txBody>
      </p:sp>
      <p:sp>
        <p:nvSpPr>
          <p:cNvPr id="9" name="component-dot-1"/>
          <p:cNvSpPr/>
          <p:nvPr/>
        </p:nvSpPr>
        <p:spPr>
          <a:xfrm>
            <a:off x="4700016" y="1426464"/>
            <a:ext cx="219456" cy="219456"/>
          </a:xfrm>
          <a:prstGeom prst="ellipse">
            <a:avLst/>
          </a:prstGeom>
          <a:solidFill>
            <a:srgbClr val="1E3A8A"/>
          </a:solidFill>
          <a:ln w="12700">
            <a:solidFill>
              <a:srgbClr val="1E3A8A"/>
            </a:solidFill>
            <a:prstDash val="solid"/>
          </a:ln>
        </p:spPr>
      </p:sp>
      <p:sp>
        <p:nvSpPr>
          <p:cNvPr id="10" name="body-text"/>
          <p:cNvSpPr/>
          <p:nvPr/>
        </p:nvSpPr>
        <p:spPr>
          <a:xfrm>
            <a:off x="4443984" y="1700784"/>
            <a:ext cx="731520" cy="201168"/>
          </a:xfrm>
          <a:prstGeom prst="rect">
            <a:avLst/>
          </a:prstGeom>
          <a:noFill/>
          <a:ln/>
        </p:spPr>
        <p:txBody>
          <a:bodyPr wrap="square" lIns="0" tIns="0" rIns="0" bIns="0" rtlCol="0" anchor="t"/>
          <a:lstStyle/>
          <a:p>
            <a:pPr algn="ctr" indent="0" marL="0">
              <a:buNone/>
            </a:pPr>
            <a:r>
              <a:rPr lang="en-US" sz="1040" b="1" dirty="0">
                <a:solidFill>
                  <a:srgbClr val="1E3A8A"/>
                </a:solidFill>
                <a:latin typeface="Arial" pitchFamily="34" charset="0"/>
                <a:ea typeface="Arial" pitchFamily="34" charset="-122"/>
                <a:cs typeface="Arial" pitchFamily="34" charset="-120"/>
              </a:rPr>
              <a:t>Update</a:t>
            </a:r>
            <a:endParaRPr lang="en-US" sz="1040" dirty="0"/>
          </a:p>
        </p:txBody>
      </p:sp>
      <p:sp>
        <p:nvSpPr>
          <p:cNvPr id="11" name="component-dot-2"/>
          <p:cNvSpPr/>
          <p:nvPr/>
        </p:nvSpPr>
        <p:spPr>
          <a:xfrm>
            <a:off x="7333488" y="1426464"/>
            <a:ext cx="219456" cy="219456"/>
          </a:xfrm>
          <a:prstGeom prst="ellipse">
            <a:avLst/>
          </a:prstGeom>
          <a:solidFill>
            <a:srgbClr val="1E3A8A"/>
          </a:solidFill>
          <a:ln w="12700">
            <a:solidFill>
              <a:srgbClr val="1E3A8A"/>
            </a:solidFill>
            <a:prstDash val="solid"/>
          </a:ln>
        </p:spPr>
      </p:sp>
      <p:sp>
        <p:nvSpPr>
          <p:cNvPr id="12" name="body-text"/>
          <p:cNvSpPr/>
          <p:nvPr/>
        </p:nvSpPr>
        <p:spPr>
          <a:xfrm>
            <a:off x="7077456" y="1700784"/>
            <a:ext cx="731520" cy="201168"/>
          </a:xfrm>
          <a:prstGeom prst="rect">
            <a:avLst/>
          </a:prstGeom>
          <a:noFill/>
          <a:ln/>
        </p:spPr>
        <p:txBody>
          <a:bodyPr wrap="square" lIns="0" tIns="0" rIns="0" bIns="0" rtlCol="0" anchor="t"/>
          <a:lstStyle/>
          <a:p>
            <a:pPr algn="ctr" indent="0" marL="0">
              <a:buNone/>
            </a:pPr>
            <a:r>
              <a:rPr lang="en-US" sz="1040" b="1" dirty="0">
                <a:solidFill>
                  <a:srgbClr val="1E3A8A"/>
                </a:solidFill>
                <a:latin typeface="Arial" pitchFamily="34" charset="0"/>
                <a:ea typeface="Arial" pitchFamily="34" charset="-122"/>
                <a:cs typeface="Arial" pitchFamily="34" charset="-120"/>
              </a:rPr>
              <a:t>Unmount</a:t>
            </a:r>
            <a:endParaRPr lang="en-US" sz="1040" dirty="0"/>
          </a:p>
        </p:txBody>
      </p:sp>
      <p:sp>
        <p:nvSpPr>
          <p:cNvPr id="13" name="label"/>
          <p:cNvSpPr/>
          <p:nvPr/>
        </p:nvSpPr>
        <p:spPr>
          <a:xfrm>
            <a:off x="713232" y="2212848"/>
            <a:ext cx="1463040"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Effect synchronization</a:t>
            </a:r>
            <a:endParaRPr lang="en-US" sz="1050" dirty="0"/>
          </a:p>
        </p:txBody>
      </p:sp>
      <p:sp>
        <p:nvSpPr>
          <p:cNvPr id="14" name="effect-card-0"/>
          <p:cNvSpPr/>
          <p:nvPr/>
        </p:nvSpPr>
        <p:spPr>
          <a:xfrm>
            <a:off x="1938528" y="2487168"/>
            <a:ext cx="1591056" cy="914400"/>
          </a:xfrm>
          <a:prstGeom prst="roundRect">
            <a:avLst/>
          </a:prstGeom>
          <a:solidFill>
            <a:srgbClr val="EFF6FF"/>
          </a:solidFill>
          <a:ln w="12700">
            <a:solidFill>
              <a:srgbClr val="EFF6FF"/>
            </a:solidFill>
            <a:prstDash val="solid"/>
          </a:ln>
        </p:spPr>
      </p:sp>
      <p:sp>
        <p:nvSpPr>
          <p:cNvPr id="15" name="body-text"/>
          <p:cNvSpPr/>
          <p:nvPr/>
        </p:nvSpPr>
        <p:spPr>
          <a:xfrm>
            <a:off x="2066544" y="2633472"/>
            <a:ext cx="1335024" cy="201168"/>
          </a:xfrm>
          <a:prstGeom prst="rect">
            <a:avLst/>
          </a:prstGeom>
          <a:noFill/>
          <a:ln/>
        </p:spPr>
        <p:txBody>
          <a:bodyPr wrap="square" lIns="0" tIns="0" rIns="0" bIns="0" rtlCol="0" anchor="t"/>
          <a:lstStyle/>
          <a:p>
            <a:pPr algn="ctr" indent="0" marL="0">
              <a:buNone/>
            </a:pPr>
            <a:r>
              <a:rPr lang="en-US" sz="1120" b="1" dirty="0">
                <a:solidFill>
                  <a:srgbClr val="1E3A8A"/>
                </a:solidFill>
                <a:latin typeface="Arial" pitchFamily="34" charset="0"/>
                <a:ea typeface="Arial" pitchFamily="34" charset="-122"/>
                <a:cs typeface="Arial" pitchFamily="34" charset="-120"/>
              </a:rPr>
              <a:t>Setup</a:t>
            </a:r>
            <a:endParaRPr lang="en-US" sz="1120" dirty="0"/>
          </a:p>
        </p:txBody>
      </p:sp>
      <p:sp>
        <p:nvSpPr>
          <p:cNvPr id="16" name="body-text"/>
          <p:cNvSpPr/>
          <p:nvPr/>
        </p:nvSpPr>
        <p:spPr>
          <a:xfrm>
            <a:off x="2066544" y="2926080"/>
            <a:ext cx="1335024" cy="274320"/>
          </a:xfrm>
          <a:prstGeom prst="rect">
            <a:avLst/>
          </a:prstGeom>
          <a:noFill/>
          <a:ln/>
        </p:spPr>
        <p:txBody>
          <a:bodyPr wrap="square" lIns="0" tIns="0" rIns="0" bIns="0" rtlCol="0" anchor="t"/>
          <a:lstStyle/>
          <a:p>
            <a:pPr algn="ctr" indent="0" marL="0">
              <a:buNone/>
            </a:pPr>
            <a:r>
              <a:rPr lang="en-US" sz="980" dirty="0">
                <a:solidFill>
                  <a:srgbClr val="475569"/>
                </a:solidFill>
                <a:latin typeface="Arial" pitchFamily="34" charset="0"/>
                <a:ea typeface="Arial" pitchFamily="34" charset="-122"/>
                <a:cs typeface="Arial" pitchFamily="34" charset="-120"/>
              </a:rPr>
              <a:t>register listener</a:t>
            </a:r>
            <a:endParaRPr lang="en-US" sz="980" dirty="0"/>
          </a:p>
        </p:txBody>
      </p:sp>
      <p:sp>
        <p:nvSpPr>
          <p:cNvPr id="17" name="connector"/>
          <p:cNvSpPr/>
          <p:nvPr/>
        </p:nvSpPr>
        <p:spPr>
          <a:xfrm>
            <a:off x="3566160" y="2944368"/>
            <a:ext cx="237744" cy="0"/>
          </a:xfrm>
          <a:prstGeom prst="line">
            <a:avLst/>
          </a:prstGeom>
          <a:noFill/>
          <a:ln w="19050">
            <a:solidFill>
              <a:srgbClr val="64748B"/>
            </a:solidFill>
            <a:prstDash val="solid"/>
            <a:tailEnd type="triangle"/>
          </a:ln>
        </p:spPr>
      </p:sp>
      <p:sp>
        <p:nvSpPr>
          <p:cNvPr id="18" name="effect-card-1"/>
          <p:cNvSpPr/>
          <p:nvPr/>
        </p:nvSpPr>
        <p:spPr>
          <a:xfrm>
            <a:off x="3858768" y="2487168"/>
            <a:ext cx="1591056" cy="914400"/>
          </a:xfrm>
          <a:prstGeom prst="roundRect">
            <a:avLst/>
          </a:prstGeom>
          <a:solidFill>
            <a:srgbClr val="FEE2E2"/>
          </a:solidFill>
          <a:ln w="12700">
            <a:solidFill>
              <a:srgbClr val="FEE2E2"/>
            </a:solidFill>
            <a:prstDash val="solid"/>
          </a:ln>
        </p:spPr>
      </p:sp>
      <p:sp>
        <p:nvSpPr>
          <p:cNvPr id="19" name="body-text"/>
          <p:cNvSpPr/>
          <p:nvPr/>
        </p:nvSpPr>
        <p:spPr>
          <a:xfrm>
            <a:off x="3986784" y="2633472"/>
            <a:ext cx="1335024" cy="201168"/>
          </a:xfrm>
          <a:prstGeom prst="rect">
            <a:avLst/>
          </a:prstGeom>
          <a:noFill/>
          <a:ln/>
        </p:spPr>
        <p:txBody>
          <a:bodyPr wrap="square" lIns="0" tIns="0" rIns="0" bIns="0" rtlCol="0" anchor="t"/>
          <a:lstStyle/>
          <a:p>
            <a:pPr algn="ctr" indent="0" marL="0">
              <a:buNone/>
            </a:pPr>
            <a:r>
              <a:rPr lang="en-US" sz="1120" b="1" dirty="0">
                <a:solidFill>
                  <a:srgbClr val="991B1B"/>
                </a:solidFill>
                <a:latin typeface="Arial" pitchFamily="34" charset="0"/>
                <a:ea typeface="Arial" pitchFamily="34" charset="-122"/>
                <a:cs typeface="Arial" pitchFamily="34" charset="-120"/>
              </a:rPr>
              <a:t>Cleanup</a:t>
            </a:r>
            <a:endParaRPr lang="en-US" sz="1120" dirty="0"/>
          </a:p>
        </p:txBody>
      </p:sp>
      <p:sp>
        <p:nvSpPr>
          <p:cNvPr id="20" name="body-text"/>
          <p:cNvSpPr/>
          <p:nvPr/>
        </p:nvSpPr>
        <p:spPr>
          <a:xfrm>
            <a:off x="3986784" y="2926080"/>
            <a:ext cx="1335024" cy="274320"/>
          </a:xfrm>
          <a:prstGeom prst="rect">
            <a:avLst/>
          </a:prstGeom>
          <a:noFill/>
          <a:ln/>
        </p:spPr>
        <p:txBody>
          <a:bodyPr wrap="square" lIns="0" tIns="0" rIns="0" bIns="0" rtlCol="0" anchor="t"/>
          <a:lstStyle/>
          <a:p>
            <a:pPr algn="ctr" indent="0" marL="0">
              <a:buNone/>
            </a:pPr>
            <a:r>
              <a:rPr lang="en-US" sz="980" dirty="0">
                <a:solidFill>
                  <a:srgbClr val="475569"/>
                </a:solidFill>
                <a:latin typeface="Arial" pitchFamily="34" charset="0"/>
                <a:ea typeface="Arial" pitchFamily="34" charset="-122"/>
                <a:cs typeface="Arial" pitchFamily="34" charset="-120"/>
              </a:rPr>
              <a:t>remove old listener</a:t>
            </a:r>
            <a:endParaRPr lang="en-US" sz="980" dirty="0"/>
          </a:p>
        </p:txBody>
      </p:sp>
      <p:sp>
        <p:nvSpPr>
          <p:cNvPr id="21" name="connector"/>
          <p:cNvSpPr/>
          <p:nvPr/>
        </p:nvSpPr>
        <p:spPr>
          <a:xfrm>
            <a:off x="5486400" y="2944368"/>
            <a:ext cx="237744" cy="0"/>
          </a:xfrm>
          <a:prstGeom prst="line">
            <a:avLst/>
          </a:prstGeom>
          <a:noFill/>
          <a:ln w="19050">
            <a:solidFill>
              <a:srgbClr val="64748B"/>
            </a:solidFill>
            <a:prstDash val="solid"/>
            <a:tailEnd type="triangle"/>
          </a:ln>
        </p:spPr>
      </p:sp>
      <p:sp>
        <p:nvSpPr>
          <p:cNvPr id="22" name="effect-card-2"/>
          <p:cNvSpPr/>
          <p:nvPr/>
        </p:nvSpPr>
        <p:spPr>
          <a:xfrm>
            <a:off x="5779008" y="2487168"/>
            <a:ext cx="1591056" cy="914400"/>
          </a:xfrm>
          <a:prstGeom prst="roundRect">
            <a:avLst/>
          </a:prstGeom>
          <a:solidFill>
            <a:srgbClr val="DCFCE7"/>
          </a:solidFill>
          <a:ln w="12700">
            <a:solidFill>
              <a:srgbClr val="DCFCE7"/>
            </a:solidFill>
            <a:prstDash val="solid"/>
          </a:ln>
        </p:spPr>
      </p:sp>
      <p:sp>
        <p:nvSpPr>
          <p:cNvPr id="23" name="body-text"/>
          <p:cNvSpPr/>
          <p:nvPr/>
        </p:nvSpPr>
        <p:spPr>
          <a:xfrm>
            <a:off x="5907024" y="2633472"/>
            <a:ext cx="1335024" cy="201168"/>
          </a:xfrm>
          <a:prstGeom prst="rect">
            <a:avLst/>
          </a:prstGeom>
          <a:noFill/>
          <a:ln/>
        </p:spPr>
        <p:txBody>
          <a:bodyPr wrap="square" lIns="0" tIns="0" rIns="0" bIns="0" rtlCol="0" anchor="t"/>
          <a:lstStyle/>
          <a:p>
            <a:pPr algn="ctr" indent="0" marL="0">
              <a:buNone/>
            </a:pPr>
            <a:r>
              <a:rPr lang="en-US" sz="1120" b="1" dirty="0">
                <a:solidFill>
                  <a:srgbClr val="166534"/>
                </a:solidFill>
                <a:latin typeface="Arial" pitchFamily="34" charset="0"/>
                <a:ea typeface="Arial" pitchFamily="34" charset="-122"/>
                <a:cs typeface="Arial" pitchFamily="34" charset="-120"/>
              </a:rPr>
              <a:t>Setup</a:t>
            </a:r>
            <a:endParaRPr lang="en-US" sz="1120" dirty="0"/>
          </a:p>
        </p:txBody>
      </p:sp>
      <p:sp>
        <p:nvSpPr>
          <p:cNvPr id="24" name="body-text"/>
          <p:cNvSpPr/>
          <p:nvPr/>
        </p:nvSpPr>
        <p:spPr>
          <a:xfrm>
            <a:off x="5907024" y="2926080"/>
            <a:ext cx="1335024" cy="274320"/>
          </a:xfrm>
          <a:prstGeom prst="rect">
            <a:avLst/>
          </a:prstGeom>
          <a:noFill/>
          <a:ln/>
        </p:spPr>
        <p:txBody>
          <a:bodyPr wrap="square" lIns="0" tIns="0" rIns="0" bIns="0" rtlCol="0" anchor="t"/>
          <a:lstStyle/>
          <a:p>
            <a:pPr algn="ctr" indent="0" marL="0">
              <a:buNone/>
            </a:pPr>
            <a:r>
              <a:rPr lang="en-US" sz="980" dirty="0">
                <a:solidFill>
                  <a:srgbClr val="475569"/>
                </a:solidFill>
                <a:latin typeface="Arial" pitchFamily="34" charset="0"/>
                <a:ea typeface="Arial" pitchFamily="34" charset="-122"/>
                <a:cs typeface="Arial" pitchFamily="34" charset="-120"/>
              </a:rPr>
              <a:t>use current state</a:t>
            </a:r>
            <a:endParaRPr lang="en-US" sz="980" dirty="0"/>
          </a:p>
        </p:txBody>
      </p:sp>
      <p:sp>
        <p:nvSpPr>
          <p:cNvPr id="25" name="lifecycle-summary"/>
          <p:cNvSpPr/>
          <p:nvPr/>
        </p:nvSpPr>
        <p:spPr>
          <a:xfrm>
            <a:off x="914400" y="3730752"/>
            <a:ext cx="6967728" cy="621792"/>
          </a:xfrm>
          <a:prstGeom prst="roundRect">
            <a:avLst/>
          </a:prstGeom>
          <a:solidFill>
            <a:srgbClr val="F8FAFC"/>
          </a:solidFill>
          <a:ln w="12700">
            <a:solidFill>
              <a:srgbClr val="CBD5E1"/>
            </a:solidFill>
            <a:prstDash val="solid"/>
          </a:ln>
        </p:spPr>
      </p:sp>
      <p:sp>
        <p:nvSpPr>
          <p:cNvPr id="26" name="rich-text"/>
          <p:cNvSpPr/>
          <p:nvPr/>
        </p:nvSpPr>
        <p:spPr>
          <a:xfrm>
            <a:off x="1097280" y="3867912"/>
            <a:ext cx="6601968" cy="310896"/>
          </a:xfrm>
          <a:prstGeom prst="rect">
            <a:avLst/>
          </a:prstGeom>
          <a:noFill/>
          <a:ln/>
        </p:spPr>
        <p:txBody>
          <a:bodyPr wrap="square" lIns="0" tIns="0" rIns="0" bIns="0" rtlCol="0" anchor="t"/>
          <a:lstStyle/>
          <a:p>
            <a:pPr indent="0" marL="0">
              <a:buNone/>
            </a:pPr>
            <a:r>
              <a:rPr lang="en-US" sz="1070" b="1" dirty="0">
                <a:solidFill>
                  <a:srgbClr val="1E3A8A"/>
                </a:solidFill>
                <a:latin typeface="Arial" pitchFamily="34" charset="0"/>
                <a:ea typeface="Arial" pitchFamily="34" charset="-122"/>
                <a:cs typeface="Arial" pitchFamily="34" charset="-120"/>
              </a:rPr>
              <a:t>Mount: </a:t>
            </a:r>
            <a:pPr indent="0" marL="0">
              <a:buNone/>
            </a:pPr>
            <a:r>
              <a:rPr lang="en-US" sz="1070" dirty="0">
                <a:solidFill>
                  <a:srgbClr val="0F172A"/>
                </a:solidFill>
                <a:latin typeface="Arial" pitchFamily="34" charset="0"/>
                <a:ea typeface="Arial" pitchFamily="34" charset="-122"/>
                <a:cs typeface="Arial" pitchFamily="34" charset="-120"/>
              </a:rPr>
              <a:t>run setup.   </a:t>
            </a:r>
            <a:pPr indent="0" marL="0">
              <a:buNone/>
            </a:pPr>
            <a:r>
              <a:rPr lang="en-US" sz="1070" b="1" dirty="0">
                <a:solidFill>
                  <a:srgbClr val="991B1B"/>
                </a:solidFill>
                <a:latin typeface="Arial" pitchFamily="34" charset="0"/>
                <a:ea typeface="Arial" pitchFamily="34" charset="-122"/>
                <a:cs typeface="Arial" pitchFamily="34" charset="-120"/>
              </a:rPr>
              <a:t>Dependency changes: </a:t>
            </a:r>
            <a:pPr indent="0" marL="0">
              <a:buNone/>
            </a:pPr>
            <a:r>
              <a:rPr lang="en-US" sz="1070" dirty="0">
                <a:solidFill>
                  <a:srgbClr val="0F172A"/>
                </a:solidFill>
                <a:latin typeface="Arial" pitchFamily="34" charset="0"/>
                <a:ea typeface="Arial" pitchFamily="34" charset="-122"/>
                <a:cs typeface="Arial" pitchFamily="34" charset="-120"/>
              </a:rPr>
              <a:t>cleanup previous setup, then run setup again.   </a:t>
            </a:r>
            <a:pPr indent="0" marL="0">
              <a:buNone/>
            </a:pPr>
            <a:r>
              <a:rPr lang="en-US" sz="1070" b="1" dirty="0">
                <a:solidFill>
                  <a:srgbClr val="166534"/>
                </a:solidFill>
                <a:latin typeface="Arial" pitchFamily="34" charset="0"/>
                <a:ea typeface="Arial" pitchFamily="34" charset="-122"/>
                <a:cs typeface="Arial" pitchFamily="34" charset="-120"/>
              </a:rPr>
              <a:t>Unmount: </a:t>
            </a:r>
            <a:pPr indent="0" marL="0">
              <a:buNone/>
            </a:pPr>
            <a:r>
              <a:rPr lang="en-US" sz="1070" dirty="0">
                <a:solidFill>
                  <a:srgbClr val="0F172A"/>
                </a:solidFill>
                <a:latin typeface="Arial" pitchFamily="34" charset="0"/>
                <a:ea typeface="Arial" pitchFamily="34" charset="-122"/>
                <a:cs typeface="Arial" pitchFamily="34" charset="-120"/>
              </a:rPr>
              <a:t>run final cleanup.</a:t>
            </a:r>
            <a:endParaRPr lang="en-US" sz="107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Setup and cleanup describe one process</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DEPENDENCIES</a:t>
            </a:r>
            <a:endParaRPr lang="en-US" sz="940" dirty="0"/>
          </a:p>
        </p:txBody>
      </p:sp>
      <p:sp>
        <p:nvSpPr>
          <p:cNvPr id="4" name="body-text"/>
          <p:cNvSpPr/>
          <p:nvPr/>
        </p:nvSpPr>
        <p:spPr>
          <a:xfrm>
            <a:off x="676656" y="950976"/>
            <a:ext cx="7315200" cy="310896"/>
          </a:xfrm>
          <a:prstGeom prst="rect">
            <a:avLst/>
          </a:prstGeom>
          <a:noFill/>
          <a:ln/>
        </p:spPr>
        <p:txBody>
          <a:bodyPr wrap="square" lIns="0" tIns="0" rIns="0" bIns="0" rtlCol="0" anchor="t"/>
          <a:lstStyle/>
          <a:p>
            <a:pPr algn="l" indent="0" marL="0">
              <a:buNone/>
            </a:pPr>
            <a:r>
              <a:rPr lang="en-US" sz="1210" b="1" dirty="0">
                <a:solidFill>
                  <a:srgbClr val="0F172A"/>
                </a:solidFill>
                <a:latin typeface="Arial" pitchFamily="34" charset="0"/>
                <a:ea typeface="Arial" pitchFamily="34" charset="-122"/>
                <a:cs typeface="Arial" pitchFamily="34" charset="-120"/>
              </a:rPr>
              <a:t>One Effect responsibility: keep tab monitoring synchronized with trackingEnabled.</a:t>
            </a:r>
            <a:endParaRPr lang="en-US" sz="1210" dirty="0"/>
          </a:p>
        </p:txBody>
      </p:sp>
      <p:sp>
        <p:nvSpPr>
          <p:cNvPr id="5" name="setup-process"/>
          <p:cNvSpPr/>
          <p:nvPr/>
        </p:nvSpPr>
        <p:spPr>
          <a:xfrm>
            <a:off x="841248" y="1572768"/>
            <a:ext cx="3218688" cy="1609344"/>
          </a:xfrm>
          <a:prstGeom prst="roundRect">
            <a:avLst/>
          </a:prstGeom>
          <a:solidFill>
            <a:srgbClr val="EFF6FF"/>
          </a:solidFill>
          <a:ln w="12700">
            <a:solidFill>
              <a:srgbClr val="BFDBFE"/>
            </a:solidFill>
            <a:prstDash val="solid"/>
          </a:ln>
        </p:spPr>
      </p:sp>
      <p:sp>
        <p:nvSpPr>
          <p:cNvPr id="6" name="body-text"/>
          <p:cNvSpPr/>
          <p:nvPr/>
        </p:nvSpPr>
        <p:spPr>
          <a:xfrm>
            <a:off x="1078992" y="1810512"/>
            <a:ext cx="1005840" cy="219456"/>
          </a:xfrm>
          <a:prstGeom prst="rect">
            <a:avLst/>
          </a:prstGeom>
          <a:noFill/>
          <a:ln/>
        </p:spPr>
        <p:txBody>
          <a:bodyPr wrap="square" lIns="0" tIns="0" rIns="0" bIns="0" rtlCol="0" anchor="t"/>
          <a:lstStyle/>
          <a:p>
            <a:pPr algn="l" indent="0" marL="0">
              <a:buNone/>
            </a:pPr>
            <a:r>
              <a:rPr lang="en-US" sz="1200" b="1" dirty="0">
                <a:solidFill>
                  <a:srgbClr val="1E3A8A"/>
                </a:solidFill>
                <a:latin typeface="Arial" pitchFamily="34" charset="0"/>
                <a:ea typeface="Arial" pitchFamily="34" charset="-122"/>
                <a:cs typeface="Arial" pitchFamily="34" charset="-120"/>
              </a:rPr>
              <a:t>Setup</a:t>
            </a:r>
            <a:endParaRPr lang="en-US" sz="1200" dirty="0"/>
          </a:p>
        </p:txBody>
      </p:sp>
      <p:sp>
        <p:nvSpPr>
          <p:cNvPr id="7" name="setup-process-code"/>
          <p:cNvSpPr/>
          <p:nvPr/>
        </p:nvSpPr>
        <p:spPr>
          <a:xfrm>
            <a:off x="1078992" y="2194560"/>
            <a:ext cx="2743200" cy="73152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20" dirty="0">
                <a:solidFill>
                  <a:srgbClr val="FFFFFF"/>
                </a:solidFill>
                <a:latin typeface="Courier New" pitchFamily="34" charset="0"/>
                <a:ea typeface="Courier New" pitchFamily="34" charset="-122"/>
                <a:cs typeface="Courier New" pitchFamily="34" charset="-120"/>
              </a:rPr>
              <a:t>document.addEventListener(</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"visibilitychange",</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handleVisibilityChange</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a:t>
            </a:r>
            <a:endParaRPr lang="en-US" sz="1020" dirty="0"/>
          </a:p>
        </p:txBody>
      </p:sp>
      <p:sp>
        <p:nvSpPr>
          <p:cNvPr id="8" name="cleanup-process"/>
          <p:cNvSpPr/>
          <p:nvPr/>
        </p:nvSpPr>
        <p:spPr>
          <a:xfrm>
            <a:off x="4590288" y="1572768"/>
            <a:ext cx="3218688" cy="1609344"/>
          </a:xfrm>
          <a:prstGeom prst="roundRect">
            <a:avLst/>
          </a:prstGeom>
          <a:solidFill>
            <a:srgbClr val="FEE2E2"/>
          </a:solidFill>
          <a:ln w="12700">
            <a:solidFill>
              <a:srgbClr val="FCA5A5"/>
            </a:solidFill>
            <a:prstDash val="solid"/>
          </a:ln>
        </p:spPr>
      </p:sp>
      <p:sp>
        <p:nvSpPr>
          <p:cNvPr id="9" name="body-text"/>
          <p:cNvSpPr/>
          <p:nvPr/>
        </p:nvSpPr>
        <p:spPr>
          <a:xfrm>
            <a:off x="4828032" y="1810512"/>
            <a:ext cx="1005840" cy="219456"/>
          </a:xfrm>
          <a:prstGeom prst="rect">
            <a:avLst/>
          </a:prstGeom>
          <a:noFill/>
          <a:ln/>
        </p:spPr>
        <p:txBody>
          <a:bodyPr wrap="square" lIns="0" tIns="0" rIns="0" bIns="0" rtlCol="0" anchor="t"/>
          <a:lstStyle/>
          <a:p>
            <a:pPr algn="l" indent="0" marL="0">
              <a:buNone/>
            </a:pPr>
            <a:r>
              <a:rPr lang="en-US" sz="1200" b="1" dirty="0">
                <a:solidFill>
                  <a:srgbClr val="991B1B"/>
                </a:solidFill>
                <a:latin typeface="Arial" pitchFamily="34" charset="0"/>
                <a:ea typeface="Arial" pitchFamily="34" charset="-122"/>
                <a:cs typeface="Arial" pitchFamily="34" charset="-120"/>
              </a:rPr>
              <a:t>Cleanup</a:t>
            </a:r>
            <a:endParaRPr lang="en-US" sz="1200" dirty="0"/>
          </a:p>
        </p:txBody>
      </p:sp>
      <p:sp>
        <p:nvSpPr>
          <p:cNvPr id="10" name="cleanup-process-code"/>
          <p:cNvSpPr/>
          <p:nvPr/>
        </p:nvSpPr>
        <p:spPr>
          <a:xfrm>
            <a:off x="4828032" y="2194560"/>
            <a:ext cx="2743200" cy="73152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20" dirty="0">
                <a:solidFill>
                  <a:srgbClr val="FFFFFF"/>
                </a:solidFill>
                <a:latin typeface="Courier New" pitchFamily="34" charset="0"/>
                <a:ea typeface="Courier New" pitchFamily="34" charset="-122"/>
                <a:cs typeface="Courier New" pitchFamily="34" charset="-120"/>
              </a:rPr>
              <a:t>document.removeEventListener(</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"visibilitychange",</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handleVisibilityChange</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a:t>
            </a:r>
            <a:endParaRPr lang="en-US" sz="1020" dirty="0"/>
          </a:p>
        </p:txBody>
      </p:sp>
      <p:sp>
        <p:nvSpPr>
          <p:cNvPr id="11" name="connector"/>
          <p:cNvSpPr/>
          <p:nvPr/>
        </p:nvSpPr>
        <p:spPr>
          <a:xfrm>
            <a:off x="4096512" y="2377440"/>
            <a:ext cx="457200" cy="0"/>
          </a:xfrm>
          <a:prstGeom prst="line">
            <a:avLst/>
          </a:prstGeom>
          <a:noFill/>
          <a:ln w="19050">
            <a:solidFill>
              <a:srgbClr val="64748B"/>
            </a:solidFill>
            <a:prstDash val="solid"/>
            <a:tailEnd type="triangle"/>
          </a:ln>
        </p:spPr>
      </p:sp>
      <p:sp>
        <p:nvSpPr>
          <p:cNvPr id="12" name="resync-process"/>
          <p:cNvSpPr/>
          <p:nvPr/>
        </p:nvSpPr>
        <p:spPr>
          <a:xfrm>
            <a:off x="1115568" y="3547872"/>
            <a:ext cx="6400800" cy="676656"/>
          </a:xfrm>
          <a:prstGeom prst="roundRect">
            <a:avLst/>
          </a:prstGeom>
          <a:solidFill>
            <a:srgbClr val="F8FAFC"/>
          </a:solidFill>
          <a:ln w="12700">
            <a:solidFill>
              <a:srgbClr val="CBD5E1"/>
            </a:solidFill>
            <a:prstDash val="solid"/>
          </a:ln>
        </p:spPr>
      </p:sp>
      <p:sp>
        <p:nvSpPr>
          <p:cNvPr id="13" name="body-text"/>
          <p:cNvSpPr/>
          <p:nvPr/>
        </p:nvSpPr>
        <p:spPr>
          <a:xfrm>
            <a:off x="1335024" y="3703320"/>
            <a:ext cx="5961888" cy="384048"/>
          </a:xfrm>
          <a:prstGeom prst="rect">
            <a:avLst/>
          </a:prstGeom>
          <a:noFill/>
          <a:ln/>
        </p:spPr>
        <p:txBody>
          <a:bodyPr wrap="square" lIns="0" tIns="0" rIns="0" bIns="0" rtlCol="0" anchor="t"/>
          <a:lstStyle/>
          <a:p>
            <a:pPr algn="ctr" indent="0" marL="0">
              <a:buNone/>
            </a:pPr>
            <a:r>
              <a:rPr lang="en-US" sz="1060" b="1" dirty="0">
                <a:solidFill>
                  <a:srgbClr val="0F172A"/>
                </a:solidFill>
                <a:latin typeface="Arial" pitchFamily="34" charset="0"/>
                <a:ea typeface="Arial" pitchFamily="34" charset="-122"/>
                <a:cs typeface="Arial" pitchFamily="34" charset="-120"/>
              </a:rPr>
              <a:t>When trackingEnabled changes from true to false, cleanup removes the old listener before setup runs with the new state.</a:t>
            </a:r>
            <a:endParaRPr lang="en-US" sz="1060" dirty="0"/>
          </a:p>
        </p:txBody>
      </p:sp>
      <p:sp>
        <p:nvSpPr>
          <p:cNvPr id="14" name="body-text"/>
          <p:cNvSpPr/>
          <p:nvPr/>
        </p:nvSpPr>
        <p:spPr>
          <a:xfrm>
            <a:off x="1225296" y="4352544"/>
            <a:ext cx="6199632" cy="219456"/>
          </a:xfrm>
          <a:prstGeom prst="rect">
            <a:avLst/>
          </a:prstGeom>
          <a:noFill/>
          <a:ln/>
        </p:spPr>
        <p:txBody>
          <a:bodyPr wrap="square" lIns="0" tIns="0" rIns="0" bIns="0" rtlCol="0" anchor="t"/>
          <a:lstStyle/>
          <a:p>
            <a:pPr algn="ctr" indent="0" marL="0">
              <a:buNone/>
            </a:pPr>
            <a:r>
              <a:rPr lang="en-US" sz="1020" b="1" dirty="0">
                <a:solidFill>
                  <a:srgbClr val="1E3A8A"/>
                </a:solidFill>
                <a:latin typeface="Arial" pitchFamily="34" charset="0"/>
                <a:ea typeface="Arial" pitchFamily="34" charset="-122"/>
                <a:cs typeface="Arial" pitchFamily="34" charset="-120"/>
              </a:rPr>
              <a:t>An Effect should represent one synchronization process; cleanup corresponds to the ongoing work setup established.</a:t>
            </a:r>
            <a:endParaRPr lang="en-US" sz="10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Strict Mode verifies Effect cleanup</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DEPENDENCIES</a:t>
            </a:r>
            <a:endParaRPr lang="en-US" sz="940" dirty="0"/>
          </a:p>
        </p:txBody>
      </p:sp>
      <p:sp>
        <p:nvSpPr>
          <p:cNvPr id="4" name="body-text"/>
          <p:cNvSpPr/>
          <p:nvPr/>
        </p:nvSpPr>
        <p:spPr>
          <a:xfrm>
            <a:off x="621792" y="914400"/>
            <a:ext cx="7534656" cy="310896"/>
          </a:xfrm>
          <a:prstGeom prst="rect">
            <a:avLst/>
          </a:prstGeom>
          <a:noFill/>
          <a:ln/>
        </p:spPr>
        <p:txBody>
          <a:bodyPr wrap="square" lIns="0" tIns="0" rIns="0" bIns="0" rtlCol="0" anchor="t"/>
          <a:lstStyle/>
          <a:p>
            <a:pPr algn="l" indent="0" marL="0">
              <a:buNone/>
            </a:pPr>
            <a:r>
              <a:rPr lang="en-US" sz="1220" b="1" dirty="0">
                <a:solidFill>
                  <a:srgbClr val="0F172A"/>
                </a:solidFill>
                <a:latin typeface="Arial" pitchFamily="34" charset="0"/>
                <a:ea typeface="Arial" pitchFamily="34" charset="-122"/>
                <a:cs typeface="Arial" pitchFamily="34" charset="-120"/>
              </a:rPr>
              <a:t>During development, Strict Mode performs an extra setup, cleanup, setup check.</a:t>
            </a:r>
            <a:endParaRPr lang="en-US" sz="1220" dirty="0"/>
          </a:p>
        </p:txBody>
      </p:sp>
      <p:sp>
        <p:nvSpPr>
          <p:cNvPr id="5" name="strict-step-0"/>
          <p:cNvSpPr/>
          <p:nvPr/>
        </p:nvSpPr>
        <p:spPr>
          <a:xfrm>
            <a:off x="1097280" y="1481328"/>
            <a:ext cx="1755648" cy="960120"/>
          </a:xfrm>
          <a:prstGeom prst="roundRect">
            <a:avLst/>
          </a:prstGeom>
          <a:solidFill>
            <a:srgbClr val="EFF6FF"/>
          </a:solidFill>
          <a:ln w="12700">
            <a:solidFill>
              <a:srgbClr val="EFF6FF"/>
            </a:solidFill>
            <a:prstDash val="solid"/>
          </a:ln>
        </p:spPr>
      </p:sp>
      <p:sp>
        <p:nvSpPr>
          <p:cNvPr id="6" name="body-text"/>
          <p:cNvSpPr/>
          <p:nvPr/>
        </p:nvSpPr>
        <p:spPr>
          <a:xfrm>
            <a:off x="1207008" y="1664208"/>
            <a:ext cx="1536192" cy="219456"/>
          </a:xfrm>
          <a:prstGeom prst="rect">
            <a:avLst/>
          </a:prstGeom>
          <a:noFill/>
          <a:ln/>
        </p:spPr>
        <p:txBody>
          <a:bodyPr wrap="square" lIns="0" tIns="0" rIns="0" bIns="0" rtlCol="0" anchor="t"/>
          <a:lstStyle/>
          <a:p>
            <a:pPr algn="ctr" indent="0" marL="0">
              <a:buNone/>
            </a:pPr>
            <a:r>
              <a:rPr lang="en-US" sz="1200" b="1" dirty="0">
                <a:solidFill>
                  <a:srgbClr val="1E3A8A"/>
                </a:solidFill>
                <a:latin typeface="Arial" pitchFamily="34" charset="0"/>
                <a:ea typeface="Arial" pitchFamily="34" charset="-122"/>
                <a:cs typeface="Arial" pitchFamily="34" charset="-120"/>
              </a:rPr>
              <a:t>Setup</a:t>
            </a:r>
            <a:endParaRPr lang="en-US" sz="1200" dirty="0"/>
          </a:p>
        </p:txBody>
      </p:sp>
      <p:sp>
        <p:nvSpPr>
          <p:cNvPr id="7" name="body-text"/>
          <p:cNvSpPr/>
          <p:nvPr/>
        </p:nvSpPr>
        <p:spPr>
          <a:xfrm>
            <a:off x="1207008" y="1993392"/>
            <a:ext cx="1536192" cy="219456"/>
          </a:xfrm>
          <a:prstGeom prst="rect">
            <a:avLst/>
          </a:prstGeom>
          <a:noFill/>
          <a:ln/>
        </p:spPr>
        <p:txBody>
          <a:bodyPr wrap="square" lIns="0" tIns="0" rIns="0" bIns="0" rtlCol="0" anchor="t"/>
          <a:lstStyle/>
          <a:p>
            <a:pPr algn="ctr" indent="0" marL="0">
              <a:buNone/>
            </a:pPr>
            <a:r>
              <a:rPr lang="en-US" sz="980" dirty="0">
                <a:solidFill>
                  <a:srgbClr val="475569"/>
                </a:solidFill>
                <a:latin typeface="Arial" pitchFamily="34" charset="0"/>
                <a:ea typeface="Arial" pitchFamily="34" charset="-122"/>
                <a:cs typeface="Arial" pitchFamily="34" charset="-120"/>
              </a:rPr>
              <a:t>register listener</a:t>
            </a:r>
            <a:endParaRPr lang="en-US" sz="980" dirty="0"/>
          </a:p>
        </p:txBody>
      </p:sp>
      <p:sp>
        <p:nvSpPr>
          <p:cNvPr id="8" name="connector"/>
          <p:cNvSpPr/>
          <p:nvPr/>
        </p:nvSpPr>
        <p:spPr>
          <a:xfrm>
            <a:off x="2889504" y="1965960"/>
            <a:ext cx="786384" cy="0"/>
          </a:xfrm>
          <a:prstGeom prst="line">
            <a:avLst/>
          </a:prstGeom>
          <a:noFill/>
          <a:ln w="19050">
            <a:solidFill>
              <a:srgbClr val="64748B"/>
            </a:solidFill>
            <a:prstDash val="solid"/>
            <a:tailEnd type="triangle"/>
          </a:ln>
        </p:spPr>
      </p:sp>
      <p:sp>
        <p:nvSpPr>
          <p:cNvPr id="9" name="strict-step-1"/>
          <p:cNvSpPr/>
          <p:nvPr/>
        </p:nvSpPr>
        <p:spPr>
          <a:xfrm>
            <a:off x="3703320" y="1481328"/>
            <a:ext cx="1755648" cy="960120"/>
          </a:xfrm>
          <a:prstGeom prst="roundRect">
            <a:avLst/>
          </a:prstGeom>
          <a:solidFill>
            <a:srgbClr val="FEE2E2"/>
          </a:solidFill>
          <a:ln w="12700">
            <a:solidFill>
              <a:srgbClr val="FEE2E2"/>
            </a:solidFill>
            <a:prstDash val="solid"/>
          </a:ln>
        </p:spPr>
      </p:sp>
      <p:sp>
        <p:nvSpPr>
          <p:cNvPr id="10" name="body-text"/>
          <p:cNvSpPr/>
          <p:nvPr/>
        </p:nvSpPr>
        <p:spPr>
          <a:xfrm>
            <a:off x="3813048" y="1664208"/>
            <a:ext cx="1536192" cy="219456"/>
          </a:xfrm>
          <a:prstGeom prst="rect">
            <a:avLst/>
          </a:prstGeom>
          <a:noFill/>
          <a:ln/>
        </p:spPr>
        <p:txBody>
          <a:bodyPr wrap="square" lIns="0" tIns="0" rIns="0" bIns="0" rtlCol="0" anchor="t"/>
          <a:lstStyle/>
          <a:p>
            <a:pPr algn="ctr" indent="0" marL="0">
              <a:buNone/>
            </a:pPr>
            <a:r>
              <a:rPr lang="en-US" sz="1200" b="1" dirty="0">
                <a:solidFill>
                  <a:srgbClr val="991B1B"/>
                </a:solidFill>
                <a:latin typeface="Arial" pitchFamily="34" charset="0"/>
                <a:ea typeface="Arial" pitchFamily="34" charset="-122"/>
                <a:cs typeface="Arial" pitchFamily="34" charset="-120"/>
              </a:rPr>
              <a:t>Cleanup</a:t>
            </a:r>
            <a:endParaRPr lang="en-US" sz="1200" dirty="0"/>
          </a:p>
        </p:txBody>
      </p:sp>
      <p:sp>
        <p:nvSpPr>
          <p:cNvPr id="11" name="body-text"/>
          <p:cNvSpPr/>
          <p:nvPr/>
        </p:nvSpPr>
        <p:spPr>
          <a:xfrm>
            <a:off x="3813048" y="1993392"/>
            <a:ext cx="1536192" cy="219456"/>
          </a:xfrm>
          <a:prstGeom prst="rect">
            <a:avLst/>
          </a:prstGeom>
          <a:noFill/>
          <a:ln/>
        </p:spPr>
        <p:txBody>
          <a:bodyPr wrap="square" lIns="0" tIns="0" rIns="0" bIns="0" rtlCol="0" anchor="t"/>
          <a:lstStyle/>
          <a:p>
            <a:pPr algn="ctr" indent="0" marL="0">
              <a:buNone/>
            </a:pPr>
            <a:r>
              <a:rPr lang="en-US" sz="980" dirty="0">
                <a:solidFill>
                  <a:srgbClr val="475569"/>
                </a:solidFill>
                <a:latin typeface="Arial" pitchFamily="34" charset="0"/>
                <a:ea typeface="Arial" pitchFamily="34" charset="-122"/>
                <a:cs typeface="Arial" pitchFamily="34" charset="-120"/>
              </a:rPr>
              <a:t>remove listener</a:t>
            </a:r>
            <a:endParaRPr lang="en-US" sz="980" dirty="0"/>
          </a:p>
        </p:txBody>
      </p:sp>
      <p:sp>
        <p:nvSpPr>
          <p:cNvPr id="12" name="connector"/>
          <p:cNvSpPr/>
          <p:nvPr/>
        </p:nvSpPr>
        <p:spPr>
          <a:xfrm>
            <a:off x="5495544" y="1965960"/>
            <a:ext cx="786384" cy="0"/>
          </a:xfrm>
          <a:prstGeom prst="line">
            <a:avLst/>
          </a:prstGeom>
          <a:noFill/>
          <a:ln w="19050">
            <a:solidFill>
              <a:srgbClr val="64748B"/>
            </a:solidFill>
            <a:prstDash val="solid"/>
            <a:tailEnd type="triangle"/>
          </a:ln>
        </p:spPr>
      </p:sp>
      <p:sp>
        <p:nvSpPr>
          <p:cNvPr id="13" name="strict-step-2"/>
          <p:cNvSpPr/>
          <p:nvPr/>
        </p:nvSpPr>
        <p:spPr>
          <a:xfrm>
            <a:off x="6309360" y="1481328"/>
            <a:ext cx="1755648" cy="960120"/>
          </a:xfrm>
          <a:prstGeom prst="roundRect">
            <a:avLst/>
          </a:prstGeom>
          <a:solidFill>
            <a:srgbClr val="DCFCE7"/>
          </a:solidFill>
          <a:ln w="12700">
            <a:solidFill>
              <a:srgbClr val="DCFCE7"/>
            </a:solidFill>
            <a:prstDash val="solid"/>
          </a:ln>
        </p:spPr>
      </p:sp>
      <p:sp>
        <p:nvSpPr>
          <p:cNvPr id="14" name="body-text"/>
          <p:cNvSpPr/>
          <p:nvPr/>
        </p:nvSpPr>
        <p:spPr>
          <a:xfrm>
            <a:off x="6419088" y="1664208"/>
            <a:ext cx="1536192" cy="219456"/>
          </a:xfrm>
          <a:prstGeom prst="rect">
            <a:avLst/>
          </a:prstGeom>
          <a:noFill/>
          <a:ln/>
        </p:spPr>
        <p:txBody>
          <a:bodyPr wrap="square" lIns="0" tIns="0" rIns="0" bIns="0" rtlCol="0" anchor="t"/>
          <a:lstStyle/>
          <a:p>
            <a:pPr algn="ctr" indent="0" marL="0">
              <a:buNone/>
            </a:pPr>
            <a:r>
              <a:rPr lang="en-US" sz="1200" b="1" dirty="0">
                <a:solidFill>
                  <a:srgbClr val="166534"/>
                </a:solidFill>
                <a:latin typeface="Arial" pitchFamily="34" charset="0"/>
                <a:ea typeface="Arial" pitchFamily="34" charset="-122"/>
                <a:cs typeface="Arial" pitchFamily="34" charset="-120"/>
              </a:rPr>
              <a:t>Setup again</a:t>
            </a:r>
            <a:endParaRPr lang="en-US" sz="1200" dirty="0"/>
          </a:p>
        </p:txBody>
      </p:sp>
      <p:sp>
        <p:nvSpPr>
          <p:cNvPr id="15" name="body-text"/>
          <p:cNvSpPr/>
          <p:nvPr/>
        </p:nvSpPr>
        <p:spPr>
          <a:xfrm>
            <a:off x="6419088" y="1993392"/>
            <a:ext cx="1536192" cy="219456"/>
          </a:xfrm>
          <a:prstGeom prst="rect">
            <a:avLst/>
          </a:prstGeom>
          <a:noFill/>
          <a:ln/>
        </p:spPr>
        <p:txBody>
          <a:bodyPr wrap="square" lIns="0" tIns="0" rIns="0" bIns="0" rtlCol="0" anchor="t"/>
          <a:lstStyle/>
          <a:p>
            <a:pPr algn="ctr" indent="0" marL="0">
              <a:buNone/>
            </a:pPr>
            <a:r>
              <a:rPr lang="en-US" sz="980" dirty="0">
                <a:solidFill>
                  <a:srgbClr val="475569"/>
                </a:solidFill>
                <a:latin typeface="Arial" pitchFamily="34" charset="0"/>
                <a:ea typeface="Arial" pitchFamily="34" charset="-122"/>
                <a:cs typeface="Arial" pitchFamily="34" charset="-120"/>
              </a:rPr>
              <a:t>register fresh listener</a:t>
            </a:r>
            <a:endParaRPr lang="en-US" sz="980" dirty="0"/>
          </a:p>
        </p:txBody>
      </p:sp>
      <p:sp>
        <p:nvSpPr>
          <p:cNvPr id="16" name="label"/>
          <p:cNvSpPr/>
          <p:nvPr/>
        </p:nvSpPr>
        <p:spPr>
          <a:xfrm>
            <a:off x="786384" y="2743200"/>
            <a:ext cx="1828800"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TabActivityDetector</a:t>
            </a:r>
            <a:endParaRPr lang="en-US" sz="1050" dirty="0"/>
          </a:p>
        </p:txBody>
      </p:sp>
      <p:sp>
        <p:nvSpPr>
          <p:cNvPr id="17" name="strict-setup-code"/>
          <p:cNvSpPr/>
          <p:nvPr/>
        </p:nvSpPr>
        <p:spPr>
          <a:xfrm>
            <a:off x="786384" y="2980944"/>
            <a:ext cx="3200400" cy="100584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70" dirty="0">
                <a:solidFill>
                  <a:srgbClr val="FFFFFF"/>
                </a:solidFill>
                <a:latin typeface="Courier New" pitchFamily="34" charset="0"/>
                <a:ea typeface="Courier New" pitchFamily="34" charset="-122"/>
                <a:cs typeface="Courier New" pitchFamily="34" charset="-120"/>
              </a:rPr>
              <a:t>document.addEventListener(</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"visibilitychange",</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handleVisibilityChange</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a:t>
            </a:r>
            <a:endParaRPr lang="en-US" sz="1070" dirty="0"/>
          </a:p>
        </p:txBody>
      </p:sp>
      <p:sp>
        <p:nvSpPr>
          <p:cNvPr id="18" name="strict-cleanup-code"/>
          <p:cNvSpPr/>
          <p:nvPr/>
        </p:nvSpPr>
        <p:spPr>
          <a:xfrm>
            <a:off x="4206240" y="2980944"/>
            <a:ext cx="3200400" cy="100584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70" dirty="0">
                <a:solidFill>
                  <a:srgbClr val="FFFFFF"/>
                </a:solidFill>
                <a:latin typeface="Courier New" pitchFamily="34" charset="0"/>
                <a:ea typeface="Courier New" pitchFamily="34" charset="-122"/>
                <a:cs typeface="Courier New" pitchFamily="34" charset="-120"/>
              </a:rPr>
              <a:t>document.removeEventListener(</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"visibilitychange",</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handleVisibilityChange</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a:t>
            </a:r>
            <a:endParaRPr lang="en-US" sz="1070" dirty="0"/>
          </a:p>
        </p:txBody>
      </p:sp>
      <p:sp>
        <p:nvSpPr>
          <p:cNvPr id="19" name="pill"/>
          <p:cNvSpPr/>
          <p:nvPr/>
        </p:nvSpPr>
        <p:spPr>
          <a:xfrm>
            <a:off x="6583680" y="4151376"/>
            <a:ext cx="1353312" cy="274320"/>
          </a:xfrm>
          <a:prstGeom prst="rect">
            <a:avLst/>
          </a:prstGeom>
          <a:solidFill>
            <a:srgbClr val="FEF9C3"/>
          </a:solidFill>
          <a:ln w="10160">
            <a:solidFill>
              <a:srgbClr val="FEF9C3"/>
            </a:solidFill>
          </a:ln>
        </p:spPr>
        <p:txBody>
          <a:bodyPr wrap="square" lIns="635" tIns="1270" rIns="1270" bIns="635" rtlCol="0" anchor="ctr"/>
          <a:lstStyle/>
          <a:p>
            <a:pPr algn="ctr" indent="0" marL="0">
              <a:buNone/>
            </a:pPr>
            <a:r>
              <a:rPr lang="en-US" sz="960" b="1" dirty="0">
                <a:solidFill>
                  <a:srgbClr val="854D0E"/>
                </a:solidFill>
                <a:latin typeface="Arial" pitchFamily="34" charset="0"/>
                <a:ea typeface="Arial" pitchFamily="34" charset="-122"/>
                <a:cs typeface="Arial" pitchFamily="34" charset="-120"/>
              </a:rPr>
              <a:t>development check</a:t>
            </a:r>
            <a:endParaRPr lang="en-US" sz="960" dirty="0"/>
          </a:p>
        </p:txBody>
      </p:sp>
      <p:sp>
        <p:nvSpPr>
          <p:cNvPr id="20" name="body-text"/>
          <p:cNvSpPr/>
          <p:nvPr/>
        </p:nvSpPr>
        <p:spPr>
          <a:xfrm>
            <a:off x="786384" y="4160520"/>
            <a:ext cx="5577840" cy="256032"/>
          </a:xfrm>
          <a:prstGeom prst="rect">
            <a:avLst/>
          </a:prstGeom>
          <a:noFill/>
          <a:ln/>
        </p:spPr>
        <p:txBody>
          <a:bodyPr wrap="square" lIns="0" tIns="0" rIns="0" bIns="0" rtlCol="0" anchor="t"/>
          <a:lstStyle/>
          <a:p>
            <a:pPr algn="l" indent="0" marL="0">
              <a:buNone/>
            </a:pPr>
            <a:r>
              <a:rPr lang="en-US" sz="1080" b="1" dirty="0">
                <a:solidFill>
                  <a:srgbClr val="0F172A"/>
                </a:solidFill>
                <a:latin typeface="Arial" pitchFamily="34" charset="0"/>
                <a:ea typeface="Arial" pitchFamily="34" charset="-122"/>
                <a:cs typeface="Arial" pitchFamily="34" charset="-120"/>
              </a:rPr>
              <a:t>If cleanup truly reverses setup, the extra check does not leave duplicate external behavior behind.</a:t>
            </a:r>
            <a:endParaRPr lang="en-US" sz="10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lide-title"/>
          <p:cNvSpPr/>
          <p:nvPr/>
        </p:nvSpPr>
        <p:spPr>
          <a:xfrm>
            <a:off x="548640" y="256032"/>
            <a:ext cx="6446520" cy="54864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Fetching external data</a:t>
            </a:r>
            <a:endParaRPr lang="en-US" sz="2600" dirty="0"/>
          </a:p>
        </p:txBody>
      </p:sp>
      <p:sp>
        <p:nvSpPr>
          <p:cNvPr id="3" name="body-text"/>
          <p:cNvSpPr/>
          <p:nvPr/>
        </p:nvSpPr>
        <p:spPr>
          <a:xfrm>
            <a:off x="566928" y="1051560"/>
            <a:ext cx="7040880" cy="548640"/>
          </a:xfrm>
          <a:prstGeom prst="rect">
            <a:avLst/>
          </a:prstGeom>
          <a:noFill/>
          <a:ln/>
        </p:spPr>
        <p:txBody>
          <a:bodyPr wrap="square" lIns="0" tIns="0" rIns="0" bIns="0" rtlCol="0" anchor="t"/>
          <a:lstStyle/>
          <a:p>
            <a:pPr algn="l" indent="0" marL="0">
              <a:buNone/>
            </a:pPr>
            <a:r>
              <a:rPr lang="en-US" sz="1340" dirty="0">
                <a:solidFill>
                  <a:srgbClr val="475569"/>
                </a:solidFill>
                <a:latin typeface="Arial" pitchFamily="34" charset="0"/>
                <a:ea typeface="Arial" pitchFamily="34" charset="-122"/>
                <a:cs typeface="Arial" pitchFamily="34" charset="-120"/>
              </a:rPr>
              <a:t>Change the external system from a browser API to a remote server. The synchronization model stays the same; the result now arrives asynchronously.</a:t>
            </a:r>
            <a:endParaRPr lang="en-US" sz="1340" dirty="0"/>
          </a:p>
        </p:txBody>
      </p:sp>
      <p:sp>
        <p:nvSpPr>
          <p:cNvPr id="4" name="section-step-0"/>
          <p:cNvSpPr/>
          <p:nvPr/>
        </p:nvSpPr>
        <p:spPr>
          <a:xfrm>
            <a:off x="713232" y="2267712"/>
            <a:ext cx="1298448" cy="658368"/>
          </a:xfrm>
          <a:prstGeom prst="roundRect">
            <a:avLst/>
          </a:prstGeom>
          <a:solidFill>
            <a:srgbClr val="F8FAFC"/>
          </a:solidFill>
          <a:ln w="12700">
            <a:solidFill>
              <a:srgbClr val="CBD5E1"/>
            </a:solidFill>
            <a:prstDash val="solid"/>
          </a:ln>
        </p:spPr>
      </p:sp>
      <p:sp>
        <p:nvSpPr>
          <p:cNvPr id="5" name="pill"/>
          <p:cNvSpPr/>
          <p:nvPr/>
        </p:nvSpPr>
        <p:spPr>
          <a:xfrm>
            <a:off x="822960"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1</a:t>
            </a:r>
            <a:endParaRPr lang="en-US" sz="920" dirty="0"/>
          </a:p>
        </p:txBody>
      </p:sp>
      <p:sp>
        <p:nvSpPr>
          <p:cNvPr id="6" name="body-text"/>
          <p:cNvSpPr/>
          <p:nvPr/>
        </p:nvSpPr>
        <p:spPr>
          <a:xfrm>
            <a:off x="1188720"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Warm-up</a:t>
            </a:r>
            <a:endParaRPr lang="en-US" sz="950" dirty="0"/>
          </a:p>
        </p:txBody>
      </p:sp>
      <p:sp>
        <p:nvSpPr>
          <p:cNvPr id="7" name="section-step-1"/>
          <p:cNvSpPr/>
          <p:nvPr/>
        </p:nvSpPr>
        <p:spPr>
          <a:xfrm>
            <a:off x="2240280" y="2267712"/>
            <a:ext cx="1298448" cy="658368"/>
          </a:xfrm>
          <a:prstGeom prst="roundRect">
            <a:avLst/>
          </a:prstGeom>
          <a:solidFill>
            <a:srgbClr val="F8FAFC"/>
          </a:solidFill>
          <a:ln w="12700">
            <a:solidFill>
              <a:srgbClr val="CBD5E1"/>
            </a:solidFill>
            <a:prstDash val="solid"/>
          </a:ln>
        </p:spPr>
      </p:sp>
      <p:sp>
        <p:nvSpPr>
          <p:cNvPr id="8" name="pill"/>
          <p:cNvSpPr/>
          <p:nvPr/>
        </p:nvSpPr>
        <p:spPr>
          <a:xfrm>
            <a:off x="2350008"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2</a:t>
            </a:r>
            <a:endParaRPr lang="en-US" sz="920" dirty="0"/>
          </a:p>
        </p:txBody>
      </p:sp>
      <p:sp>
        <p:nvSpPr>
          <p:cNvPr id="9" name="body-text"/>
          <p:cNvSpPr/>
          <p:nvPr/>
        </p:nvSpPr>
        <p:spPr>
          <a:xfrm>
            <a:off x="2715768"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Effects</a:t>
            </a:r>
            <a:endParaRPr lang="en-US" sz="950" dirty="0"/>
          </a:p>
        </p:txBody>
      </p:sp>
      <p:sp>
        <p:nvSpPr>
          <p:cNvPr id="10" name="section-step-2"/>
          <p:cNvSpPr/>
          <p:nvPr/>
        </p:nvSpPr>
        <p:spPr>
          <a:xfrm>
            <a:off x="3767328" y="2267712"/>
            <a:ext cx="1298448" cy="658368"/>
          </a:xfrm>
          <a:prstGeom prst="roundRect">
            <a:avLst/>
          </a:prstGeom>
          <a:solidFill>
            <a:srgbClr val="F8FAFC"/>
          </a:solidFill>
          <a:ln w="12700">
            <a:solidFill>
              <a:srgbClr val="CBD5E1"/>
            </a:solidFill>
            <a:prstDash val="solid"/>
          </a:ln>
        </p:spPr>
      </p:sp>
      <p:sp>
        <p:nvSpPr>
          <p:cNvPr id="11" name="pill"/>
          <p:cNvSpPr/>
          <p:nvPr/>
        </p:nvSpPr>
        <p:spPr>
          <a:xfrm>
            <a:off x="3877056"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3</a:t>
            </a:r>
            <a:endParaRPr lang="en-US" sz="920" dirty="0"/>
          </a:p>
        </p:txBody>
      </p:sp>
      <p:sp>
        <p:nvSpPr>
          <p:cNvPr id="12" name="body-text"/>
          <p:cNvSpPr/>
          <p:nvPr/>
        </p:nvSpPr>
        <p:spPr>
          <a:xfrm>
            <a:off x="4242816"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Dependencies</a:t>
            </a:r>
            <a:endParaRPr lang="en-US" sz="950" dirty="0"/>
          </a:p>
        </p:txBody>
      </p:sp>
      <p:sp>
        <p:nvSpPr>
          <p:cNvPr id="13" name="section-step-3"/>
          <p:cNvSpPr/>
          <p:nvPr/>
        </p:nvSpPr>
        <p:spPr>
          <a:xfrm>
            <a:off x="5294376" y="2267712"/>
            <a:ext cx="1298448" cy="658368"/>
          </a:xfrm>
          <a:prstGeom prst="roundRect">
            <a:avLst/>
          </a:prstGeom>
          <a:solidFill>
            <a:srgbClr val="EFF6FF"/>
          </a:solidFill>
          <a:ln w="12700">
            <a:solidFill>
              <a:srgbClr val="93C5FD"/>
            </a:solidFill>
            <a:prstDash val="solid"/>
          </a:ln>
        </p:spPr>
      </p:sp>
      <p:sp>
        <p:nvSpPr>
          <p:cNvPr id="14" name="pill"/>
          <p:cNvSpPr/>
          <p:nvPr/>
        </p:nvSpPr>
        <p:spPr>
          <a:xfrm>
            <a:off x="5404104" y="2395728"/>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20" b="1" dirty="0">
                <a:solidFill>
                  <a:srgbClr val="FFFFFF"/>
                </a:solidFill>
                <a:latin typeface="Arial" pitchFamily="34" charset="0"/>
                <a:ea typeface="Arial" pitchFamily="34" charset="-122"/>
                <a:cs typeface="Arial" pitchFamily="34" charset="-120"/>
              </a:rPr>
              <a:t>4</a:t>
            </a:r>
            <a:endParaRPr lang="en-US" sz="920" dirty="0"/>
          </a:p>
        </p:txBody>
      </p:sp>
      <p:sp>
        <p:nvSpPr>
          <p:cNvPr id="15" name="body-text"/>
          <p:cNvSpPr/>
          <p:nvPr/>
        </p:nvSpPr>
        <p:spPr>
          <a:xfrm>
            <a:off x="5769864" y="2368296"/>
            <a:ext cx="694944" cy="201168"/>
          </a:xfrm>
          <a:prstGeom prst="rect">
            <a:avLst/>
          </a:prstGeom>
          <a:noFill/>
          <a:ln/>
        </p:spPr>
        <p:txBody>
          <a:bodyPr wrap="square" lIns="0" tIns="0" rIns="0" bIns="0" rtlCol="0" anchor="t"/>
          <a:lstStyle/>
          <a:p>
            <a:pPr algn="l" indent="0" marL="0">
              <a:buNone/>
            </a:pPr>
            <a:r>
              <a:rPr lang="en-US" sz="950" b="1" dirty="0">
                <a:solidFill>
                  <a:srgbClr val="1E3A8A"/>
                </a:solidFill>
                <a:latin typeface="Arial" pitchFamily="34" charset="0"/>
                <a:ea typeface="Arial" pitchFamily="34" charset="-122"/>
                <a:cs typeface="Arial" pitchFamily="34" charset="-120"/>
              </a:rPr>
              <a:t>External data</a:t>
            </a:r>
            <a:endParaRPr lang="en-US" sz="950" dirty="0"/>
          </a:p>
        </p:txBody>
      </p:sp>
      <p:sp>
        <p:nvSpPr>
          <p:cNvPr id="16" name="section-step-4"/>
          <p:cNvSpPr/>
          <p:nvPr/>
        </p:nvSpPr>
        <p:spPr>
          <a:xfrm>
            <a:off x="6821424" y="2267712"/>
            <a:ext cx="1298448" cy="658368"/>
          </a:xfrm>
          <a:prstGeom prst="roundRect">
            <a:avLst/>
          </a:prstGeom>
          <a:solidFill>
            <a:srgbClr val="F8FAFC"/>
          </a:solidFill>
          <a:ln w="12700">
            <a:solidFill>
              <a:srgbClr val="CBD5E1"/>
            </a:solidFill>
            <a:prstDash val="solid"/>
          </a:ln>
        </p:spPr>
      </p:sp>
      <p:sp>
        <p:nvSpPr>
          <p:cNvPr id="17" name="pill"/>
          <p:cNvSpPr/>
          <p:nvPr/>
        </p:nvSpPr>
        <p:spPr>
          <a:xfrm>
            <a:off x="6931152" y="2395728"/>
            <a:ext cx="292608" cy="274320"/>
          </a:xfrm>
          <a:prstGeom prst="rect">
            <a:avLst/>
          </a:prstGeom>
          <a:solidFill>
            <a:srgbClr val="FFFFFF"/>
          </a:solidFill>
          <a:ln w="10160">
            <a:solidFill>
              <a:srgbClr val="CBD5E1"/>
            </a:solidFill>
          </a:ln>
        </p:spPr>
        <p:txBody>
          <a:bodyPr wrap="square" lIns="635" tIns="1270" rIns="1270" bIns="635" rtlCol="0" anchor="ctr"/>
          <a:lstStyle/>
          <a:p>
            <a:pPr algn="ctr" indent="0" marL="0">
              <a:buNone/>
            </a:pPr>
            <a:r>
              <a:rPr lang="en-US" sz="920" b="1" dirty="0">
                <a:solidFill>
                  <a:srgbClr val="475569"/>
                </a:solidFill>
                <a:latin typeface="Arial" pitchFamily="34" charset="0"/>
                <a:ea typeface="Arial" pitchFamily="34" charset="-122"/>
                <a:cs typeface="Arial" pitchFamily="34" charset="-120"/>
              </a:rPr>
              <a:t>5</a:t>
            </a:r>
            <a:endParaRPr lang="en-US" sz="920" dirty="0"/>
          </a:p>
        </p:txBody>
      </p:sp>
      <p:sp>
        <p:nvSpPr>
          <p:cNvPr id="18" name="body-text"/>
          <p:cNvSpPr/>
          <p:nvPr/>
        </p:nvSpPr>
        <p:spPr>
          <a:xfrm>
            <a:off x="7296912" y="2368296"/>
            <a:ext cx="694944" cy="201168"/>
          </a:xfrm>
          <a:prstGeom prst="rect">
            <a:avLst/>
          </a:prstGeom>
          <a:noFill/>
          <a:ln/>
        </p:spPr>
        <p:txBody>
          <a:bodyPr wrap="square" lIns="0" tIns="0" rIns="0" bIns="0" rtlCol="0" anchor="t"/>
          <a:lstStyle/>
          <a:p>
            <a:pPr algn="l" indent="0" marL="0">
              <a:buNone/>
            </a:pPr>
            <a:r>
              <a:rPr lang="en-US" sz="950" b="1" dirty="0">
                <a:solidFill>
                  <a:srgbClr val="475569"/>
                </a:solidFill>
                <a:latin typeface="Arial" pitchFamily="34" charset="0"/>
                <a:ea typeface="Arial" pitchFamily="34" charset="-122"/>
                <a:cs typeface="Arial" pitchFamily="34" charset="-120"/>
              </a:rPr>
              <a:t>Request states</a:t>
            </a:r>
            <a:endParaRPr lang="en-US" sz="950" dirty="0"/>
          </a:p>
        </p:txBody>
      </p:sp>
      <p:sp>
        <p:nvSpPr>
          <p:cNvPr id="19" name="section-rail"/>
          <p:cNvSpPr/>
          <p:nvPr/>
        </p:nvSpPr>
        <p:spPr>
          <a:xfrm>
            <a:off x="1005840" y="3328416"/>
            <a:ext cx="7095744" cy="0"/>
          </a:xfrm>
          <a:prstGeom prst="line">
            <a:avLst/>
          </a:prstGeom>
          <a:noFill/>
          <a:ln w="25400">
            <a:solidFill>
              <a:srgbClr val="CBD5E1"/>
            </a:solidFill>
            <a:prstDash val="solid"/>
          </a:ln>
        </p:spPr>
      </p:sp>
      <p:sp>
        <p:nvSpPr>
          <p:cNvPr id="20" name="section-current"/>
          <p:cNvSpPr/>
          <p:nvPr/>
        </p:nvSpPr>
        <p:spPr>
          <a:xfrm>
            <a:off x="6227064" y="3227832"/>
            <a:ext cx="201168" cy="201168"/>
          </a:xfrm>
          <a:prstGeom prst="ellipse">
            <a:avLst/>
          </a:prstGeom>
          <a:solidFill>
            <a:srgbClr val="1E3A8A"/>
          </a:solidFill>
          <a:ln w="12700">
            <a:solidFill>
              <a:srgbClr val="1E3A8A"/>
            </a:solidFill>
            <a:prstDash val="solid"/>
          </a:ln>
        </p:spPr>
      </p:sp>
      <p:sp>
        <p:nvSpPr>
          <p:cNvPr id="21" name="body-text"/>
          <p:cNvSpPr/>
          <p:nvPr/>
        </p:nvSpPr>
        <p:spPr>
          <a:xfrm>
            <a:off x="713232" y="3785616"/>
            <a:ext cx="1005840" cy="201168"/>
          </a:xfrm>
          <a:prstGeom prst="rect">
            <a:avLst/>
          </a:prstGeom>
          <a:noFill/>
          <a:ln/>
        </p:spPr>
        <p:txBody>
          <a:bodyPr wrap="square" lIns="0" tIns="0" rIns="0" bIns="0" rtlCol="0" anchor="t"/>
          <a:lstStyle/>
          <a:p>
            <a:pPr algn="l" indent="0" marL="0">
              <a:buNone/>
            </a:pPr>
            <a:r>
              <a:rPr lang="en-US" sz="1000" b="1" dirty="0">
                <a:solidFill>
                  <a:srgbClr val="1E3A8A"/>
                </a:solidFill>
                <a:latin typeface="Arial" pitchFamily="34" charset="0"/>
                <a:ea typeface="Arial" pitchFamily="34" charset="-122"/>
                <a:cs typeface="Arial" pitchFamily="34" charset="-120"/>
              </a:rPr>
              <a:t>Section 4</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FeedbackInbox needs server data</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feedback-empty-ui"/>
          <p:cNvSpPr/>
          <p:nvPr/>
        </p:nvSpPr>
        <p:spPr>
          <a:xfrm>
            <a:off x="658368" y="1042416"/>
            <a:ext cx="3730752" cy="3200400"/>
          </a:xfrm>
          <a:prstGeom prst="roundRect">
            <a:avLst/>
          </a:prstGeom>
          <a:solidFill>
            <a:srgbClr val="FFFFFF"/>
          </a:solidFill>
          <a:ln w="12700">
            <a:solidFill>
              <a:srgbClr val="CBD5E1"/>
            </a:solidFill>
            <a:prstDash val="solid"/>
          </a:ln>
        </p:spPr>
      </p:sp>
      <p:sp>
        <p:nvSpPr>
          <p:cNvPr id="5" name="feedback-empty-ui-bar"/>
          <p:cNvSpPr/>
          <p:nvPr/>
        </p:nvSpPr>
        <p:spPr>
          <a:xfrm>
            <a:off x="658368" y="1042416"/>
            <a:ext cx="3730752" cy="310896"/>
          </a:xfrm>
          <a:prstGeom prst="rect">
            <a:avLst/>
          </a:prstGeom>
          <a:solidFill>
            <a:srgbClr val="F8FAFC"/>
          </a:solidFill>
          <a:ln w="8890">
            <a:solidFill>
              <a:srgbClr val="CBD5E1"/>
            </a:solidFill>
            <a:prstDash val="solid"/>
          </a:ln>
        </p:spPr>
      </p:sp>
      <p:sp>
        <p:nvSpPr>
          <p:cNvPr id="6" name="feedback-empty-ui-dot0"/>
          <p:cNvSpPr/>
          <p:nvPr/>
        </p:nvSpPr>
        <p:spPr>
          <a:xfrm>
            <a:off x="768096" y="1152144"/>
            <a:ext cx="73152" cy="73152"/>
          </a:xfrm>
          <a:prstGeom prst="ellipse">
            <a:avLst/>
          </a:prstGeom>
          <a:solidFill>
            <a:srgbClr val="F87171"/>
          </a:solidFill>
          <a:ln w="12700">
            <a:solidFill>
              <a:srgbClr val="F87171"/>
            </a:solidFill>
            <a:prstDash val="solid"/>
          </a:ln>
        </p:spPr>
      </p:sp>
      <p:sp>
        <p:nvSpPr>
          <p:cNvPr id="7" name="feedback-empty-ui-dot1"/>
          <p:cNvSpPr/>
          <p:nvPr/>
        </p:nvSpPr>
        <p:spPr>
          <a:xfrm>
            <a:off x="886968" y="1152144"/>
            <a:ext cx="73152" cy="73152"/>
          </a:xfrm>
          <a:prstGeom prst="ellipse">
            <a:avLst/>
          </a:prstGeom>
          <a:solidFill>
            <a:srgbClr val="FBBF24"/>
          </a:solidFill>
          <a:ln w="12700">
            <a:solidFill>
              <a:srgbClr val="FBBF24"/>
            </a:solidFill>
            <a:prstDash val="solid"/>
          </a:ln>
        </p:spPr>
      </p:sp>
      <p:sp>
        <p:nvSpPr>
          <p:cNvPr id="8" name="feedback-empty-ui-dot2"/>
          <p:cNvSpPr/>
          <p:nvPr/>
        </p:nvSpPr>
        <p:spPr>
          <a:xfrm>
            <a:off x="1005840" y="1152144"/>
            <a:ext cx="73152" cy="73152"/>
          </a:xfrm>
          <a:prstGeom prst="ellipse">
            <a:avLst/>
          </a:prstGeom>
          <a:solidFill>
            <a:srgbClr val="34D399"/>
          </a:solidFill>
          <a:ln w="12700">
            <a:solidFill>
              <a:srgbClr val="34D399"/>
            </a:solidFill>
            <a:prstDash val="solid"/>
          </a:ln>
        </p:spPr>
      </p:sp>
      <p:sp>
        <p:nvSpPr>
          <p:cNvPr id="9" name="feedback-empty-ui-title"/>
          <p:cNvSpPr/>
          <p:nvPr/>
        </p:nvSpPr>
        <p:spPr>
          <a:xfrm>
            <a:off x="1188720" y="1110996"/>
            <a:ext cx="3072384"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Community Feedback Desk</a:t>
            </a:r>
            <a:endParaRPr lang="en-US" sz="920" dirty="0"/>
          </a:p>
        </p:txBody>
      </p:sp>
      <p:sp>
        <p:nvSpPr>
          <p:cNvPr id="10" name="body-text"/>
          <p:cNvSpPr/>
          <p:nvPr/>
        </p:nvSpPr>
        <p:spPr>
          <a:xfrm>
            <a:off x="932688" y="1572768"/>
            <a:ext cx="1664208" cy="201168"/>
          </a:xfrm>
          <a:prstGeom prst="rect">
            <a:avLst/>
          </a:prstGeom>
          <a:noFill/>
          <a:ln/>
        </p:spPr>
        <p:txBody>
          <a:bodyPr wrap="square" lIns="0" tIns="0" rIns="0" bIns="0" rtlCol="0" anchor="t"/>
          <a:lstStyle/>
          <a:p>
            <a:pPr algn="l" indent="0" marL="0">
              <a:buNone/>
            </a:pPr>
            <a:r>
              <a:rPr lang="en-US" sz="1020" b="1" dirty="0">
                <a:solidFill>
                  <a:srgbClr val="475569"/>
                </a:solidFill>
                <a:latin typeface="Arial" pitchFamily="34" charset="0"/>
                <a:ea typeface="Arial" pitchFamily="34" charset="-122"/>
                <a:cs typeface="Arial" pitchFamily="34" charset="-120"/>
              </a:rPr>
              <a:t>TabActivityDetector</a:t>
            </a:r>
            <a:endParaRPr lang="en-US" sz="1020" dirty="0"/>
          </a:p>
        </p:txBody>
      </p:sp>
      <p:sp>
        <p:nvSpPr>
          <p:cNvPr id="11" name="tab-summary"/>
          <p:cNvSpPr/>
          <p:nvPr/>
        </p:nvSpPr>
        <p:spPr>
          <a:xfrm>
            <a:off x="932688" y="1938528"/>
            <a:ext cx="3182112" cy="512064"/>
          </a:xfrm>
          <a:prstGeom prst="roundRect">
            <a:avLst/>
          </a:prstGeom>
          <a:solidFill>
            <a:srgbClr val="F8FAFC"/>
          </a:solidFill>
          <a:ln w="12700">
            <a:solidFill>
              <a:srgbClr val="CBD5E1"/>
            </a:solidFill>
            <a:prstDash val="solid"/>
          </a:ln>
        </p:spPr>
      </p:sp>
      <p:sp>
        <p:nvSpPr>
          <p:cNvPr id="12" name="body-text"/>
          <p:cNvSpPr/>
          <p:nvPr/>
        </p:nvSpPr>
        <p:spPr>
          <a:xfrm>
            <a:off x="1078992" y="2103120"/>
            <a:ext cx="2852928" cy="182880"/>
          </a:xfrm>
          <a:prstGeom prst="rect">
            <a:avLst/>
          </a:prstGeom>
          <a:noFill/>
          <a:ln/>
        </p:spPr>
        <p:txBody>
          <a:bodyPr wrap="square" lIns="0" tIns="0" rIns="0" bIns="0" rtlCol="0" anchor="t"/>
          <a:lstStyle/>
          <a:p>
            <a:pPr algn="ctr" indent="0" marL="0">
              <a:buNone/>
            </a:pPr>
            <a:r>
              <a:rPr lang="en-US" sz="980" b="1" dirty="0">
                <a:solidFill>
                  <a:srgbClr val="166534"/>
                </a:solidFill>
                <a:latin typeface="Arial" pitchFamily="34" charset="0"/>
                <a:ea typeface="Arial" pitchFamily="34" charset="-122"/>
                <a:cs typeface="Arial" pitchFamily="34" charset="-120"/>
              </a:rPr>
              <a:t>Tab activity works</a:t>
            </a:r>
            <a:endParaRPr lang="en-US" sz="980" dirty="0"/>
          </a:p>
        </p:txBody>
      </p:sp>
      <p:sp>
        <p:nvSpPr>
          <p:cNvPr id="13" name="body-text"/>
          <p:cNvSpPr/>
          <p:nvPr/>
        </p:nvSpPr>
        <p:spPr>
          <a:xfrm>
            <a:off x="932688" y="2724912"/>
            <a:ext cx="1645920" cy="201168"/>
          </a:xfrm>
          <a:prstGeom prst="rect">
            <a:avLst/>
          </a:prstGeom>
          <a:noFill/>
          <a:ln/>
        </p:spPr>
        <p:txBody>
          <a:bodyPr wrap="square" lIns="0" tIns="0" rIns="0" bIns="0" rtlCol="0" anchor="t"/>
          <a:lstStyle/>
          <a:p>
            <a:pPr algn="l" indent="0" marL="0">
              <a:buNone/>
            </a:pPr>
            <a:r>
              <a:rPr lang="en-US" sz="1140" b="1" dirty="0">
                <a:solidFill>
                  <a:srgbClr val="1E3A8A"/>
                </a:solidFill>
                <a:latin typeface="Arial" pitchFamily="34" charset="0"/>
                <a:ea typeface="Arial" pitchFamily="34" charset="-122"/>
                <a:cs typeface="Arial" pitchFamily="34" charset="-120"/>
              </a:rPr>
              <a:t>FeedbackInbox</a:t>
            </a:r>
            <a:endParaRPr lang="en-US" sz="1140" dirty="0"/>
          </a:p>
        </p:txBody>
      </p:sp>
      <p:sp>
        <p:nvSpPr>
          <p:cNvPr id="14" name="feedback-empty"/>
          <p:cNvSpPr/>
          <p:nvPr/>
        </p:nvSpPr>
        <p:spPr>
          <a:xfrm>
            <a:off x="932688" y="3090672"/>
            <a:ext cx="3182112" cy="713232"/>
          </a:xfrm>
          <a:prstGeom prst="roundRect">
            <a:avLst/>
          </a:prstGeom>
          <a:solidFill>
            <a:srgbClr val="EFF6FF"/>
          </a:solidFill>
          <a:ln w="12700">
            <a:solidFill>
              <a:srgbClr val="BFDBFE"/>
            </a:solidFill>
            <a:prstDash val="solid"/>
          </a:ln>
        </p:spPr>
      </p:sp>
      <p:sp>
        <p:nvSpPr>
          <p:cNvPr id="15" name="body-text"/>
          <p:cNvSpPr/>
          <p:nvPr/>
        </p:nvSpPr>
        <p:spPr>
          <a:xfrm>
            <a:off x="1078992" y="3255264"/>
            <a:ext cx="2852928" cy="365760"/>
          </a:xfrm>
          <a:prstGeom prst="rect">
            <a:avLst/>
          </a:prstGeom>
          <a:noFill/>
          <a:ln/>
        </p:spPr>
        <p:txBody>
          <a:bodyPr wrap="square" lIns="0" tIns="0" rIns="0" bIns="0" rtlCol="0" anchor="t"/>
          <a:lstStyle/>
          <a:p>
            <a:pPr algn="ctr" indent="0" marL="0">
              <a:buNone/>
            </a:pPr>
            <a:r>
              <a:rPr lang="en-US" sz="1020" b="1" dirty="0">
                <a:solidFill>
                  <a:srgbClr val="1E3A8A"/>
                </a:solidFill>
                <a:latin typeface="Arial" pitchFamily="34" charset="0"/>
                <a:ea typeface="Arial" pitchFamily="34" charset="-122"/>
                <a:cs typeface="Arial" pitchFamily="34" charset="-120"/>
              </a:rPr>
              <a:t>Feedback inbox</a:t>
            </a:r>
            <a:endParaRPr lang="en-US" sz="1020" dirty="0"/>
          </a:p>
          <a:p>
            <a:pPr algn="ctr" indent="0" marL="0">
              <a:buNone/>
            </a:pPr>
            <a:r>
              <a:rPr lang="en-US" sz="1020" b="1" dirty="0">
                <a:solidFill>
                  <a:srgbClr val="1E3A8A"/>
                </a:solidFill>
                <a:latin typeface="Arial" pitchFamily="34" charset="0"/>
                <a:ea typeface="Arial" pitchFamily="34" charset="-122"/>
                <a:cs typeface="Arial" pitchFamily="34" charset="-120"/>
              </a:rPr>
              <a:t>No feedback data yet</a:t>
            </a:r>
            <a:endParaRPr lang="en-US" sz="1020" dirty="0"/>
          </a:p>
        </p:txBody>
      </p:sp>
      <p:sp>
        <p:nvSpPr>
          <p:cNvPr id="16" name="label"/>
          <p:cNvSpPr/>
          <p:nvPr/>
        </p:nvSpPr>
        <p:spPr>
          <a:xfrm>
            <a:off x="4663440" y="1078992"/>
            <a:ext cx="1481328"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What React has now</a:t>
            </a:r>
            <a:endParaRPr lang="en-US" sz="1050" dirty="0"/>
          </a:p>
        </p:txBody>
      </p:sp>
      <p:sp>
        <p:nvSpPr>
          <p:cNvPr id="17" name="absent-0"/>
          <p:cNvSpPr/>
          <p:nvPr/>
        </p:nvSpPr>
        <p:spPr>
          <a:xfrm>
            <a:off x="4663440" y="1426464"/>
            <a:ext cx="3236976" cy="420624"/>
          </a:xfrm>
          <a:prstGeom prst="roundRect">
            <a:avLst/>
          </a:prstGeom>
          <a:solidFill>
            <a:srgbClr val="F8FAFC"/>
          </a:solidFill>
          <a:ln w="12700">
            <a:solidFill>
              <a:srgbClr val="CBD5E1"/>
            </a:solidFill>
            <a:prstDash val="solid"/>
          </a:ln>
        </p:spPr>
      </p:sp>
      <p:sp>
        <p:nvSpPr>
          <p:cNvPr id="18" name="body-text"/>
          <p:cNvSpPr/>
          <p:nvPr/>
        </p:nvSpPr>
        <p:spPr>
          <a:xfrm>
            <a:off x="4864608" y="1536192"/>
            <a:ext cx="2487168" cy="182880"/>
          </a:xfrm>
          <a:prstGeom prst="rect">
            <a:avLst/>
          </a:prstGeom>
          <a:noFill/>
          <a:ln/>
        </p:spPr>
        <p:txBody>
          <a:bodyPr wrap="square" lIns="0" tIns="0" rIns="0" bIns="0" rtlCol="0" anchor="t"/>
          <a:lstStyle/>
          <a:p>
            <a:pPr algn="l" indent="0" marL="0">
              <a:buNone/>
            </a:pPr>
            <a:r>
              <a:rPr lang="en-US" sz="1040" b="1" dirty="0">
                <a:solidFill>
                  <a:srgbClr val="0F172A"/>
                </a:solidFill>
                <a:latin typeface="Arial" pitchFamily="34" charset="0"/>
                <a:ea typeface="Arial" pitchFamily="34" charset="-122"/>
                <a:cs typeface="Arial" pitchFamily="34" charset="-120"/>
              </a:rPr>
              <a:t>props</a:t>
            </a:r>
            <a:endParaRPr lang="en-US" sz="1040" dirty="0"/>
          </a:p>
        </p:txBody>
      </p:sp>
      <p:sp>
        <p:nvSpPr>
          <p:cNvPr id="19" name="pill"/>
          <p:cNvSpPr/>
          <p:nvPr/>
        </p:nvSpPr>
        <p:spPr>
          <a:xfrm>
            <a:off x="7004304" y="1499616"/>
            <a:ext cx="713232" cy="274320"/>
          </a:xfrm>
          <a:prstGeom prst="rect">
            <a:avLst/>
          </a:prstGeom>
          <a:solidFill>
            <a:srgbClr val="FEE2E2"/>
          </a:solidFill>
          <a:ln w="10160">
            <a:solidFill>
              <a:srgbClr val="FEE2E2"/>
            </a:solidFill>
          </a:ln>
        </p:spPr>
        <p:txBody>
          <a:bodyPr wrap="square" lIns="635" tIns="1270" rIns="1270" bIns="635" rtlCol="0" anchor="ctr"/>
          <a:lstStyle/>
          <a:p>
            <a:pPr algn="ctr" indent="0" marL="0">
              <a:buNone/>
            </a:pPr>
            <a:r>
              <a:rPr lang="en-US" sz="830" b="1" dirty="0">
                <a:solidFill>
                  <a:srgbClr val="991B1B"/>
                </a:solidFill>
                <a:latin typeface="Arial" pitchFamily="34" charset="0"/>
                <a:ea typeface="Arial" pitchFamily="34" charset="-122"/>
                <a:cs typeface="Arial" pitchFamily="34" charset="-120"/>
              </a:rPr>
              <a:t>no feedback</a:t>
            </a:r>
            <a:endParaRPr lang="en-US" sz="830" dirty="0"/>
          </a:p>
        </p:txBody>
      </p:sp>
      <p:sp>
        <p:nvSpPr>
          <p:cNvPr id="20" name="absent-1"/>
          <p:cNvSpPr/>
          <p:nvPr/>
        </p:nvSpPr>
        <p:spPr>
          <a:xfrm>
            <a:off x="4663440" y="1993392"/>
            <a:ext cx="3236976" cy="420624"/>
          </a:xfrm>
          <a:prstGeom prst="roundRect">
            <a:avLst/>
          </a:prstGeom>
          <a:solidFill>
            <a:srgbClr val="F8FAFC"/>
          </a:solidFill>
          <a:ln w="12700">
            <a:solidFill>
              <a:srgbClr val="CBD5E1"/>
            </a:solidFill>
            <a:prstDash val="solid"/>
          </a:ln>
        </p:spPr>
      </p:sp>
      <p:sp>
        <p:nvSpPr>
          <p:cNvPr id="21" name="body-text"/>
          <p:cNvSpPr/>
          <p:nvPr/>
        </p:nvSpPr>
        <p:spPr>
          <a:xfrm>
            <a:off x="4864608" y="2103120"/>
            <a:ext cx="2487168" cy="182880"/>
          </a:xfrm>
          <a:prstGeom prst="rect">
            <a:avLst/>
          </a:prstGeom>
          <a:noFill/>
          <a:ln/>
        </p:spPr>
        <p:txBody>
          <a:bodyPr wrap="square" lIns="0" tIns="0" rIns="0" bIns="0" rtlCol="0" anchor="t"/>
          <a:lstStyle/>
          <a:p>
            <a:pPr algn="l" indent="0" marL="0">
              <a:buNone/>
            </a:pPr>
            <a:r>
              <a:rPr lang="en-US" sz="1040" b="1" dirty="0">
                <a:solidFill>
                  <a:srgbClr val="0F172A"/>
                </a:solidFill>
                <a:latin typeface="Arial" pitchFamily="34" charset="0"/>
                <a:ea typeface="Arial" pitchFamily="34" charset="-122"/>
                <a:cs typeface="Arial" pitchFamily="34" charset="-120"/>
              </a:rPr>
              <a:t>state</a:t>
            </a:r>
            <a:endParaRPr lang="en-US" sz="1040" dirty="0"/>
          </a:p>
        </p:txBody>
      </p:sp>
      <p:sp>
        <p:nvSpPr>
          <p:cNvPr id="22" name="pill"/>
          <p:cNvSpPr/>
          <p:nvPr/>
        </p:nvSpPr>
        <p:spPr>
          <a:xfrm>
            <a:off x="7004304" y="2066544"/>
            <a:ext cx="713232" cy="274320"/>
          </a:xfrm>
          <a:prstGeom prst="rect">
            <a:avLst/>
          </a:prstGeom>
          <a:solidFill>
            <a:srgbClr val="FEE2E2"/>
          </a:solidFill>
          <a:ln w="10160">
            <a:solidFill>
              <a:srgbClr val="FEE2E2"/>
            </a:solidFill>
          </a:ln>
        </p:spPr>
        <p:txBody>
          <a:bodyPr wrap="square" lIns="635" tIns="1270" rIns="1270" bIns="635" rtlCol="0" anchor="ctr"/>
          <a:lstStyle/>
          <a:p>
            <a:pPr algn="ctr" indent="0" marL="0">
              <a:buNone/>
            </a:pPr>
            <a:r>
              <a:rPr lang="en-US" sz="830" b="1" dirty="0">
                <a:solidFill>
                  <a:srgbClr val="991B1B"/>
                </a:solidFill>
                <a:latin typeface="Arial" pitchFamily="34" charset="0"/>
                <a:ea typeface="Arial" pitchFamily="34" charset="-122"/>
                <a:cs typeface="Arial" pitchFamily="34" charset="-120"/>
              </a:rPr>
              <a:t>no feedback</a:t>
            </a:r>
            <a:endParaRPr lang="en-US" sz="830" dirty="0"/>
          </a:p>
        </p:txBody>
      </p:sp>
      <p:sp>
        <p:nvSpPr>
          <p:cNvPr id="23" name="absent-2"/>
          <p:cNvSpPr/>
          <p:nvPr/>
        </p:nvSpPr>
        <p:spPr>
          <a:xfrm>
            <a:off x="4663440" y="2560320"/>
            <a:ext cx="3236976" cy="420624"/>
          </a:xfrm>
          <a:prstGeom prst="roundRect">
            <a:avLst/>
          </a:prstGeom>
          <a:solidFill>
            <a:srgbClr val="F8FAFC"/>
          </a:solidFill>
          <a:ln w="12700">
            <a:solidFill>
              <a:srgbClr val="CBD5E1"/>
            </a:solidFill>
            <a:prstDash val="solid"/>
          </a:ln>
        </p:spPr>
      </p:sp>
      <p:sp>
        <p:nvSpPr>
          <p:cNvPr id="24" name="body-text"/>
          <p:cNvSpPr/>
          <p:nvPr/>
        </p:nvSpPr>
        <p:spPr>
          <a:xfrm>
            <a:off x="4864608" y="2670048"/>
            <a:ext cx="2487168" cy="182880"/>
          </a:xfrm>
          <a:prstGeom prst="rect">
            <a:avLst/>
          </a:prstGeom>
          <a:noFill/>
          <a:ln/>
        </p:spPr>
        <p:txBody>
          <a:bodyPr wrap="square" lIns="0" tIns="0" rIns="0" bIns="0" rtlCol="0" anchor="t"/>
          <a:lstStyle/>
          <a:p>
            <a:pPr algn="l" indent="0" marL="0">
              <a:buNone/>
            </a:pPr>
            <a:r>
              <a:rPr lang="en-US" sz="1040" b="1" dirty="0">
                <a:solidFill>
                  <a:srgbClr val="0F172A"/>
                </a:solidFill>
                <a:latin typeface="Arial" pitchFamily="34" charset="0"/>
                <a:ea typeface="Arial" pitchFamily="34" charset="-122"/>
                <a:cs typeface="Arial" pitchFamily="34" charset="-120"/>
              </a:rPr>
              <a:t>local component data</a:t>
            </a:r>
            <a:endParaRPr lang="en-US" sz="1040" dirty="0"/>
          </a:p>
        </p:txBody>
      </p:sp>
      <p:sp>
        <p:nvSpPr>
          <p:cNvPr id="25" name="pill"/>
          <p:cNvSpPr/>
          <p:nvPr/>
        </p:nvSpPr>
        <p:spPr>
          <a:xfrm>
            <a:off x="7004304" y="2633472"/>
            <a:ext cx="713232" cy="274320"/>
          </a:xfrm>
          <a:prstGeom prst="rect">
            <a:avLst/>
          </a:prstGeom>
          <a:solidFill>
            <a:srgbClr val="FEE2E2"/>
          </a:solidFill>
          <a:ln w="10160">
            <a:solidFill>
              <a:srgbClr val="FEE2E2"/>
            </a:solidFill>
          </a:ln>
        </p:spPr>
        <p:txBody>
          <a:bodyPr wrap="square" lIns="635" tIns="1270" rIns="1270" bIns="635" rtlCol="0" anchor="ctr"/>
          <a:lstStyle/>
          <a:p>
            <a:pPr algn="ctr" indent="0" marL="0">
              <a:buNone/>
            </a:pPr>
            <a:r>
              <a:rPr lang="en-US" sz="830" b="1" dirty="0">
                <a:solidFill>
                  <a:srgbClr val="991B1B"/>
                </a:solidFill>
                <a:latin typeface="Arial" pitchFamily="34" charset="0"/>
                <a:ea typeface="Arial" pitchFamily="34" charset="-122"/>
                <a:cs typeface="Arial" pitchFamily="34" charset="-120"/>
              </a:rPr>
              <a:t>no feedback</a:t>
            </a:r>
            <a:endParaRPr lang="en-US" sz="830" dirty="0"/>
          </a:p>
        </p:txBody>
      </p:sp>
      <p:sp>
        <p:nvSpPr>
          <p:cNvPr id="26" name="server-problem"/>
          <p:cNvSpPr/>
          <p:nvPr/>
        </p:nvSpPr>
        <p:spPr>
          <a:xfrm>
            <a:off x="4663440" y="3383280"/>
            <a:ext cx="3236976" cy="731520"/>
          </a:xfrm>
          <a:prstGeom prst="roundRect">
            <a:avLst/>
          </a:prstGeom>
          <a:solidFill>
            <a:srgbClr val="FEF9C3"/>
          </a:solidFill>
          <a:ln w="12700">
            <a:solidFill>
              <a:srgbClr val="FEF9C3"/>
            </a:solidFill>
            <a:prstDash val="solid"/>
          </a:ln>
        </p:spPr>
      </p:sp>
      <p:sp>
        <p:nvSpPr>
          <p:cNvPr id="27" name="body-text"/>
          <p:cNvSpPr/>
          <p:nvPr/>
        </p:nvSpPr>
        <p:spPr>
          <a:xfrm>
            <a:off x="4864608" y="3547872"/>
            <a:ext cx="2834640" cy="384048"/>
          </a:xfrm>
          <a:prstGeom prst="rect">
            <a:avLst/>
          </a:prstGeom>
          <a:noFill/>
          <a:ln/>
        </p:spPr>
        <p:txBody>
          <a:bodyPr wrap="square" lIns="0" tIns="0" rIns="0" bIns="0" rtlCol="0" anchor="t"/>
          <a:lstStyle/>
          <a:p>
            <a:pPr algn="ctr" indent="0" marL="0">
              <a:buNone/>
            </a:pPr>
            <a:r>
              <a:rPr lang="en-US" sz="1070" b="1" dirty="0">
                <a:solidFill>
                  <a:srgbClr val="854D0E"/>
                </a:solidFill>
                <a:latin typeface="Arial" pitchFamily="34" charset="0"/>
                <a:ea typeface="Arial" pitchFamily="34" charset="-122"/>
                <a:cs typeface="Arial" pitchFamily="34" charset="-120"/>
              </a:rPr>
              <a:t>The information we need lives outside this application.</a:t>
            </a:r>
            <a:endParaRPr lang="en-US" sz="1070" dirty="0"/>
          </a:p>
          <a:p>
            <a:pPr algn="ctr" indent="0" marL="0">
              <a:buNone/>
            </a:pPr>
            <a:r>
              <a:rPr lang="en-US" sz="1070" b="1" dirty="0">
                <a:solidFill>
                  <a:srgbClr val="854D0E"/>
                </a:solidFill>
                <a:latin typeface="Arial" pitchFamily="34" charset="0"/>
                <a:ea typeface="Arial" pitchFamily="34" charset="-122"/>
                <a:cs typeface="Arial" pitchFamily="34" charset="-120"/>
              </a:rPr>
              <a:t>How can FeedbackInbox retrieve it?</a:t>
            </a:r>
            <a:endParaRPr lang="en-US" sz="107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HTTP requests and responses</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body-text"/>
          <p:cNvSpPr/>
          <p:nvPr/>
        </p:nvSpPr>
        <p:spPr>
          <a:xfrm>
            <a:off x="676656" y="932688"/>
            <a:ext cx="7315200" cy="310896"/>
          </a:xfrm>
          <a:prstGeom prst="rect">
            <a:avLst/>
          </a:prstGeom>
          <a:noFill/>
          <a:ln/>
        </p:spPr>
        <p:txBody>
          <a:bodyPr wrap="square" lIns="0" tIns="0" rIns="0" bIns="0" rtlCol="0" anchor="t"/>
          <a:lstStyle/>
          <a:p>
            <a:pPr algn="l" indent="0" marL="0">
              <a:buNone/>
            </a:pPr>
            <a:r>
              <a:rPr lang="en-US" sz="1210" b="1" dirty="0">
                <a:solidFill>
                  <a:srgbClr val="0F172A"/>
                </a:solidFill>
                <a:latin typeface="Arial" pitchFamily="34" charset="0"/>
                <a:ea typeface="Arial" pitchFamily="34" charset="-122"/>
                <a:cs typeface="Arial" pitchFamily="34" charset="-120"/>
              </a:rPr>
              <a:t>HTTP gives a browser client a request-and-response way to communicate with a remote server.</a:t>
            </a:r>
            <a:endParaRPr lang="en-US" sz="1210" dirty="0"/>
          </a:p>
        </p:txBody>
      </p:sp>
      <p:sp>
        <p:nvSpPr>
          <p:cNvPr id="5" name="http-client"/>
          <p:cNvSpPr/>
          <p:nvPr/>
        </p:nvSpPr>
        <p:spPr>
          <a:xfrm>
            <a:off x="1024128" y="1572768"/>
            <a:ext cx="1993392" cy="1115568"/>
          </a:xfrm>
          <a:prstGeom prst="roundRect">
            <a:avLst/>
          </a:prstGeom>
          <a:solidFill>
            <a:srgbClr val="EFF6FF"/>
          </a:solidFill>
          <a:ln w="12700">
            <a:solidFill>
              <a:srgbClr val="BFDBFE"/>
            </a:solidFill>
            <a:prstDash val="solid"/>
          </a:ln>
        </p:spPr>
      </p:sp>
      <p:sp>
        <p:nvSpPr>
          <p:cNvPr id="6" name="body-text"/>
          <p:cNvSpPr/>
          <p:nvPr/>
        </p:nvSpPr>
        <p:spPr>
          <a:xfrm>
            <a:off x="1261872" y="1865376"/>
            <a:ext cx="1517904" cy="256032"/>
          </a:xfrm>
          <a:prstGeom prst="rect">
            <a:avLst/>
          </a:prstGeom>
          <a:noFill/>
          <a:ln/>
        </p:spPr>
        <p:txBody>
          <a:bodyPr wrap="square" lIns="0" tIns="0" rIns="0" bIns="0" rtlCol="0" anchor="t"/>
          <a:lstStyle/>
          <a:p>
            <a:pPr algn="ctr" indent="0" marL="0">
              <a:buNone/>
            </a:pPr>
            <a:r>
              <a:rPr lang="en-US" sz="1140" b="1" dirty="0">
                <a:solidFill>
                  <a:srgbClr val="1E3A8A"/>
                </a:solidFill>
                <a:latin typeface="Arial" pitchFamily="34" charset="0"/>
                <a:ea typeface="Arial" pitchFamily="34" charset="-122"/>
                <a:cs typeface="Arial" pitchFamily="34" charset="-120"/>
              </a:rPr>
              <a:t>Browser application</a:t>
            </a:r>
            <a:endParaRPr lang="en-US" sz="1140" dirty="0"/>
          </a:p>
        </p:txBody>
      </p:sp>
      <p:sp>
        <p:nvSpPr>
          <p:cNvPr id="7" name="http-server"/>
          <p:cNvSpPr/>
          <p:nvPr/>
        </p:nvSpPr>
        <p:spPr>
          <a:xfrm>
            <a:off x="6126480" y="1572768"/>
            <a:ext cx="1993392" cy="1115568"/>
          </a:xfrm>
          <a:prstGeom prst="roundRect">
            <a:avLst/>
          </a:prstGeom>
          <a:solidFill>
            <a:srgbClr val="DCFCE7"/>
          </a:solidFill>
          <a:ln w="12700">
            <a:solidFill>
              <a:srgbClr val="86EFAC"/>
            </a:solidFill>
            <a:prstDash val="solid"/>
          </a:ln>
        </p:spPr>
      </p:sp>
      <p:sp>
        <p:nvSpPr>
          <p:cNvPr id="8" name="body-text"/>
          <p:cNvSpPr/>
          <p:nvPr/>
        </p:nvSpPr>
        <p:spPr>
          <a:xfrm>
            <a:off x="6382512" y="1865376"/>
            <a:ext cx="1481328" cy="256032"/>
          </a:xfrm>
          <a:prstGeom prst="rect">
            <a:avLst/>
          </a:prstGeom>
          <a:noFill/>
          <a:ln/>
        </p:spPr>
        <p:txBody>
          <a:bodyPr wrap="square" lIns="0" tIns="0" rIns="0" bIns="0" rtlCol="0" anchor="t"/>
          <a:lstStyle/>
          <a:p>
            <a:pPr algn="ctr" indent="0" marL="0">
              <a:buNone/>
            </a:pPr>
            <a:r>
              <a:rPr lang="en-US" sz="1140" b="1" dirty="0">
                <a:solidFill>
                  <a:srgbClr val="166534"/>
                </a:solidFill>
                <a:latin typeface="Arial" pitchFamily="34" charset="0"/>
                <a:ea typeface="Arial" pitchFamily="34" charset="-122"/>
                <a:cs typeface="Arial" pitchFamily="34" charset="-120"/>
              </a:rPr>
              <a:t>Remote server</a:t>
            </a:r>
            <a:endParaRPr lang="en-US" sz="1140" dirty="0"/>
          </a:p>
        </p:txBody>
      </p:sp>
      <p:sp>
        <p:nvSpPr>
          <p:cNvPr id="9" name="connector"/>
          <p:cNvSpPr/>
          <p:nvPr/>
        </p:nvSpPr>
        <p:spPr>
          <a:xfrm>
            <a:off x="3090672" y="1847088"/>
            <a:ext cx="2889504" cy="0"/>
          </a:xfrm>
          <a:prstGeom prst="line">
            <a:avLst/>
          </a:prstGeom>
          <a:noFill/>
          <a:ln w="19050">
            <a:solidFill>
              <a:srgbClr val="1E3A8A"/>
            </a:solidFill>
            <a:prstDash val="solid"/>
            <a:tailEnd type="triangle"/>
          </a:ln>
        </p:spPr>
      </p:sp>
      <p:sp>
        <p:nvSpPr>
          <p:cNvPr id="10" name="label"/>
          <p:cNvSpPr/>
          <p:nvPr/>
        </p:nvSpPr>
        <p:spPr>
          <a:xfrm>
            <a:off x="3913632" y="1627632"/>
            <a:ext cx="1280160" cy="201168"/>
          </a:xfrm>
          <a:prstGeom prst="rect">
            <a:avLst/>
          </a:prstGeom>
          <a:noFill/>
          <a:ln/>
        </p:spPr>
        <p:txBody>
          <a:bodyPr wrap="square" lIns="0" tIns="0" rIns="0" bIns="0" rtlCol="0" anchor="ctr"/>
          <a:lstStyle/>
          <a:p>
            <a:pPr algn="ctr" indent="0" marL="0">
              <a:buNone/>
            </a:pPr>
            <a:r>
              <a:rPr lang="en-US" sz="1020" b="1" dirty="0">
                <a:solidFill>
                  <a:srgbClr val="1E3A8A"/>
                </a:solidFill>
                <a:latin typeface="Arial" pitchFamily="34" charset="0"/>
                <a:ea typeface="Arial" pitchFamily="34" charset="-122"/>
                <a:cs typeface="Arial" pitchFamily="34" charset="-120"/>
              </a:rPr>
              <a:t>HTTP request</a:t>
            </a:r>
            <a:endParaRPr lang="en-US" sz="1020" dirty="0"/>
          </a:p>
        </p:txBody>
      </p:sp>
      <p:sp>
        <p:nvSpPr>
          <p:cNvPr id="11" name="connector"/>
          <p:cNvSpPr/>
          <p:nvPr/>
        </p:nvSpPr>
        <p:spPr>
          <a:xfrm>
            <a:off x="5980176" y="2377440"/>
            <a:ext cx="-2889504" cy="0"/>
          </a:xfrm>
          <a:prstGeom prst="line">
            <a:avLst/>
          </a:prstGeom>
          <a:noFill/>
          <a:ln w="19050">
            <a:solidFill>
              <a:srgbClr val="166534"/>
            </a:solidFill>
            <a:prstDash val="solid"/>
            <a:tailEnd type="triangle"/>
          </a:ln>
        </p:spPr>
      </p:sp>
      <p:sp>
        <p:nvSpPr>
          <p:cNvPr id="12" name="label"/>
          <p:cNvSpPr/>
          <p:nvPr/>
        </p:nvSpPr>
        <p:spPr>
          <a:xfrm>
            <a:off x="3547872" y="2505456"/>
            <a:ext cx="2048256" cy="201168"/>
          </a:xfrm>
          <a:prstGeom prst="rect">
            <a:avLst/>
          </a:prstGeom>
          <a:noFill/>
          <a:ln/>
        </p:spPr>
        <p:txBody>
          <a:bodyPr wrap="square" lIns="0" tIns="0" rIns="0" bIns="0" rtlCol="0" anchor="ctr"/>
          <a:lstStyle/>
          <a:p>
            <a:pPr algn="ctr" indent="0" marL="0">
              <a:buNone/>
            </a:pPr>
            <a:r>
              <a:rPr lang="en-US" sz="980" b="1" dirty="0">
                <a:solidFill>
                  <a:srgbClr val="166534"/>
                </a:solidFill>
                <a:latin typeface="Arial" pitchFamily="34" charset="0"/>
                <a:ea typeface="Arial" pitchFamily="34" charset="-122"/>
                <a:cs typeface="Arial" pitchFamily="34" charset="-120"/>
              </a:rPr>
              <a:t>HTTP response containing data</a:t>
            </a:r>
            <a:endParaRPr lang="en-US" sz="980" dirty="0"/>
          </a:p>
        </p:txBody>
      </p:sp>
      <p:sp>
        <p:nvSpPr>
          <p:cNvPr id="13" name="http-term-0"/>
          <p:cNvSpPr/>
          <p:nvPr/>
        </p:nvSpPr>
        <p:spPr>
          <a:xfrm>
            <a:off x="896112" y="3218688"/>
            <a:ext cx="2340864" cy="822960"/>
          </a:xfrm>
          <a:prstGeom prst="roundRect">
            <a:avLst/>
          </a:prstGeom>
          <a:solidFill>
            <a:srgbClr val="F8FAFC"/>
          </a:solidFill>
          <a:ln w="12700">
            <a:solidFill>
              <a:srgbClr val="CBD5E1"/>
            </a:solidFill>
            <a:prstDash val="solid"/>
          </a:ln>
        </p:spPr>
      </p:sp>
      <p:sp>
        <p:nvSpPr>
          <p:cNvPr id="14" name="body-text"/>
          <p:cNvSpPr/>
          <p:nvPr/>
        </p:nvSpPr>
        <p:spPr>
          <a:xfrm>
            <a:off x="1060704" y="3401568"/>
            <a:ext cx="2011680" cy="201168"/>
          </a:xfrm>
          <a:prstGeom prst="rect">
            <a:avLst/>
          </a:prstGeom>
          <a:noFill/>
          <a:ln/>
        </p:spPr>
        <p:txBody>
          <a:bodyPr wrap="square" lIns="0" tIns="0" rIns="0" bIns="0" rtlCol="0" anchor="t"/>
          <a:lstStyle/>
          <a:p>
            <a:pPr algn="ctr" indent="0" marL="0">
              <a:buNone/>
            </a:pPr>
            <a:r>
              <a:rPr lang="en-US" sz="1120" b="1" dirty="0">
                <a:solidFill>
                  <a:srgbClr val="1E3A8A"/>
                </a:solidFill>
                <a:latin typeface="Arial" pitchFamily="34" charset="0"/>
                <a:ea typeface="Arial" pitchFamily="34" charset="-122"/>
                <a:cs typeface="Arial" pitchFamily="34" charset="-120"/>
              </a:rPr>
              <a:t>Request</a:t>
            </a:r>
            <a:endParaRPr lang="en-US" sz="1120" dirty="0"/>
          </a:p>
        </p:txBody>
      </p:sp>
      <p:sp>
        <p:nvSpPr>
          <p:cNvPr id="15" name="body-text"/>
          <p:cNvSpPr/>
          <p:nvPr/>
        </p:nvSpPr>
        <p:spPr>
          <a:xfrm>
            <a:off x="1060704" y="3730752"/>
            <a:ext cx="2011680" cy="237744"/>
          </a:xfrm>
          <a:prstGeom prst="rect">
            <a:avLst/>
          </a:prstGeom>
          <a:noFill/>
          <a:ln/>
        </p:spPr>
        <p:txBody>
          <a:bodyPr wrap="square" lIns="0" tIns="0" rIns="0" bIns="0" rtlCol="0" anchor="t"/>
          <a:lstStyle/>
          <a:p>
            <a:pPr algn="ctr" indent="0" marL="0">
              <a:buNone/>
            </a:pPr>
            <a:r>
              <a:rPr lang="en-US" sz="960" dirty="0">
                <a:solidFill>
                  <a:srgbClr val="475569"/>
                </a:solidFill>
                <a:latin typeface="Arial" pitchFamily="34" charset="0"/>
                <a:ea typeface="Arial" pitchFamily="34" charset="-122"/>
                <a:cs typeface="Arial" pitchFamily="34" charset="-120"/>
              </a:rPr>
              <a:t>What does the client want?</a:t>
            </a:r>
            <a:endParaRPr lang="en-US" sz="960" dirty="0"/>
          </a:p>
        </p:txBody>
      </p:sp>
      <p:sp>
        <p:nvSpPr>
          <p:cNvPr id="16" name="http-term-1"/>
          <p:cNvSpPr/>
          <p:nvPr/>
        </p:nvSpPr>
        <p:spPr>
          <a:xfrm>
            <a:off x="3529584" y="3218688"/>
            <a:ext cx="2340864" cy="822960"/>
          </a:xfrm>
          <a:prstGeom prst="roundRect">
            <a:avLst/>
          </a:prstGeom>
          <a:solidFill>
            <a:srgbClr val="F8FAFC"/>
          </a:solidFill>
          <a:ln w="12700">
            <a:solidFill>
              <a:srgbClr val="CBD5E1"/>
            </a:solidFill>
            <a:prstDash val="solid"/>
          </a:ln>
        </p:spPr>
      </p:sp>
      <p:sp>
        <p:nvSpPr>
          <p:cNvPr id="17" name="body-text"/>
          <p:cNvSpPr/>
          <p:nvPr/>
        </p:nvSpPr>
        <p:spPr>
          <a:xfrm>
            <a:off x="3694176" y="3401568"/>
            <a:ext cx="2011680" cy="201168"/>
          </a:xfrm>
          <a:prstGeom prst="rect">
            <a:avLst/>
          </a:prstGeom>
          <a:noFill/>
          <a:ln/>
        </p:spPr>
        <p:txBody>
          <a:bodyPr wrap="square" lIns="0" tIns="0" rIns="0" bIns="0" rtlCol="0" anchor="t"/>
          <a:lstStyle/>
          <a:p>
            <a:pPr algn="ctr" indent="0" marL="0">
              <a:buNone/>
            </a:pPr>
            <a:r>
              <a:rPr lang="en-US" sz="1120" b="1" dirty="0">
                <a:solidFill>
                  <a:srgbClr val="1E3A8A"/>
                </a:solidFill>
                <a:latin typeface="Arial" pitchFamily="34" charset="0"/>
                <a:ea typeface="Arial" pitchFamily="34" charset="-122"/>
                <a:cs typeface="Arial" pitchFamily="34" charset="-120"/>
              </a:rPr>
              <a:t>Response</a:t>
            </a:r>
            <a:endParaRPr lang="en-US" sz="1120" dirty="0"/>
          </a:p>
        </p:txBody>
      </p:sp>
      <p:sp>
        <p:nvSpPr>
          <p:cNvPr id="18" name="body-text"/>
          <p:cNvSpPr/>
          <p:nvPr/>
        </p:nvSpPr>
        <p:spPr>
          <a:xfrm>
            <a:off x="3694176" y="3730752"/>
            <a:ext cx="2011680" cy="237744"/>
          </a:xfrm>
          <a:prstGeom prst="rect">
            <a:avLst/>
          </a:prstGeom>
          <a:noFill/>
          <a:ln/>
        </p:spPr>
        <p:txBody>
          <a:bodyPr wrap="square" lIns="0" tIns="0" rIns="0" bIns="0" rtlCol="0" anchor="t"/>
          <a:lstStyle/>
          <a:p>
            <a:pPr algn="ctr" indent="0" marL="0">
              <a:buNone/>
            </a:pPr>
            <a:r>
              <a:rPr lang="en-US" sz="960" dirty="0">
                <a:solidFill>
                  <a:srgbClr val="475569"/>
                </a:solidFill>
                <a:latin typeface="Arial" pitchFamily="34" charset="0"/>
                <a:ea typeface="Arial" pitchFamily="34" charset="-122"/>
                <a:cs typeface="Arial" pitchFamily="34" charset="-120"/>
              </a:rPr>
              <a:t>What did the server send back?</a:t>
            </a:r>
            <a:endParaRPr lang="en-US" sz="960" dirty="0"/>
          </a:p>
        </p:txBody>
      </p:sp>
      <p:sp>
        <p:nvSpPr>
          <p:cNvPr id="19" name="http-term-2"/>
          <p:cNvSpPr/>
          <p:nvPr/>
        </p:nvSpPr>
        <p:spPr>
          <a:xfrm>
            <a:off x="6163056" y="3218688"/>
            <a:ext cx="2340864" cy="822960"/>
          </a:xfrm>
          <a:prstGeom prst="roundRect">
            <a:avLst/>
          </a:prstGeom>
          <a:solidFill>
            <a:srgbClr val="FEF9C3"/>
          </a:solidFill>
          <a:ln w="12700">
            <a:solidFill>
              <a:srgbClr val="FEF9C3"/>
            </a:solidFill>
            <a:prstDash val="solid"/>
          </a:ln>
        </p:spPr>
      </p:sp>
      <p:sp>
        <p:nvSpPr>
          <p:cNvPr id="20" name="body-text"/>
          <p:cNvSpPr/>
          <p:nvPr/>
        </p:nvSpPr>
        <p:spPr>
          <a:xfrm>
            <a:off x="6327648" y="3401568"/>
            <a:ext cx="2011680" cy="201168"/>
          </a:xfrm>
          <a:prstGeom prst="rect">
            <a:avLst/>
          </a:prstGeom>
          <a:noFill/>
          <a:ln/>
        </p:spPr>
        <p:txBody>
          <a:bodyPr wrap="square" lIns="0" tIns="0" rIns="0" bIns="0" rtlCol="0" anchor="t"/>
          <a:lstStyle/>
          <a:p>
            <a:pPr algn="ctr" indent="0" marL="0">
              <a:buNone/>
            </a:pPr>
            <a:r>
              <a:rPr lang="en-US" sz="1120" b="1" dirty="0">
                <a:solidFill>
                  <a:srgbClr val="854D0E"/>
                </a:solidFill>
                <a:latin typeface="Arial" pitchFamily="34" charset="0"/>
                <a:ea typeface="Arial" pitchFamily="34" charset="-122"/>
                <a:cs typeface="Arial" pitchFamily="34" charset="-120"/>
              </a:rPr>
              <a:t>GET</a:t>
            </a:r>
            <a:endParaRPr lang="en-US" sz="1120" dirty="0"/>
          </a:p>
        </p:txBody>
      </p:sp>
      <p:sp>
        <p:nvSpPr>
          <p:cNvPr id="21" name="body-text"/>
          <p:cNvSpPr/>
          <p:nvPr/>
        </p:nvSpPr>
        <p:spPr>
          <a:xfrm>
            <a:off x="6327648" y="3730752"/>
            <a:ext cx="2011680" cy="237744"/>
          </a:xfrm>
          <a:prstGeom prst="rect">
            <a:avLst/>
          </a:prstGeom>
          <a:noFill/>
          <a:ln/>
        </p:spPr>
        <p:txBody>
          <a:bodyPr wrap="square" lIns="0" tIns="0" rIns="0" bIns="0" rtlCol="0" anchor="t"/>
          <a:lstStyle/>
          <a:p>
            <a:pPr algn="ctr" indent="0" marL="0">
              <a:buNone/>
            </a:pPr>
            <a:r>
              <a:rPr lang="en-US" sz="960" dirty="0">
                <a:solidFill>
                  <a:srgbClr val="475569"/>
                </a:solidFill>
                <a:latin typeface="Arial" pitchFamily="34" charset="0"/>
                <a:ea typeface="Arial" pitchFamily="34" charset="-122"/>
                <a:cs typeface="Arial" pitchFamily="34" charset="-120"/>
              </a:rPr>
              <a:t>The HTTP method we use here to retrieve information.</a:t>
            </a:r>
            <a:endParaRPr lang="en-US" sz="9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Request feedback with GET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body-text"/>
          <p:cNvSpPr/>
          <p:nvPr/>
        </p:nvSpPr>
        <p:spPr>
          <a:xfrm>
            <a:off x="621792" y="932688"/>
            <a:ext cx="3675888" cy="402336"/>
          </a:xfrm>
          <a:prstGeom prst="rect">
            <a:avLst/>
          </a:prstGeom>
          <a:noFill/>
          <a:ln/>
        </p:spPr>
        <p:txBody>
          <a:bodyPr wrap="square" lIns="0" tIns="0" rIns="0" bIns="0" rtlCol="0" anchor="t"/>
          <a:lstStyle/>
          <a:p>
            <a:pPr algn="l" indent="0" marL="0">
              <a:buNone/>
            </a:pPr>
            <a:r>
              <a:rPr lang="en-US" sz="1140" dirty="0">
                <a:solidFill>
                  <a:srgbClr val="0F172A"/>
                </a:solidFill>
                <a:latin typeface="Arial" pitchFamily="34" charset="0"/>
                <a:ea typeface="Arial" pitchFamily="34" charset="-122"/>
                <a:cs typeface="Arial" pitchFamily="34" charset="-120"/>
              </a:rPr>
              <a:t>JSONPlaceholder is a public web API that exposes fake data over HTTP for testing and examples.</a:t>
            </a:r>
            <a:endParaRPr lang="en-US" sz="1140" dirty="0"/>
          </a:p>
        </p:txBody>
      </p:sp>
      <p:sp>
        <p:nvSpPr>
          <p:cNvPr id="5" name="rich-text"/>
          <p:cNvSpPr/>
          <p:nvPr/>
        </p:nvSpPr>
        <p:spPr>
          <a:xfrm>
            <a:off x="621792" y="1408176"/>
            <a:ext cx="3675888" cy="274320"/>
          </a:xfrm>
          <a:prstGeom prst="rect">
            <a:avLst/>
          </a:prstGeom>
          <a:noFill/>
          <a:ln/>
        </p:spPr>
        <p:txBody>
          <a:bodyPr wrap="square" lIns="0" tIns="0" rIns="0" bIns="0" rtlCol="0" anchor="t"/>
          <a:lstStyle/>
          <a:p>
            <a:pPr indent="0" marL="0">
              <a:buNone/>
            </a:pPr>
            <a:r>
              <a:rPr lang="en-US" sz="1040" b="1" dirty="0">
                <a:solidFill>
                  <a:srgbClr val="1E3A8A"/>
                </a:solidFill>
                <a:latin typeface="Arial" pitchFamily="34" charset="0"/>
                <a:ea typeface="Arial" pitchFamily="34" charset="-122"/>
                <a:cs typeface="Arial" pitchFamily="34" charset="-120"/>
              </a:rPr>
              <a:t>Endpoint</a:t>
            </a:r>
            <a:pPr indent="0" marL="0">
              <a:buNone/>
            </a:pPr>
            <a:r>
              <a:rPr lang="en-US" sz="1040" dirty="0">
                <a:solidFill>
                  <a:srgbClr val="475569"/>
                </a:solidFill>
                <a:latin typeface="Arial" pitchFamily="34" charset="0"/>
                <a:ea typeface="Arial" pitchFamily="34" charset="-122"/>
                <a:cs typeface="Arial" pitchFamily="34" charset="-120"/>
              </a:rPr>
              <a:t>  A URL used to access a specific API resource.</a:t>
            </a:r>
            <a:endParaRPr lang="en-US" sz="1040" dirty="0"/>
          </a:p>
        </p:txBody>
      </p:sp>
      <p:sp>
        <p:nvSpPr>
          <p:cNvPr id="6" name="endpoint-code"/>
          <p:cNvSpPr/>
          <p:nvPr/>
        </p:nvSpPr>
        <p:spPr>
          <a:xfrm>
            <a:off x="621792" y="1773936"/>
            <a:ext cx="3675888" cy="144475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const feedbackUrl =</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"https://jsonplaceholder.typicode.com/</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posts/1/comments";</a:t>
            </a:r>
            <a:endParaRPr lang="en-US" sz="950" dirty="0"/>
          </a:p>
          <a:p>
            <a:pPr indent="0" marL="0">
              <a:buNone/>
            </a:pP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function FeedbackInbox() {</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 component code</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p:txBody>
      </p:sp>
      <p:sp>
        <p:nvSpPr>
          <p:cNvPr id="7" name="pill"/>
          <p:cNvSpPr/>
          <p:nvPr/>
        </p:nvSpPr>
        <p:spPr>
          <a:xfrm>
            <a:off x="621792" y="3383280"/>
            <a:ext cx="2029968" cy="274320"/>
          </a:xfrm>
          <a:prstGeom prst="rect">
            <a:avLst/>
          </a:prstGeom>
          <a:solidFill>
            <a:srgbClr val="EFF6FF"/>
          </a:solidFill>
          <a:ln w="10160">
            <a:solidFill>
              <a:srgbClr val="EFF6FF"/>
            </a:solidFill>
          </a:ln>
        </p:spPr>
        <p:txBody>
          <a:bodyPr wrap="square" lIns="635" tIns="1270" rIns="1270" bIns="635" rtlCol="0" anchor="ctr"/>
          <a:lstStyle/>
          <a:p>
            <a:pPr algn="ctr" indent="0" marL="0">
              <a:buNone/>
            </a:pPr>
            <a:r>
              <a:rPr lang="en-US" sz="1000" b="1" dirty="0">
                <a:solidFill>
                  <a:srgbClr val="1E3A8A"/>
                </a:solidFill>
                <a:latin typeface="Arial" pitchFamily="34" charset="0"/>
                <a:ea typeface="Arial" pitchFamily="34" charset="-122"/>
                <a:cs typeface="Arial" pitchFamily="34" charset="-120"/>
              </a:rPr>
              <a:t>GET /posts/1/comments</a:t>
            </a:r>
            <a:endParaRPr lang="en-US" sz="1000" dirty="0"/>
          </a:p>
        </p:txBody>
      </p:sp>
      <p:sp>
        <p:nvSpPr>
          <p:cNvPr id="8" name="body-text"/>
          <p:cNvSpPr/>
          <p:nvPr/>
        </p:nvSpPr>
        <p:spPr>
          <a:xfrm>
            <a:off x="621792" y="3767328"/>
            <a:ext cx="3675888" cy="475488"/>
          </a:xfrm>
          <a:prstGeom prst="rect">
            <a:avLst/>
          </a:prstGeom>
          <a:noFill/>
          <a:ln/>
        </p:spPr>
        <p:txBody>
          <a:bodyPr wrap="square" lIns="0" tIns="0" rIns="0" bIns="0" rtlCol="0" anchor="t"/>
          <a:lstStyle/>
          <a:p>
            <a:pPr algn="l" indent="0" marL="0">
              <a:buNone/>
            </a:pPr>
            <a:r>
              <a:rPr lang="en-US" sz="1040" dirty="0">
                <a:solidFill>
                  <a:srgbClr val="0F172A"/>
                </a:solidFill>
                <a:latin typeface="Arial" pitchFamily="34" charset="0"/>
                <a:ea typeface="Arial" pitchFamily="34" charset="-122"/>
                <a:cs typeface="Arial" pitchFamily="34" charset="-120"/>
              </a:rPr>
              <a:t>The request asks for the comments associated with one post. Each returned comment will represent one feedback entry.</a:t>
            </a:r>
            <a:endParaRPr lang="en-US" sz="1040" dirty="0"/>
          </a:p>
        </p:txBody>
      </p:sp>
      <p:sp>
        <p:nvSpPr>
          <p:cNvPr id="9" name="label"/>
          <p:cNvSpPr/>
          <p:nvPr/>
        </p:nvSpPr>
        <p:spPr>
          <a:xfrm>
            <a:off x="4535424" y="950976"/>
            <a:ext cx="2286000" cy="219456"/>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Representative response item</a:t>
            </a:r>
            <a:endParaRPr lang="en-US" sz="1050" dirty="0"/>
          </a:p>
        </p:txBody>
      </p:sp>
      <p:sp>
        <p:nvSpPr>
          <p:cNvPr id="10" name="api-data-panel"/>
          <p:cNvSpPr/>
          <p:nvPr/>
        </p:nvSpPr>
        <p:spPr>
          <a:xfrm>
            <a:off x="4535424" y="1261872"/>
            <a:ext cx="3657600" cy="221284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40" dirty="0">
                <a:solidFill>
                  <a:srgbClr val="FFFFFF"/>
                </a:solidFill>
                <a:latin typeface="Courier New" pitchFamily="34" charset="0"/>
                <a:ea typeface="Courier New" pitchFamily="34" charset="-122"/>
                <a:cs typeface="Courier New" pitchFamily="34" charset="-120"/>
              </a:rPr>
              <a:t>{</a:t>
            </a:r>
            <a:endParaRPr lang="en-US" sz="1040" dirty="0"/>
          </a:p>
          <a:p>
            <a:pPr indent="0" marL="0">
              <a:buNone/>
            </a:pPr>
            <a:r>
              <a:rPr lang="en-US" sz="1040" dirty="0">
                <a:solidFill>
                  <a:srgbClr val="FFFFFF"/>
                </a:solidFill>
                <a:latin typeface="Courier New" pitchFamily="34" charset="0"/>
                <a:ea typeface="Courier New" pitchFamily="34" charset="-122"/>
                <a:cs typeface="Courier New" pitchFamily="34" charset="-120"/>
              </a:rPr>
              <a:t>  "postId": 1,</a:t>
            </a:r>
            <a:endParaRPr lang="en-US" sz="1040" dirty="0"/>
          </a:p>
          <a:p>
            <a:pPr indent="0" marL="0">
              <a:buNone/>
            </a:pPr>
            <a:r>
              <a:rPr lang="en-US" sz="1040" dirty="0">
                <a:solidFill>
                  <a:srgbClr val="FFFFFF"/>
                </a:solidFill>
                <a:latin typeface="Courier New" pitchFamily="34" charset="0"/>
                <a:ea typeface="Courier New" pitchFamily="34" charset="-122"/>
                <a:cs typeface="Courier New" pitchFamily="34" charset="-120"/>
              </a:rPr>
              <a:t>  "id": 1,</a:t>
            </a:r>
            <a:endParaRPr lang="en-US" sz="1040" dirty="0"/>
          </a:p>
          <a:p>
            <a:pPr indent="0" marL="0">
              <a:buNone/>
            </a:pPr>
            <a:r>
              <a:rPr lang="en-US" sz="1040" dirty="0">
                <a:solidFill>
                  <a:srgbClr val="FFFFFF"/>
                </a:solidFill>
                <a:latin typeface="Courier New" pitchFamily="34" charset="0"/>
                <a:ea typeface="Courier New" pitchFamily="34" charset="-122"/>
                <a:cs typeface="Courier New" pitchFamily="34" charset="-120"/>
              </a:rPr>
              <a:t>  "name": "id labore ex et quam laborum",</a:t>
            </a:r>
            <a:endParaRPr lang="en-US" sz="1040" dirty="0"/>
          </a:p>
          <a:p>
            <a:pPr indent="0" marL="0">
              <a:buNone/>
            </a:pPr>
            <a:r>
              <a:rPr lang="en-US" sz="1040" dirty="0">
                <a:solidFill>
                  <a:srgbClr val="FFFFFF"/>
                </a:solidFill>
                <a:latin typeface="Courier New" pitchFamily="34" charset="0"/>
                <a:ea typeface="Courier New" pitchFamily="34" charset="-122"/>
                <a:cs typeface="Courier New" pitchFamily="34" charset="-120"/>
              </a:rPr>
              <a:t>  "email": "Eliseo@gardner.biz",</a:t>
            </a:r>
            <a:endParaRPr lang="en-US" sz="1040" dirty="0"/>
          </a:p>
          <a:p>
            <a:pPr indent="0" marL="0">
              <a:buNone/>
            </a:pPr>
            <a:r>
              <a:rPr lang="en-US" sz="1040" dirty="0">
                <a:solidFill>
                  <a:srgbClr val="FFFFFF"/>
                </a:solidFill>
                <a:latin typeface="Courier New" pitchFamily="34" charset="0"/>
                <a:ea typeface="Courier New" pitchFamily="34" charset="-122"/>
                <a:cs typeface="Courier New" pitchFamily="34" charset="-120"/>
              </a:rPr>
              <a:t>  "body": "laudantium enim quasi..."</a:t>
            </a:r>
            <a:endParaRPr lang="en-US" sz="1040" dirty="0"/>
          </a:p>
          <a:p>
            <a:pPr indent="0" marL="0">
              <a:buNone/>
            </a:pPr>
            <a:r>
              <a:rPr lang="en-US" sz="1040" dirty="0">
                <a:solidFill>
                  <a:srgbClr val="FFFFFF"/>
                </a:solidFill>
                <a:latin typeface="Courier New" pitchFamily="34" charset="0"/>
                <a:ea typeface="Courier New" pitchFamily="34" charset="-122"/>
                <a:cs typeface="Courier New" pitchFamily="34" charset="-120"/>
              </a:rPr>
              <a:t>}</a:t>
            </a:r>
            <a:endParaRPr lang="en-US" sz="1040" dirty="0"/>
          </a:p>
        </p:txBody>
      </p:sp>
      <p:sp>
        <p:nvSpPr>
          <p:cNvPr id="11" name="response-facts"/>
          <p:cNvSpPr/>
          <p:nvPr/>
        </p:nvSpPr>
        <p:spPr>
          <a:xfrm>
            <a:off x="4535424" y="3657600"/>
            <a:ext cx="3657600" cy="585216"/>
          </a:xfrm>
          <a:prstGeom prst="roundRect">
            <a:avLst/>
          </a:prstGeom>
          <a:solidFill>
            <a:srgbClr val="DCFCE7"/>
          </a:solidFill>
          <a:ln w="12700">
            <a:solidFill>
              <a:srgbClr val="86EFAC"/>
            </a:solidFill>
            <a:prstDash val="solid"/>
          </a:ln>
        </p:spPr>
      </p:sp>
      <p:sp>
        <p:nvSpPr>
          <p:cNvPr id="12" name="body-text"/>
          <p:cNvSpPr/>
          <p:nvPr/>
        </p:nvSpPr>
        <p:spPr>
          <a:xfrm>
            <a:off x="4718304" y="3785616"/>
            <a:ext cx="3291840" cy="310896"/>
          </a:xfrm>
          <a:prstGeom prst="rect">
            <a:avLst/>
          </a:prstGeom>
          <a:noFill/>
          <a:ln/>
        </p:spPr>
        <p:txBody>
          <a:bodyPr wrap="square" lIns="0" tIns="0" rIns="0" bIns="0" rtlCol="0" anchor="t"/>
          <a:lstStyle/>
          <a:p>
            <a:pPr algn="l" indent="0" marL="0">
              <a:buNone/>
            </a:pPr>
            <a:r>
              <a:rPr lang="en-US" sz="1010" b="1" dirty="0">
                <a:solidFill>
                  <a:srgbClr val="166534"/>
                </a:solidFill>
                <a:latin typeface="Arial" pitchFamily="34" charset="0"/>
                <a:ea typeface="Arial" pitchFamily="34" charset="-122"/>
                <a:cs typeface="Arial" pitchFamily="34" charset="-120"/>
              </a:rPr>
              <a:t>Returns an array of 5 comment objects</a:t>
            </a:r>
            <a:endParaRPr lang="en-US" sz="1010" dirty="0"/>
          </a:p>
          <a:p>
            <a:pPr algn="l" indent="0" marL="0">
              <a:buNone/>
            </a:pPr>
            <a:r>
              <a:rPr lang="en-US" sz="1010" b="1" dirty="0">
                <a:solidFill>
                  <a:srgbClr val="166534"/>
                </a:solidFill>
                <a:latin typeface="Arial" pitchFamily="34" charset="0"/>
                <a:ea typeface="Arial" pitchFamily="34" charset="-122"/>
                <a:cs typeface="Arial" pitchFamily="34" charset="-120"/>
              </a:rPr>
              <a:t>Fields: postId, id, name, email, body</a:t>
            </a:r>
            <a:endParaRPr lang="en-US" sz="101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The response arrives later</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body-text"/>
          <p:cNvSpPr/>
          <p:nvPr/>
        </p:nvSpPr>
        <p:spPr>
          <a:xfrm>
            <a:off x="676656" y="969264"/>
            <a:ext cx="3657600" cy="292608"/>
          </a:xfrm>
          <a:prstGeom prst="rect">
            <a:avLst/>
          </a:prstGeom>
          <a:noFill/>
          <a:ln/>
        </p:spPr>
        <p:txBody>
          <a:bodyPr wrap="square" lIns="0" tIns="0" rIns="0" bIns="0" rtlCol="0" anchor="t"/>
          <a:lstStyle/>
          <a:p>
            <a:pPr algn="l" indent="0" marL="0">
              <a:buNone/>
            </a:pPr>
            <a:r>
              <a:rPr lang="en-US" sz="1210" b="1" dirty="0">
                <a:solidFill>
                  <a:srgbClr val="0F172A"/>
                </a:solidFill>
                <a:latin typeface="Arial" pitchFamily="34" charset="0"/>
                <a:ea typeface="Arial" pitchFamily="34" charset="-122"/>
                <a:cs typeface="Arial" pitchFamily="34" charset="-120"/>
              </a:rPr>
              <a:t>A network request starts now and completes later.</a:t>
            </a:r>
            <a:endParaRPr lang="en-US" sz="1210" dirty="0"/>
          </a:p>
        </p:txBody>
      </p:sp>
      <p:sp>
        <p:nvSpPr>
          <p:cNvPr id="5" name="async-refresher"/>
          <p:cNvSpPr/>
          <p:nvPr/>
        </p:nvSpPr>
        <p:spPr>
          <a:xfrm>
            <a:off x="676656" y="1444752"/>
            <a:ext cx="3749040" cy="1609344"/>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70" dirty="0">
                <a:solidFill>
                  <a:srgbClr val="FFFFFF"/>
                </a:solidFill>
                <a:latin typeface="Courier New" pitchFamily="34" charset="0"/>
                <a:ea typeface="Courier New" pitchFamily="34" charset="-122"/>
                <a:cs typeface="Courier New" pitchFamily="34" charset="-120"/>
              </a:rPr>
              <a:t>async function loadData() {</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const result =</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await somethingAsync();</a:t>
            </a:r>
            <a:endParaRPr lang="en-US" sz="1070" dirty="0"/>
          </a:p>
          <a:p>
            <a:pPr indent="0" marL="0">
              <a:buNone/>
            </a:pP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console.log(result);</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a:t>
            </a:r>
            <a:endParaRPr lang="en-US" sz="1070" dirty="0"/>
          </a:p>
        </p:txBody>
      </p:sp>
      <p:sp>
        <p:nvSpPr>
          <p:cNvPr id="6" name="strip-async"/>
          <p:cNvSpPr/>
          <p:nvPr/>
        </p:nvSpPr>
        <p:spPr>
          <a:xfrm>
            <a:off x="676656" y="3291840"/>
            <a:ext cx="3749040" cy="493776"/>
          </a:xfrm>
          <a:prstGeom prst="roundRect">
            <a:avLst/>
          </a:prstGeom>
          <a:solidFill>
            <a:srgbClr val="EFF6FF"/>
          </a:solidFill>
          <a:ln w="12700">
            <a:solidFill>
              <a:srgbClr val="EFF6FF"/>
            </a:solidFill>
            <a:prstDash val="solid"/>
          </a:ln>
        </p:spPr>
      </p:sp>
      <p:sp>
        <p:nvSpPr>
          <p:cNvPr id="7" name="strip-text-async"/>
          <p:cNvSpPr/>
          <p:nvPr/>
        </p:nvSpPr>
        <p:spPr>
          <a:xfrm>
            <a:off x="822960" y="3392424"/>
            <a:ext cx="3456432" cy="310896"/>
          </a:xfrm>
          <a:prstGeom prst="rect">
            <a:avLst/>
          </a:prstGeom>
          <a:noFill/>
          <a:ln/>
        </p:spPr>
        <p:txBody>
          <a:bodyPr wrap="square" lIns="0" tIns="0" rIns="0" bIns="0" rtlCol="0" anchor="t"/>
          <a:lstStyle/>
          <a:p>
            <a:pPr indent="0" marL="0">
              <a:buNone/>
            </a:pPr>
            <a:r>
              <a:rPr lang="en-US" sz="1030" b="1" dirty="0">
                <a:solidFill>
                  <a:srgbClr val="1E3A8A"/>
                </a:solidFill>
                <a:latin typeface="Arial" pitchFamily="34" charset="0"/>
                <a:ea typeface="Arial" pitchFamily="34" charset="-122"/>
                <a:cs typeface="Arial" pitchFamily="34" charset="-120"/>
              </a:rPr>
              <a:t>async  </a:t>
            </a:r>
            <a:pPr indent="0" marL="0">
              <a:buNone/>
            </a:pPr>
            <a:r>
              <a:rPr lang="en-US" sz="1030" dirty="0">
                <a:solidFill>
                  <a:srgbClr val="0F172A"/>
                </a:solidFill>
                <a:latin typeface="Arial" pitchFamily="34" charset="0"/>
                <a:ea typeface="Arial" pitchFamily="34" charset="-122"/>
                <a:cs typeface="Arial" pitchFamily="34" charset="-120"/>
              </a:rPr>
              <a:t>marks a function that performs asynchronous work and returns a Promise</a:t>
            </a:r>
            <a:endParaRPr lang="en-US" sz="1030" dirty="0"/>
          </a:p>
        </p:txBody>
      </p:sp>
      <p:sp>
        <p:nvSpPr>
          <p:cNvPr id="8" name="strip-await"/>
          <p:cNvSpPr/>
          <p:nvPr/>
        </p:nvSpPr>
        <p:spPr>
          <a:xfrm>
            <a:off x="676656" y="3840480"/>
            <a:ext cx="3749040" cy="493776"/>
          </a:xfrm>
          <a:prstGeom prst="roundRect">
            <a:avLst/>
          </a:prstGeom>
          <a:solidFill>
            <a:srgbClr val="DCFCE7"/>
          </a:solidFill>
          <a:ln w="12700">
            <a:solidFill>
              <a:srgbClr val="DCFCE7"/>
            </a:solidFill>
            <a:prstDash val="solid"/>
          </a:ln>
        </p:spPr>
      </p:sp>
      <p:sp>
        <p:nvSpPr>
          <p:cNvPr id="9" name="strip-text-await"/>
          <p:cNvSpPr/>
          <p:nvPr/>
        </p:nvSpPr>
        <p:spPr>
          <a:xfrm>
            <a:off x="822960" y="3941064"/>
            <a:ext cx="3456432" cy="310896"/>
          </a:xfrm>
          <a:prstGeom prst="rect">
            <a:avLst/>
          </a:prstGeom>
          <a:noFill/>
          <a:ln/>
        </p:spPr>
        <p:txBody>
          <a:bodyPr wrap="square" lIns="0" tIns="0" rIns="0" bIns="0" rtlCol="0" anchor="t"/>
          <a:lstStyle/>
          <a:p>
            <a:pPr indent="0" marL="0">
              <a:buNone/>
            </a:pPr>
            <a:r>
              <a:rPr lang="en-US" sz="1030" b="1" dirty="0">
                <a:solidFill>
                  <a:srgbClr val="166534"/>
                </a:solidFill>
                <a:latin typeface="Arial" pitchFamily="34" charset="0"/>
                <a:ea typeface="Arial" pitchFamily="34" charset="-122"/>
                <a:cs typeface="Arial" pitchFamily="34" charset="-120"/>
              </a:rPr>
              <a:t>await  </a:t>
            </a:r>
            <a:pPr indent="0" marL="0">
              <a:buNone/>
            </a:pPr>
            <a:r>
              <a:rPr lang="en-US" sz="1030" dirty="0">
                <a:solidFill>
                  <a:srgbClr val="0F172A"/>
                </a:solidFill>
                <a:latin typeface="Arial" pitchFamily="34" charset="0"/>
                <a:ea typeface="Arial" pitchFamily="34" charset="-122"/>
                <a:cs typeface="Arial" pitchFamily="34" charset="-120"/>
              </a:rPr>
              <a:t>waits inside that async function for the Promise to settle before continuing</a:t>
            </a:r>
            <a:endParaRPr lang="en-US" sz="1030" dirty="0"/>
          </a:p>
        </p:txBody>
      </p:sp>
      <p:sp>
        <p:nvSpPr>
          <p:cNvPr id="10" name="label"/>
          <p:cNvSpPr/>
          <p:nvPr/>
        </p:nvSpPr>
        <p:spPr>
          <a:xfrm>
            <a:off x="4754880" y="1024128"/>
            <a:ext cx="2048256"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Apply the idea to our request</a:t>
            </a:r>
            <a:endParaRPr lang="en-US" sz="1050" dirty="0"/>
          </a:p>
        </p:txBody>
      </p:sp>
      <p:sp>
        <p:nvSpPr>
          <p:cNvPr id="11" name="async-step-0"/>
          <p:cNvSpPr/>
          <p:nvPr/>
        </p:nvSpPr>
        <p:spPr>
          <a:xfrm>
            <a:off x="4754880" y="1536192"/>
            <a:ext cx="3145536" cy="548640"/>
          </a:xfrm>
          <a:prstGeom prst="roundRect">
            <a:avLst/>
          </a:prstGeom>
          <a:solidFill>
            <a:srgbClr val="F8FAFC"/>
          </a:solidFill>
          <a:ln w="12700">
            <a:solidFill>
              <a:srgbClr val="CBD5E1"/>
            </a:solidFill>
            <a:prstDash val="solid"/>
          </a:ln>
        </p:spPr>
      </p:sp>
      <p:sp>
        <p:nvSpPr>
          <p:cNvPr id="12" name="pill"/>
          <p:cNvSpPr/>
          <p:nvPr/>
        </p:nvSpPr>
        <p:spPr>
          <a:xfrm>
            <a:off x="4919472" y="1673352"/>
            <a:ext cx="274320"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1</a:t>
            </a:r>
            <a:endParaRPr lang="en-US" sz="880" dirty="0"/>
          </a:p>
        </p:txBody>
      </p:sp>
      <p:sp>
        <p:nvSpPr>
          <p:cNvPr id="13" name="body-text"/>
          <p:cNvSpPr/>
          <p:nvPr/>
        </p:nvSpPr>
        <p:spPr>
          <a:xfrm>
            <a:off x="5358384" y="1664208"/>
            <a:ext cx="2286000" cy="201168"/>
          </a:xfrm>
          <a:prstGeom prst="rect">
            <a:avLst/>
          </a:prstGeom>
          <a:noFill/>
          <a:ln/>
        </p:spPr>
        <p:txBody>
          <a:bodyPr wrap="square" lIns="0" tIns="0" rIns="0" bIns="0" rtlCol="0" anchor="t"/>
          <a:lstStyle/>
          <a:p>
            <a:pPr algn="l" indent="0" marL="0">
              <a:buNone/>
            </a:pPr>
            <a:r>
              <a:rPr lang="en-US" sz="1070" b="1" dirty="0">
                <a:solidFill>
                  <a:srgbClr val="0F172A"/>
                </a:solidFill>
                <a:latin typeface="Arial" pitchFamily="34" charset="0"/>
                <a:ea typeface="Arial" pitchFamily="34" charset="-122"/>
                <a:cs typeface="Arial" pitchFamily="34" charset="-120"/>
              </a:rPr>
              <a:t>Start the request</a:t>
            </a:r>
            <a:endParaRPr lang="en-US" sz="1070" dirty="0"/>
          </a:p>
        </p:txBody>
      </p:sp>
      <p:sp>
        <p:nvSpPr>
          <p:cNvPr id="14" name="async-step-1"/>
          <p:cNvSpPr/>
          <p:nvPr/>
        </p:nvSpPr>
        <p:spPr>
          <a:xfrm>
            <a:off x="4754880" y="2304288"/>
            <a:ext cx="3145536" cy="548640"/>
          </a:xfrm>
          <a:prstGeom prst="roundRect">
            <a:avLst/>
          </a:prstGeom>
          <a:solidFill>
            <a:srgbClr val="FEF9C3"/>
          </a:solidFill>
          <a:ln w="12700">
            <a:solidFill>
              <a:srgbClr val="FEF9C3"/>
            </a:solidFill>
            <a:prstDash val="solid"/>
          </a:ln>
        </p:spPr>
      </p:sp>
      <p:sp>
        <p:nvSpPr>
          <p:cNvPr id="15" name="pill"/>
          <p:cNvSpPr/>
          <p:nvPr/>
        </p:nvSpPr>
        <p:spPr>
          <a:xfrm>
            <a:off x="4919472" y="2441448"/>
            <a:ext cx="274320"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2</a:t>
            </a:r>
            <a:endParaRPr lang="en-US" sz="880" dirty="0"/>
          </a:p>
        </p:txBody>
      </p:sp>
      <p:sp>
        <p:nvSpPr>
          <p:cNvPr id="16" name="body-text"/>
          <p:cNvSpPr/>
          <p:nvPr/>
        </p:nvSpPr>
        <p:spPr>
          <a:xfrm>
            <a:off x="5358384" y="2432304"/>
            <a:ext cx="2286000" cy="201168"/>
          </a:xfrm>
          <a:prstGeom prst="rect">
            <a:avLst/>
          </a:prstGeom>
          <a:noFill/>
          <a:ln/>
        </p:spPr>
        <p:txBody>
          <a:bodyPr wrap="square" lIns="0" tIns="0" rIns="0" bIns="0" rtlCol="0" anchor="t"/>
          <a:lstStyle/>
          <a:p>
            <a:pPr algn="l" indent="0" marL="0">
              <a:buNone/>
            </a:pPr>
            <a:r>
              <a:rPr lang="en-US" sz="1070" b="1" dirty="0">
                <a:solidFill>
                  <a:srgbClr val="854D0E"/>
                </a:solidFill>
                <a:latin typeface="Arial" pitchFamily="34" charset="0"/>
                <a:ea typeface="Arial" pitchFamily="34" charset="-122"/>
                <a:cs typeface="Arial" pitchFamily="34" charset="-120"/>
              </a:rPr>
              <a:t>Wait for the response</a:t>
            </a:r>
            <a:endParaRPr lang="en-US" sz="1070" dirty="0"/>
          </a:p>
        </p:txBody>
      </p:sp>
      <p:sp>
        <p:nvSpPr>
          <p:cNvPr id="17" name="async-step-2"/>
          <p:cNvSpPr/>
          <p:nvPr/>
        </p:nvSpPr>
        <p:spPr>
          <a:xfrm>
            <a:off x="4754880" y="3072384"/>
            <a:ext cx="3145536" cy="548640"/>
          </a:xfrm>
          <a:prstGeom prst="roundRect">
            <a:avLst/>
          </a:prstGeom>
          <a:solidFill>
            <a:srgbClr val="F8FAFC"/>
          </a:solidFill>
          <a:ln w="12700">
            <a:solidFill>
              <a:srgbClr val="CBD5E1"/>
            </a:solidFill>
            <a:prstDash val="solid"/>
          </a:ln>
        </p:spPr>
      </p:sp>
      <p:sp>
        <p:nvSpPr>
          <p:cNvPr id="18" name="pill"/>
          <p:cNvSpPr/>
          <p:nvPr/>
        </p:nvSpPr>
        <p:spPr>
          <a:xfrm>
            <a:off x="4919472" y="3209544"/>
            <a:ext cx="274320"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3</a:t>
            </a:r>
            <a:endParaRPr lang="en-US" sz="880" dirty="0"/>
          </a:p>
        </p:txBody>
      </p:sp>
      <p:sp>
        <p:nvSpPr>
          <p:cNvPr id="19" name="body-text"/>
          <p:cNvSpPr/>
          <p:nvPr/>
        </p:nvSpPr>
        <p:spPr>
          <a:xfrm>
            <a:off x="5358384" y="3200400"/>
            <a:ext cx="2286000" cy="201168"/>
          </a:xfrm>
          <a:prstGeom prst="rect">
            <a:avLst/>
          </a:prstGeom>
          <a:noFill/>
          <a:ln/>
        </p:spPr>
        <p:txBody>
          <a:bodyPr wrap="square" lIns="0" tIns="0" rIns="0" bIns="0" rtlCol="0" anchor="t"/>
          <a:lstStyle/>
          <a:p>
            <a:pPr algn="l" indent="0" marL="0">
              <a:buNone/>
            </a:pPr>
            <a:r>
              <a:rPr lang="en-US" sz="1070" b="1" dirty="0">
                <a:solidFill>
                  <a:srgbClr val="0F172A"/>
                </a:solidFill>
                <a:latin typeface="Arial" pitchFamily="34" charset="0"/>
                <a:ea typeface="Arial" pitchFamily="34" charset="-122"/>
                <a:cs typeface="Arial" pitchFamily="34" charset="-120"/>
              </a:rPr>
              <a:t>Use the returned value</a:t>
            </a:r>
            <a:endParaRPr lang="en-US" sz="1070" dirty="0"/>
          </a:p>
        </p:txBody>
      </p:sp>
      <p:sp>
        <p:nvSpPr>
          <p:cNvPr id="20" name="async-react-question"/>
          <p:cNvSpPr/>
          <p:nvPr/>
        </p:nvSpPr>
        <p:spPr>
          <a:xfrm>
            <a:off x="4754880" y="4023360"/>
            <a:ext cx="3145536" cy="475488"/>
          </a:xfrm>
          <a:prstGeom prst="roundRect">
            <a:avLst/>
          </a:prstGeom>
          <a:solidFill>
            <a:srgbClr val="F5F3FF"/>
          </a:solidFill>
          <a:ln w="12700">
            <a:solidFill>
              <a:srgbClr val="F5F3FF"/>
            </a:solidFill>
            <a:prstDash val="solid"/>
          </a:ln>
        </p:spPr>
      </p:sp>
      <p:sp>
        <p:nvSpPr>
          <p:cNvPr id="21" name="body-text"/>
          <p:cNvSpPr/>
          <p:nvPr/>
        </p:nvSpPr>
        <p:spPr>
          <a:xfrm>
            <a:off x="4937760" y="4133088"/>
            <a:ext cx="2779776" cy="237744"/>
          </a:xfrm>
          <a:prstGeom prst="rect">
            <a:avLst/>
          </a:prstGeom>
          <a:noFill/>
          <a:ln/>
        </p:spPr>
        <p:txBody>
          <a:bodyPr wrap="square" lIns="0" tIns="0" rIns="0" bIns="0" rtlCol="0" anchor="t"/>
          <a:lstStyle/>
          <a:p>
            <a:pPr algn="ctr" indent="0" marL="0">
              <a:buNone/>
            </a:pPr>
            <a:r>
              <a:rPr lang="en-US" sz="990" b="1" dirty="0">
                <a:solidFill>
                  <a:srgbClr val="6D28D9"/>
                </a:solidFill>
                <a:latin typeface="Arial" pitchFamily="34" charset="0"/>
                <a:ea typeface="Arial" pitchFamily="34" charset="-122"/>
                <a:cs typeface="Arial" pitchFamily="34" charset="-120"/>
              </a:rPr>
              <a:t>Where should this asynchronous request happen inside FeedbackInbox?</a:t>
            </a:r>
            <a:endParaRPr lang="en-US" sz="99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What is Axios?</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body-text"/>
          <p:cNvSpPr/>
          <p:nvPr/>
        </p:nvSpPr>
        <p:spPr>
          <a:xfrm>
            <a:off x="676656" y="950976"/>
            <a:ext cx="3822192" cy="310896"/>
          </a:xfrm>
          <a:prstGeom prst="rect">
            <a:avLst/>
          </a:prstGeom>
          <a:noFill/>
          <a:ln/>
        </p:spPr>
        <p:txBody>
          <a:bodyPr wrap="square" lIns="0" tIns="0" rIns="0" bIns="0" rtlCol="0" anchor="t"/>
          <a:lstStyle/>
          <a:p>
            <a:pPr algn="l" indent="0" marL="0">
              <a:buNone/>
            </a:pPr>
            <a:r>
              <a:rPr lang="en-US" sz="1220" b="1" dirty="0">
                <a:solidFill>
                  <a:srgbClr val="0F172A"/>
                </a:solidFill>
                <a:latin typeface="Arial" pitchFamily="34" charset="0"/>
                <a:ea typeface="Arial" pitchFamily="34" charset="-122"/>
                <a:cs typeface="Arial" pitchFamily="34" charset="-120"/>
              </a:rPr>
              <a:t>Axios is a JavaScript library for making HTTP requests.</a:t>
            </a:r>
            <a:endParaRPr lang="en-US" sz="1220" dirty="0"/>
          </a:p>
        </p:txBody>
      </p:sp>
      <p:sp>
        <p:nvSpPr>
          <p:cNvPr id="5" name="axios-install"/>
          <p:cNvSpPr/>
          <p:nvPr/>
        </p:nvSpPr>
        <p:spPr>
          <a:xfrm>
            <a:off x="676656" y="1408176"/>
            <a:ext cx="2322576" cy="43891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80" dirty="0">
                <a:solidFill>
                  <a:srgbClr val="FFFFFF"/>
                </a:solidFill>
                <a:latin typeface="Courier New" pitchFamily="34" charset="0"/>
                <a:ea typeface="Courier New" pitchFamily="34" charset="-122"/>
                <a:cs typeface="Courier New" pitchFamily="34" charset="-120"/>
              </a:rPr>
              <a:t>npm install axios</a:t>
            </a:r>
            <a:endParaRPr lang="en-US" sz="1080" dirty="0"/>
          </a:p>
        </p:txBody>
      </p:sp>
      <p:sp>
        <p:nvSpPr>
          <p:cNvPr id="6" name="axios-import"/>
          <p:cNvSpPr/>
          <p:nvPr/>
        </p:nvSpPr>
        <p:spPr>
          <a:xfrm>
            <a:off x="676656" y="1993392"/>
            <a:ext cx="2926080" cy="43891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80" dirty="0">
                <a:solidFill>
                  <a:srgbClr val="FFFFFF"/>
                </a:solidFill>
                <a:latin typeface="Courier New" pitchFamily="34" charset="0"/>
                <a:ea typeface="Courier New" pitchFamily="34" charset="-122"/>
                <a:cs typeface="Courier New" pitchFamily="34" charset="-120"/>
              </a:rPr>
              <a:t>import axios from "axios";</a:t>
            </a:r>
            <a:endParaRPr lang="en-US" sz="1080" dirty="0"/>
          </a:p>
        </p:txBody>
      </p:sp>
      <p:sp>
        <p:nvSpPr>
          <p:cNvPr id="7" name="axios-get"/>
          <p:cNvSpPr/>
          <p:nvPr/>
        </p:nvSpPr>
        <p:spPr>
          <a:xfrm>
            <a:off x="676656" y="2578608"/>
            <a:ext cx="2926080" cy="43891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80" dirty="0">
                <a:solidFill>
                  <a:srgbClr val="FFFFFF"/>
                </a:solidFill>
                <a:latin typeface="Courier New" pitchFamily="34" charset="0"/>
                <a:ea typeface="Courier New" pitchFamily="34" charset="-122"/>
                <a:cs typeface="Courier New" pitchFamily="34" charset="-120"/>
              </a:rPr>
              <a:t>axios.get(feedbackUrl)</a:t>
            </a:r>
            <a:endParaRPr lang="en-US" sz="1080" dirty="0"/>
          </a:p>
        </p:txBody>
      </p:sp>
      <p:sp>
        <p:nvSpPr>
          <p:cNvPr id="8" name="axios-role"/>
          <p:cNvSpPr/>
          <p:nvPr/>
        </p:nvSpPr>
        <p:spPr>
          <a:xfrm>
            <a:off x="676656" y="3255264"/>
            <a:ext cx="3529584" cy="804672"/>
          </a:xfrm>
          <a:prstGeom prst="roundRect">
            <a:avLst/>
          </a:prstGeom>
          <a:solidFill>
            <a:srgbClr val="EFF6FF"/>
          </a:solidFill>
          <a:ln w="12700">
            <a:solidFill>
              <a:srgbClr val="BFDBFE"/>
            </a:solidFill>
            <a:prstDash val="solid"/>
          </a:ln>
        </p:spPr>
      </p:sp>
      <p:sp>
        <p:nvSpPr>
          <p:cNvPr id="9" name="body-text"/>
          <p:cNvSpPr/>
          <p:nvPr/>
        </p:nvSpPr>
        <p:spPr>
          <a:xfrm>
            <a:off x="877824" y="3438144"/>
            <a:ext cx="3127248" cy="201168"/>
          </a:xfrm>
          <a:prstGeom prst="rect">
            <a:avLst/>
          </a:prstGeom>
          <a:noFill/>
          <a:ln/>
        </p:spPr>
        <p:txBody>
          <a:bodyPr wrap="square" lIns="0" tIns="0" rIns="0" bIns="0" rtlCol="0" anchor="t"/>
          <a:lstStyle/>
          <a:p>
            <a:pPr algn="l" indent="0" marL="0">
              <a:buNone/>
            </a:pPr>
            <a:r>
              <a:rPr lang="en-US" sz="1040" b="1" dirty="0">
                <a:solidFill>
                  <a:srgbClr val="1E3A8A"/>
                </a:solidFill>
                <a:latin typeface="Arial" pitchFamily="34" charset="0"/>
                <a:ea typeface="Arial" pitchFamily="34" charset="-122"/>
                <a:cs typeface="Arial" pitchFamily="34" charset="-120"/>
              </a:rPr>
              <a:t>For this lecture, Axios has one main job:</a:t>
            </a:r>
            <a:endParaRPr lang="en-US" sz="1040" dirty="0"/>
          </a:p>
        </p:txBody>
      </p:sp>
      <p:sp>
        <p:nvSpPr>
          <p:cNvPr id="10" name="body-text"/>
          <p:cNvSpPr/>
          <p:nvPr/>
        </p:nvSpPr>
        <p:spPr>
          <a:xfrm>
            <a:off x="877824" y="3730752"/>
            <a:ext cx="3127248" cy="219456"/>
          </a:xfrm>
          <a:prstGeom prst="rect">
            <a:avLst/>
          </a:prstGeom>
          <a:noFill/>
          <a:ln/>
        </p:spPr>
        <p:txBody>
          <a:bodyPr wrap="square" lIns="0" tIns="0" rIns="0" bIns="0" rtlCol="0" anchor="t"/>
          <a:lstStyle/>
          <a:p>
            <a:pPr algn="l" indent="0" marL="0">
              <a:buNone/>
            </a:pPr>
            <a:r>
              <a:rPr lang="en-US" sz="1000" dirty="0">
                <a:solidFill>
                  <a:srgbClr val="0F172A"/>
                </a:solidFill>
                <a:latin typeface="Arial" pitchFamily="34" charset="0"/>
                <a:ea typeface="Arial" pitchFamily="34" charset="-122"/>
                <a:cs typeface="Arial" pitchFamily="34" charset="-120"/>
              </a:rPr>
              <a:t>send the GET request and give JavaScript the server response.</a:t>
            </a:r>
            <a:endParaRPr lang="en-US" sz="1000" dirty="0"/>
          </a:p>
        </p:txBody>
      </p:sp>
      <p:sp>
        <p:nvSpPr>
          <p:cNvPr id="11" name="label"/>
          <p:cNvSpPr/>
          <p:nvPr/>
        </p:nvSpPr>
        <p:spPr>
          <a:xfrm>
            <a:off x="4590288" y="969264"/>
            <a:ext cx="2487168"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Keep the responsibilities separate</a:t>
            </a:r>
            <a:endParaRPr lang="en-US" sz="1050" dirty="0"/>
          </a:p>
        </p:txBody>
      </p:sp>
      <p:sp>
        <p:nvSpPr>
          <p:cNvPr id="12" name="axios-role-0"/>
          <p:cNvSpPr/>
          <p:nvPr/>
        </p:nvSpPr>
        <p:spPr>
          <a:xfrm>
            <a:off x="4590288" y="1353312"/>
            <a:ext cx="3383280" cy="530352"/>
          </a:xfrm>
          <a:prstGeom prst="roundRect">
            <a:avLst/>
          </a:prstGeom>
          <a:solidFill>
            <a:srgbClr val="EFF6FF"/>
          </a:solidFill>
          <a:ln w="12700">
            <a:solidFill>
              <a:srgbClr val="EFF6FF"/>
            </a:solidFill>
            <a:prstDash val="solid"/>
          </a:ln>
        </p:spPr>
      </p:sp>
      <p:sp>
        <p:nvSpPr>
          <p:cNvPr id="13" name="body-text"/>
          <p:cNvSpPr/>
          <p:nvPr/>
        </p:nvSpPr>
        <p:spPr>
          <a:xfrm>
            <a:off x="4754880" y="1463040"/>
            <a:ext cx="1042416" cy="201168"/>
          </a:xfrm>
          <a:prstGeom prst="rect">
            <a:avLst/>
          </a:prstGeom>
          <a:noFill/>
          <a:ln/>
        </p:spPr>
        <p:txBody>
          <a:bodyPr wrap="square" lIns="0" tIns="0" rIns="0" bIns="0" rtlCol="0" anchor="t"/>
          <a:lstStyle/>
          <a:p>
            <a:pPr algn="l" indent="0" marL="0">
              <a:buNone/>
            </a:pPr>
            <a:r>
              <a:rPr lang="en-US" sz="1080" b="1" dirty="0">
                <a:solidFill>
                  <a:srgbClr val="1E3A8A"/>
                </a:solidFill>
                <a:latin typeface="Arial" pitchFamily="34" charset="0"/>
                <a:ea typeface="Arial" pitchFamily="34" charset="-122"/>
                <a:cs typeface="Arial" pitchFamily="34" charset="-120"/>
              </a:rPr>
              <a:t>React</a:t>
            </a:r>
            <a:endParaRPr lang="en-US" sz="1080" dirty="0"/>
          </a:p>
        </p:txBody>
      </p:sp>
      <p:sp>
        <p:nvSpPr>
          <p:cNvPr id="14" name="body-text"/>
          <p:cNvSpPr/>
          <p:nvPr/>
        </p:nvSpPr>
        <p:spPr>
          <a:xfrm>
            <a:off x="5888736" y="1444752"/>
            <a:ext cx="1901952" cy="274320"/>
          </a:xfrm>
          <a:prstGeom prst="rect">
            <a:avLst/>
          </a:prstGeom>
          <a:noFill/>
          <a:ln/>
        </p:spPr>
        <p:txBody>
          <a:bodyPr wrap="square" lIns="0" tIns="0" rIns="0" bIns="0" rtlCol="0" anchor="t"/>
          <a:lstStyle/>
          <a:p>
            <a:pPr algn="l" indent="0" marL="0">
              <a:buNone/>
            </a:pPr>
            <a:r>
              <a:rPr lang="en-US" sz="970" dirty="0">
                <a:solidFill>
                  <a:srgbClr val="0F172A"/>
                </a:solidFill>
                <a:latin typeface="Arial" pitchFamily="34" charset="0"/>
                <a:ea typeface="Arial" pitchFamily="34" charset="-122"/>
                <a:cs typeface="Arial" pitchFamily="34" charset="-120"/>
              </a:rPr>
              <a:t>builds and renders the component</a:t>
            </a:r>
            <a:endParaRPr lang="en-US" sz="970" dirty="0"/>
          </a:p>
        </p:txBody>
      </p:sp>
      <p:sp>
        <p:nvSpPr>
          <p:cNvPr id="15" name="axios-role-1"/>
          <p:cNvSpPr/>
          <p:nvPr/>
        </p:nvSpPr>
        <p:spPr>
          <a:xfrm>
            <a:off x="4590288" y="2048256"/>
            <a:ext cx="3383280" cy="530352"/>
          </a:xfrm>
          <a:prstGeom prst="roundRect">
            <a:avLst/>
          </a:prstGeom>
          <a:solidFill>
            <a:srgbClr val="F5F3FF"/>
          </a:solidFill>
          <a:ln w="12700">
            <a:solidFill>
              <a:srgbClr val="F5F3FF"/>
            </a:solidFill>
            <a:prstDash val="solid"/>
          </a:ln>
        </p:spPr>
      </p:sp>
      <p:sp>
        <p:nvSpPr>
          <p:cNvPr id="16" name="body-text"/>
          <p:cNvSpPr/>
          <p:nvPr/>
        </p:nvSpPr>
        <p:spPr>
          <a:xfrm>
            <a:off x="4754880" y="2157984"/>
            <a:ext cx="1042416" cy="201168"/>
          </a:xfrm>
          <a:prstGeom prst="rect">
            <a:avLst/>
          </a:prstGeom>
          <a:noFill/>
          <a:ln/>
        </p:spPr>
        <p:txBody>
          <a:bodyPr wrap="square" lIns="0" tIns="0" rIns="0" bIns="0" rtlCol="0" anchor="t"/>
          <a:lstStyle/>
          <a:p>
            <a:pPr algn="l" indent="0" marL="0">
              <a:buNone/>
            </a:pPr>
            <a:r>
              <a:rPr lang="en-US" sz="1080" b="1" dirty="0">
                <a:solidFill>
                  <a:srgbClr val="6D28D9"/>
                </a:solidFill>
                <a:latin typeface="Arial" pitchFamily="34" charset="0"/>
                <a:ea typeface="Arial" pitchFamily="34" charset="-122"/>
                <a:cs typeface="Arial" pitchFamily="34" charset="-120"/>
              </a:rPr>
              <a:t>Effect</a:t>
            </a:r>
            <a:endParaRPr lang="en-US" sz="1080" dirty="0"/>
          </a:p>
        </p:txBody>
      </p:sp>
      <p:sp>
        <p:nvSpPr>
          <p:cNvPr id="17" name="body-text"/>
          <p:cNvSpPr/>
          <p:nvPr/>
        </p:nvSpPr>
        <p:spPr>
          <a:xfrm>
            <a:off x="5888736" y="2139696"/>
            <a:ext cx="1901952" cy="274320"/>
          </a:xfrm>
          <a:prstGeom prst="rect">
            <a:avLst/>
          </a:prstGeom>
          <a:noFill/>
          <a:ln/>
        </p:spPr>
        <p:txBody>
          <a:bodyPr wrap="square" lIns="0" tIns="0" rIns="0" bIns="0" rtlCol="0" anchor="t"/>
          <a:lstStyle/>
          <a:p>
            <a:pPr algn="l" indent="0" marL="0">
              <a:buNone/>
            </a:pPr>
            <a:r>
              <a:rPr lang="en-US" sz="970" dirty="0">
                <a:solidFill>
                  <a:srgbClr val="0F172A"/>
                </a:solidFill>
                <a:latin typeface="Arial" pitchFamily="34" charset="0"/>
                <a:ea typeface="Arial" pitchFamily="34" charset="-122"/>
                <a:cs typeface="Arial" pitchFamily="34" charset="-120"/>
              </a:rPr>
              <a:t>decides where the external synchronization belongs</a:t>
            </a:r>
            <a:endParaRPr lang="en-US" sz="970" dirty="0"/>
          </a:p>
        </p:txBody>
      </p:sp>
      <p:sp>
        <p:nvSpPr>
          <p:cNvPr id="18" name="axios-role-2"/>
          <p:cNvSpPr/>
          <p:nvPr/>
        </p:nvSpPr>
        <p:spPr>
          <a:xfrm>
            <a:off x="4590288" y="2743200"/>
            <a:ext cx="3383280" cy="530352"/>
          </a:xfrm>
          <a:prstGeom prst="roundRect">
            <a:avLst/>
          </a:prstGeom>
          <a:solidFill>
            <a:srgbClr val="DCFCE7"/>
          </a:solidFill>
          <a:ln w="12700">
            <a:solidFill>
              <a:srgbClr val="DCFCE7"/>
            </a:solidFill>
            <a:prstDash val="solid"/>
          </a:ln>
        </p:spPr>
      </p:sp>
      <p:sp>
        <p:nvSpPr>
          <p:cNvPr id="19" name="body-text"/>
          <p:cNvSpPr/>
          <p:nvPr/>
        </p:nvSpPr>
        <p:spPr>
          <a:xfrm>
            <a:off x="4754880" y="2852928"/>
            <a:ext cx="1042416" cy="201168"/>
          </a:xfrm>
          <a:prstGeom prst="rect">
            <a:avLst/>
          </a:prstGeom>
          <a:noFill/>
          <a:ln/>
        </p:spPr>
        <p:txBody>
          <a:bodyPr wrap="square" lIns="0" tIns="0" rIns="0" bIns="0" rtlCol="0" anchor="t"/>
          <a:lstStyle/>
          <a:p>
            <a:pPr algn="l" indent="0" marL="0">
              <a:buNone/>
            </a:pPr>
            <a:r>
              <a:rPr lang="en-US" sz="1080" b="1" dirty="0">
                <a:solidFill>
                  <a:srgbClr val="166534"/>
                </a:solidFill>
                <a:latin typeface="Arial" pitchFamily="34" charset="0"/>
                <a:ea typeface="Arial" pitchFamily="34" charset="-122"/>
                <a:cs typeface="Arial" pitchFamily="34" charset="-120"/>
              </a:rPr>
              <a:t>Axios</a:t>
            </a:r>
            <a:endParaRPr lang="en-US" sz="1080" dirty="0"/>
          </a:p>
        </p:txBody>
      </p:sp>
      <p:sp>
        <p:nvSpPr>
          <p:cNvPr id="20" name="body-text"/>
          <p:cNvSpPr/>
          <p:nvPr/>
        </p:nvSpPr>
        <p:spPr>
          <a:xfrm>
            <a:off x="5888736" y="2834640"/>
            <a:ext cx="1901952" cy="274320"/>
          </a:xfrm>
          <a:prstGeom prst="rect">
            <a:avLst/>
          </a:prstGeom>
          <a:noFill/>
          <a:ln/>
        </p:spPr>
        <p:txBody>
          <a:bodyPr wrap="square" lIns="0" tIns="0" rIns="0" bIns="0" rtlCol="0" anchor="t"/>
          <a:lstStyle/>
          <a:p>
            <a:pPr algn="l" indent="0" marL="0">
              <a:buNone/>
            </a:pPr>
            <a:r>
              <a:rPr lang="en-US" sz="970" dirty="0">
                <a:solidFill>
                  <a:srgbClr val="0F172A"/>
                </a:solidFill>
                <a:latin typeface="Arial" pitchFamily="34" charset="0"/>
                <a:ea typeface="Arial" pitchFamily="34" charset="-122"/>
                <a:cs typeface="Arial" pitchFamily="34" charset="-120"/>
              </a:rPr>
              <a:t>makes the HTTP request</a:t>
            </a:r>
            <a:endParaRPr lang="en-US" sz="970" dirty="0"/>
          </a:p>
        </p:txBody>
      </p:sp>
      <p:sp>
        <p:nvSpPr>
          <p:cNvPr id="21" name="axios-role-3"/>
          <p:cNvSpPr/>
          <p:nvPr/>
        </p:nvSpPr>
        <p:spPr>
          <a:xfrm>
            <a:off x="4590288" y="3438144"/>
            <a:ext cx="3383280" cy="530352"/>
          </a:xfrm>
          <a:prstGeom prst="roundRect">
            <a:avLst/>
          </a:prstGeom>
          <a:solidFill>
            <a:srgbClr val="FEF9C3"/>
          </a:solidFill>
          <a:ln w="12700">
            <a:solidFill>
              <a:srgbClr val="FEF9C3"/>
            </a:solidFill>
            <a:prstDash val="solid"/>
          </a:ln>
        </p:spPr>
      </p:sp>
      <p:sp>
        <p:nvSpPr>
          <p:cNvPr id="22" name="body-text"/>
          <p:cNvSpPr/>
          <p:nvPr/>
        </p:nvSpPr>
        <p:spPr>
          <a:xfrm>
            <a:off x="4754880" y="3547872"/>
            <a:ext cx="1042416" cy="201168"/>
          </a:xfrm>
          <a:prstGeom prst="rect">
            <a:avLst/>
          </a:prstGeom>
          <a:noFill/>
          <a:ln/>
        </p:spPr>
        <p:txBody>
          <a:bodyPr wrap="square" lIns="0" tIns="0" rIns="0" bIns="0" rtlCol="0" anchor="t"/>
          <a:lstStyle/>
          <a:p>
            <a:pPr algn="l" indent="0" marL="0">
              <a:buNone/>
            </a:pPr>
            <a:r>
              <a:rPr lang="en-US" sz="940" b="1" dirty="0">
                <a:solidFill>
                  <a:srgbClr val="854D0E"/>
                </a:solidFill>
                <a:latin typeface="Arial" pitchFamily="34" charset="0"/>
                <a:ea typeface="Arial" pitchFamily="34" charset="-122"/>
                <a:cs typeface="Arial" pitchFamily="34" charset="-120"/>
              </a:rPr>
              <a:t>JSONPlaceholder</a:t>
            </a:r>
            <a:endParaRPr lang="en-US" sz="940" dirty="0"/>
          </a:p>
        </p:txBody>
      </p:sp>
      <p:sp>
        <p:nvSpPr>
          <p:cNvPr id="23" name="body-text"/>
          <p:cNvSpPr/>
          <p:nvPr/>
        </p:nvSpPr>
        <p:spPr>
          <a:xfrm>
            <a:off x="5888736" y="3529584"/>
            <a:ext cx="1901952" cy="274320"/>
          </a:xfrm>
          <a:prstGeom prst="rect">
            <a:avLst/>
          </a:prstGeom>
          <a:noFill/>
          <a:ln/>
        </p:spPr>
        <p:txBody>
          <a:bodyPr wrap="square" lIns="0" tIns="0" rIns="0" bIns="0" rtlCol="0" anchor="t"/>
          <a:lstStyle/>
          <a:p>
            <a:pPr algn="l" indent="0" marL="0">
              <a:buNone/>
            </a:pPr>
            <a:r>
              <a:rPr lang="en-US" sz="970" dirty="0">
                <a:solidFill>
                  <a:srgbClr val="0F172A"/>
                </a:solidFill>
                <a:latin typeface="Arial" pitchFamily="34" charset="0"/>
                <a:ea typeface="Arial" pitchFamily="34" charset="-122"/>
                <a:cs typeface="Arial" pitchFamily="34" charset="-120"/>
              </a:rPr>
              <a:t>provides the remote data</a:t>
            </a:r>
            <a:endParaRPr lang="en-US" sz="97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What did Axios return?</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axios-response-line"/>
          <p:cNvSpPr/>
          <p:nvPr/>
        </p:nvSpPr>
        <p:spPr>
          <a:xfrm>
            <a:off x="676656" y="1005840"/>
            <a:ext cx="3182112" cy="64008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70" dirty="0">
                <a:solidFill>
                  <a:srgbClr val="FFFFFF"/>
                </a:solidFill>
                <a:latin typeface="Courier New" pitchFamily="34" charset="0"/>
                <a:ea typeface="Courier New" pitchFamily="34" charset="-122"/>
                <a:cs typeface="Courier New" pitchFamily="34" charset="-120"/>
              </a:rPr>
              <a:t>const response =</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await axios.get(feedbackUrl);</a:t>
            </a:r>
            <a:endParaRPr lang="en-US" sz="1070" dirty="0"/>
          </a:p>
        </p:txBody>
      </p:sp>
      <p:sp>
        <p:nvSpPr>
          <p:cNvPr id="5" name="response-object"/>
          <p:cNvSpPr/>
          <p:nvPr/>
        </p:nvSpPr>
        <p:spPr>
          <a:xfrm>
            <a:off x="676656" y="1901952"/>
            <a:ext cx="3182112" cy="2011680"/>
          </a:xfrm>
          <a:prstGeom prst="roundRect">
            <a:avLst/>
          </a:prstGeom>
          <a:solidFill>
            <a:srgbClr val="F8FAFC"/>
          </a:solidFill>
          <a:ln w="12700">
            <a:solidFill>
              <a:srgbClr val="CBD5E1"/>
            </a:solidFill>
            <a:prstDash val="solid"/>
          </a:ln>
        </p:spPr>
      </p:sp>
      <p:sp>
        <p:nvSpPr>
          <p:cNvPr id="6" name="body-text"/>
          <p:cNvSpPr/>
          <p:nvPr/>
        </p:nvSpPr>
        <p:spPr>
          <a:xfrm>
            <a:off x="877824" y="2084832"/>
            <a:ext cx="1024128" cy="219456"/>
          </a:xfrm>
          <a:prstGeom prst="rect">
            <a:avLst/>
          </a:prstGeom>
          <a:noFill/>
          <a:ln/>
        </p:spPr>
        <p:txBody>
          <a:bodyPr wrap="square" lIns="0" tIns="0" rIns="0" bIns="0" rtlCol="0" anchor="t"/>
          <a:lstStyle/>
          <a:p>
            <a:pPr algn="l" indent="0" marL="0">
              <a:buNone/>
            </a:pPr>
            <a:r>
              <a:rPr lang="en-US" sz="1200" b="1" dirty="0">
                <a:solidFill>
                  <a:srgbClr val="1E3A8A"/>
                </a:solidFill>
                <a:latin typeface="Arial" pitchFamily="34" charset="0"/>
                <a:ea typeface="Arial" pitchFamily="34" charset="-122"/>
                <a:cs typeface="Arial" pitchFamily="34" charset="-120"/>
              </a:rPr>
              <a:t>response</a:t>
            </a:r>
            <a:endParaRPr lang="en-US" sz="1200" dirty="0"/>
          </a:p>
        </p:txBody>
      </p:sp>
      <p:sp>
        <p:nvSpPr>
          <p:cNvPr id="7" name="response-field-0"/>
          <p:cNvSpPr/>
          <p:nvPr/>
        </p:nvSpPr>
        <p:spPr>
          <a:xfrm>
            <a:off x="877824" y="2523744"/>
            <a:ext cx="2761488" cy="310896"/>
          </a:xfrm>
          <a:prstGeom prst="roundRect">
            <a:avLst/>
          </a:prstGeom>
          <a:solidFill>
            <a:srgbClr val="DCFCE7"/>
          </a:solidFill>
          <a:ln w="12700">
            <a:solidFill>
              <a:srgbClr val="DCFCE7"/>
            </a:solidFill>
            <a:prstDash val="solid"/>
          </a:ln>
        </p:spPr>
      </p:sp>
      <p:sp>
        <p:nvSpPr>
          <p:cNvPr id="8" name="body-text"/>
          <p:cNvSpPr/>
          <p:nvPr/>
        </p:nvSpPr>
        <p:spPr>
          <a:xfrm>
            <a:off x="1005840" y="2596896"/>
            <a:ext cx="658368" cy="164592"/>
          </a:xfrm>
          <a:prstGeom prst="rect">
            <a:avLst/>
          </a:prstGeom>
          <a:noFill/>
          <a:ln/>
        </p:spPr>
        <p:txBody>
          <a:bodyPr wrap="square" lIns="0" tIns="0" rIns="0" bIns="0" rtlCol="0" anchor="t"/>
          <a:lstStyle/>
          <a:p>
            <a:pPr algn="l" indent="0" marL="0">
              <a:buNone/>
            </a:pPr>
            <a:r>
              <a:rPr lang="en-US" sz="970" b="1" dirty="0">
                <a:solidFill>
                  <a:srgbClr val="166534"/>
                </a:solidFill>
                <a:latin typeface="Arial" pitchFamily="34" charset="0"/>
                <a:ea typeface="Arial" pitchFamily="34" charset="-122"/>
                <a:cs typeface="Arial" pitchFamily="34" charset="-120"/>
              </a:rPr>
              <a:t>data</a:t>
            </a:r>
            <a:endParaRPr lang="en-US" sz="970" dirty="0"/>
          </a:p>
        </p:txBody>
      </p:sp>
      <p:sp>
        <p:nvSpPr>
          <p:cNvPr id="9" name="body-text"/>
          <p:cNvSpPr/>
          <p:nvPr/>
        </p:nvSpPr>
        <p:spPr>
          <a:xfrm>
            <a:off x="1719072" y="2596896"/>
            <a:ext cx="1700784" cy="164592"/>
          </a:xfrm>
          <a:prstGeom prst="rect">
            <a:avLst/>
          </a:prstGeom>
          <a:noFill/>
          <a:ln/>
        </p:spPr>
        <p:txBody>
          <a:bodyPr wrap="square" lIns="0" tIns="0" rIns="0" bIns="0" rtlCol="0" anchor="t"/>
          <a:lstStyle/>
          <a:p>
            <a:pPr algn="l" indent="0" marL="0">
              <a:buNone/>
            </a:pPr>
            <a:r>
              <a:rPr lang="en-US" sz="950" dirty="0">
                <a:solidFill>
                  <a:srgbClr val="0F172A"/>
                </a:solidFill>
                <a:latin typeface="Arial" pitchFamily="34" charset="0"/>
                <a:ea typeface="Arial" pitchFamily="34" charset="-122"/>
                <a:cs typeface="Arial" pitchFamily="34" charset="-120"/>
              </a:rPr>
              <a:t>server response data</a:t>
            </a:r>
            <a:endParaRPr lang="en-US" sz="950" dirty="0"/>
          </a:p>
        </p:txBody>
      </p:sp>
      <p:sp>
        <p:nvSpPr>
          <p:cNvPr id="10" name="response-field-1"/>
          <p:cNvSpPr/>
          <p:nvPr/>
        </p:nvSpPr>
        <p:spPr>
          <a:xfrm>
            <a:off x="877824" y="2935224"/>
            <a:ext cx="2761488" cy="310896"/>
          </a:xfrm>
          <a:prstGeom prst="roundRect">
            <a:avLst/>
          </a:prstGeom>
          <a:solidFill>
            <a:srgbClr val="EFF6FF"/>
          </a:solidFill>
          <a:ln w="12700">
            <a:solidFill>
              <a:srgbClr val="EFF6FF"/>
            </a:solidFill>
            <a:prstDash val="solid"/>
          </a:ln>
        </p:spPr>
      </p:sp>
      <p:sp>
        <p:nvSpPr>
          <p:cNvPr id="11" name="body-text"/>
          <p:cNvSpPr/>
          <p:nvPr/>
        </p:nvSpPr>
        <p:spPr>
          <a:xfrm>
            <a:off x="1005840" y="3008376"/>
            <a:ext cx="658368" cy="164592"/>
          </a:xfrm>
          <a:prstGeom prst="rect">
            <a:avLst/>
          </a:prstGeom>
          <a:noFill/>
          <a:ln/>
        </p:spPr>
        <p:txBody>
          <a:bodyPr wrap="square" lIns="0" tIns="0" rIns="0" bIns="0" rtlCol="0" anchor="t"/>
          <a:lstStyle/>
          <a:p>
            <a:pPr algn="l" indent="0" marL="0">
              <a:buNone/>
            </a:pPr>
            <a:r>
              <a:rPr lang="en-US" sz="970" b="1" dirty="0">
                <a:solidFill>
                  <a:srgbClr val="1E3A8A"/>
                </a:solidFill>
                <a:latin typeface="Arial" pitchFamily="34" charset="0"/>
                <a:ea typeface="Arial" pitchFamily="34" charset="-122"/>
                <a:cs typeface="Arial" pitchFamily="34" charset="-120"/>
              </a:rPr>
              <a:t>status</a:t>
            </a:r>
            <a:endParaRPr lang="en-US" sz="970" dirty="0"/>
          </a:p>
        </p:txBody>
      </p:sp>
      <p:sp>
        <p:nvSpPr>
          <p:cNvPr id="12" name="body-text"/>
          <p:cNvSpPr/>
          <p:nvPr/>
        </p:nvSpPr>
        <p:spPr>
          <a:xfrm>
            <a:off x="1719072" y="3008376"/>
            <a:ext cx="1700784" cy="164592"/>
          </a:xfrm>
          <a:prstGeom prst="rect">
            <a:avLst/>
          </a:prstGeom>
          <a:noFill/>
          <a:ln/>
        </p:spPr>
        <p:txBody>
          <a:bodyPr wrap="square" lIns="0" tIns="0" rIns="0" bIns="0" rtlCol="0" anchor="t"/>
          <a:lstStyle/>
          <a:p>
            <a:pPr algn="l" indent="0" marL="0">
              <a:buNone/>
            </a:pPr>
            <a:r>
              <a:rPr lang="en-US" sz="950" dirty="0">
                <a:solidFill>
                  <a:srgbClr val="0F172A"/>
                </a:solidFill>
                <a:latin typeface="Arial" pitchFamily="34" charset="0"/>
                <a:ea typeface="Arial" pitchFamily="34" charset="-122"/>
                <a:cs typeface="Arial" pitchFamily="34" charset="-120"/>
              </a:rPr>
              <a:t>HTTP status</a:t>
            </a:r>
            <a:endParaRPr lang="en-US" sz="950" dirty="0"/>
          </a:p>
        </p:txBody>
      </p:sp>
      <p:sp>
        <p:nvSpPr>
          <p:cNvPr id="13" name="response-field-2"/>
          <p:cNvSpPr/>
          <p:nvPr/>
        </p:nvSpPr>
        <p:spPr>
          <a:xfrm>
            <a:off x="877824" y="3346704"/>
            <a:ext cx="2761488" cy="310896"/>
          </a:xfrm>
          <a:prstGeom prst="roundRect">
            <a:avLst/>
          </a:prstGeom>
          <a:solidFill>
            <a:srgbClr val="F8FAFC"/>
          </a:solidFill>
          <a:ln w="12700">
            <a:solidFill>
              <a:srgbClr val="F8FAFC"/>
            </a:solidFill>
            <a:prstDash val="solid"/>
          </a:ln>
        </p:spPr>
      </p:sp>
      <p:sp>
        <p:nvSpPr>
          <p:cNvPr id="14" name="body-text"/>
          <p:cNvSpPr/>
          <p:nvPr/>
        </p:nvSpPr>
        <p:spPr>
          <a:xfrm>
            <a:off x="1005840" y="3419856"/>
            <a:ext cx="658368" cy="164592"/>
          </a:xfrm>
          <a:prstGeom prst="rect">
            <a:avLst/>
          </a:prstGeom>
          <a:noFill/>
          <a:ln/>
        </p:spPr>
        <p:txBody>
          <a:bodyPr wrap="square" lIns="0" tIns="0" rIns="0" bIns="0" rtlCol="0" anchor="t"/>
          <a:lstStyle/>
          <a:p>
            <a:pPr algn="l" indent="0" marL="0">
              <a:buNone/>
            </a:pPr>
            <a:r>
              <a:rPr lang="en-US" sz="970" b="1" dirty="0">
                <a:solidFill>
                  <a:srgbClr val="475569"/>
                </a:solidFill>
                <a:latin typeface="Arial" pitchFamily="34" charset="0"/>
                <a:ea typeface="Arial" pitchFamily="34" charset="-122"/>
                <a:cs typeface="Arial" pitchFamily="34" charset="-120"/>
              </a:rPr>
              <a:t>headers</a:t>
            </a:r>
            <a:endParaRPr lang="en-US" sz="970" dirty="0"/>
          </a:p>
        </p:txBody>
      </p:sp>
      <p:sp>
        <p:nvSpPr>
          <p:cNvPr id="15" name="body-text"/>
          <p:cNvSpPr/>
          <p:nvPr/>
        </p:nvSpPr>
        <p:spPr>
          <a:xfrm>
            <a:off x="1719072" y="3419856"/>
            <a:ext cx="1700784" cy="164592"/>
          </a:xfrm>
          <a:prstGeom prst="rect">
            <a:avLst/>
          </a:prstGeom>
          <a:noFill/>
          <a:ln/>
        </p:spPr>
        <p:txBody>
          <a:bodyPr wrap="square" lIns="0" tIns="0" rIns="0" bIns="0" rtlCol="0" anchor="t"/>
          <a:lstStyle/>
          <a:p>
            <a:pPr algn="l" indent="0" marL="0">
              <a:buNone/>
            </a:pPr>
            <a:r>
              <a:rPr lang="en-US" sz="950" dirty="0">
                <a:solidFill>
                  <a:srgbClr val="0F172A"/>
                </a:solidFill>
                <a:latin typeface="Arial" pitchFamily="34" charset="0"/>
                <a:ea typeface="Arial" pitchFamily="34" charset="-122"/>
                <a:cs typeface="Arial" pitchFamily="34" charset="-120"/>
              </a:rPr>
              <a:t>response information</a:t>
            </a:r>
            <a:endParaRPr lang="en-US" sz="950" dirty="0"/>
          </a:p>
        </p:txBody>
      </p:sp>
      <p:sp>
        <p:nvSpPr>
          <p:cNvPr id="16" name="label"/>
          <p:cNvSpPr/>
          <p:nvPr/>
        </p:nvSpPr>
        <p:spPr>
          <a:xfrm>
            <a:off x="4242816" y="1060704"/>
            <a:ext cx="914400"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Compare</a:t>
            </a:r>
            <a:endParaRPr lang="en-US" sz="1050" dirty="0"/>
          </a:p>
        </p:txBody>
      </p:sp>
      <p:sp>
        <p:nvSpPr>
          <p:cNvPr id="17" name="response-compare-full"/>
          <p:cNvSpPr/>
          <p:nvPr/>
        </p:nvSpPr>
        <p:spPr>
          <a:xfrm>
            <a:off x="4242816" y="1426464"/>
            <a:ext cx="3749040" cy="969264"/>
          </a:xfrm>
          <a:prstGeom prst="roundRect">
            <a:avLst/>
          </a:prstGeom>
          <a:solidFill>
            <a:srgbClr val="EFF6FF"/>
          </a:solidFill>
          <a:ln w="12700">
            <a:solidFill>
              <a:srgbClr val="BFDBFE"/>
            </a:solidFill>
            <a:prstDash val="solid"/>
          </a:ln>
        </p:spPr>
      </p:sp>
      <p:sp>
        <p:nvSpPr>
          <p:cNvPr id="18" name="response-code"/>
          <p:cNvSpPr/>
          <p:nvPr/>
        </p:nvSpPr>
        <p:spPr>
          <a:xfrm>
            <a:off x="4443984" y="1627632"/>
            <a:ext cx="1152144" cy="34747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140" dirty="0">
                <a:solidFill>
                  <a:srgbClr val="FFFFFF"/>
                </a:solidFill>
                <a:latin typeface="Courier New" pitchFamily="34" charset="0"/>
                <a:ea typeface="Courier New" pitchFamily="34" charset="-122"/>
                <a:cs typeface="Courier New" pitchFamily="34" charset="-120"/>
              </a:rPr>
              <a:t>response</a:t>
            </a:r>
            <a:endParaRPr lang="en-US" sz="1140" dirty="0"/>
          </a:p>
        </p:txBody>
      </p:sp>
      <p:sp>
        <p:nvSpPr>
          <p:cNvPr id="19" name="body-text"/>
          <p:cNvSpPr/>
          <p:nvPr/>
        </p:nvSpPr>
        <p:spPr>
          <a:xfrm>
            <a:off x="5687568" y="1664208"/>
            <a:ext cx="2048256" cy="201168"/>
          </a:xfrm>
          <a:prstGeom prst="rect">
            <a:avLst/>
          </a:prstGeom>
          <a:noFill/>
          <a:ln/>
        </p:spPr>
        <p:txBody>
          <a:bodyPr wrap="square" lIns="0" tIns="0" rIns="0" bIns="0" rtlCol="0" anchor="t"/>
          <a:lstStyle/>
          <a:p>
            <a:pPr algn="l" indent="0" marL="0">
              <a:buNone/>
            </a:pPr>
            <a:r>
              <a:rPr lang="en-US" sz="1010" b="1" dirty="0">
                <a:solidFill>
                  <a:srgbClr val="1E3A8A"/>
                </a:solidFill>
                <a:latin typeface="Arial" pitchFamily="34" charset="0"/>
                <a:ea typeface="Arial" pitchFamily="34" charset="-122"/>
                <a:cs typeface="Arial" pitchFamily="34" charset="-120"/>
              </a:rPr>
              <a:t>complete Axios response object</a:t>
            </a:r>
            <a:endParaRPr lang="en-US" sz="1010" dirty="0"/>
          </a:p>
        </p:txBody>
      </p:sp>
      <p:sp>
        <p:nvSpPr>
          <p:cNvPr id="20" name="response-compare-data"/>
          <p:cNvSpPr/>
          <p:nvPr/>
        </p:nvSpPr>
        <p:spPr>
          <a:xfrm>
            <a:off x="4242816" y="2633472"/>
            <a:ext cx="3749040" cy="969264"/>
          </a:xfrm>
          <a:prstGeom prst="roundRect">
            <a:avLst/>
          </a:prstGeom>
          <a:solidFill>
            <a:srgbClr val="DCFCE7"/>
          </a:solidFill>
          <a:ln w="12700">
            <a:solidFill>
              <a:srgbClr val="86EFAC"/>
            </a:solidFill>
            <a:prstDash val="solid"/>
          </a:ln>
        </p:spPr>
      </p:sp>
      <p:sp>
        <p:nvSpPr>
          <p:cNvPr id="21" name="response-data-code"/>
          <p:cNvSpPr/>
          <p:nvPr/>
        </p:nvSpPr>
        <p:spPr>
          <a:xfrm>
            <a:off x="4443984" y="2834640"/>
            <a:ext cx="1572768" cy="34747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80" dirty="0">
                <a:solidFill>
                  <a:srgbClr val="FFFFFF"/>
                </a:solidFill>
                <a:latin typeface="Courier New" pitchFamily="34" charset="0"/>
                <a:ea typeface="Courier New" pitchFamily="34" charset="-122"/>
                <a:cs typeface="Courier New" pitchFamily="34" charset="-120"/>
              </a:rPr>
              <a:t>response.data</a:t>
            </a:r>
            <a:endParaRPr lang="en-US" sz="1080" dirty="0"/>
          </a:p>
        </p:txBody>
      </p:sp>
      <p:sp>
        <p:nvSpPr>
          <p:cNvPr id="22" name="body-text"/>
          <p:cNvSpPr/>
          <p:nvPr/>
        </p:nvSpPr>
        <p:spPr>
          <a:xfrm>
            <a:off x="6108192" y="2871216"/>
            <a:ext cx="1664208" cy="201168"/>
          </a:xfrm>
          <a:prstGeom prst="rect">
            <a:avLst/>
          </a:prstGeom>
          <a:noFill/>
          <a:ln/>
        </p:spPr>
        <p:txBody>
          <a:bodyPr wrap="square" lIns="0" tIns="0" rIns="0" bIns="0" rtlCol="0" anchor="t"/>
          <a:lstStyle/>
          <a:p>
            <a:pPr algn="l" indent="0" marL="0">
              <a:buNone/>
            </a:pPr>
            <a:r>
              <a:rPr lang="en-US" sz="1000" b="1" dirty="0">
                <a:solidFill>
                  <a:srgbClr val="166534"/>
                </a:solidFill>
                <a:latin typeface="Arial" pitchFamily="34" charset="0"/>
                <a:ea typeface="Arial" pitchFamily="34" charset="-122"/>
                <a:cs typeface="Arial" pitchFamily="34" charset="-120"/>
              </a:rPr>
              <a:t>server payload: our comment array</a:t>
            </a:r>
            <a:endParaRPr lang="en-US" sz="1000" dirty="0"/>
          </a:p>
        </p:txBody>
      </p:sp>
      <p:sp>
        <p:nvSpPr>
          <p:cNvPr id="23" name="response-check"/>
          <p:cNvSpPr/>
          <p:nvPr/>
        </p:nvSpPr>
        <p:spPr>
          <a:xfrm>
            <a:off x="4242816" y="3840480"/>
            <a:ext cx="3749040" cy="475488"/>
          </a:xfrm>
          <a:prstGeom prst="roundRect">
            <a:avLst/>
          </a:prstGeom>
          <a:solidFill>
            <a:srgbClr val="FEF9C3"/>
          </a:solidFill>
          <a:ln w="12700">
            <a:solidFill>
              <a:srgbClr val="FEF9C3"/>
            </a:solidFill>
            <a:prstDash val="solid"/>
          </a:ln>
        </p:spPr>
      </p:sp>
      <p:sp>
        <p:nvSpPr>
          <p:cNvPr id="24" name="body-text"/>
          <p:cNvSpPr/>
          <p:nvPr/>
        </p:nvSpPr>
        <p:spPr>
          <a:xfrm>
            <a:off x="4443984" y="3968496"/>
            <a:ext cx="3346704" cy="201168"/>
          </a:xfrm>
          <a:prstGeom prst="rect">
            <a:avLst/>
          </a:prstGeom>
          <a:noFill/>
          <a:ln/>
        </p:spPr>
        <p:txBody>
          <a:bodyPr wrap="square" lIns="0" tIns="0" rIns="0" bIns="0" rtlCol="0" anchor="t"/>
          <a:lstStyle/>
          <a:p>
            <a:pPr algn="ctr" indent="0" marL="0">
              <a:buNone/>
            </a:pPr>
            <a:r>
              <a:rPr lang="en-US" sz="1000" b="1" dirty="0">
                <a:solidFill>
                  <a:srgbClr val="854D0E"/>
                </a:solidFill>
                <a:latin typeface="Arial" pitchFamily="34" charset="0"/>
                <a:ea typeface="Arial" pitchFamily="34" charset="-122"/>
                <a:cs typeface="Arial" pitchFamily="34" charset="-120"/>
              </a:rPr>
              <a:t>Quick check: Which value should become feedback state?  response.data</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Describe the data with TypeScript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label"/>
          <p:cNvSpPr/>
          <p:nvPr/>
        </p:nvSpPr>
        <p:spPr>
          <a:xfrm>
            <a:off x="713232" y="987552"/>
            <a:ext cx="1463040"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Actual JSON item</a:t>
            </a:r>
            <a:endParaRPr lang="en-US" sz="1050" dirty="0"/>
          </a:p>
        </p:txBody>
      </p:sp>
      <p:sp>
        <p:nvSpPr>
          <p:cNvPr id="5" name="feedback-json"/>
          <p:cNvSpPr/>
          <p:nvPr/>
        </p:nvSpPr>
        <p:spPr>
          <a:xfrm>
            <a:off x="713232" y="1298448"/>
            <a:ext cx="3346704" cy="168249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"postId": 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"id": 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"name":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"email":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"body":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p:txBody>
      </p:sp>
      <p:sp>
        <p:nvSpPr>
          <p:cNvPr id="6" name="label"/>
          <p:cNvSpPr/>
          <p:nvPr/>
        </p:nvSpPr>
        <p:spPr>
          <a:xfrm>
            <a:off x="4407408" y="987552"/>
            <a:ext cx="1920240"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Expected TypeScript shape</a:t>
            </a:r>
            <a:endParaRPr lang="en-US" sz="1050" dirty="0"/>
          </a:p>
        </p:txBody>
      </p:sp>
      <p:sp>
        <p:nvSpPr>
          <p:cNvPr id="7" name="feedback-type"/>
          <p:cNvSpPr/>
          <p:nvPr/>
        </p:nvSpPr>
        <p:spPr>
          <a:xfrm>
            <a:off x="4407408" y="1298448"/>
            <a:ext cx="3346704" cy="168249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type Feedback =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postId: number;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id: number;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name: string;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email: string;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body: string;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p:txBody>
      </p:sp>
      <p:sp>
        <p:nvSpPr>
          <p:cNvPr id="8" name="connector"/>
          <p:cNvSpPr/>
          <p:nvPr/>
        </p:nvSpPr>
        <p:spPr>
          <a:xfrm>
            <a:off x="4096512" y="2103120"/>
            <a:ext cx="256032" cy="0"/>
          </a:xfrm>
          <a:prstGeom prst="line">
            <a:avLst/>
          </a:prstGeom>
          <a:noFill/>
          <a:ln w="19050">
            <a:solidFill>
              <a:srgbClr val="64748B"/>
            </a:solidFill>
            <a:prstDash val="solid"/>
            <a:tailEnd type="triangle"/>
          </a:ln>
        </p:spPr>
      </p:sp>
      <p:sp>
        <p:nvSpPr>
          <p:cNvPr id="9" name="type-map-0"/>
          <p:cNvSpPr/>
          <p:nvPr/>
        </p:nvSpPr>
        <p:spPr>
          <a:xfrm>
            <a:off x="804672" y="3310128"/>
            <a:ext cx="1901952" cy="621792"/>
          </a:xfrm>
          <a:prstGeom prst="roundRect">
            <a:avLst/>
          </a:prstGeom>
          <a:solidFill>
            <a:srgbClr val="F8FAFC"/>
          </a:solidFill>
          <a:ln w="12700">
            <a:solidFill>
              <a:srgbClr val="CBD5E1"/>
            </a:solidFill>
            <a:prstDash val="solid"/>
          </a:ln>
        </p:spPr>
      </p:sp>
      <p:sp>
        <p:nvSpPr>
          <p:cNvPr id="10" name="body-text"/>
          <p:cNvSpPr/>
          <p:nvPr/>
        </p:nvSpPr>
        <p:spPr>
          <a:xfrm>
            <a:off x="914400" y="3438144"/>
            <a:ext cx="1682496" cy="182880"/>
          </a:xfrm>
          <a:prstGeom prst="rect">
            <a:avLst/>
          </a:prstGeom>
          <a:noFill/>
          <a:ln/>
        </p:spPr>
        <p:txBody>
          <a:bodyPr wrap="square" lIns="0" tIns="0" rIns="0" bIns="0" rtlCol="0" anchor="t"/>
          <a:lstStyle/>
          <a:p>
            <a:pPr algn="ctr" indent="0" marL="0">
              <a:buNone/>
            </a:pPr>
            <a:r>
              <a:rPr lang="en-US" sz="950" b="1" dirty="0">
                <a:solidFill>
                  <a:srgbClr val="475569"/>
                </a:solidFill>
                <a:latin typeface="Arial" pitchFamily="34" charset="0"/>
                <a:ea typeface="Arial" pitchFamily="34" charset="-122"/>
                <a:cs typeface="Arial" pitchFamily="34" charset="-120"/>
              </a:rPr>
              <a:t>One returned item</a:t>
            </a:r>
            <a:endParaRPr lang="en-US" sz="950" dirty="0"/>
          </a:p>
        </p:txBody>
      </p:sp>
      <p:sp>
        <p:nvSpPr>
          <p:cNvPr id="11" name="mini-code"/>
          <p:cNvSpPr/>
          <p:nvPr/>
        </p:nvSpPr>
        <p:spPr>
          <a:xfrm>
            <a:off x="950976" y="3675888"/>
            <a:ext cx="1609344" cy="310896"/>
          </a:xfrm>
          <a:prstGeom prst="rect">
            <a:avLst/>
          </a:prstGeom>
          <a:solidFill>
            <a:srgbClr val="FFFFFF"/>
          </a:solidFill>
          <a:ln w="8890">
            <a:solidFill>
              <a:srgbClr val="CBD5E1"/>
            </a:solidFill>
          </a:ln>
        </p:spPr>
        <p:txBody>
          <a:bodyPr wrap="square" lIns="635" tIns="1270" rIns="1270" bIns="635" rtlCol="0" anchor="ctr"/>
          <a:lstStyle/>
          <a:p>
            <a:pPr algn="ctr" indent="0" marL="0">
              <a:buNone/>
            </a:pPr>
            <a:r>
              <a:rPr lang="en-US" sz="1020" dirty="0">
                <a:solidFill>
                  <a:srgbClr val="0F172A"/>
                </a:solidFill>
                <a:latin typeface="Courier New" pitchFamily="34" charset="0"/>
                <a:ea typeface="Courier New" pitchFamily="34" charset="-122"/>
                <a:cs typeface="Courier New" pitchFamily="34" charset="-120"/>
              </a:rPr>
              <a:t>Feedback</a:t>
            </a:r>
            <a:endParaRPr lang="en-US" sz="1020" dirty="0"/>
          </a:p>
        </p:txBody>
      </p:sp>
      <p:sp>
        <p:nvSpPr>
          <p:cNvPr id="12" name="type-map-1"/>
          <p:cNvSpPr/>
          <p:nvPr/>
        </p:nvSpPr>
        <p:spPr>
          <a:xfrm>
            <a:off x="2889504" y="3310128"/>
            <a:ext cx="1901952" cy="621792"/>
          </a:xfrm>
          <a:prstGeom prst="roundRect">
            <a:avLst/>
          </a:prstGeom>
          <a:solidFill>
            <a:srgbClr val="F8FAFC"/>
          </a:solidFill>
          <a:ln w="12700">
            <a:solidFill>
              <a:srgbClr val="CBD5E1"/>
            </a:solidFill>
            <a:prstDash val="solid"/>
          </a:ln>
        </p:spPr>
      </p:sp>
      <p:sp>
        <p:nvSpPr>
          <p:cNvPr id="13" name="body-text"/>
          <p:cNvSpPr/>
          <p:nvPr/>
        </p:nvSpPr>
        <p:spPr>
          <a:xfrm>
            <a:off x="2999232" y="3438144"/>
            <a:ext cx="1682496" cy="182880"/>
          </a:xfrm>
          <a:prstGeom prst="rect">
            <a:avLst/>
          </a:prstGeom>
          <a:noFill/>
          <a:ln/>
        </p:spPr>
        <p:txBody>
          <a:bodyPr wrap="square" lIns="0" tIns="0" rIns="0" bIns="0" rtlCol="0" anchor="t"/>
          <a:lstStyle/>
          <a:p>
            <a:pPr algn="ctr" indent="0" marL="0">
              <a:buNone/>
            </a:pPr>
            <a:r>
              <a:rPr lang="en-US" sz="950" b="1" dirty="0">
                <a:solidFill>
                  <a:srgbClr val="475569"/>
                </a:solidFill>
                <a:latin typeface="Arial" pitchFamily="34" charset="0"/>
                <a:ea typeface="Arial" pitchFamily="34" charset="-122"/>
                <a:cs typeface="Arial" pitchFamily="34" charset="-120"/>
              </a:rPr>
              <a:t>Complete collection</a:t>
            </a:r>
            <a:endParaRPr lang="en-US" sz="950" dirty="0"/>
          </a:p>
        </p:txBody>
      </p:sp>
      <p:sp>
        <p:nvSpPr>
          <p:cNvPr id="14" name="mini-code"/>
          <p:cNvSpPr/>
          <p:nvPr/>
        </p:nvSpPr>
        <p:spPr>
          <a:xfrm>
            <a:off x="3035808" y="3675888"/>
            <a:ext cx="1609344" cy="310896"/>
          </a:xfrm>
          <a:prstGeom prst="rect">
            <a:avLst/>
          </a:prstGeom>
          <a:solidFill>
            <a:srgbClr val="FFFFFF"/>
          </a:solidFill>
          <a:ln w="8890">
            <a:solidFill>
              <a:srgbClr val="CBD5E1"/>
            </a:solidFill>
          </a:ln>
        </p:spPr>
        <p:txBody>
          <a:bodyPr wrap="square" lIns="635" tIns="1270" rIns="1270" bIns="635" rtlCol="0" anchor="ctr"/>
          <a:lstStyle/>
          <a:p>
            <a:pPr algn="ctr" indent="0" marL="0">
              <a:buNone/>
            </a:pPr>
            <a:r>
              <a:rPr lang="en-US" sz="1020" dirty="0">
                <a:solidFill>
                  <a:srgbClr val="0F172A"/>
                </a:solidFill>
                <a:latin typeface="Courier New" pitchFamily="34" charset="0"/>
                <a:ea typeface="Courier New" pitchFamily="34" charset="-122"/>
                <a:cs typeface="Courier New" pitchFamily="34" charset="-120"/>
              </a:rPr>
              <a:t>Feedback[]</a:t>
            </a:r>
            <a:endParaRPr lang="en-US" sz="1020" dirty="0"/>
          </a:p>
        </p:txBody>
      </p:sp>
      <p:sp>
        <p:nvSpPr>
          <p:cNvPr id="15" name="type-map-2"/>
          <p:cNvSpPr/>
          <p:nvPr/>
        </p:nvSpPr>
        <p:spPr>
          <a:xfrm>
            <a:off x="4974336" y="3310128"/>
            <a:ext cx="2761488" cy="621792"/>
          </a:xfrm>
          <a:prstGeom prst="roundRect">
            <a:avLst/>
          </a:prstGeom>
          <a:solidFill>
            <a:srgbClr val="DCFCE7"/>
          </a:solidFill>
          <a:ln w="12700">
            <a:solidFill>
              <a:srgbClr val="86EFAC"/>
            </a:solidFill>
            <a:prstDash val="solid"/>
          </a:ln>
        </p:spPr>
      </p:sp>
      <p:sp>
        <p:nvSpPr>
          <p:cNvPr id="16" name="body-text"/>
          <p:cNvSpPr/>
          <p:nvPr/>
        </p:nvSpPr>
        <p:spPr>
          <a:xfrm>
            <a:off x="5084064" y="3438144"/>
            <a:ext cx="2542032" cy="182880"/>
          </a:xfrm>
          <a:prstGeom prst="rect">
            <a:avLst/>
          </a:prstGeom>
          <a:noFill/>
          <a:ln/>
        </p:spPr>
        <p:txBody>
          <a:bodyPr wrap="square" lIns="0" tIns="0" rIns="0" bIns="0" rtlCol="0" anchor="t"/>
          <a:lstStyle/>
          <a:p>
            <a:pPr algn="ctr" indent="0" marL="0">
              <a:buNone/>
            </a:pPr>
            <a:r>
              <a:rPr lang="en-US" sz="950" b="1" dirty="0">
                <a:solidFill>
                  <a:srgbClr val="166534"/>
                </a:solidFill>
                <a:latin typeface="Arial" pitchFamily="34" charset="0"/>
                <a:ea typeface="Arial" pitchFamily="34" charset="-122"/>
                <a:cs typeface="Arial" pitchFamily="34" charset="-120"/>
              </a:rPr>
              <a:t>Typed request</a:t>
            </a:r>
            <a:endParaRPr lang="en-US" sz="950" dirty="0"/>
          </a:p>
        </p:txBody>
      </p:sp>
      <p:sp>
        <p:nvSpPr>
          <p:cNvPr id="17" name="mini-code"/>
          <p:cNvSpPr/>
          <p:nvPr/>
        </p:nvSpPr>
        <p:spPr>
          <a:xfrm>
            <a:off x="5120640" y="3675888"/>
            <a:ext cx="2468880" cy="310896"/>
          </a:xfrm>
          <a:prstGeom prst="rect">
            <a:avLst/>
          </a:prstGeom>
          <a:solidFill>
            <a:srgbClr val="FFFFFF"/>
          </a:solidFill>
          <a:ln w="8890">
            <a:solidFill>
              <a:srgbClr val="86EFAC"/>
            </a:solidFill>
          </a:ln>
        </p:spPr>
        <p:txBody>
          <a:bodyPr wrap="square" lIns="635" tIns="1270" rIns="1270" bIns="635"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axios.get&lt;Feedback[]&gt;(feedbackUrl)</a:t>
            </a:r>
            <a:endParaRPr lang="en-US" sz="950" dirty="0"/>
          </a:p>
        </p:txBody>
      </p:sp>
      <p:sp>
        <p:nvSpPr>
          <p:cNvPr id="18" name="strip-Boundary"/>
          <p:cNvSpPr/>
          <p:nvPr/>
        </p:nvSpPr>
        <p:spPr>
          <a:xfrm>
            <a:off x="1078992" y="4151376"/>
            <a:ext cx="6601968" cy="420624"/>
          </a:xfrm>
          <a:prstGeom prst="roundRect">
            <a:avLst/>
          </a:prstGeom>
          <a:solidFill>
            <a:srgbClr val="EFF6FF"/>
          </a:solidFill>
          <a:ln w="12700">
            <a:solidFill>
              <a:srgbClr val="EFF6FF"/>
            </a:solidFill>
            <a:prstDash val="solid"/>
          </a:ln>
        </p:spPr>
      </p:sp>
      <p:sp>
        <p:nvSpPr>
          <p:cNvPr id="19" name="strip-text-Boundary"/>
          <p:cNvSpPr/>
          <p:nvPr/>
        </p:nvSpPr>
        <p:spPr>
          <a:xfrm>
            <a:off x="1225296" y="4251960"/>
            <a:ext cx="6309360" cy="237744"/>
          </a:xfrm>
          <a:prstGeom prst="rect">
            <a:avLst/>
          </a:prstGeom>
          <a:noFill/>
          <a:ln/>
        </p:spPr>
        <p:txBody>
          <a:bodyPr wrap="square" lIns="0" tIns="0" rIns="0" bIns="0" rtlCol="0" anchor="t"/>
          <a:lstStyle/>
          <a:p>
            <a:pPr indent="0" marL="0">
              <a:buNone/>
            </a:pPr>
            <a:r>
              <a:rPr lang="en-US" sz="1030" b="1" dirty="0">
                <a:solidFill>
                  <a:srgbClr val="1E3A8A"/>
                </a:solidFill>
                <a:latin typeface="Arial" pitchFamily="34" charset="0"/>
                <a:ea typeface="Arial" pitchFamily="34" charset="-122"/>
                <a:cs typeface="Arial" pitchFamily="34" charset="-120"/>
              </a:rPr>
              <a:t>Boundary  </a:t>
            </a:r>
            <a:pPr indent="0" marL="0">
              <a:buNone/>
            </a:pPr>
            <a:r>
              <a:rPr lang="en-US" sz="1030" dirty="0">
                <a:solidFill>
                  <a:srgbClr val="0F172A"/>
                </a:solidFill>
                <a:latin typeface="Arial" pitchFamily="34" charset="0"/>
                <a:ea typeface="Arial" pitchFamily="34" charset="-122"/>
                <a:cs typeface="Arial" pitchFamily="34" charset="-120"/>
              </a:rPr>
              <a:t>Feedback[] is the static type our code expects; it does not runtime-validate the live JSON.</a:t>
            </a:r>
            <a:endParaRPr lang="en-US" sz="103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Where should the request run?</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body-text"/>
          <p:cNvSpPr/>
          <p:nvPr/>
        </p:nvSpPr>
        <p:spPr>
          <a:xfrm>
            <a:off x="676656" y="950976"/>
            <a:ext cx="7388352" cy="310896"/>
          </a:xfrm>
          <a:prstGeom prst="rect">
            <a:avLst/>
          </a:prstGeom>
          <a:noFill/>
          <a:ln/>
        </p:spPr>
        <p:txBody>
          <a:bodyPr wrap="square" lIns="0" tIns="0" rIns="0" bIns="0" rtlCol="0" anchor="t"/>
          <a:lstStyle/>
          <a:p>
            <a:pPr algn="l" indent="0" marL="0">
              <a:buNone/>
            </a:pPr>
            <a:r>
              <a:rPr lang="en-US" sz="1210" b="1" dirty="0">
                <a:solidFill>
                  <a:srgbClr val="0F172A"/>
                </a:solidFill>
                <a:latin typeface="Arial" pitchFamily="34" charset="0"/>
                <a:ea typeface="Arial" pitchFamily="34" charset="-122"/>
                <a:cs typeface="Arial" pitchFamily="34" charset="-120"/>
              </a:rPr>
              <a:t>Requirement: when FeedbackInbox is present, retrieve its feedback data from the server.</a:t>
            </a:r>
            <a:endParaRPr lang="en-US" sz="1210" dirty="0"/>
          </a:p>
        </p:txBody>
      </p:sp>
      <p:sp>
        <p:nvSpPr>
          <p:cNvPr id="5" name="request-place-0"/>
          <p:cNvSpPr/>
          <p:nvPr/>
        </p:nvSpPr>
        <p:spPr>
          <a:xfrm>
            <a:off x="841248" y="1536192"/>
            <a:ext cx="7278624" cy="658368"/>
          </a:xfrm>
          <a:prstGeom prst="roundRect">
            <a:avLst/>
          </a:prstGeom>
          <a:solidFill>
            <a:srgbClr val="FEE2E2"/>
          </a:solidFill>
          <a:ln w="12700">
            <a:solidFill>
              <a:srgbClr val="FEE2E2"/>
            </a:solidFill>
            <a:prstDash val="solid"/>
          </a:ln>
        </p:spPr>
      </p:sp>
      <p:sp>
        <p:nvSpPr>
          <p:cNvPr id="6" name="body-text"/>
          <p:cNvSpPr/>
          <p:nvPr/>
        </p:nvSpPr>
        <p:spPr>
          <a:xfrm>
            <a:off x="1060704" y="1673352"/>
            <a:ext cx="1664208" cy="201168"/>
          </a:xfrm>
          <a:prstGeom prst="rect">
            <a:avLst/>
          </a:prstGeom>
          <a:noFill/>
          <a:ln/>
        </p:spPr>
        <p:txBody>
          <a:bodyPr wrap="square" lIns="0" tIns="0" rIns="0" bIns="0" rtlCol="0" anchor="t"/>
          <a:lstStyle/>
          <a:p>
            <a:pPr algn="l" indent="0" marL="0">
              <a:buNone/>
            </a:pPr>
            <a:r>
              <a:rPr lang="en-US" sz="1080" b="1" dirty="0">
                <a:solidFill>
                  <a:srgbClr val="991B1B"/>
                </a:solidFill>
                <a:latin typeface="Arial" pitchFamily="34" charset="0"/>
                <a:ea typeface="Arial" pitchFamily="34" charset="-122"/>
                <a:cs typeface="Arial" pitchFamily="34" charset="-120"/>
              </a:rPr>
              <a:t>During rendering?</a:t>
            </a:r>
            <a:endParaRPr lang="en-US" sz="1080" dirty="0"/>
          </a:p>
        </p:txBody>
      </p:sp>
      <p:sp>
        <p:nvSpPr>
          <p:cNvPr id="7" name="pill"/>
          <p:cNvSpPr/>
          <p:nvPr/>
        </p:nvSpPr>
        <p:spPr>
          <a:xfrm>
            <a:off x="2816352" y="1691640"/>
            <a:ext cx="804672" cy="274320"/>
          </a:xfrm>
          <a:prstGeom prst="rect">
            <a:avLst/>
          </a:prstGeom>
          <a:solidFill>
            <a:srgbClr val="FFFFFF"/>
          </a:solidFill>
          <a:ln w="10160">
            <a:solidFill>
              <a:srgbClr val="FFFFFF"/>
            </a:solidFill>
          </a:ln>
        </p:spPr>
        <p:txBody>
          <a:bodyPr wrap="square" lIns="635" tIns="1270" rIns="1270" bIns="635" rtlCol="0" anchor="ctr"/>
          <a:lstStyle/>
          <a:p>
            <a:pPr algn="ctr" indent="0" marL="0">
              <a:buNone/>
            </a:pPr>
            <a:r>
              <a:rPr lang="en-US" sz="880" b="1" dirty="0">
                <a:solidFill>
                  <a:srgbClr val="991B1B"/>
                </a:solidFill>
                <a:latin typeface="Arial" pitchFamily="34" charset="0"/>
                <a:ea typeface="Arial" pitchFamily="34" charset="-122"/>
                <a:cs typeface="Arial" pitchFamily="34" charset="-120"/>
              </a:rPr>
              <a:t>No</a:t>
            </a:r>
            <a:endParaRPr lang="en-US" sz="880" dirty="0"/>
          </a:p>
        </p:txBody>
      </p:sp>
      <p:sp>
        <p:nvSpPr>
          <p:cNvPr id="8" name="body-text"/>
          <p:cNvSpPr/>
          <p:nvPr/>
        </p:nvSpPr>
        <p:spPr>
          <a:xfrm>
            <a:off x="3803904" y="1655064"/>
            <a:ext cx="4059936" cy="310896"/>
          </a:xfrm>
          <a:prstGeom prst="rect">
            <a:avLst/>
          </a:prstGeom>
          <a:noFill/>
          <a:ln/>
        </p:spPr>
        <p:txBody>
          <a:bodyPr wrap="square" lIns="0" tIns="0" rIns="0" bIns="0" rtlCol="0" anchor="t"/>
          <a:lstStyle/>
          <a:p>
            <a:pPr algn="l" indent="0" marL="0">
              <a:buNone/>
            </a:pPr>
            <a:r>
              <a:rPr lang="en-US" sz="990" dirty="0">
                <a:solidFill>
                  <a:srgbClr val="0F172A"/>
                </a:solidFill>
                <a:latin typeface="Arial" pitchFamily="34" charset="0"/>
                <a:ea typeface="Arial" pitchFamily="34" charset="-122"/>
                <a:cs typeface="Arial" pitchFamily="34" charset="-120"/>
              </a:rPr>
              <a:t>An HTTP request starts external work. Rendering should describe the current UI.</a:t>
            </a:r>
            <a:endParaRPr lang="en-US" sz="990" dirty="0"/>
          </a:p>
        </p:txBody>
      </p:sp>
      <p:sp>
        <p:nvSpPr>
          <p:cNvPr id="9" name="request-place-1"/>
          <p:cNvSpPr/>
          <p:nvPr/>
        </p:nvSpPr>
        <p:spPr>
          <a:xfrm>
            <a:off x="841248" y="2340864"/>
            <a:ext cx="7278624" cy="658368"/>
          </a:xfrm>
          <a:prstGeom prst="roundRect">
            <a:avLst/>
          </a:prstGeom>
          <a:solidFill>
            <a:srgbClr val="FEF9C3"/>
          </a:solidFill>
          <a:ln w="12700">
            <a:solidFill>
              <a:srgbClr val="FEF9C3"/>
            </a:solidFill>
            <a:prstDash val="solid"/>
          </a:ln>
        </p:spPr>
      </p:sp>
      <p:sp>
        <p:nvSpPr>
          <p:cNvPr id="10" name="body-text"/>
          <p:cNvSpPr/>
          <p:nvPr/>
        </p:nvSpPr>
        <p:spPr>
          <a:xfrm>
            <a:off x="1060704" y="2478024"/>
            <a:ext cx="1664208" cy="201168"/>
          </a:xfrm>
          <a:prstGeom prst="rect">
            <a:avLst/>
          </a:prstGeom>
          <a:noFill/>
          <a:ln/>
        </p:spPr>
        <p:txBody>
          <a:bodyPr wrap="square" lIns="0" tIns="0" rIns="0" bIns="0" rtlCol="0" anchor="t"/>
          <a:lstStyle/>
          <a:p>
            <a:pPr algn="l" indent="0" marL="0">
              <a:buNone/>
            </a:pPr>
            <a:r>
              <a:rPr lang="en-US" sz="1080" b="1" dirty="0">
                <a:solidFill>
                  <a:srgbClr val="854D0E"/>
                </a:solidFill>
                <a:latin typeface="Arial" pitchFamily="34" charset="0"/>
                <a:ea typeface="Arial" pitchFamily="34" charset="-122"/>
                <a:cs typeface="Arial" pitchFamily="34" charset="-120"/>
              </a:rPr>
              <a:t>In a click handler?</a:t>
            </a:r>
            <a:endParaRPr lang="en-US" sz="1080" dirty="0"/>
          </a:p>
        </p:txBody>
      </p:sp>
      <p:sp>
        <p:nvSpPr>
          <p:cNvPr id="11" name="pill"/>
          <p:cNvSpPr/>
          <p:nvPr/>
        </p:nvSpPr>
        <p:spPr>
          <a:xfrm>
            <a:off x="2816352" y="2496312"/>
            <a:ext cx="804672" cy="274320"/>
          </a:xfrm>
          <a:prstGeom prst="rect">
            <a:avLst/>
          </a:prstGeom>
          <a:solidFill>
            <a:srgbClr val="FFFFFF"/>
          </a:solidFill>
          <a:ln w="10160">
            <a:solidFill>
              <a:srgbClr val="FFFFFF"/>
            </a:solidFill>
          </a:ln>
        </p:spPr>
        <p:txBody>
          <a:bodyPr wrap="square" lIns="635" tIns="1270" rIns="1270" bIns="635" rtlCol="0" anchor="ctr"/>
          <a:lstStyle/>
          <a:p>
            <a:pPr algn="ctr" indent="0" marL="0">
              <a:buNone/>
            </a:pPr>
            <a:r>
              <a:rPr lang="en-US" sz="880" b="1" dirty="0">
                <a:solidFill>
                  <a:srgbClr val="854D0E"/>
                </a:solidFill>
                <a:latin typeface="Arial" pitchFamily="34" charset="0"/>
                <a:ea typeface="Arial" pitchFamily="34" charset="-122"/>
                <a:cs typeface="Arial" pitchFamily="34" charset="-120"/>
              </a:rPr>
              <a:t>No cause</a:t>
            </a:r>
            <a:endParaRPr lang="en-US" sz="880" dirty="0"/>
          </a:p>
        </p:txBody>
      </p:sp>
      <p:sp>
        <p:nvSpPr>
          <p:cNvPr id="12" name="body-text"/>
          <p:cNvSpPr/>
          <p:nvPr/>
        </p:nvSpPr>
        <p:spPr>
          <a:xfrm>
            <a:off x="3803904" y="2459736"/>
            <a:ext cx="4059936" cy="310896"/>
          </a:xfrm>
          <a:prstGeom prst="rect">
            <a:avLst/>
          </a:prstGeom>
          <a:noFill/>
          <a:ln/>
        </p:spPr>
        <p:txBody>
          <a:bodyPr wrap="square" lIns="0" tIns="0" rIns="0" bIns="0" rtlCol="0" anchor="t"/>
          <a:lstStyle/>
          <a:p>
            <a:pPr algn="l" indent="0" marL="0">
              <a:buNone/>
            </a:pPr>
            <a:r>
              <a:rPr lang="en-US" sz="990" dirty="0">
                <a:solidFill>
                  <a:srgbClr val="0F172A"/>
                </a:solidFill>
                <a:latin typeface="Arial" pitchFamily="34" charset="0"/>
                <a:ea typeface="Arial" pitchFamily="34" charset="-122"/>
                <a:cs typeface="Arial" pitchFamily="34" charset="-120"/>
              </a:rPr>
              <a:t>There is no Load feedback interaction causing this request.</a:t>
            </a:r>
            <a:endParaRPr lang="en-US" sz="990" dirty="0"/>
          </a:p>
        </p:txBody>
      </p:sp>
      <p:sp>
        <p:nvSpPr>
          <p:cNvPr id="13" name="request-place-2"/>
          <p:cNvSpPr/>
          <p:nvPr/>
        </p:nvSpPr>
        <p:spPr>
          <a:xfrm>
            <a:off x="841248" y="3145536"/>
            <a:ext cx="7278624" cy="658368"/>
          </a:xfrm>
          <a:prstGeom prst="roundRect">
            <a:avLst/>
          </a:prstGeom>
          <a:solidFill>
            <a:srgbClr val="DCFCE7"/>
          </a:solidFill>
          <a:ln w="12700">
            <a:solidFill>
              <a:srgbClr val="DCFCE7"/>
            </a:solidFill>
            <a:prstDash val="solid"/>
          </a:ln>
        </p:spPr>
      </p:sp>
      <p:sp>
        <p:nvSpPr>
          <p:cNvPr id="14" name="body-text"/>
          <p:cNvSpPr/>
          <p:nvPr/>
        </p:nvSpPr>
        <p:spPr>
          <a:xfrm>
            <a:off x="1060704" y="3282696"/>
            <a:ext cx="1664208" cy="201168"/>
          </a:xfrm>
          <a:prstGeom prst="rect">
            <a:avLst/>
          </a:prstGeom>
          <a:noFill/>
          <a:ln/>
        </p:spPr>
        <p:txBody>
          <a:bodyPr wrap="square" lIns="0" tIns="0" rIns="0" bIns="0" rtlCol="0" anchor="t"/>
          <a:lstStyle/>
          <a:p>
            <a:pPr algn="l" indent="0" marL="0">
              <a:buNone/>
            </a:pPr>
            <a:r>
              <a:rPr lang="en-US" sz="1080" b="1" dirty="0">
                <a:solidFill>
                  <a:srgbClr val="166534"/>
                </a:solidFill>
                <a:latin typeface="Arial" pitchFamily="34" charset="0"/>
                <a:ea typeface="Arial" pitchFamily="34" charset="-122"/>
                <a:cs typeface="Arial" pitchFamily="34" charset="-120"/>
              </a:rPr>
              <a:t>In an Effect?</a:t>
            </a:r>
            <a:endParaRPr lang="en-US" sz="1080" dirty="0"/>
          </a:p>
        </p:txBody>
      </p:sp>
      <p:sp>
        <p:nvSpPr>
          <p:cNvPr id="15" name="pill"/>
          <p:cNvSpPr/>
          <p:nvPr/>
        </p:nvSpPr>
        <p:spPr>
          <a:xfrm>
            <a:off x="2816352" y="3300984"/>
            <a:ext cx="804672" cy="274320"/>
          </a:xfrm>
          <a:prstGeom prst="rect">
            <a:avLst/>
          </a:prstGeom>
          <a:solidFill>
            <a:srgbClr val="FFFFFF"/>
          </a:solidFill>
          <a:ln w="10160">
            <a:solidFill>
              <a:srgbClr val="FFFFFF"/>
            </a:solidFill>
          </a:ln>
        </p:spPr>
        <p:txBody>
          <a:bodyPr wrap="square" lIns="635" tIns="1270" rIns="1270" bIns="635" rtlCol="0" anchor="ctr"/>
          <a:lstStyle/>
          <a:p>
            <a:pPr algn="ctr" indent="0" marL="0">
              <a:buNone/>
            </a:pPr>
            <a:r>
              <a:rPr lang="en-US" sz="880" b="1" dirty="0">
                <a:solidFill>
                  <a:srgbClr val="166534"/>
                </a:solidFill>
                <a:latin typeface="Arial" pitchFamily="34" charset="0"/>
                <a:ea typeface="Arial" pitchFamily="34" charset="-122"/>
                <a:cs typeface="Arial" pitchFamily="34" charset="-120"/>
              </a:rPr>
              <a:t>Yes</a:t>
            </a:r>
            <a:endParaRPr lang="en-US" sz="880" dirty="0"/>
          </a:p>
        </p:txBody>
      </p:sp>
      <p:sp>
        <p:nvSpPr>
          <p:cNvPr id="16" name="body-text"/>
          <p:cNvSpPr/>
          <p:nvPr/>
        </p:nvSpPr>
        <p:spPr>
          <a:xfrm>
            <a:off x="3803904" y="3264408"/>
            <a:ext cx="4059936" cy="310896"/>
          </a:xfrm>
          <a:prstGeom prst="rect">
            <a:avLst/>
          </a:prstGeom>
          <a:noFill/>
          <a:ln/>
        </p:spPr>
        <p:txBody>
          <a:bodyPr wrap="square" lIns="0" tIns="0" rIns="0" bIns="0" rtlCol="0" anchor="t"/>
          <a:lstStyle/>
          <a:p>
            <a:pPr algn="l" indent="0" marL="0">
              <a:buNone/>
            </a:pPr>
            <a:r>
              <a:rPr lang="en-US" sz="990" dirty="0">
                <a:solidFill>
                  <a:srgbClr val="0F172A"/>
                </a:solidFill>
                <a:latin typeface="Arial" pitchFamily="34" charset="0"/>
                <a:ea typeface="Arial" pitchFamily="34" charset="-122"/>
                <a:cs typeface="Arial" pitchFamily="34" charset="-120"/>
              </a:rPr>
              <a:t>The component needs server data because it is present; the remote server is the external system.</a:t>
            </a:r>
            <a:endParaRPr lang="en-US" sz="990" dirty="0"/>
          </a:p>
        </p:txBody>
      </p:sp>
      <p:sp>
        <p:nvSpPr>
          <p:cNvPr id="17" name="effect-model"/>
          <p:cNvSpPr/>
          <p:nvPr/>
        </p:nvSpPr>
        <p:spPr>
          <a:xfrm>
            <a:off x="1828800" y="4078224"/>
            <a:ext cx="5376672" cy="420624"/>
          </a:xfrm>
          <a:prstGeom prst="roundRect">
            <a:avLst/>
          </a:prstGeom>
          <a:solidFill>
            <a:srgbClr val="EFF6FF"/>
          </a:solidFill>
          <a:ln w="12700">
            <a:solidFill>
              <a:srgbClr val="BFDBFE"/>
            </a:solidFill>
            <a:prstDash val="solid"/>
          </a:ln>
        </p:spPr>
      </p:sp>
      <p:sp>
        <p:nvSpPr>
          <p:cNvPr id="18" name="body-text"/>
          <p:cNvSpPr/>
          <p:nvPr/>
        </p:nvSpPr>
        <p:spPr>
          <a:xfrm>
            <a:off x="2011680" y="4178808"/>
            <a:ext cx="5010912" cy="201168"/>
          </a:xfrm>
          <a:prstGeom prst="rect">
            <a:avLst/>
          </a:prstGeom>
          <a:noFill/>
          <a:ln/>
        </p:spPr>
        <p:txBody>
          <a:bodyPr wrap="square" lIns="0" tIns="0" rIns="0" bIns="0" rtlCol="0" anchor="t"/>
          <a:lstStyle/>
          <a:p>
            <a:pPr algn="ctr" indent="0" marL="0">
              <a:buNone/>
            </a:pPr>
            <a:r>
              <a:rPr lang="en-US" sz="990" b="1" dirty="0">
                <a:solidFill>
                  <a:srgbClr val="1E3A8A"/>
                </a:solidFill>
                <a:latin typeface="Arial" pitchFamily="34" charset="0"/>
                <a:ea typeface="Arial" pitchFamily="34" charset="-122"/>
                <a:cs typeface="Arial" pitchFamily="34" charset="-120"/>
              </a:rPr>
              <a:t>External system changed: browser visibility is now a remote server. The Effect model did not change.</a:t>
            </a:r>
            <a:endParaRPr lang="en-US" sz="99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Async work inside an Effect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body-text"/>
          <p:cNvSpPr/>
          <p:nvPr/>
        </p:nvSpPr>
        <p:spPr>
          <a:xfrm>
            <a:off x="621792" y="914400"/>
            <a:ext cx="7534656" cy="310896"/>
          </a:xfrm>
          <a:prstGeom prst="rect">
            <a:avLst/>
          </a:prstGeom>
          <a:noFill/>
          <a:ln/>
        </p:spPr>
        <p:txBody>
          <a:bodyPr wrap="square" lIns="0" tIns="0" rIns="0" bIns="0" rtlCol="0" anchor="t"/>
          <a:lstStyle/>
          <a:p>
            <a:pPr algn="l" indent="0" marL="0">
              <a:buNone/>
            </a:pPr>
            <a:r>
              <a:rPr lang="en-US" sz="1210" b="1" dirty="0">
                <a:solidFill>
                  <a:srgbClr val="0F172A"/>
                </a:solidFill>
                <a:latin typeface="Arial" pitchFamily="34" charset="0"/>
                <a:ea typeface="Arial" pitchFamily="34" charset="-122"/>
                <a:cs typeface="Arial" pitchFamily="34" charset="-120"/>
              </a:rPr>
              <a:t>The request needs await, but the Effect setup function has its own return contract.</a:t>
            </a:r>
            <a:endParaRPr lang="en-US" sz="1210" dirty="0"/>
          </a:p>
        </p:txBody>
      </p:sp>
      <p:sp>
        <p:nvSpPr>
          <p:cNvPr id="5" name="incorrect-panel"/>
          <p:cNvSpPr/>
          <p:nvPr/>
        </p:nvSpPr>
        <p:spPr>
          <a:xfrm>
            <a:off x="621792" y="1389888"/>
            <a:ext cx="3675888" cy="2487168"/>
          </a:xfrm>
          <a:prstGeom prst="roundRect">
            <a:avLst/>
          </a:prstGeom>
          <a:solidFill>
            <a:srgbClr val="FEE2E2"/>
          </a:solidFill>
          <a:ln w="12700">
            <a:solidFill>
              <a:srgbClr val="FCA5A5"/>
            </a:solidFill>
            <a:prstDash val="solid"/>
          </a:ln>
        </p:spPr>
      </p:sp>
      <p:sp>
        <p:nvSpPr>
          <p:cNvPr id="6" name="label"/>
          <p:cNvSpPr/>
          <p:nvPr/>
        </p:nvSpPr>
        <p:spPr>
          <a:xfrm>
            <a:off x="804672" y="1554480"/>
            <a:ext cx="2011680" cy="219456"/>
          </a:xfrm>
          <a:prstGeom prst="rect">
            <a:avLst/>
          </a:prstGeom>
          <a:noFill/>
          <a:ln/>
        </p:spPr>
        <p:txBody>
          <a:bodyPr wrap="square" lIns="0" tIns="0" rIns="0" bIns="0" rtlCol="0" anchor="ctr"/>
          <a:lstStyle/>
          <a:p>
            <a:pPr algn="l" indent="0" marL="0">
              <a:buNone/>
            </a:pPr>
            <a:r>
              <a:rPr lang="en-US" sz="1050" b="1" dirty="0">
                <a:solidFill>
                  <a:srgbClr val="991B1B"/>
                </a:solidFill>
                <a:latin typeface="Arial" pitchFamily="34" charset="0"/>
                <a:ea typeface="Arial" pitchFamily="34" charset="-122"/>
                <a:cs typeface="Arial" pitchFamily="34" charset="-120"/>
              </a:rPr>
              <a:t>Tempting, but incorrect</a:t>
            </a:r>
            <a:endParaRPr lang="en-US" sz="1050" dirty="0"/>
          </a:p>
        </p:txBody>
      </p:sp>
      <p:sp>
        <p:nvSpPr>
          <p:cNvPr id="7" name="incorrect-code"/>
          <p:cNvSpPr/>
          <p:nvPr/>
        </p:nvSpPr>
        <p:spPr>
          <a:xfrm>
            <a:off x="804672" y="1874520"/>
            <a:ext cx="3310128" cy="159105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useEffect(async () =&gt;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const response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await axios.get&lt;Feedback[]&gt;(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feedbackUrl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p:txBody>
      </p:sp>
      <p:sp>
        <p:nvSpPr>
          <p:cNvPr id="8" name="body-text"/>
          <p:cNvSpPr/>
          <p:nvPr/>
        </p:nvSpPr>
        <p:spPr>
          <a:xfrm>
            <a:off x="804672" y="3547872"/>
            <a:ext cx="3310128" cy="201168"/>
          </a:xfrm>
          <a:prstGeom prst="rect">
            <a:avLst/>
          </a:prstGeom>
          <a:noFill/>
          <a:ln/>
        </p:spPr>
        <p:txBody>
          <a:bodyPr wrap="square" lIns="0" tIns="0" rIns="0" bIns="0" rtlCol="0" anchor="t"/>
          <a:lstStyle/>
          <a:p>
            <a:pPr algn="l" indent="0" marL="0">
              <a:buNone/>
            </a:pPr>
            <a:r>
              <a:rPr lang="en-US" sz="1020" b="1" dirty="0">
                <a:solidFill>
                  <a:srgbClr val="991B1B"/>
                </a:solidFill>
                <a:latin typeface="Arial" pitchFamily="34" charset="0"/>
                <a:ea typeface="Arial" pitchFamily="34" charset="-122"/>
                <a:cs typeface="Arial" pitchFamily="34" charset="-120"/>
              </a:rPr>
              <a:t>An async function returns a Promise.</a:t>
            </a:r>
            <a:endParaRPr lang="en-US" sz="1020" dirty="0"/>
          </a:p>
        </p:txBody>
      </p:sp>
      <p:sp>
        <p:nvSpPr>
          <p:cNvPr id="9" name="correct-panel"/>
          <p:cNvSpPr/>
          <p:nvPr/>
        </p:nvSpPr>
        <p:spPr>
          <a:xfrm>
            <a:off x="4480560" y="1389888"/>
            <a:ext cx="3675888" cy="2487168"/>
          </a:xfrm>
          <a:prstGeom prst="roundRect">
            <a:avLst/>
          </a:prstGeom>
          <a:solidFill>
            <a:srgbClr val="DCFCE7"/>
          </a:solidFill>
          <a:ln w="12700">
            <a:solidFill>
              <a:srgbClr val="86EFAC"/>
            </a:solidFill>
            <a:prstDash val="solid"/>
          </a:ln>
        </p:spPr>
      </p:sp>
      <p:sp>
        <p:nvSpPr>
          <p:cNvPr id="10" name="label"/>
          <p:cNvSpPr/>
          <p:nvPr/>
        </p:nvSpPr>
        <p:spPr>
          <a:xfrm>
            <a:off x="4663440" y="1554480"/>
            <a:ext cx="2011680" cy="219456"/>
          </a:xfrm>
          <a:prstGeom prst="rect">
            <a:avLst/>
          </a:prstGeom>
          <a:noFill/>
          <a:ln/>
        </p:spPr>
        <p:txBody>
          <a:bodyPr wrap="square" lIns="0" tIns="0" rIns="0" bIns="0" rtlCol="0" anchor="ctr"/>
          <a:lstStyle/>
          <a:p>
            <a:pPr algn="l" indent="0" marL="0">
              <a:buNone/>
            </a:pPr>
            <a:r>
              <a:rPr lang="en-US" sz="1050" b="1" dirty="0">
                <a:solidFill>
                  <a:srgbClr val="166534"/>
                </a:solidFill>
                <a:latin typeface="Arial" pitchFamily="34" charset="0"/>
                <a:ea typeface="Arial" pitchFamily="34" charset="-122"/>
                <a:cs typeface="Arial" pitchFamily="34" charset="-120"/>
              </a:rPr>
              <a:t>Keep setup synchronous</a:t>
            </a:r>
            <a:endParaRPr lang="en-US" sz="1050" dirty="0"/>
          </a:p>
        </p:txBody>
      </p:sp>
      <p:sp>
        <p:nvSpPr>
          <p:cNvPr id="11" name="correct-code"/>
          <p:cNvSpPr/>
          <p:nvPr/>
        </p:nvSpPr>
        <p:spPr>
          <a:xfrm>
            <a:off x="4663440" y="1874520"/>
            <a:ext cx="3310128" cy="171907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85" dirty="0">
                <a:solidFill>
                  <a:srgbClr val="FFFFFF"/>
                </a:solidFill>
                <a:latin typeface="Courier New" pitchFamily="34" charset="0"/>
                <a:ea typeface="Courier New" pitchFamily="34" charset="-122"/>
                <a:cs typeface="Courier New" pitchFamily="34" charset="-120"/>
              </a:rPr>
              <a:t>useEffect(() =&gt; {</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async function loadFeedback() {</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const response =</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await axios.get&lt;Feedback[]&gt;(</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feedbackUrl</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a:t>
            </a:r>
            <a:endParaRPr lang="en-US" sz="985" dirty="0"/>
          </a:p>
          <a:p>
            <a:pPr indent="0" marL="0">
              <a:buNone/>
            </a:pP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loadFeedback();</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a:t>
            </a:r>
            <a:endParaRPr lang="en-US" sz="985" dirty="0"/>
          </a:p>
        </p:txBody>
      </p:sp>
      <p:sp>
        <p:nvSpPr>
          <p:cNvPr id="12" name="body-text"/>
          <p:cNvSpPr/>
          <p:nvPr/>
        </p:nvSpPr>
        <p:spPr>
          <a:xfrm>
            <a:off x="4663440" y="3657600"/>
            <a:ext cx="3310128" cy="164592"/>
          </a:xfrm>
          <a:prstGeom prst="rect">
            <a:avLst/>
          </a:prstGeom>
          <a:noFill/>
          <a:ln/>
        </p:spPr>
        <p:txBody>
          <a:bodyPr wrap="square" lIns="0" tIns="0" rIns="0" bIns="0" rtlCol="0" anchor="t"/>
          <a:lstStyle/>
          <a:p>
            <a:pPr algn="ctr" indent="0" marL="0">
              <a:buNone/>
            </a:pPr>
            <a:r>
              <a:rPr lang="en-US" sz="880" b="1" dirty="0">
                <a:solidFill>
                  <a:srgbClr val="166534"/>
                </a:solidFill>
                <a:latin typeface="Arial" pitchFamily="34" charset="0"/>
                <a:ea typeface="Arial" pitchFamily="34" charset="-122"/>
                <a:cs typeface="Arial" pitchFamily="34" charset="-120"/>
              </a:rPr>
              <a:t>Setup stays synchronous. loadFeedback handles async work.</a:t>
            </a:r>
            <a:endParaRPr lang="en-US" sz="880" dirty="0"/>
          </a:p>
        </p:txBody>
      </p:sp>
      <p:sp>
        <p:nvSpPr>
          <p:cNvPr id="13" name="strip-Dependency check"/>
          <p:cNvSpPr/>
          <p:nvPr/>
        </p:nvSpPr>
        <p:spPr>
          <a:xfrm>
            <a:off x="1188720" y="4133088"/>
            <a:ext cx="6400800" cy="420624"/>
          </a:xfrm>
          <a:prstGeom prst="roundRect">
            <a:avLst/>
          </a:prstGeom>
          <a:solidFill>
            <a:srgbClr val="EFF6FF"/>
          </a:solidFill>
          <a:ln w="12700">
            <a:solidFill>
              <a:srgbClr val="EFF6FF"/>
            </a:solidFill>
            <a:prstDash val="solid"/>
          </a:ln>
        </p:spPr>
      </p:sp>
      <p:sp>
        <p:nvSpPr>
          <p:cNvPr id="14" name="strip-text-Dependency check"/>
          <p:cNvSpPr/>
          <p:nvPr/>
        </p:nvSpPr>
        <p:spPr>
          <a:xfrm>
            <a:off x="1335024" y="4233672"/>
            <a:ext cx="6108192" cy="237744"/>
          </a:xfrm>
          <a:prstGeom prst="rect">
            <a:avLst/>
          </a:prstGeom>
          <a:noFill/>
          <a:ln/>
        </p:spPr>
        <p:txBody>
          <a:bodyPr wrap="square" lIns="0" tIns="0" rIns="0" bIns="0" rtlCol="0" anchor="t"/>
          <a:lstStyle/>
          <a:p>
            <a:pPr indent="0" marL="0">
              <a:buNone/>
            </a:pPr>
            <a:r>
              <a:rPr lang="en-US" sz="1030" b="1" dirty="0">
                <a:solidFill>
                  <a:srgbClr val="1E3A8A"/>
                </a:solidFill>
                <a:latin typeface="Arial" pitchFamily="34" charset="0"/>
                <a:ea typeface="Arial" pitchFamily="34" charset="-122"/>
                <a:cs typeface="Arial" pitchFamily="34" charset="-120"/>
              </a:rPr>
              <a:t>Dependency check  </a:t>
            </a:r>
            <a:pPr indent="0" marL="0">
              <a:buNone/>
            </a:pPr>
            <a:r>
              <a:rPr lang="en-US" sz="1030" dirty="0">
                <a:solidFill>
                  <a:srgbClr val="0F172A"/>
                </a:solidFill>
                <a:latin typeface="Arial" pitchFamily="34" charset="0"/>
                <a:ea typeface="Arial" pitchFamily="34" charset="-122"/>
                <a:cs typeface="Arial" pitchFamily="34" charset="-120"/>
              </a:rPr>
              <a:t>feedbackUrl is defined outside the component, so this Effect reads no changing props or state and keeps [].</a:t>
            </a:r>
            <a:endParaRPr lang="en-US" sz="103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Store the response data</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store-response-code"/>
          <p:cNvSpPr/>
          <p:nvPr/>
        </p:nvSpPr>
        <p:spPr>
          <a:xfrm>
            <a:off x="658368" y="987552"/>
            <a:ext cx="4736592" cy="323697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85" dirty="0">
                <a:solidFill>
                  <a:srgbClr val="FFFFFF"/>
                </a:solidFill>
                <a:latin typeface="Courier New" pitchFamily="34" charset="0"/>
                <a:ea typeface="Courier New" pitchFamily="34" charset="-122"/>
                <a:cs typeface="Courier New" pitchFamily="34" charset="-120"/>
              </a:rPr>
              <a:t>const [feedbackItems, setFeedbackItems] =</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useState&lt;Feedback[]&gt;([]);</a:t>
            </a:r>
            <a:endParaRPr lang="en-US" sz="985" dirty="0"/>
          </a:p>
          <a:p>
            <a:pPr indent="0" marL="0">
              <a:buNone/>
            </a:pP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useEffect(() =&gt; {</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async function loadFeedback() {</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const response =</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await axios.get&lt;Feedback[]&gt;(feedbackUrl);</a:t>
            </a:r>
            <a:endParaRPr lang="en-US" sz="985" dirty="0"/>
          </a:p>
          <a:p>
            <a:pPr indent="0" marL="0">
              <a:buNone/>
            </a:pP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setFeedbackItems(response.data);</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a:t>
            </a:r>
            <a:endParaRPr lang="en-US" sz="985" dirty="0"/>
          </a:p>
          <a:p>
            <a:pPr indent="0" marL="0">
              <a:buNone/>
            </a:pP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loadFeedback();</a:t>
            </a:r>
            <a:endParaRPr lang="en-US" sz="985" dirty="0"/>
          </a:p>
          <a:p>
            <a:pPr indent="0" marL="0">
              <a:buNone/>
            </a:pPr>
            <a:r>
              <a:rPr lang="en-US" sz="985" dirty="0">
                <a:solidFill>
                  <a:srgbClr val="FFFFFF"/>
                </a:solidFill>
                <a:latin typeface="Courier New" pitchFamily="34" charset="0"/>
                <a:ea typeface="Courier New" pitchFamily="34" charset="-122"/>
                <a:cs typeface="Courier New" pitchFamily="34" charset="-120"/>
              </a:rPr>
              <a:t>}, []);</a:t>
            </a:r>
            <a:endParaRPr lang="en-US" sz="985" dirty="0"/>
          </a:p>
        </p:txBody>
      </p:sp>
      <p:sp>
        <p:nvSpPr>
          <p:cNvPr id="5" name="feedback-count-ui"/>
          <p:cNvSpPr/>
          <p:nvPr/>
        </p:nvSpPr>
        <p:spPr>
          <a:xfrm>
            <a:off x="5650992" y="1078992"/>
            <a:ext cx="2395728" cy="2011680"/>
          </a:xfrm>
          <a:prstGeom prst="roundRect">
            <a:avLst/>
          </a:prstGeom>
          <a:solidFill>
            <a:srgbClr val="FFFFFF"/>
          </a:solidFill>
          <a:ln w="12700">
            <a:solidFill>
              <a:srgbClr val="CBD5E1"/>
            </a:solidFill>
            <a:prstDash val="solid"/>
          </a:ln>
        </p:spPr>
      </p:sp>
      <p:sp>
        <p:nvSpPr>
          <p:cNvPr id="6" name="feedback-count-ui-bar"/>
          <p:cNvSpPr/>
          <p:nvPr/>
        </p:nvSpPr>
        <p:spPr>
          <a:xfrm>
            <a:off x="5650992" y="1078992"/>
            <a:ext cx="2395728" cy="310896"/>
          </a:xfrm>
          <a:prstGeom prst="rect">
            <a:avLst/>
          </a:prstGeom>
          <a:solidFill>
            <a:srgbClr val="F8FAFC"/>
          </a:solidFill>
          <a:ln w="8890">
            <a:solidFill>
              <a:srgbClr val="CBD5E1"/>
            </a:solidFill>
            <a:prstDash val="solid"/>
          </a:ln>
        </p:spPr>
      </p:sp>
      <p:sp>
        <p:nvSpPr>
          <p:cNvPr id="7" name="feedback-count-ui-dot0"/>
          <p:cNvSpPr/>
          <p:nvPr/>
        </p:nvSpPr>
        <p:spPr>
          <a:xfrm>
            <a:off x="5760720" y="1188720"/>
            <a:ext cx="73152" cy="73152"/>
          </a:xfrm>
          <a:prstGeom prst="ellipse">
            <a:avLst/>
          </a:prstGeom>
          <a:solidFill>
            <a:srgbClr val="F87171"/>
          </a:solidFill>
          <a:ln w="12700">
            <a:solidFill>
              <a:srgbClr val="F87171"/>
            </a:solidFill>
            <a:prstDash val="solid"/>
          </a:ln>
        </p:spPr>
      </p:sp>
      <p:sp>
        <p:nvSpPr>
          <p:cNvPr id="8" name="feedback-count-ui-dot1"/>
          <p:cNvSpPr/>
          <p:nvPr/>
        </p:nvSpPr>
        <p:spPr>
          <a:xfrm>
            <a:off x="5879592" y="1188720"/>
            <a:ext cx="73152" cy="73152"/>
          </a:xfrm>
          <a:prstGeom prst="ellipse">
            <a:avLst/>
          </a:prstGeom>
          <a:solidFill>
            <a:srgbClr val="FBBF24"/>
          </a:solidFill>
          <a:ln w="12700">
            <a:solidFill>
              <a:srgbClr val="FBBF24"/>
            </a:solidFill>
            <a:prstDash val="solid"/>
          </a:ln>
        </p:spPr>
      </p:sp>
      <p:sp>
        <p:nvSpPr>
          <p:cNvPr id="9" name="feedback-count-ui-dot2"/>
          <p:cNvSpPr/>
          <p:nvPr/>
        </p:nvSpPr>
        <p:spPr>
          <a:xfrm>
            <a:off x="5998464" y="1188720"/>
            <a:ext cx="73152" cy="73152"/>
          </a:xfrm>
          <a:prstGeom prst="ellipse">
            <a:avLst/>
          </a:prstGeom>
          <a:solidFill>
            <a:srgbClr val="34D399"/>
          </a:solidFill>
          <a:ln w="12700">
            <a:solidFill>
              <a:srgbClr val="34D399"/>
            </a:solidFill>
            <a:prstDash val="solid"/>
          </a:ln>
        </p:spPr>
      </p:sp>
      <p:sp>
        <p:nvSpPr>
          <p:cNvPr id="10" name="feedback-count-ui-title"/>
          <p:cNvSpPr/>
          <p:nvPr/>
        </p:nvSpPr>
        <p:spPr>
          <a:xfrm>
            <a:off x="6181344" y="1147572"/>
            <a:ext cx="1737360"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Feedback Inbox</a:t>
            </a:r>
            <a:endParaRPr lang="en-US" sz="920" dirty="0"/>
          </a:p>
        </p:txBody>
      </p:sp>
      <p:sp>
        <p:nvSpPr>
          <p:cNvPr id="11" name="body-text"/>
          <p:cNvSpPr/>
          <p:nvPr/>
        </p:nvSpPr>
        <p:spPr>
          <a:xfrm>
            <a:off x="5907024" y="1755648"/>
            <a:ext cx="1261872" cy="201168"/>
          </a:xfrm>
          <a:prstGeom prst="rect">
            <a:avLst/>
          </a:prstGeom>
          <a:noFill/>
          <a:ln/>
        </p:spPr>
        <p:txBody>
          <a:bodyPr wrap="square" lIns="0" tIns="0" rIns="0" bIns="0" rtlCol="0" anchor="t"/>
          <a:lstStyle/>
          <a:p>
            <a:pPr algn="l" indent="0" marL="0">
              <a:buNone/>
            </a:pPr>
            <a:r>
              <a:rPr lang="en-US" sz="1000" dirty="0">
                <a:solidFill>
                  <a:srgbClr val="475569"/>
                </a:solidFill>
                <a:latin typeface="Arial" pitchFamily="34" charset="0"/>
                <a:ea typeface="Arial" pitchFamily="34" charset="-122"/>
                <a:cs typeface="Arial" pitchFamily="34" charset="-120"/>
              </a:rPr>
              <a:t>Loaded feedback:</a:t>
            </a:r>
            <a:endParaRPr lang="en-US" sz="1000" dirty="0"/>
          </a:p>
        </p:txBody>
      </p:sp>
      <p:sp>
        <p:nvSpPr>
          <p:cNvPr id="12" name="pill"/>
          <p:cNvSpPr/>
          <p:nvPr/>
        </p:nvSpPr>
        <p:spPr>
          <a:xfrm>
            <a:off x="7242048" y="1700784"/>
            <a:ext cx="420624" cy="274320"/>
          </a:xfrm>
          <a:prstGeom prst="rect">
            <a:avLst/>
          </a:prstGeom>
          <a:solidFill>
            <a:srgbClr val="EFF6FF"/>
          </a:solidFill>
          <a:ln w="10160">
            <a:solidFill>
              <a:srgbClr val="EFF6FF"/>
            </a:solidFill>
          </a:ln>
        </p:spPr>
        <p:txBody>
          <a:bodyPr wrap="square" lIns="635" tIns="1270" rIns="1270" bIns="635" rtlCol="0" anchor="ctr"/>
          <a:lstStyle/>
          <a:p>
            <a:pPr algn="ctr" indent="0" marL="0">
              <a:buNone/>
            </a:pPr>
            <a:r>
              <a:rPr lang="en-US" sz="1000" b="1" dirty="0">
                <a:solidFill>
                  <a:srgbClr val="1E3A8A"/>
                </a:solidFill>
                <a:latin typeface="Arial" pitchFamily="34" charset="0"/>
                <a:ea typeface="Arial" pitchFamily="34" charset="-122"/>
                <a:cs typeface="Arial" pitchFamily="34" charset="-120"/>
              </a:rPr>
              <a:t>0</a:t>
            </a:r>
            <a:endParaRPr lang="en-US" sz="1000" dirty="0"/>
          </a:p>
        </p:txBody>
      </p:sp>
      <p:sp>
        <p:nvSpPr>
          <p:cNvPr id="13" name="connector"/>
          <p:cNvSpPr/>
          <p:nvPr/>
        </p:nvSpPr>
        <p:spPr>
          <a:xfrm>
            <a:off x="6784848" y="2212848"/>
            <a:ext cx="0" cy="420624"/>
          </a:xfrm>
          <a:prstGeom prst="line">
            <a:avLst/>
          </a:prstGeom>
          <a:noFill/>
          <a:ln w="19050">
            <a:solidFill>
              <a:srgbClr val="64748B"/>
            </a:solidFill>
            <a:prstDash val="solid"/>
            <a:tailEnd type="triangle"/>
          </a:ln>
        </p:spPr>
      </p:sp>
      <p:sp>
        <p:nvSpPr>
          <p:cNvPr id="14" name="pill"/>
          <p:cNvSpPr/>
          <p:nvPr/>
        </p:nvSpPr>
        <p:spPr>
          <a:xfrm>
            <a:off x="7242048" y="2633472"/>
            <a:ext cx="420624" cy="274320"/>
          </a:xfrm>
          <a:prstGeom prst="rect">
            <a:avLst/>
          </a:prstGeom>
          <a:solidFill>
            <a:srgbClr val="DCFCE7"/>
          </a:solidFill>
          <a:ln w="10160">
            <a:solidFill>
              <a:srgbClr val="DCFCE7"/>
            </a:solidFill>
          </a:ln>
        </p:spPr>
        <p:txBody>
          <a:bodyPr wrap="square" lIns="635" tIns="1270" rIns="1270" bIns="635" rtlCol="0" anchor="ctr"/>
          <a:lstStyle/>
          <a:p>
            <a:pPr algn="ctr" indent="0" marL="0">
              <a:buNone/>
            </a:pPr>
            <a:r>
              <a:rPr lang="en-US" sz="1000" b="1" dirty="0">
                <a:solidFill>
                  <a:srgbClr val="166534"/>
                </a:solidFill>
                <a:latin typeface="Arial" pitchFamily="34" charset="0"/>
                <a:ea typeface="Arial" pitchFamily="34" charset="-122"/>
                <a:cs typeface="Arial" pitchFamily="34" charset="-120"/>
              </a:rPr>
              <a:t>5</a:t>
            </a:r>
            <a:endParaRPr lang="en-US" sz="1000" dirty="0"/>
          </a:p>
        </p:txBody>
      </p:sp>
      <p:sp>
        <p:nvSpPr>
          <p:cNvPr id="15" name="body-text"/>
          <p:cNvSpPr/>
          <p:nvPr/>
        </p:nvSpPr>
        <p:spPr>
          <a:xfrm>
            <a:off x="5907024" y="2688336"/>
            <a:ext cx="1188720" cy="182880"/>
          </a:xfrm>
          <a:prstGeom prst="rect">
            <a:avLst/>
          </a:prstGeom>
          <a:noFill/>
          <a:ln/>
        </p:spPr>
        <p:txBody>
          <a:bodyPr wrap="square" lIns="0" tIns="0" rIns="0" bIns="0" rtlCol="0" anchor="t"/>
          <a:lstStyle/>
          <a:p>
            <a:pPr algn="l" indent="0" marL="0">
              <a:buNone/>
            </a:pPr>
            <a:r>
              <a:rPr lang="en-US" sz="930" dirty="0">
                <a:solidFill>
                  <a:srgbClr val="475569"/>
                </a:solidFill>
                <a:latin typeface="Arial" pitchFamily="34" charset="0"/>
                <a:ea typeface="Arial" pitchFamily="34" charset="-122"/>
                <a:cs typeface="Arial" pitchFamily="34" charset="-120"/>
              </a:rPr>
              <a:t>after response</a:t>
            </a:r>
            <a:endParaRPr lang="en-US" sz="930" dirty="0"/>
          </a:p>
        </p:txBody>
      </p:sp>
      <p:sp>
        <p:nvSpPr>
          <p:cNvPr id="16" name="state-update-result"/>
          <p:cNvSpPr/>
          <p:nvPr/>
        </p:nvSpPr>
        <p:spPr>
          <a:xfrm>
            <a:off x="5650992" y="3364992"/>
            <a:ext cx="2395728" cy="658368"/>
          </a:xfrm>
          <a:prstGeom prst="roundRect">
            <a:avLst/>
          </a:prstGeom>
          <a:solidFill>
            <a:srgbClr val="DCFCE7"/>
          </a:solidFill>
          <a:ln w="12700">
            <a:solidFill>
              <a:srgbClr val="86EFAC"/>
            </a:solidFill>
            <a:prstDash val="solid"/>
          </a:ln>
        </p:spPr>
      </p:sp>
      <p:sp>
        <p:nvSpPr>
          <p:cNvPr id="17" name="state-update-code"/>
          <p:cNvSpPr/>
          <p:nvPr/>
        </p:nvSpPr>
        <p:spPr>
          <a:xfrm>
            <a:off x="5833872" y="3493008"/>
            <a:ext cx="2029968" cy="38404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setFeedbackItems(</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response.data</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p:txBody>
      </p:sp>
      <p:sp>
        <p:nvSpPr>
          <p:cNvPr id="18" name="body-text"/>
          <p:cNvSpPr/>
          <p:nvPr/>
        </p:nvSpPr>
        <p:spPr>
          <a:xfrm>
            <a:off x="841248" y="4315968"/>
            <a:ext cx="7040880" cy="219456"/>
          </a:xfrm>
          <a:prstGeom prst="rect">
            <a:avLst/>
          </a:prstGeom>
          <a:noFill/>
          <a:ln/>
        </p:spPr>
        <p:txBody>
          <a:bodyPr wrap="square" lIns="0" tIns="0" rIns="0" bIns="0" rtlCol="0" anchor="t"/>
          <a:lstStyle/>
          <a:p>
            <a:pPr algn="ctr" indent="0" marL="0">
              <a:buNone/>
            </a:pPr>
            <a:r>
              <a:rPr lang="en-US" sz="1070" b="1" dirty="0">
                <a:solidFill>
                  <a:srgbClr val="1E3A8A"/>
                </a:solidFill>
                <a:latin typeface="Arial" pitchFamily="34" charset="0"/>
                <a:ea typeface="Arial" pitchFamily="34" charset="-122"/>
                <a:cs typeface="Arial" pitchFamily="34" charset="-120"/>
              </a:rPr>
              <a:t>The setter requests the returned Feedback[] as the next state value.</a:t>
            </a:r>
            <a:endParaRPr lang="en-US" sz="107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Trace the first request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EXTERNAL DATA</a:t>
            </a:r>
            <a:endParaRPr lang="en-US" sz="940" dirty="0"/>
          </a:p>
        </p:txBody>
      </p:sp>
      <p:sp>
        <p:nvSpPr>
          <p:cNvPr id="4" name="request-trace-0"/>
          <p:cNvSpPr/>
          <p:nvPr/>
        </p:nvSpPr>
        <p:spPr>
          <a:xfrm>
            <a:off x="713232" y="1225296"/>
            <a:ext cx="2212848" cy="987552"/>
          </a:xfrm>
          <a:prstGeom prst="roundRect">
            <a:avLst/>
          </a:prstGeom>
          <a:solidFill>
            <a:srgbClr val="F8FAFC"/>
          </a:solidFill>
          <a:ln w="12700">
            <a:solidFill>
              <a:srgbClr val="CBD5E1"/>
            </a:solidFill>
            <a:prstDash val="solid"/>
          </a:ln>
        </p:spPr>
      </p:sp>
      <p:sp>
        <p:nvSpPr>
          <p:cNvPr id="5" name="pill"/>
          <p:cNvSpPr/>
          <p:nvPr/>
        </p:nvSpPr>
        <p:spPr>
          <a:xfrm>
            <a:off x="841248" y="1353312"/>
            <a:ext cx="274320"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90" b="1" dirty="0">
                <a:solidFill>
                  <a:srgbClr val="FFFFFF"/>
                </a:solidFill>
                <a:latin typeface="Arial" pitchFamily="34" charset="0"/>
                <a:ea typeface="Arial" pitchFamily="34" charset="-122"/>
                <a:cs typeface="Arial" pitchFamily="34" charset="-120"/>
              </a:rPr>
              <a:t>1</a:t>
            </a:r>
            <a:endParaRPr lang="en-US" sz="890" dirty="0"/>
          </a:p>
        </p:txBody>
      </p:sp>
      <p:sp>
        <p:nvSpPr>
          <p:cNvPr id="6" name="body-text"/>
          <p:cNvSpPr/>
          <p:nvPr/>
        </p:nvSpPr>
        <p:spPr>
          <a:xfrm>
            <a:off x="1243584" y="1335024"/>
            <a:ext cx="1517904" cy="201168"/>
          </a:xfrm>
          <a:prstGeom prst="rect">
            <a:avLst/>
          </a:prstGeom>
          <a:noFill/>
          <a:ln/>
        </p:spPr>
        <p:txBody>
          <a:bodyPr wrap="square" lIns="0" tIns="0" rIns="0" bIns="0" rtlCol="0" anchor="t"/>
          <a:lstStyle/>
          <a:p>
            <a:pPr algn="l" indent="0" marL="0">
              <a:buNone/>
            </a:pPr>
            <a:r>
              <a:rPr lang="en-US" sz="1000" b="1" dirty="0">
                <a:solidFill>
                  <a:srgbClr val="1E3A8A"/>
                </a:solidFill>
                <a:latin typeface="Arial" pitchFamily="34" charset="0"/>
                <a:ea typeface="Arial" pitchFamily="34" charset="-122"/>
                <a:cs typeface="Arial" pitchFamily="34" charset="-120"/>
              </a:rPr>
              <a:t>FeedbackInbox renders</a:t>
            </a:r>
            <a:endParaRPr lang="en-US" sz="1000" dirty="0"/>
          </a:p>
        </p:txBody>
      </p:sp>
      <p:sp>
        <p:nvSpPr>
          <p:cNvPr id="7" name="mini-code"/>
          <p:cNvSpPr/>
          <p:nvPr/>
        </p:nvSpPr>
        <p:spPr>
          <a:xfrm>
            <a:off x="877824" y="1719072"/>
            <a:ext cx="1883664" cy="310896"/>
          </a:xfrm>
          <a:prstGeom prst="rect">
            <a:avLst/>
          </a:prstGeom>
          <a:solidFill>
            <a:srgbClr val="FFFFFF"/>
          </a:solidFill>
          <a:ln w="8890">
            <a:solidFill>
              <a:srgbClr val="CBD5E1"/>
            </a:solidFill>
          </a:ln>
        </p:spPr>
        <p:txBody>
          <a:bodyPr wrap="square" lIns="635" tIns="1270" rIns="1270" bIns="635" rtlCol="0" anchor="ctr"/>
          <a:lstStyle/>
          <a:p>
            <a:pPr algn="ctr" indent="0" marL="0">
              <a:buNone/>
            </a:pPr>
            <a:r>
              <a:rPr lang="en-US" sz="920" dirty="0">
                <a:solidFill>
                  <a:srgbClr val="0F172A"/>
                </a:solidFill>
                <a:latin typeface="Courier New" pitchFamily="34" charset="0"/>
                <a:ea typeface="Courier New" pitchFamily="34" charset="-122"/>
                <a:cs typeface="Courier New" pitchFamily="34" charset="-120"/>
              </a:rPr>
              <a:t>feedbackItems = []</a:t>
            </a:r>
            <a:endParaRPr lang="en-US" sz="920" dirty="0"/>
          </a:p>
        </p:txBody>
      </p:sp>
      <p:sp>
        <p:nvSpPr>
          <p:cNvPr id="8" name="connector"/>
          <p:cNvSpPr/>
          <p:nvPr/>
        </p:nvSpPr>
        <p:spPr>
          <a:xfrm>
            <a:off x="2944368" y="1719072"/>
            <a:ext cx="219456" cy="0"/>
          </a:xfrm>
          <a:prstGeom prst="line">
            <a:avLst/>
          </a:prstGeom>
          <a:noFill/>
          <a:ln w="19050">
            <a:solidFill>
              <a:srgbClr val="64748B"/>
            </a:solidFill>
            <a:prstDash val="solid"/>
            <a:tailEnd type="triangle"/>
          </a:ln>
        </p:spPr>
      </p:sp>
      <p:sp>
        <p:nvSpPr>
          <p:cNvPr id="9" name="request-trace-1"/>
          <p:cNvSpPr/>
          <p:nvPr/>
        </p:nvSpPr>
        <p:spPr>
          <a:xfrm>
            <a:off x="3236976" y="1225296"/>
            <a:ext cx="2212848" cy="987552"/>
          </a:xfrm>
          <a:prstGeom prst="roundRect">
            <a:avLst/>
          </a:prstGeom>
          <a:solidFill>
            <a:srgbClr val="F8FAFC"/>
          </a:solidFill>
          <a:ln w="12700">
            <a:solidFill>
              <a:srgbClr val="CBD5E1"/>
            </a:solidFill>
            <a:prstDash val="solid"/>
          </a:ln>
        </p:spPr>
      </p:sp>
      <p:sp>
        <p:nvSpPr>
          <p:cNvPr id="10" name="pill"/>
          <p:cNvSpPr/>
          <p:nvPr/>
        </p:nvSpPr>
        <p:spPr>
          <a:xfrm>
            <a:off x="3364992" y="1353312"/>
            <a:ext cx="274320"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90" b="1" dirty="0">
                <a:solidFill>
                  <a:srgbClr val="FFFFFF"/>
                </a:solidFill>
                <a:latin typeface="Arial" pitchFamily="34" charset="0"/>
                <a:ea typeface="Arial" pitchFamily="34" charset="-122"/>
                <a:cs typeface="Arial" pitchFamily="34" charset="-120"/>
              </a:rPr>
              <a:t>2</a:t>
            </a:r>
            <a:endParaRPr lang="en-US" sz="890" dirty="0"/>
          </a:p>
        </p:txBody>
      </p:sp>
      <p:sp>
        <p:nvSpPr>
          <p:cNvPr id="11" name="body-text"/>
          <p:cNvSpPr/>
          <p:nvPr/>
        </p:nvSpPr>
        <p:spPr>
          <a:xfrm>
            <a:off x="3767328" y="1335024"/>
            <a:ext cx="1517904" cy="201168"/>
          </a:xfrm>
          <a:prstGeom prst="rect">
            <a:avLst/>
          </a:prstGeom>
          <a:noFill/>
          <a:ln/>
        </p:spPr>
        <p:txBody>
          <a:bodyPr wrap="square" lIns="0" tIns="0" rIns="0" bIns="0" rtlCol="0" anchor="t"/>
          <a:lstStyle/>
          <a:p>
            <a:pPr algn="l" indent="0" marL="0">
              <a:buNone/>
            </a:pPr>
            <a:r>
              <a:rPr lang="en-US" sz="1000" b="1" dirty="0">
                <a:solidFill>
                  <a:srgbClr val="1E3A8A"/>
                </a:solidFill>
                <a:latin typeface="Arial" pitchFamily="34" charset="0"/>
                <a:ea typeface="Arial" pitchFamily="34" charset="-122"/>
                <a:cs typeface="Arial" pitchFamily="34" charset="-120"/>
              </a:rPr>
              <a:t>Effect runs</a:t>
            </a:r>
            <a:endParaRPr lang="en-US" sz="1000" dirty="0"/>
          </a:p>
        </p:txBody>
      </p:sp>
      <p:sp>
        <p:nvSpPr>
          <p:cNvPr id="12" name="mini-code"/>
          <p:cNvSpPr/>
          <p:nvPr/>
        </p:nvSpPr>
        <p:spPr>
          <a:xfrm>
            <a:off x="3401568" y="1719072"/>
            <a:ext cx="1883664" cy="310896"/>
          </a:xfrm>
          <a:prstGeom prst="rect">
            <a:avLst/>
          </a:prstGeom>
          <a:solidFill>
            <a:srgbClr val="FFFFFF"/>
          </a:solidFill>
          <a:ln w="8890">
            <a:solidFill>
              <a:srgbClr val="CBD5E1"/>
            </a:solidFill>
          </a:ln>
        </p:spPr>
        <p:txBody>
          <a:bodyPr wrap="square" lIns="635" tIns="1270" rIns="1270" bIns="635" rtlCol="0" anchor="ctr"/>
          <a:lstStyle/>
          <a:p>
            <a:pPr algn="ctr" indent="0" marL="0">
              <a:buNone/>
            </a:pPr>
            <a:r>
              <a:rPr lang="en-US" sz="920" dirty="0">
                <a:solidFill>
                  <a:srgbClr val="0F172A"/>
                </a:solidFill>
                <a:latin typeface="Courier New" pitchFamily="34" charset="0"/>
                <a:ea typeface="Courier New" pitchFamily="34" charset="-122"/>
                <a:cs typeface="Courier New" pitchFamily="34" charset="-120"/>
              </a:rPr>
              <a:t>loadFeedback()</a:t>
            </a:r>
            <a:endParaRPr lang="en-US" sz="920" dirty="0"/>
          </a:p>
        </p:txBody>
      </p:sp>
      <p:sp>
        <p:nvSpPr>
          <p:cNvPr id="13" name="connector"/>
          <p:cNvSpPr/>
          <p:nvPr/>
        </p:nvSpPr>
        <p:spPr>
          <a:xfrm>
            <a:off x="5468112" y="1719072"/>
            <a:ext cx="219456" cy="0"/>
          </a:xfrm>
          <a:prstGeom prst="line">
            <a:avLst/>
          </a:prstGeom>
          <a:noFill/>
          <a:ln w="19050">
            <a:solidFill>
              <a:srgbClr val="64748B"/>
            </a:solidFill>
            <a:prstDash val="solid"/>
            <a:tailEnd type="triangle"/>
          </a:ln>
        </p:spPr>
      </p:sp>
      <p:sp>
        <p:nvSpPr>
          <p:cNvPr id="14" name="request-trace-2"/>
          <p:cNvSpPr/>
          <p:nvPr/>
        </p:nvSpPr>
        <p:spPr>
          <a:xfrm>
            <a:off x="5760720" y="1225296"/>
            <a:ext cx="2212848" cy="987552"/>
          </a:xfrm>
          <a:prstGeom prst="roundRect">
            <a:avLst/>
          </a:prstGeom>
          <a:solidFill>
            <a:srgbClr val="F8FAFC"/>
          </a:solidFill>
          <a:ln w="12700">
            <a:solidFill>
              <a:srgbClr val="CBD5E1"/>
            </a:solidFill>
            <a:prstDash val="solid"/>
          </a:ln>
        </p:spPr>
      </p:sp>
      <p:sp>
        <p:nvSpPr>
          <p:cNvPr id="15" name="pill"/>
          <p:cNvSpPr/>
          <p:nvPr/>
        </p:nvSpPr>
        <p:spPr>
          <a:xfrm>
            <a:off x="5888736" y="1353312"/>
            <a:ext cx="274320"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90" b="1" dirty="0">
                <a:solidFill>
                  <a:srgbClr val="FFFFFF"/>
                </a:solidFill>
                <a:latin typeface="Arial" pitchFamily="34" charset="0"/>
                <a:ea typeface="Arial" pitchFamily="34" charset="-122"/>
                <a:cs typeface="Arial" pitchFamily="34" charset="-120"/>
              </a:rPr>
              <a:t>3</a:t>
            </a:r>
            <a:endParaRPr lang="en-US" sz="890" dirty="0"/>
          </a:p>
        </p:txBody>
      </p:sp>
      <p:sp>
        <p:nvSpPr>
          <p:cNvPr id="16" name="body-text"/>
          <p:cNvSpPr/>
          <p:nvPr/>
        </p:nvSpPr>
        <p:spPr>
          <a:xfrm>
            <a:off x="6291072" y="1335024"/>
            <a:ext cx="1517904" cy="201168"/>
          </a:xfrm>
          <a:prstGeom prst="rect">
            <a:avLst/>
          </a:prstGeom>
          <a:noFill/>
          <a:ln/>
        </p:spPr>
        <p:txBody>
          <a:bodyPr wrap="square" lIns="0" tIns="0" rIns="0" bIns="0" rtlCol="0" anchor="t"/>
          <a:lstStyle/>
          <a:p>
            <a:pPr algn="l" indent="0" marL="0">
              <a:buNone/>
            </a:pPr>
            <a:r>
              <a:rPr lang="en-US" sz="1000" b="1" dirty="0">
                <a:solidFill>
                  <a:srgbClr val="1E3A8A"/>
                </a:solidFill>
                <a:latin typeface="Arial" pitchFamily="34" charset="0"/>
                <a:ea typeface="Arial" pitchFamily="34" charset="-122"/>
                <a:cs typeface="Arial" pitchFamily="34" charset="-120"/>
              </a:rPr>
              <a:t>Axios sends GET</a:t>
            </a:r>
            <a:endParaRPr lang="en-US" sz="1000" dirty="0"/>
          </a:p>
        </p:txBody>
      </p:sp>
      <p:sp>
        <p:nvSpPr>
          <p:cNvPr id="17" name="mini-code"/>
          <p:cNvSpPr/>
          <p:nvPr/>
        </p:nvSpPr>
        <p:spPr>
          <a:xfrm>
            <a:off x="5925312" y="1719072"/>
            <a:ext cx="1883664" cy="310896"/>
          </a:xfrm>
          <a:prstGeom prst="rect">
            <a:avLst/>
          </a:prstGeom>
          <a:solidFill>
            <a:srgbClr val="FFFFFF"/>
          </a:solidFill>
          <a:ln w="8890">
            <a:solidFill>
              <a:srgbClr val="CBD5E1"/>
            </a:solidFill>
          </a:ln>
        </p:spPr>
        <p:txBody>
          <a:bodyPr wrap="square" lIns="635" tIns="1270" rIns="1270" bIns="635" rtlCol="0" anchor="ctr"/>
          <a:lstStyle/>
          <a:p>
            <a:pPr algn="ctr" indent="0" marL="0">
              <a:buNone/>
            </a:pPr>
            <a:r>
              <a:rPr lang="en-US" sz="920" dirty="0">
                <a:solidFill>
                  <a:srgbClr val="0F172A"/>
                </a:solidFill>
                <a:latin typeface="Courier New" pitchFamily="34" charset="0"/>
                <a:ea typeface="Courier New" pitchFamily="34" charset="-122"/>
                <a:cs typeface="Courier New" pitchFamily="34" charset="-120"/>
              </a:rPr>
              <a:t>axios.get&lt;Feedback[]&gt;(...)</a:t>
            </a:r>
            <a:endParaRPr lang="en-US" sz="920" dirty="0"/>
          </a:p>
        </p:txBody>
      </p:sp>
      <p:sp>
        <p:nvSpPr>
          <p:cNvPr id="18" name="connector"/>
          <p:cNvSpPr/>
          <p:nvPr/>
        </p:nvSpPr>
        <p:spPr>
          <a:xfrm>
            <a:off x="6858000" y="2249424"/>
            <a:ext cx="0" cy="201168"/>
          </a:xfrm>
          <a:prstGeom prst="line">
            <a:avLst/>
          </a:prstGeom>
          <a:noFill/>
          <a:ln w="19050">
            <a:solidFill>
              <a:srgbClr val="64748B"/>
            </a:solidFill>
            <a:prstDash val="solid"/>
            <a:tailEnd type="triangle"/>
          </a:ln>
        </p:spPr>
      </p:sp>
      <p:sp>
        <p:nvSpPr>
          <p:cNvPr id="19" name="request-trace-3"/>
          <p:cNvSpPr/>
          <p:nvPr/>
        </p:nvSpPr>
        <p:spPr>
          <a:xfrm>
            <a:off x="713232" y="2523744"/>
            <a:ext cx="2212848" cy="987552"/>
          </a:xfrm>
          <a:prstGeom prst="roundRect">
            <a:avLst/>
          </a:prstGeom>
          <a:solidFill>
            <a:srgbClr val="F8FAFC"/>
          </a:solidFill>
          <a:ln w="12700">
            <a:solidFill>
              <a:srgbClr val="CBD5E1"/>
            </a:solidFill>
            <a:prstDash val="solid"/>
          </a:ln>
        </p:spPr>
      </p:sp>
      <p:sp>
        <p:nvSpPr>
          <p:cNvPr id="20" name="pill"/>
          <p:cNvSpPr/>
          <p:nvPr/>
        </p:nvSpPr>
        <p:spPr>
          <a:xfrm>
            <a:off x="841248" y="2651760"/>
            <a:ext cx="274320"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90" b="1" dirty="0">
                <a:solidFill>
                  <a:srgbClr val="FFFFFF"/>
                </a:solidFill>
                <a:latin typeface="Arial" pitchFamily="34" charset="0"/>
                <a:ea typeface="Arial" pitchFamily="34" charset="-122"/>
                <a:cs typeface="Arial" pitchFamily="34" charset="-120"/>
              </a:rPr>
              <a:t>4</a:t>
            </a:r>
            <a:endParaRPr lang="en-US" sz="890" dirty="0"/>
          </a:p>
        </p:txBody>
      </p:sp>
      <p:sp>
        <p:nvSpPr>
          <p:cNvPr id="21" name="body-text"/>
          <p:cNvSpPr/>
          <p:nvPr/>
        </p:nvSpPr>
        <p:spPr>
          <a:xfrm>
            <a:off x="1243584" y="2633472"/>
            <a:ext cx="1517904" cy="201168"/>
          </a:xfrm>
          <a:prstGeom prst="rect">
            <a:avLst/>
          </a:prstGeom>
          <a:noFill/>
          <a:ln/>
        </p:spPr>
        <p:txBody>
          <a:bodyPr wrap="square" lIns="0" tIns="0" rIns="0" bIns="0" rtlCol="0" anchor="t"/>
          <a:lstStyle/>
          <a:p>
            <a:pPr algn="l" indent="0" marL="0">
              <a:buNone/>
            </a:pPr>
            <a:r>
              <a:rPr lang="en-US" sz="1000" b="1" dirty="0">
                <a:solidFill>
                  <a:srgbClr val="1E3A8A"/>
                </a:solidFill>
                <a:latin typeface="Arial" pitchFamily="34" charset="0"/>
                <a:ea typeface="Arial" pitchFamily="34" charset="-122"/>
                <a:cs typeface="Arial" pitchFamily="34" charset="-120"/>
              </a:rPr>
              <a:t>Server responds</a:t>
            </a:r>
            <a:endParaRPr lang="en-US" sz="1000" dirty="0"/>
          </a:p>
        </p:txBody>
      </p:sp>
      <p:sp>
        <p:nvSpPr>
          <p:cNvPr id="22" name="mini-code"/>
          <p:cNvSpPr/>
          <p:nvPr/>
        </p:nvSpPr>
        <p:spPr>
          <a:xfrm>
            <a:off x="877824" y="3017520"/>
            <a:ext cx="1883664" cy="310896"/>
          </a:xfrm>
          <a:prstGeom prst="rect">
            <a:avLst/>
          </a:prstGeom>
          <a:solidFill>
            <a:srgbClr val="FFFFFF"/>
          </a:solidFill>
          <a:ln w="8890">
            <a:solidFill>
              <a:srgbClr val="CBD5E1"/>
            </a:solidFill>
          </a:ln>
        </p:spPr>
        <p:txBody>
          <a:bodyPr wrap="square" lIns="635" tIns="1270" rIns="1270" bIns="635" rtlCol="0" anchor="ctr"/>
          <a:lstStyle/>
          <a:p>
            <a:pPr algn="ctr" indent="0" marL="0">
              <a:buNone/>
            </a:pPr>
            <a:r>
              <a:rPr lang="en-US" sz="920" dirty="0">
                <a:solidFill>
                  <a:srgbClr val="0F172A"/>
                </a:solidFill>
                <a:latin typeface="Courier New" pitchFamily="34" charset="0"/>
                <a:ea typeface="Courier New" pitchFamily="34" charset="-122"/>
                <a:cs typeface="Courier New" pitchFamily="34" charset="-120"/>
              </a:rPr>
              <a:t>response.data is Feedback[]</a:t>
            </a:r>
            <a:endParaRPr lang="en-US" sz="920" dirty="0"/>
          </a:p>
        </p:txBody>
      </p:sp>
      <p:sp>
        <p:nvSpPr>
          <p:cNvPr id="23" name="connector"/>
          <p:cNvSpPr/>
          <p:nvPr/>
        </p:nvSpPr>
        <p:spPr>
          <a:xfrm>
            <a:off x="2944368" y="3017520"/>
            <a:ext cx="219456" cy="0"/>
          </a:xfrm>
          <a:prstGeom prst="line">
            <a:avLst/>
          </a:prstGeom>
          <a:noFill/>
          <a:ln w="19050">
            <a:solidFill>
              <a:srgbClr val="64748B"/>
            </a:solidFill>
            <a:prstDash val="solid"/>
            <a:tailEnd type="triangle"/>
          </a:ln>
        </p:spPr>
      </p:sp>
      <p:sp>
        <p:nvSpPr>
          <p:cNvPr id="24" name="request-trace-4"/>
          <p:cNvSpPr/>
          <p:nvPr/>
        </p:nvSpPr>
        <p:spPr>
          <a:xfrm>
            <a:off x="3236976" y="2523744"/>
            <a:ext cx="2212848" cy="987552"/>
          </a:xfrm>
          <a:prstGeom prst="roundRect">
            <a:avLst/>
          </a:prstGeom>
          <a:solidFill>
            <a:srgbClr val="F8FAFC"/>
          </a:solidFill>
          <a:ln w="12700">
            <a:solidFill>
              <a:srgbClr val="CBD5E1"/>
            </a:solidFill>
            <a:prstDash val="solid"/>
          </a:ln>
        </p:spPr>
      </p:sp>
      <p:sp>
        <p:nvSpPr>
          <p:cNvPr id="25" name="pill"/>
          <p:cNvSpPr/>
          <p:nvPr/>
        </p:nvSpPr>
        <p:spPr>
          <a:xfrm>
            <a:off x="3364992" y="2651760"/>
            <a:ext cx="274320"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890" b="1" dirty="0">
                <a:solidFill>
                  <a:srgbClr val="FFFFFF"/>
                </a:solidFill>
                <a:latin typeface="Arial" pitchFamily="34" charset="0"/>
                <a:ea typeface="Arial" pitchFamily="34" charset="-122"/>
                <a:cs typeface="Arial" pitchFamily="34" charset="-120"/>
              </a:rPr>
              <a:t>5</a:t>
            </a:r>
            <a:endParaRPr lang="en-US" sz="890" dirty="0"/>
          </a:p>
        </p:txBody>
      </p:sp>
      <p:sp>
        <p:nvSpPr>
          <p:cNvPr id="26" name="body-text"/>
          <p:cNvSpPr/>
          <p:nvPr/>
        </p:nvSpPr>
        <p:spPr>
          <a:xfrm>
            <a:off x="3767328" y="2633472"/>
            <a:ext cx="1517904" cy="201168"/>
          </a:xfrm>
          <a:prstGeom prst="rect">
            <a:avLst/>
          </a:prstGeom>
          <a:noFill/>
          <a:ln/>
        </p:spPr>
        <p:txBody>
          <a:bodyPr wrap="square" lIns="0" tIns="0" rIns="0" bIns="0" rtlCol="0" anchor="t"/>
          <a:lstStyle/>
          <a:p>
            <a:pPr algn="l" indent="0" marL="0">
              <a:buNone/>
            </a:pPr>
            <a:r>
              <a:rPr lang="en-US" sz="1000" b="1" dirty="0">
                <a:solidFill>
                  <a:srgbClr val="1E3A8A"/>
                </a:solidFill>
                <a:latin typeface="Arial" pitchFamily="34" charset="0"/>
                <a:ea typeface="Arial" pitchFamily="34" charset="-122"/>
                <a:cs typeface="Arial" pitchFamily="34" charset="-120"/>
              </a:rPr>
              <a:t>State updates</a:t>
            </a:r>
            <a:endParaRPr lang="en-US" sz="1000" dirty="0"/>
          </a:p>
        </p:txBody>
      </p:sp>
      <p:sp>
        <p:nvSpPr>
          <p:cNvPr id="27" name="mini-code"/>
          <p:cNvSpPr/>
          <p:nvPr/>
        </p:nvSpPr>
        <p:spPr>
          <a:xfrm>
            <a:off x="3401568" y="3017520"/>
            <a:ext cx="1883664" cy="310896"/>
          </a:xfrm>
          <a:prstGeom prst="rect">
            <a:avLst/>
          </a:prstGeom>
          <a:solidFill>
            <a:srgbClr val="FFFFFF"/>
          </a:solidFill>
          <a:ln w="8890">
            <a:solidFill>
              <a:srgbClr val="CBD5E1"/>
            </a:solidFill>
          </a:ln>
        </p:spPr>
        <p:txBody>
          <a:bodyPr wrap="square" lIns="635" tIns="1270" rIns="1270" bIns="635" rtlCol="0" anchor="ctr"/>
          <a:lstStyle/>
          <a:p>
            <a:pPr algn="ctr" indent="0" marL="0">
              <a:buNone/>
            </a:pPr>
            <a:r>
              <a:rPr lang="en-US" sz="920" dirty="0">
                <a:solidFill>
                  <a:srgbClr val="0F172A"/>
                </a:solidFill>
                <a:latin typeface="Courier New" pitchFamily="34" charset="0"/>
                <a:ea typeface="Courier New" pitchFamily="34" charset="-122"/>
                <a:cs typeface="Courier New" pitchFamily="34" charset="-120"/>
              </a:rPr>
              <a:t>setFeedbackItems(response.data)</a:t>
            </a:r>
            <a:endParaRPr lang="en-US" sz="920" dirty="0"/>
          </a:p>
        </p:txBody>
      </p:sp>
      <p:sp>
        <p:nvSpPr>
          <p:cNvPr id="28" name="connector"/>
          <p:cNvSpPr/>
          <p:nvPr/>
        </p:nvSpPr>
        <p:spPr>
          <a:xfrm>
            <a:off x="5468112" y="3017520"/>
            <a:ext cx="219456" cy="0"/>
          </a:xfrm>
          <a:prstGeom prst="line">
            <a:avLst/>
          </a:prstGeom>
          <a:noFill/>
          <a:ln w="19050">
            <a:solidFill>
              <a:srgbClr val="64748B"/>
            </a:solidFill>
            <a:prstDash val="solid"/>
            <a:tailEnd type="triangle"/>
          </a:ln>
        </p:spPr>
      </p:sp>
      <p:sp>
        <p:nvSpPr>
          <p:cNvPr id="29" name="request-trace-5"/>
          <p:cNvSpPr/>
          <p:nvPr/>
        </p:nvSpPr>
        <p:spPr>
          <a:xfrm>
            <a:off x="5760720" y="2523744"/>
            <a:ext cx="2212848" cy="987552"/>
          </a:xfrm>
          <a:prstGeom prst="roundRect">
            <a:avLst/>
          </a:prstGeom>
          <a:solidFill>
            <a:srgbClr val="DCFCE7"/>
          </a:solidFill>
          <a:ln w="12700">
            <a:solidFill>
              <a:srgbClr val="86EFAC"/>
            </a:solidFill>
            <a:prstDash val="solid"/>
          </a:ln>
        </p:spPr>
      </p:sp>
      <p:sp>
        <p:nvSpPr>
          <p:cNvPr id="30" name="pill"/>
          <p:cNvSpPr/>
          <p:nvPr/>
        </p:nvSpPr>
        <p:spPr>
          <a:xfrm>
            <a:off x="5888736" y="2651760"/>
            <a:ext cx="274320" cy="274320"/>
          </a:xfrm>
          <a:prstGeom prst="rect">
            <a:avLst/>
          </a:prstGeom>
          <a:solidFill>
            <a:srgbClr val="166534"/>
          </a:solidFill>
          <a:ln w="10160">
            <a:solidFill>
              <a:srgbClr val="166534"/>
            </a:solidFill>
          </a:ln>
        </p:spPr>
        <p:txBody>
          <a:bodyPr wrap="square" lIns="635" tIns="1270" rIns="1270" bIns="635" rtlCol="0" anchor="ctr"/>
          <a:lstStyle/>
          <a:p>
            <a:pPr algn="ctr" indent="0" marL="0">
              <a:buNone/>
            </a:pPr>
            <a:r>
              <a:rPr lang="en-US" sz="890" b="1" dirty="0">
                <a:solidFill>
                  <a:srgbClr val="FFFFFF"/>
                </a:solidFill>
                <a:latin typeface="Arial" pitchFamily="34" charset="0"/>
                <a:ea typeface="Arial" pitchFamily="34" charset="-122"/>
                <a:cs typeface="Arial" pitchFamily="34" charset="-120"/>
              </a:rPr>
              <a:t>6</a:t>
            </a:r>
            <a:endParaRPr lang="en-US" sz="890" dirty="0"/>
          </a:p>
        </p:txBody>
      </p:sp>
      <p:sp>
        <p:nvSpPr>
          <p:cNvPr id="31" name="body-text"/>
          <p:cNvSpPr/>
          <p:nvPr/>
        </p:nvSpPr>
        <p:spPr>
          <a:xfrm>
            <a:off x="6291072" y="2633472"/>
            <a:ext cx="1517904" cy="201168"/>
          </a:xfrm>
          <a:prstGeom prst="rect">
            <a:avLst/>
          </a:prstGeom>
          <a:noFill/>
          <a:ln/>
        </p:spPr>
        <p:txBody>
          <a:bodyPr wrap="square" lIns="0" tIns="0" rIns="0" bIns="0" rtlCol="0" anchor="t"/>
          <a:lstStyle/>
          <a:p>
            <a:pPr algn="l" indent="0" marL="0">
              <a:buNone/>
            </a:pPr>
            <a:r>
              <a:rPr lang="en-US" sz="1000" b="1" dirty="0">
                <a:solidFill>
                  <a:srgbClr val="166534"/>
                </a:solidFill>
                <a:latin typeface="Arial" pitchFamily="34" charset="0"/>
                <a:ea typeface="Arial" pitchFamily="34" charset="-122"/>
                <a:cs typeface="Arial" pitchFamily="34" charset="-120"/>
              </a:rPr>
              <a:t>React renders again</a:t>
            </a:r>
            <a:endParaRPr lang="en-US" sz="1000" dirty="0"/>
          </a:p>
        </p:txBody>
      </p:sp>
      <p:sp>
        <p:nvSpPr>
          <p:cNvPr id="32" name="mini-code"/>
          <p:cNvSpPr/>
          <p:nvPr/>
        </p:nvSpPr>
        <p:spPr>
          <a:xfrm>
            <a:off x="5925312" y="3017520"/>
            <a:ext cx="1883664" cy="310896"/>
          </a:xfrm>
          <a:prstGeom prst="rect">
            <a:avLst/>
          </a:prstGeom>
          <a:solidFill>
            <a:srgbClr val="FFFFFF"/>
          </a:solidFill>
          <a:ln w="8890">
            <a:solidFill>
              <a:srgbClr val="86EFAC"/>
            </a:solidFill>
          </a:ln>
        </p:spPr>
        <p:txBody>
          <a:bodyPr wrap="square" lIns="635" tIns="1270" rIns="1270" bIns="635" rtlCol="0" anchor="ctr"/>
          <a:lstStyle/>
          <a:p>
            <a:pPr algn="ctr" indent="0" marL="0">
              <a:buNone/>
            </a:pPr>
            <a:r>
              <a:rPr lang="en-US" sz="920" dirty="0">
                <a:solidFill>
                  <a:srgbClr val="0F172A"/>
                </a:solidFill>
                <a:latin typeface="Courier New" pitchFamily="34" charset="0"/>
                <a:ea typeface="Courier New" pitchFamily="34" charset="-122"/>
                <a:cs typeface="Courier New" pitchFamily="34" charset="-120"/>
              </a:rPr>
              <a:t>feedbackItems.length = 5</a:t>
            </a:r>
            <a:endParaRPr lang="en-US" sz="920" dirty="0"/>
          </a:p>
        </p:txBody>
      </p:sp>
      <p:sp>
        <p:nvSpPr>
          <p:cNvPr id="33" name="request-ambiguity"/>
          <p:cNvSpPr/>
          <p:nvPr/>
        </p:nvSpPr>
        <p:spPr>
          <a:xfrm>
            <a:off x="1060704" y="3602736"/>
            <a:ext cx="6766560" cy="786384"/>
          </a:xfrm>
          <a:prstGeom prst="roundRect">
            <a:avLst/>
          </a:prstGeom>
          <a:solidFill>
            <a:srgbClr val="FEF9C3"/>
          </a:solidFill>
          <a:ln w="12700">
            <a:solidFill>
              <a:srgbClr val="FEF9C3"/>
            </a:solidFill>
            <a:prstDash val="solid"/>
          </a:ln>
        </p:spPr>
      </p:sp>
      <p:sp>
        <p:nvSpPr>
          <p:cNvPr id="34" name="body-text"/>
          <p:cNvSpPr/>
          <p:nvPr/>
        </p:nvSpPr>
        <p:spPr>
          <a:xfrm>
            <a:off x="1261872" y="3767328"/>
            <a:ext cx="6400800" cy="182880"/>
          </a:xfrm>
          <a:prstGeom prst="rect">
            <a:avLst/>
          </a:prstGeom>
          <a:noFill/>
          <a:ln/>
        </p:spPr>
        <p:txBody>
          <a:bodyPr wrap="square" lIns="0" tIns="0" rIns="0" bIns="0" rtlCol="0" anchor="t"/>
          <a:lstStyle/>
          <a:p>
            <a:pPr algn="ctr" indent="0" marL="0">
              <a:buNone/>
            </a:pPr>
            <a:r>
              <a:rPr lang="en-US" sz="1020" b="1" dirty="0">
                <a:solidFill>
                  <a:srgbClr val="854D0E"/>
                </a:solidFill>
                <a:latin typeface="Arial" pitchFamily="34" charset="0"/>
                <a:ea typeface="Arial" pitchFamily="34" charset="-122"/>
                <a:cs typeface="Arial" pitchFamily="34" charset="-120"/>
              </a:rPr>
              <a:t>Before the response, the UI also showed “Loaded feedback: 0”.</a:t>
            </a:r>
            <a:endParaRPr lang="en-US" sz="1020" dirty="0"/>
          </a:p>
        </p:txBody>
      </p:sp>
      <p:sp>
        <p:nvSpPr>
          <p:cNvPr id="35" name="body-text"/>
          <p:cNvSpPr/>
          <p:nvPr/>
        </p:nvSpPr>
        <p:spPr>
          <a:xfrm>
            <a:off x="1261872" y="4041648"/>
            <a:ext cx="6400800" cy="201168"/>
          </a:xfrm>
          <a:prstGeom prst="rect">
            <a:avLst/>
          </a:prstGeom>
          <a:noFill/>
          <a:ln/>
        </p:spPr>
        <p:txBody>
          <a:bodyPr wrap="square" lIns="0" tIns="0" rIns="0" bIns="0" rtlCol="0" anchor="t"/>
          <a:lstStyle/>
          <a:p>
            <a:pPr algn="ctr" indent="0" marL="0">
              <a:buNone/>
            </a:pPr>
            <a:r>
              <a:rPr lang="en-US" sz="1050" b="1" dirty="0">
                <a:solidFill>
                  <a:srgbClr val="0F172A"/>
                </a:solidFill>
                <a:latin typeface="Arial" pitchFamily="34" charset="0"/>
                <a:ea typeface="Arial" pitchFamily="34" charset="-122"/>
                <a:cs typeface="Arial" pitchFamily="34" charset="-120"/>
              </a:rPr>
              <a:t>Was the request still running, or did the server successfully return an empty collection?</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What does 0 mean?</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REQUEST STATES</a:t>
            </a:r>
            <a:endParaRPr lang="en-US" sz="940" dirty="0"/>
          </a:p>
        </p:txBody>
      </p:sp>
      <p:sp>
        <p:nvSpPr>
          <p:cNvPr id="4" name="body-text"/>
          <p:cNvSpPr/>
          <p:nvPr/>
        </p:nvSpPr>
        <p:spPr>
          <a:xfrm>
            <a:off x="676656" y="950976"/>
            <a:ext cx="7406640" cy="310896"/>
          </a:xfrm>
          <a:prstGeom prst="rect">
            <a:avLst/>
          </a:prstGeom>
          <a:noFill/>
          <a:ln/>
        </p:spPr>
        <p:txBody>
          <a:bodyPr wrap="square" lIns="0" tIns="0" rIns="0" bIns="0" rtlCol="0" anchor="t"/>
          <a:lstStyle/>
          <a:p>
            <a:pPr algn="l" indent="0" marL="0">
              <a:buNone/>
            </a:pPr>
            <a:r>
              <a:rPr lang="en-US" sz="1210" b="1" dirty="0">
                <a:solidFill>
                  <a:srgbClr val="0F172A"/>
                </a:solidFill>
                <a:latin typeface="Arial" pitchFamily="34" charset="0"/>
                <a:ea typeface="Arial" pitchFamily="34" charset="-122"/>
                <a:cs typeface="Arial" pitchFamily="34" charset="-120"/>
              </a:rPr>
              <a:t>The same UI value can represent two very different situations.</a:t>
            </a:r>
            <a:endParaRPr lang="en-US" sz="1210" dirty="0"/>
          </a:p>
        </p:txBody>
      </p:sp>
      <p:sp>
        <p:nvSpPr>
          <p:cNvPr id="5" name="zero-case-0"/>
          <p:cNvSpPr/>
          <p:nvPr/>
        </p:nvSpPr>
        <p:spPr>
          <a:xfrm>
            <a:off x="932688" y="1517904"/>
            <a:ext cx="3236976" cy="1920240"/>
          </a:xfrm>
          <a:prstGeom prst="roundRect">
            <a:avLst/>
          </a:prstGeom>
          <a:solidFill>
            <a:srgbClr val="FFFFFF"/>
          </a:solidFill>
          <a:ln w="12700">
            <a:solidFill>
              <a:srgbClr val="CBD5E1"/>
            </a:solidFill>
            <a:prstDash val="solid"/>
          </a:ln>
        </p:spPr>
      </p:sp>
      <p:sp>
        <p:nvSpPr>
          <p:cNvPr id="6" name="zero-case-0-bar"/>
          <p:cNvSpPr/>
          <p:nvPr/>
        </p:nvSpPr>
        <p:spPr>
          <a:xfrm>
            <a:off x="932688" y="1517904"/>
            <a:ext cx="3236976" cy="310896"/>
          </a:xfrm>
          <a:prstGeom prst="rect">
            <a:avLst/>
          </a:prstGeom>
          <a:solidFill>
            <a:srgbClr val="F8FAFC"/>
          </a:solidFill>
          <a:ln w="8890">
            <a:solidFill>
              <a:srgbClr val="CBD5E1"/>
            </a:solidFill>
            <a:prstDash val="solid"/>
          </a:ln>
        </p:spPr>
      </p:sp>
      <p:sp>
        <p:nvSpPr>
          <p:cNvPr id="7" name="zero-case-0-dot0"/>
          <p:cNvSpPr/>
          <p:nvPr/>
        </p:nvSpPr>
        <p:spPr>
          <a:xfrm>
            <a:off x="1042416" y="1627632"/>
            <a:ext cx="73152" cy="73152"/>
          </a:xfrm>
          <a:prstGeom prst="ellipse">
            <a:avLst/>
          </a:prstGeom>
          <a:solidFill>
            <a:srgbClr val="F87171"/>
          </a:solidFill>
          <a:ln w="12700">
            <a:solidFill>
              <a:srgbClr val="F87171"/>
            </a:solidFill>
            <a:prstDash val="solid"/>
          </a:ln>
        </p:spPr>
      </p:sp>
      <p:sp>
        <p:nvSpPr>
          <p:cNvPr id="8" name="zero-case-0-dot1"/>
          <p:cNvSpPr/>
          <p:nvPr/>
        </p:nvSpPr>
        <p:spPr>
          <a:xfrm>
            <a:off x="1161288" y="1627632"/>
            <a:ext cx="73152" cy="73152"/>
          </a:xfrm>
          <a:prstGeom prst="ellipse">
            <a:avLst/>
          </a:prstGeom>
          <a:solidFill>
            <a:srgbClr val="FBBF24"/>
          </a:solidFill>
          <a:ln w="12700">
            <a:solidFill>
              <a:srgbClr val="FBBF24"/>
            </a:solidFill>
            <a:prstDash val="solid"/>
          </a:ln>
        </p:spPr>
      </p:sp>
      <p:sp>
        <p:nvSpPr>
          <p:cNvPr id="9" name="zero-case-0-dot2"/>
          <p:cNvSpPr/>
          <p:nvPr/>
        </p:nvSpPr>
        <p:spPr>
          <a:xfrm>
            <a:off x="1280160" y="1627632"/>
            <a:ext cx="73152" cy="73152"/>
          </a:xfrm>
          <a:prstGeom prst="ellipse">
            <a:avLst/>
          </a:prstGeom>
          <a:solidFill>
            <a:srgbClr val="34D399"/>
          </a:solidFill>
          <a:ln w="12700">
            <a:solidFill>
              <a:srgbClr val="34D399"/>
            </a:solidFill>
            <a:prstDash val="solid"/>
          </a:ln>
        </p:spPr>
      </p:sp>
      <p:sp>
        <p:nvSpPr>
          <p:cNvPr id="10" name="zero-case-0-title"/>
          <p:cNvSpPr/>
          <p:nvPr/>
        </p:nvSpPr>
        <p:spPr>
          <a:xfrm>
            <a:off x="1463040" y="1586484"/>
            <a:ext cx="2578608"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Feedback Inbox</a:t>
            </a:r>
            <a:endParaRPr lang="en-US" sz="920" dirty="0"/>
          </a:p>
        </p:txBody>
      </p:sp>
      <p:sp>
        <p:nvSpPr>
          <p:cNvPr id="11" name="body-text"/>
          <p:cNvSpPr/>
          <p:nvPr/>
        </p:nvSpPr>
        <p:spPr>
          <a:xfrm>
            <a:off x="1133856" y="1956816"/>
            <a:ext cx="2834640" cy="201168"/>
          </a:xfrm>
          <a:prstGeom prst="rect">
            <a:avLst/>
          </a:prstGeom>
          <a:noFill/>
          <a:ln/>
        </p:spPr>
        <p:txBody>
          <a:bodyPr wrap="square" lIns="0" tIns="0" rIns="0" bIns="0" rtlCol="0" anchor="t"/>
          <a:lstStyle/>
          <a:p>
            <a:pPr algn="ctr" indent="0" marL="0">
              <a:buNone/>
            </a:pPr>
            <a:r>
              <a:rPr lang="en-US" sz="1020" b="1" dirty="0">
                <a:solidFill>
                  <a:srgbClr val="1E3A8A"/>
                </a:solidFill>
                <a:latin typeface="Arial" pitchFamily="34" charset="0"/>
                <a:ea typeface="Arial" pitchFamily="34" charset="-122"/>
                <a:cs typeface="Arial" pitchFamily="34" charset="-120"/>
              </a:rPr>
              <a:t>Possibility 1</a:t>
            </a:r>
            <a:endParaRPr lang="en-US" sz="1020" dirty="0"/>
          </a:p>
        </p:txBody>
      </p:sp>
      <p:sp>
        <p:nvSpPr>
          <p:cNvPr id="12" name="zero-status-0"/>
          <p:cNvSpPr/>
          <p:nvPr/>
        </p:nvSpPr>
        <p:spPr>
          <a:xfrm>
            <a:off x="1207008" y="2359152"/>
            <a:ext cx="2688336" cy="585216"/>
          </a:xfrm>
          <a:prstGeom prst="roundRect">
            <a:avLst/>
          </a:prstGeom>
          <a:solidFill>
            <a:srgbClr val="EFF6FF"/>
          </a:solidFill>
          <a:ln w="12700">
            <a:solidFill>
              <a:srgbClr val="EFF6FF"/>
            </a:solidFill>
            <a:prstDash val="solid"/>
          </a:ln>
        </p:spPr>
      </p:sp>
      <p:sp>
        <p:nvSpPr>
          <p:cNvPr id="13" name="body-text"/>
          <p:cNvSpPr/>
          <p:nvPr/>
        </p:nvSpPr>
        <p:spPr>
          <a:xfrm>
            <a:off x="1353312" y="2542032"/>
            <a:ext cx="2395728" cy="201168"/>
          </a:xfrm>
          <a:prstGeom prst="rect">
            <a:avLst/>
          </a:prstGeom>
          <a:noFill/>
          <a:ln/>
        </p:spPr>
        <p:txBody>
          <a:bodyPr wrap="square" lIns="0" tIns="0" rIns="0" bIns="0" rtlCol="0" anchor="t"/>
          <a:lstStyle/>
          <a:p>
            <a:pPr algn="ctr" indent="0" marL="0">
              <a:buNone/>
            </a:pPr>
            <a:r>
              <a:rPr lang="en-US" sz="1100" b="1" dirty="0">
                <a:solidFill>
                  <a:srgbClr val="1E3A8A"/>
                </a:solidFill>
                <a:latin typeface="Arial" pitchFamily="34" charset="0"/>
                <a:ea typeface="Arial" pitchFamily="34" charset="-122"/>
                <a:cs typeface="Arial" pitchFamily="34" charset="-120"/>
              </a:rPr>
              <a:t>Loaded feedback: 0</a:t>
            </a:r>
            <a:endParaRPr lang="en-US" sz="1100" dirty="0"/>
          </a:p>
        </p:txBody>
      </p:sp>
      <p:sp>
        <p:nvSpPr>
          <p:cNvPr id="14" name="body-text"/>
          <p:cNvSpPr/>
          <p:nvPr/>
        </p:nvSpPr>
        <p:spPr>
          <a:xfrm>
            <a:off x="1207008" y="3182112"/>
            <a:ext cx="2688336" cy="310896"/>
          </a:xfrm>
          <a:prstGeom prst="rect">
            <a:avLst/>
          </a:prstGeom>
          <a:noFill/>
          <a:ln/>
        </p:spPr>
        <p:txBody>
          <a:bodyPr wrap="square" lIns="0" tIns="0" rIns="0" bIns="0" rtlCol="0" anchor="t"/>
          <a:lstStyle/>
          <a:p>
            <a:pPr algn="ctr" indent="0" marL="0">
              <a:buNone/>
            </a:pPr>
            <a:r>
              <a:rPr lang="en-US" sz="1000" b="1" dirty="0">
                <a:solidFill>
                  <a:srgbClr val="475569"/>
                </a:solidFill>
                <a:latin typeface="Arial" pitchFamily="34" charset="0"/>
                <a:ea typeface="Arial" pitchFamily="34" charset="-122"/>
                <a:cs typeface="Arial" pitchFamily="34" charset="-120"/>
              </a:rPr>
              <a:t>Still waiting for the response</a:t>
            </a:r>
            <a:endParaRPr lang="en-US" sz="1000" dirty="0"/>
          </a:p>
        </p:txBody>
      </p:sp>
      <p:sp>
        <p:nvSpPr>
          <p:cNvPr id="15" name="zero-case-1"/>
          <p:cNvSpPr/>
          <p:nvPr/>
        </p:nvSpPr>
        <p:spPr>
          <a:xfrm>
            <a:off x="4681728" y="1517904"/>
            <a:ext cx="3236976" cy="1920240"/>
          </a:xfrm>
          <a:prstGeom prst="roundRect">
            <a:avLst/>
          </a:prstGeom>
          <a:solidFill>
            <a:srgbClr val="FFFFFF"/>
          </a:solidFill>
          <a:ln w="12700">
            <a:solidFill>
              <a:srgbClr val="CBD5E1"/>
            </a:solidFill>
            <a:prstDash val="solid"/>
          </a:ln>
        </p:spPr>
      </p:sp>
      <p:sp>
        <p:nvSpPr>
          <p:cNvPr id="16" name="zero-case-1-bar"/>
          <p:cNvSpPr/>
          <p:nvPr/>
        </p:nvSpPr>
        <p:spPr>
          <a:xfrm>
            <a:off x="4681728" y="1517904"/>
            <a:ext cx="3236976" cy="310896"/>
          </a:xfrm>
          <a:prstGeom prst="rect">
            <a:avLst/>
          </a:prstGeom>
          <a:solidFill>
            <a:srgbClr val="F8FAFC"/>
          </a:solidFill>
          <a:ln w="8890">
            <a:solidFill>
              <a:srgbClr val="CBD5E1"/>
            </a:solidFill>
            <a:prstDash val="solid"/>
          </a:ln>
        </p:spPr>
      </p:sp>
      <p:sp>
        <p:nvSpPr>
          <p:cNvPr id="17" name="zero-case-1-dot0"/>
          <p:cNvSpPr/>
          <p:nvPr/>
        </p:nvSpPr>
        <p:spPr>
          <a:xfrm>
            <a:off x="4791456" y="1627632"/>
            <a:ext cx="73152" cy="73152"/>
          </a:xfrm>
          <a:prstGeom prst="ellipse">
            <a:avLst/>
          </a:prstGeom>
          <a:solidFill>
            <a:srgbClr val="F87171"/>
          </a:solidFill>
          <a:ln w="12700">
            <a:solidFill>
              <a:srgbClr val="F87171"/>
            </a:solidFill>
            <a:prstDash val="solid"/>
          </a:ln>
        </p:spPr>
      </p:sp>
      <p:sp>
        <p:nvSpPr>
          <p:cNvPr id="18" name="zero-case-1-dot1"/>
          <p:cNvSpPr/>
          <p:nvPr/>
        </p:nvSpPr>
        <p:spPr>
          <a:xfrm>
            <a:off x="4910328" y="1627632"/>
            <a:ext cx="73152" cy="73152"/>
          </a:xfrm>
          <a:prstGeom prst="ellipse">
            <a:avLst/>
          </a:prstGeom>
          <a:solidFill>
            <a:srgbClr val="FBBF24"/>
          </a:solidFill>
          <a:ln w="12700">
            <a:solidFill>
              <a:srgbClr val="FBBF24"/>
            </a:solidFill>
            <a:prstDash val="solid"/>
          </a:ln>
        </p:spPr>
      </p:sp>
      <p:sp>
        <p:nvSpPr>
          <p:cNvPr id="19" name="zero-case-1-dot2"/>
          <p:cNvSpPr/>
          <p:nvPr/>
        </p:nvSpPr>
        <p:spPr>
          <a:xfrm>
            <a:off x="5029200" y="1627632"/>
            <a:ext cx="73152" cy="73152"/>
          </a:xfrm>
          <a:prstGeom prst="ellipse">
            <a:avLst/>
          </a:prstGeom>
          <a:solidFill>
            <a:srgbClr val="34D399"/>
          </a:solidFill>
          <a:ln w="12700">
            <a:solidFill>
              <a:srgbClr val="34D399"/>
            </a:solidFill>
            <a:prstDash val="solid"/>
          </a:ln>
        </p:spPr>
      </p:sp>
      <p:sp>
        <p:nvSpPr>
          <p:cNvPr id="20" name="zero-case-1-title"/>
          <p:cNvSpPr/>
          <p:nvPr/>
        </p:nvSpPr>
        <p:spPr>
          <a:xfrm>
            <a:off x="5212080" y="1586484"/>
            <a:ext cx="2578608"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Feedback Inbox</a:t>
            </a:r>
            <a:endParaRPr lang="en-US" sz="920" dirty="0"/>
          </a:p>
        </p:txBody>
      </p:sp>
      <p:sp>
        <p:nvSpPr>
          <p:cNvPr id="21" name="body-text"/>
          <p:cNvSpPr/>
          <p:nvPr/>
        </p:nvSpPr>
        <p:spPr>
          <a:xfrm>
            <a:off x="4882896" y="1956816"/>
            <a:ext cx="2834640" cy="201168"/>
          </a:xfrm>
          <a:prstGeom prst="rect">
            <a:avLst/>
          </a:prstGeom>
          <a:noFill/>
          <a:ln/>
        </p:spPr>
        <p:txBody>
          <a:bodyPr wrap="square" lIns="0" tIns="0" rIns="0" bIns="0" rtlCol="0" anchor="t"/>
          <a:lstStyle/>
          <a:p>
            <a:pPr algn="ctr" indent="0" marL="0">
              <a:buNone/>
            </a:pPr>
            <a:r>
              <a:rPr lang="en-US" sz="1020" b="1" dirty="0">
                <a:solidFill>
                  <a:srgbClr val="854D0E"/>
                </a:solidFill>
                <a:latin typeface="Arial" pitchFamily="34" charset="0"/>
                <a:ea typeface="Arial" pitchFamily="34" charset="-122"/>
                <a:cs typeface="Arial" pitchFamily="34" charset="-120"/>
              </a:rPr>
              <a:t>Possibility 2</a:t>
            </a:r>
            <a:endParaRPr lang="en-US" sz="1020" dirty="0"/>
          </a:p>
        </p:txBody>
      </p:sp>
      <p:sp>
        <p:nvSpPr>
          <p:cNvPr id="22" name="zero-status-1"/>
          <p:cNvSpPr/>
          <p:nvPr/>
        </p:nvSpPr>
        <p:spPr>
          <a:xfrm>
            <a:off x="4956048" y="2359152"/>
            <a:ext cx="2688336" cy="585216"/>
          </a:xfrm>
          <a:prstGeom prst="roundRect">
            <a:avLst/>
          </a:prstGeom>
          <a:solidFill>
            <a:srgbClr val="FEF9C3"/>
          </a:solidFill>
          <a:ln w="12700">
            <a:solidFill>
              <a:srgbClr val="FEF9C3"/>
            </a:solidFill>
            <a:prstDash val="solid"/>
          </a:ln>
        </p:spPr>
      </p:sp>
      <p:sp>
        <p:nvSpPr>
          <p:cNvPr id="23" name="body-text"/>
          <p:cNvSpPr/>
          <p:nvPr/>
        </p:nvSpPr>
        <p:spPr>
          <a:xfrm>
            <a:off x="5102352" y="2542032"/>
            <a:ext cx="2395728" cy="201168"/>
          </a:xfrm>
          <a:prstGeom prst="rect">
            <a:avLst/>
          </a:prstGeom>
          <a:noFill/>
          <a:ln/>
        </p:spPr>
        <p:txBody>
          <a:bodyPr wrap="square" lIns="0" tIns="0" rIns="0" bIns="0" rtlCol="0" anchor="t"/>
          <a:lstStyle/>
          <a:p>
            <a:pPr algn="ctr" indent="0" marL="0">
              <a:buNone/>
            </a:pPr>
            <a:r>
              <a:rPr lang="en-US" sz="1100" b="1" dirty="0">
                <a:solidFill>
                  <a:srgbClr val="854D0E"/>
                </a:solidFill>
                <a:latin typeface="Arial" pitchFamily="34" charset="0"/>
                <a:ea typeface="Arial" pitchFamily="34" charset="-122"/>
                <a:cs typeface="Arial" pitchFamily="34" charset="-120"/>
              </a:rPr>
              <a:t>Loaded feedback: 0</a:t>
            </a:r>
            <a:endParaRPr lang="en-US" sz="1100" dirty="0"/>
          </a:p>
        </p:txBody>
      </p:sp>
      <p:sp>
        <p:nvSpPr>
          <p:cNvPr id="24" name="body-text"/>
          <p:cNvSpPr/>
          <p:nvPr/>
        </p:nvSpPr>
        <p:spPr>
          <a:xfrm>
            <a:off x="4956048" y="3182112"/>
            <a:ext cx="2688336" cy="310896"/>
          </a:xfrm>
          <a:prstGeom prst="rect">
            <a:avLst/>
          </a:prstGeom>
          <a:noFill/>
          <a:ln/>
        </p:spPr>
        <p:txBody>
          <a:bodyPr wrap="square" lIns="0" tIns="0" rIns="0" bIns="0" rtlCol="0" anchor="t"/>
          <a:lstStyle/>
          <a:p>
            <a:pPr algn="ctr" indent="0" marL="0">
              <a:buNone/>
            </a:pPr>
            <a:r>
              <a:rPr lang="en-US" sz="1000" b="1" dirty="0">
                <a:solidFill>
                  <a:srgbClr val="475569"/>
                </a:solidFill>
                <a:latin typeface="Arial" pitchFamily="34" charset="0"/>
                <a:ea typeface="Arial" pitchFamily="34" charset="-122"/>
                <a:cs typeface="Arial" pitchFamily="34" charset="-120"/>
              </a:rPr>
              <a:t>Successful response with no items</a:t>
            </a:r>
            <a:endParaRPr lang="en-US" sz="1000" dirty="0"/>
          </a:p>
        </p:txBody>
      </p:sp>
      <p:sp>
        <p:nvSpPr>
          <p:cNvPr id="25" name="loading-need"/>
          <p:cNvSpPr/>
          <p:nvPr/>
        </p:nvSpPr>
        <p:spPr>
          <a:xfrm>
            <a:off x="1975104" y="3950208"/>
            <a:ext cx="5212080" cy="457200"/>
          </a:xfrm>
          <a:prstGeom prst="roundRect">
            <a:avLst/>
          </a:prstGeom>
          <a:solidFill>
            <a:srgbClr val="DCFCE7"/>
          </a:solidFill>
          <a:ln w="12700">
            <a:solidFill>
              <a:srgbClr val="86EFAC"/>
            </a:solidFill>
            <a:prstDash val="solid"/>
          </a:ln>
        </p:spPr>
      </p:sp>
      <p:sp>
        <p:nvSpPr>
          <p:cNvPr id="26" name="body-text"/>
          <p:cNvSpPr/>
          <p:nvPr/>
        </p:nvSpPr>
        <p:spPr>
          <a:xfrm>
            <a:off x="2157984" y="4069080"/>
            <a:ext cx="4846320" cy="201168"/>
          </a:xfrm>
          <a:prstGeom prst="rect">
            <a:avLst/>
          </a:prstGeom>
          <a:noFill/>
          <a:ln/>
        </p:spPr>
        <p:txBody>
          <a:bodyPr wrap="square" lIns="0" tIns="0" rIns="0" bIns="0" rtlCol="0" anchor="t"/>
          <a:lstStyle/>
          <a:p>
            <a:pPr algn="ctr" indent="0" marL="0">
              <a:buNone/>
            </a:pPr>
            <a:r>
              <a:rPr lang="en-US" sz="1020" b="1" dirty="0">
                <a:solidFill>
                  <a:srgbClr val="166534"/>
                </a:solidFill>
                <a:latin typeface="Arial" pitchFamily="34" charset="0"/>
                <a:ea typeface="Arial" pitchFamily="34" charset="-122"/>
                <a:cs typeface="Arial" pitchFamily="34" charset="-120"/>
              </a:rPr>
              <a:t>FeedbackInbox needs separate information that tells it whether the request is still in progress.</a:t>
            </a:r>
            <a:endParaRPr lang="en-US" sz="102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Show the waiting state</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REQUEST STATES</a:t>
            </a:r>
            <a:endParaRPr lang="en-US" sz="940" dirty="0"/>
          </a:p>
        </p:txBody>
      </p:sp>
      <p:sp>
        <p:nvSpPr>
          <p:cNvPr id="4" name="loading-state"/>
          <p:cNvSpPr/>
          <p:nvPr/>
        </p:nvSpPr>
        <p:spPr>
          <a:xfrm>
            <a:off x="713232" y="1078992"/>
            <a:ext cx="3547872" cy="58521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70" dirty="0">
                <a:solidFill>
                  <a:srgbClr val="FFFFFF"/>
                </a:solidFill>
                <a:latin typeface="Courier New" pitchFamily="34" charset="0"/>
                <a:ea typeface="Courier New" pitchFamily="34" charset="-122"/>
                <a:cs typeface="Courier New" pitchFamily="34" charset="-120"/>
              </a:rPr>
              <a:t>const [isLoading, setIsLoading] =</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useState(true);</a:t>
            </a:r>
            <a:endParaRPr lang="en-US" sz="1070" dirty="0"/>
          </a:p>
        </p:txBody>
      </p:sp>
      <p:sp>
        <p:nvSpPr>
          <p:cNvPr id="5" name="body-text"/>
          <p:cNvSpPr/>
          <p:nvPr/>
        </p:nvSpPr>
        <p:spPr>
          <a:xfrm>
            <a:off x="713232" y="1901952"/>
            <a:ext cx="1572768" cy="219456"/>
          </a:xfrm>
          <a:prstGeom prst="rect">
            <a:avLst/>
          </a:prstGeom>
          <a:noFill/>
          <a:ln/>
        </p:spPr>
        <p:txBody>
          <a:bodyPr wrap="square" lIns="0" tIns="0" rIns="0" bIns="0" rtlCol="0" anchor="t"/>
          <a:lstStyle/>
          <a:p>
            <a:pPr algn="l" indent="0" marL="0">
              <a:buNone/>
            </a:pPr>
            <a:r>
              <a:rPr lang="en-US" sz="1120" b="1" dirty="0">
                <a:solidFill>
                  <a:srgbClr val="1E3A8A"/>
                </a:solidFill>
                <a:latin typeface="Arial" pitchFamily="34" charset="0"/>
                <a:ea typeface="Arial" pitchFamily="34" charset="-122"/>
                <a:cs typeface="Arial" pitchFamily="34" charset="-120"/>
              </a:rPr>
              <a:t>Why start with true?</a:t>
            </a:r>
            <a:endParaRPr lang="en-US" sz="1120" dirty="0"/>
          </a:p>
        </p:txBody>
      </p:sp>
      <p:sp>
        <p:nvSpPr>
          <p:cNvPr id="6" name="body-text"/>
          <p:cNvSpPr/>
          <p:nvPr/>
        </p:nvSpPr>
        <p:spPr>
          <a:xfrm>
            <a:off x="713232" y="2212848"/>
            <a:ext cx="3493008" cy="493776"/>
          </a:xfrm>
          <a:prstGeom prst="rect">
            <a:avLst/>
          </a:prstGeom>
          <a:noFill/>
          <a:ln/>
        </p:spPr>
        <p:txBody>
          <a:bodyPr wrap="square" lIns="0" tIns="0" rIns="0" bIns="0" rtlCol="0" anchor="t"/>
          <a:lstStyle/>
          <a:p>
            <a:pPr algn="l" indent="0" marL="0">
              <a:buNone/>
            </a:pPr>
            <a:r>
              <a:rPr lang="en-US" sz="1060" dirty="0">
                <a:solidFill>
                  <a:srgbClr val="0F172A"/>
                </a:solidFill>
                <a:latin typeface="Arial" pitchFamily="34" charset="0"/>
                <a:ea typeface="Arial" pitchFamily="34" charset="-122"/>
                <a:cs typeface="Arial" pitchFamily="34" charset="-120"/>
              </a:rPr>
              <a:t>When FeedbackInbox first appears, it still needs to load its data.</a:t>
            </a:r>
            <a:endParaRPr lang="en-US" sz="1060" dirty="0"/>
          </a:p>
        </p:txBody>
      </p:sp>
      <p:sp>
        <p:nvSpPr>
          <p:cNvPr id="7" name="loading-false"/>
          <p:cNvSpPr/>
          <p:nvPr/>
        </p:nvSpPr>
        <p:spPr>
          <a:xfrm>
            <a:off x="713232" y="2980944"/>
            <a:ext cx="2322576" cy="420624"/>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70" dirty="0">
                <a:solidFill>
                  <a:srgbClr val="FFFFFF"/>
                </a:solidFill>
                <a:latin typeface="Courier New" pitchFamily="34" charset="0"/>
                <a:ea typeface="Courier New" pitchFamily="34" charset="-122"/>
                <a:cs typeface="Courier New" pitchFamily="34" charset="-120"/>
              </a:rPr>
              <a:t>setIsLoading(false);</a:t>
            </a:r>
            <a:endParaRPr lang="en-US" sz="1070" dirty="0"/>
          </a:p>
        </p:txBody>
      </p:sp>
      <p:sp>
        <p:nvSpPr>
          <p:cNvPr id="8" name="body-text"/>
          <p:cNvSpPr/>
          <p:nvPr/>
        </p:nvSpPr>
        <p:spPr>
          <a:xfrm>
            <a:off x="3145536" y="3090672"/>
            <a:ext cx="1316736" cy="182880"/>
          </a:xfrm>
          <a:prstGeom prst="rect">
            <a:avLst/>
          </a:prstGeom>
          <a:noFill/>
          <a:ln/>
        </p:spPr>
        <p:txBody>
          <a:bodyPr wrap="square" lIns="0" tIns="0" rIns="0" bIns="0" rtlCol="0" anchor="t"/>
          <a:lstStyle/>
          <a:p>
            <a:pPr algn="l" indent="0" marL="0">
              <a:buNone/>
            </a:pPr>
            <a:r>
              <a:rPr lang="en-US" sz="970" dirty="0">
                <a:solidFill>
                  <a:srgbClr val="475569"/>
                </a:solidFill>
                <a:latin typeface="Arial" pitchFamily="34" charset="0"/>
                <a:ea typeface="Arial" pitchFamily="34" charset="-122"/>
                <a:cs typeface="Arial" pitchFamily="34" charset="-120"/>
              </a:rPr>
              <a:t>when the request finishes</a:t>
            </a:r>
            <a:endParaRPr lang="en-US" sz="970" dirty="0"/>
          </a:p>
        </p:txBody>
      </p:sp>
      <p:sp>
        <p:nvSpPr>
          <p:cNvPr id="9" name="label"/>
          <p:cNvSpPr/>
          <p:nvPr/>
        </p:nvSpPr>
        <p:spPr>
          <a:xfrm>
            <a:off x="4718304" y="1078992"/>
            <a:ext cx="1371600"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Request timeline</a:t>
            </a:r>
            <a:endParaRPr lang="en-US" sz="1050" dirty="0"/>
          </a:p>
        </p:txBody>
      </p:sp>
      <p:sp>
        <p:nvSpPr>
          <p:cNvPr id="10" name="loading-step-0"/>
          <p:cNvSpPr/>
          <p:nvPr/>
        </p:nvSpPr>
        <p:spPr>
          <a:xfrm>
            <a:off x="4718304" y="1481328"/>
            <a:ext cx="3236976" cy="603504"/>
          </a:xfrm>
          <a:prstGeom prst="roundRect">
            <a:avLst/>
          </a:prstGeom>
          <a:solidFill>
            <a:srgbClr val="EFF6FF"/>
          </a:solidFill>
          <a:ln w="12700">
            <a:solidFill>
              <a:srgbClr val="EFF6FF"/>
            </a:solidFill>
            <a:prstDash val="solid"/>
          </a:ln>
        </p:spPr>
      </p:sp>
      <p:sp>
        <p:nvSpPr>
          <p:cNvPr id="11" name="body-text"/>
          <p:cNvSpPr/>
          <p:nvPr/>
        </p:nvSpPr>
        <p:spPr>
          <a:xfrm>
            <a:off x="4919472" y="1591056"/>
            <a:ext cx="1389888" cy="201168"/>
          </a:xfrm>
          <a:prstGeom prst="rect">
            <a:avLst/>
          </a:prstGeom>
          <a:noFill/>
          <a:ln/>
        </p:spPr>
        <p:txBody>
          <a:bodyPr wrap="square" lIns="0" tIns="0" rIns="0" bIns="0" rtlCol="0" anchor="t"/>
          <a:lstStyle/>
          <a:p>
            <a:pPr algn="l" indent="0" marL="0">
              <a:buNone/>
            </a:pPr>
            <a:r>
              <a:rPr lang="en-US" sz="1060" b="1" dirty="0">
                <a:solidFill>
                  <a:srgbClr val="1E3A8A"/>
                </a:solidFill>
                <a:latin typeface="Arial" pitchFamily="34" charset="0"/>
                <a:ea typeface="Arial" pitchFamily="34" charset="-122"/>
                <a:cs typeface="Arial" pitchFamily="34" charset="-120"/>
              </a:rPr>
              <a:t>Request starts</a:t>
            </a:r>
            <a:endParaRPr lang="en-US" sz="1060" dirty="0"/>
          </a:p>
        </p:txBody>
      </p:sp>
      <p:sp>
        <p:nvSpPr>
          <p:cNvPr id="12" name="mini-code"/>
          <p:cNvSpPr/>
          <p:nvPr/>
        </p:nvSpPr>
        <p:spPr>
          <a:xfrm>
            <a:off x="6382512" y="1618488"/>
            <a:ext cx="1335024" cy="310896"/>
          </a:xfrm>
          <a:prstGeom prst="rect">
            <a:avLst/>
          </a:prstGeom>
          <a:solidFill>
            <a:srgbClr val="FFFFFF"/>
          </a:solidFill>
          <a:ln w="8890">
            <a:solidFill>
              <a:srgbClr val="FFFFFF"/>
            </a:solidFill>
          </a:ln>
        </p:spPr>
        <p:txBody>
          <a:bodyPr wrap="square" lIns="635" tIns="1270" rIns="1270" bIns="635" rtlCol="0" anchor="ctr"/>
          <a:lstStyle/>
          <a:p>
            <a:pPr algn="ctr" indent="0" marL="0">
              <a:buNone/>
            </a:pPr>
            <a:r>
              <a:rPr lang="en-US" sz="880" dirty="0">
                <a:solidFill>
                  <a:srgbClr val="0F172A"/>
                </a:solidFill>
                <a:latin typeface="Courier New" pitchFamily="34" charset="0"/>
                <a:ea typeface="Courier New" pitchFamily="34" charset="-122"/>
                <a:cs typeface="Courier New" pitchFamily="34" charset="-120"/>
              </a:rPr>
              <a:t>isLoading = true</a:t>
            </a:r>
            <a:endParaRPr lang="en-US" sz="880" dirty="0"/>
          </a:p>
        </p:txBody>
      </p:sp>
      <p:sp>
        <p:nvSpPr>
          <p:cNvPr id="13" name="connector"/>
          <p:cNvSpPr/>
          <p:nvPr/>
        </p:nvSpPr>
        <p:spPr>
          <a:xfrm>
            <a:off x="6327648" y="2121408"/>
            <a:ext cx="0" cy="128016"/>
          </a:xfrm>
          <a:prstGeom prst="line">
            <a:avLst/>
          </a:prstGeom>
          <a:noFill/>
          <a:ln w="19050">
            <a:solidFill>
              <a:srgbClr val="64748B"/>
            </a:solidFill>
            <a:prstDash val="solid"/>
            <a:tailEnd type="triangle"/>
          </a:ln>
        </p:spPr>
      </p:sp>
      <p:sp>
        <p:nvSpPr>
          <p:cNvPr id="14" name="loading-step-1"/>
          <p:cNvSpPr/>
          <p:nvPr/>
        </p:nvSpPr>
        <p:spPr>
          <a:xfrm>
            <a:off x="4718304" y="2267712"/>
            <a:ext cx="3236976" cy="603504"/>
          </a:xfrm>
          <a:prstGeom prst="roundRect">
            <a:avLst/>
          </a:prstGeom>
          <a:solidFill>
            <a:srgbClr val="FEF9C3"/>
          </a:solidFill>
          <a:ln w="12700">
            <a:solidFill>
              <a:srgbClr val="FEF9C3"/>
            </a:solidFill>
            <a:prstDash val="solid"/>
          </a:ln>
        </p:spPr>
      </p:sp>
      <p:sp>
        <p:nvSpPr>
          <p:cNvPr id="15" name="body-text"/>
          <p:cNvSpPr/>
          <p:nvPr/>
        </p:nvSpPr>
        <p:spPr>
          <a:xfrm>
            <a:off x="4919472" y="2377440"/>
            <a:ext cx="1389888" cy="201168"/>
          </a:xfrm>
          <a:prstGeom prst="rect">
            <a:avLst/>
          </a:prstGeom>
          <a:noFill/>
          <a:ln/>
        </p:spPr>
        <p:txBody>
          <a:bodyPr wrap="square" lIns="0" tIns="0" rIns="0" bIns="0" rtlCol="0" anchor="t"/>
          <a:lstStyle/>
          <a:p>
            <a:pPr algn="l" indent="0" marL="0">
              <a:buNone/>
            </a:pPr>
            <a:r>
              <a:rPr lang="en-US" sz="1060" b="1" dirty="0">
                <a:solidFill>
                  <a:srgbClr val="854D0E"/>
                </a:solidFill>
                <a:latin typeface="Arial" pitchFamily="34" charset="0"/>
                <a:ea typeface="Arial" pitchFamily="34" charset="-122"/>
                <a:cs typeface="Arial" pitchFamily="34" charset="-120"/>
              </a:rPr>
              <a:t>Waiting</a:t>
            </a:r>
            <a:endParaRPr lang="en-US" sz="1060" dirty="0"/>
          </a:p>
        </p:txBody>
      </p:sp>
      <p:sp>
        <p:nvSpPr>
          <p:cNvPr id="16" name="mini-code"/>
          <p:cNvSpPr/>
          <p:nvPr/>
        </p:nvSpPr>
        <p:spPr>
          <a:xfrm>
            <a:off x="6382512" y="2404872"/>
            <a:ext cx="1335024" cy="310896"/>
          </a:xfrm>
          <a:prstGeom prst="rect">
            <a:avLst/>
          </a:prstGeom>
          <a:solidFill>
            <a:srgbClr val="FFFFFF"/>
          </a:solidFill>
          <a:ln w="8890">
            <a:solidFill>
              <a:srgbClr val="FFFFFF"/>
            </a:solidFill>
          </a:ln>
        </p:spPr>
        <p:txBody>
          <a:bodyPr wrap="square" lIns="635" tIns="1270" rIns="1270" bIns="635" rtlCol="0" anchor="ctr"/>
          <a:lstStyle/>
          <a:p>
            <a:pPr algn="ctr" indent="0" marL="0">
              <a:buNone/>
            </a:pPr>
            <a:r>
              <a:rPr lang="en-US" sz="880" dirty="0">
                <a:solidFill>
                  <a:srgbClr val="0F172A"/>
                </a:solidFill>
                <a:latin typeface="Courier New" pitchFamily="34" charset="0"/>
                <a:ea typeface="Courier New" pitchFamily="34" charset="-122"/>
                <a:cs typeface="Courier New" pitchFamily="34" charset="-120"/>
              </a:rPr>
              <a:t>isLoading = true</a:t>
            </a:r>
            <a:endParaRPr lang="en-US" sz="880" dirty="0"/>
          </a:p>
        </p:txBody>
      </p:sp>
      <p:sp>
        <p:nvSpPr>
          <p:cNvPr id="17" name="connector"/>
          <p:cNvSpPr/>
          <p:nvPr/>
        </p:nvSpPr>
        <p:spPr>
          <a:xfrm>
            <a:off x="6327648" y="2907792"/>
            <a:ext cx="0" cy="128016"/>
          </a:xfrm>
          <a:prstGeom prst="line">
            <a:avLst/>
          </a:prstGeom>
          <a:noFill/>
          <a:ln w="19050">
            <a:solidFill>
              <a:srgbClr val="64748B"/>
            </a:solidFill>
            <a:prstDash val="solid"/>
            <a:tailEnd type="triangle"/>
          </a:ln>
        </p:spPr>
      </p:sp>
      <p:sp>
        <p:nvSpPr>
          <p:cNvPr id="18" name="loading-step-2"/>
          <p:cNvSpPr/>
          <p:nvPr/>
        </p:nvSpPr>
        <p:spPr>
          <a:xfrm>
            <a:off x="4718304" y="3054096"/>
            <a:ext cx="3236976" cy="603504"/>
          </a:xfrm>
          <a:prstGeom prst="roundRect">
            <a:avLst/>
          </a:prstGeom>
          <a:solidFill>
            <a:srgbClr val="DCFCE7"/>
          </a:solidFill>
          <a:ln w="12700">
            <a:solidFill>
              <a:srgbClr val="DCFCE7"/>
            </a:solidFill>
            <a:prstDash val="solid"/>
          </a:ln>
        </p:spPr>
      </p:sp>
      <p:sp>
        <p:nvSpPr>
          <p:cNvPr id="19" name="body-text"/>
          <p:cNvSpPr/>
          <p:nvPr/>
        </p:nvSpPr>
        <p:spPr>
          <a:xfrm>
            <a:off x="4919472" y="3163824"/>
            <a:ext cx="1389888" cy="201168"/>
          </a:xfrm>
          <a:prstGeom prst="rect">
            <a:avLst/>
          </a:prstGeom>
          <a:noFill/>
          <a:ln/>
        </p:spPr>
        <p:txBody>
          <a:bodyPr wrap="square" lIns="0" tIns="0" rIns="0" bIns="0" rtlCol="0" anchor="t"/>
          <a:lstStyle/>
          <a:p>
            <a:pPr algn="l" indent="0" marL="0">
              <a:buNone/>
            </a:pPr>
            <a:r>
              <a:rPr lang="en-US" sz="1060" b="1" dirty="0">
                <a:solidFill>
                  <a:srgbClr val="166534"/>
                </a:solidFill>
                <a:latin typeface="Arial" pitchFamily="34" charset="0"/>
                <a:ea typeface="Arial" pitchFamily="34" charset="-122"/>
                <a:cs typeface="Arial" pitchFamily="34" charset="-120"/>
              </a:rPr>
              <a:t>Request finishes</a:t>
            </a:r>
            <a:endParaRPr lang="en-US" sz="1060" dirty="0"/>
          </a:p>
        </p:txBody>
      </p:sp>
      <p:sp>
        <p:nvSpPr>
          <p:cNvPr id="20" name="mini-code"/>
          <p:cNvSpPr/>
          <p:nvPr/>
        </p:nvSpPr>
        <p:spPr>
          <a:xfrm>
            <a:off x="6382512" y="3191256"/>
            <a:ext cx="1335024" cy="310896"/>
          </a:xfrm>
          <a:prstGeom prst="rect">
            <a:avLst/>
          </a:prstGeom>
          <a:solidFill>
            <a:srgbClr val="FFFFFF"/>
          </a:solidFill>
          <a:ln w="8890">
            <a:solidFill>
              <a:srgbClr val="FFFFFF"/>
            </a:solidFill>
          </a:ln>
        </p:spPr>
        <p:txBody>
          <a:bodyPr wrap="square" lIns="635" tIns="1270" rIns="1270" bIns="635" rtlCol="0" anchor="ctr"/>
          <a:lstStyle/>
          <a:p>
            <a:pPr algn="ctr" indent="0" marL="0">
              <a:buNone/>
            </a:pPr>
            <a:r>
              <a:rPr lang="en-US" sz="880" dirty="0">
                <a:solidFill>
                  <a:srgbClr val="0F172A"/>
                </a:solidFill>
                <a:latin typeface="Courier New" pitchFamily="34" charset="0"/>
                <a:ea typeface="Courier New" pitchFamily="34" charset="-122"/>
                <a:cs typeface="Courier New" pitchFamily="34" charset="-120"/>
              </a:rPr>
              <a:t>isLoading = false</a:t>
            </a:r>
            <a:endParaRPr lang="en-US" sz="880" dirty="0"/>
          </a:p>
        </p:txBody>
      </p:sp>
      <p:sp>
        <p:nvSpPr>
          <p:cNvPr id="21" name="strip-Important"/>
          <p:cNvSpPr/>
          <p:nvPr/>
        </p:nvSpPr>
        <p:spPr>
          <a:xfrm>
            <a:off x="1298448" y="4078224"/>
            <a:ext cx="6400800" cy="438912"/>
          </a:xfrm>
          <a:prstGeom prst="roundRect">
            <a:avLst/>
          </a:prstGeom>
          <a:solidFill>
            <a:srgbClr val="FEE2E2"/>
          </a:solidFill>
          <a:ln w="12700">
            <a:solidFill>
              <a:srgbClr val="FEE2E2"/>
            </a:solidFill>
            <a:prstDash val="solid"/>
          </a:ln>
        </p:spPr>
      </p:sp>
      <p:sp>
        <p:nvSpPr>
          <p:cNvPr id="22" name="strip-text-Important"/>
          <p:cNvSpPr/>
          <p:nvPr/>
        </p:nvSpPr>
        <p:spPr>
          <a:xfrm>
            <a:off x="1444752" y="4178808"/>
            <a:ext cx="6108192" cy="256032"/>
          </a:xfrm>
          <a:prstGeom prst="rect">
            <a:avLst/>
          </a:prstGeom>
          <a:noFill/>
          <a:ln/>
        </p:spPr>
        <p:txBody>
          <a:bodyPr wrap="square" lIns="0" tIns="0" rIns="0" bIns="0" rtlCol="0" anchor="t"/>
          <a:lstStyle/>
          <a:p>
            <a:pPr indent="0" marL="0">
              <a:buNone/>
            </a:pPr>
            <a:r>
              <a:rPr lang="en-US" sz="1030" b="1" dirty="0">
                <a:solidFill>
                  <a:srgbClr val="991B1B"/>
                </a:solidFill>
                <a:latin typeface="Arial" pitchFamily="34" charset="0"/>
                <a:ea typeface="Arial" pitchFamily="34" charset="-122"/>
                <a:cs typeface="Arial" pitchFamily="34" charset="-120"/>
              </a:rPr>
              <a:t>Important  </a:t>
            </a:r>
            <a:pPr indent="0" marL="0">
              <a:buNone/>
            </a:pPr>
            <a:r>
              <a:rPr lang="en-US" sz="1030" dirty="0">
                <a:solidFill>
                  <a:srgbClr val="0F172A"/>
                </a:solidFill>
                <a:latin typeface="Arial" pitchFamily="34" charset="0"/>
                <a:ea typeface="Arial" pitchFamily="34" charset="-122"/>
                <a:cs typeface="Arial" pitchFamily="34" charset="-120"/>
              </a:rPr>
              <a:t>isLoading tells us whether the request is still in progress; it does not tell us whether the request succeeded.</a:t>
            </a:r>
            <a:endParaRPr lang="en-US" sz="103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What if the request fails?</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REQUEST STATES</a:t>
            </a:r>
            <a:endParaRPr lang="en-US" sz="940" dirty="0"/>
          </a:p>
        </p:txBody>
      </p:sp>
      <p:sp>
        <p:nvSpPr>
          <p:cNvPr id="4" name="error-state"/>
          <p:cNvSpPr/>
          <p:nvPr/>
        </p:nvSpPr>
        <p:spPr>
          <a:xfrm>
            <a:off x="713232" y="1078992"/>
            <a:ext cx="3547872" cy="58521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70" dirty="0">
                <a:solidFill>
                  <a:srgbClr val="FFFFFF"/>
                </a:solidFill>
                <a:latin typeface="Courier New" pitchFamily="34" charset="0"/>
                <a:ea typeface="Courier New" pitchFamily="34" charset="-122"/>
                <a:cs typeface="Courier New" pitchFamily="34" charset="-120"/>
              </a:rPr>
              <a:t>const [errorMessage, setErrorMessage] =</a:t>
            </a:r>
            <a:endParaRPr lang="en-US" sz="1070" dirty="0"/>
          </a:p>
          <a:p>
            <a:pPr indent="0" marL="0">
              <a:buNone/>
            </a:pPr>
            <a:r>
              <a:rPr lang="en-US" sz="1070" dirty="0">
                <a:solidFill>
                  <a:srgbClr val="FFFFFF"/>
                </a:solidFill>
                <a:latin typeface="Courier New" pitchFamily="34" charset="0"/>
                <a:ea typeface="Courier New" pitchFamily="34" charset="-122"/>
                <a:cs typeface="Courier New" pitchFamily="34" charset="-120"/>
              </a:rPr>
              <a:t>  useState("");</a:t>
            </a:r>
            <a:endParaRPr lang="en-US" sz="1070" dirty="0"/>
          </a:p>
        </p:txBody>
      </p:sp>
      <p:sp>
        <p:nvSpPr>
          <p:cNvPr id="5" name="body-text"/>
          <p:cNvSpPr/>
          <p:nvPr/>
        </p:nvSpPr>
        <p:spPr>
          <a:xfrm>
            <a:off x="713232" y="1901952"/>
            <a:ext cx="1005840" cy="201168"/>
          </a:xfrm>
          <a:prstGeom prst="rect">
            <a:avLst/>
          </a:prstGeom>
          <a:noFill/>
          <a:ln/>
        </p:spPr>
        <p:txBody>
          <a:bodyPr wrap="square" lIns="0" tIns="0" rIns="0" bIns="0" rtlCol="0" anchor="t"/>
          <a:lstStyle/>
          <a:p>
            <a:pPr algn="l" indent="0" marL="0">
              <a:buNone/>
            </a:pPr>
            <a:r>
              <a:rPr lang="en-US" sz="1040" b="1" dirty="0">
                <a:solidFill>
                  <a:srgbClr val="475569"/>
                </a:solidFill>
                <a:latin typeface="Arial" pitchFamily="34" charset="0"/>
                <a:ea typeface="Arial" pitchFamily="34" charset="-122"/>
                <a:cs typeface="Arial" pitchFamily="34" charset="-120"/>
              </a:rPr>
              <a:t>No error</a:t>
            </a:r>
            <a:endParaRPr lang="en-US" sz="1040" dirty="0"/>
          </a:p>
        </p:txBody>
      </p:sp>
      <p:sp>
        <p:nvSpPr>
          <p:cNvPr id="6" name="mini-code"/>
          <p:cNvSpPr/>
          <p:nvPr/>
        </p:nvSpPr>
        <p:spPr>
          <a:xfrm>
            <a:off x="1792224" y="1847088"/>
            <a:ext cx="1883664" cy="310896"/>
          </a:xfrm>
          <a:prstGeom prst="rect">
            <a:avLst/>
          </a:prstGeom>
          <a:solidFill>
            <a:srgbClr val="F8FAFC"/>
          </a:solidFill>
          <a:ln w="8890">
            <a:solidFill>
              <a:srgbClr val="CBD5E1"/>
            </a:solidFill>
          </a:ln>
        </p:spPr>
        <p:txBody>
          <a:bodyPr wrap="square" lIns="635" tIns="1270" rIns="1270" bIns="635" rtlCol="0" anchor="ctr"/>
          <a:lstStyle/>
          <a:p>
            <a:pPr algn="ctr" indent="0" marL="0">
              <a:buNone/>
            </a:pPr>
            <a:r>
              <a:rPr lang="en-US" sz="920" dirty="0">
                <a:solidFill>
                  <a:srgbClr val="0F172A"/>
                </a:solidFill>
                <a:latin typeface="Courier New" pitchFamily="34" charset="0"/>
                <a:ea typeface="Courier New" pitchFamily="34" charset="-122"/>
                <a:cs typeface="Courier New" pitchFamily="34" charset="-120"/>
              </a:rPr>
              <a:t>errorMessage === ""</a:t>
            </a:r>
            <a:endParaRPr lang="en-US" sz="920" dirty="0"/>
          </a:p>
        </p:txBody>
      </p:sp>
      <p:sp>
        <p:nvSpPr>
          <p:cNvPr id="7" name="body-text"/>
          <p:cNvSpPr/>
          <p:nvPr/>
        </p:nvSpPr>
        <p:spPr>
          <a:xfrm>
            <a:off x="713232" y="2523744"/>
            <a:ext cx="1097280" cy="201168"/>
          </a:xfrm>
          <a:prstGeom prst="rect">
            <a:avLst/>
          </a:prstGeom>
          <a:noFill/>
          <a:ln/>
        </p:spPr>
        <p:txBody>
          <a:bodyPr wrap="square" lIns="0" tIns="0" rIns="0" bIns="0" rtlCol="0" anchor="t"/>
          <a:lstStyle/>
          <a:p>
            <a:pPr algn="l" indent="0" marL="0">
              <a:buNone/>
            </a:pPr>
            <a:r>
              <a:rPr lang="en-US" sz="1040" b="1" dirty="0">
                <a:solidFill>
                  <a:srgbClr val="991B1B"/>
                </a:solidFill>
                <a:latin typeface="Arial" pitchFamily="34" charset="0"/>
                <a:ea typeface="Arial" pitchFamily="34" charset="-122"/>
                <a:cs typeface="Arial" pitchFamily="34" charset="-120"/>
              </a:rPr>
              <a:t>Request failed</a:t>
            </a:r>
            <a:endParaRPr lang="en-US" sz="1040" dirty="0"/>
          </a:p>
        </p:txBody>
      </p:sp>
      <p:sp>
        <p:nvSpPr>
          <p:cNvPr id="8" name="set-error"/>
          <p:cNvSpPr/>
          <p:nvPr/>
        </p:nvSpPr>
        <p:spPr>
          <a:xfrm>
            <a:off x="1792224" y="2414016"/>
            <a:ext cx="2286000" cy="71323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setErrorMessage(</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"Could not load feedback."</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a:t>
            </a:r>
            <a:endParaRPr lang="en-US" sz="1000" dirty="0"/>
          </a:p>
        </p:txBody>
      </p:sp>
      <p:sp>
        <p:nvSpPr>
          <p:cNvPr id="9" name="label"/>
          <p:cNvSpPr/>
          <p:nvPr/>
        </p:nvSpPr>
        <p:spPr>
          <a:xfrm>
            <a:off x="4700016" y="1078992"/>
            <a:ext cx="2468880" cy="201168"/>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A request can finish in different ways</a:t>
            </a:r>
            <a:endParaRPr lang="en-US" sz="1050" dirty="0"/>
          </a:p>
        </p:txBody>
      </p:sp>
      <p:sp>
        <p:nvSpPr>
          <p:cNvPr id="10" name="waiting-node"/>
          <p:cNvSpPr/>
          <p:nvPr/>
        </p:nvSpPr>
        <p:spPr>
          <a:xfrm>
            <a:off x="5614416" y="1536192"/>
            <a:ext cx="1517904" cy="548640"/>
          </a:xfrm>
          <a:prstGeom prst="roundRect">
            <a:avLst/>
          </a:prstGeom>
          <a:solidFill>
            <a:srgbClr val="FEF9C3"/>
          </a:solidFill>
          <a:ln w="12700">
            <a:solidFill>
              <a:srgbClr val="FEF9C3"/>
            </a:solidFill>
            <a:prstDash val="solid"/>
          </a:ln>
        </p:spPr>
      </p:sp>
      <p:sp>
        <p:nvSpPr>
          <p:cNvPr id="11" name="body-text"/>
          <p:cNvSpPr/>
          <p:nvPr/>
        </p:nvSpPr>
        <p:spPr>
          <a:xfrm>
            <a:off x="5614416" y="1700784"/>
            <a:ext cx="1517904" cy="182880"/>
          </a:xfrm>
          <a:prstGeom prst="rect">
            <a:avLst/>
          </a:prstGeom>
          <a:noFill/>
          <a:ln/>
        </p:spPr>
        <p:txBody>
          <a:bodyPr wrap="square" lIns="0" tIns="0" rIns="0" bIns="0" rtlCol="0" anchor="t"/>
          <a:lstStyle/>
          <a:p>
            <a:pPr algn="ctr" indent="0" marL="0">
              <a:buNone/>
            </a:pPr>
            <a:r>
              <a:rPr lang="en-US" sz="1060" b="1" dirty="0">
                <a:solidFill>
                  <a:srgbClr val="854D0E"/>
                </a:solidFill>
                <a:latin typeface="Arial" pitchFamily="34" charset="0"/>
                <a:ea typeface="Arial" pitchFamily="34" charset="-122"/>
                <a:cs typeface="Arial" pitchFamily="34" charset="-120"/>
              </a:rPr>
              <a:t>Waiting</a:t>
            </a:r>
            <a:endParaRPr lang="en-US" sz="1060" dirty="0"/>
          </a:p>
        </p:txBody>
      </p:sp>
      <p:sp>
        <p:nvSpPr>
          <p:cNvPr id="12" name="connector"/>
          <p:cNvSpPr/>
          <p:nvPr/>
        </p:nvSpPr>
        <p:spPr>
          <a:xfrm>
            <a:off x="6373368" y="2121408"/>
            <a:ext cx="-1426464" cy="640080"/>
          </a:xfrm>
          <a:prstGeom prst="line">
            <a:avLst/>
          </a:prstGeom>
          <a:noFill/>
          <a:ln w="19050">
            <a:solidFill>
              <a:srgbClr val="166534"/>
            </a:solidFill>
            <a:prstDash val="solid"/>
            <a:tailEnd type="triangle"/>
          </a:ln>
        </p:spPr>
      </p:sp>
      <p:sp>
        <p:nvSpPr>
          <p:cNvPr id="13" name="connector"/>
          <p:cNvSpPr/>
          <p:nvPr/>
        </p:nvSpPr>
        <p:spPr>
          <a:xfrm>
            <a:off x="6373368" y="2121408"/>
            <a:ext cx="1426464" cy="640080"/>
          </a:xfrm>
          <a:prstGeom prst="line">
            <a:avLst/>
          </a:prstGeom>
          <a:noFill/>
          <a:ln w="19050">
            <a:solidFill>
              <a:srgbClr val="991B1B"/>
            </a:solidFill>
            <a:prstDash val="solid"/>
            <a:tailEnd type="triangle"/>
          </a:ln>
        </p:spPr>
      </p:sp>
      <p:sp>
        <p:nvSpPr>
          <p:cNvPr id="14" name="success-node"/>
          <p:cNvSpPr/>
          <p:nvPr/>
        </p:nvSpPr>
        <p:spPr>
          <a:xfrm>
            <a:off x="4133088" y="2816352"/>
            <a:ext cx="1956816" cy="640080"/>
          </a:xfrm>
          <a:prstGeom prst="roundRect">
            <a:avLst/>
          </a:prstGeom>
          <a:solidFill>
            <a:srgbClr val="DCFCE7"/>
          </a:solidFill>
          <a:ln w="12700">
            <a:solidFill>
              <a:srgbClr val="86EFAC"/>
            </a:solidFill>
            <a:prstDash val="solid"/>
          </a:ln>
        </p:spPr>
      </p:sp>
      <p:sp>
        <p:nvSpPr>
          <p:cNvPr id="15" name="body-text"/>
          <p:cNvSpPr/>
          <p:nvPr/>
        </p:nvSpPr>
        <p:spPr>
          <a:xfrm>
            <a:off x="4133088" y="2999232"/>
            <a:ext cx="1956816" cy="182880"/>
          </a:xfrm>
          <a:prstGeom prst="rect">
            <a:avLst/>
          </a:prstGeom>
          <a:noFill/>
          <a:ln/>
        </p:spPr>
        <p:txBody>
          <a:bodyPr wrap="square" lIns="0" tIns="0" rIns="0" bIns="0" rtlCol="0" anchor="t"/>
          <a:lstStyle/>
          <a:p>
            <a:pPr algn="ctr" indent="0" marL="0">
              <a:buNone/>
            </a:pPr>
            <a:r>
              <a:rPr lang="en-US" sz="1100" b="1" dirty="0">
                <a:solidFill>
                  <a:srgbClr val="166534"/>
                </a:solidFill>
                <a:latin typeface="Arial" pitchFamily="34" charset="0"/>
                <a:ea typeface="Arial" pitchFamily="34" charset="-122"/>
                <a:cs typeface="Arial" pitchFamily="34" charset="-120"/>
              </a:rPr>
              <a:t>Success</a:t>
            </a:r>
            <a:endParaRPr lang="en-US" sz="1100" dirty="0"/>
          </a:p>
        </p:txBody>
      </p:sp>
      <p:sp>
        <p:nvSpPr>
          <p:cNvPr id="16" name="failure-node"/>
          <p:cNvSpPr/>
          <p:nvPr/>
        </p:nvSpPr>
        <p:spPr>
          <a:xfrm>
            <a:off x="6656832" y="2816352"/>
            <a:ext cx="1755648" cy="640080"/>
          </a:xfrm>
          <a:prstGeom prst="roundRect">
            <a:avLst/>
          </a:prstGeom>
          <a:solidFill>
            <a:srgbClr val="FEE2E2"/>
          </a:solidFill>
          <a:ln w="12700">
            <a:solidFill>
              <a:srgbClr val="FCA5A5"/>
            </a:solidFill>
            <a:prstDash val="solid"/>
          </a:ln>
        </p:spPr>
      </p:sp>
      <p:sp>
        <p:nvSpPr>
          <p:cNvPr id="17" name="body-text"/>
          <p:cNvSpPr/>
          <p:nvPr/>
        </p:nvSpPr>
        <p:spPr>
          <a:xfrm>
            <a:off x="6656832" y="2999232"/>
            <a:ext cx="1755648" cy="182880"/>
          </a:xfrm>
          <a:prstGeom prst="rect">
            <a:avLst/>
          </a:prstGeom>
          <a:noFill/>
          <a:ln/>
        </p:spPr>
        <p:txBody>
          <a:bodyPr wrap="square" lIns="0" tIns="0" rIns="0" bIns="0" rtlCol="0" anchor="t"/>
          <a:lstStyle/>
          <a:p>
            <a:pPr algn="ctr" indent="0" marL="0">
              <a:buNone/>
            </a:pPr>
            <a:r>
              <a:rPr lang="en-US" sz="1100" b="1" dirty="0">
                <a:solidFill>
                  <a:srgbClr val="991B1B"/>
                </a:solidFill>
                <a:latin typeface="Arial" pitchFamily="34" charset="0"/>
                <a:ea typeface="Arial" pitchFamily="34" charset="-122"/>
                <a:cs typeface="Arial" pitchFamily="34" charset="-120"/>
              </a:rPr>
              <a:t>Failure</a:t>
            </a:r>
            <a:endParaRPr lang="en-US" sz="1100" dirty="0"/>
          </a:p>
        </p:txBody>
      </p:sp>
      <p:sp>
        <p:nvSpPr>
          <p:cNvPr id="18" name="error-scope"/>
          <p:cNvSpPr/>
          <p:nvPr/>
        </p:nvSpPr>
        <p:spPr>
          <a:xfrm>
            <a:off x="4498848" y="3822192"/>
            <a:ext cx="3529584" cy="530352"/>
          </a:xfrm>
          <a:prstGeom prst="roundRect">
            <a:avLst/>
          </a:prstGeom>
          <a:solidFill>
            <a:srgbClr val="F8FAFC"/>
          </a:solidFill>
          <a:ln w="12700">
            <a:solidFill>
              <a:srgbClr val="CBD5E1"/>
            </a:solidFill>
            <a:prstDash val="solid"/>
          </a:ln>
        </p:spPr>
      </p:sp>
      <p:sp>
        <p:nvSpPr>
          <p:cNvPr id="19" name="body-text"/>
          <p:cNvSpPr/>
          <p:nvPr/>
        </p:nvSpPr>
        <p:spPr>
          <a:xfrm>
            <a:off x="4681728" y="3950208"/>
            <a:ext cx="3163824" cy="237744"/>
          </a:xfrm>
          <a:prstGeom prst="rect">
            <a:avLst/>
          </a:prstGeom>
          <a:noFill/>
          <a:ln/>
        </p:spPr>
        <p:txBody>
          <a:bodyPr wrap="square" lIns="0" tIns="0" rIns="0" bIns="0" rtlCol="0" anchor="t"/>
          <a:lstStyle/>
          <a:p>
            <a:pPr algn="ctr" indent="0" marL="0">
              <a:buNone/>
            </a:pPr>
            <a:r>
              <a:rPr lang="en-US" sz="980" b="1" dirty="0">
                <a:solidFill>
                  <a:srgbClr val="475569"/>
                </a:solidFill>
                <a:latin typeface="Arial" pitchFamily="34" charset="0"/>
                <a:ea typeface="Arial" pitchFamily="34" charset="-122"/>
                <a:cs typeface="Arial" pitchFamily="34" charset="-120"/>
              </a:rPr>
              <a:t>For now, we only distinguish success from failure. No Axios error-object or status-code taxonomy is needed.</a:t>
            </a:r>
            <a:endParaRPr lang="en-US" sz="9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Handle both outcomes</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REQUEST STATES</a:t>
            </a:r>
            <a:endParaRPr lang="en-US" sz="940" dirty="0"/>
          </a:p>
        </p:txBody>
      </p:sp>
      <p:sp>
        <p:nvSpPr>
          <p:cNvPr id="4" name="body-text"/>
          <p:cNvSpPr/>
          <p:nvPr/>
        </p:nvSpPr>
        <p:spPr>
          <a:xfrm>
            <a:off x="621792" y="914400"/>
            <a:ext cx="7571232" cy="310896"/>
          </a:xfrm>
          <a:prstGeom prst="rect">
            <a:avLst/>
          </a:prstGeom>
          <a:noFill/>
          <a:ln/>
        </p:spPr>
        <p:txBody>
          <a:bodyPr wrap="square" lIns="0" tIns="0" rIns="0" bIns="0" rtlCol="0" anchor="t"/>
          <a:lstStyle/>
          <a:p>
            <a:pPr algn="l" indent="0" marL="0">
              <a:buNone/>
            </a:pPr>
            <a:r>
              <a:rPr lang="en-US" sz="1180" b="1" dirty="0">
                <a:solidFill>
                  <a:srgbClr val="0F172A"/>
                </a:solidFill>
                <a:latin typeface="Arial" pitchFamily="34" charset="0"/>
                <a:ea typeface="Arial" pitchFamily="34" charset="-122"/>
                <a:cs typeface="Arial" pitchFamily="34" charset="-120"/>
              </a:rPr>
              <a:t>The request now has a success path, a failure path, and a point where loading finishes.</a:t>
            </a:r>
            <a:endParaRPr lang="en-US" sz="1180" dirty="0"/>
          </a:p>
        </p:txBody>
      </p:sp>
      <p:sp>
        <p:nvSpPr>
          <p:cNvPr id="5" name="request-code"/>
          <p:cNvSpPr/>
          <p:nvPr/>
        </p:nvSpPr>
        <p:spPr>
          <a:xfrm>
            <a:off x="621792" y="1353312"/>
            <a:ext cx="4983480" cy="2980944"/>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15" dirty="0">
                <a:solidFill>
                  <a:srgbClr val="FFFFFF"/>
                </a:solidFill>
                <a:latin typeface="Courier New" pitchFamily="34" charset="0"/>
                <a:ea typeface="Courier New" pitchFamily="34" charset="-122"/>
                <a:cs typeface="Courier New" pitchFamily="34" charset="-120"/>
              </a:rPr>
              <a:t>useEffect(() =&gt; {</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async function loadFeedback() {</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try {</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const response =</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await axios.get&lt;Feedback[]&gt;(feedbackUrl);</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setFeedbackItems(response.data);</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 catch {</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setErrorMessage("Could not load feedback.");</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setIsLoading(false);</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a:t>
            </a:r>
            <a:endParaRPr lang="en-US" sz="1015" dirty="0"/>
          </a:p>
          <a:p>
            <a:pPr indent="0" marL="0">
              <a:buNone/>
            </a:pP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loadFeedback();</a:t>
            </a:r>
            <a:endParaRPr lang="en-US" sz="1015" dirty="0"/>
          </a:p>
          <a:p>
            <a:pPr indent="0" marL="0">
              <a:buNone/>
            </a:pPr>
            <a:r>
              <a:rPr lang="en-US" sz="1015" dirty="0">
                <a:solidFill>
                  <a:srgbClr val="FFFFFF"/>
                </a:solidFill>
                <a:latin typeface="Courier New" pitchFamily="34" charset="0"/>
                <a:ea typeface="Courier New" pitchFamily="34" charset="-122"/>
                <a:cs typeface="Courier New" pitchFamily="34" charset="-120"/>
              </a:rPr>
              <a:t>}, []);</a:t>
            </a:r>
            <a:endParaRPr lang="en-US" sz="1015" dirty="0"/>
          </a:p>
        </p:txBody>
      </p:sp>
      <p:sp>
        <p:nvSpPr>
          <p:cNvPr id="6" name="responsibility-0"/>
          <p:cNvSpPr/>
          <p:nvPr/>
        </p:nvSpPr>
        <p:spPr>
          <a:xfrm>
            <a:off x="5760720" y="1371600"/>
            <a:ext cx="2395728" cy="822960"/>
          </a:xfrm>
          <a:prstGeom prst="roundRect">
            <a:avLst/>
          </a:prstGeom>
          <a:solidFill>
            <a:srgbClr val="DCFCE7"/>
          </a:solidFill>
          <a:ln w="12700">
            <a:solidFill>
              <a:srgbClr val="86EFAC"/>
            </a:solidFill>
            <a:prstDash val="solid"/>
          </a:ln>
        </p:spPr>
      </p:sp>
      <p:sp>
        <p:nvSpPr>
          <p:cNvPr id="7" name="label"/>
          <p:cNvSpPr/>
          <p:nvPr/>
        </p:nvSpPr>
        <p:spPr>
          <a:xfrm>
            <a:off x="5925312" y="1463040"/>
            <a:ext cx="1097280" cy="182880"/>
          </a:xfrm>
          <a:prstGeom prst="rect">
            <a:avLst/>
          </a:prstGeom>
          <a:noFill/>
          <a:ln/>
        </p:spPr>
        <p:txBody>
          <a:bodyPr wrap="square" lIns="0" tIns="0" rIns="0" bIns="0" rtlCol="0" anchor="ctr"/>
          <a:lstStyle/>
          <a:p>
            <a:pPr algn="l" indent="0" marL="0">
              <a:buNone/>
            </a:pPr>
            <a:r>
              <a:rPr lang="en-US" sz="930" b="1" dirty="0">
                <a:solidFill>
                  <a:srgbClr val="166534"/>
                </a:solidFill>
                <a:latin typeface="Arial" pitchFamily="34" charset="0"/>
                <a:ea typeface="Arial" pitchFamily="34" charset="-122"/>
                <a:cs typeface="Arial" pitchFamily="34" charset="-120"/>
              </a:rPr>
              <a:t>SUCCESS</a:t>
            </a:r>
            <a:endParaRPr lang="en-US" sz="930" dirty="0"/>
          </a:p>
        </p:txBody>
      </p:sp>
      <p:sp>
        <p:nvSpPr>
          <p:cNvPr id="8" name="responsibility-code-0"/>
          <p:cNvSpPr/>
          <p:nvPr/>
        </p:nvSpPr>
        <p:spPr>
          <a:xfrm>
            <a:off x="5916168" y="1645920"/>
            <a:ext cx="2048256" cy="34747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30" dirty="0">
                <a:solidFill>
                  <a:srgbClr val="FFFFFF"/>
                </a:solidFill>
                <a:latin typeface="Courier New" pitchFamily="34" charset="0"/>
                <a:ea typeface="Courier New" pitchFamily="34" charset="-122"/>
                <a:cs typeface="Courier New" pitchFamily="34" charset="-120"/>
              </a:rPr>
              <a:t>setFeedbackItems(</a:t>
            </a:r>
            <a:endParaRPr lang="en-US" sz="930" dirty="0"/>
          </a:p>
          <a:p>
            <a:pPr indent="0" marL="0">
              <a:buNone/>
            </a:pPr>
            <a:r>
              <a:rPr lang="en-US" sz="930" dirty="0">
                <a:solidFill>
                  <a:srgbClr val="FFFFFF"/>
                </a:solidFill>
                <a:latin typeface="Courier New" pitchFamily="34" charset="0"/>
                <a:ea typeface="Courier New" pitchFamily="34" charset="-122"/>
                <a:cs typeface="Courier New" pitchFamily="34" charset="-120"/>
              </a:rPr>
              <a:t>  response.data</a:t>
            </a:r>
            <a:endParaRPr lang="en-US" sz="930" dirty="0"/>
          </a:p>
          <a:p>
            <a:pPr indent="0" marL="0">
              <a:buNone/>
            </a:pPr>
            <a:r>
              <a:rPr lang="en-US" sz="930" dirty="0">
                <a:solidFill>
                  <a:srgbClr val="FFFFFF"/>
                </a:solidFill>
                <a:latin typeface="Courier New" pitchFamily="34" charset="0"/>
                <a:ea typeface="Courier New" pitchFamily="34" charset="-122"/>
                <a:cs typeface="Courier New" pitchFamily="34" charset="-120"/>
              </a:rPr>
              <a:t>);</a:t>
            </a:r>
            <a:endParaRPr lang="en-US" sz="930" dirty="0"/>
          </a:p>
        </p:txBody>
      </p:sp>
      <p:sp>
        <p:nvSpPr>
          <p:cNvPr id="9" name="body-text"/>
          <p:cNvSpPr/>
          <p:nvPr/>
        </p:nvSpPr>
        <p:spPr>
          <a:xfrm>
            <a:off x="5916168" y="1984248"/>
            <a:ext cx="2048256" cy="146304"/>
          </a:xfrm>
          <a:prstGeom prst="rect">
            <a:avLst/>
          </a:prstGeom>
          <a:noFill/>
          <a:ln/>
        </p:spPr>
        <p:txBody>
          <a:bodyPr wrap="square" lIns="0" tIns="0" rIns="0" bIns="0" rtlCol="0" anchor="t"/>
          <a:lstStyle/>
          <a:p>
            <a:pPr algn="l" indent="0" marL="0">
              <a:buNone/>
            </a:pPr>
            <a:r>
              <a:rPr lang="en-US" sz="890" dirty="0">
                <a:solidFill>
                  <a:srgbClr val="475569"/>
                </a:solidFill>
                <a:latin typeface="Arial" pitchFamily="34" charset="0"/>
                <a:ea typeface="Arial" pitchFamily="34" charset="-122"/>
                <a:cs typeface="Arial" pitchFamily="34" charset="-120"/>
              </a:rPr>
              <a:t>Store the returned collection.</a:t>
            </a:r>
            <a:endParaRPr lang="en-US" sz="890" dirty="0"/>
          </a:p>
        </p:txBody>
      </p:sp>
      <p:sp>
        <p:nvSpPr>
          <p:cNvPr id="10" name="responsibility-1"/>
          <p:cNvSpPr/>
          <p:nvPr/>
        </p:nvSpPr>
        <p:spPr>
          <a:xfrm>
            <a:off x="5760720" y="2359152"/>
            <a:ext cx="2395728" cy="969264"/>
          </a:xfrm>
          <a:prstGeom prst="roundRect">
            <a:avLst/>
          </a:prstGeom>
          <a:solidFill>
            <a:srgbClr val="FEE2E2"/>
          </a:solidFill>
          <a:ln w="12700">
            <a:solidFill>
              <a:srgbClr val="FCA5A5"/>
            </a:solidFill>
            <a:prstDash val="solid"/>
          </a:ln>
        </p:spPr>
      </p:sp>
      <p:sp>
        <p:nvSpPr>
          <p:cNvPr id="11" name="label"/>
          <p:cNvSpPr/>
          <p:nvPr/>
        </p:nvSpPr>
        <p:spPr>
          <a:xfrm>
            <a:off x="5925312" y="2450592"/>
            <a:ext cx="1097280" cy="182880"/>
          </a:xfrm>
          <a:prstGeom prst="rect">
            <a:avLst/>
          </a:prstGeom>
          <a:noFill/>
          <a:ln/>
        </p:spPr>
        <p:txBody>
          <a:bodyPr wrap="square" lIns="0" tIns="0" rIns="0" bIns="0" rtlCol="0" anchor="ctr"/>
          <a:lstStyle/>
          <a:p>
            <a:pPr algn="l" indent="0" marL="0">
              <a:buNone/>
            </a:pPr>
            <a:r>
              <a:rPr lang="en-US" sz="930" b="1" dirty="0">
                <a:solidFill>
                  <a:srgbClr val="991B1B"/>
                </a:solidFill>
                <a:latin typeface="Arial" pitchFamily="34" charset="0"/>
                <a:ea typeface="Arial" pitchFamily="34" charset="-122"/>
                <a:cs typeface="Arial" pitchFamily="34" charset="-120"/>
              </a:rPr>
              <a:t>FAILURE</a:t>
            </a:r>
            <a:endParaRPr lang="en-US" sz="930" dirty="0"/>
          </a:p>
        </p:txBody>
      </p:sp>
      <p:sp>
        <p:nvSpPr>
          <p:cNvPr id="12" name="responsibility-code-1"/>
          <p:cNvSpPr/>
          <p:nvPr/>
        </p:nvSpPr>
        <p:spPr>
          <a:xfrm>
            <a:off x="5916168" y="2633472"/>
            <a:ext cx="2048256" cy="43891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890" dirty="0">
                <a:solidFill>
                  <a:srgbClr val="FFFFFF"/>
                </a:solidFill>
                <a:latin typeface="Courier New" pitchFamily="34" charset="0"/>
                <a:ea typeface="Courier New" pitchFamily="34" charset="-122"/>
                <a:cs typeface="Courier New" pitchFamily="34" charset="-120"/>
              </a:rPr>
              <a:t>setErrorMessage(</a:t>
            </a:r>
            <a:endParaRPr lang="en-US" sz="890" dirty="0"/>
          </a:p>
          <a:p>
            <a:pPr indent="0" marL="0">
              <a:buNone/>
            </a:pPr>
            <a:r>
              <a:rPr lang="en-US" sz="890" dirty="0">
                <a:solidFill>
                  <a:srgbClr val="FFFFFF"/>
                </a:solidFill>
                <a:latin typeface="Courier New" pitchFamily="34" charset="0"/>
                <a:ea typeface="Courier New" pitchFamily="34" charset="-122"/>
                <a:cs typeface="Courier New" pitchFamily="34" charset="-120"/>
              </a:rPr>
              <a:t>  "Could not load feedback."</a:t>
            </a:r>
            <a:endParaRPr lang="en-US" sz="890" dirty="0"/>
          </a:p>
          <a:p>
            <a:pPr indent="0" marL="0">
              <a:buNone/>
            </a:pPr>
            <a:r>
              <a:rPr lang="en-US" sz="890" dirty="0">
                <a:solidFill>
                  <a:srgbClr val="FFFFFF"/>
                </a:solidFill>
                <a:latin typeface="Courier New" pitchFamily="34" charset="0"/>
                <a:ea typeface="Courier New" pitchFamily="34" charset="-122"/>
                <a:cs typeface="Courier New" pitchFamily="34" charset="-120"/>
              </a:rPr>
              <a:t>);</a:t>
            </a:r>
            <a:endParaRPr lang="en-US" sz="890" dirty="0"/>
          </a:p>
        </p:txBody>
      </p:sp>
      <p:sp>
        <p:nvSpPr>
          <p:cNvPr id="13" name="body-text"/>
          <p:cNvSpPr/>
          <p:nvPr/>
        </p:nvSpPr>
        <p:spPr>
          <a:xfrm>
            <a:off x="5916168" y="3118104"/>
            <a:ext cx="2048256" cy="146304"/>
          </a:xfrm>
          <a:prstGeom prst="rect">
            <a:avLst/>
          </a:prstGeom>
          <a:noFill/>
          <a:ln/>
        </p:spPr>
        <p:txBody>
          <a:bodyPr wrap="square" lIns="0" tIns="0" rIns="0" bIns="0" rtlCol="0" anchor="t"/>
          <a:lstStyle/>
          <a:p>
            <a:pPr algn="l" indent="0" marL="0">
              <a:buNone/>
            </a:pPr>
            <a:r>
              <a:rPr lang="en-US" sz="890" dirty="0">
                <a:solidFill>
                  <a:srgbClr val="475569"/>
                </a:solidFill>
                <a:latin typeface="Arial" pitchFamily="34" charset="0"/>
                <a:ea typeface="Arial" pitchFamily="34" charset="-122"/>
                <a:cs typeface="Arial" pitchFamily="34" charset="-120"/>
              </a:rPr>
              <a:t>Store a failure message.</a:t>
            </a:r>
            <a:endParaRPr lang="en-US" sz="890" dirty="0"/>
          </a:p>
        </p:txBody>
      </p:sp>
      <p:sp>
        <p:nvSpPr>
          <p:cNvPr id="14" name="responsibility-2"/>
          <p:cNvSpPr/>
          <p:nvPr/>
        </p:nvSpPr>
        <p:spPr>
          <a:xfrm>
            <a:off x="5760720" y="3493008"/>
            <a:ext cx="2395728" cy="822960"/>
          </a:xfrm>
          <a:prstGeom prst="roundRect">
            <a:avLst/>
          </a:prstGeom>
          <a:solidFill>
            <a:srgbClr val="EFF6FF"/>
          </a:solidFill>
          <a:ln w="12700">
            <a:solidFill>
              <a:srgbClr val="BFDBFE"/>
            </a:solidFill>
            <a:prstDash val="solid"/>
          </a:ln>
        </p:spPr>
      </p:sp>
      <p:sp>
        <p:nvSpPr>
          <p:cNvPr id="15" name="label"/>
          <p:cNvSpPr/>
          <p:nvPr/>
        </p:nvSpPr>
        <p:spPr>
          <a:xfrm>
            <a:off x="5925312" y="3584448"/>
            <a:ext cx="1097280" cy="182880"/>
          </a:xfrm>
          <a:prstGeom prst="rect">
            <a:avLst/>
          </a:prstGeom>
          <a:noFill/>
          <a:ln/>
        </p:spPr>
        <p:txBody>
          <a:bodyPr wrap="square" lIns="0" tIns="0" rIns="0" bIns="0" rtlCol="0" anchor="ctr"/>
          <a:lstStyle/>
          <a:p>
            <a:pPr algn="l" indent="0" marL="0">
              <a:buNone/>
            </a:pPr>
            <a:r>
              <a:rPr lang="en-US" sz="930" b="1" dirty="0">
                <a:solidFill>
                  <a:srgbClr val="1E3A8A"/>
                </a:solidFill>
                <a:latin typeface="Arial" pitchFamily="34" charset="0"/>
                <a:ea typeface="Arial" pitchFamily="34" charset="-122"/>
                <a:cs typeface="Arial" pitchFamily="34" charset="-120"/>
              </a:rPr>
              <a:t>FINISHED</a:t>
            </a:r>
            <a:endParaRPr lang="en-US" sz="930" dirty="0"/>
          </a:p>
        </p:txBody>
      </p:sp>
      <p:sp>
        <p:nvSpPr>
          <p:cNvPr id="16" name="responsibility-code-2"/>
          <p:cNvSpPr/>
          <p:nvPr/>
        </p:nvSpPr>
        <p:spPr>
          <a:xfrm>
            <a:off x="5916168" y="3767328"/>
            <a:ext cx="2048256" cy="34747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30" dirty="0">
                <a:solidFill>
                  <a:srgbClr val="FFFFFF"/>
                </a:solidFill>
                <a:latin typeface="Courier New" pitchFamily="34" charset="0"/>
                <a:ea typeface="Courier New" pitchFamily="34" charset="-122"/>
                <a:cs typeface="Courier New" pitchFamily="34" charset="-120"/>
              </a:rPr>
              <a:t>setIsLoading(false);</a:t>
            </a:r>
            <a:endParaRPr lang="en-US" sz="930" dirty="0"/>
          </a:p>
        </p:txBody>
      </p:sp>
      <p:sp>
        <p:nvSpPr>
          <p:cNvPr id="17" name="body-text"/>
          <p:cNvSpPr/>
          <p:nvPr/>
        </p:nvSpPr>
        <p:spPr>
          <a:xfrm>
            <a:off x="5916168" y="4105656"/>
            <a:ext cx="2048256" cy="146304"/>
          </a:xfrm>
          <a:prstGeom prst="rect">
            <a:avLst/>
          </a:prstGeom>
          <a:noFill/>
          <a:ln/>
        </p:spPr>
        <p:txBody>
          <a:bodyPr wrap="square" lIns="0" tIns="0" rIns="0" bIns="0" rtlCol="0" anchor="t"/>
          <a:lstStyle/>
          <a:p>
            <a:pPr algn="l" indent="0" marL="0">
              <a:buNone/>
            </a:pPr>
            <a:r>
              <a:rPr lang="en-US" sz="890" dirty="0">
                <a:solidFill>
                  <a:srgbClr val="475569"/>
                </a:solidFill>
                <a:latin typeface="Arial" pitchFamily="34" charset="0"/>
                <a:ea typeface="Arial" pitchFamily="34" charset="-122"/>
                <a:cs typeface="Arial" pitchFamily="34" charset="-120"/>
              </a:rPr>
              <a:t>Request is no longer running.</a:t>
            </a:r>
            <a:endParaRPr lang="en-US" sz="89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Four request states</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REQUEST STATES</a:t>
            </a:r>
            <a:endParaRPr lang="en-US" sz="940" dirty="0"/>
          </a:p>
        </p:txBody>
      </p:sp>
      <p:sp>
        <p:nvSpPr>
          <p:cNvPr id="4" name="request-state-0"/>
          <p:cNvSpPr/>
          <p:nvPr/>
        </p:nvSpPr>
        <p:spPr>
          <a:xfrm>
            <a:off x="749808" y="1188720"/>
            <a:ext cx="3419856" cy="1060704"/>
          </a:xfrm>
          <a:prstGeom prst="roundRect">
            <a:avLst/>
          </a:prstGeom>
          <a:solidFill>
            <a:srgbClr val="EFF6FF"/>
          </a:solidFill>
          <a:ln w="12700">
            <a:solidFill>
              <a:srgbClr val="EFF6FF"/>
            </a:solidFill>
            <a:prstDash val="solid"/>
          </a:ln>
        </p:spPr>
      </p:sp>
      <p:sp>
        <p:nvSpPr>
          <p:cNvPr id="5" name="body-text"/>
          <p:cNvSpPr/>
          <p:nvPr/>
        </p:nvSpPr>
        <p:spPr>
          <a:xfrm>
            <a:off x="914400" y="1335024"/>
            <a:ext cx="1005840" cy="201168"/>
          </a:xfrm>
          <a:prstGeom prst="rect">
            <a:avLst/>
          </a:prstGeom>
          <a:noFill/>
          <a:ln/>
        </p:spPr>
        <p:txBody>
          <a:bodyPr wrap="square" lIns="0" tIns="0" rIns="0" bIns="0" rtlCol="0" anchor="t"/>
          <a:lstStyle/>
          <a:p>
            <a:pPr algn="l" indent="0" marL="0">
              <a:buNone/>
            </a:pPr>
            <a:r>
              <a:rPr lang="en-US" sz="1140" b="1" dirty="0">
                <a:solidFill>
                  <a:srgbClr val="1E3A8A"/>
                </a:solidFill>
                <a:latin typeface="Arial" pitchFamily="34" charset="0"/>
                <a:ea typeface="Arial" pitchFamily="34" charset="-122"/>
                <a:cs typeface="Arial" pitchFamily="34" charset="-120"/>
              </a:rPr>
              <a:t>Loading</a:t>
            </a:r>
            <a:endParaRPr lang="en-US" sz="1140" dirty="0"/>
          </a:p>
        </p:txBody>
      </p:sp>
      <p:sp>
        <p:nvSpPr>
          <p:cNvPr id="6" name="mini-code"/>
          <p:cNvSpPr/>
          <p:nvPr/>
        </p:nvSpPr>
        <p:spPr>
          <a:xfrm>
            <a:off x="1938528" y="1298448"/>
            <a:ext cx="1993392" cy="310896"/>
          </a:xfrm>
          <a:prstGeom prst="rect">
            <a:avLst/>
          </a:prstGeom>
          <a:solidFill>
            <a:srgbClr val="FFFFFF"/>
          </a:solidFill>
          <a:ln w="8890">
            <a:solidFill>
              <a:srgbClr val="FFFFFF"/>
            </a:solidFill>
          </a:ln>
        </p:spPr>
        <p:txBody>
          <a:bodyPr wrap="square" lIns="635" tIns="1270" rIns="1270" bIns="635" rtlCol="0" anchor="ctr"/>
          <a:lstStyle/>
          <a:p>
            <a:pPr algn="ctr" indent="0" marL="0">
              <a:buNone/>
            </a:pPr>
            <a:r>
              <a:rPr lang="en-US" sz="880" dirty="0">
                <a:solidFill>
                  <a:srgbClr val="0F172A"/>
                </a:solidFill>
                <a:latin typeface="Courier New" pitchFamily="34" charset="0"/>
                <a:ea typeface="Courier New" pitchFamily="34" charset="-122"/>
                <a:cs typeface="Courier New" pitchFamily="34" charset="-120"/>
              </a:rPr>
              <a:t>isLoading === true</a:t>
            </a:r>
            <a:endParaRPr lang="en-US" sz="880" dirty="0"/>
          </a:p>
        </p:txBody>
      </p:sp>
      <p:sp>
        <p:nvSpPr>
          <p:cNvPr id="7" name="body-text"/>
          <p:cNvSpPr/>
          <p:nvPr/>
        </p:nvSpPr>
        <p:spPr>
          <a:xfrm>
            <a:off x="914400" y="1755648"/>
            <a:ext cx="3090672" cy="274320"/>
          </a:xfrm>
          <a:prstGeom prst="rect">
            <a:avLst/>
          </a:prstGeom>
          <a:noFill/>
          <a:ln/>
        </p:spPr>
        <p:txBody>
          <a:bodyPr wrap="square" lIns="0" tIns="0" rIns="0" bIns="0" rtlCol="0" anchor="t"/>
          <a:lstStyle/>
          <a:p>
            <a:pPr algn="ctr" indent="0" marL="0">
              <a:buNone/>
            </a:pPr>
            <a:r>
              <a:rPr lang="en-US" sz="980" dirty="0">
                <a:solidFill>
                  <a:srgbClr val="0F172A"/>
                </a:solidFill>
                <a:latin typeface="Arial" pitchFamily="34" charset="0"/>
                <a:ea typeface="Arial" pitchFamily="34" charset="-122"/>
                <a:cs typeface="Arial" pitchFamily="34" charset="-120"/>
              </a:rPr>
              <a:t>The server's answer is not available yet.</a:t>
            </a:r>
            <a:endParaRPr lang="en-US" sz="980" dirty="0"/>
          </a:p>
        </p:txBody>
      </p:sp>
      <p:sp>
        <p:nvSpPr>
          <p:cNvPr id="8" name="request-state-1"/>
          <p:cNvSpPr/>
          <p:nvPr/>
        </p:nvSpPr>
        <p:spPr>
          <a:xfrm>
            <a:off x="4553712" y="1188720"/>
            <a:ext cx="3419856" cy="1060704"/>
          </a:xfrm>
          <a:prstGeom prst="roundRect">
            <a:avLst/>
          </a:prstGeom>
          <a:solidFill>
            <a:srgbClr val="FEE2E2"/>
          </a:solidFill>
          <a:ln w="12700">
            <a:solidFill>
              <a:srgbClr val="FEE2E2"/>
            </a:solidFill>
            <a:prstDash val="solid"/>
          </a:ln>
        </p:spPr>
      </p:sp>
      <p:sp>
        <p:nvSpPr>
          <p:cNvPr id="9" name="body-text"/>
          <p:cNvSpPr/>
          <p:nvPr/>
        </p:nvSpPr>
        <p:spPr>
          <a:xfrm>
            <a:off x="4718304" y="1335024"/>
            <a:ext cx="1005840" cy="201168"/>
          </a:xfrm>
          <a:prstGeom prst="rect">
            <a:avLst/>
          </a:prstGeom>
          <a:noFill/>
          <a:ln/>
        </p:spPr>
        <p:txBody>
          <a:bodyPr wrap="square" lIns="0" tIns="0" rIns="0" bIns="0" rtlCol="0" anchor="t"/>
          <a:lstStyle/>
          <a:p>
            <a:pPr algn="l" indent="0" marL="0">
              <a:buNone/>
            </a:pPr>
            <a:r>
              <a:rPr lang="en-US" sz="1140" b="1" dirty="0">
                <a:solidFill>
                  <a:srgbClr val="991B1B"/>
                </a:solidFill>
                <a:latin typeface="Arial" pitchFamily="34" charset="0"/>
                <a:ea typeface="Arial" pitchFamily="34" charset="-122"/>
                <a:cs typeface="Arial" pitchFamily="34" charset="-120"/>
              </a:rPr>
              <a:t>Failure</a:t>
            </a:r>
            <a:endParaRPr lang="en-US" sz="1140" dirty="0"/>
          </a:p>
        </p:txBody>
      </p:sp>
      <p:sp>
        <p:nvSpPr>
          <p:cNvPr id="10" name="mini-code"/>
          <p:cNvSpPr/>
          <p:nvPr/>
        </p:nvSpPr>
        <p:spPr>
          <a:xfrm>
            <a:off x="5742432" y="1298448"/>
            <a:ext cx="1993392" cy="310896"/>
          </a:xfrm>
          <a:prstGeom prst="rect">
            <a:avLst/>
          </a:prstGeom>
          <a:solidFill>
            <a:srgbClr val="FFFFFF"/>
          </a:solidFill>
          <a:ln w="8890">
            <a:solidFill>
              <a:srgbClr val="FFFFFF"/>
            </a:solidFill>
          </a:ln>
        </p:spPr>
        <p:txBody>
          <a:bodyPr wrap="square" lIns="635" tIns="1270" rIns="1270" bIns="635" rtlCol="0" anchor="ctr"/>
          <a:lstStyle/>
          <a:p>
            <a:pPr algn="ctr" indent="0" marL="0">
              <a:buNone/>
            </a:pPr>
            <a:r>
              <a:rPr lang="en-US" sz="880" dirty="0">
                <a:solidFill>
                  <a:srgbClr val="0F172A"/>
                </a:solidFill>
                <a:latin typeface="Courier New" pitchFamily="34" charset="0"/>
                <a:ea typeface="Courier New" pitchFamily="34" charset="-122"/>
                <a:cs typeface="Courier New" pitchFamily="34" charset="-120"/>
              </a:rPr>
              <a:t>errorMessage !== ""</a:t>
            </a:r>
            <a:endParaRPr lang="en-US" sz="880" dirty="0"/>
          </a:p>
        </p:txBody>
      </p:sp>
      <p:sp>
        <p:nvSpPr>
          <p:cNvPr id="11" name="body-text"/>
          <p:cNvSpPr/>
          <p:nvPr/>
        </p:nvSpPr>
        <p:spPr>
          <a:xfrm>
            <a:off x="4718304" y="1755648"/>
            <a:ext cx="3090672" cy="274320"/>
          </a:xfrm>
          <a:prstGeom prst="rect">
            <a:avLst/>
          </a:prstGeom>
          <a:noFill/>
          <a:ln/>
        </p:spPr>
        <p:txBody>
          <a:bodyPr wrap="square" lIns="0" tIns="0" rIns="0" bIns="0" rtlCol="0" anchor="t"/>
          <a:lstStyle/>
          <a:p>
            <a:pPr algn="ctr" indent="0" marL="0">
              <a:buNone/>
            </a:pPr>
            <a:r>
              <a:rPr lang="en-US" sz="980" dirty="0">
                <a:solidFill>
                  <a:srgbClr val="0F172A"/>
                </a:solidFill>
                <a:latin typeface="Arial" pitchFamily="34" charset="0"/>
                <a:ea typeface="Arial" pitchFamily="34" charset="-122"/>
                <a:cs typeface="Arial" pitchFamily="34" charset="-120"/>
              </a:rPr>
              <a:t>The request finished unsuccessfully.</a:t>
            </a:r>
            <a:endParaRPr lang="en-US" sz="980" dirty="0"/>
          </a:p>
        </p:txBody>
      </p:sp>
      <p:sp>
        <p:nvSpPr>
          <p:cNvPr id="12" name="request-state-2"/>
          <p:cNvSpPr/>
          <p:nvPr/>
        </p:nvSpPr>
        <p:spPr>
          <a:xfrm>
            <a:off x="749808" y="2542032"/>
            <a:ext cx="3419856" cy="1060704"/>
          </a:xfrm>
          <a:prstGeom prst="roundRect">
            <a:avLst/>
          </a:prstGeom>
          <a:solidFill>
            <a:srgbClr val="FEF9C3"/>
          </a:solidFill>
          <a:ln w="12700">
            <a:solidFill>
              <a:srgbClr val="FEF9C3"/>
            </a:solidFill>
            <a:prstDash val="solid"/>
          </a:ln>
        </p:spPr>
      </p:sp>
      <p:sp>
        <p:nvSpPr>
          <p:cNvPr id="13" name="body-text"/>
          <p:cNvSpPr/>
          <p:nvPr/>
        </p:nvSpPr>
        <p:spPr>
          <a:xfrm>
            <a:off x="914400" y="2688336"/>
            <a:ext cx="1005840" cy="201168"/>
          </a:xfrm>
          <a:prstGeom prst="rect">
            <a:avLst/>
          </a:prstGeom>
          <a:noFill/>
          <a:ln/>
        </p:spPr>
        <p:txBody>
          <a:bodyPr wrap="square" lIns="0" tIns="0" rIns="0" bIns="0" rtlCol="0" anchor="t"/>
          <a:lstStyle/>
          <a:p>
            <a:pPr algn="l" indent="0" marL="0">
              <a:buNone/>
            </a:pPr>
            <a:r>
              <a:rPr lang="en-US" sz="1140" b="1" dirty="0">
                <a:solidFill>
                  <a:srgbClr val="854D0E"/>
                </a:solidFill>
                <a:latin typeface="Arial" pitchFamily="34" charset="0"/>
                <a:ea typeface="Arial" pitchFamily="34" charset="-122"/>
                <a:cs typeface="Arial" pitchFamily="34" charset="-120"/>
              </a:rPr>
              <a:t>Empty</a:t>
            </a:r>
            <a:endParaRPr lang="en-US" sz="1140" dirty="0"/>
          </a:p>
        </p:txBody>
      </p:sp>
      <p:sp>
        <p:nvSpPr>
          <p:cNvPr id="14" name="mini-code"/>
          <p:cNvSpPr/>
          <p:nvPr/>
        </p:nvSpPr>
        <p:spPr>
          <a:xfrm>
            <a:off x="1938528" y="2651760"/>
            <a:ext cx="1993392" cy="310896"/>
          </a:xfrm>
          <a:prstGeom prst="rect">
            <a:avLst/>
          </a:prstGeom>
          <a:solidFill>
            <a:srgbClr val="FFFFFF"/>
          </a:solidFill>
          <a:ln w="8890">
            <a:solidFill>
              <a:srgbClr val="FFFFFF"/>
            </a:solidFill>
          </a:ln>
        </p:spPr>
        <p:txBody>
          <a:bodyPr wrap="square" lIns="635" tIns="1270" rIns="1270" bIns="635" rtlCol="0" anchor="ctr"/>
          <a:lstStyle/>
          <a:p>
            <a:pPr algn="ctr" indent="0" marL="0">
              <a:buNone/>
            </a:pPr>
            <a:r>
              <a:rPr lang="en-US" sz="880" dirty="0">
                <a:solidFill>
                  <a:srgbClr val="0F172A"/>
                </a:solidFill>
                <a:latin typeface="Courier New" pitchFamily="34" charset="0"/>
                <a:ea typeface="Courier New" pitchFamily="34" charset="-122"/>
                <a:cs typeface="Courier New" pitchFamily="34" charset="-120"/>
              </a:rPr>
              <a:t>feedbackItems.length === 0</a:t>
            </a:r>
            <a:endParaRPr lang="en-US" sz="880" dirty="0"/>
          </a:p>
        </p:txBody>
      </p:sp>
      <p:sp>
        <p:nvSpPr>
          <p:cNvPr id="15" name="body-text"/>
          <p:cNvSpPr/>
          <p:nvPr/>
        </p:nvSpPr>
        <p:spPr>
          <a:xfrm>
            <a:off x="914400" y="3108960"/>
            <a:ext cx="3090672" cy="274320"/>
          </a:xfrm>
          <a:prstGeom prst="rect">
            <a:avLst/>
          </a:prstGeom>
          <a:noFill/>
          <a:ln/>
        </p:spPr>
        <p:txBody>
          <a:bodyPr wrap="square" lIns="0" tIns="0" rIns="0" bIns="0" rtlCol="0" anchor="t"/>
          <a:lstStyle/>
          <a:p>
            <a:pPr algn="ctr" indent="0" marL="0">
              <a:buNone/>
            </a:pPr>
            <a:r>
              <a:rPr lang="en-US" sz="980" dirty="0">
                <a:solidFill>
                  <a:srgbClr val="0F172A"/>
                </a:solidFill>
                <a:latin typeface="Arial" pitchFamily="34" charset="0"/>
                <a:ea typeface="Arial" pitchFamily="34" charset="-122"/>
                <a:cs typeface="Arial" pitchFamily="34" charset="-120"/>
              </a:rPr>
              <a:t>The request succeeded and returned no feedback.</a:t>
            </a:r>
            <a:endParaRPr lang="en-US" sz="980" dirty="0"/>
          </a:p>
        </p:txBody>
      </p:sp>
      <p:sp>
        <p:nvSpPr>
          <p:cNvPr id="16" name="request-state-3"/>
          <p:cNvSpPr/>
          <p:nvPr/>
        </p:nvSpPr>
        <p:spPr>
          <a:xfrm>
            <a:off x="4553712" y="2542032"/>
            <a:ext cx="3419856" cy="1060704"/>
          </a:xfrm>
          <a:prstGeom prst="roundRect">
            <a:avLst/>
          </a:prstGeom>
          <a:solidFill>
            <a:srgbClr val="DCFCE7"/>
          </a:solidFill>
          <a:ln w="12700">
            <a:solidFill>
              <a:srgbClr val="DCFCE7"/>
            </a:solidFill>
            <a:prstDash val="solid"/>
          </a:ln>
        </p:spPr>
      </p:sp>
      <p:sp>
        <p:nvSpPr>
          <p:cNvPr id="17" name="body-text"/>
          <p:cNvSpPr/>
          <p:nvPr/>
        </p:nvSpPr>
        <p:spPr>
          <a:xfrm>
            <a:off x="4718304" y="2688336"/>
            <a:ext cx="1005840" cy="201168"/>
          </a:xfrm>
          <a:prstGeom prst="rect">
            <a:avLst/>
          </a:prstGeom>
          <a:noFill/>
          <a:ln/>
        </p:spPr>
        <p:txBody>
          <a:bodyPr wrap="square" lIns="0" tIns="0" rIns="0" bIns="0" rtlCol="0" anchor="t"/>
          <a:lstStyle/>
          <a:p>
            <a:pPr algn="l" indent="0" marL="0">
              <a:buNone/>
            </a:pPr>
            <a:r>
              <a:rPr lang="en-US" sz="1140" b="1" dirty="0">
                <a:solidFill>
                  <a:srgbClr val="166534"/>
                </a:solidFill>
                <a:latin typeface="Arial" pitchFamily="34" charset="0"/>
                <a:ea typeface="Arial" pitchFamily="34" charset="-122"/>
                <a:cs typeface="Arial" pitchFamily="34" charset="-120"/>
              </a:rPr>
              <a:t>Data</a:t>
            </a:r>
            <a:endParaRPr lang="en-US" sz="1140" dirty="0"/>
          </a:p>
        </p:txBody>
      </p:sp>
      <p:sp>
        <p:nvSpPr>
          <p:cNvPr id="18" name="mini-code"/>
          <p:cNvSpPr/>
          <p:nvPr/>
        </p:nvSpPr>
        <p:spPr>
          <a:xfrm>
            <a:off x="5742432" y="2651760"/>
            <a:ext cx="1993392" cy="310896"/>
          </a:xfrm>
          <a:prstGeom prst="rect">
            <a:avLst/>
          </a:prstGeom>
          <a:solidFill>
            <a:srgbClr val="FFFFFF"/>
          </a:solidFill>
          <a:ln w="8890">
            <a:solidFill>
              <a:srgbClr val="FFFFFF"/>
            </a:solidFill>
          </a:ln>
        </p:spPr>
        <p:txBody>
          <a:bodyPr wrap="square" lIns="635" tIns="1270" rIns="1270" bIns="635" rtlCol="0" anchor="ctr"/>
          <a:lstStyle/>
          <a:p>
            <a:pPr algn="ctr" indent="0" marL="0">
              <a:buNone/>
            </a:pPr>
            <a:r>
              <a:rPr lang="en-US" sz="880" dirty="0">
                <a:solidFill>
                  <a:srgbClr val="0F172A"/>
                </a:solidFill>
                <a:latin typeface="Courier New" pitchFamily="34" charset="0"/>
                <a:ea typeface="Courier New" pitchFamily="34" charset="-122"/>
                <a:cs typeface="Courier New" pitchFamily="34" charset="-120"/>
              </a:rPr>
              <a:t>feedbackItems.length &gt; 0</a:t>
            </a:r>
            <a:endParaRPr lang="en-US" sz="880" dirty="0"/>
          </a:p>
        </p:txBody>
      </p:sp>
      <p:sp>
        <p:nvSpPr>
          <p:cNvPr id="19" name="body-text"/>
          <p:cNvSpPr/>
          <p:nvPr/>
        </p:nvSpPr>
        <p:spPr>
          <a:xfrm>
            <a:off x="4718304" y="3108960"/>
            <a:ext cx="3090672" cy="274320"/>
          </a:xfrm>
          <a:prstGeom prst="rect">
            <a:avLst/>
          </a:prstGeom>
          <a:noFill/>
          <a:ln/>
        </p:spPr>
        <p:txBody>
          <a:bodyPr wrap="square" lIns="0" tIns="0" rIns="0" bIns="0" rtlCol="0" anchor="t"/>
          <a:lstStyle/>
          <a:p>
            <a:pPr algn="ctr" indent="0" marL="0">
              <a:buNone/>
            </a:pPr>
            <a:r>
              <a:rPr lang="en-US" sz="980" dirty="0">
                <a:solidFill>
                  <a:srgbClr val="0F172A"/>
                </a:solidFill>
                <a:latin typeface="Arial" pitchFamily="34" charset="0"/>
                <a:ea typeface="Arial" pitchFamily="34" charset="-122"/>
                <a:cs typeface="Arial" pitchFamily="34" charset="-120"/>
              </a:rPr>
              <a:t>The successful result contains feedback.</a:t>
            </a:r>
            <a:endParaRPr lang="en-US" sz="980" dirty="0"/>
          </a:p>
        </p:txBody>
      </p:sp>
      <p:sp>
        <p:nvSpPr>
          <p:cNvPr id="20" name="derived-empty"/>
          <p:cNvSpPr/>
          <p:nvPr/>
        </p:nvSpPr>
        <p:spPr>
          <a:xfrm>
            <a:off x="1225296" y="3913632"/>
            <a:ext cx="6528816" cy="512064"/>
          </a:xfrm>
          <a:prstGeom prst="roundRect">
            <a:avLst/>
          </a:prstGeom>
          <a:solidFill>
            <a:srgbClr val="F8FAFC"/>
          </a:solidFill>
          <a:ln w="12700">
            <a:solidFill>
              <a:srgbClr val="CBD5E1"/>
            </a:solidFill>
            <a:prstDash val="solid"/>
          </a:ln>
        </p:spPr>
      </p:sp>
      <p:sp>
        <p:nvSpPr>
          <p:cNvPr id="21" name="rich-text"/>
          <p:cNvSpPr/>
          <p:nvPr/>
        </p:nvSpPr>
        <p:spPr>
          <a:xfrm>
            <a:off x="1426464" y="4041648"/>
            <a:ext cx="6126480" cy="219456"/>
          </a:xfrm>
          <a:prstGeom prst="rect">
            <a:avLst/>
          </a:prstGeom>
          <a:noFill/>
          <a:ln/>
        </p:spPr>
        <p:txBody>
          <a:bodyPr wrap="square" lIns="0" tIns="0" rIns="0" bIns="0" rtlCol="0" anchor="t"/>
          <a:lstStyle/>
          <a:p>
            <a:pPr indent="0" marL="0">
              <a:buNone/>
            </a:pPr>
            <a:r>
              <a:rPr lang="en-US" sz="1020" b="1" dirty="0">
                <a:solidFill>
                  <a:srgbClr val="991B1B"/>
                </a:solidFill>
                <a:latin typeface="Arial" pitchFamily="34" charset="0"/>
                <a:ea typeface="Arial" pitchFamily="34" charset="-122"/>
                <a:cs typeface="Arial" pitchFamily="34" charset="-120"/>
              </a:rPr>
              <a:t>Do we need isEmpty state?  </a:t>
            </a:r>
            <a:pPr indent="0" marL="0">
              <a:buNone/>
            </a:pPr>
            <a:r>
              <a:rPr lang="en-US" sz="1020" b="1" dirty="0">
                <a:solidFill>
                  <a:srgbClr val="166534"/>
                </a:solidFill>
                <a:latin typeface="Arial" pitchFamily="34" charset="0"/>
                <a:ea typeface="Arial" pitchFamily="34" charset="-122"/>
                <a:cs typeface="Arial" pitchFamily="34" charset="-120"/>
              </a:rPr>
              <a:t>No. </a:t>
            </a:r>
            <a:pPr indent="0" marL="0">
              <a:buNone/>
            </a:pPr>
            <a:r>
              <a:rPr lang="en-US" sz="1020" dirty="0">
                <a:solidFill>
                  <a:srgbClr val="0F172A"/>
                </a:solidFill>
                <a:latin typeface="Arial" pitchFamily="34" charset="0"/>
                <a:ea typeface="Arial" pitchFamily="34" charset="-122"/>
                <a:cs typeface="Arial" pitchFamily="34" charset="-120"/>
              </a:rPr>
              <a:t>After a successful request, emptiness is derived from feedbackItems.length.</a:t>
            </a:r>
            <a:endParaRPr lang="en-US" sz="102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Render the right UI</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REQUEST STATES</a:t>
            </a:r>
            <a:endParaRPr lang="en-US" sz="940" dirty="0"/>
          </a:p>
        </p:txBody>
      </p:sp>
      <p:sp>
        <p:nvSpPr>
          <p:cNvPr id="4" name="conditional-code"/>
          <p:cNvSpPr/>
          <p:nvPr/>
        </p:nvSpPr>
        <p:spPr>
          <a:xfrm>
            <a:off x="621792" y="1005840"/>
            <a:ext cx="3794760" cy="324612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if (isLoading) {</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return &lt;p&gt;Loading feedback...&lt;/p&gt;;</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a:t>
            </a:r>
            <a:endParaRPr lang="en-US" sz="1000" dirty="0"/>
          </a:p>
          <a:p>
            <a:pPr indent="0" marL="0">
              <a:buNone/>
            </a:pP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if (errorMessage) {</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return &lt;p&gt;{errorMessage}&lt;/p&gt;;</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a:t>
            </a:r>
            <a:endParaRPr lang="en-US" sz="1000" dirty="0"/>
          </a:p>
          <a:p>
            <a:pPr indent="0" marL="0">
              <a:buNone/>
            </a:pP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if (feedbackItems.length === 0) {</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return &lt;p&gt;No feedback yet.&lt;/p&gt;;</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a:t>
            </a:r>
            <a:endParaRPr lang="en-US" sz="1000" dirty="0"/>
          </a:p>
          <a:p>
            <a:pPr indent="0" marL="0">
              <a:buNone/>
            </a:pP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return &lt;FeedbackList</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items={feedbackItems}</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/&gt;;</a:t>
            </a:r>
            <a:endParaRPr lang="en-US" sz="1000" dirty="0"/>
          </a:p>
        </p:txBody>
      </p:sp>
      <p:sp>
        <p:nvSpPr>
          <p:cNvPr id="5" name="ui-state-0"/>
          <p:cNvSpPr/>
          <p:nvPr/>
        </p:nvSpPr>
        <p:spPr>
          <a:xfrm>
            <a:off x="4645152" y="1005840"/>
            <a:ext cx="1645920" cy="1225296"/>
          </a:xfrm>
          <a:prstGeom prst="roundRect">
            <a:avLst/>
          </a:prstGeom>
          <a:solidFill>
            <a:srgbClr val="FFFFFF"/>
          </a:solidFill>
          <a:ln w="12700">
            <a:solidFill>
              <a:srgbClr val="CBD5E1"/>
            </a:solidFill>
            <a:prstDash val="solid"/>
          </a:ln>
        </p:spPr>
      </p:sp>
      <p:sp>
        <p:nvSpPr>
          <p:cNvPr id="6" name="ui-state-0-bar"/>
          <p:cNvSpPr/>
          <p:nvPr/>
        </p:nvSpPr>
        <p:spPr>
          <a:xfrm>
            <a:off x="4645152" y="1005840"/>
            <a:ext cx="1645920" cy="310896"/>
          </a:xfrm>
          <a:prstGeom prst="rect">
            <a:avLst/>
          </a:prstGeom>
          <a:solidFill>
            <a:srgbClr val="F8FAFC"/>
          </a:solidFill>
          <a:ln w="8890">
            <a:solidFill>
              <a:srgbClr val="CBD5E1"/>
            </a:solidFill>
            <a:prstDash val="solid"/>
          </a:ln>
        </p:spPr>
      </p:sp>
      <p:sp>
        <p:nvSpPr>
          <p:cNvPr id="7" name="ui-state-0-dot0"/>
          <p:cNvSpPr/>
          <p:nvPr/>
        </p:nvSpPr>
        <p:spPr>
          <a:xfrm>
            <a:off x="4754880" y="1115568"/>
            <a:ext cx="73152" cy="73152"/>
          </a:xfrm>
          <a:prstGeom prst="ellipse">
            <a:avLst/>
          </a:prstGeom>
          <a:solidFill>
            <a:srgbClr val="F87171"/>
          </a:solidFill>
          <a:ln w="12700">
            <a:solidFill>
              <a:srgbClr val="F87171"/>
            </a:solidFill>
            <a:prstDash val="solid"/>
          </a:ln>
        </p:spPr>
      </p:sp>
      <p:sp>
        <p:nvSpPr>
          <p:cNvPr id="8" name="ui-state-0-dot1"/>
          <p:cNvSpPr/>
          <p:nvPr/>
        </p:nvSpPr>
        <p:spPr>
          <a:xfrm>
            <a:off x="4873752" y="1115568"/>
            <a:ext cx="73152" cy="73152"/>
          </a:xfrm>
          <a:prstGeom prst="ellipse">
            <a:avLst/>
          </a:prstGeom>
          <a:solidFill>
            <a:srgbClr val="FBBF24"/>
          </a:solidFill>
          <a:ln w="12700">
            <a:solidFill>
              <a:srgbClr val="FBBF24"/>
            </a:solidFill>
            <a:prstDash val="solid"/>
          </a:ln>
        </p:spPr>
      </p:sp>
      <p:sp>
        <p:nvSpPr>
          <p:cNvPr id="9" name="ui-state-0-dot2"/>
          <p:cNvSpPr/>
          <p:nvPr/>
        </p:nvSpPr>
        <p:spPr>
          <a:xfrm>
            <a:off x="4992624" y="1115568"/>
            <a:ext cx="73152" cy="73152"/>
          </a:xfrm>
          <a:prstGeom prst="ellipse">
            <a:avLst/>
          </a:prstGeom>
          <a:solidFill>
            <a:srgbClr val="34D399"/>
          </a:solidFill>
          <a:ln w="12700">
            <a:solidFill>
              <a:srgbClr val="34D399"/>
            </a:solidFill>
            <a:prstDash val="solid"/>
          </a:ln>
        </p:spPr>
      </p:sp>
      <p:sp>
        <p:nvSpPr>
          <p:cNvPr id="10" name="ui-state-0-title"/>
          <p:cNvSpPr/>
          <p:nvPr/>
        </p:nvSpPr>
        <p:spPr>
          <a:xfrm>
            <a:off x="5175504" y="1074420"/>
            <a:ext cx="987552"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Feedback Inbox</a:t>
            </a:r>
            <a:endParaRPr lang="en-US" sz="920" dirty="0"/>
          </a:p>
        </p:txBody>
      </p:sp>
      <p:sp>
        <p:nvSpPr>
          <p:cNvPr id="11" name="body-text"/>
          <p:cNvSpPr/>
          <p:nvPr/>
        </p:nvSpPr>
        <p:spPr>
          <a:xfrm>
            <a:off x="4754880" y="1417320"/>
            <a:ext cx="1426464" cy="201168"/>
          </a:xfrm>
          <a:prstGeom prst="rect">
            <a:avLst/>
          </a:prstGeom>
          <a:noFill/>
          <a:ln/>
        </p:spPr>
        <p:txBody>
          <a:bodyPr wrap="square" lIns="0" tIns="0" rIns="0" bIns="0" rtlCol="0" anchor="t"/>
          <a:lstStyle/>
          <a:p>
            <a:pPr algn="ctr" indent="0" marL="0">
              <a:buNone/>
            </a:pPr>
            <a:r>
              <a:rPr lang="en-US" sz="980" b="1" dirty="0">
                <a:solidFill>
                  <a:srgbClr val="1E3A8A"/>
                </a:solidFill>
                <a:latin typeface="Arial" pitchFamily="34" charset="0"/>
                <a:ea typeface="Arial" pitchFamily="34" charset="-122"/>
                <a:cs typeface="Arial" pitchFamily="34" charset="-120"/>
              </a:rPr>
              <a:t>Loading</a:t>
            </a:r>
            <a:endParaRPr lang="en-US" sz="980" dirty="0"/>
          </a:p>
        </p:txBody>
      </p:sp>
      <p:sp>
        <p:nvSpPr>
          <p:cNvPr id="12" name="state-body-0"/>
          <p:cNvSpPr/>
          <p:nvPr/>
        </p:nvSpPr>
        <p:spPr>
          <a:xfrm>
            <a:off x="4754880" y="1700784"/>
            <a:ext cx="1426464" cy="347472"/>
          </a:xfrm>
          <a:prstGeom prst="roundRect">
            <a:avLst/>
          </a:prstGeom>
          <a:solidFill>
            <a:srgbClr val="EFF6FF"/>
          </a:solidFill>
          <a:ln w="12700">
            <a:solidFill>
              <a:srgbClr val="EFF6FF"/>
            </a:solidFill>
            <a:prstDash val="solid"/>
          </a:ln>
        </p:spPr>
      </p:sp>
      <p:sp>
        <p:nvSpPr>
          <p:cNvPr id="13" name="body-text"/>
          <p:cNvSpPr/>
          <p:nvPr/>
        </p:nvSpPr>
        <p:spPr>
          <a:xfrm>
            <a:off x="4828032" y="1792224"/>
            <a:ext cx="1280160" cy="164592"/>
          </a:xfrm>
          <a:prstGeom prst="rect">
            <a:avLst/>
          </a:prstGeom>
          <a:noFill/>
          <a:ln/>
        </p:spPr>
        <p:txBody>
          <a:bodyPr wrap="square" lIns="0" tIns="0" rIns="0" bIns="0" rtlCol="0" anchor="t"/>
          <a:lstStyle/>
          <a:p>
            <a:pPr algn="ctr" indent="0" marL="0">
              <a:buNone/>
            </a:pPr>
            <a:r>
              <a:rPr lang="en-US" sz="880" b="1" dirty="0">
                <a:solidFill>
                  <a:srgbClr val="1E3A8A"/>
                </a:solidFill>
                <a:latin typeface="Arial" pitchFamily="34" charset="0"/>
                <a:ea typeface="Arial" pitchFamily="34" charset="-122"/>
                <a:cs typeface="Arial" pitchFamily="34" charset="-120"/>
              </a:rPr>
              <a:t>Loading feedback...</a:t>
            </a:r>
            <a:endParaRPr lang="en-US" sz="880" dirty="0"/>
          </a:p>
        </p:txBody>
      </p:sp>
      <p:sp>
        <p:nvSpPr>
          <p:cNvPr id="14" name="ui-state-1"/>
          <p:cNvSpPr/>
          <p:nvPr/>
        </p:nvSpPr>
        <p:spPr>
          <a:xfrm>
            <a:off x="6519672" y="1005840"/>
            <a:ext cx="1645920" cy="1225296"/>
          </a:xfrm>
          <a:prstGeom prst="roundRect">
            <a:avLst/>
          </a:prstGeom>
          <a:solidFill>
            <a:srgbClr val="FFFFFF"/>
          </a:solidFill>
          <a:ln w="12700">
            <a:solidFill>
              <a:srgbClr val="CBD5E1"/>
            </a:solidFill>
            <a:prstDash val="solid"/>
          </a:ln>
        </p:spPr>
      </p:sp>
      <p:sp>
        <p:nvSpPr>
          <p:cNvPr id="15" name="ui-state-1-bar"/>
          <p:cNvSpPr/>
          <p:nvPr/>
        </p:nvSpPr>
        <p:spPr>
          <a:xfrm>
            <a:off x="6519672" y="1005840"/>
            <a:ext cx="1645920" cy="310896"/>
          </a:xfrm>
          <a:prstGeom prst="rect">
            <a:avLst/>
          </a:prstGeom>
          <a:solidFill>
            <a:srgbClr val="F8FAFC"/>
          </a:solidFill>
          <a:ln w="8890">
            <a:solidFill>
              <a:srgbClr val="CBD5E1"/>
            </a:solidFill>
            <a:prstDash val="solid"/>
          </a:ln>
        </p:spPr>
      </p:sp>
      <p:sp>
        <p:nvSpPr>
          <p:cNvPr id="16" name="ui-state-1-dot0"/>
          <p:cNvSpPr/>
          <p:nvPr/>
        </p:nvSpPr>
        <p:spPr>
          <a:xfrm>
            <a:off x="6629400" y="1115568"/>
            <a:ext cx="73152" cy="73152"/>
          </a:xfrm>
          <a:prstGeom prst="ellipse">
            <a:avLst/>
          </a:prstGeom>
          <a:solidFill>
            <a:srgbClr val="F87171"/>
          </a:solidFill>
          <a:ln w="12700">
            <a:solidFill>
              <a:srgbClr val="F87171"/>
            </a:solidFill>
            <a:prstDash val="solid"/>
          </a:ln>
        </p:spPr>
      </p:sp>
      <p:sp>
        <p:nvSpPr>
          <p:cNvPr id="17" name="ui-state-1-dot1"/>
          <p:cNvSpPr/>
          <p:nvPr/>
        </p:nvSpPr>
        <p:spPr>
          <a:xfrm>
            <a:off x="6748272" y="1115568"/>
            <a:ext cx="73152" cy="73152"/>
          </a:xfrm>
          <a:prstGeom prst="ellipse">
            <a:avLst/>
          </a:prstGeom>
          <a:solidFill>
            <a:srgbClr val="FBBF24"/>
          </a:solidFill>
          <a:ln w="12700">
            <a:solidFill>
              <a:srgbClr val="FBBF24"/>
            </a:solidFill>
            <a:prstDash val="solid"/>
          </a:ln>
        </p:spPr>
      </p:sp>
      <p:sp>
        <p:nvSpPr>
          <p:cNvPr id="18" name="ui-state-1-dot2"/>
          <p:cNvSpPr/>
          <p:nvPr/>
        </p:nvSpPr>
        <p:spPr>
          <a:xfrm>
            <a:off x="6867144" y="1115568"/>
            <a:ext cx="73152" cy="73152"/>
          </a:xfrm>
          <a:prstGeom prst="ellipse">
            <a:avLst/>
          </a:prstGeom>
          <a:solidFill>
            <a:srgbClr val="34D399"/>
          </a:solidFill>
          <a:ln w="12700">
            <a:solidFill>
              <a:srgbClr val="34D399"/>
            </a:solidFill>
            <a:prstDash val="solid"/>
          </a:ln>
        </p:spPr>
      </p:sp>
      <p:sp>
        <p:nvSpPr>
          <p:cNvPr id="19" name="ui-state-1-title"/>
          <p:cNvSpPr/>
          <p:nvPr/>
        </p:nvSpPr>
        <p:spPr>
          <a:xfrm>
            <a:off x="7050024" y="1074420"/>
            <a:ext cx="987552"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Feedback Inbox</a:t>
            </a:r>
            <a:endParaRPr lang="en-US" sz="920" dirty="0"/>
          </a:p>
        </p:txBody>
      </p:sp>
      <p:sp>
        <p:nvSpPr>
          <p:cNvPr id="20" name="body-text"/>
          <p:cNvSpPr/>
          <p:nvPr/>
        </p:nvSpPr>
        <p:spPr>
          <a:xfrm>
            <a:off x="6629400" y="1417320"/>
            <a:ext cx="1426464" cy="201168"/>
          </a:xfrm>
          <a:prstGeom prst="rect">
            <a:avLst/>
          </a:prstGeom>
          <a:noFill/>
          <a:ln/>
        </p:spPr>
        <p:txBody>
          <a:bodyPr wrap="square" lIns="0" tIns="0" rIns="0" bIns="0" rtlCol="0" anchor="t"/>
          <a:lstStyle/>
          <a:p>
            <a:pPr algn="ctr" indent="0" marL="0">
              <a:buNone/>
            </a:pPr>
            <a:r>
              <a:rPr lang="en-US" sz="980" b="1" dirty="0">
                <a:solidFill>
                  <a:srgbClr val="991B1B"/>
                </a:solidFill>
                <a:latin typeface="Arial" pitchFamily="34" charset="0"/>
                <a:ea typeface="Arial" pitchFamily="34" charset="-122"/>
                <a:cs typeface="Arial" pitchFamily="34" charset="-120"/>
              </a:rPr>
              <a:t>Failure</a:t>
            </a:r>
            <a:endParaRPr lang="en-US" sz="980" dirty="0"/>
          </a:p>
        </p:txBody>
      </p:sp>
      <p:sp>
        <p:nvSpPr>
          <p:cNvPr id="21" name="state-body-1"/>
          <p:cNvSpPr/>
          <p:nvPr/>
        </p:nvSpPr>
        <p:spPr>
          <a:xfrm>
            <a:off x="6629400" y="1700784"/>
            <a:ext cx="1426464" cy="347472"/>
          </a:xfrm>
          <a:prstGeom prst="roundRect">
            <a:avLst/>
          </a:prstGeom>
          <a:solidFill>
            <a:srgbClr val="FEE2E2"/>
          </a:solidFill>
          <a:ln w="12700">
            <a:solidFill>
              <a:srgbClr val="FEE2E2"/>
            </a:solidFill>
            <a:prstDash val="solid"/>
          </a:ln>
        </p:spPr>
      </p:sp>
      <p:sp>
        <p:nvSpPr>
          <p:cNvPr id="22" name="body-text"/>
          <p:cNvSpPr/>
          <p:nvPr/>
        </p:nvSpPr>
        <p:spPr>
          <a:xfrm>
            <a:off x="6702552" y="1792224"/>
            <a:ext cx="1280160" cy="164592"/>
          </a:xfrm>
          <a:prstGeom prst="rect">
            <a:avLst/>
          </a:prstGeom>
          <a:noFill/>
          <a:ln/>
        </p:spPr>
        <p:txBody>
          <a:bodyPr wrap="square" lIns="0" tIns="0" rIns="0" bIns="0" rtlCol="0" anchor="t"/>
          <a:lstStyle/>
          <a:p>
            <a:pPr algn="ctr" indent="0" marL="0">
              <a:buNone/>
            </a:pPr>
            <a:r>
              <a:rPr lang="en-US" sz="880" b="1" dirty="0">
                <a:solidFill>
                  <a:srgbClr val="991B1B"/>
                </a:solidFill>
                <a:latin typeface="Arial" pitchFamily="34" charset="0"/>
                <a:ea typeface="Arial" pitchFamily="34" charset="-122"/>
                <a:cs typeface="Arial" pitchFamily="34" charset="-120"/>
              </a:rPr>
              <a:t>Could not load feedback.</a:t>
            </a:r>
            <a:endParaRPr lang="en-US" sz="880" dirty="0"/>
          </a:p>
        </p:txBody>
      </p:sp>
      <p:sp>
        <p:nvSpPr>
          <p:cNvPr id="23" name="ui-state-2"/>
          <p:cNvSpPr/>
          <p:nvPr/>
        </p:nvSpPr>
        <p:spPr>
          <a:xfrm>
            <a:off x="4645152" y="2468880"/>
            <a:ext cx="1645920" cy="1225296"/>
          </a:xfrm>
          <a:prstGeom prst="roundRect">
            <a:avLst/>
          </a:prstGeom>
          <a:solidFill>
            <a:srgbClr val="FFFFFF"/>
          </a:solidFill>
          <a:ln w="12700">
            <a:solidFill>
              <a:srgbClr val="CBD5E1"/>
            </a:solidFill>
            <a:prstDash val="solid"/>
          </a:ln>
        </p:spPr>
      </p:sp>
      <p:sp>
        <p:nvSpPr>
          <p:cNvPr id="24" name="ui-state-2-bar"/>
          <p:cNvSpPr/>
          <p:nvPr/>
        </p:nvSpPr>
        <p:spPr>
          <a:xfrm>
            <a:off x="4645152" y="2468880"/>
            <a:ext cx="1645920" cy="310896"/>
          </a:xfrm>
          <a:prstGeom prst="rect">
            <a:avLst/>
          </a:prstGeom>
          <a:solidFill>
            <a:srgbClr val="F8FAFC"/>
          </a:solidFill>
          <a:ln w="8890">
            <a:solidFill>
              <a:srgbClr val="CBD5E1"/>
            </a:solidFill>
            <a:prstDash val="solid"/>
          </a:ln>
        </p:spPr>
      </p:sp>
      <p:sp>
        <p:nvSpPr>
          <p:cNvPr id="25" name="ui-state-2-dot0"/>
          <p:cNvSpPr/>
          <p:nvPr/>
        </p:nvSpPr>
        <p:spPr>
          <a:xfrm>
            <a:off x="4754880" y="2578608"/>
            <a:ext cx="73152" cy="73152"/>
          </a:xfrm>
          <a:prstGeom prst="ellipse">
            <a:avLst/>
          </a:prstGeom>
          <a:solidFill>
            <a:srgbClr val="F87171"/>
          </a:solidFill>
          <a:ln w="12700">
            <a:solidFill>
              <a:srgbClr val="F87171"/>
            </a:solidFill>
            <a:prstDash val="solid"/>
          </a:ln>
        </p:spPr>
      </p:sp>
      <p:sp>
        <p:nvSpPr>
          <p:cNvPr id="26" name="ui-state-2-dot1"/>
          <p:cNvSpPr/>
          <p:nvPr/>
        </p:nvSpPr>
        <p:spPr>
          <a:xfrm>
            <a:off x="4873752" y="2578608"/>
            <a:ext cx="73152" cy="73152"/>
          </a:xfrm>
          <a:prstGeom prst="ellipse">
            <a:avLst/>
          </a:prstGeom>
          <a:solidFill>
            <a:srgbClr val="FBBF24"/>
          </a:solidFill>
          <a:ln w="12700">
            <a:solidFill>
              <a:srgbClr val="FBBF24"/>
            </a:solidFill>
            <a:prstDash val="solid"/>
          </a:ln>
        </p:spPr>
      </p:sp>
      <p:sp>
        <p:nvSpPr>
          <p:cNvPr id="27" name="ui-state-2-dot2"/>
          <p:cNvSpPr/>
          <p:nvPr/>
        </p:nvSpPr>
        <p:spPr>
          <a:xfrm>
            <a:off x="4992624" y="2578608"/>
            <a:ext cx="73152" cy="73152"/>
          </a:xfrm>
          <a:prstGeom prst="ellipse">
            <a:avLst/>
          </a:prstGeom>
          <a:solidFill>
            <a:srgbClr val="34D399"/>
          </a:solidFill>
          <a:ln w="12700">
            <a:solidFill>
              <a:srgbClr val="34D399"/>
            </a:solidFill>
            <a:prstDash val="solid"/>
          </a:ln>
        </p:spPr>
      </p:sp>
      <p:sp>
        <p:nvSpPr>
          <p:cNvPr id="28" name="ui-state-2-title"/>
          <p:cNvSpPr/>
          <p:nvPr/>
        </p:nvSpPr>
        <p:spPr>
          <a:xfrm>
            <a:off x="5175504" y="2537460"/>
            <a:ext cx="987552"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Feedback Inbox</a:t>
            </a:r>
            <a:endParaRPr lang="en-US" sz="920" dirty="0"/>
          </a:p>
        </p:txBody>
      </p:sp>
      <p:sp>
        <p:nvSpPr>
          <p:cNvPr id="29" name="body-text"/>
          <p:cNvSpPr/>
          <p:nvPr/>
        </p:nvSpPr>
        <p:spPr>
          <a:xfrm>
            <a:off x="4754880" y="2880360"/>
            <a:ext cx="1426464" cy="201168"/>
          </a:xfrm>
          <a:prstGeom prst="rect">
            <a:avLst/>
          </a:prstGeom>
          <a:noFill/>
          <a:ln/>
        </p:spPr>
        <p:txBody>
          <a:bodyPr wrap="square" lIns="0" tIns="0" rIns="0" bIns="0" rtlCol="0" anchor="t"/>
          <a:lstStyle/>
          <a:p>
            <a:pPr algn="ctr" indent="0" marL="0">
              <a:buNone/>
            </a:pPr>
            <a:r>
              <a:rPr lang="en-US" sz="980" b="1" dirty="0">
                <a:solidFill>
                  <a:srgbClr val="854D0E"/>
                </a:solidFill>
                <a:latin typeface="Arial" pitchFamily="34" charset="0"/>
                <a:ea typeface="Arial" pitchFamily="34" charset="-122"/>
                <a:cs typeface="Arial" pitchFamily="34" charset="-120"/>
              </a:rPr>
              <a:t>Empty</a:t>
            </a:r>
            <a:endParaRPr lang="en-US" sz="980" dirty="0"/>
          </a:p>
        </p:txBody>
      </p:sp>
      <p:sp>
        <p:nvSpPr>
          <p:cNvPr id="30" name="state-body-2"/>
          <p:cNvSpPr/>
          <p:nvPr/>
        </p:nvSpPr>
        <p:spPr>
          <a:xfrm>
            <a:off x="4754880" y="3163824"/>
            <a:ext cx="1426464" cy="347472"/>
          </a:xfrm>
          <a:prstGeom prst="roundRect">
            <a:avLst/>
          </a:prstGeom>
          <a:solidFill>
            <a:srgbClr val="FEF9C3"/>
          </a:solidFill>
          <a:ln w="12700">
            <a:solidFill>
              <a:srgbClr val="FEF9C3"/>
            </a:solidFill>
            <a:prstDash val="solid"/>
          </a:ln>
        </p:spPr>
      </p:sp>
      <p:sp>
        <p:nvSpPr>
          <p:cNvPr id="31" name="body-text"/>
          <p:cNvSpPr/>
          <p:nvPr/>
        </p:nvSpPr>
        <p:spPr>
          <a:xfrm>
            <a:off x="4828032" y="3255264"/>
            <a:ext cx="1280160" cy="164592"/>
          </a:xfrm>
          <a:prstGeom prst="rect">
            <a:avLst/>
          </a:prstGeom>
          <a:noFill/>
          <a:ln/>
        </p:spPr>
        <p:txBody>
          <a:bodyPr wrap="square" lIns="0" tIns="0" rIns="0" bIns="0" rtlCol="0" anchor="t"/>
          <a:lstStyle/>
          <a:p>
            <a:pPr algn="ctr" indent="0" marL="0">
              <a:buNone/>
            </a:pPr>
            <a:r>
              <a:rPr lang="en-US" sz="880" b="1" dirty="0">
                <a:solidFill>
                  <a:srgbClr val="854D0E"/>
                </a:solidFill>
                <a:latin typeface="Arial" pitchFamily="34" charset="0"/>
                <a:ea typeface="Arial" pitchFamily="34" charset="-122"/>
                <a:cs typeface="Arial" pitchFamily="34" charset="-120"/>
              </a:rPr>
              <a:t>No feedback yet.</a:t>
            </a:r>
            <a:endParaRPr lang="en-US" sz="880" dirty="0"/>
          </a:p>
        </p:txBody>
      </p:sp>
      <p:sp>
        <p:nvSpPr>
          <p:cNvPr id="32" name="ui-state-3"/>
          <p:cNvSpPr/>
          <p:nvPr/>
        </p:nvSpPr>
        <p:spPr>
          <a:xfrm>
            <a:off x="6519672" y="2468880"/>
            <a:ext cx="1645920" cy="1225296"/>
          </a:xfrm>
          <a:prstGeom prst="roundRect">
            <a:avLst/>
          </a:prstGeom>
          <a:solidFill>
            <a:srgbClr val="FFFFFF"/>
          </a:solidFill>
          <a:ln w="12700">
            <a:solidFill>
              <a:srgbClr val="CBD5E1"/>
            </a:solidFill>
            <a:prstDash val="solid"/>
          </a:ln>
        </p:spPr>
      </p:sp>
      <p:sp>
        <p:nvSpPr>
          <p:cNvPr id="33" name="ui-state-3-bar"/>
          <p:cNvSpPr/>
          <p:nvPr/>
        </p:nvSpPr>
        <p:spPr>
          <a:xfrm>
            <a:off x="6519672" y="2468880"/>
            <a:ext cx="1645920" cy="310896"/>
          </a:xfrm>
          <a:prstGeom prst="rect">
            <a:avLst/>
          </a:prstGeom>
          <a:solidFill>
            <a:srgbClr val="F8FAFC"/>
          </a:solidFill>
          <a:ln w="8890">
            <a:solidFill>
              <a:srgbClr val="CBD5E1"/>
            </a:solidFill>
            <a:prstDash val="solid"/>
          </a:ln>
        </p:spPr>
      </p:sp>
      <p:sp>
        <p:nvSpPr>
          <p:cNvPr id="34" name="ui-state-3-dot0"/>
          <p:cNvSpPr/>
          <p:nvPr/>
        </p:nvSpPr>
        <p:spPr>
          <a:xfrm>
            <a:off x="6629400" y="2578608"/>
            <a:ext cx="73152" cy="73152"/>
          </a:xfrm>
          <a:prstGeom prst="ellipse">
            <a:avLst/>
          </a:prstGeom>
          <a:solidFill>
            <a:srgbClr val="F87171"/>
          </a:solidFill>
          <a:ln w="12700">
            <a:solidFill>
              <a:srgbClr val="F87171"/>
            </a:solidFill>
            <a:prstDash val="solid"/>
          </a:ln>
        </p:spPr>
      </p:sp>
      <p:sp>
        <p:nvSpPr>
          <p:cNvPr id="35" name="ui-state-3-dot1"/>
          <p:cNvSpPr/>
          <p:nvPr/>
        </p:nvSpPr>
        <p:spPr>
          <a:xfrm>
            <a:off x="6748272" y="2578608"/>
            <a:ext cx="73152" cy="73152"/>
          </a:xfrm>
          <a:prstGeom prst="ellipse">
            <a:avLst/>
          </a:prstGeom>
          <a:solidFill>
            <a:srgbClr val="FBBF24"/>
          </a:solidFill>
          <a:ln w="12700">
            <a:solidFill>
              <a:srgbClr val="FBBF24"/>
            </a:solidFill>
            <a:prstDash val="solid"/>
          </a:ln>
        </p:spPr>
      </p:sp>
      <p:sp>
        <p:nvSpPr>
          <p:cNvPr id="36" name="ui-state-3-dot2"/>
          <p:cNvSpPr/>
          <p:nvPr/>
        </p:nvSpPr>
        <p:spPr>
          <a:xfrm>
            <a:off x="6867144" y="2578608"/>
            <a:ext cx="73152" cy="73152"/>
          </a:xfrm>
          <a:prstGeom prst="ellipse">
            <a:avLst/>
          </a:prstGeom>
          <a:solidFill>
            <a:srgbClr val="34D399"/>
          </a:solidFill>
          <a:ln w="12700">
            <a:solidFill>
              <a:srgbClr val="34D399"/>
            </a:solidFill>
            <a:prstDash val="solid"/>
          </a:ln>
        </p:spPr>
      </p:sp>
      <p:sp>
        <p:nvSpPr>
          <p:cNvPr id="37" name="ui-state-3-title"/>
          <p:cNvSpPr/>
          <p:nvPr/>
        </p:nvSpPr>
        <p:spPr>
          <a:xfrm>
            <a:off x="7050024" y="2537460"/>
            <a:ext cx="987552"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Feedback Inbox</a:t>
            </a:r>
            <a:endParaRPr lang="en-US" sz="920" dirty="0"/>
          </a:p>
        </p:txBody>
      </p:sp>
      <p:sp>
        <p:nvSpPr>
          <p:cNvPr id="38" name="body-text"/>
          <p:cNvSpPr/>
          <p:nvPr/>
        </p:nvSpPr>
        <p:spPr>
          <a:xfrm>
            <a:off x="6629400" y="2880360"/>
            <a:ext cx="1426464" cy="201168"/>
          </a:xfrm>
          <a:prstGeom prst="rect">
            <a:avLst/>
          </a:prstGeom>
          <a:noFill/>
          <a:ln/>
        </p:spPr>
        <p:txBody>
          <a:bodyPr wrap="square" lIns="0" tIns="0" rIns="0" bIns="0" rtlCol="0" anchor="t"/>
          <a:lstStyle/>
          <a:p>
            <a:pPr algn="ctr" indent="0" marL="0">
              <a:buNone/>
            </a:pPr>
            <a:r>
              <a:rPr lang="en-US" sz="980" b="1" dirty="0">
                <a:solidFill>
                  <a:srgbClr val="166534"/>
                </a:solidFill>
                <a:latin typeface="Arial" pitchFamily="34" charset="0"/>
                <a:ea typeface="Arial" pitchFamily="34" charset="-122"/>
                <a:cs typeface="Arial" pitchFamily="34" charset="-120"/>
              </a:rPr>
              <a:t>Data</a:t>
            </a:r>
            <a:endParaRPr lang="en-US" sz="980" dirty="0"/>
          </a:p>
        </p:txBody>
      </p:sp>
      <p:sp>
        <p:nvSpPr>
          <p:cNvPr id="39" name="state-body-3"/>
          <p:cNvSpPr/>
          <p:nvPr/>
        </p:nvSpPr>
        <p:spPr>
          <a:xfrm>
            <a:off x="6629400" y="3163824"/>
            <a:ext cx="1426464" cy="347472"/>
          </a:xfrm>
          <a:prstGeom prst="roundRect">
            <a:avLst/>
          </a:prstGeom>
          <a:solidFill>
            <a:srgbClr val="DCFCE7"/>
          </a:solidFill>
          <a:ln w="12700">
            <a:solidFill>
              <a:srgbClr val="DCFCE7"/>
            </a:solidFill>
            <a:prstDash val="solid"/>
          </a:ln>
        </p:spPr>
      </p:sp>
      <p:sp>
        <p:nvSpPr>
          <p:cNvPr id="40" name="body-text"/>
          <p:cNvSpPr/>
          <p:nvPr/>
        </p:nvSpPr>
        <p:spPr>
          <a:xfrm>
            <a:off x="6702552" y="3255264"/>
            <a:ext cx="1280160" cy="164592"/>
          </a:xfrm>
          <a:prstGeom prst="rect">
            <a:avLst/>
          </a:prstGeom>
          <a:noFill/>
          <a:ln/>
        </p:spPr>
        <p:txBody>
          <a:bodyPr wrap="square" lIns="0" tIns="0" rIns="0" bIns="0" rtlCol="0" anchor="t"/>
          <a:lstStyle/>
          <a:p>
            <a:pPr algn="ctr" indent="0" marL="0">
              <a:buNone/>
            </a:pPr>
            <a:r>
              <a:rPr lang="en-US" sz="880" b="1" dirty="0">
                <a:solidFill>
                  <a:srgbClr val="166534"/>
                </a:solidFill>
                <a:latin typeface="Arial" pitchFamily="34" charset="0"/>
                <a:ea typeface="Arial" pitchFamily="34" charset="-122"/>
                <a:cs typeface="Arial" pitchFamily="34" charset="-120"/>
              </a:rPr>
              <a:t>3 feedback entries</a:t>
            </a:r>
            <a:endParaRPr lang="en-US" sz="880" dirty="0"/>
          </a:p>
        </p:txBody>
      </p:sp>
      <p:sp>
        <p:nvSpPr>
          <p:cNvPr id="41" name="conditional-definition"/>
          <p:cNvSpPr/>
          <p:nvPr/>
        </p:nvSpPr>
        <p:spPr>
          <a:xfrm>
            <a:off x="4645152" y="3895344"/>
            <a:ext cx="3520440" cy="420624"/>
          </a:xfrm>
          <a:prstGeom prst="roundRect">
            <a:avLst/>
          </a:prstGeom>
          <a:solidFill>
            <a:srgbClr val="F8FAFC"/>
          </a:solidFill>
          <a:ln w="12700">
            <a:solidFill>
              <a:srgbClr val="CBD5E1"/>
            </a:solidFill>
            <a:prstDash val="solid"/>
          </a:ln>
        </p:spPr>
      </p:sp>
      <p:sp>
        <p:nvSpPr>
          <p:cNvPr id="42" name="body-text"/>
          <p:cNvSpPr/>
          <p:nvPr/>
        </p:nvSpPr>
        <p:spPr>
          <a:xfrm>
            <a:off x="4809744" y="4005072"/>
            <a:ext cx="3200400" cy="164592"/>
          </a:xfrm>
          <a:prstGeom prst="rect">
            <a:avLst/>
          </a:prstGeom>
          <a:noFill/>
          <a:ln/>
        </p:spPr>
        <p:txBody>
          <a:bodyPr wrap="square" lIns="0" tIns="0" rIns="0" bIns="0" rtlCol="0" anchor="t"/>
          <a:lstStyle/>
          <a:p>
            <a:pPr algn="l" indent="0" marL="0">
              <a:buNone/>
            </a:pPr>
            <a:r>
              <a:rPr lang="en-US" sz="970" b="1" dirty="0">
                <a:solidFill>
                  <a:srgbClr val="0F172A"/>
                </a:solidFill>
                <a:latin typeface="Arial" pitchFamily="34" charset="0"/>
                <a:ea typeface="Arial" pitchFamily="34" charset="-122"/>
                <a:cs typeface="Arial" pitchFamily="34" charset="-120"/>
              </a:rPr>
              <a:t>Conditional rendering: render different UI for the current data or state.</a:t>
            </a:r>
            <a:endParaRPr lang="en-US" sz="97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Render the feedback list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REQUEST STATES</a:t>
            </a:r>
            <a:endParaRPr lang="en-US" sz="940" dirty="0"/>
          </a:p>
        </p:txBody>
      </p:sp>
      <p:sp>
        <p:nvSpPr>
          <p:cNvPr id="4" name="feedback-map"/>
          <p:cNvSpPr/>
          <p:nvPr/>
        </p:nvSpPr>
        <p:spPr>
          <a:xfrm>
            <a:off x="658368" y="1042416"/>
            <a:ext cx="3730752" cy="230428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20" dirty="0">
                <a:solidFill>
                  <a:srgbClr val="FFFFFF"/>
                </a:solidFill>
                <a:latin typeface="Courier New" pitchFamily="34" charset="0"/>
                <a:ea typeface="Courier New" pitchFamily="34" charset="-122"/>
                <a:cs typeface="Courier New" pitchFamily="34" charset="-120"/>
              </a:rPr>
              <a:t>&lt;ul&gt;</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{feedbackItems.map((feedback) =&gt; (</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&lt;li key={feedback.id}&gt;</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&lt;h3&gt;{feedback.name}&lt;/h3&gt;</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&lt;p&gt;{feedback.email}&lt;/p&gt;</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&lt;p&gt;{feedback.body}&lt;/p&gt;</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&lt;/li&gt;</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  ))}</a:t>
            </a:r>
            <a:endParaRPr lang="en-US" sz="1020" dirty="0"/>
          </a:p>
          <a:p>
            <a:pPr indent="0" marL="0">
              <a:buNone/>
            </a:pPr>
            <a:r>
              <a:rPr lang="en-US" sz="1020" dirty="0">
                <a:solidFill>
                  <a:srgbClr val="FFFFFF"/>
                </a:solidFill>
                <a:latin typeface="Courier New" pitchFamily="34" charset="0"/>
                <a:ea typeface="Courier New" pitchFamily="34" charset="-122"/>
                <a:cs typeface="Courier New" pitchFamily="34" charset="-120"/>
              </a:rPr>
              <a:t>&lt;/ul&gt;</a:t>
            </a:r>
            <a:endParaRPr lang="en-US" sz="1020" dirty="0"/>
          </a:p>
        </p:txBody>
      </p:sp>
      <p:sp>
        <p:nvSpPr>
          <p:cNvPr id="5" name="strip-Stable identity"/>
          <p:cNvSpPr/>
          <p:nvPr/>
        </p:nvSpPr>
        <p:spPr>
          <a:xfrm>
            <a:off x="658368" y="3566160"/>
            <a:ext cx="3730752" cy="457200"/>
          </a:xfrm>
          <a:prstGeom prst="roundRect">
            <a:avLst/>
          </a:prstGeom>
          <a:solidFill>
            <a:srgbClr val="EFF6FF"/>
          </a:solidFill>
          <a:ln w="12700">
            <a:solidFill>
              <a:srgbClr val="EFF6FF"/>
            </a:solidFill>
            <a:prstDash val="solid"/>
          </a:ln>
        </p:spPr>
      </p:sp>
      <p:sp>
        <p:nvSpPr>
          <p:cNvPr id="6" name="strip-text-Stable identity"/>
          <p:cNvSpPr/>
          <p:nvPr/>
        </p:nvSpPr>
        <p:spPr>
          <a:xfrm>
            <a:off x="804672" y="3666744"/>
            <a:ext cx="3438144" cy="274320"/>
          </a:xfrm>
          <a:prstGeom prst="rect">
            <a:avLst/>
          </a:prstGeom>
          <a:noFill/>
          <a:ln/>
        </p:spPr>
        <p:txBody>
          <a:bodyPr wrap="square" lIns="0" tIns="0" rIns="0" bIns="0" rtlCol="0" anchor="t"/>
          <a:lstStyle/>
          <a:p>
            <a:pPr indent="0" marL="0">
              <a:buNone/>
            </a:pPr>
            <a:r>
              <a:rPr lang="en-US" sz="1030" b="1" dirty="0">
                <a:solidFill>
                  <a:srgbClr val="1E3A8A"/>
                </a:solidFill>
                <a:latin typeface="Arial" pitchFamily="34" charset="0"/>
                <a:ea typeface="Arial" pitchFamily="34" charset="-122"/>
                <a:cs typeface="Arial" pitchFamily="34" charset="-120"/>
              </a:rPr>
              <a:t>Stable identity  </a:t>
            </a:r>
            <a:pPr indent="0" marL="0">
              <a:buNone/>
            </a:pPr>
            <a:r>
              <a:rPr lang="en-US" sz="1030" dirty="0">
                <a:solidFill>
                  <a:srgbClr val="0F172A"/>
                </a:solidFill>
                <a:latin typeface="Arial" pitchFamily="34" charset="0"/>
                <a:ea typeface="Arial" pitchFamily="34" charset="-122"/>
                <a:cs typeface="Arial" pitchFamily="34" charset="-120"/>
              </a:rPr>
              <a:t>Use the existing API id as the key: key={feedback.id}</a:t>
            </a:r>
            <a:endParaRPr lang="en-US" sz="1030" dirty="0"/>
          </a:p>
        </p:txBody>
      </p:sp>
      <p:sp>
        <p:nvSpPr>
          <p:cNvPr id="7" name="feedback-list-ui"/>
          <p:cNvSpPr/>
          <p:nvPr/>
        </p:nvSpPr>
        <p:spPr>
          <a:xfrm>
            <a:off x="4645152" y="1042416"/>
            <a:ext cx="3383280" cy="3035808"/>
          </a:xfrm>
          <a:prstGeom prst="roundRect">
            <a:avLst/>
          </a:prstGeom>
          <a:solidFill>
            <a:srgbClr val="FFFFFF"/>
          </a:solidFill>
          <a:ln w="12700">
            <a:solidFill>
              <a:srgbClr val="CBD5E1"/>
            </a:solidFill>
            <a:prstDash val="solid"/>
          </a:ln>
        </p:spPr>
      </p:sp>
      <p:sp>
        <p:nvSpPr>
          <p:cNvPr id="8" name="feedback-list-ui-bar"/>
          <p:cNvSpPr/>
          <p:nvPr/>
        </p:nvSpPr>
        <p:spPr>
          <a:xfrm>
            <a:off x="4645152" y="1042416"/>
            <a:ext cx="3383280" cy="310896"/>
          </a:xfrm>
          <a:prstGeom prst="rect">
            <a:avLst/>
          </a:prstGeom>
          <a:solidFill>
            <a:srgbClr val="F8FAFC"/>
          </a:solidFill>
          <a:ln w="8890">
            <a:solidFill>
              <a:srgbClr val="CBD5E1"/>
            </a:solidFill>
            <a:prstDash val="solid"/>
          </a:ln>
        </p:spPr>
      </p:sp>
      <p:sp>
        <p:nvSpPr>
          <p:cNvPr id="9" name="feedback-list-ui-dot0"/>
          <p:cNvSpPr/>
          <p:nvPr/>
        </p:nvSpPr>
        <p:spPr>
          <a:xfrm>
            <a:off x="4754880" y="1152144"/>
            <a:ext cx="73152" cy="73152"/>
          </a:xfrm>
          <a:prstGeom prst="ellipse">
            <a:avLst/>
          </a:prstGeom>
          <a:solidFill>
            <a:srgbClr val="F87171"/>
          </a:solidFill>
          <a:ln w="12700">
            <a:solidFill>
              <a:srgbClr val="F87171"/>
            </a:solidFill>
            <a:prstDash val="solid"/>
          </a:ln>
        </p:spPr>
      </p:sp>
      <p:sp>
        <p:nvSpPr>
          <p:cNvPr id="10" name="feedback-list-ui-dot1"/>
          <p:cNvSpPr/>
          <p:nvPr/>
        </p:nvSpPr>
        <p:spPr>
          <a:xfrm>
            <a:off x="4873752" y="1152144"/>
            <a:ext cx="73152" cy="73152"/>
          </a:xfrm>
          <a:prstGeom prst="ellipse">
            <a:avLst/>
          </a:prstGeom>
          <a:solidFill>
            <a:srgbClr val="FBBF24"/>
          </a:solidFill>
          <a:ln w="12700">
            <a:solidFill>
              <a:srgbClr val="FBBF24"/>
            </a:solidFill>
            <a:prstDash val="solid"/>
          </a:ln>
        </p:spPr>
      </p:sp>
      <p:sp>
        <p:nvSpPr>
          <p:cNvPr id="11" name="feedback-list-ui-dot2"/>
          <p:cNvSpPr/>
          <p:nvPr/>
        </p:nvSpPr>
        <p:spPr>
          <a:xfrm>
            <a:off x="4992624" y="1152144"/>
            <a:ext cx="73152" cy="73152"/>
          </a:xfrm>
          <a:prstGeom prst="ellipse">
            <a:avLst/>
          </a:prstGeom>
          <a:solidFill>
            <a:srgbClr val="34D399"/>
          </a:solidFill>
          <a:ln w="12700">
            <a:solidFill>
              <a:srgbClr val="34D399"/>
            </a:solidFill>
            <a:prstDash val="solid"/>
          </a:ln>
        </p:spPr>
      </p:sp>
      <p:sp>
        <p:nvSpPr>
          <p:cNvPr id="12" name="feedback-list-ui-title"/>
          <p:cNvSpPr/>
          <p:nvPr/>
        </p:nvSpPr>
        <p:spPr>
          <a:xfrm>
            <a:off x="5175504" y="1110996"/>
            <a:ext cx="2724912"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Feedback Inbox</a:t>
            </a:r>
            <a:endParaRPr lang="en-US" sz="920" dirty="0"/>
          </a:p>
        </p:txBody>
      </p:sp>
      <p:sp>
        <p:nvSpPr>
          <p:cNvPr id="13" name="feedback-item-0"/>
          <p:cNvSpPr/>
          <p:nvPr/>
        </p:nvSpPr>
        <p:spPr>
          <a:xfrm>
            <a:off x="4901184" y="1627632"/>
            <a:ext cx="2871216" cy="530352"/>
          </a:xfrm>
          <a:prstGeom prst="roundRect">
            <a:avLst/>
          </a:prstGeom>
          <a:solidFill>
            <a:srgbClr val="FFFFFF"/>
          </a:solidFill>
          <a:ln w="12700">
            <a:solidFill>
              <a:srgbClr val="CBD5E1"/>
            </a:solidFill>
            <a:prstDash val="solid"/>
          </a:ln>
        </p:spPr>
      </p:sp>
      <p:sp>
        <p:nvSpPr>
          <p:cNvPr id="14" name="body-text"/>
          <p:cNvSpPr/>
          <p:nvPr/>
        </p:nvSpPr>
        <p:spPr>
          <a:xfrm>
            <a:off x="5047488" y="1719072"/>
            <a:ext cx="2560320" cy="201168"/>
          </a:xfrm>
          <a:prstGeom prst="rect">
            <a:avLst/>
          </a:prstGeom>
          <a:noFill/>
          <a:ln/>
        </p:spPr>
        <p:txBody>
          <a:bodyPr wrap="square" lIns="0" tIns="0" rIns="0" bIns="0" rtlCol="0" anchor="t"/>
          <a:lstStyle/>
          <a:p>
            <a:pPr algn="l" indent="0" marL="0">
              <a:buNone/>
            </a:pPr>
            <a:r>
              <a:rPr lang="en-US" sz="920" b="1" dirty="0">
                <a:solidFill>
                  <a:srgbClr val="0F172A"/>
                </a:solidFill>
                <a:latin typeface="Arial" pitchFamily="34" charset="0"/>
                <a:ea typeface="Arial" pitchFamily="34" charset="-122"/>
                <a:cs typeface="Arial" pitchFamily="34" charset="-120"/>
              </a:rPr>
              <a:t>id labore ex et quam laborum</a:t>
            </a:r>
            <a:endParaRPr lang="en-US" sz="920" dirty="0"/>
          </a:p>
        </p:txBody>
      </p:sp>
      <p:sp>
        <p:nvSpPr>
          <p:cNvPr id="15" name="body-text"/>
          <p:cNvSpPr/>
          <p:nvPr/>
        </p:nvSpPr>
        <p:spPr>
          <a:xfrm>
            <a:off x="5047488" y="1938528"/>
            <a:ext cx="2560320" cy="146304"/>
          </a:xfrm>
          <a:prstGeom prst="rect">
            <a:avLst/>
          </a:prstGeom>
          <a:noFill/>
          <a:ln/>
        </p:spPr>
        <p:txBody>
          <a:bodyPr wrap="square" lIns="0" tIns="0" rIns="0" bIns="0" rtlCol="0" anchor="t"/>
          <a:lstStyle/>
          <a:p>
            <a:pPr algn="l" indent="0" marL="0">
              <a:buNone/>
            </a:pPr>
            <a:r>
              <a:rPr lang="en-US" sz="860" dirty="0">
                <a:solidFill>
                  <a:srgbClr val="475569"/>
                </a:solidFill>
                <a:latin typeface="Arial" pitchFamily="34" charset="0"/>
                <a:ea typeface="Arial" pitchFamily="34" charset="-122"/>
                <a:cs typeface="Arial" pitchFamily="34" charset="-120"/>
              </a:rPr>
              <a:t>Eliseo@gardner.biz</a:t>
            </a:r>
            <a:endParaRPr lang="en-US" sz="860" dirty="0"/>
          </a:p>
        </p:txBody>
      </p:sp>
      <p:sp>
        <p:nvSpPr>
          <p:cNvPr id="16" name="feedback-item-1"/>
          <p:cNvSpPr/>
          <p:nvPr/>
        </p:nvSpPr>
        <p:spPr>
          <a:xfrm>
            <a:off x="4901184" y="2304288"/>
            <a:ext cx="2871216" cy="530352"/>
          </a:xfrm>
          <a:prstGeom prst="roundRect">
            <a:avLst/>
          </a:prstGeom>
          <a:solidFill>
            <a:srgbClr val="FFFFFF"/>
          </a:solidFill>
          <a:ln w="12700">
            <a:solidFill>
              <a:srgbClr val="CBD5E1"/>
            </a:solidFill>
            <a:prstDash val="solid"/>
          </a:ln>
        </p:spPr>
      </p:sp>
      <p:sp>
        <p:nvSpPr>
          <p:cNvPr id="17" name="body-text"/>
          <p:cNvSpPr/>
          <p:nvPr/>
        </p:nvSpPr>
        <p:spPr>
          <a:xfrm>
            <a:off x="5047488" y="2395728"/>
            <a:ext cx="2560320" cy="201168"/>
          </a:xfrm>
          <a:prstGeom prst="rect">
            <a:avLst/>
          </a:prstGeom>
          <a:noFill/>
          <a:ln/>
        </p:spPr>
        <p:txBody>
          <a:bodyPr wrap="square" lIns="0" tIns="0" rIns="0" bIns="0" rtlCol="0" anchor="t"/>
          <a:lstStyle/>
          <a:p>
            <a:pPr algn="l" indent="0" marL="0">
              <a:buNone/>
            </a:pPr>
            <a:r>
              <a:rPr lang="en-US" sz="920" b="1" dirty="0">
                <a:solidFill>
                  <a:srgbClr val="0F172A"/>
                </a:solidFill>
                <a:latin typeface="Arial" pitchFamily="34" charset="0"/>
                <a:ea typeface="Arial" pitchFamily="34" charset="-122"/>
                <a:cs typeface="Arial" pitchFamily="34" charset="-120"/>
              </a:rPr>
              <a:t>quo vero reiciendis velit similique earum</a:t>
            </a:r>
            <a:endParaRPr lang="en-US" sz="920" dirty="0"/>
          </a:p>
        </p:txBody>
      </p:sp>
      <p:sp>
        <p:nvSpPr>
          <p:cNvPr id="18" name="body-text"/>
          <p:cNvSpPr/>
          <p:nvPr/>
        </p:nvSpPr>
        <p:spPr>
          <a:xfrm>
            <a:off x="5047488" y="2615184"/>
            <a:ext cx="2560320" cy="146304"/>
          </a:xfrm>
          <a:prstGeom prst="rect">
            <a:avLst/>
          </a:prstGeom>
          <a:noFill/>
          <a:ln/>
        </p:spPr>
        <p:txBody>
          <a:bodyPr wrap="square" lIns="0" tIns="0" rIns="0" bIns="0" rtlCol="0" anchor="t"/>
          <a:lstStyle/>
          <a:p>
            <a:pPr algn="l" indent="0" marL="0">
              <a:buNone/>
            </a:pPr>
            <a:r>
              <a:rPr lang="en-US" sz="860" dirty="0">
                <a:solidFill>
                  <a:srgbClr val="475569"/>
                </a:solidFill>
                <a:latin typeface="Arial" pitchFamily="34" charset="0"/>
                <a:ea typeface="Arial" pitchFamily="34" charset="-122"/>
                <a:cs typeface="Arial" pitchFamily="34" charset="-120"/>
              </a:rPr>
              <a:t>Jayne_Kuhic@sydney.com</a:t>
            </a:r>
            <a:endParaRPr lang="en-US" sz="860" dirty="0"/>
          </a:p>
        </p:txBody>
      </p:sp>
      <p:sp>
        <p:nvSpPr>
          <p:cNvPr id="19" name="feedback-item-2"/>
          <p:cNvSpPr/>
          <p:nvPr/>
        </p:nvSpPr>
        <p:spPr>
          <a:xfrm>
            <a:off x="4901184" y="2980944"/>
            <a:ext cx="2871216" cy="530352"/>
          </a:xfrm>
          <a:prstGeom prst="roundRect">
            <a:avLst/>
          </a:prstGeom>
          <a:solidFill>
            <a:srgbClr val="FFFFFF"/>
          </a:solidFill>
          <a:ln w="12700">
            <a:solidFill>
              <a:srgbClr val="CBD5E1"/>
            </a:solidFill>
            <a:prstDash val="solid"/>
          </a:ln>
        </p:spPr>
      </p:sp>
      <p:sp>
        <p:nvSpPr>
          <p:cNvPr id="20" name="body-text"/>
          <p:cNvSpPr/>
          <p:nvPr/>
        </p:nvSpPr>
        <p:spPr>
          <a:xfrm>
            <a:off x="5047488" y="3072384"/>
            <a:ext cx="2560320" cy="201168"/>
          </a:xfrm>
          <a:prstGeom prst="rect">
            <a:avLst/>
          </a:prstGeom>
          <a:noFill/>
          <a:ln/>
        </p:spPr>
        <p:txBody>
          <a:bodyPr wrap="square" lIns="0" tIns="0" rIns="0" bIns="0" rtlCol="0" anchor="t"/>
          <a:lstStyle/>
          <a:p>
            <a:pPr algn="l" indent="0" marL="0">
              <a:buNone/>
            </a:pPr>
            <a:r>
              <a:rPr lang="en-US" sz="920" b="1" dirty="0">
                <a:solidFill>
                  <a:srgbClr val="0F172A"/>
                </a:solidFill>
                <a:latin typeface="Arial" pitchFamily="34" charset="0"/>
                <a:ea typeface="Arial" pitchFamily="34" charset="-122"/>
                <a:cs typeface="Arial" pitchFamily="34" charset="-120"/>
              </a:rPr>
              <a:t>odio adipisci rerum aut animi</a:t>
            </a:r>
            <a:endParaRPr lang="en-US" sz="920" dirty="0"/>
          </a:p>
        </p:txBody>
      </p:sp>
      <p:sp>
        <p:nvSpPr>
          <p:cNvPr id="21" name="body-text"/>
          <p:cNvSpPr/>
          <p:nvPr/>
        </p:nvSpPr>
        <p:spPr>
          <a:xfrm>
            <a:off x="5047488" y="3291840"/>
            <a:ext cx="2560320" cy="146304"/>
          </a:xfrm>
          <a:prstGeom prst="rect">
            <a:avLst/>
          </a:prstGeom>
          <a:noFill/>
          <a:ln/>
        </p:spPr>
        <p:txBody>
          <a:bodyPr wrap="square" lIns="0" tIns="0" rIns="0" bIns="0" rtlCol="0" anchor="t"/>
          <a:lstStyle/>
          <a:p>
            <a:pPr algn="l" indent="0" marL="0">
              <a:buNone/>
            </a:pPr>
            <a:r>
              <a:rPr lang="en-US" sz="860" dirty="0">
                <a:solidFill>
                  <a:srgbClr val="475569"/>
                </a:solidFill>
                <a:latin typeface="Arial" pitchFamily="34" charset="0"/>
                <a:ea typeface="Arial" pitchFamily="34" charset="-122"/>
                <a:cs typeface="Arial" pitchFamily="34" charset="-120"/>
              </a:rPr>
              <a:t>Nikita@garfield.biz</a:t>
            </a:r>
            <a:endParaRPr lang="en-US" sz="860" dirty="0"/>
          </a:p>
        </p:txBody>
      </p:sp>
      <p:sp>
        <p:nvSpPr>
          <p:cNvPr id="22" name="what-new"/>
          <p:cNvSpPr/>
          <p:nvPr/>
        </p:nvSpPr>
        <p:spPr>
          <a:xfrm>
            <a:off x="1389888" y="4187952"/>
            <a:ext cx="5907024" cy="310896"/>
          </a:xfrm>
          <a:prstGeom prst="roundRect">
            <a:avLst/>
          </a:prstGeom>
          <a:solidFill>
            <a:srgbClr val="DCFCE7"/>
          </a:solidFill>
          <a:ln w="12700">
            <a:solidFill>
              <a:srgbClr val="DCFCE7"/>
            </a:solidFill>
            <a:prstDash val="solid"/>
          </a:ln>
        </p:spPr>
      </p:sp>
      <p:sp>
        <p:nvSpPr>
          <p:cNvPr id="23" name="body-text"/>
          <p:cNvSpPr/>
          <p:nvPr/>
        </p:nvSpPr>
        <p:spPr>
          <a:xfrm>
            <a:off x="1572768" y="4261104"/>
            <a:ext cx="5541264" cy="164592"/>
          </a:xfrm>
          <a:prstGeom prst="rect">
            <a:avLst/>
          </a:prstGeom>
          <a:noFill/>
          <a:ln/>
        </p:spPr>
        <p:txBody>
          <a:bodyPr wrap="square" lIns="0" tIns="0" rIns="0" bIns="0" rtlCol="0" anchor="t"/>
          <a:lstStyle/>
          <a:p>
            <a:pPr algn="ctr" indent="0" marL="0">
              <a:buNone/>
            </a:pPr>
            <a:r>
              <a:rPr lang="en-US" sz="950" b="1" dirty="0">
                <a:solidFill>
                  <a:srgbClr val="166534"/>
                </a:solidFill>
                <a:latin typeface="Arial" pitchFamily="34" charset="0"/>
                <a:ea typeface="Arial" pitchFamily="34" charset="-122"/>
                <a:cs typeface="Arial" pitchFamily="34" charset="-120"/>
              </a:rPr>
              <a:t>The familiar map + key pattern is unchanged. What is new is where the array came from: remote server, response.data, then React state.</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Trace the complete request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REQUEST STATES</a:t>
            </a:r>
            <a:endParaRPr lang="en-US" sz="940" dirty="0"/>
          </a:p>
        </p:txBody>
      </p:sp>
      <p:sp>
        <p:nvSpPr>
          <p:cNvPr id="4" name="request-start"/>
          <p:cNvSpPr/>
          <p:nvPr/>
        </p:nvSpPr>
        <p:spPr>
          <a:xfrm>
            <a:off x="658368" y="1078992"/>
            <a:ext cx="1920240" cy="932688"/>
          </a:xfrm>
          <a:prstGeom prst="roundRect">
            <a:avLst/>
          </a:prstGeom>
          <a:solidFill>
            <a:srgbClr val="EFF6FF"/>
          </a:solidFill>
          <a:ln w="12700">
            <a:solidFill>
              <a:srgbClr val="BFDBFE"/>
            </a:solidFill>
            <a:prstDash val="solid"/>
          </a:ln>
        </p:spPr>
      </p:sp>
      <p:sp>
        <p:nvSpPr>
          <p:cNvPr id="5" name="body-text"/>
          <p:cNvSpPr/>
          <p:nvPr/>
        </p:nvSpPr>
        <p:spPr>
          <a:xfrm>
            <a:off x="841248" y="1261872"/>
            <a:ext cx="1554480" cy="201168"/>
          </a:xfrm>
          <a:prstGeom prst="rect">
            <a:avLst/>
          </a:prstGeom>
          <a:noFill/>
          <a:ln/>
        </p:spPr>
        <p:txBody>
          <a:bodyPr wrap="square" lIns="0" tIns="0" rIns="0" bIns="0" rtlCol="0" anchor="t"/>
          <a:lstStyle/>
          <a:p>
            <a:pPr algn="ctr" indent="0" marL="0">
              <a:buNone/>
            </a:pPr>
            <a:r>
              <a:rPr lang="en-US" sz="1100" b="1" dirty="0">
                <a:solidFill>
                  <a:srgbClr val="1E3A8A"/>
                </a:solidFill>
                <a:latin typeface="Arial" pitchFamily="34" charset="0"/>
                <a:ea typeface="Arial" pitchFamily="34" charset="-122"/>
                <a:cs typeface="Arial" pitchFamily="34" charset="-120"/>
              </a:rPr>
              <a:t>Initial render</a:t>
            </a:r>
            <a:endParaRPr lang="en-US" sz="1100" dirty="0"/>
          </a:p>
        </p:txBody>
      </p:sp>
      <p:sp>
        <p:nvSpPr>
          <p:cNvPr id="6" name="mini-code"/>
          <p:cNvSpPr/>
          <p:nvPr/>
        </p:nvSpPr>
        <p:spPr>
          <a:xfrm>
            <a:off x="877824" y="1572768"/>
            <a:ext cx="1481328" cy="310896"/>
          </a:xfrm>
          <a:prstGeom prst="rect">
            <a:avLst/>
          </a:prstGeom>
          <a:solidFill>
            <a:srgbClr val="FFFFFF"/>
          </a:solidFill>
          <a:ln w="8890">
            <a:solidFill>
              <a:srgbClr val="BFDBFE"/>
            </a:solidFill>
          </a:ln>
        </p:spPr>
        <p:txBody>
          <a:bodyPr wrap="square" lIns="635" tIns="1270" rIns="1270" bIns="635" rtlCol="0" anchor="ctr"/>
          <a:lstStyle/>
          <a:p>
            <a:pPr algn="ctr" indent="0" marL="0">
              <a:buNone/>
            </a:pPr>
            <a:r>
              <a:rPr lang="en-US" sz="880" dirty="0">
                <a:solidFill>
                  <a:srgbClr val="0F172A"/>
                </a:solidFill>
                <a:latin typeface="Courier New" pitchFamily="34" charset="0"/>
                <a:ea typeface="Courier New" pitchFamily="34" charset="-122"/>
                <a:cs typeface="Courier New" pitchFamily="34" charset="-120"/>
              </a:rPr>
              <a:t>isLoading = true</a:t>
            </a:r>
            <a:endParaRPr lang="en-US" sz="880" dirty="0"/>
          </a:p>
        </p:txBody>
      </p:sp>
      <p:sp>
        <p:nvSpPr>
          <p:cNvPr id="7" name="connector"/>
          <p:cNvSpPr/>
          <p:nvPr/>
        </p:nvSpPr>
        <p:spPr>
          <a:xfrm>
            <a:off x="2633472" y="1536192"/>
            <a:ext cx="950976" cy="0"/>
          </a:xfrm>
          <a:prstGeom prst="line">
            <a:avLst/>
          </a:prstGeom>
          <a:noFill/>
          <a:ln w="19050">
            <a:solidFill>
              <a:srgbClr val="64748B"/>
            </a:solidFill>
            <a:prstDash val="solid"/>
            <a:tailEnd type="triangle"/>
          </a:ln>
        </p:spPr>
      </p:sp>
      <p:sp>
        <p:nvSpPr>
          <p:cNvPr id="8" name="request-effect"/>
          <p:cNvSpPr/>
          <p:nvPr/>
        </p:nvSpPr>
        <p:spPr>
          <a:xfrm>
            <a:off x="3621024" y="1078992"/>
            <a:ext cx="1920240" cy="932688"/>
          </a:xfrm>
          <a:prstGeom prst="roundRect">
            <a:avLst/>
          </a:prstGeom>
          <a:solidFill>
            <a:srgbClr val="FEF9C3"/>
          </a:solidFill>
          <a:ln w="12700">
            <a:solidFill>
              <a:srgbClr val="FEF9C3"/>
            </a:solidFill>
            <a:prstDash val="solid"/>
          </a:ln>
        </p:spPr>
      </p:sp>
      <p:sp>
        <p:nvSpPr>
          <p:cNvPr id="9" name="body-text"/>
          <p:cNvSpPr/>
          <p:nvPr/>
        </p:nvSpPr>
        <p:spPr>
          <a:xfrm>
            <a:off x="3822192" y="1261872"/>
            <a:ext cx="1517904" cy="201168"/>
          </a:xfrm>
          <a:prstGeom prst="rect">
            <a:avLst/>
          </a:prstGeom>
          <a:noFill/>
          <a:ln/>
        </p:spPr>
        <p:txBody>
          <a:bodyPr wrap="square" lIns="0" tIns="0" rIns="0" bIns="0" rtlCol="0" anchor="t"/>
          <a:lstStyle/>
          <a:p>
            <a:pPr algn="ctr" indent="0" marL="0">
              <a:buNone/>
            </a:pPr>
            <a:r>
              <a:rPr lang="en-US" sz="1080" b="1" dirty="0">
                <a:solidFill>
                  <a:srgbClr val="854D0E"/>
                </a:solidFill>
                <a:latin typeface="Arial" pitchFamily="34" charset="0"/>
                <a:ea typeface="Arial" pitchFamily="34" charset="-122"/>
                <a:cs typeface="Arial" pitchFamily="34" charset="-120"/>
              </a:rPr>
              <a:t>Effect starts request</a:t>
            </a:r>
            <a:endParaRPr lang="en-US" sz="1080" dirty="0"/>
          </a:p>
        </p:txBody>
      </p:sp>
      <p:sp>
        <p:nvSpPr>
          <p:cNvPr id="10" name="mini-code"/>
          <p:cNvSpPr/>
          <p:nvPr/>
        </p:nvSpPr>
        <p:spPr>
          <a:xfrm>
            <a:off x="3822192" y="1572768"/>
            <a:ext cx="1517904" cy="310896"/>
          </a:xfrm>
          <a:prstGeom prst="rect">
            <a:avLst/>
          </a:prstGeom>
          <a:solidFill>
            <a:srgbClr val="FFFFFF"/>
          </a:solidFill>
          <a:ln w="8890">
            <a:solidFill>
              <a:srgbClr val="FEF9C3"/>
            </a:solidFill>
          </a:ln>
        </p:spPr>
        <p:txBody>
          <a:bodyPr wrap="square" lIns="635" tIns="1270" rIns="1270" bIns="635" rtlCol="0" anchor="ctr"/>
          <a:lstStyle/>
          <a:p>
            <a:pPr algn="ctr" indent="0" marL="0">
              <a:buNone/>
            </a:pPr>
            <a:r>
              <a:rPr lang="en-US" sz="900" dirty="0">
                <a:solidFill>
                  <a:srgbClr val="0F172A"/>
                </a:solidFill>
                <a:latin typeface="Courier New" pitchFamily="34" charset="0"/>
                <a:ea typeface="Courier New" pitchFamily="34" charset="-122"/>
                <a:cs typeface="Courier New" pitchFamily="34" charset="-120"/>
              </a:rPr>
              <a:t>loadFeedback()</a:t>
            </a:r>
            <a:endParaRPr lang="en-US" sz="900" dirty="0"/>
          </a:p>
        </p:txBody>
      </p:sp>
      <p:sp>
        <p:nvSpPr>
          <p:cNvPr id="11" name="connector"/>
          <p:cNvSpPr/>
          <p:nvPr/>
        </p:nvSpPr>
        <p:spPr>
          <a:xfrm>
            <a:off x="5577840" y="1536192"/>
            <a:ext cx="969264" cy="0"/>
          </a:xfrm>
          <a:prstGeom prst="line">
            <a:avLst/>
          </a:prstGeom>
          <a:noFill/>
          <a:ln w="19050">
            <a:solidFill>
              <a:srgbClr val="64748B"/>
            </a:solidFill>
            <a:prstDash val="solid"/>
            <a:tailEnd type="triangle"/>
          </a:ln>
        </p:spPr>
      </p:sp>
      <p:sp>
        <p:nvSpPr>
          <p:cNvPr id="12" name="request-wait"/>
          <p:cNvSpPr/>
          <p:nvPr/>
        </p:nvSpPr>
        <p:spPr>
          <a:xfrm>
            <a:off x="6583680" y="1078992"/>
            <a:ext cx="1426464" cy="932688"/>
          </a:xfrm>
          <a:prstGeom prst="roundRect">
            <a:avLst/>
          </a:prstGeom>
          <a:solidFill>
            <a:srgbClr val="F8FAFC"/>
          </a:solidFill>
          <a:ln w="12700">
            <a:solidFill>
              <a:srgbClr val="CBD5E1"/>
            </a:solidFill>
            <a:prstDash val="solid"/>
          </a:ln>
        </p:spPr>
      </p:sp>
      <p:sp>
        <p:nvSpPr>
          <p:cNvPr id="13" name="body-text"/>
          <p:cNvSpPr/>
          <p:nvPr/>
        </p:nvSpPr>
        <p:spPr>
          <a:xfrm>
            <a:off x="6583680" y="1280160"/>
            <a:ext cx="1426464" cy="201168"/>
          </a:xfrm>
          <a:prstGeom prst="rect">
            <a:avLst/>
          </a:prstGeom>
          <a:noFill/>
          <a:ln/>
        </p:spPr>
        <p:txBody>
          <a:bodyPr wrap="square" lIns="0" tIns="0" rIns="0" bIns="0" rtlCol="0" anchor="t"/>
          <a:lstStyle/>
          <a:p>
            <a:pPr algn="ctr" indent="0" marL="0">
              <a:buNone/>
            </a:pPr>
            <a:r>
              <a:rPr lang="en-US" sz="1060" b="1" dirty="0">
                <a:solidFill>
                  <a:srgbClr val="475569"/>
                </a:solidFill>
                <a:latin typeface="Arial" pitchFamily="34" charset="0"/>
                <a:ea typeface="Arial" pitchFamily="34" charset="-122"/>
                <a:cs typeface="Arial" pitchFamily="34" charset="-120"/>
              </a:rPr>
              <a:t>Axios GET</a:t>
            </a:r>
            <a:endParaRPr lang="en-US" sz="1060" dirty="0"/>
          </a:p>
        </p:txBody>
      </p:sp>
      <p:sp>
        <p:nvSpPr>
          <p:cNvPr id="14" name="body-text"/>
          <p:cNvSpPr/>
          <p:nvPr/>
        </p:nvSpPr>
        <p:spPr>
          <a:xfrm>
            <a:off x="6583680" y="1609344"/>
            <a:ext cx="1426464" cy="164592"/>
          </a:xfrm>
          <a:prstGeom prst="rect">
            <a:avLst/>
          </a:prstGeom>
          <a:noFill/>
          <a:ln/>
        </p:spPr>
        <p:txBody>
          <a:bodyPr wrap="square" lIns="0" tIns="0" rIns="0" bIns="0" rtlCol="0" anchor="t"/>
          <a:lstStyle/>
          <a:p>
            <a:pPr algn="ctr" indent="0" marL="0">
              <a:buNone/>
            </a:pPr>
            <a:r>
              <a:rPr lang="en-US" sz="910" dirty="0">
                <a:solidFill>
                  <a:srgbClr val="475569"/>
                </a:solidFill>
                <a:latin typeface="Arial" pitchFamily="34" charset="0"/>
                <a:ea typeface="Arial" pitchFamily="34" charset="-122"/>
                <a:cs typeface="Arial" pitchFamily="34" charset="-120"/>
              </a:rPr>
              <a:t>server responds</a:t>
            </a:r>
            <a:endParaRPr lang="en-US" sz="910" dirty="0"/>
          </a:p>
        </p:txBody>
      </p:sp>
      <p:sp>
        <p:nvSpPr>
          <p:cNvPr id="15" name="connector"/>
          <p:cNvSpPr/>
          <p:nvPr/>
        </p:nvSpPr>
        <p:spPr>
          <a:xfrm>
            <a:off x="7296912" y="2084832"/>
            <a:ext cx="-2011680" cy="585216"/>
          </a:xfrm>
          <a:prstGeom prst="line">
            <a:avLst/>
          </a:prstGeom>
          <a:noFill/>
          <a:ln w="19050">
            <a:solidFill>
              <a:srgbClr val="166534"/>
            </a:solidFill>
            <a:prstDash val="solid"/>
            <a:tailEnd type="triangle"/>
          </a:ln>
        </p:spPr>
      </p:sp>
      <p:sp>
        <p:nvSpPr>
          <p:cNvPr id="16" name="connector"/>
          <p:cNvSpPr/>
          <p:nvPr/>
        </p:nvSpPr>
        <p:spPr>
          <a:xfrm>
            <a:off x="7296912" y="2084832"/>
            <a:ext cx="310896" cy="585216"/>
          </a:xfrm>
          <a:prstGeom prst="line">
            <a:avLst/>
          </a:prstGeom>
          <a:noFill/>
          <a:ln w="19050">
            <a:solidFill>
              <a:srgbClr val="991B1B"/>
            </a:solidFill>
            <a:prstDash val="solid"/>
            <a:tailEnd type="triangle"/>
          </a:ln>
        </p:spPr>
      </p:sp>
      <p:sp>
        <p:nvSpPr>
          <p:cNvPr id="17" name="request-success"/>
          <p:cNvSpPr/>
          <p:nvPr/>
        </p:nvSpPr>
        <p:spPr>
          <a:xfrm>
            <a:off x="3675888" y="2743200"/>
            <a:ext cx="2852928" cy="1316736"/>
          </a:xfrm>
          <a:prstGeom prst="roundRect">
            <a:avLst/>
          </a:prstGeom>
          <a:solidFill>
            <a:srgbClr val="DCFCE7"/>
          </a:solidFill>
          <a:ln w="12700">
            <a:solidFill>
              <a:srgbClr val="86EFAC"/>
            </a:solidFill>
            <a:prstDash val="solid"/>
          </a:ln>
        </p:spPr>
      </p:sp>
      <p:sp>
        <p:nvSpPr>
          <p:cNvPr id="18" name="body-text"/>
          <p:cNvSpPr/>
          <p:nvPr/>
        </p:nvSpPr>
        <p:spPr>
          <a:xfrm>
            <a:off x="3877056" y="2907792"/>
            <a:ext cx="914400" cy="201168"/>
          </a:xfrm>
          <a:prstGeom prst="rect">
            <a:avLst/>
          </a:prstGeom>
          <a:noFill/>
          <a:ln/>
        </p:spPr>
        <p:txBody>
          <a:bodyPr wrap="square" lIns="0" tIns="0" rIns="0" bIns="0" rtlCol="0" anchor="t"/>
          <a:lstStyle/>
          <a:p>
            <a:pPr algn="l" indent="0" marL="0">
              <a:buNone/>
            </a:pPr>
            <a:r>
              <a:rPr lang="en-US" sz="1140" b="1" dirty="0">
                <a:solidFill>
                  <a:srgbClr val="166534"/>
                </a:solidFill>
                <a:latin typeface="Arial" pitchFamily="34" charset="0"/>
                <a:ea typeface="Arial" pitchFamily="34" charset="-122"/>
                <a:cs typeface="Arial" pitchFamily="34" charset="-120"/>
              </a:rPr>
              <a:t>Success</a:t>
            </a:r>
            <a:endParaRPr lang="en-US" sz="1140" dirty="0"/>
          </a:p>
        </p:txBody>
      </p:sp>
      <p:sp>
        <p:nvSpPr>
          <p:cNvPr id="19" name="success-code"/>
          <p:cNvSpPr/>
          <p:nvPr/>
        </p:nvSpPr>
        <p:spPr>
          <a:xfrm>
            <a:off x="3877056" y="3218688"/>
            <a:ext cx="2450592" cy="45720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setFeedbackItems(response.data);</a:t>
            </a:r>
            <a:endParaRPr lang="en-US" sz="900" dirty="0"/>
          </a:p>
          <a:p>
            <a:pPr indent="0" marL="0">
              <a:buNone/>
            </a:pPr>
            <a:r>
              <a:rPr lang="en-US" sz="900" dirty="0">
                <a:solidFill>
                  <a:srgbClr val="FFFFFF"/>
                </a:solidFill>
                <a:latin typeface="Courier New" pitchFamily="34" charset="0"/>
                <a:ea typeface="Courier New" pitchFamily="34" charset="-122"/>
                <a:cs typeface="Courier New" pitchFamily="34" charset="-120"/>
              </a:rPr>
              <a:t>setIsLoading(false);</a:t>
            </a:r>
            <a:endParaRPr lang="en-US" sz="900" dirty="0"/>
          </a:p>
        </p:txBody>
      </p:sp>
      <p:sp>
        <p:nvSpPr>
          <p:cNvPr id="20" name="body-text"/>
          <p:cNvSpPr/>
          <p:nvPr/>
        </p:nvSpPr>
        <p:spPr>
          <a:xfrm>
            <a:off x="3877056" y="3767328"/>
            <a:ext cx="2450592" cy="164592"/>
          </a:xfrm>
          <a:prstGeom prst="rect">
            <a:avLst/>
          </a:prstGeom>
          <a:noFill/>
          <a:ln/>
        </p:spPr>
        <p:txBody>
          <a:bodyPr wrap="square" lIns="0" tIns="0" rIns="0" bIns="0" rtlCol="0" anchor="t"/>
          <a:lstStyle/>
          <a:p>
            <a:pPr algn="ctr" indent="0" marL="0">
              <a:buNone/>
            </a:pPr>
            <a:r>
              <a:rPr lang="en-US" sz="920" b="1" dirty="0">
                <a:solidFill>
                  <a:srgbClr val="166534"/>
                </a:solidFill>
                <a:latin typeface="Arial" pitchFamily="34" charset="0"/>
                <a:ea typeface="Arial" pitchFamily="34" charset="-122"/>
                <a:cs typeface="Arial" pitchFamily="34" charset="-120"/>
              </a:rPr>
              <a:t>Next render: list or empty UI</a:t>
            </a:r>
            <a:endParaRPr lang="en-US" sz="920" dirty="0"/>
          </a:p>
        </p:txBody>
      </p:sp>
      <p:sp>
        <p:nvSpPr>
          <p:cNvPr id="21" name="request-failure"/>
          <p:cNvSpPr/>
          <p:nvPr/>
        </p:nvSpPr>
        <p:spPr>
          <a:xfrm>
            <a:off x="6565392" y="2743200"/>
            <a:ext cx="1572768" cy="1389888"/>
          </a:xfrm>
          <a:prstGeom prst="roundRect">
            <a:avLst/>
          </a:prstGeom>
          <a:solidFill>
            <a:srgbClr val="FEE2E2"/>
          </a:solidFill>
          <a:ln w="12700">
            <a:solidFill>
              <a:srgbClr val="FCA5A5"/>
            </a:solidFill>
            <a:prstDash val="solid"/>
          </a:ln>
        </p:spPr>
      </p:sp>
      <p:sp>
        <p:nvSpPr>
          <p:cNvPr id="22" name="body-text"/>
          <p:cNvSpPr/>
          <p:nvPr/>
        </p:nvSpPr>
        <p:spPr>
          <a:xfrm>
            <a:off x="6565392" y="2907792"/>
            <a:ext cx="1572768" cy="201168"/>
          </a:xfrm>
          <a:prstGeom prst="rect">
            <a:avLst/>
          </a:prstGeom>
          <a:noFill/>
          <a:ln/>
        </p:spPr>
        <p:txBody>
          <a:bodyPr wrap="square" lIns="0" tIns="0" rIns="0" bIns="0" rtlCol="0" anchor="t"/>
          <a:lstStyle/>
          <a:p>
            <a:pPr algn="ctr" indent="0" marL="0">
              <a:buNone/>
            </a:pPr>
            <a:r>
              <a:rPr lang="en-US" sz="1100" b="1" dirty="0">
                <a:solidFill>
                  <a:srgbClr val="991B1B"/>
                </a:solidFill>
                <a:latin typeface="Arial" pitchFamily="34" charset="0"/>
                <a:ea typeface="Arial" pitchFamily="34" charset="-122"/>
                <a:cs typeface="Arial" pitchFamily="34" charset="-120"/>
              </a:rPr>
              <a:t>Failure</a:t>
            </a:r>
            <a:endParaRPr lang="en-US" sz="1100" dirty="0"/>
          </a:p>
        </p:txBody>
      </p:sp>
      <p:sp>
        <p:nvSpPr>
          <p:cNvPr id="23" name="mini-code"/>
          <p:cNvSpPr/>
          <p:nvPr/>
        </p:nvSpPr>
        <p:spPr>
          <a:xfrm>
            <a:off x="6675120" y="3218688"/>
            <a:ext cx="1353312" cy="310896"/>
          </a:xfrm>
          <a:prstGeom prst="rect">
            <a:avLst/>
          </a:prstGeom>
          <a:solidFill>
            <a:srgbClr val="FFFFFF"/>
          </a:solidFill>
          <a:ln w="8890">
            <a:solidFill>
              <a:srgbClr val="FCA5A5"/>
            </a:solidFill>
          </a:ln>
        </p:spPr>
        <p:txBody>
          <a:bodyPr wrap="square" lIns="635" tIns="1270" rIns="1270" bIns="635" rtlCol="0" anchor="ctr"/>
          <a:lstStyle/>
          <a:p>
            <a:pPr algn="ctr" indent="0" marL="0">
              <a:buNone/>
            </a:pPr>
            <a:r>
              <a:rPr lang="en-US" sz="880" dirty="0">
                <a:solidFill>
                  <a:srgbClr val="0F172A"/>
                </a:solidFill>
                <a:latin typeface="Courier New" pitchFamily="34" charset="0"/>
                <a:ea typeface="Courier New" pitchFamily="34" charset="-122"/>
                <a:cs typeface="Courier New" pitchFamily="34" charset="-120"/>
              </a:rPr>
              <a:t>setErrorMessage(...)</a:t>
            </a:r>
            <a:endParaRPr lang="en-US" sz="880" dirty="0"/>
          </a:p>
        </p:txBody>
      </p:sp>
      <p:sp>
        <p:nvSpPr>
          <p:cNvPr id="24" name="mini-code"/>
          <p:cNvSpPr/>
          <p:nvPr/>
        </p:nvSpPr>
        <p:spPr>
          <a:xfrm>
            <a:off x="6675120" y="3566160"/>
            <a:ext cx="1353312" cy="310896"/>
          </a:xfrm>
          <a:prstGeom prst="rect">
            <a:avLst/>
          </a:prstGeom>
          <a:solidFill>
            <a:srgbClr val="FFFFFF"/>
          </a:solidFill>
          <a:ln w="8890">
            <a:solidFill>
              <a:srgbClr val="FCA5A5"/>
            </a:solidFill>
          </a:ln>
        </p:spPr>
        <p:txBody>
          <a:bodyPr wrap="square" lIns="635" tIns="1270" rIns="1270" bIns="635" rtlCol="0" anchor="ctr"/>
          <a:lstStyle/>
          <a:p>
            <a:pPr algn="ctr" indent="0" marL="0">
              <a:buNone/>
            </a:pPr>
            <a:r>
              <a:rPr lang="en-US" sz="880" dirty="0">
                <a:solidFill>
                  <a:srgbClr val="0F172A"/>
                </a:solidFill>
                <a:latin typeface="Courier New" pitchFamily="34" charset="0"/>
                <a:ea typeface="Courier New" pitchFamily="34" charset="-122"/>
                <a:cs typeface="Courier New" pitchFamily="34" charset="-120"/>
              </a:rPr>
              <a:t>setIsLoading(false)</a:t>
            </a:r>
            <a:endParaRPr lang="en-US" sz="880" dirty="0"/>
          </a:p>
        </p:txBody>
      </p:sp>
      <p:sp>
        <p:nvSpPr>
          <p:cNvPr id="25" name="body-text"/>
          <p:cNvSpPr/>
          <p:nvPr/>
        </p:nvSpPr>
        <p:spPr>
          <a:xfrm>
            <a:off x="6675120" y="3931920"/>
            <a:ext cx="1353312" cy="128016"/>
          </a:xfrm>
          <a:prstGeom prst="rect">
            <a:avLst/>
          </a:prstGeom>
          <a:noFill/>
          <a:ln/>
        </p:spPr>
        <p:txBody>
          <a:bodyPr wrap="square" lIns="0" tIns="0" rIns="0" bIns="0" rtlCol="0" anchor="t"/>
          <a:lstStyle/>
          <a:p>
            <a:pPr algn="ctr" indent="0" marL="0">
              <a:buNone/>
            </a:pPr>
            <a:r>
              <a:rPr lang="en-US" sz="840" b="1" dirty="0">
                <a:solidFill>
                  <a:srgbClr val="991B1B"/>
                </a:solidFill>
                <a:latin typeface="Arial" pitchFamily="34" charset="0"/>
                <a:ea typeface="Arial" pitchFamily="34" charset="-122"/>
                <a:cs typeface="Arial" pitchFamily="34" charset="-120"/>
              </a:rPr>
              <a:t>UI shows error message</a:t>
            </a:r>
            <a:endParaRPr lang="en-US" sz="840" dirty="0"/>
          </a:p>
        </p:txBody>
      </p:sp>
      <p:sp>
        <p:nvSpPr>
          <p:cNvPr id="26" name="body-text"/>
          <p:cNvSpPr/>
          <p:nvPr/>
        </p:nvSpPr>
        <p:spPr>
          <a:xfrm>
            <a:off x="950976" y="4279392"/>
            <a:ext cx="6912864" cy="256032"/>
          </a:xfrm>
          <a:prstGeom prst="rect">
            <a:avLst/>
          </a:prstGeom>
          <a:noFill/>
          <a:ln/>
        </p:spPr>
        <p:txBody>
          <a:bodyPr wrap="square" lIns="0" tIns="0" rIns="0" bIns="0" rtlCol="0" anchor="t"/>
          <a:lstStyle/>
          <a:p>
            <a:pPr algn="ctr" indent="0" marL="0">
              <a:buNone/>
            </a:pPr>
            <a:r>
              <a:rPr lang="en-US" sz="1070" b="1" dirty="0">
                <a:solidFill>
                  <a:srgbClr val="1E3A8A"/>
                </a:solidFill>
                <a:latin typeface="Arial" pitchFamily="34" charset="0"/>
                <a:ea typeface="Arial" pitchFamily="34" charset="-122"/>
                <a:cs typeface="Arial" pitchFamily="34" charset="-120"/>
              </a:rPr>
              <a:t>The external request changes React state. The next render uses that state to describe the appropriate interface.</a:t>
            </a:r>
            <a:endParaRPr lang="en-US" sz="107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Checkpoint: Which UI appears first?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CHECKPOINT</a:t>
            </a:r>
            <a:endParaRPr lang="en-US" sz="940" dirty="0"/>
          </a:p>
        </p:txBody>
      </p:sp>
      <p:sp>
        <p:nvSpPr>
          <p:cNvPr id="4" name="checkpoint-ui-order"/>
          <p:cNvSpPr/>
          <p:nvPr/>
        </p:nvSpPr>
        <p:spPr>
          <a:xfrm>
            <a:off x="658368" y="1024128"/>
            <a:ext cx="4151376" cy="281635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80" dirty="0">
                <a:solidFill>
                  <a:srgbClr val="FFFFFF"/>
                </a:solidFill>
                <a:latin typeface="Courier New" pitchFamily="34" charset="0"/>
                <a:ea typeface="Courier New" pitchFamily="34" charset="-122"/>
                <a:cs typeface="Courier New" pitchFamily="34" charset="-120"/>
              </a:rPr>
              <a:t>const [feedbackItems, setFeedbackItems] =</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useState&lt;Feedback[]&gt;([]);</a:t>
            </a:r>
            <a:endParaRPr lang="en-US" sz="980" dirty="0"/>
          </a:p>
          <a:p>
            <a:pPr indent="0" marL="0">
              <a:buNone/>
            </a:pP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const [isLoading, setIsLoading] =</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useState(true);</a:t>
            </a:r>
            <a:endParaRPr lang="en-US" sz="980" dirty="0"/>
          </a:p>
          <a:p>
            <a:pPr indent="0" marL="0">
              <a:buNone/>
            </a:pP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if (feedbackItems.length === 0) {</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return &lt;p&gt;No feedback yet.&lt;/p&gt;;</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a:t>
            </a:r>
            <a:endParaRPr lang="en-US" sz="980" dirty="0"/>
          </a:p>
          <a:p>
            <a:pPr indent="0" marL="0">
              <a:buNone/>
            </a:pP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if (isLoading) {</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return &lt;p&gt;Loading feedback...&lt;/p&gt;;</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a:t>
            </a:r>
            <a:endParaRPr lang="en-US" sz="980" dirty="0"/>
          </a:p>
        </p:txBody>
      </p:sp>
      <p:sp>
        <p:nvSpPr>
          <p:cNvPr id="5" name="body-text"/>
          <p:cNvSpPr/>
          <p:nvPr/>
        </p:nvSpPr>
        <p:spPr>
          <a:xfrm>
            <a:off x="5047488" y="1078992"/>
            <a:ext cx="2834640" cy="329184"/>
          </a:xfrm>
          <a:prstGeom prst="rect">
            <a:avLst/>
          </a:prstGeom>
          <a:noFill/>
          <a:ln/>
        </p:spPr>
        <p:txBody>
          <a:bodyPr wrap="square" lIns="0" tIns="0" rIns="0" bIns="0" rtlCol="0" anchor="t"/>
          <a:lstStyle/>
          <a:p>
            <a:pPr algn="l" indent="0" marL="0">
              <a:buNone/>
            </a:pPr>
            <a:r>
              <a:rPr lang="en-US" sz="1200" b="1" dirty="0">
                <a:solidFill>
                  <a:srgbClr val="0F172A"/>
                </a:solidFill>
                <a:latin typeface="Arial" pitchFamily="34" charset="0"/>
                <a:ea typeface="Arial" pitchFamily="34" charset="-122"/>
                <a:cs typeface="Arial" pitchFamily="34" charset="-120"/>
              </a:rPr>
              <a:t>What appears on the initial render?</a:t>
            </a:r>
            <a:endParaRPr lang="en-US" sz="1200" dirty="0"/>
          </a:p>
        </p:txBody>
      </p:sp>
      <p:sp>
        <p:nvSpPr>
          <p:cNvPr id="6" name="option-A"/>
          <p:cNvSpPr/>
          <p:nvPr/>
        </p:nvSpPr>
        <p:spPr>
          <a:xfrm>
            <a:off x="5047488" y="1627632"/>
            <a:ext cx="2871216" cy="493776"/>
          </a:xfrm>
          <a:prstGeom prst="roundRect">
            <a:avLst/>
          </a:prstGeom>
          <a:solidFill>
            <a:srgbClr val="FFFFFF"/>
          </a:solidFill>
          <a:ln w="12700">
            <a:solidFill>
              <a:srgbClr val="CBD5E1"/>
            </a:solidFill>
            <a:prstDash val="solid"/>
          </a:ln>
        </p:spPr>
      </p:sp>
      <p:sp>
        <p:nvSpPr>
          <p:cNvPr id="7" name="option-A-badge"/>
          <p:cNvSpPr/>
          <p:nvPr/>
        </p:nvSpPr>
        <p:spPr>
          <a:xfrm>
            <a:off x="5157216" y="1737360"/>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A</a:t>
            </a:r>
            <a:endParaRPr lang="en-US" sz="1080" dirty="0"/>
          </a:p>
        </p:txBody>
      </p:sp>
      <p:sp>
        <p:nvSpPr>
          <p:cNvPr id="8" name="option-A-text"/>
          <p:cNvSpPr/>
          <p:nvPr/>
        </p:nvSpPr>
        <p:spPr>
          <a:xfrm>
            <a:off x="5577840" y="1719072"/>
            <a:ext cx="2231136" cy="310896"/>
          </a:xfrm>
          <a:prstGeom prst="rect">
            <a:avLst/>
          </a:prstGeom>
          <a:noFill/>
          <a:ln/>
        </p:spPr>
        <p:txBody>
          <a:bodyPr wrap="square" lIns="0" tIns="0" rIns="0" bIns="0" rtlCol="0" anchor="ctr"/>
          <a:lstStyle/>
          <a:p>
            <a:pPr algn="l" indent="0" marL="0">
              <a:buNone/>
            </a:pPr>
            <a:r>
              <a:rPr lang="en-US" sz="1000" dirty="0">
                <a:solidFill>
                  <a:srgbClr val="0F172A"/>
                </a:solidFill>
                <a:latin typeface="Arial" pitchFamily="34" charset="0"/>
                <a:ea typeface="Arial" pitchFamily="34" charset="-122"/>
                <a:cs typeface="Arial" pitchFamily="34" charset="-120"/>
              </a:rPr>
              <a:t>Loading feedback...</a:t>
            </a:r>
            <a:endParaRPr lang="en-US" sz="1000" dirty="0"/>
          </a:p>
        </p:txBody>
      </p:sp>
      <p:sp>
        <p:nvSpPr>
          <p:cNvPr id="9" name="option-B"/>
          <p:cNvSpPr/>
          <p:nvPr/>
        </p:nvSpPr>
        <p:spPr>
          <a:xfrm>
            <a:off x="5047488" y="2194560"/>
            <a:ext cx="2871216" cy="493776"/>
          </a:xfrm>
          <a:prstGeom prst="roundRect">
            <a:avLst/>
          </a:prstGeom>
          <a:solidFill>
            <a:srgbClr val="DCFCE7"/>
          </a:solidFill>
          <a:ln w="12700">
            <a:solidFill>
              <a:srgbClr val="86EFAC"/>
            </a:solidFill>
            <a:prstDash val="solid"/>
          </a:ln>
        </p:spPr>
      </p:sp>
      <p:sp>
        <p:nvSpPr>
          <p:cNvPr id="10" name="option-B-badge"/>
          <p:cNvSpPr/>
          <p:nvPr/>
        </p:nvSpPr>
        <p:spPr>
          <a:xfrm>
            <a:off x="5157216" y="2304288"/>
            <a:ext cx="310896" cy="310896"/>
          </a:xfrm>
          <a:prstGeom prst="rect">
            <a:avLst/>
          </a:prstGeom>
          <a:solidFill>
            <a:srgbClr val="DCFCE7"/>
          </a:solidFill>
          <a:ln>
            <a:solidFill>
              <a:srgbClr val="DCFCE7"/>
            </a:solidFill>
          </a:ln>
        </p:spPr>
        <p:txBody>
          <a:bodyPr wrap="square" lIns="0" tIns="0" rIns="0" bIns="0" rtlCol="0" anchor="ctr"/>
          <a:lstStyle/>
          <a:p>
            <a:pPr algn="ctr" indent="0" marL="0">
              <a:buNone/>
            </a:pPr>
            <a:r>
              <a:rPr lang="en-US" sz="1080" b="1" dirty="0">
                <a:solidFill>
                  <a:srgbClr val="166534"/>
                </a:solidFill>
                <a:latin typeface="Arial" pitchFamily="34" charset="0"/>
                <a:ea typeface="Arial" pitchFamily="34" charset="-122"/>
                <a:cs typeface="Arial" pitchFamily="34" charset="-120"/>
              </a:rPr>
              <a:t>B</a:t>
            </a:r>
            <a:endParaRPr lang="en-US" sz="1080" dirty="0"/>
          </a:p>
        </p:txBody>
      </p:sp>
      <p:sp>
        <p:nvSpPr>
          <p:cNvPr id="11" name="option-B-text"/>
          <p:cNvSpPr/>
          <p:nvPr/>
        </p:nvSpPr>
        <p:spPr>
          <a:xfrm>
            <a:off x="5577840" y="2286000"/>
            <a:ext cx="2231136" cy="310896"/>
          </a:xfrm>
          <a:prstGeom prst="rect">
            <a:avLst/>
          </a:prstGeom>
          <a:noFill/>
          <a:ln/>
        </p:spPr>
        <p:txBody>
          <a:bodyPr wrap="square" lIns="0" tIns="0" rIns="0" bIns="0" rtlCol="0" anchor="ctr"/>
          <a:lstStyle/>
          <a:p>
            <a:pPr algn="l" indent="0" marL="0">
              <a:buNone/>
            </a:pPr>
            <a:r>
              <a:rPr lang="en-US" sz="1000" dirty="0">
                <a:solidFill>
                  <a:srgbClr val="0F172A"/>
                </a:solidFill>
                <a:latin typeface="Arial" pitchFamily="34" charset="0"/>
                <a:ea typeface="Arial" pitchFamily="34" charset="-122"/>
                <a:cs typeface="Arial" pitchFamily="34" charset="-120"/>
              </a:rPr>
              <a:t>No feedback yet.</a:t>
            </a:r>
            <a:endParaRPr lang="en-US" sz="1000" dirty="0"/>
          </a:p>
        </p:txBody>
      </p:sp>
      <p:sp>
        <p:nvSpPr>
          <p:cNvPr id="12" name="option-C"/>
          <p:cNvSpPr/>
          <p:nvPr/>
        </p:nvSpPr>
        <p:spPr>
          <a:xfrm>
            <a:off x="5047488" y="2761488"/>
            <a:ext cx="2871216" cy="493776"/>
          </a:xfrm>
          <a:prstGeom prst="roundRect">
            <a:avLst/>
          </a:prstGeom>
          <a:solidFill>
            <a:srgbClr val="FFFFFF"/>
          </a:solidFill>
          <a:ln w="12700">
            <a:solidFill>
              <a:srgbClr val="CBD5E1"/>
            </a:solidFill>
            <a:prstDash val="solid"/>
          </a:ln>
        </p:spPr>
      </p:sp>
      <p:sp>
        <p:nvSpPr>
          <p:cNvPr id="13" name="option-C-badge"/>
          <p:cNvSpPr/>
          <p:nvPr/>
        </p:nvSpPr>
        <p:spPr>
          <a:xfrm>
            <a:off x="5157216" y="2871216"/>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C</a:t>
            </a:r>
            <a:endParaRPr lang="en-US" sz="1080" dirty="0"/>
          </a:p>
        </p:txBody>
      </p:sp>
      <p:sp>
        <p:nvSpPr>
          <p:cNvPr id="14" name="option-C-text"/>
          <p:cNvSpPr/>
          <p:nvPr/>
        </p:nvSpPr>
        <p:spPr>
          <a:xfrm>
            <a:off x="5577840" y="2852928"/>
            <a:ext cx="2231136" cy="310896"/>
          </a:xfrm>
          <a:prstGeom prst="rect">
            <a:avLst/>
          </a:prstGeom>
          <a:noFill/>
          <a:ln/>
        </p:spPr>
        <p:txBody>
          <a:bodyPr wrap="square" lIns="0" tIns="0" rIns="0" bIns="0" rtlCol="0" anchor="ctr"/>
          <a:lstStyle/>
          <a:p>
            <a:pPr algn="l" indent="0" marL="0">
              <a:buNone/>
            </a:pPr>
            <a:r>
              <a:rPr lang="en-US" sz="950" dirty="0">
                <a:solidFill>
                  <a:srgbClr val="0F172A"/>
                </a:solidFill>
                <a:latin typeface="Arial" pitchFamily="34" charset="0"/>
                <a:ea typeface="Arial" pitchFamily="34" charset="-122"/>
                <a:cs typeface="Arial" pitchFamily="34" charset="-120"/>
              </a:rPr>
              <a:t>Nothing; the request has not finished.</a:t>
            </a:r>
            <a:endParaRPr lang="en-US" sz="950" dirty="0"/>
          </a:p>
        </p:txBody>
      </p:sp>
      <p:sp>
        <p:nvSpPr>
          <p:cNvPr id="15" name="option-D"/>
          <p:cNvSpPr/>
          <p:nvPr/>
        </p:nvSpPr>
        <p:spPr>
          <a:xfrm>
            <a:off x="5047488" y="3328416"/>
            <a:ext cx="2871216" cy="493776"/>
          </a:xfrm>
          <a:prstGeom prst="roundRect">
            <a:avLst/>
          </a:prstGeom>
          <a:solidFill>
            <a:srgbClr val="FFFFFF"/>
          </a:solidFill>
          <a:ln w="12700">
            <a:solidFill>
              <a:srgbClr val="CBD5E1"/>
            </a:solidFill>
            <a:prstDash val="solid"/>
          </a:ln>
        </p:spPr>
      </p:sp>
      <p:sp>
        <p:nvSpPr>
          <p:cNvPr id="16" name="option-D-badge"/>
          <p:cNvSpPr/>
          <p:nvPr/>
        </p:nvSpPr>
        <p:spPr>
          <a:xfrm>
            <a:off x="5157216" y="343814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D</a:t>
            </a:r>
            <a:endParaRPr lang="en-US" sz="1080" dirty="0"/>
          </a:p>
        </p:txBody>
      </p:sp>
      <p:sp>
        <p:nvSpPr>
          <p:cNvPr id="17" name="option-D-text"/>
          <p:cNvSpPr/>
          <p:nvPr/>
        </p:nvSpPr>
        <p:spPr>
          <a:xfrm>
            <a:off x="5577840" y="3419856"/>
            <a:ext cx="2231136" cy="310896"/>
          </a:xfrm>
          <a:prstGeom prst="rect">
            <a:avLst/>
          </a:prstGeom>
          <a:noFill/>
          <a:ln/>
        </p:spPr>
        <p:txBody>
          <a:bodyPr wrap="square" lIns="0" tIns="0" rIns="0" bIns="0" rtlCol="0" anchor="ctr"/>
          <a:lstStyle/>
          <a:p>
            <a:pPr algn="l" indent="0" marL="0">
              <a:buNone/>
            </a:pPr>
            <a:r>
              <a:rPr lang="en-US" sz="970" dirty="0">
                <a:solidFill>
                  <a:srgbClr val="0F172A"/>
                </a:solidFill>
                <a:latin typeface="Arial" pitchFamily="34" charset="0"/>
                <a:ea typeface="Arial" pitchFamily="34" charset="-122"/>
                <a:cs typeface="Arial" pitchFamily="34" charset="-120"/>
              </a:rPr>
              <a:t>TypeScript reports an error.</a:t>
            </a:r>
            <a:endParaRPr lang="en-US" sz="970" dirty="0"/>
          </a:p>
        </p:txBody>
      </p:sp>
      <p:sp>
        <p:nvSpPr>
          <p:cNvPr id="18" name="answer-box"/>
          <p:cNvSpPr/>
          <p:nvPr/>
        </p:nvSpPr>
        <p:spPr>
          <a:xfrm>
            <a:off x="658368" y="4041648"/>
            <a:ext cx="7260336" cy="566928"/>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990" b="1" dirty="0">
                <a:solidFill>
                  <a:srgbClr val="166534"/>
                </a:solidFill>
                <a:latin typeface="Arial" pitchFamily="34" charset="0"/>
                <a:ea typeface="Arial" pitchFamily="34" charset="-122"/>
                <a:cs typeface="Arial" pitchFamily="34" charset="-120"/>
              </a:rPr>
              <a:t>Answer: </a:t>
            </a:r>
            <a:pPr indent="0" marL="0">
              <a:buNone/>
            </a:pPr>
            <a:r>
              <a:rPr lang="en-US" sz="990" b="1" dirty="0">
                <a:solidFill>
                  <a:srgbClr val="0F172A"/>
                </a:solidFill>
                <a:latin typeface="Arial" pitchFamily="34" charset="0"/>
                <a:ea typeface="Arial" pitchFamily="34" charset="-122"/>
                <a:cs typeface="Arial" pitchFamily="34" charset="-120"/>
              </a:rPr>
              <a:t>B. No feedback yet.</a:t>
            </a:r>
            <a:pPr indent="0" marL="0">
              <a:buNone/>
            </a:pPr>
            <a:endParaRPr lang="en-US" sz="990" dirty="0"/>
          </a:p>
          <a:p>
            <a:pPr indent="0" marL="0">
              <a:buNone/>
            </a:pPr>
            <a:r>
              <a:rPr lang="en-US" sz="990" b="1" dirty="0">
                <a:solidFill>
                  <a:srgbClr val="166534"/>
                </a:solidFill>
                <a:latin typeface="Arial" pitchFamily="34" charset="0"/>
                <a:ea typeface="Arial" pitchFamily="34" charset="-122"/>
                <a:cs typeface="Arial" pitchFamily="34" charset="-120"/>
              </a:rPr>
              <a:t>Why: </a:t>
            </a:r>
            <a:endParaRPr lang="en-US" sz="990" dirty="0"/>
          </a:p>
          <a:p>
            <a:pPr indent="0" marL="0">
              <a:buNone/>
            </a:pPr>
            <a:r>
              <a:rPr lang="en-US" sz="990" dirty="0">
                <a:solidFill>
                  <a:srgbClr val="0F172A"/>
                </a:solidFill>
                <a:latin typeface="Arial" pitchFamily="34" charset="0"/>
                <a:ea typeface="Arial" pitchFamily="34" charset="-122"/>
                <a:cs typeface="Arial" pitchFamily="34" charset="-120"/>
              </a:rPr>
              <a:t>feedbackItems.length === 0 is already true, so that first return runs before React reaches the loading check. The message is misleading because the request is still in progress.</a:t>
            </a:r>
            <a:endParaRPr lang="en-US" sz="99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Activity: Complete the Task Feed</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ACTIVITY</a:t>
            </a:r>
            <a:endParaRPr lang="en-US" sz="940" dirty="0"/>
          </a:p>
        </p:txBody>
      </p:sp>
      <p:sp>
        <p:nvSpPr>
          <p:cNvPr id="4" name="task-feed-ui"/>
          <p:cNvSpPr/>
          <p:nvPr/>
        </p:nvSpPr>
        <p:spPr>
          <a:xfrm>
            <a:off x="658368" y="1060704"/>
            <a:ext cx="3785616" cy="3154680"/>
          </a:xfrm>
          <a:prstGeom prst="roundRect">
            <a:avLst/>
          </a:prstGeom>
          <a:solidFill>
            <a:srgbClr val="FFFFFF"/>
          </a:solidFill>
          <a:ln w="12700">
            <a:solidFill>
              <a:srgbClr val="CBD5E1"/>
            </a:solidFill>
            <a:prstDash val="solid"/>
          </a:ln>
        </p:spPr>
      </p:sp>
      <p:sp>
        <p:nvSpPr>
          <p:cNvPr id="5" name="task-feed-ui-bar"/>
          <p:cNvSpPr/>
          <p:nvPr/>
        </p:nvSpPr>
        <p:spPr>
          <a:xfrm>
            <a:off x="658368" y="1060704"/>
            <a:ext cx="3785616" cy="310896"/>
          </a:xfrm>
          <a:prstGeom prst="rect">
            <a:avLst/>
          </a:prstGeom>
          <a:solidFill>
            <a:srgbClr val="F8FAFC"/>
          </a:solidFill>
          <a:ln w="8890">
            <a:solidFill>
              <a:srgbClr val="CBD5E1"/>
            </a:solidFill>
            <a:prstDash val="solid"/>
          </a:ln>
        </p:spPr>
      </p:sp>
      <p:sp>
        <p:nvSpPr>
          <p:cNvPr id="6" name="task-feed-ui-dot0"/>
          <p:cNvSpPr/>
          <p:nvPr/>
        </p:nvSpPr>
        <p:spPr>
          <a:xfrm>
            <a:off x="768096" y="1170432"/>
            <a:ext cx="73152" cy="73152"/>
          </a:xfrm>
          <a:prstGeom prst="ellipse">
            <a:avLst/>
          </a:prstGeom>
          <a:solidFill>
            <a:srgbClr val="F87171"/>
          </a:solidFill>
          <a:ln w="12700">
            <a:solidFill>
              <a:srgbClr val="F87171"/>
            </a:solidFill>
            <a:prstDash val="solid"/>
          </a:ln>
        </p:spPr>
      </p:sp>
      <p:sp>
        <p:nvSpPr>
          <p:cNvPr id="7" name="task-feed-ui-dot1"/>
          <p:cNvSpPr/>
          <p:nvPr/>
        </p:nvSpPr>
        <p:spPr>
          <a:xfrm>
            <a:off x="886968" y="1170432"/>
            <a:ext cx="73152" cy="73152"/>
          </a:xfrm>
          <a:prstGeom prst="ellipse">
            <a:avLst/>
          </a:prstGeom>
          <a:solidFill>
            <a:srgbClr val="FBBF24"/>
          </a:solidFill>
          <a:ln w="12700">
            <a:solidFill>
              <a:srgbClr val="FBBF24"/>
            </a:solidFill>
            <a:prstDash val="solid"/>
          </a:ln>
        </p:spPr>
      </p:sp>
      <p:sp>
        <p:nvSpPr>
          <p:cNvPr id="8" name="task-feed-ui-dot2"/>
          <p:cNvSpPr/>
          <p:nvPr/>
        </p:nvSpPr>
        <p:spPr>
          <a:xfrm>
            <a:off x="1005840" y="1170432"/>
            <a:ext cx="73152" cy="73152"/>
          </a:xfrm>
          <a:prstGeom prst="ellipse">
            <a:avLst/>
          </a:prstGeom>
          <a:solidFill>
            <a:srgbClr val="34D399"/>
          </a:solidFill>
          <a:ln w="12700">
            <a:solidFill>
              <a:srgbClr val="34D399"/>
            </a:solidFill>
            <a:prstDash val="solid"/>
          </a:ln>
        </p:spPr>
      </p:sp>
      <p:sp>
        <p:nvSpPr>
          <p:cNvPr id="9" name="task-feed-ui-title"/>
          <p:cNvSpPr/>
          <p:nvPr/>
        </p:nvSpPr>
        <p:spPr>
          <a:xfrm>
            <a:off x="1188720" y="1129284"/>
            <a:ext cx="3127248"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Task Feed</a:t>
            </a:r>
            <a:endParaRPr lang="en-US" sz="920" dirty="0"/>
          </a:p>
        </p:txBody>
      </p:sp>
      <p:sp>
        <p:nvSpPr>
          <p:cNvPr id="10" name="body-text"/>
          <p:cNvSpPr/>
          <p:nvPr/>
        </p:nvSpPr>
        <p:spPr>
          <a:xfrm>
            <a:off x="950976" y="1536192"/>
            <a:ext cx="3200400" cy="256032"/>
          </a:xfrm>
          <a:prstGeom prst="rect">
            <a:avLst/>
          </a:prstGeom>
          <a:noFill/>
          <a:ln/>
        </p:spPr>
        <p:txBody>
          <a:bodyPr wrap="square" lIns="0" tIns="0" rIns="0" bIns="0" rtlCol="0" anchor="t"/>
          <a:lstStyle/>
          <a:p>
            <a:pPr algn="l" indent="0" marL="0">
              <a:buNone/>
            </a:pPr>
            <a:r>
              <a:rPr lang="en-US" sz="1400" b="1" dirty="0">
                <a:solidFill>
                  <a:srgbClr val="0F172A"/>
                </a:solidFill>
                <a:latin typeface="Arial" pitchFamily="34" charset="0"/>
                <a:ea typeface="Arial" pitchFamily="34" charset="-122"/>
                <a:cs typeface="Arial" pitchFamily="34" charset="-120"/>
              </a:rPr>
              <a:t>Task Feed</a:t>
            </a:r>
            <a:endParaRPr lang="en-US" sz="1400" dirty="0"/>
          </a:p>
        </p:txBody>
      </p:sp>
      <p:sp>
        <p:nvSpPr>
          <p:cNvPr id="11" name="task-0"/>
          <p:cNvSpPr/>
          <p:nvPr/>
        </p:nvSpPr>
        <p:spPr>
          <a:xfrm>
            <a:off x="932688" y="1993392"/>
            <a:ext cx="3218688" cy="475488"/>
          </a:xfrm>
          <a:prstGeom prst="roundRect">
            <a:avLst/>
          </a:prstGeom>
          <a:solidFill>
            <a:srgbClr val="FFFFFF"/>
          </a:solidFill>
          <a:ln w="12700">
            <a:solidFill>
              <a:srgbClr val="CBD5E1"/>
            </a:solidFill>
            <a:prstDash val="solid"/>
          </a:ln>
        </p:spPr>
      </p:sp>
      <p:sp>
        <p:nvSpPr>
          <p:cNvPr id="12" name="body-text"/>
          <p:cNvSpPr/>
          <p:nvPr/>
        </p:nvSpPr>
        <p:spPr>
          <a:xfrm>
            <a:off x="1078992" y="2103120"/>
            <a:ext cx="1993392" cy="182880"/>
          </a:xfrm>
          <a:prstGeom prst="rect">
            <a:avLst/>
          </a:prstGeom>
          <a:noFill/>
          <a:ln/>
        </p:spPr>
        <p:txBody>
          <a:bodyPr wrap="square" lIns="0" tIns="0" rIns="0" bIns="0" rtlCol="0" anchor="t"/>
          <a:lstStyle/>
          <a:p>
            <a:pPr algn="l" indent="0" marL="0">
              <a:buNone/>
            </a:pPr>
            <a:r>
              <a:rPr lang="en-US" sz="1020" b="1" dirty="0">
                <a:solidFill>
                  <a:srgbClr val="0F172A"/>
                </a:solidFill>
                <a:latin typeface="Arial" pitchFamily="34" charset="0"/>
                <a:ea typeface="Arial" pitchFamily="34" charset="-122"/>
                <a:cs typeface="Arial" pitchFamily="34" charset="-120"/>
              </a:rPr>
              <a:t>Learn React Effects</a:t>
            </a:r>
            <a:endParaRPr lang="en-US" sz="1020" dirty="0"/>
          </a:p>
        </p:txBody>
      </p:sp>
      <p:sp>
        <p:nvSpPr>
          <p:cNvPr id="13" name="pill"/>
          <p:cNvSpPr/>
          <p:nvPr/>
        </p:nvSpPr>
        <p:spPr>
          <a:xfrm>
            <a:off x="3182112" y="2084832"/>
            <a:ext cx="786384" cy="274320"/>
          </a:xfrm>
          <a:prstGeom prst="rect">
            <a:avLst/>
          </a:prstGeom>
          <a:solidFill>
            <a:srgbClr val="EFF6FF"/>
          </a:solidFill>
          <a:ln w="10160">
            <a:solidFill>
              <a:srgbClr val="EFF6FF"/>
            </a:solidFill>
          </a:ln>
        </p:spPr>
        <p:txBody>
          <a:bodyPr wrap="square" lIns="635" tIns="1270" rIns="1270" bIns="635" rtlCol="0" anchor="ctr"/>
          <a:lstStyle/>
          <a:p>
            <a:pPr algn="ctr" indent="0" marL="0">
              <a:buNone/>
            </a:pPr>
            <a:r>
              <a:rPr lang="en-US" sz="880" b="1" dirty="0">
                <a:solidFill>
                  <a:srgbClr val="1E3A8A"/>
                </a:solidFill>
                <a:latin typeface="Arial" pitchFamily="34" charset="0"/>
                <a:ea typeface="Arial" pitchFamily="34" charset="-122"/>
                <a:cs typeface="Arial" pitchFamily="34" charset="-120"/>
              </a:rPr>
              <a:t>Open</a:t>
            </a:r>
            <a:endParaRPr lang="en-US" sz="880" dirty="0"/>
          </a:p>
        </p:txBody>
      </p:sp>
      <p:sp>
        <p:nvSpPr>
          <p:cNvPr id="14" name="task-1"/>
          <p:cNvSpPr/>
          <p:nvPr/>
        </p:nvSpPr>
        <p:spPr>
          <a:xfrm>
            <a:off x="932688" y="2596896"/>
            <a:ext cx="3218688" cy="475488"/>
          </a:xfrm>
          <a:prstGeom prst="roundRect">
            <a:avLst/>
          </a:prstGeom>
          <a:solidFill>
            <a:srgbClr val="FFFFFF"/>
          </a:solidFill>
          <a:ln w="12700">
            <a:solidFill>
              <a:srgbClr val="CBD5E1"/>
            </a:solidFill>
            <a:prstDash val="solid"/>
          </a:ln>
        </p:spPr>
      </p:sp>
      <p:sp>
        <p:nvSpPr>
          <p:cNvPr id="15" name="body-text"/>
          <p:cNvSpPr/>
          <p:nvPr/>
        </p:nvSpPr>
        <p:spPr>
          <a:xfrm>
            <a:off x="1078992" y="2706624"/>
            <a:ext cx="1993392" cy="182880"/>
          </a:xfrm>
          <a:prstGeom prst="rect">
            <a:avLst/>
          </a:prstGeom>
          <a:noFill/>
          <a:ln/>
        </p:spPr>
        <p:txBody>
          <a:bodyPr wrap="square" lIns="0" tIns="0" rIns="0" bIns="0" rtlCol="0" anchor="t"/>
          <a:lstStyle/>
          <a:p>
            <a:pPr algn="l" indent="0" marL="0">
              <a:buNone/>
            </a:pPr>
            <a:r>
              <a:rPr lang="en-US" sz="1020" b="1" dirty="0">
                <a:solidFill>
                  <a:srgbClr val="0F172A"/>
                </a:solidFill>
                <a:latin typeface="Arial" pitchFamily="34" charset="0"/>
                <a:ea typeface="Arial" pitchFamily="34" charset="-122"/>
                <a:cs typeface="Arial" pitchFamily="34" charset="-120"/>
              </a:rPr>
              <a:t>Review TypeScript</a:t>
            </a:r>
            <a:endParaRPr lang="en-US" sz="1020" dirty="0"/>
          </a:p>
        </p:txBody>
      </p:sp>
      <p:sp>
        <p:nvSpPr>
          <p:cNvPr id="16" name="pill"/>
          <p:cNvSpPr/>
          <p:nvPr/>
        </p:nvSpPr>
        <p:spPr>
          <a:xfrm>
            <a:off x="3182112" y="2688336"/>
            <a:ext cx="786384" cy="274320"/>
          </a:xfrm>
          <a:prstGeom prst="rect">
            <a:avLst/>
          </a:prstGeom>
          <a:solidFill>
            <a:srgbClr val="DCFCE7"/>
          </a:solidFill>
          <a:ln w="10160">
            <a:solidFill>
              <a:srgbClr val="DCFCE7"/>
            </a:solidFill>
          </a:ln>
        </p:spPr>
        <p:txBody>
          <a:bodyPr wrap="square" lIns="635" tIns="1270" rIns="1270" bIns="635" rtlCol="0" anchor="ctr"/>
          <a:lstStyle/>
          <a:p>
            <a:pPr algn="ctr" indent="0" marL="0">
              <a:buNone/>
            </a:pPr>
            <a:r>
              <a:rPr lang="en-US" sz="880" b="1" dirty="0">
                <a:solidFill>
                  <a:srgbClr val="166534"/>
                </a:solidFill>
                <a:latin typeface="Arial" pitchFamily="34" charset="0"/>
                <a:ea typeface="Arial" pitchFamily="34" charset="-122"/>
                <a:cs typeface="Arial" pitchFamily="34" charset="-120"/>
              </a:rPr>
              <a:t>Complete</a:t>
            </a:r>
            <a:endParaRPr lang="en-US" sz="880" dirty="0"/>
          </a:p>
        </p:txBody>
      </p:sp>
      <p:sp>
        <p:nvSpPr>
          <p:cNvPr id="17" name="task-2"/>
          <p:cNvSpPr/>
          <p:nvPr/>
        </p:nvSpPr>
        <p:spPr>
          <a:xfrm>
            <a:off x="932688" y="3200400"/>
            <a:ext cx="3218688" cy="475488"/>
          </a:xfrm>
          <a:prstGeom prst="roundRect">
            <a:avLst/>
          </a:prstGeom>
          <a:solidFill>
            <a:srgbClr val="FFFFFF"/>
          </a:solidFill>
          <a:ln w="12700">
            <a:solidFill>
              <a:srgbClr val="CBD5E1"/>
            </a:solidFill>
            <a:prstDash val="solid"/>
          </a:ln>
        </p:spPr>
      </p:sp>
      <p:sp>
        <p:nvSpPr>
          <p:cNvPr id="18" name="body-text"/>
          <p:cNvSpPr/>
          <p:nvPr/>
        </p:nvSpPr>
        <p:spPr>
          <a:xfrm>
            <a:off x="1078992" y="3310128"/>
            <a:ext cx="1993392" cy="182880"/>
          </a:xfrm>
          <a:prstGeom prst="rect">
            <a:avLst/>
          </a:prstGeom>
          <a:noFill/>
          <a:ln/>
        </p:spPr>
        <p:txBody>
          <a:bodyPr wrap="square" lIns="0" tIns="0" rIns="0" bIns="0" rtlCol="0" anchor="t"/>
          <a:lstStyle/>
          <a:p>
            <a:pPr algn="l" indent="0" marL="0">
              <a:buNone/>
            </a:pPr>
            <a:r>
              <a:rPr lang="en-US" sz="1020" b="1" dirty="0">
                <a:solidFill>
                  <a:srgbClr val="0F172A"/>
                </a:solidFill>
                <a:latin typeface="Arial" pitchFamily="34" charset="0"/>
                <a:ea typeface="Arial" pitchFamily="34" charset="-122"/>
                <a:cs typeface="Arial" pitchFamily="34" charset="-120"/>
              </a:rPr>
              <a:t>Inspect API data</a:t>
            </a:r>
            <a:endParaRPr lang="en-US" sz="1020" dirty="0"/>
          </a:p>
        </p:txBody>
      </p:sp>
      <p:sp>
        <p:nvSpPr>
          <p:cNvPr id="19" name="pill"/>
          <p:cNvSpPr/>
          <p:nvPr/>
        </p:nvSpPr>
        <p:spPr>
          <a:xfrm>
            <a:off x="3182112" y="3291840"/>
            <a:ext cx="786384" cy="274320"/>
          </a:xfrm>
          <a:prstGeom prst="rect">
            <a:avLst/>
          </a:prstGeom>
          <a:solidFill>
            <a:srgbClr val="EFF6FF"/>
          </a:solidFill>
          <a:ln w="10160">
            <a:solidFill>
              <a:srgbClr val="EFF6FF"/>
            </a:solidFill>
          </a:ln>
        </p:spPr>
        <p:txBody>
          <a:bodyPr wrap="square" lIns="635" tIns="1270" rIns="1270" bIns="635" rtlCol="0" anchor="ctr"/>
          <a:lstStyle/>
          <a:p>
            <a:pPr algn="ctr" indent="0" marL="0">
              <a:buNone/>
            </a:pPr>
            <a:r>
              <a:rPr lang="en-US" sz="880" b="1" dirty="0">
                <a:solidFill>
                  <a:srgbClr val="1E3A8A"/>
                </a:solidFill>
                <a:latin typeface="Arial" pitchFamily="34" charset="0"/>
                <a:ea typeface="Arial" pitchFamily="34" charset="-122"/>
                <a:cs typeface="Arial" pitchFamily="34" charset="-120"/>
              </a:rPr>
              <a:t>Open</a:t>
            </a:r>
            <a:endParaRPr lang="en-US" sz="880" dirty="0"/>
          </a:p>
        </p:txBody>
      </p:sp>
      <p:sp>
        <p:nvSpPr>
          <p:cNvPr id="20" name="label"/>
          <p:cNvSpPr/>
          <p:nvPr/>
        </p:nvSpPr>
        <p:spPr>
          <a:xfrm>
            <a:off x="4773168" y="1097280"/>
            <a:ext cx="1133856" cy="201168"/>
          </a:xfrm>
          <a:prstGeom prst="rect">
            <a:avLst/>
          </a:prstGeom>
          <a:noFill/>
          <a:ln/>
        </p:spPr>
        <p:txBody>
          <a:bodyPr wrap="square" lIns="0" tIns="0" rIns="0" bIns="0" rtlCol="0" anchor="ctr"/>
          <a:lstStyle/>
          <a:p>
            <a:pPr algn="l" indent="0" marL="0">
              <a:buNone/>
            </a:pPr>
            <a:r>
              <a:rPr lang="en-US" sz="950" b="1" dirty="0">
                <a:solidFill>
                  <a:srgbClr val="1E3A8A"/>
                </a:solidFill>
                <a:latin typeface="Arial" pitchFamily="34" charset="0"/>
                <a:ea typeface="Arial" pitchFamily="34" charset="-122"/>
                <a:cs typeface="Arial" pitchFamily="34" charset="-120"/>
              </a:rPr>
              <a:t>YOUR TASK</a:t>
            </a:r>
            <a:endParaRPr lang="en-US" sz="950" dirty="0"/>
          </a:p>
        </p:txBody>
      </p:sp>
      <p:sp>
        <p:nvSpPr>
          <p:cNvPr id="21" name="body-text"/>
          <p:cNvSpPr/>
          <p:nvPr/>
        </p:nvSpPr>
        <p:spPr>
          <a:xfrm>
            <a:off x="4773168" y="1408176"/>
            <a:ext cx="3310128" cy="603504"/>
          </a:xfrm>
          <a:prstGeom prst="rect">
            <a:avLst/>
          </a:prstGeom>
          <a:noFill/>
          <a:ln/>
        </p:spPr>
        <p:txBody>
          <a:bodyPr wrap="square" lIns="0" tIns="0" rIns="0" bIns="0" rtlCol="0" anchor="t"/>
          <a:lstStyle/>
          <a:p>
            <a:pPr algn="l" indent="0" marL="0">
              <a:buNone/>
            </a:pPr>
            <a:r>
              <a:rPr lang="en-US" sz="1200" b="1" dirty="0">
                <a:solidFill>
                  <a:srgbClr val="0F172A"/>
                </a:solidFill>
                <a:latin typeface="Arial" pitchFamily="34" charset="0"/>
                <a:ea typeface="Arial" pitchFamily="34" charset="-122"/>
                <a:cs typeface="Arial" pitchFamily="34" charset="-120"/>
              </a:rPr>
              <a:t>Open the starter project and explore the existing TaskFeed implementation.</a:t>
            </a:r>
            <a:endParaRPr lang="en-US" sz="1200" dirty="0"/>
          </a:p>
        </p:txBody>
      </p:sp>
      <p:sp>
        <p:nvSpPr>
          <p:cNvPr id="22" name="body-text"/>
          <p:cNvSpPr/>
          <p:nvPr/>
        </p:nvSpPr>
        <p:spPr>
          <a:xfrm>
            <a:off x="4773168" y="2066544"/>
            <a:ext cx="3310128" cy="585216"/>
          </a:xfrm>
          <a:prstGeom prst="rect">
            <a:avLst/>
          </a:prstGeom>
          <a:noFill/>
          <a:ln/>
        </p:spPr>
        <p:txBody>
          <a:bodyPr wrap="square" lIns="0" tIns="0" rIns="0" bIns="0" rtlCol="0" anchor="t"/>
          <a:lstStyle/>
          <a:p>
            <a:pPr algn="l" indent="0" marL="0">
              <a:buNone/>
            </a:pPr>
            <a:r>
              <a:rPr lang="en-US" sz="1140" dirty="0">
                <a:solidFill>
                  <a:srgbClr val="0F172A"/>
                </a:solidFill>
                <a:latin typeface="Arial" pitchFamily="34" charset="0"/>
                <a:ea typeface="Arial" pitchFamily="34" charset="-122"/>
                <a:cs typeface="Arial" pitchFamily="34" charset="-120"/>
              </a:rPr>
              <a:t>Complete the unfinished Effect so the component loads its task data from the provided API.</a:t>
            </a:r>
            <a:endParaRPr lang="en-US" sz="1140" dirty="0"/>
          </a:p>
        </p:txBody>
      </p:sp>
      <p:sp>
        <p:nvSpPr>
          <p:cNvPr id="23" name="bullet-list"/>
          <p:cNvSpPr/>
          <p:nvPr/>
        </p:nvSpPr>
        <p:spPr>
          <a:xfrm>
            <a:off x="4773168" y="2816352"/>
            <a:ext cx="3310128" cy="1152144"/>
          </a:xfrm>
          <a:prstGeom prst="rect">
            <a:avLst/>
          </a:prstGeom>
          <a:noFill/>
          <a:ln/>
        </p:spPr>
        <p:txBody>
          <a:bodyPr wrap="square" lIns="0" tIns="0" rIns="0" bIns="0" rtlCol="0" anchor="ctr"/>
          <a:lstStyle/>
          <a:p>
            <a:pPr marL="177800" indent="-177800">
              <a:buSzPct val="100000"/>
              <a:buChar char="•"/>
            </a:pPr>
            <a:r>
              <a:rPr lang="en-US" sz="1060" dirty="0">
                <a:solidFill>
                  <a:srgbClr val="0F172A"/>
                </a:solidFill>
                <a:latin typeface="Arial" pitchFamily="34" charset="0"/>
                <a:ea typeface="Arial" pitchFamily="34" charset="-122"/>
                <a:cs typeface="Arial" pitchFamily="34" charset="-120"/>
              </a:rPr>
              <a:t>make the typed Axios GET request</a:t>
            </a:r>
            <a:endParaRPr lang="en-US" sz="1060" dirty="0"/>
          </a:p>
          <a:p>
            <a:pPr marL="177800" indent="-177800">
              <a:buSzPct val="100000"/>
              <a:buChar char="•"/>
            </a:pPr>
            <a:r>
              <a:rPr lang="en-US" sz="1060" dirty="0">
                <a:solidFill>
                  <a:srgbClr val="0F172A"/>
                </a:solidFill>
                <a:latin typeface="Arial" pitchFamily="34" charset="0"/>
                <a:ea typeface="Arial" pitchFamily="34" charset="-122"/>
                <a:cs typeface="Arial" pitchFamily="34" charset="-120"/>
              </a:rPr>
              <a:t>store the returned task data in state</a:t>
            </a:r>
            <a:endParaRPr lang="en-US" sz="1060" dirty="0"/>
          </a:p>
          <a:p>
            <a:pPr marL="177800" indent="-177800">
              <a:buSzPct val="100000"/>
              <a:buChar char="•"/>
            </a:pPr>
            <a:r>
              <a:rPr lang="en-US" sz="1060" dirty="0">
                <a:solidFill>
                  <a:srgbClr val="0F172A"/>
                </a:solidFill>
                <a:latin typeface="Arial" pitchFamily="34" charset="0"/>
                <a:ea typeface="Arial" pitchFamily="34" charset="-122"/>
                <a:cs typeface="Arial" pitchFamily="34" charset="-120"/>
              </a:rPr>
              <a:t>update the existing loading and error state</a:t>
            </a:r>
            <a:endParaRPr lang="en-US" sz="1060" dirty="0"/>
          </a:p>
          <a:p>
            <a:pPr marL="177800" indent="-177800">
              <a:buSzPct val="100000"/>
              <a:buChar char="•"/>
            </a:pPr>
            <a:r>
              <a:rPr lang="en-US" sz="1060" dirty="0">
                <a:solidFill>
                  <a:srgbClr val="0F172A"/>
                </a:solidFill>
                <a:latin typeface="Arial" pitchFamily="34" charset="0"/>
                <a:ea typeface="Arial" pitchFamily="34" charset="-122"/>
                <a:cs typeface="Arial" pitchFamily="34" charset="-120"/>
              </a:rPr>
              <a:t>start the asynchronous request from the Effect</a:t>
            </a:r>
            <a:endParaRPr lang="en-US" sz="1060" dirty="0"/>
          </a:p>
        </p:txBody>
      </p:sp>
      <p:sp>
        <p:nvSpPr>
          <p:cNvPr id="24" name="body-text"/>
          <p:cNvSpPr/>
          <p:nvPr/>
        </p:nvSpPr>
        <p:spPr>
          <a:xfrm>
            <a:off x="4773168" y="4078224"/>
            <a:ext cx="3310128" cy="219456"/>
          </a:xfrm>
          <a:prstGeom prst="rect">
            <a:avLst/>
          </a:prstGeom>
          <a:noFill/>
          <a:ln/>
        </p:spPr>
        <p:txBody>
          <a:bodyPr wrap="square" lIns="0" tIns="0" rIns="0" bIns="0" rtlCol="0" anchor="t"/>
          <a:lstStyle/>
          <a:p>
            <a:pPr algn="l" indent="0" marL="0">
              <a:buNone/>
            </a:pPr>
            <a:r>
              <a:rPr lang="en-US" sz="1020" b="1" dirty="0">
                <a:solidFill>
                  <a:srgbClr val="475569"/>
                </a:solidFill>
                <a:latin typeface="Arial" pitchFamily="34" charset="0"/>
                <a:ea typeface="Arial" pitchFamily="34" charset="-122"/>
                <a:cs typeface="Arial" pitchFamily="34" charset="-120"/>
              </a:rPr>
              <a:t>The rest of the project is already prepared for you.</a:t>
            </a:r>
            <a:endParaRPr lang="en-US" sz="102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Choose the right place</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COOL-DOWN</a:t>
            </a:r>
            <a:endParaRPr lang="en-US" sz="940" dirty="0"/>
          </a:p>
        </p:txBody>
      </p:sp>
      <p:sp>
        <p:nvSpPr>
          <p:cNvPr id="4" name="cool-scenario-0"/>
          <p:cNvSpPr/>
          <p:nvPr/>
        </p:nvSpPr>
        <p:spPr>
          <a:xfrm>
            <a:off x="658368" y="1042416"/>
            <a:ext cx="3822192" cy="512064"/>
          </a:xfrm>
          <a:prstGeom prst="roundRect">
            <a:avLst/>
          </a:prstGeom>
          <a:solidFill>
            <a:srgbClr val="F8FAFC"/>
          </a:solidFill>
          <a:ln w="12700">
            <a:solidFill>
              <a:srgbClr val="CBD5E1"/>
            </a:solidFill>
            <a:prstDash val="solid"/>
          </a:ln>
        </p:spPr>
      </p:sp>
      <p:sp>
        <p:nvSpPr>
          <p:cNvPr id="5" name="pill"/>
          <p:cNvSpPr/>
          <p:nvPr/>
        </p:nvSpPr>
        <p:spPr>
          <a:xfrm>
            <a:off x="822960" y="1161288"/>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a:t>
            </a:r>
            <a:endParaRPr lang="en-US" sz="900" dirty="0"/>
          </a:p>
        </p:txBody>
      </p:sp>
      <p:sp>
        <p:nvSpPr>
          <p:cNvPr id="6" name="body-text"/>
          <p:cNvSpPr/>
          <p:nvPr/>
        </p:nvSpPr>
        <p:spPr>
          <a:xfrm>
            <a:off x="1298448" y="1133856"/>
            <a:ext cx="2944368" cy="310896"/>
          </a:xfrm>
          <a:prstGeom prst="rect">
            <a:avLst/>
          </a:prstGeom>
          <a:noFill/>
          <a:ln/>
        </p:spPr>
        <p:txBody>
          <a:bodyPr wrap="square" lIns="0" tIns="0" rIns="0" bIns="0" rtlCol="0" anchor="t"/>
          <a:lstStyle/>
          <a:p>
            <a:pPr algn="l" indent="0" marL="0">
              <a:buNone/>
            </a:pPr>
            <a:r>
              <a:rPr lang="en-US" sz="970" dirty="0">
                <a:solidFill>
                  <a:srgbClr val="0F172A"/>
                </a:solidFill>
                <a:latin typeface="Arial" pitchFamily="34" charset="0"/>
                <a:ea typeface="Arial" pitchFamily="34" charset="-122"/>
                <a:cs typeface="Arial" pitchFamily="34" charset="-120"/>
              </a:rPr>
              <a:t>Keep the browser tab title synchronized with the current unread-message count while a notification panel is present.</a:t>
            </a:r>
            <a:endParaRPr lang="en-US" sz="970" dirty="0"/>
          </a:p>
        </p:txBody>
      </p:sp>
      <p:sp>
        <p:nvSpPr>
          <p:cNvPr id="7" name="cool-scenario-1"/>
          <p:cNvSpPr/>
          <p:nvPr/>
        </p:nvSpPr>
        <p:spPr>
          <a:xfrm>
            <a:off x="658368" y="1700784"/>
            <a:ext cx="3822192" cy="512064"/>
          </a:xfrm>
          <a:prstGeom prst="roundRect">
            <a:avLst/>
          </a:prstGeom>
          <a:solidFill>
            <a:srgbClr val="F8FAFC"/>
          </a:solidFill>
          <a:ln w="12700">
            <a:solidFill>
              <a:srgbClr val="CBD5E1"/>
            </a:solidFill>
            <a:prstDash val="solid"/>
          </a:ln>
        </p:spPr>
      </p:sp>
      <p:sp>
        <p:nvSpPr>
          <p:cNvPr id="8" name="pill"/>
          <p:cNvSpPr/>
          <p:nvPr/>
        </p:nvSpPr>
        <p:spPr>
          <a:xfrm>
            <a:off x="822960" y="1819656"/>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a:t>
            </a:r>
            <a:endParaRPr lang="en-US" sz="900" dirty="0"/>
          </a:p>
        </p:txBody>
      </p:sp>
      <p:sp>
        <p:nvSpPr>
          <p:cNvPr id="9" name="body-text"/>
          <p:cNvSpPr/>
          <p:nvPr/>
        </p:nvSpPr>
        <p:spPr>
          <a:xfrm>
            <a:off x="1298448" y="1792224"/>
            <a:ext cx="2944368" cy="310896"/>
          </a:xfrm>
          <a:prstGeom prst="rect">
            <a:avLst/>
          </a:prstGeom>
          <a:noFill/>
          <a:ln/>
        </p:spPr>
        <p:txBody>
          <a:bodyPr wrap="square" lIns="0" tIns="0" rIns="0" bIns="0" rtlCol="0" anchor="t"/>
          <a:lstStyle/>
          <a:p>
            <a:pPr algn="l" indent="0" marL="0">
              <a:buNone/>
            </a:pPr>
            <a:r>
              <a:rPr lang="en-US" sz="970" dirty="0">
                <a:solidFill>
                  <a:srgbClr val="0F172A"/>
                </a:solidFill>
                <a:latin typeface="Arial" pitchFamily="34" charset="0"/>
                <a:ea typeface="Arial" pitchFamily="34" charset="-122"/>
                <a:cs typeface="Arial" pitchFamily="34" charset="-120"/>
              </a:rPr>
              <a:t>Calculate how many tickets are still open from an existing tickets array and display the number.</a:t>
            </a:r>
            <a:endParaRPr lang="en-US" sz="970" dirty="0"/>
          </a:p>
        </p:txBody>
      </p:sp>
      <p:sp>
        <p:nvSpPr>
          <p:cNvPr id="10" name="cool-scenario-2"/>
          <p:cNvSpPr/>
          <p:nvPr/>
        </p:nvSpPr>
        <p:spPr>
          <a:xfrm>
            <a:off x="658368" y="2359152"/>
            <a:ext cx="3822192" cy="512064"/>
          </a:xfrm>
          <a:prstGeom prst="roundRect">
            <a:avLst/>
          </a:prstGeom>
          <a:solidFill>
            <a:srgbClr val="F8FAFC"/>
          </a:solidFill>
          <a:ln w="12700">
            <a:solidFill>
              <a:srgbClr val="CBD5E1"/>
            </a:solidFill>
            <a:prstDash val="solid"/>
          </a:ln>
        </p:spPr>
      </p:sp>
      <p:sp>
        <p:nvSpPr>
          <p:cNvPr id="11" name="pill"/>
          <p:cNvSpPr/>
          <p:nvPr/>
        </p:nvSpPr>
        <p:spPr>
          <a:xfrm>
            <a:off x="822960" y="2478024"/>
            <a:ext cx="292608" cy="274320"/>
          </a:xfrm>
          <a:prstGeom prst="rect">
            <a:avLst/>
          </a:prstGeom>
          <a:solidFill>
            <a:srgbClr val="1E3A8A"/>
          </a:solidFill>
          <a:ln w="10160">
            <a:solidFill>
              <a:srgbClr val="1E3A8A"/>
            </a:solidFill>
          </a:ln>
        </p:spPr>
        <p:txBody>
          <a:bodyPr wrap="square" lIns="635" tIns="1270" rIns="1270" bIns="635"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a:t>
            </a:r>
            <a:endParaRPr lang="en-US" sz="900" dirty="0"/>
          </a:p>
        </p:txBody>
      </p:sp>
      <p:sp>
        <p:nvSpPr>
          <p:cNvPr id="12" name="body-text"/>
          <p:cNvSpPr/>
          <p:nvPr/>
        </p:nvSpPr>
        <p:spPr>
          <a:xfrm>
            <a:off x="1298448" y="2450592"/>
            <a:ext cx="2944368" cy="310896"/>
          </a:xfrm>
          <a:prstGeom prst="rect">
            <a:avLst/>
          </a:prstGeom>
          <a:noFill/>
          <a:ln/>
        </p:spPr>
        <p:txBody>
          <a:bodyPr wrap="square" lIns="0" tIns="0" rIns="0" bIns="0" rtlCol="0" anchor="t"/>
          <a:lstStyle/>
          <a:p>
            <a:pPr algn="l" indent="0" marL="0">
              <a:buNone/>
            </a:pPr>
            <a:r>
              <a:rPr lang="en-US" sz="970" dirty="0">
                <a:solidFill>
                  <a:srgbClr val="0F172A"/>
                </a:solidFill>
                <a:latin typeface="Arial" pitchFamily="34" charset="0"/>
                <a:ea typeface="Arial" pitchFamily="34" charset="-122"/>
                <a:cs typeface="Arial" pitchFamily="34" charset="-120"/>
              </a:rPr>
              <a:t>When the user clicks Download report, generate the report for download.</a:t>
            </a:r>
            <a:endParaRPr lang="en-US" sz="970" dirty="0"/>
          </a:p>
        </p:txBody>
      </p:sp>
      <p:sp>
        <p:nvSpPr>
          <p:cNvPr id="13" name="body-text"/>
          <p:cNvSpPr/>
          <p:nvPr/>
        </p:nvSpPr>
        <p:spPr>
          <a:xfrm>
            <a:off x="4736592" y="1060704"/>
            <a:ext cx="3200400" cy="274320"/>
          </a:xfrm>
          <a:prstGeom prst="rect">
            <a:avLst/>
          </a:prstGeom>
          <a:noFill/>
          <a:ln/>
        </p:spPr>
        <p:txBody>
          <a:bodyPr wrap="square" lIns="0" tIns="0" rIns="0" bIns="0" rtlCol="0" anchor="t"/>
          <a:lstStyle/>
          <a:p>
            <a:pPr algn="l" indent="0" marL="0">
              <a:buNone/>
            </a:pPr>
            <a:r>
              <a:rPr lang="en-US" sz="1180" b="1" dirty="0">
                <a:solidFill>
                  <a:srgbClr val="0F172A"/>
                </a:solidFill>
                <a:latin typeface="Arial" pitchFamily="34" charset="0"/>
                <a:ea typeface="Arial" pitchFamily="34" charset="-122"/>
                <a:cs typeface="Arial" pitchFamily="34" charset="-120"/>
              </a:rPr>
              <a:t>Which classification is correct?</a:t>
            </a:r>
            <a:endParaRPr lang="en-US" sz="1180" dirty="0"/>
          </a:p>
        </p:txBody>
      </p:sp>
      <p:sp>
        <p:nvSpPr>
          <p:cNvPr id="14" name="option-A"/>
          <p:cNvSpPr/>
          <p:nvPr/>
        </p:nvSpPr>
        <p:spPr>
          <a:xfrm>
            <a:off x="4736592" y="1572768"/>
            <a:ext cx="3200400" cy="438912"/>
          </a:xfrm>
          <a:prstGeom prst="roundRect">
            <a:avLst/>
          </a:prstGeom>
          <a:solidFill>
            <a:srgbClr val="FFFFFF"/>
          </a:solidFill>
          <a:ln w="12700">
            <a:solidFill>
              <a:srgbClr val="CBD5E1"/>
            </a:solidFill>
            <a:prstDash val="solid"/>
          </a:ln>
        </p:spPr>
      </p:sp>
      <p:sp>
        <p:nvSpPr>
          <p:cNvPr id="15" name="option-A-badge"/>
          <p:cNvSpPr/>
          <p:nvPr/>
        </p:nvSpPr>
        <p:spPr>
          <a:xfrm>
            <a:off x="4846320" y="1682496"/>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A</a:t>
            </a:r>
            <a:endParaRPr lang="en-US" sz="1080" dirty="0"/>
          </a:p>
        </p:txBody>
      </p:sp>
      <p:sp>
        <p:nvSpPr>
          <p:cNvPr id="16" name="option-A-text"/>
          <p:cNvSpPr/>
          <p:nvPr/>
        </p:nvSpPr>
        <p:spPr>
          <a:xfrm>
            <a:off x="5266944" y="1664208"/>
            <a:ext cx="2560320" cy="256032"/>
          </a:xfrm>
          <a:prstGeom prst="rect">
            <a:avLst/>
          </a:prstGeom>
          <a:noFill/>
          <a:ln/>
        </p:spPr>
        <p:txBody>
          <a:bodyPr wrap="square" lIns="0" tIns="0" rIns="0" bIns="0" rtlCol="0" anchor="ctr"/>
          <a:lstStyle/>
          <a:p>
            <a:pPr algn="l" indent="0" marL="0">
              <a:buNone/>
            </a:pPr>
            <a:r>
              <a:rPr lang="en-US" sz="930" dirty="0">
                <a:solidFill>
                  <a:srgbClr val="0F172A"/>
                </a:solidFill>
                <a:latin typeface="Arial" pitchFamily="34" charset="0"/>
                <a:ea typeface="Arial" pitchFamily="34" charset="-122"/>
                <a:cs typeface="Arial" pitchFamily="34" charset="-120"/>
              </a:rPr>
              <a:t>A Rendering · B Event handler · C Effect</a:t>
            </a:r>
            <a:endParaRPr lang="en-US" sz="930" dirty="0"/>
          </a:p>
        </p:txBody>
      </p:sp>
      <p:sp>
        <p:nvSpPr>
          <p:cNvPr id="17" name="option-B"/>
          <p:cNvSpPr/>
          <p:nvPr/>
        </p:nvSpPr>
        <p:spPr>
          <a:xfrm>
            <a:off x="4736592" y="2103120"/>
            <a:ext cx="3200400" cy="438912"/>
          </a:xfrm>
          <a:prstGeom prst="roundRect">
            <a:avLst/>
          </a:prstGeom>
          <a:solidFill>
            <a:srgbClr val="FFFFFF"/>
          </a:solidFill>
          <a:ln w="12700">
            <a:solidFill>
              <a:srgbClr val="CBD5E1"/>
            </a:solidFill>
            <a:prstDash val="solid"/>
          </a:ln>
        </p:spPr>
      </p:sp>
      <p:sp>
        <p:nvSpPr>
          <p:cNvPr id="18" name="option-B-badge"/>
          <p:cNvSpPr/>
          <p:nvPr/>
        </p:nvSpPr>
        <p:spPr>
          <a:xfrm>
            <a:off x="4846320" y="2212848"/>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B</a:t>
            </a:r>
            <a:endParaRPr lang="en-US" sz="1080" dirty="0"/>
          </a:p>
        </p:txBody>
      </p:sp>
      <p:sp>
        <p:nvSpPr>
          <p:cNvPr id="19" name="option-B-text"/>
          <p:cNvSpPr/>
          <p:nvPr/>
        </p:nvSpPr>
        <p:spPr>
          <a:xfrm>
            <a:off x="5266944" y="2194560"/>
            <a:ext cx="2560320" cy="256032"/>
          </a:xfrm>
          <a:prstGeom prst="rect">
            <a:avLst/>
          </a:prstGeom>
          <a:noFill/>
          <a:ln/>
        </p:spPr>
        <p:txBody>
          <a:bodyPr wrap="square" lIns="0" tIns="0" rIns="0" bIns="0" rtlCol="0" anchor="ctr"/>
          <a:lstStyle/>
          <a:p>
            <a:pPr algn="l" indent="0" marL="0">
              <a:buNone/>
            </a:pPr>
            <a:r>
              <a:rPr lang="en-US" sz="930" dirty="0">
                <a:solidFill>
                  <a:srgbClr val="0F172A"/>
                </a:solidFill>
                <a:latin typeface="Arial" pitchFamily="34" charset="0"/>
                <a:ea typeface="Arial" pitchFamily="34" charset="-122"/>
                <a:cs typeface="Arial" pitchFamily="34" charset="-120"/>
              </a:rPr>
              <a:t>A Event handler · B Effect · C Rendering</a:t>
            </a:r>
            <a:endParaRPr lang="en-US" sz="930" dirty="0"/>
          </a:p>
        </p:txBody>
      </p:sp>
      <p:sp>
        <p:nvSpPr>
          <p:cNvPr id="20" name="option-C"/>
          <p:cNvSpPr/>
          <p:nvPr/>
        </p:nvSpPr>
        <p:spPr>
          <a:xfrm>
            <a:off x="4736592" y="2633472"/>
            <a:ext cx="3200400" cy="438912"/>
          </a:xfrm>
          <a:prstGeom prst="roundRect">
            <a:avLst/>
          </a:prstGeom>
          <a:solidFill>
            <a:srgbClr val="FFFFFF"/>
          </a:solidFill>
          <a:ln w="12700">
            <a:solidFill>
              <a:srgbClr val="CBD5E1"/>
            </a:solidFill>
            <a:prstDash val="solid"/>
          </a:ln>
        </p:spPr>
      </p:sp>
      <p:sp>
        <p:nvSpPr>
          <p:cNvPr id="21" name="option-C-badge"/>
          <p:cNvSpPr/>
          <p:nvPr/>
        </p:nvSpPr>
        <p:spPr>
          <a:xfrm>
            <a:off x="4846320" y="2743200"/>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C</a:t>
            </a:r>
            <a:endParaRPr lang="en-US" sz="1080" dirty="0"/>
          </a:p>
        </p:txBody>
      </p:sp>
      <p:sp>
        <p:nvSpPr>
          <p:cNvPr id="22" name="option-C-text"/>
          <p:cNvSpPr/>
          <p:nvPr/>
        </p:nvSpPr>
        <p:spPr>
          <a:xfrm>
            <a:off x="5266944" y="2724912"/>
            <a:ext cx="2560320" cy="256032"/>
          </a:xfrm>
          <a:prstGeom prst="rect">
            <a:avLst/>
          </a:prstGeom>
          <a:noFill/>
          <a:ln/>
        </p:spPr>
        <p:txBody>
          <a:bodyPr wrap="square" lIns="0" tIns="0" rIns="0" bIns="0" rtlCol="0" anchor="ctr"/>
          <a:lstStyle/>
          <a:p>
            <a:pPr algn="l" indent="0" marL="0">
              <a:buNone/>
            </a:pPr>
            <a:r>
              <a:rPr lang="en-US" sz="930" dirty="0">
                <a:solidFill>
                  <a:srgbClr val="0F172A"/>
                </a:solidFill>
                <a:latin typeface="Arial" pitchFamily="34" charset="0"/>
                <a:ea typeface="Arial" pitchFamily="34" charset="-122"/>
                <a:cs typeface="Arial" pitchFamily="34" charset="-120"/>
              </a:rPr>
              <a:t>A Effect · B Event handler · C Rendering</a:t>
            </a:r>
            <a:endParaRPr lang="en-US" sz="930" dirty="0"/>
          </a:p>
        </p:txBody>
      </p:sp>
      <p:sp>
        <p:nvSpPr>
          <p:cNvPr id="23" name="option-D"/>
          <p:cNvSpPr/>
          <p:nvPr/>
        </p:nvSpPr>
        <p:spPr>
          <a:xfrm>
            <a:off x="4736592" y="3163824"/>
            <a:ext cx="3200400" cy="438912"/>
          </a:xfrm>
          <a:prstGeom prst="roundRect">
            <a:avLst/>
          </a:prstGeom>
          <a:solidFill>
            <a:srgbClr val="DCFCE7"/>
          </a:solidFill>
          <a:ln w="12700">
            <a:solidFill>
              <a:srgbClr val="86EFAC"/>
            </a:solidFill>
            <a:prstDash val="solid"/>
          </a:ln>
        </p:spPr>
      </p:sp>
      <p:sp>
        <p:nvSpPr>
          <p:cNvPr id="24" name="option-D-badge"/>
          <p:cNvSpPr/>
          <p:nvPr/>
        </p:nvSpPr>
        <p:spPr>
          <a:xfrm>
            <a:off x="4846320" y="3273552"/>
            <a:ext cx="310896" cy="310896"/>
          </a:xfrm>
          <a:prstGeom prst="rect">
            <a:avLst/>
          </a:prstGeom>
          <a:solidFill>
            <a:srgbClr val="DCFCE7"/>
          </a:solidFill>
          <a:ln>
            <a:solidFill>
              <a:srgbClr val="DCFCE7"/>
            </a:solidFill>
          </a:ln>
        </p:spPr>
        <p:txBody>
          <a:bodyPr wrap="square" lIns="0" tIns="0" rIns="0" bIns="0" rtlCol="0" anchor="ctr"/>
          <a:lstStyle/>
          <a:p>
            <a:pPr algn="ctr" indent="0" marL="0">
              <a:buNone/>
            </a:pPr>
            <a:r>
              <a:rPr lang="en-US" sz="1080" b="1" dirty="0">
                <a:solidFill>
                  <a:srgbClr val="166534"/>
                </a:solidFill>
                <a:latin typeface="Arial" pitchFamily="34" charset="0"/>
                <a:ea typeface="Arial" pitchFamily="34" charset="-122"/>
                <a:cs typeface="Arial" pitchFamily="34" charset="-120"/>
              </a:rPr>
              <a:t>D</a:t>
            </a:r>
            <a:endParaRPr lang="en-US" sz="1080" dirty="0"/>
          </a:p>
        </p:txBody>
      </p:sp>
      <p:sp>
        <p:nvSpPr>
          <p:cNvPr id="25" name="option-D-text"/>
          <p:cNvSpPr/>
          <p:nvPr/>
        </p:nvSpPr>
        <p:spPr>
          <a:xfrm>
            <a:off x="5266944" y="3255264"/>
            <a:ext cx="2560320" cy="256032"/>
          </a:xfrm>
          <a:prstGeom prst="rect">
            <a:avLst/>
          </a:prstGeom>
          <a:noFill/>
          <a:ln/>
        </p:spPr>
        <p:txBody>
          <a:bodyPr wrap="square" lIns="0" tIns="0" rIns="0" bIns="0" rtlCol="0" anchor="ctr"/>
          <a:lstStyle/>
          <a:p>
            <a:pPr algn="l" indent="0" marL="0">
              <a:buNone/>
            </a:pPr>
            <a:r>
              <a:rPr lang="en-US" sz="930" dirty="0">
                <a:solidFill>
                  <a:srgbClr val="0F172A"/>
                </a:solidFill>
                <a:latin typeface="Arial" pitchFamily="34" charset="0"/>
                <a:ea typeface="Arial" pitchFamily="34" charset="-122"/>
                <a:cs typeface="Arial" pitchFamily="34" charset="-120"/>
              </a:rPr>
              <a:t>A Effect · B Rendering · C Event handler</a:t>
            </a:r>
            <a:endParaRPr lang="en-US" sz="930" dirty="0"/>
          </a:p>
        </p:txBody>
      </p:sp>
      <p:sp>
        <p:nvSpPr>
          <p:cNvPr id="26" name="answer-box"/>
          <p:cNvSpPr/>
          <p:nvPr/>
        </p:nvSpPr>
        <p:spPr>
          <a:xfrm>
            <a:off x="658368" y="3931920"/>
            <a:ext cx="7278624" cy="585216"/>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1000" b="1" dirty="0">
                <a:solidFill>
                  <a:srgbClr val="166534"/>
                </a:solidFill>
                <a:latin typeface="Arial" pitchFamily="34" charset="0"/>
                <a:ea typeface="Arial" pitchFamily="34" charset="-122"/>
                <a:cs typeface="Arial" pitchFamily="34" charset="-120"/>
              </a:rPr>
              <a:t>Answer: </a:t>
            </a:r>
            <a:pPr indent="0" marL="0">
              <a:buNone/>
            </a:pPr>
            <a:r>
              <a:rPr lang="en-US" sz="1000" b="1" dirty="0">
                <a:solidFill>
                  <a:srgbClr val="0F172A"/>
                </a:solidFill>
                <a:latin typeface="Arial" pitchFamily="34" charset="0"/>
                <a:ea typeface="Arial" pitchFamily="34" charset="-122"/>
                <a:cs typeface="Arial" pitchFamily="34" charset="-120"/>
              </a:rPr>
              <a:t>D</a:t>
            </a:r>
            <a:pPr indent="0" marL="0">
              <a:buNone/>
            </a:pPr>
            <a:endParaRPr lang="en-US" sz="1000" dirty="0"/>
          </a:p>
          <a:p>
            <a:pPr indent="0" marL="0">
              <a:buNone/>
            </a:pPr>
            <a:r>
              <a:rPr lang="en-US" sz="1000" b="1" dirty="0">
                <a:solidFill>
                  <a:srgbClr val="166534"/>
                </a:solidFill>
                <a:latin typeface="Arial" pitchFamily="34" charset="0"/>
                <a:ea typeface="Arial" pitchFamily="34" charset="-122"/>
                <a:cs typeface="Arial" pitchFamily="34" charset="-120"/>
              </a:rPr>
              <a:t>Why: </a:t>
            </a:r>
            <a:endParaRPr lang="en-US" sz="1000" dirty="0"/>
          </a:p>
          <a:p>
            <a:pPr indent="0" marL="0">
              <a:buNone/>
            </a:pPr>
            <a:r>
              <a:rPr lang="en-US" sz="1000" dirty="0">
                <a:solidFill>
                  <a:srgbClr val="0F172A"/>
                </a:solidFill>
                <a:latin typeface="Arial" pitchFamily="34" charset="0"/>
                <a:ea typeface="Arial" pitchFamily="34" charset="-122"/>
                <a:cs typeface="Arial" pitchFamily="34" charset="-120"/>
              </a:rPr>
              <a:t>A is ongoing external synchronization, B is derived during rendering, and C is caused by a specific user action.</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Which dependency belongs here?</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COOL-DOWN</a:t>
            </a:r>
            <a:endParaRPr lang="en-US" sz="940" dirty="0"/>
          </a:p>
        </p:txBody>
      </p:sp>
      <p:sp>
        <p:nvSpPr>
          <p:cNvPr id="4" name="cool-dependency-code"/>
          <p:cNvSpPr/>
          <p:nvPr/>
        </p:nvSpPr>
        <p:spPr>
          <a:xfrm>
            <a:off x="658368" y="1024128"/>
            <a:ext cx="4315968" cy="294436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80" dirty="0">
                <a:solidFill>
                  <a:srgbClr val="FFFFFF"/>
                </a:solidFill>
                <a:latin typeface="Courier New" pitchFamily="34" charset="0"/>
                <a:ea typeface="Courier New" pitchFamily="34" charset="-122"/>
                <a:cs typeface="Courier New" pitchFamily="34" charset="-120"/>
              </a:rPr>
              <a:t>useEffect(() =&gt; {</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async function loadTasks() {</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const response =</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await axios.get&lt;Task[]&gt;(</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`${tasksUrl}?userId=${selectedUserId}`</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a:t>
            </a:r>
            <a:endParaRPr lang="en-US" sz="980" dirty="0"/>
          </a:p>
          <a:p>
            <a:pPr indent="0" marL="0">
              <a:buNone/>
            </a:pP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setTasks(response.data);</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a:t>
            </a:r>
            <a:endParaRPr lang="en-US" sz="980" dirty="0"/>
          </a:p>
          <a:p>
            <a:pPr indent="0" marL="0">
              <a:buNone/>
            </a:pP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loadTasks();</a:t>
            </a:r>
            <a:endParaRPr lang="en-US" sz="980" dirty="0"/>
          </a:p>
          <a:p>
            <a:pPr indent="0" marL="0">
              <a:buNone/>
            </a:pPr>
            <a:r>
              <a:rPr lang="en-US" sz="980" dirty="0">
                <a:solidFill>
                  <a:srgbClr val="FFFFFF"/>
                </a:solidFill>
                <a:latin typeface="Courier New" pitchFamily="34" charset="0"/>
                <a:ea typeface="Courier New" pitchFamily="34" charset="-122"/>
                <a:cs typeface="Courier New" pitchFamily="34" charset="-120"/>
              </a:rPr>
              <a:t>}, /* ? */);</a:t>
            </a:r>
            <a:endParaRPr lang="en-US" sz="980" dirty="0"/>
          </a:p>
        </p:txBody>
      </p:sp>
      <p:sp>
        <p:nvSpPr>
          <p:cNvPr id="5" name="body-text"/>
          <p:cNvSpPr/>
          <p:nvPr/>
        </p:nvSpPr>
        <p:spPr>
          <a:xfrm>
            <a:off x="5230368" y="1060704"/>
            <a:ext cx="2743200" cy="292608"/>
          </a:xfrm>
          <a:prstGeom prst="rect">
            <a:avLst/>
          </a:prstGeom>
          <a:noFill/>
          <a:ln/>
        </p:spPr>
        <p:txBody>
          <a:bodyPr wrap="square" lIns="0" tIns="0" rIns="0" bIns="0" rtlCol="0" anchor="t"/>
          <a:lstStyle/>
          <a:p>
            <a:pPr algn="l" indent="0" marL="0">
              <a:buNone/>
            </a:pPr>
            <a:r>
              <a:rPr lang="en-US" sz="1180" b="1" dirty="0">
                <a:solidFill>
                  <a:srgbClr val="0F172A"/>
                </a:solidFill>
                <a:latin typeface="Arial" pitchFamily="34" charset="0"/>
                <a:ea typeface="Arial" pitchFamily="34" charset="-122"/>
                <a:cs typeface="Arial" pitchFamily="34" charset="-120"/>
              </a:rPr>
              <a:t>Which dependency list belongs here?</a:t>
            </a:r>
            <a:endParaRPr lang="en-US" sz="1180" dirty="0"/>
          </a:p>
        </p:txBody>
      </p:sp>
      <p:sp>
        <p:nvSpPr>
          <p:cNvPr id="6" name="option-A"/>
          <p:cNvSpPr/>
          <p:nvPr/>
        </p:nvSpPr>
        <p:spPr>
          <a:xfrm>
            <a:off x="5230368" y="1591056"/>
            <a:ext cx="2688336" cy="457200"/>
          </a:xfrm>
          <a:prstGeom prst="roundRect">
            <a:avLst/>
          </a:prstGeom>
          <a:solidFill>
            <a:srgbClr val="FFFFFF"/>
          </a:solidFill>
          <a:ln w="12700">
            <a:solidFill>
              <a:srgbClr val="CBD5E1"/>
            </a:solidFill>
            <a:prstDash val="solid"/>
          </a:ln>
        </p:spPr>
      </p:sp>
      <p:sp>
        <p:nvSpPr>
          <p:cNvPr id="7" name="option-A-badge"/>
          <p:cNvSpPr/>
          <p:nvPr/>
        </p:nvSpPr>
        <p:spPr>
          <a:xfrm>
            <a:off x="5340096" y="170078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A</a:t>
            </a:r>
            <a:endParaRPr lang="en-US" sz="1080" dirty="0"/>
          </a:p>
        </p:txBody>
      </p:sp>
      <p:sp>
        <p:nvSpPr>
          <p:cNvPr id="8" name="option-A-code"/>
          <p:cNvSpPr/>
          <p:nvPr/>
        </p:nvSpPr>
        <p:spPr>
          <a:xfrm>
            <a:off x="5742432" y="1682496"/>
            <a:ext cx="2066544" cy="27432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20" dirty="0">
                <a:solidFill>
                  <a:srgbClr val="FFFFFF"/>
                </a:solidFill>
                <a:latin typeface="Courier New" pitchFamily="34" charset="0"/>
                <a:ea typeface="Courier New" pitchFamily="34" charset="-122"/>
                <a:cs typeface="Courier New" pitchFamily="34" charset="-120"/>
              </a:rPr>
              <a:t>[]</a:t>
            </a:r>
            <a:endParaRPr lang="en-US" sz="1020" dirty="0"/>
          </a:p>
        </p:txBody>
      </p:sp>
      <p:sp>
        <p:nvSpPr>
          <p:cNvPr id="9" name="option-B"/>
          <p:cNvSpPr/>
          <p:nvPr/>
        </p:nvSpPr>
        <p:spPr>
          <a:xfrm>
            <a:off x="5230368" y="2139696"/>
            <a:ext cx="2688336" cy="457200"/>
          </a:xfrm>
          <a:prstGeom prst="roundRect">
            <a:avLst/>
          </a:prstGeom>
          <a:solidFill>
            <a:srgbClr val="DCFCE7"/>
          </a:solidFill>
          <a:ln w="12700">
            <a:solidFill>
              <a:srgbClr val="86EFAC"/>
            </a:solidFill>
            <a:prstDash val="solid"/>
          </a:ln>
        </p:spPr>
      </p:sp>
      <p:sp>
        <p:nvSpPr>
          <p:cNvPr id="10" name="option-B-badge"/>
          <p:cNvSpPr/>
          <p:nvPr/>
        </p:nvSpPr>
        <p:spPr>
          <a:xfrm>
            <a:off x="5340096" y="2249424"/>
            <a:ext cx="310896" cy="310896"/>
          </a:xfrm>
          <a:prstGeom prst="rect">
            <a:avLst/>
          </a:prstGeom>
          <a:solidFill>
            <a:srgbClr val="DCFCE7"/>
          </a:solidFill>
          <a:ln>
            <a:solidFill>
              <a:srgbClr val="DCFCE7"/>
            </a:solidFill>
          </a:ln>
        </p:spPr>
        <p:txBody>
          <a:bodyPr wrap="square" lIns="0" tIns="0" rIns="0" bIns="0" rtlCol="0" anchor="ctr"/>
          <a:lstStyle/>
          <a:p>
            <a:pPr algn="ctr" indent="0" marL="0">
              <a:buNone/>
            </a:pPr>
            <a:r>
              <a:rPr lang="en-US" sz="1080" b="1" dirty="0">
                <a:solidFill>
                  <a:srgbClr val="166534"/>
                </a:solidFill>
                <a:latin typeface="Arial" pitchFamily="34" charset="0"/>
                <a:ea typeface="Arial" pitchFamily="34" charset="-122"/>
                <a:cs typeface="Arial" pitchFamily="34" charset="-120"/>
              </a:rPr>
              <a:t>B</a:t>
            </a:r>
            <a:endParaRPr lang="en-US" sz="1080" dirty="0"/>
          </a:p>
        </p:txBody>
      </p:sp>
      <p:sp>
        <p:nvSpPr>
          <p:cNvPr id="11" name="option-B-code"/>
          <p:cNvSpPr/>
          <p:nvPr/>
        </p:nvSpPr>
        <p:spPr>
          <a:xfrm>
            <a:off x="5742432" y="2231136"/>
            <a:ext cx="2066544" cy="27432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80" dirty="0">
                <a:solidFill>
                  <a:srgbClr val="FFFFFF"/>
                </a:solidFill>
                <a:latin typeface="Courier New" pitchFamily="34" charset="0"/>
                <a:ea typeface="Courier New" pitchFamily="34" charset="-122"/>
                <a:cs typeface="Courier New" pitchFamily="34" charset="-120"/>
              </a:rPr>
              <a:t>[selectedUserId]</a:t>
            </a:r>
            <a:endParaRPr lang="en-US" sz="980" dirty="0"/>
          </a:p>
        </p:txBody>
      </p:sp>
      <p:sp>
        <p:nvSpPr>
          <p:cNvPr id="12" name="option-C"/>
          <p:cNvSpPr/>
          <p:nvPr/>
        </p:nvSpPr>
        <p:spPr>
          <a:xfrm>
            <a:off x="5230368" y="2688336"/>
            <a:ext cx="2688336" cy="457200"/>
          </a:xfrm>
          <a:prstGeom prst="roundRect">
            <a:avLst/>
          </a:prstGeom>
          <a:solidFill>
            <a:srgbClr val="FFFFFF"/>
          </a:solidFill>
          <a:ln w="12700">
            <a:solidFill>
              <a:srgbClr val="CBD5E1"/>
            </a:solidFill>
            <a:prstDash val="solid"/>
          </a:ln>
        </p:spPr>
      </p:sp>
      <p:sp>
        <p:nvSpPr>
          <p:cNvPr id="13" name="option-C-badge"/>
          <p:cNvSpPr/>
          <p:nvPr/>
        </p:nvSpPr>
        <p:spPr>
          <a:xfrm>
            <a:off x="5340096" y="279806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C</a:t>
            </a:r>
            <a:endParaRPr lang="en-US" sz="1080" dirty="0"/>
          </a:p>
        </p:txBody>
      </p:sp>
      <p:sp>
        <p:nvSpPr>
          <p:cNvPr id="14" name="option-C-code"/>
          <p:cNvSpPr/>
          <p:nvPr/>
        </p:nvSpPr>
        <p:spPr>
          <a:xfrm>
            <a:off x="5742432" y="2779776"/>
            <a:ext cx="2066544" cy="27432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[setTasks]</a:t>
            </a:r>
            <a:endParaRPr lang="en-US" sz="1000" dirty="0"/>
          </a:p>
        </p:txBody>
      </p:sp>
      <p:sp>
        <p:nvSpPr>
          <p:cNvPr id="15" name="option-D"/>
          <p:cNvSpPr/>
          <p:nvPr/>
        </p:nvSpPr>
        <p:spPr>
          <a:xfrm>
            <a:off x="5230368" y="3236976"/>
            <a:ext cx="2688336" cy="457200"/>
          </a:xfrm>
          <a:prstGeom prst="roundRect">
            <a:avLst/>
          </a:prstGeom>
          <a:solidFill>
            <a:srgbClr val="FFFFFF"/>
          </a:solidFill>
          <a:ln w="12700">
            <a:solidFill>
              <a:srgbClr val="CBD5E1"/>
            </a:solidFill>
            <a:prstDash val="solid"/>
          </a:ln>
        </p:spPr>
      </p:sp>
      <p:sp>
        <p:nvSpPr>
          <p:cNvPr id="16" name="option-D-badge"/>
          <p:cNvSpPr/>
          <p:nvPr/>
        </p:nvSpPr>
        <p:spPr>
          <a:xfrm>
            <a:off x="5340096" y="334670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D</a:t>
            </a:r>
            <a:endParaRPr lang="en-US" sz="1080" dirty="0"/>
          </a:p>
        </p:txBody>
      </p:sp>
      <p:sp>
        <p:nvSpPr>
          <p:cNvPr id="17" name="option-D-code"/>
          <p:cNvSpPr/>
          <p:nvPr/>
        </p:nvSpPr>
        <p:spPr>
          <a:xfrm>
            <a:off x="5742432" y="3328416"/>
            <a:ext cx="2066544" cy="274320"/>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[tasks]</a:t>
            </a:r>
            <a:endParaRPr lang="en-US" sz="1000" dirty="0"/>
          </a:p>
        </p:txBody>
      </p:sp>
      <p:sp>
        <p:nvSpPr>
          <p:cNvPr id="18" name="answer-box"/>
          <p:cNvSpPr/>
          <p:nvPr/>
        </p:nvSpPr>
        <p:spPr>
          <a:xfrm>
            <a:off x="658368" y="4096512"/>
            <a:ext cx="7260336" cy="512064"/>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1000" b="1" dirty="0">
                <a:solidFill>
                  <a:srgbClr val="166534"/>
                </a:solidFill>
                <a:latin typeface="Arial" pitchFamily="34" charset="0"/>
                <a:ea typeface="Arial" pitchFamily="34" charset="-122"/>
                <a:cs typeface="Arial" pitchFamily="34" charset="-120"/>
              </a:rPr>
              <a:t>Answer: </a:t>
            </a:r>
            <a:pPr indent="0" marL="0">
              <a:buNone/>
            </a:pPr>
            <a:r>
              <a:rPr lang="en-US" sz="1000" b="1" dirty="0">
                <a:solidFill>
                  <a:srgbClr val="0F172A"/>
                </a:solidFill>
                <a:latin typeface="Arial" pitchFamily="34" charset="0"/>
                <a:ea typeface="Arial" pitchFamily="34" charset="-122"/>
                <a:cs typeface="Arial" pitchFamily="34" charset="-120"/>
              </a:rPr>
              <a:t>B. [selectedUserId]</a:t>
            </a:r>
            <a:pPr indent="0" marL="0">
              <a:buNone/>
            </a:pPr>
            <a:endParaRPr lang="en-US" sz="1000" dirty="0"/>
          </a:p>
          <a:p>
            <a:pPr indent="0" marL="0">
              <a:buNone/>
            </a:pPr>
            <a:r>
              <a:rPr lang="en-US" sz="1000" b="1" dirty="0">
                <a:solidFill>
                  <a:srgbClr val="166534"/>
                </a:solidFill>
                <a:latin typeface="Arial" pitchFamily="34" charset="0"/>
                <a:ea typeface="Arial" pitchFamily="34" charset="-122"/>
                <a:cs typeface="Arial" pitchFamily="34" charset="-120"/>
              </a:rPr>
              <a:t>Why: </a:t>
            </a:r>
            <a:endParaRPr lang="en-US" sz="1000" dirty="0"/>
          </a:p>
          <a:p>
            <a:pPr indent="0" marL="0">
              <a:buNone/>
            </a:pPr>
            <a:r>
              <a:rPr lang="en-US" sz="1000" dirty="0">
                <a:solidFill>
                  <a:srgbClr val="0F172A"/>
                </a:solidFill>
                <a:latin typeface="Arial" pitchFamily="34" charset="0"/>
                <a:ea typeface="Arial" pitchFamily="34" charset="-122"/>
                <a:cs typeface="Arial" pitchFamily="34" charset="-120"/>
              </a:rPr>
              <a:t>The Effect reads selectedUserId, and its current value changes which external data the Effect requests.</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Which cleanup is correct?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COOL-DOWN</a:t>
            </a:r>
            <a:endParaRPr lang="en-US" sz="940" dirty="0"/>
          </a:p>
        </p:txBody>
      </p:sp>
      <p:sp>
        <p:nvSpPr>
          <p:cNvPr id="4" name="cool-cleanup-code"/>
          <p:cNvSpPr/>
          <p:nvPr/>
        </p:nvSpPr>
        <p:spPr>
          <a:xfrm>
            <a:off x="658368" y="969264"/>
            <a:ext cx="4133088" cy="323697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60" dirty="0">
                <a:solidFill>
                  <a:srgbClr val="FFFFFF"/>
                </a:solidFill>
                <a:latin typeface="Courier New" pitchFamily="34" charset="0"/>
                <a:ea typeface="Courier New" pitchFamily="34" charset="-122"/>
                <a:cs typeface="Courier New" pitchFamily="34" charset="-120"/>
              </a:rPr>
              <a:t>useEffect(() =&gt; {</a:t>
            </a: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function handleKeyDown(event: KeyboardEvent) {</a:t>
            </a: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if (event.key === "Escape") {</a:t>
            </a: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setIsHelpOpen(false);</a:t>
            </a: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a:t>
            </a: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a:t>
            </a:r>
            <a:endParaRPr lang="en-US" sz="960" dirty="0"/>
          </a:p>
          <a:p>
            <a:pPr indent="0" marL="0">
              <a:buNone/>
            </a:pP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document.addEventListener(</a:t>
            </a: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"keydown", handleKeyDown</a:t>
            </a: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a:t>
            </a:r>
            <a:endParaRPr lang="en-US" sz="960" dirty="0"/>
          </a:p>
          <a:p>
            <a:pPr indent="0" marL="0">
              <a:buNone/>
            </a:pP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return () =&gt; {</a:t>
            </a: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 cleanup</a:t>
            </a: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a:t>
            </a:r>
            <a:endParaRPr lang="en-US" sz="960" dirty="0"/>
          </a:p>
          <a:p>
            <a:pPr indent="0" marL="0">
              <a:buNone/>
            </a:pPr>
            <a:r>
              <a:rPr lang="en-US" sz="960" dirty="0">
                <a:solidFill>
                  <a:srgbClr val="FFFFFF"/>
                </a:solidFill>
                <a:latin typeface="Courier New" pitchFamily="34" charset="0"/>
                <a:ea typeface="Courier New" pitchFamily="34" charset="-122"/>
                <a:cs typeface="Courier New" pitchFamily="34" charset="-120"/>
              </a:rPr>
              <a:t>}, []);</a:t>
            </a:r>
            <a:endParaRPr lang="en-US" sz="960" dirty="0"/>
          </a:p>
        </p:txBody>
      </p:sp>
      <p:sp>
        <p:nvSpPr>
          <p:cNvPr id="5" name="body-text"/>
          <p:cNvSpPr/>
          <p:nvPr/>
        </p:nvSpPr>
        <p:spPr>
          <a:xfrm>
            <a:off x="5047488" y="987552"/>
            <a:ext cx="2834640" cy="310896"/>
          </a:xfrm>
          <a:prstGeom prst="rect">
            <a:avLst/>
          </a:prstGeom>
          <a:noFill/>
          <a:ln/>
        </p:spPr>
        <p:txBody>
          <a:bodyPr wrap="square" lIns="0" tIns="0" rIns="0" bIns="0" rtlCol="0" anchor="t"/>
          <a:lstStyle/>
          <a:p>
            <a:pPr algn="l" indent="0" marL="0">
              <a:buNone/>
            </a:pPr>
            <a:r>
              <a:rPr lang="en-US" sz="1160" b="1" dirty="0">
                <a:solidFill>
                  <a:srgbClr val="0F172A"/>
                </a:solidFill>
                <a:latin typeface="Arial" pitchFamily="34" charset="0"/>
                <a:ea typeface="Arial" pitchFamily="34" charset="-122"/>
                <a:cs typeface="Arial" pitchFamily="34" charset="-120"/>
              </a:rPr>
              <a:t>What should replace the cleanup comment?</a:t>
            </a:r>
            <a:endParaRPr lang="en-US" sz="1160" dirty="0"/>
          </a:p>
        </p:txBody>
      </p:sp>
      <p:sp>
        <p:nvSpPr>
          <p:cNvPr id="6" name="option-A"/>
          <p:cNvSpPr/>
          <p:nvPr/>
        </p:nvSpPr>
        <p:spPr>
          <a:xfrm>
            <a:off x="5047488" y="1499616"/>
            <a:ext cx="2834640" cy="585216"/>
          </a:xfrm>
          <a:prstGeom prst="roundRect">
            <a:avLst/>
          </a:prstGeom>
          <a:solidFill>
            <a:srgbClr val="FFFFFF"/>
          </a:solidFill>
          <a:ln w="12700">
            <a:solidFill>
              <a:srgbClr val="CBD5E1"/>
            </a:solidFill>
            <a:prstDash val="solid"/>
          </a:ln>
        </p:spPr>
      </p:sp>
      <p:sp>
        <p:nvSpPr>
          <p:cNvPr id="7" name="option-A-badge"/>
          <p:cNvSpPr/>
          <p:nvPr/>
        </p:nvSpPr>
        <p:spPr>
          <a:xfrm>
            <a:off x="5157216" y="160934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A</a:t>
            </a:r>
            <a:endParaRPr lang="en-US" sz="1080" dirty="0"/>
          </a:p>
        </p:txBody>
      </p:sp>
      <p:sp>
        <p:nvSpPr>
          <p:cNvPr id="8" name="option-A-code"/>
          <p:cNvSpPr/>
          <p:nvPr/>
        </p:nvSpPr>
        <p:spPr>
          <a:xfrm>
            <a:off x="5559552" y="1591056"/>
            <a:ext cx="2212848" cy="40233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document.removeEventListener(</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"click", handleKeyDown</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p:txBody>
      </p:sp>
      <p:sp>
        <p:nvSpPr>
          <p:cNvPr id="9" name="option-B"/>
          <p:cNvSpPr/>
          <p:nvPr/>
        </p:nvSpPr>
        <p:spPr>
          <a:xfrm>
            <a:off x="5047488" y="2157984"/>
            <a:ext cx="2834640" cy="530352"/>
          </a:xfrm>
          <a:prstGeom prst="roundRect">
            <a:avLst/>
          </a:prstGeom>
          <a:solidFill>
            <a:srgbClr val="FFFFFF"/>
          </a:solidFill>
          <a:ln w="12700">
            <a:solidFill>
              <a:srgbClr val="CBD5E1"/>
            </a:solidFill>
            <a:prstDash val="solid"/>
          </a:ln>
        </p:spPr>
      </p:sp>
      <p:sp>
        <p:nvSpPr>
          <p:cNvPr id="10" name="option-B-badge"/>
          <p:cNvSpPr/>
          <p:nvPr/>
        </p:nvSpPr>
        <p:spPr>
          <a:xfrm>
            <a:off x="5157216" y="2267712"/>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B</a:t>
            </a:r>
            <a:endParaRPr lang="en-US" sz="1080" dirty="0"/>
          </a:p>
        </p:txBody>
      </p:sp>
      <p:sp>
        <p:nvSpPr>
          <p:cNvPr id="11" name="option-B-code"/>
          <p:cNvSpPr/>
          <p:nvPr/>
        </p:nvSpPr>
        <p:spPr>
          <a:xfrm>
            <a:off x="5559552" y="2249424"/>
            <a:ext cx="2212848" cy="347472"/>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60" dirty="0">
                <a:solidFill>
                  <a:srgbClr val="FFFFFF"/>
                </a:solidFill>
                <a:latin typeface="Courier New" pitchFamily="34" charset="0"/>
                <a:ea typeface="Courier New" pitchFamily="34" charset="-122"/>
                <a:cs typeface="Courier New" pitchFamily="34" charset="-120"/>
              </a:rPr>
              <a:t>setIsHelpOpen(false);</a:t>
            </a:r>
            <a:endParaRPr lang="en-US" sz="960" dirty="0"/>
          </a:p>
        </p:txBody>
      </p:sp>
      <p:sp>
        <p:nvSpPr>
          <p:cNvPr id="12" name="option-C"/>
          <p:cNvSpPr/>
          <p:nvPr/>
        </p:nvSpPr>
        <p:spPr>
          <a:xfrm>
            <a:off x="5047488" y="2761488"/>
            <a:ext cx="2834640" cy="585216"/>
          </a:xfrm>
          <a:prstGeom prst="roundRect">
            <a:avLst/>
          </a:prstGeom>
          <a:solidFill>
            <a:srgbClr val="DCFCE7"/>
          </a:solidFill>
          <a:ln w="12700">
            <a:solidFill>
              <a:srgbClr val="86EFAC"/>
            </a:solidFill>
            <a:prstDash val="solid"/>
          </a:ln>
        </p:spPr>
      </p:sp>
      <p:sp>
        <p:nvSpPr>
          <p:cNvPr id="13" name="option-C-badge"/>
          <p:cNvSpPr/>
          <p:nvPr/>
        </p:nvSpPr>
        <p:spPr>
          <a:xfrm>
            <a:off x="5157216" y="2871216"/>
            <a:ext cx="310896" cy="310896"/>
          </a:xfrm>
          <a:prstGeom prst="rect">
            <a:avLst/>
          </a:prstGeom>
          <a:solidFill>
            <a:srgbClr val="DCFCE7"/>
          </a:solidFill>
          <a:ln>
            <a:solidFill>
              <a:srgbClr val="DCFCE7"/>
            </a:solidFill>
          </a:ln>
        </p:spPr>
        <p:txBody>
          <a:bodyPr wrap="square" lIns="0" tIns="0" rIns="0" bIns="0" rtlCol="0" anchor="ctr"/>
          <a:lstStyle/>
          <a:p>
            <a:pPr algn="ctr" indent="0" marL="0">
              <a:buNone/>
            </a:pPr>
            <a:r>
              <a:rPr lang="en-US" sz="1080" b="1" dirty="0">
                <a:solidFill>
                  <a:srgbClr val="166534"/>
                </a:solidFill>
                <a:latin typeface="Arial" pitchFamily="34" charset="0"/>
                <a:ea typeface="Arial" pitchFamily="34" charset="-122"/>
                <a:cs typeface="Arial" pitchFamily="34" charset="-120"/>
              </a:rPr>
              <a:t>C</a:t>
            </a:r>
            <a:endParaRPr lang="en-US" sz="1080" dirty="0"/>
          </a:p>
        </p:txBody>
      </p:sp>
      <p:sp>
        <p:nvSpPr>
          <p:cNvPr id="14" name="option-C-code"/>
          <p:cNvSpPr/>
          <p:nvPr/>
        </p:nvSpPr>
        <p:spPr>
          <a:xfrm>
            <a:off x="5559552" y="2852928"/>
            <a:ext cx="2212848" cy="40233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document.removeEventListener(</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"keydown", handleKeyDown</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p:txBody>
      </p:sp>
      <p:sp>
        <p:nvSpPr>
          <p:cNvPr id="15" name="option-D"/>
          <p:cNvSpPr/>
          <p:nvPr/>
        </p:nvSpPr>
        <p:spPr>
          <a:xfrm>
            <a:off x="5047488" y="3419856"/>
            <a:ext cx="2834640" cy="585216"/>
          </a:xfrm>
          <a:prstGeom prst="roundRect">
            <a:avLst/>
          </a:prstGeom>
          <a:solidFill>
            <a:srgbClr val="FFFFFF"/>
          </a:solidFill>
          <a:ln w="12700">
            <a:solidFill>
              <a:srgbClr val="CBD5E1"/>
            </a:solidFill>
            <a:prstDash val="solid"/>
          </a:ln>
        </p:spPr>
      </p:sp>
      <p:sp>
        <p:nvSpPr>
          <p:cNvPr id="16" name="option-D-badge"/>
          <p:cNvSpPr/>
          <p:nvPr/>
        </p:nvSpPr>
        <p:spPr>
          <a:xfrm>
            <a:off x="5157216" y="352958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D</a:t>
            </a:r>
            <a:endParaRPr lang="en-US" sz="1080" dirty="0"/>
          </a:p>
        </p:txBody>
      </p:sp>
      <p:sp>
        <p:nvSpPr>
          <p:cNvPr id="17" name="option-D-code"/>
          <p:cNvSpPr/>
          <p:nvPr/>
        </p:nvSpPr>
        <p:spPr>
          <a:xfrm>
            <a:off x="5559552" y="3511296"/>
            <a:ext cx="2212848" cy="40233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document.addEventListener(</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  "keydown", handleKeyDown</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p:txBody>
      </p:sp>
      <p:sp>
        <p:nvSpPr>
          <p:cNvPr id="18" name="answer-box"/>
          <p:cNvSpPr/>
          <p:nvPr/>
        </p:nvSpPr>
        <p:spPr>
          <a:xfrm>
            <a:off x="658368" y="4151376"/>
            <a:ext cx="7223760" cy="475488"/>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990" b="1" dirty="0">
                <a:solidFill>
                  <a:srgbClr val="166534"/>
                </a:solidFill>
                <a:latin typeface="Arial" pitchFamily="34" charset="0"/>
                <a:ea typeface="Arial" pitchFamily="34" charset="-122"/>
                <a:cs typeface="Arial" pitchFamily="34" charset="-120"/>
              </a:rPr>
              <a:t>Answer: </a:t>
            </a:r>
            <a:pPr indent="0" marL="0">
              <a:buNone/>
            </a:pPr>
            <a:r>
              <a:rPr lang="en-US" sz="990" b="1" dirty="0">
                <a:solidFill>
                  <a:srgbClr val="0F172A"/>
                </a:solidFill>
                <a:latin typeface="Arial" pitchFamily="34" charset="0"/>
                <a:ea typeface="Arial" pitchFamily="34" charset="-122"/>
                <a:cs typeface="Arial" pitchFamily="34" charset="-120"/>
              </a:rPr>
              <a:t>C</a:t>
            </a:r>
            <a:pPr indent="0" marL="0">
              <a:buNone/>
            </a:pPr>
            <a:endParaRPr lang="en-US" sz="990" dirty="0"/>
          </a:p>
          <a:p>
            <a:pPr indent="0" marL="0">
              <a:buNone/>
            </a:pPr>
            <a:r>
              <a:rPr lang="en-US" sz="990" b="1" dirty="0">
                <a:solidFill>
                  <a:srgbClr val="166534"/>
                </a:solidFill>
                <a:latin typeface="Arial" pitchFamily="34" charset="0"/>
                <a:ea typeface="Arial" pitchFamily="34" charset="-122"/>
                <a:cs typeface="Arial" pitchFamily="34" charset="-120"/>
              </a:rPr>
              <a:t>Why: </a:t>
            </a:r>
            <a:endParaRPr lang="en-US" sz="990" dirty="0"/>
          </a:p>
          <a:p>
            <a:pPr indent="0" marL="0">
              <a:buNone/>
            </a:pPr>
            <a:r>
              <a:rPr lang="en-US" sz="990" dirty="0">
                <a:solidFill>
                  <a:srgbClr val="0F172A"/>
                </a:solidFill>
                <a:latin typeface="Arial" pitchFamily="34" charset="0"/>
                <a:ea typeface="Arial" pitchFamily="34" charset="-122"/>
                <a:cs typeface="Arial" pitchFamily="34" charset="-120"/>
              </a:rPr>
              <a:t>Cleanup should reverse the setup by removing the same keydown listener with the same handler.</a:t>
            </a:r>
            <a:endParaRPr lang="en-US" sz="99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Fill in the request</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COOL-DOWN</a:t>
            </a:r>
            <a:endParaRPr lang="en-US" sz="940" dirty="0"/>
          </a:p>
        </p:txBody>
      </p:sp>
      <p:sp>
        <p:nvSpPr>
          <p:cNvPr id="4" name="cool-response-code"/>
          <p:cNvSpPr/>
          <p:nvPr/>
        </p:nvSpPr>
        <p:spPr>
          <a:xfrm>
            <a:off x="731520" y="1152144"/>
            <a:ext cx="3749040" cy="1755648"/>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const response =</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await axios.get&lt;Task[]&gt;(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tasksUrl</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setTasks( ______ );</a:t>
            </a:r>
            <a:endParaRPr lang="en-US" sz="1100" dirty="0"/>
          </a:p>
        </p:txBody>
      </p:sp>
      <p:sp>
        <p:nvSpPr>
          <p:cNvPr id="5" name="body-text"/>
          <p:cNvSpPr/>
          <p:nvPr/>
        </p:nvSpPr>
        <p:spPr>
          <a:xfrm>
            <a:off x="4736592" y="1170432"/>
            <a:ext cx="3035808" cy="292608"/>
          </a:xfrm>
          <a:prstGeom prst="rect">
            <a:avLst/>
          </a:prstGeom>
          <a:noFill/>
          <a:ln/>
        </p:spPr>
        <p:txBody>
          <a:bodyPr wrap="square" lIns="0" tIns="0" rIns="0" bIns="0" rtlCol="0" anchor="t"/>
          <a:lstStyle/>
          <a:p>
            <a:pPr algn="l" indent="0" marL="0">
              <a:buNone/>
            </a:pPr>
            <a:r>
              <a:rPr lang="en-US" sz="1180" b="1" dirty="0">
                <a:solidFill>
                  <a:srgbClr val="0F172A"/>
                </a:solidFill>
                <a:latin typeface="Arial" pitchFamily="34" charset="0"/>
                <a:ea typeface="Arial" pitchFamily="34" charset="-122"/>
                <a:cs typeface="Arial" pitchFamily="34" charset="-120"/>
              </a:rPr>
              <a:t>What should fill the blank?</a:t>
            </a:r>
            <a:endParaRPr lang="en-US" sz="1180" dirty="0"/>
          </a:p>
        </p:txBody>
      </p:sp>
      <p:sp>
        <p:nvSpPr>
          <p:cNvPr id="6" name="option-A"/>
          <p:cNvSpPr/>
          <p:nvPr/>
        </p:nvSpPr>
        <p:spPr>
          <a:xfrm>
            <a:off x="4736592" y="1700784"/>
            <a:ext cx="2962656" cy="493776"/>
          </a:xfrm>
          <a:prstGeom prst="roundRect">
            <a:avLst/>
          </a:prstGeom>
          <a:solidFill>
            <a:srgbClr val="DCFCE7"/>
          </a:solidFill>
          <a:ln w="12700">
            <a:solidFill>
              <a:srgbClr val="86EFAC"/>
            </a:solidFill>
            <a:prstDash val="solid"/>
          </a:ln>
        </p:spPr>
      </p:sp>
      <p:sp>
        <p:nvSpPr>
          <p:cNvPr id="7" name="option-A-badge"/>
          <p:cNvSpPr/>
          <p:nvPr/>
        </p:nvSpPr>
        <p:spPr>
          <a:xfrm>
            <a:off x="4846320" y="1810512"/>
            <a:ext cx="310896" cy="310896"/>
          </a:xfrm>
          <a:prstGeom prst="rect">
            <a:avLst/>
          </a:prstGeom>
          <a:solidFill>
            <a:srgbClr val="DCFCE7"/>
          </a:solidFill>
          <a:ln>
            <a:solidFill>
              <a:srgbClr val="DCFCE7"/>
            </a:solidFill>
          </a:ln>
        </p:spPr>
        <p:txBody>
          <a:bodyPr wrap="square" lIns="0" tIns="0" rIns="0" bIns="0" rtlCol="0" anchor="ctr"/>
          <a:lstStyle/>
          <a:p>
            <a:pPr algn="ctr" indent="0" marL="0">
              <a:buNone/>
            </a:pPr>
            <a:r>
              <a:rPr lang="en-US" sz="1080" b="1" dirty="0">
                <a:solidFill>
                  <a:srgbClr val="166534"/>
                </a:solidFill>
                <a:latin typeface="Arial" pitchFamily="34" charset="0"/>
                <a:ea typeface="Arial" pitchFamily="34" charset="-122"/>
                <a:cs typeface="Arial" pitchFamily="34" charset="-120"/>
              </a:rPr>
              <a:t>A</a:t>
            </a:r>
            <a:endParaRPr lang="en-US" sz="1080" dirty="0"/>
          </a:p>
        </p:txBody>
      </p:sp>
      <p:sp>
        <p:nvSpPr>
          <p:cNvPr id="8" name="option-A-code"/>
          <p:cNvSpPr/>
          <p:nvPr/>
        </p:nvSpPr>
        <p:spPr>
          <a:xfrm>
            <a:off x="5248656" y="1792224"/>
            <a:ext cx="2340864" cy="31089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20" dirty="0">
                <a:solidFill>
                  <a:srgbClr val="FFFFFF"/>
                </a:solidFill>
                <a:latin typeface="Courier New" pitchFamily="34" charset="0"/>
                <a:ea typeface="Courier New" pitchFamily="34" charset="-122"/>
                <a:cs typeface="Courier New" pitchFamily="34" charset="-120"/>
              </a:rPr>
              <a:t>response.data</a:t>
            </a:r>
            <a:endParaRPr lang="en-US" sz="1020" dirty="0"/>
          </a:p>
        </p:txBody>
      </p:sp>
      <p:sp>
        <p:nvSpPr>
          <p:cNvPr id="9" name="option-B"/>
          <p:cNvSpPr/>
          <p:nvPr/>
        </p:nvSpPr>
        <p:spPr>
          <a:xfrm>
            <a:off x="4736592" y="2286000"/>
            <a:ext cx="2962656" cy="493776"/>
          </a:xfrm>
          <a:prstGeom prst="roundRect">
            <a:avLst/>
          </a:prstGeom>
          <a:solidFill>
            <a:srgbClr val="FFFFFF"/>
          </a:solidFill>
          <a:ln w="12700">
            <a:solidFill>
              <a:srgbClr val="CBD5E1"/>
            </a:solidFill>
            <a:prstDash val="solid"/>
          </a:ln>
        </p:spPr>
      </p:sp>
      <p:sp>
        <p:nvSpPr>
          <p:cNvPr id="10" name="option-B-badge"/>
          <p:cNvSpPr/>
          <p:nvPr/>
        </p:nvSpPr>
        <p:spPr>
          <a:xfrm>
            <a:off x="4846320" y="2395728"/>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B</a:t>
            </a:r>
            <a:endParaRPr lang="en-US" sz="1080" dirty="0"/>
          </a:p>
        </p:txBody>
      </p:sp>
      <p:sp>
        <p:nvSpPr>
          <p:cNvPr id="11" name="option-B-code"/>
          <p:cNvSpPr/>
          <p:nvPr/>
        </p:nvSpPr>
        <p:spPr>
          <a:xfrm>
            <a:off x="5248656" y="2377440"/>
            <a:ext cx="2340864" cy="31089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20" dirty="0">
                <a:solidFill>
                  <a:srgbClr val="FFFFFF"/>
                </a:solidFill>
                <a:latin typeface="Courier New" pitchFamily="34" charset="0"/>
                <a:ea typeface="Courier New" pitchFamily="34" charset="-122"/>
                <a:cs typeface="Courier New" pitchFamily="34" charset="-120"/>
              </a:rPr>
              <a:t>response</a:t>
            </a:r>
            <a:endParaRPr lang="en-US" sz="1020" dirty="0"/>
          </a:p>
        </p:txBody>
      </p:sp>
      <p:sp>
        <p:nvSpPr>
          <p:cNvPr id="12" name="option-C"/>
          <p:cNvSpPr/>
          <p:nvPr/>
        </p:nvSpPr>
        <p:spPr>
          <a:xfrm>
            <a:off x="4736592" y="2871216"/>
            <a:ext cx="2962656" cy="493776"/>
          </a:xfrm>
          <a:prstGeom prst="roundRect">
            <a:avLst/>
          </a:prstGeom>
          <a:solidFill>
            <a:srgbClr val="FFFFFF"/>
          </a:solidFill>
          <a:ln w="12700">
            <a:solidFill>
              <a:srgbClr val="CBD5E1"/>
            </a:solidFill>
            <a:prstDash val="solid"/>
          </a:ln>
        </p:spPr>
      </p:sp>
      <p:sp>
        <p:nvSpPr>
          <p:cNvPr id="13" name="option-C-badge"/>
          <p:cNvSpPr/>
          <p:nvPr/>
        </p:nvSpPr>
        <p:spPr>
          <a:xfrm>
            <a:off x="4846320" y="298094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C</a:t>
            </a:r>
            <a:endParaRPr lang="en-US" sz="1080" dirty="0"/>
          </a:p>
        </p:txBody>
      </p:sp>
      <p:sp>
        <p:nvSpPr>
          <p:cNvPr id="14" name="option-C-code"/>
          <p:cNvSpPr/>
          <p:nvPr/>
        </p:nvSpPr>
        <p:spPr>
          <a:xfrm>
            <a:off x="5248656" y="2962656"/>
            <a:ext cx="2340864" cy="31089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20" dirty="0">
                <a:solidFill>
                  <a:srgbClr val="FFFFFF"/>
                </a:solidFill>
                <a:latin typeface="Courier New" pitchFamily="34" charset="0"/>
                <a:ea typeface="Courier New" pitchFamily="34" charset="-122"/>
                <a:cs typeface="Courier New" pitchFamily="34" charset="-120"/>
              </a:rPr>
              <a:t>response.status</a:t>
            </a:r>
            <a:endParaRPr lang="en-US" sz="1020" dirty="0"/>
          </a:p>
        </p:txBody>
      </p:sp>
      <p:sp>
        <p:nvSpPr>
          <p:cNvPr id="15" name="option-D"/>
          <p:cNvSpPr/>
          <p:nvPr/>
        </p:nvSpPr>
        <p:spPr>
          <a:xfrm>
            <a:off x="4736592" y="3456432"/>
            <a:ext cx="2962656" cy="493776"/>
          </a:xfrm>
          <a:prstGeom prst="roundRect">
            <a:avLst/>
          </a:prstGeom>
          <a:solidFill>
            <a:srgbClr val="FFFFFF"/>
          </a:solidFill>
          <a:ln w="12700">
            <a:solidFill>
              <a:srgbClr val="CBD5E1"/>
            </a:solidFill>
            <a:prstDash val="solid"/>
          </a:ln>
        </p:spPr>
      </p:sp>
      <p:sp>
        <p:nvSpPr>
          <p:cNvPr id="16" name="option-D-badge"/>
          <p:cNvSpPr/>
          <p:nvPr/>
        </p:nvSpPr>
        <p:spPr>
          <a:xfrm>
            <a:off x="4846320" y="3566160"/>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D</a:t>
            </a:r>
            <a:endParaRPr lang="en-US" sz="1080" dirty="0"/>
          </a:p>
        </p:txBody>
      </p:sp>
      <p:sp>
        <p:nvSpPr>
          <p:cNvPr id="17" name="option-D-code"/>
          <p:cNvSpPr/>
          <p:nvPr/>
        </p:nvSpPr>
        <p:spPr>
          <a:xfrm>
            <a:off x="5248656" y="3547872"/>
            <a:ext cx="2340864" cy="31089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20" dirty="0">
                <a:solidFill>
                  <a:srgbClr val="FFFFFF"/>
                </a:solidFill>
                <a:latin typeface="Courier New" pitchFamily="34" charset="0"/>
                <a:ea typeface="Courier New" pitchFamily="34" charset="-122"/>
                <a:cs typeface="Courier New" pitchFamily="34" charset="-120"/>
              </a:rPr>
              <a:t>tasksUrl</a:t>
            </a:r>
            <a:endParaRPr lang="en-US" sz="1020" dirty="0"/>
          </a:p>
        </p:txBody>
      </p:sp>
      <p:sp>
        <p:nvSpPr>
          <p:cNvPr id="18" name="answer-box"/>
          <p:cNvSpPr/>
          <p:nvPr/>
        </p:nvSpPr>
        <p:spPr>
          <a:xfrm>
            <a:off x="731520" y="4078224"/>
            <a:ext cx="6967728" cy="566928"/>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1000" b="1" dirty="0">
                <a:solidFill>
                  <a:srgbClr val="166534"/>
                </a:solidFill>
                <a:latin typeface="Arial" pitchFamily="34" charset="0"/>
                <a:ea typeface="Arial" pitchFamily="34" charset="-122"/>
                <a:cs typeface="Arial" pitchFamily="34" charset="-120"/>
              </a:rPr>
              <a:t>Answer: </a:t>
            </a:r>
            <a:pPr indent="0" marL="0">
              <a:buNone/>
            </a:pPr>
            <a:r>
              <a:rPr lang="en-US" sz="1000" b="1" dirty="0">
                <a:solidFill>
                  <a:srgbClr val="0F172A"/>
                </a:solidFill>
                <a:latin typeface="Arial" pitchFamily="34" charset="0"/>
                <a:ea typeface="Arial" pitchFamily="34" charset="-122"/>
                <a:cs typeface="Arial" pitchFamily="34" charset="-120"/>
              </a:rPr>
              <a:t>A. response.data</a:t>
            </a:r>
            <a:pPr indent="0" marL="0">
              <a:buNone/>
            </a:pPr>
            <a:endParaRPr lang="en-US" sz="1000" dirty="0"/>
          </a:p>
          <a:p>
            <a:pPr indent="0" marL="0">
              <a:buNone/>
            </a:pPr>
            <a:r>
              <a:rPr lang="en-US" sz="1000" b="1" dirty="0">
                <a:solidFill>
                  <a:srgbClr val="166534"/>
                </a:solidFill>
                <a:latin typeface="Arial" pitchFamily="34" charset="0"/>
                <a:ea typeface="Arial" pitchFamily="34" charset="-122"/>
                <a:cs typeface="Arial" pitchFamily="34" charset="-120"/>
              </a:rPr>
              <a:t>Why: </a:t>
            </a:r>
            <a:endParaRPr lang="en-US" sz="1000" dirty="0"/>
          </a:p>
          <a:p>
            <a:pPr indent="0" marL="0">
              <a:buNone/>
            </a:pPr>
            <a:r>
              <a:rPr lang="en-US" sz="1000" dirty="0">
                <a:solidFill>
                  <a:srgbClr val="0F172A"/>
                </a:solidFill>
                <a:latin typeface="Arial" pitchFamily="34" charset="0"/>
                <a:ea typeface="Arial" pitchFamily="34" charset="-122"/>
                <a:cs typeface="Arial" pitchFamily="34" charset="-120"/>
              </a:rPr>
              <a:t>response is the complete Axios response object; response.data contains the server payload, which this typed request expects to be Task[].</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Which UI should appear?</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COOL-DOWN</a:t>
            </a:r>
            <a:endParaRPr lang="en-US" sz="940" dirty="0"/>
          </a:p>
        </p:txBody>
      </p:sp>
      <p:sp>
        <p:nvSpPr>
          <p:cNvPr id="4" name="cool-ui-code"/>
          <p:cNvSpPr/>
          <p:nvPr/>
        </p:nvSpPr>
        <p:spPr>
          <a:xfrm>
            <a:off x="658368" y="969264"/>
            <a:ext cx="4041648" cy="3054096"/>
          </a:xfrm>
          <a:prstGeom prst="rect">
            <a:avLst/>
          </a:prstGeom>
          <a:solidFill>
            <a:srgbClr val="0F172A"/>
          </a:solidFill>
          <a:ln w="10160">
            <a:solidFill>
              <a:srgbClr val="0F172A"/>
            </a:solidFill>
          </a:ln>
        </p:spPr>
        <p:txBody>
          <a:bodyPr wrap="square" lIns="1778" tIns="2286" rIns="2286" bIns="1778" rtlCol="0" anchor="ctr"/>
          <a:lstStyle/>
          <a:p>
            <a:pPr indent="0" marL="0">
              <a:buNone/>
            </a:pPr>
            <a:r>
              <a:rPr lang="en-US" sz="1010" dirty="0">
                <a:solidFill>
                  <a:srgbClr val="FFFFFF"/>
                </a:solidFill>
                <a:latin typeface="Courier New" pitchFamily="34" charset="0"/>
                <a:ea typeface="Courier New" pitchFamily="34" charset="-122"/>
                <a:cs typeface="Courier New" pitchFamily="34" charset="-120"/>
              </a:rPr>
              <a:t>if (isLoading) {</a:t>
            </a:r>
            <a:endParaRPr lang="en-US" sz="1010" dirty="0"/>
          </a:p>
          <a:p>
            <a:pPr indent="0" marL="0">
              <a:buNone/>
            </a:pPr>
            <a:r>
              <a:rPr lang="en-US" sz="1010" dirty="0">
                <a:solidFill>
                  <a:srgbClr val="FFFFFF"/>
                </a:solidFill>
                <a:latin typeface="Courier New" pitchFamily="34" charset="0"/>
                <a:ea typeface="Courier New" pitchFamily="34" charset="-122"/>
                <a:cs typeface="Courier New" pitchFamily="34" charset="-120"/>
              </a:rPr>
              <a:t>  return &lt;p&gt;Loading tasks...&lt;/p&gt;;</a:t>
            </a:r>
            <a:endParaRPr lang="en-US" sz="1010" dirty="0"/>
          </a:p>
          <a:p>
            <a:pPr indent="0" marL="0">
              <a:buNone/>
            </a:pPr>
            <a:r>
              <a:rPr lang="en-US" sz="1010" dirty="0">
                <a:solidFill>
                  <a:srgbClr val="FFFFFF"/>
                </a:solidFill>
                <a:latin typeface="Courier New" pitchFamily="34" charset="0"/>
                <a:ea typeface="Courier New" pitchFamily="34" charset="-122"/>
                <a:cs typeface="Courier New" pitchFamily="34" charset="-120"/>
              </a:rPr>
              <a:t>}</a:t>
            </a:r>
            <a:endParaRPr lang="en-US" sz="1010" dirty="0"/>
          </a:p>
          <a:p>
            <a:pPr indent="0" marL="0">
              <a:buNone/>
            </a:pPr>
            <a:endParaRPr lang="en-US" sz="1010" dirty="0"/>
          </a:p>
          <a:p>
            <a:pPr indent="0" marL="0">
              <a:buNone/>
            </a:pPr>
            <a:r>
              <a:rPr lang="en-US" sz="1010" dirty="0">
                <a:solidFill>
                  <a:srgbClr val="FFFFFF"/>
                </a:solidFill>
                <a:latin typeface="Courier New" pitchFamily="34" charset="0"/>
                <a:ea typeface="Courier New" pitchFamily="34" charset="-122"/>
                <a:cs typeface="Courier New" pitchFamily="34" charset="-120"/>
              </a:rPr>
              <a:t>if (errorMessage) {</a:t>
            </a:r>
            <a:endParaRPr lang="en-US" sz="1010" dirty="0"/>
          </a:p>
          <a:p>
            <a:pPr indent="0" marL="0">
              <a:buNone/>
            </a:pPr>
            <a:r>
              <a:rPr lang="en-US" sz="1010" dirty="0">
                <a:solidFill>
                  <a:srgbClr val="FFFFFF"/>
                </a:solidFill>
                <a:latin typeface="Courier New" pitchFamily="34" charset="0"/>
                <a:ea typeface="Courier New" pitchFamily="34" charset="-122"/>
                <a:cs typeface="Courier New" pitchFamily="34" charset="-120"/>
              </a:rPr>
              <a:t>  return &lt;p&gt;{errorMessage}&lt;/p&gt;;</a:t>
            </a:r>
            <a:endParaRPr lang="en-US" sz="1010" dirty="0"/>
          </a:p>
          <a:p>
            <a:pPr indent="0" marL="0">
              <a:buNone/>
            </a:pPr>
            <a:r>
              <a:rPr lang="en-US" sz="1010" dirty="0">
                <a:solidFill>
                  <a:srgbClr val="FFFFFF"/>
                </a:solidFill>
                <a:latin typeface="Courier New" pitchFamily="34" charset="0"/>
                <a:ea typeface="Courier New" pitchFamily="34" charset="-122"/>
                <a:cs typeface="Courier New" pitchFamily="34" charset="-120"/>
              </a:rPr>
              <a:t>}</a:t>
            </a:r>
            <a:endParaRPr lang="en-US" sz="1010" dirty="0"/>
          </a:p>
          <a:p>
            <a:pPr indent="0" marL="0">
              <a:buNone/>
            </a:pPr>
            <a:endParaRPr lang="en-US" sz="1010" dirty="0"/>
          </a:p>
          <a:p>
            <a:pPr indent="0" marL="0">
              <a:buNone/>
            </a:pPr>
            <a:r>
              <a:rPr lang="en-US" sz="1010" dirty="0">
                <a:solidFill>
                  <a:srgbClr val="FFFFFF"/>
                </a:solidFill>
                <a:latin typeface="Courier New" pitchFamily="34" charset="0"/>
                <a:ea typeface="Courier New" pitchFamily="34" charset="-122"/>
                <a:cs typeface="Courier New" pitchFamily="34" charset="-120"/>
              </a:rPr>
              <a:t>if (tasks.length === 0) {</a:t>
            </a:r>
            <a:endParaRPr lang="en-US" sz="1010" dirty="0"/>
          </a:p>
          <a:p>
            <a:pPr indent="0" marL="0">
              <a:buNone/>
            </a:pPr>
            <a:r>
              <a:rPr lang="en-US" sz="1010" dirty="0">
                <a:solidFill>
                  <a:srgbClr val="FFFFFF"/>
                </a:solidFill>
                <a:latin typeface="Courier New" pitchFamily="34" charset="0"/>
                <a:ea typeface="Courier New" pitchFamily="34" charset="-122"/>
                <a:cs typeface="Courier New" pitchFamily="34" charset="-120"/>
              </a:rPr>
              <a:t>  return &lt;p&gt;No tasks yet.&lt;/p&gt;;</a:t>
            </a:r>
            <a:endParaRPr lang="en-US" sz="1010" dirty="0"/>
          </a:p>
          <a:p>
            <a:pPr indent="0" marL="0">
              <a:buNone/>
            </a:pPr>
            <a:r>
              <a:rPr lang="en-US" sz="1010" dirty="0">
                <a:solidFill>
                  <a:srgbClr val="FFFFFF"/>
                </a:solidFill>
                <a:latin typeface="Courier New" pitchFamily="34" charset="0"/>
                <a:ea typeface="Courier New" pitchFamily="34" charset="-122"/>
                <a:cs typeface="Courier New" pitchFamily="34" charset="-120"/>
              </a:rPr>
              <a:t>}</a:t>
            </a:r>
            <a:endParaRPr lang="en-US" sz="1010" dirty="0"/>
          </a:p>
          <a:p>
            <a:pPr indent="0" marL="0">
              <a:buNone/>
            </a:pPr>
            <a:endParaRPr lang="en-US" sz="1010" dirty="0"/>
          </a:p>
          <a:p>
            <a:pPr indent="0" marL="0">
              <a:buNone/>
            </a:pPr>
            <a:r>
              <a:rPr lang="en-US" sz="1010" dirty="0">
                <a:solidFill>
                  <a:srgbClr val="FFFFFF"/>
                </a:solidFill>
                <a:latin typeface="Courier New" pitchFamily="34" charset="0"/>
                <a:ea typeface="Courier New" pitchFamily="34" charset="-122"/>
                <a:cs typeface="Courier New" pitchFamily="34" charset="-120"/>
              </a:rPr>
              <a:t>return &lt;TaskList tasks={tasks} /&gt;;</a:t>
            </a:r>
            <a:endParaRPr lang="en-US" sz="1010" dirty="0"/>
          </a:p>
        </p:txBody>
      </p:sp>
      <p:sp>
        <p:nvSpPr>
          <p:cNvPr id="5" name="cool-ui-state"/>
          <p:cNvSpPr/>
          <p:nvPr/>
        </p:nvSpPr>
        <p:spPr>
          <a:xfrm>
            <a:off x="4956048" y="987552"/>
            <a:ext cx="2926080" cy="1133856"/>
          </a:xfrm>
          <a:prstGeom prst="roundRect">
            <a:avLst/>
          </a:prstGeom>
          <a:solidFill>
            <a:srgbClr val="F8FAFC"/>
          </a:solidFill>
          <a:ln w="12700">
            <a:solidFill>
              <a:srgbClr val="CBD5E1"/>
            </a:solidFill>
            <a:prstDash val="solid"/>
          </a:ln>
        </p:spPr>
      </p:sp>
      <p:sp>
        <p:nvSpPr>
          <p:cNvPr id="6" name="body-text"/>
          <p:cNvSpPr/>
          <p:nvPr/>
        </p:nvSpPr>
        <p:spPr>
          <a:xfrm>
            <a:off x="5157216" y="1115568"/>
            <a:ext cx="1097280" cy="182880"/>
          </a:xfrm>
          <a:prstGeom prst="rect">
            <a:avLst/>
          </a:prstGeom>
          <a:noFill/>
          <a:ln/>
        </p:spPr>
        <p:txBody>
          <a:bodyPr wrap="square" lIns="0" tIns="0" rIns="0" bIns="0" rtlCol="0" anchor="t"/>
          <a:lstStyle/>
          <a:p>
            <a:pPr algn="l" indent="0" marL="0">
              <a:buNone/>
            </a:pPr>
            <a:r>
              <a:rPr lang="en-US" sz="1020" b="1" dirty="0">
                <a:solidFill>
                  <a:srgbClr val="475569"/>
                </a:solidFill>
                <a:latin typeface="Arial" pitchFamily="34" charset="0"/>
                <a:ea typeface="Arial" pitchFamily="34" charset="-122"/>
                <a:cs typeface="Arial" pitchFamily="34" charset="-120"/>
              </a:rPr>
              <a:t>Current state</a:t>
            </a:r>
            <a:endParaRPr lang="en-US" sz="1020" dirty="0"/>
          </a:p>
        </p:txBody>
      </p:sp>
      <p:sp>
        <p:nvSpPr>
          <p:cNvPr id="7" name="mini-code"/>
          <p:cNvSpPr/>
          <p:nvPr/>
        </p:nvSpPr>
        <p:spPr>
          <a:xfrm>
            <a:off x="5157216" y="1389888"/>
            <a:ext cx="2487168" cy="310896"/>
          </a:xfrm>
          <a:prstGeom prst="rect">
            <a:avLst/>
          </a:prstGeom>
          <a:solidFill>
            <a:srgbClr val="FFFFFF"/>
          </a:solidFill>
          <a:ln w="8890">
            <a:solidFill>
              <a:srgbClr val="CBD5E1"/>
            </a:solidFill>
          </a:ln>
        </p:spPr>
        <p:txBody>
          <a:bodyPr wrap="square" lIns="635" tIns="1270" rIns="1270" bIns="635"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isLoading = false</a:t>
            </a:r>
            <a:endParaRPr lang="en-US" sz="950" dirty="0"/>
          </a:p>
        </p:txBody>
      </p:sp>
      <p:sp>
        <p:nvSpPr>
          <p:cNvPr id="8" name="mini-code"/>
          <p:cNvSpPr/>
          <p:nvPr/>
        </p:nvSpPr>
        <p:spPr>
          <a:xfrm>
            <a:off x="5157216" y="1682496"/>
            <a:ext cx="2487168" cy="310896"/>
          </a:xfrm>
          <a:prstGeom prst="rect">
            <a:avLst/>
          </a:prstGeom>
          <a:solidFill>
            <a:srgbClr val="FFFFFF"/>
          </a:solidFill>
          <a:ln w="8890">
            <a:solidFill>
              <a:srgbClr val="CBD5E1"/>
            </a:solidFill>
          </a:ln>
        </p:spPr>
        <p:txBody>
          <a:bodyPr wrap="square" lIns="635" tIns="1270" rIns="1270" bIns="635"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errorMessage = ""</a:t>
            </a:r>
            <a:endParaRPr lang="en-US" sz="950" dirty="0"/>
          </a:p>
        </p:txBody>
      </p:sp>
      <p:sp>
        <p:nvSpPr>
          <p:cNvPr id="9" name="mini-code"/>
          <p:cNvSpPr/>
          <p:nvPr/>
        </p:nvSpPr>
        <p:spPr>
          <a:xfrm>
            <a:off x="5157216" y="1975104"/>
            <a:ext cx="2487168" cy="310896"/>
          </a:xfrm>
          <a:prstGeom prst="rect">
            <a:avLst/>
          </a:prstGeom>
          <a:solidFill>
            <a:srgbClr val="FFFFFF"/>
          </a:solidFill>
          <a:ln w="8890">
            <a:solidFill>
              <a:srgbClr val="CBD5E1"/>
            </a:solidFill>
          </a:ln>
        </p:spPr>
        <p:txBody>
          <a:bodyPr wrap="square" lIns="635" tIns="1270" rIns="1270" bIns="635"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tasks.length = 0</a:t>
            </a:r>
            <a:endParaRPr lang="en-US" sz="950" dirty="0"/>
          </a:p>
        </p:txBody>
      </p:sp>
      <p:sp>
        <p:nvSpPr>
          <p:cNvPr id="10" name="body-text"/>
          <p:cNvSpPr/>
          <p:nvPr/>
        </p:nvSpPr>
        <p:spPr>
          <a:xfrm>
            <a:off x="4956048" y="2340864"/>
            <a:ext cx="2926080" cy="256032"/>
          </a:xfrm>
          <a:prstGeom prst="rect">
            <a:avLst/>
          </a:prstGeom>
          <a:noFill/>
          <a:ln/>
        </p:spPr>
        <p:txBody>
          <a:bodyPr wrap="square" lIns="0" tIns="0" rIns="0" bIns="0" rtlCol="0" anchor="t"/>
          <a:lstStyle/>
          <a:p>
            <a:pPr algn="l" indent="0" marL="0">
              <a:buNone/>
            </a:pPr>
            <a:r>
              <a:rPr lang="en-US" sz="1150" b="1" dirty="0">
                <a:solidFill>
                  <a:srgbClr val="0F172A"/>
                </a:solidFill>
                <a:latin typeface="Arial" pitchFamily="34" charset="0"/>
                <a:ea typeface="Arial" pitchFamily="34" charset="-122"/>
                <a:cs typeface="Arial" pitchFamily="34" charset="-120"/>
              </a:rPr>
              <a:t>What should React render?</a:t>
            </a:r>
            <a:endParaRPr lang="en-US" sz="1150" dirty="0"/>
          </a:p>
        </p:txBody>
      </p:sp>
      <p:sp>
        <p:nvSpPr>
          <p:cNvPr id="11" name="option-A"/>
          <p:cNvSpPr/>
          <p:nvPr/>
        </p:nvSpPr>
        <p:spPr>
          <a:xfrm>
            <a:off x="4956048" y="2688336"/>
            <a:ext cx="2926080" cy="438912"/>
          </a:xfrm>
          <a:prstGeom prst="roundRect">
            <a:avLst/>
          </a:prstGeom>
          <a:solidFill>
            <a:srgbClr val="FFFFFF"/>
          </a:solidFill>
          <a:ln w="12700">
            <a:solidFill>
              <a:srgbClr val="CBD5E1"/>
            </a:solidFill>
            <a:prstDash val="solid"/>
          </a:ln>
        </p:spPr>
      </p:sp>
      <p:sp>
        <p:nvSpPr>
          <p:cNvPr id="12" name="option-A-badge"/>
          <p:cNvSpPr/>
          <p:nvPr/>
        </p:nvSpPr>
        <p:spPr>
          <a:xfrm>
            <a:off x="5065776" y="2798064"/>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A</a:t>
            </a:r>
            <a:endParaRPr lang="en-US" sz="1080" dirty="0"/>
          </a:p>
        </p:txBody>
      </p:sp>
      <p:sp>
        <p:nvSpPr>
          <p:cNvPr id="13" name="option-A-text"/>
          <p:cNvSpPr/>
          <p:nvPr/>
        </p:nvSpPr>
        <p:spPr>
          <a:xfrm>
            <a:off x="5486400" y="2779776"/>
            <a:ext cx="2286000" cy="256032"/>
          </a:xfrm>
          <a:prstGeom prst="rect">
            <a:avLst/>
          </a:prstGeom>
          <a:noFill/>
          <a:ln/>
        </p:spPr>
        <p:txBody>
          <a:bodyPr wrap="square" lIns="0" tIns="0" rIns="0" bIns="0" rtlCol="0" anchor="ctr"/>
          <a:lstStyle/>
          <a:p>
            <a:pPr algn="l" indent="0" marL="0">
              <a:buNone/>
            </a:pPr>
            <a:r>
              <a:rPr lang="en-US" sz="980" dirty="0">
                <a:solidFill>
                  <a:srgbClr val="0F172A"/>
                </a:solidFill>
                <a:latin typeface="Arial" pitchFamily="34" charset="0"/>
                <a:ea typeface="Arial" pitchFamily="34" charset="-122"/>
                <a:cs typeface="Arial" pitchFamily="34" charset="-120"/>
              </a:rPr>
              <a:t>Loading tasks...</a:t>
            </a:r>
            <a:endParaRPr lang="en-US" sz="980" dirty="0"/>
          </a:p>
        </p:txBody>
      </p:sp>
      <p:sp>
        <p:nvSpPr>
          <p:cNvPr id="14" name="option-B"/>
          <p:cNvSpPr/>
          <p:nvPr/>
        </p:nvSpPr>
        <p:spPr>
          <a:xfrm>
            <a:off x="4956048" y="3182112"/>
            <a:ext cx="2926080" cy="438912"/>
          </a:xfrm>
          <a:prstGeom prst="roundRect">
            <a:avLst/>
          </a:prstGeom>
          <a:solidFill>
            <a:srgbClr val="FFFFFF"/>
          </a:solidFill>
          <a:ln w="12700">
            <a:solidFill>
              <a:srgbClr val="CBD5E1"/>
            </a:solidFill>
            <a:prstDash val="solid"/>
          </a:ln>
        </p:spPr>
      </p:sp>
      <p:sp>
        <p:nvSpPr>
          <p:cNvPr id="15" name="option-B-badge"/>
          <p:cNvSpPr/>
          <p:nvPr/>
        </p:nvSpPr>
        <p:spPr>
          <a:xfrm>
            <a:off x="5065776" y="3291840"/>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B</a:t>
            </a:r>
            <a:endParaRPr lang="en-US" sz="1080" dirty="0"/>
          </a:p>
        </p:txBody>
      </p:sp>
      <p:sp>
        <p:nvSpPr>
          <p:cNvPr id="16" name="option-B-text"/>
          <p:cNvSpPr/>
          <p:nvPr/>
        </p:nvSpPr>
        <p:spPr>
          <a:xfrm>
            <a:off x="5486400" y="3273552"/>
            <a:ext cx="2286000" cy="256032"/>
          </a:xfrm>
          <a:prstGeom prst="rect">
            <a:avLst/>
          </a:prstGeom>
          <a:noFill/>
          <a:ln/>
        </p:spPr>
        <p:txBody>
          <a:bodyPr wrap="square" lIns="0" tIns="0" rIns="0" bIns="0" rtlCol="0" anchor="ctr"/>
          <a:lstStyle/>
          <a:p>
            <a:pPr algn="l" indent="0" marL="0">
              <a:buNone/>
            </a:pPr>
            <a:r>
              <a:rPr lang="en-US" sz="980" dirty="0">
                <a:solidFill>
                  <a:srgbClr val="0F172A"/>
                </a:solidFill>
                <a:latin typeface="Arial" pitchFamily="34" charset="0"/>
                <a:ea typeface="Arial" pitchFamily="34" charset="-122"/>
                <a:cs typeface="Arial" pitchFamily="34" charset="-120"/>
              </a:rPr>
              <a:t>The task list</a:t>
            </a:r>
            <a:endParaRPr lang="en-US" sz="980" dirty="0"/>
          </a:p>
        </p:txBody>
      </p:sp>
      <p:sp>
        <p:nvSpPr>
          <p:cNvPr id="17" name="option-C"/>
          <p:cNvSpPr/>
          <p:nvPr/>
        </p:nvSpPr>
        <p:spPr>
          <a:xfrm>
            <a:off x="4956048" y="3675888"/>
            <a:ext cx="2926080" cy="438912"/>
          </a:xfrm>
          <a:prstGeom prst="roundRect">
            <a:avLst/>
          </a:prstGeom>
          <a:solidFill>
            <a:srgbClr val="FFFFFF"/>
          </a:solidFill>
          <a:ln w="12700">
            <a:solidFill>
              <a:srgbClr val="CBD5E1"/>
            </a:solidFill>
            <a:prstDash val="solid"/>
          </a:ln>
        </p:spPr>
      </p:sp>
      <p:sp>
        <p:nvSpPr>
          <p:cNvPr id="18" name="option-C-badge"/>
          <p:cNvSpPr/>
          <p:nvPr/>
        </p:nvSpPr>
        <p:spPr>
          <a:xfrm>
            <a:off x="5065776" y="3785616"/>
            <a:ext cx="310896" cy="310896"/>
          </a:xfrm>
          <a:prstGeom prst="rect">
            <a:avLst/>
          </a:prstGeom>
          <a:solidFill>
            <a:srgbClr val="EFF6FF"/>
          </a:solidFill>
          <a:ln>
            <a:solidFill>
              <a:srgbClr val="EFF6FF"/>
            </a:solidFill>
          </a:ln>
        </p:spPr>
        <p:txBody>
          <a:bodyPr wrap="square" lIns="0" tIns="0" rIns="0" bIns="0" rtlCol="0" anchor="ctr"/>
          <a:lstStyle/>
          <a:p>
            <a:pPr algn="ctr" indent="0" marL="0">
              <a:buNone/>
            </a:pPr>
            <a:r>
              <a:rPr lang="en-US" sz="1080" b="1" dirty="0">
                <a:solidFill>
                  <a:srgbClr val="1E3A8A"/>
                </a:solidFill>
                <a:latin typeface="Arial" pitchFamily="34" charset="0"/>
                <a:ea typeface="Arial" pitchFamily="34" charset="-122"/>
                <a:cs typeface="Arial" pitchFamily="34" charset="-120"/>
              </a:rPr>
              <a:t>C</a:t>
            </a:r>
            <a:endParaRPr lang="en-US" sz="1080" dirty="0"/>
          </a:p>
        </p:txBody>
      </p:sp>
      <p:sp>
        <p:nvSpPr>
          <p:cNvPr id="19" name="option-C-text"/>
          <p:cNvSpPr/>
          <p:nvPr/>
        </p:nvSpPr>
        <p:spPr>
          <a:xfrm>
            <a:off x="5486400" y="3767328"/>
            <a:ext cx="2286000" cy="256032"/>
          </a:xfrm>
          <a:prstGeom prst="rect">
            <a:avLst/>
          </a:prstGeom>
          <a:noFill/>
          <a:ln/>
        </p:spPr>
        <p:txBody>
          <a:bodyPr wrap="square" lIns="0" tIns="0" rIns="0" bIns="0" rtlCol="0" anchor="ctr"/>
          <a:lstStyle/>
          <a:p>
            <a:pPr algn="l" indent="0" marL="0">
              <a:buNone/>
            </a:pPr>
            <a:r>
              <a:rPr lang="en-US" sz="980" dirty="0">
                <a:solidFill>
                  <a:srgbClr val="0F172A"/>
                </a:solidFill>
                <a:latin typeface="Arial" pitchFamily="34" charset="0"/>
                <a:ea typeface="Arial" pitchFamily="34" charset="-122"/>
                <a:cs typeface="Arial" pitchFamily="34" charset="-120"/>
              </a:rPr>
              <a:t>An error message</a:t>
            </a:r>
            <a:endParaRPr lang="en-US" sz="980" dirty="0"/>
          </a:p>
        </p:txBody>
      </p:sp>
      <p:sp>
        <p:nvSpPr>
          <p:cNvPr id="20" name="option-D"/>
          <p:cNvSpPr/>
          <p:nvPr/>
        </p:nvSpPr>
        <p:spPr>
          <a:xfrm>
            <a:off x="4956048" y="4169664"/>
            <a:ext cx="2926080" cy="438912"/>
          </a:xfrm>
          <a:prstGeom prst="roundRect">
            <a:avLst/>
          </a:prstGeom>
          <a:solidFill>
            <a:srgbClr val="DCFCE7"/>
          </a:solidFill>
          <a:ln w="12700">
            <a:solidFill>
              <a:srgbClr val="86EFAC"/>
            </a:solidFill>
            <a:prstDash val="solid"/>
          </a:ln>
        </p:spPr>
      </p:sp>
      <p:sp>
        <p:nvSpPr>
          <p:cNvPr id="21" name="option-D-badge"/>
          <p:cNvSpPr/>
          <p:nvPr/>
        </p:nvSpPr>
        <p:spPr>
          <a:xfrm>
            <a:off x="5065776" y="4279392"/>
            <a:ext cx="310896" cy="310896"/>
          </a:xfrm>
          <a:prstGeom prst="rect">
            <a:avLst/>
          </a:prstGeom>
          <a:solidFill>
            <a:srgbClr val="DCFCE7"/>
          </a:solidFill>
          <a:ln>
            <a:solidFill>
              <a:srgbClr val="DCFCE7"/>
            </a:solidFill>
          </a:ln>
        </p:spPr>
        <p:txBody>
          <a:bodyPr wrap="square" lIns="0" tIns="0" rIns="0" bIns="0" rtlCol="0" anchor="ctr"/>
          <a:lstStyle/>
          <a:p>
            <a:pPr algn="ctr" indent="0" marL="0">
              <a:buNone/>
            </a:pPr>
            <a:r>
              <a:rPr lang="en-US" sz="1080" b="1" dirty="0">
                <a:solidFill>
                  <a:srgbClr val="166534"/>
                </a:solidFill>
                <a:latin typeface="Arial" pitchFamily="34" charset="0"/>
                <a:ea typeface="Arial" pitchFamily="34" charset="-122"/>
                <a:cs typeface="Arial" pitchFamily="34" charset="-120"/>
              </a:rPr>
              <a:t>D</a:t>
            </a:r>
            <a:endParaRPr lang="en-US" sz="1080" dirty="0"/>
          </a:p>
        </p:txBody>
      </p:sp>
      <p:sp>
        <p:nvSpPr>
          <p:cNvPr id="22" name="option-D-text"/>
          <p:cNvSpPr/>
          <p:nvPr/>
        </p:nvSpPr>
        <p:spPr>
          <a:xfrm>
            <a:off x="5486400" y="4261104"/>
            <a:ext cx="2286000" cy="256032"/>
          </a:xfrm>
          <a:prstGeom prst="rect">
            <a:avLst/>
          </a:prstGeom>
          <a:noFill/>
          <a:ln/>
        </p:spPr>
        <p:txBody>
          <a:bodyPr wrap="square" lIns="0" tIns="0" rIns="0" bIns="0" rtlCol="0" anchor="ctr"/>
          <a:lstStyle/>
          <a:p>
            <a:pPr algn="l" indent="0" marL="0">
              <a:buNone/>
            </a:pPr>
            <a:r>
              <a:rPr lang="en-US" sz="980" dirty="0">
                <a:solidFill>
                  <a:srgbClr val="0F172A"/>
                </a:solidFill>
                <a:latin typeface="Arial" pitchFamily="34" charset="0"/>
                <a:ea typeface="Arial" pitchFamily="34" charset="-122"/>
                <a:cs typeface="Arial" pitchFamily="34" charset="-120"/>
              </a:rPr>
              <a:t>No tasks yet.</a:t>
            </a:r>
            <a:endParaRPr lang="en-US" sz="980" dirty="0"/>
          </a:p>
        </p:txBody>
      </p:sp>
      <p:sp>
        <p:nvSpPr>
          <p:cNvPr id="23" name="answer-box"/>
          <p:cNvSpPr/>
          <p:nvPr/>
        </p:nvSpPr>
        <p:spPr>
          <a:xfrm>
            <a:off x="658368" y="4096512"/>
            <a:ext cx="4041648" cy="512064"/>
          </a:xfrm>
          <a:prstGeom prst="rect">
            <a:avLst/>
          </a:prstGeom>
          <a:solidFill>
            <a:srgbClr val="DCFCE7"/>
          </a:solidFill>
          <a:ln w="12700">
            <a:solidFill>
              <a:srgbClr val="86EFAC"/>
            </a:solidFill>
          </a:ln>
        </p:spPr>
        <p:txBody>
          <a:bodyPr wrap="square" lIns="1524" tIns="2286" rIns="2286" bIns="1524" rtlCol="0" anchor="ctr"/>
          <a:lstStyle/>
          <a:p>
            <a:pPr indent="0" marL="0">
              <a:buNone/>
            </a:pPr>
            <a:r>
              <a:rPr lang="en-US" sz="990" b="1" dirty="0">
                <a:solidFill>
                  <a:srgbClr val="166534"/>
                </a:solidFill>
                <a:latin typeface="Arial" pitchFamily="34" charset="0"/>
                <a:ea typeface="Arial" pitchFamily="34" charset="-122"/>
                <a:cs typeface="Arial" pitchFamily="34" charset="-120"/>
              </a:rPr>
              <a:t>Answer: </a:t>
            </a:r>
            <a:pPr indent="0" marL="0">
              <a:buNone/>
            </a:pPr>
            <a:r>
              <a:rPr lang="en-US" sz="990" b="1" dirty="0">
                <a:solidFill>
                  <a:srgbClr val="0F172A"/>
                </a:solidFill>
                <a:latin typeface="Arial" pitchFamily="34" charset="0"/>
                <a:ea typeface="Arial" pitchFamily="34" charset="-122"/>
                <a:cs typeface="Arial" pitchFamily="34" charset="-120"/>
              </a:rPr>
              <a:t>D. No tasks yet.</a:t>
            </a:r>
            <a:pPr indent="0" marL="0">
              <a:buNone/>
            </a:pPr>
            <a:endParaRPr lang="en-US" sz="990" dirty="0"/>
          </a:p>
          <a:p>
            <a:pPr indent="0" marL="0">
              <a:buNone/>
            </a:pPr>
            <a:r>
              <a:rPr lang="en-US" sz="990" b="1" dirty="0">
                <a:solidFill>
                  <a:srgbClr val="166534"/>
                </a:solidFill>
                <a:latin typeface="Arial" pitchFamily="34" charset="0"/>
                <a:ea typeface="Arial" pitchFamily="34" charset="-122"/>
                <a:cs typeface="Arial" pitchFamily="34" charset="-120"/>
              </a:rPr>
              <a:t>Why: </a:t>
            </a:r>
            <a:endParaRPr lang="en-US" sz="990" dirty="0"/>
          </a:p>
          <a:p>
            <a:pPr indent="0" marL="0">
              <a:buNone/>
            </a:pPr>
            <a:r>
              <a:rPr lang="en-US" sz="990" dirty="0">
                <a:solidFill>
                  <a:srgbClr val="0F172A"/>
                </a:solidFill>
                <a:latin typeface="Arial" pitchFamily="34" charset="0"/>
                <a:ea typeface="Arial" pitchFamily="34" charset="-122"/>
                <a:cs typeface="Arial" pitchFamily="34" charset="-120"/>
              </a:rPr>
              <a:t>Loading has finished, there is no error, and the successful result contains zero tasks.</a:t>
            </a:r>
            <a:endParaRPr lang="en-US" sz="99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lide-title"/>
          <p:cNvSpPr/>
          <p:nvPr/>
        </p:nvSpPr>
        <p:spPr>
          <a:xfrm>
            <a:off x="548640" y="256032"/>
            <a:ext cx="6446520" cy="457200"/>
          </a:xfrm>
          <a:prstGeom prst="rect">
            <a:avLst/>
          </a:prstGeom>
          <a:noFill/>
          <a:ln/>
        </p:spPr>
        <p:txBody>
          <a:bodyPr wrap="square" lIns="0" tIns="0" rIns="0" bIns="0" rtlCol="0" anchor="ctr"/>
          <a:lstStyle/>
          <a:p>
            <a:pPr indent="0" marL="0">
              <a:buNone/>
            </a:pPr>
            <a:r>
              <a:rPr lang="en-US" sz="2150" b="1" dirty="0">
                <a:solidFill>
                  <a:srgbClr val="0F172A"/>
                </a:solidFill>
                <a:latin typeface="Arial" pitchFamily="34" charset="0"/>
                <a:ea typeface="Arial" pitchFamily="34" charset="-122"/>
                <a:cs typeface="Arial" pitchFamily="34" charset="-120"/>
              </a:rPr>
              <a:t>Homework: Album Library</a:t>
            </a:r>
            <a:endParaRPr lang="en-US" sz="2150" dirty="0"/>
          </a:p>
        </p:txBody>
      </p:sp>
      <p:sp>
        <p:nvSpPr>
          <p:cNvPr id="3" name="section-label"/>
          <p:cNvSpPr/>
          <p:nvPr/>
        </p:nvSpPr>
        <p:spPr>
          <a:xfrm>
            <a:off x="548640" y="731520"/>
            <a:ext cx="2560320" cy="164592"/>
          </a:xfrm>
          <a:prstGeom prst="rect">
            <a:avLst/>
          </a:prstGeom>
          <a:noFill/>
          <a:ln/>
        </p:spPr>
        <p:txBody>
          <a:bodyPr wrap="square" lIns="0" tIns="0" rIns="0" bIns="0" rtlCol="0" anchor="ctr"/>
          <a:lstStyle/>
          <a:p>
            <a:pPr indent="0" marL="0">
              <a:buNone/>
            </a:pPr>
            <a:r>
              <a:rPr lang="en-US" sz="940" b="1" spc="40" kern="0" dirty="0">
                <a:solidFill>
                  <a:srgbClr val="1E3A8A"/>
                </a:solidFill>
                <a:latin typeface="Arial" pitchFamily="34" charset="0"/>
                <a:ea typeface="Arial" pitchFamily="34" charset="-122"/>
                <a:cs typeface="Arial" pitchFamily="34" charset="-120"/>
              </a:rPr>
              <a:t>HOMEWORK</a:t>
            </a:r>
            <a:endParaRPr lang="en-US" sz="940" dirty="0"/>
          </a:p>
        </p:txBody>
      </p:sp>
      <p:sp>
        <p:nvSpPr>
          <p:cNvPr id="4" name="album-ui"/>
          <p:cNvSpPr/>
          <p:nvPr/>
        </p:nvSpPr>
        <p:spPr>
          <a:xfrm>
            <a:off x="658368" y="1042416"/>
            <a:ext cx="3931920" cy="3273552"/>
          </a:xfrm>
          <a:prstGeom prst="roundRect">
            <a:avLst/>
          </a:prstGeom>
          <a:solidFill>
            <a:srgbClr val="FFFFFF"/>
          </a:solidFill>
          <a:ln w="12700">
            <a:solidFill>
              <a:srgbClr val="CBD5E1"/>
            </a:solidFill>
            <a:prstDash val="solid"/>
          </a:ln>
        </p:spPr>
      </p:sp>
      <p:sp>
        <p:nvSpPr>
          <p:cNvPr id="5" name="album-ui-bar"/>
          <p:cNvSpPr/>
          <p:nvPr/>
        </p:nvSpPr>
        <p:spPr>
          <a:xfrm>
            <a:off x="658368" y="1042416"/>
            <a:ext cx="3931920" cy="310896"/>
          </a:xfrm>
          <a:prstGeom prst="rect">
            <a:avLst/>
          </a:prstGeom>
          <a:solidFill>
            <a:srgbClr val="F8FAFC"/>
          </a:solidFill>
          <a:ln w="8890">
            <a:solidFill>
              <a:srgbClr val="CBD5E1"/>
            </a:solidFill>
            <a:prstDash val="solid"/>
          </a:ln>
        </p:spPr>
      </p:sp>
      <p:sp>
        <p:nvSpPr>
          <p:cNvPr id="6" name="album-ui-dot0"/>
          <p:cNvSpPr/>
          <p:nvPr/>
        </p:nvSpPr>
        <p:spPr>
          <a:xfrm>
            <a:off x="768096" y="1152144"/>
            <a:ext cx="73152" cy="73152"/>
          </a:xfrm>
          <a:prstGeom prst="ellipse">
            <a:avLst/>
          </a:prstGeom>
          <a:solidFill>
            <a:srgbClr val="F87171"/>
          </a:solidFill>
          <a:ln w="12700">
            <a:solidFill>
              <a:srgbClr val="F87171"/>
            </a:solidFill>
            <a:prstDash val="solid"/>
          </a:ln>
        </p:spPr>
      </p:sp>
      <p:sp>
        <p:nvSpPr>
          <p:cNvPr id="7" name="album-ui-dot1"/>
          <p:cNvSpPr/>
          <p:nvPr/>
        </p:nvSpPr>
        <p:spPr>
          <a:xfrm>
            <a:off x="886968" y="1152144"/>
            <a:ext cx="73152" cy="73152"/>
          </a:xfrm>
          <a:prstGeom prst="ellipse">
            <a:avLst/>
          </a:prstGeom>
          <a:solidFill>
            <a:srgbClr val="FBBF24"/>
          </a:solidFill>
          <a:ln w="12700">
            <a:solidFill>
              <a:srgbClr val="FBBF24"/>
            </a:solidFill>
            <a:prstDash val="solid"/>
          </a:ln>
        </p:spPr>
      </p:sp>
      <p:sp>
        <p:nvSpPr>
          <p:cNvPr id="8" name="album-ui-dot2"/>
          <p:cNvSpPr/>
          <p:nvPr/>
        </p:nvSpPr>
        <p:spPr>
          <a:xfrm>
            <a:off x="1005840" y="1152144"/>
            <a:ext cx="73152" cy="73152"/>
          </a:xfrm>
          <a:prstGeom prst="ellipse">
            <a:avLst/>
          </a:prstGeom>
          <a:solidFill>
            <a:srgbClr val="34D399"/>
          </a:solidFill>
          <a:ln w="12700">
            <a:solidFill>
              <a:srgbClr val="34D399"/>
            </a:solidFill>
            <a:prstDash val="solid"/>
          </a:ln>
        </p:spPr>
      </p:sp>
      <p:sp>
        <p:nvSpPr>
          <p:cNvPr id="9" name="album-ui-title"/>
          <p:cNvSpPr/>
          <p:nvPr/>
        </p:nvSpPr>
        <p:spPr>
          <a:xfrm>
            <a:off x="1188720" y="1110996"/>
            <a:ext cx="3273552" cy="164592"/>
          </a:xfrm>
          <a:prstGeom prst="rect">
            <a:avLst/>
          </a:prstGeom>
          <a:noFill/>
          <a:ln/>
        </p:spPr>
        <p:txBody>
          <a:bodyPr wrap="square" lIns="0" tIns="0" rIns="0" bIns="0" rtlCol="0" anchor="ctr"/>
          <a:lstStyle/>
          <a:p>
            <a:pPr algn="l" indent="0" marL="0">
              <a:buNone/>
            </a:pPr>
            <a:r>
              <a:rPr lang="en-US" sz="920" b="1" dirty="0">
                <a:solidFill>
                  <a:srgbClr val="64748B"/>
                </a:solidFill>
                <a:latin typeface="Arial" pitchFamily="34" charset="0"/>
                <a:ea typeface="Arial" pitchFamily="34" charset="-122"/>
                <a:cs typeface="Arial" pitchFamily="34" charset="-120"/>
              </a:rPr>
              <a:t>Album Library</a:t>
            </a:r>
            <a:endParaRPr lang="en-US" sz="920" dirty="0"/>
          </a:p>
        </p:txBody>
      </p:sp>
      <p:sp>
        <p:nvSpPr>
          <p:cNvPr id="10" name="body-text"/>
          <p:cNvSpPr/>
          <p:nvPr/>
        </p:nvSpPr>
        <p:spPr>
          <a:xfrm>
            <a:off x="960120" y="1517904"/>
            <a:ext cx="3291840" cy="274320"/>
          </a:xfrm>
          <a:prstGeom prst="rect">
            <a:avLst/>
          </a:prstGeom>
          <a:noFill/>
          <a:ln/>
        </p:spPr>
        <p:txBody>
          <a:bodyPr wrap="square" lIns="0" tIns="0" rIns="0" bIns="0" rtlCol="0" anchor="t"/>
          <a:lstStyle/>
          <a:p>
            <a:pPr algn="l" indent="0" marL="0">
              <a:buNone/>
            </a:pPr>
            <a:r>
              <a:rPr lang="en-US" sz="1400" b="1" dirty="0">
                <a:solidFill>
                  <a:srgbClr val="0F172A"/>
                </a:solidFill>
                <a:latin typeface="Arial" pitchFamily="34" charset="0"/>
                <a:ea typeface="Arial" pitchFamily="34" charset="-122"/>
                <a:cs typeface="Arial" pitchFamily="34" charset="-120"/>
              </a:rPr>
              <a:t>Album Library</a:t>
            </a:r>
            <a:endParaRPr lang="en-US" sz="1400" dirty="0"/>
          </a:p>
        </p:txBody>
      </p:sp>
      <p:sp>
        <p:nvSpPr>
          <p:cNvPr id="11" name="album-0"/>
          <p:cNvSpPr/>
          <p:nvPr/>
        </p:nvSpPr>
        <p:spPr>
          <a:xfrm>
            <a:off x="932688" y="1965960"/>
            <a:ext cx="3383280" cy="512064"/>
          </a:xfrm>
          <a:prstGeom prst="roundRect">
            <a:avLst/>
          </a:prstGeom>
          <a:solidFill>
            <a:srgbClr val="FFFFFF"/>
          </a:solidFill>
          <a:ln w="12700">
            <a:solidFill>
              <a:srgbClr val="CBD5E1"/>
            </a:solidFill>
            <a:prstDash val="solid"/>
          </a:ln>
        </p:spPr>
      </p:sp>
      <p:sp>
        <p:nvSpPr>
          <p:cNvPr id="12" name="pill"/>
          <p:cNvSpPr/>
          <p:nvPr/>
        </p:nvSpPr>
        <p:spPr>
          <a:xfrm>
            <a:off x="1078992" y="2075688"/>
            <a:ext cx="694944" cy="274320"/>
          </a:xfrm>
          <a:prstGeom prst="rect">
            <a:avLst/>
          </a:prstGeom>
          <a:solidFill>
            <a:srgbClr val="EFF6FF"/>
          </a:solidFill>
          <a:ln w="10160">
            <a:solidFill>
              <a:srgbClr val="EFF6FF"/>
            </a:solidFill>
          </a:ln>
        </p:spPr>
        <p:txBody>
          <a:bodyPr wrap="square" lIns="635" tIns="1270" rIns="1270" bIns="635" rtlCol="0" anchor="ctr"/>
          <a:lstStyle/>
          <a:p>
            <a:pPr algn="ctr" indent="0" marL="0">
              <a:buNone/>
            </a:pPr>
            <a:r>
              <a:rPr lang="en-US" sz="860" b="1" dirty="0">
                <a:solidFill>
                  <a:srgbClr val="1E3A8A"/>
                </a:solidFill>
                <a:latin typeface="Arial" pitchFamily="34" charset="0"/>
                <a:ea typeface="Arial" pitchFamily="34" charset="-122"/>
                <a:cs typeface="Arial" pitchFamily="34" charset="-120"/>
              </a:rPr>
              <a:t>Album 1</a:t>
            </a:r>
            <a:endParaRPr lang="en-US" sz="860" dirty="0"/>
          </a:p>
        </p:txBody>
      </p:sp>
      <p:sp>
        <p:nvSpPr>
          <p:cNvPr id="13" name="body-text"/>
          <p:cNvSpPr/>
          <p:nvPr/>
        </p:nvSpPr>
        <p:spPr>
          <a:xfrm>
            <a:off x="1892808" y="2075688"/>
            <a:ext cx="2231136" cy="182880"/>
          </a:xfrm>
          <a:prstGeom prst="rect">
            <a:avLst/>
          </a:prstGeom>
          <a:noFill/>
          <a:ln/>
        </p:spPr>
        <p:txBody>
          <a:bodyPr wrap="square" lIns="0" tIns="0" rIns="0" bIns="0" rtlCol="0" anchor="t"/>
          <a:lstStyle/>
          <a:p>
            <a:pPr algn="l" indent="0" marL="0">
              <a:buNone/>
            </a:pPr>
            <a:r>
              <a:rPr lang="en-US" sz="980" b="1" dirty="0">
                <a:solidFill>
                  <a:srgbClr val="0F172A"/>
                </a:solidFill>
                <a:latin typeface="Arial" pitchFamily="34" charset="0"/>
                <a:ea typeface="Arial" pitchFamily="34" charset="-122"/>
                <a:cs typeface="Arial" pitchFamily="34" charset="-120"/>
              </a:rPr>
              <a:t>quidem molestiae enim</a:t>
            </a:r>
            <a:endParaRPr lang="en-US" sz="980" dirty="0"/>
          </a:p>
        </p:txBody>
      </p:sp>
      <p:sp>
        <p:nvSpPr>
          <p:cNvPr id="14" name="album-1"/>
          <p:cNvSpPr/>
          <p:nvPr/>
        </p:nvSpPr>
        <p:spPr>
          <a:xfrm>
            <a:off x="932688" y="2624328"/>
            <a:ext cx="3383280" cy="512064"/>
          </a:xfrm>
          <a:prstGeom prst="roundRect">
            <a:avLst/>
          </a:prstGeom>
          <a:solidFill>
            <a:srgbClr val="FFFFFF"/>
          </a:solidFill>
          <a:ln w="12700">
            <a:solidFill>
              <a:srgbClr val="CBD5E1"/>
            </a:solidFill>
            <a:prstDash val="solid"/>
          </a:ln>
        </p:spPr>
      </p:sp>
      <p:sp>
        <p:nvSpPr>
          <p:cNvPr id="15" name="pill"/>
          <p:cNvSpPr/>
          <p:nvPr/>
        </p:nvSpPr>
        <p:spPr>
          <a:xfrm>
            <a:off x="1078992" y="2734056"/>
            <a:ext cx="694944" cy="274320"/>
          </a:xfrm>
          <a:prstGeom prst="rect">
            <a:avLst/>
          </a:prstGeom>
          <a:solidFill>
            <a:srgbClr val="EFF6FF"/>
          </a:solidFill>
          <a:ln w="10160">
            <a:solidFill>
              <a:srgbClr val="EFF6FF"/>
            </a:solidFill>
          </a:ln>
        </p:spPr>
        <p:txBody>
          <a:bodyPr wrap="square" lIns="635" tIns="1270" rIns="1270" bIns="635" rtlCol="0" anchor="ctr"/>
          <a:lstStyle/>
          <a:p>
            <a:pPr algn="ctr" indent="0" marL="0">
              <a:buNone/>
            </a:pPr>
            <a:r>
              <a:rPr lang="en-US" sz="860" b="1" dirty="0">
                <a:solidFill>
                  <a:srgbClr val="1E3A8A"/>
                </a:solidFill>
                <a:latin typeface="Arial" pitchFamily="34" charset="0"/>
                <a:ea typeface="Arial" pitchFamily="34" charset="-122"/>
                <a:cs typeface="Arial" pitchFamily="34" charset="-120"/>
              </a:rPr>
              <a:t>Album 2</a:t>
            </a:r>
            <a:endParaRPr lang="en-US" sz="860" dirty="0"/>
          </a:p>
        </p:txBody>
      </p:sp>
      <p:sp>
        <p:nvSpPr>
          <p:cNvPr id="16" name="body-text"/>
          <p:cNvSpPr/>
          <p:nvPr/>
        </p:nvSpPr>
        <p:spPr>
          <a:xfrm>
            <a:off x="1892808" y="2734056"/>
            <a:ext cx="2231136" cy="182880"/>
          </a:xfrm>
          <a:prstGeom prst="rect">
            <a:avLst/>
          </a:prstGeom>
          <a:noFill/>
          <a:ln/>
        </p:spPr>
        <p:txBody>
          <a:bodyPr wrap="square" lIns="0" tIns="0" rIns="0" bIns="0" rtlCol="0" anchor="t"/>
          <a:lstStyle/>
          <a:p>
            <a:pPr algn="l" indent="0" marL="0">
              <a:buNone/>
            </a:pPr>
            <a:r>
              <a:rPr lang="en-US" sz="980" b="1" dirty="0">
                <a:solidFill>
                  <a:srgbClr val="0F172A"/>
                </a:solidFill>
                <a:latin typeface="Arial" pitchFamily="34" charset="0"/>
                <a:ea typeface="Arial" pitchFamily="34" charset="-122"/>
                <a:cs typeface="Arial" pitchFamily="34" charset="-120"/>
              </a:rPr>
              <a:t>sunt qui excepturi placeat culpa</a:t>
            </a:r>
            <a:endParaRPr lang="en-US" sz="980" dirty="0"/>
          </a:p>
        </p:txBody>
      </p:sp>
      <p:sp>
        <p:nvSpPr>
          <p:cNvPr id="17" name="album-2"/>
          <p:cNvSpPr/>
          <p:nvPr/>
        </p:nvSpPr>
        <p:spPr>
          <a:xfrm>
            <a:off x="932688" y="3282696"/>
            <a:ext cx="3383280" cy="512064"/>
          </a:xfrm>
          <a:prstGeom prst="roundRect">
            <a:avLst/>
          </a:prstGeom>
          <a:solidFill>
            <a:srgbClr val="FFFFFF"/>
          </a:solidFill>
          <a:ln w="12700">
            <a:solidFill>
              <a:srgbClr val="CBD5E1"/>
            </a:solidFill>
            <a:prstDash val="solid"/>
          </a:ln>
        </p:spPr>
      </p:sp>
      <p:sp>
        <p:nvSpPr>
          <p:cNvPr id="18" name="pill"/>
          <p:cNvSpPr/>
          <p:nvPr/>
        </p:nvSpPr>
        <p:spPr>
          <a:xfrm>
            <a:off x="1078992" y="3392424"/>
            <a:ext cx="694944" cy="274320"/>
          </a:xfrm>
          <a:prstGeom prst="rect">
            <a:avLst/>
          </a:prstGeom>
          <a:solidFill>
            <a:srgbClr val="EFF6FF"/>
          </a:solidFill>
          <a:ln w="10160">
            <a:solidFill>
              <a:srgbClr val="EFF6FF"/>
            </a:solidFill>
          </a:ln>
        </p:spPr>
        <p:txBody>
          <a:bodyPr wrap="square" lIns="635" tIns="1270" rIns="1270" bIns="635" rtlCol="0" anchor="ctr"/>
          <a:lstStyle/>
          <a:p>
            <a:pPr algn="ctr" indent="0" marL="0">
              <a:buNone/>
            </a:pPr>
            <a:r>
              <a:rPr lang="en-US" sz="860" b="1" dirty="0">
                <a:solidFill>
                  <a:srgbClr val="1E3A8A"/>
                </a:solidFill>
                <a:latin typeface="Arial" pitchFamily="34" charset="0"/>
                <a:ea typeface="Arial" pitchFamily="34" charset="-122"/>
                <a:cs typeface="Arial" pitchFamily="34" charset="-120"/>
              </a:rPr>
              <a:t>Album 3</a:t>
            </a:r>
            <a:endParaRPr lang="en-US" sz="860" dirty="0"/>
          </a:p>
        </p:txBody>
      </p:sp>
      <p:sp>
        <p:nvSpPr>
          <p:cNvPr id="19" name="body-text"/>
          <p:cNvSpPr/>
          <p:nvPr/>
        </p:nvSpPr>
        <p:spPr>
          <a:xfrm>
            <a:off x="1892808" y="3392424"/>
            <a:ext cx="2231136" cy="182880"/>
          </a:xfrm>
          <a:prstGeom prst="rect">
            <a:avLst/>
          </a:prstGeom>
          <a:noFill/>
          <a:ln/>
        </p:spPr>
        <p:txBody>
          <a:bodyPr wrap="square" lIns="0" tIns="0" rIns="0" bIns="0" rtlCol="0" anchor="t"/>
          <a:lstStyle/>
          <a:p>
            <a:pPr algn="l" indent="0" marL="0">
              <a:buNone/>
            </a:pPr>
            <a:r>
              <a:rPr lang="en-US" sz="980" b="1" dirty="0">
                <a:solidFill>
                  <a:srgbClr val="0F172A"/>
                </a:solidFill>
                <a:latin typeface="Arial" pitchFamily="34" charset="0"/>
                <a:ea typeface="Arial" pitchFamily="34" charset="-122"/>
                <a:cs typeface="Arial" pitchFamily="34" charset="-120"/>
              </a:rPr>
              <a:t>omnis laborum odio</a:t>
            </a:r>
            <a:endParaRPr lang="en-US" sz="980" dirty="0"/>
          </a:p>
        </p:txBody>
      </p:sp>
      <p:sp>
        <p:nvSpPr>
          <p:cNvPr id="20" name="body-text"/>
          <p:cNvSpPr/>
          <p:nvPr/>
        </p:nvSpPr>
        <p:spPr>
          <a:xfrm>
            <a:off x="4846320" y="1115568"/>
            <a:ext cx="3236976" cy="658368"/>
          </a:xfrm>
          <a:prstGeom prst="rect">
            <a:avLst/>
          </a:prstGeom>
          <a:noFill/>
          <a:ln/>
        </p:spPr>
        <p:txBody>
          <a:bodyPr wrap="square" lIns="0" tIns="0" rIns="0" bIns="0" rtlCol="0" anchor="t"/>
          <a:lstStyle/>
          <a:p>
            <a:pPr algn="l" indent="0" marL="0">
              <a:buNone/>
            </a:pPr>
            <a:r>
              <a:rPr lang="en-US" sz="1200" b="1" dirty="0">
                <a:solidFill>
                  <a:srgbClr val="0F172A"/>
                </a:solidFill>
                <a:latin typeface="Arial" pitchFamily="34" charset="0"/>
                <a:ea typeface="Arial" pitchFamily="34" charset="-122"/>
                <a:cs typeface="Arial" pitchFamily="34" charset="-120"/>
              </a:rPr>
              <a:t>Build an Album Library that retrieves album data from the provided API and displays the result in React.</a:t>
            </a:r>
            <a:endParaRPr lang="en-US" sz="1200" dirty="0"/>
          </a:p>
        </p:txBody>
      </p:sp>
      <p:sp>
        <p:nvSpPr>
          <p:cNvPr id="21" name="label"/>
          <p:cNvSpPr/>
          <p:nvPr/>
        </p:nvSpPr>
        <p:spPr>
          <a:xfrm>
            <a:off x="4846320" y="1947672"/>
            <a:ext cx="1188720" cy="219456"/>
          </a:xfrm>
          <a:prstGeom prst="rect">
            <a:avLst/>
          </a:prstGeom>
          <a:noFill/>
          <a:ln/>
        </p:spPr>
        <p:txBody>
          <a:bodyPr wrap="square" lIns="0" tIns="0" rIns="0" bIns="0" rtlCol="0" anchor="ctr"/>
          <a:lstStyle/>
          <a:p>
            <a:pPr algn="l" indent="0" marL="0">
              <a:buNone/>
            </a:pPr>
            <a:r>
              <a:rPr lang="en-US" sz="1050" b="1" dirty="0">
                <a:solidFill>
                  <a:srgbClr val="475569"/>
                </a:solidFill>
                <a:latin typeface="Arial" pitchFamily="34" charset="0"/>
                <a:ea typeface="Arial" pitchFamily="34" charset="-122"/>
                <a:cs typeface="Arial" pitchFamily="34" charset="-120"/>
              </a:rPr>
              <a:t>Requirements</a:t>
            </a:r>
            <a:endParaRPr lang="en-US" sz="1050" dirty="0"/>
          </a:p>
        </p:txBody>
      </p:sp>
      <p:sp>
        <p:nvSpPr>
          <p:cNvPr id="22" name="bullet-list"/>
          <p:cNvSpPr/>
          <p:nvPr/>
        </p:nvSpPr>
        <p:spPr>
          <a:xfrm>
            <a:off x="4846320" y="2286000"/>
            <a:ext cx="3273552" cy="1536192"/>
          </a:xfrm>
          <a:prstGeom prst="rect">
            <a:avLst/>
          </a:prstGeom>
          <a:noFill/>
          <a:ln/>
        </p:spPr>
        <p:txBody>
          <a:bodyPr wrap="square" lIns="0" tIns="0" rIns="0" bIns="0" rtlCol="0" anchor="ctr"/>
          <a:lstStyle/>
          <a:p>
            <a:pPr marL="177800" indent="-177800">
              <a:buSzPct val="100000"/>
              <a:buChar char="•"/>
            </a:pPr>
            <a:r>
              <a:rPr lang="en-US" sz="1060" dirty="0">
                <a:solidFill>
                  <a:srgbClr val="0F172A"/>
                </a:solidFill>
                <a:latin typeface="Arial" pitchFamily="34" charset="0"/>
                <a:ea typeface="Arial" pitchFamily="34" charset="-122"/>
                <a:cs typeface="Arial" pitchFamily="34" charset="-120"/>
              </a:rPr>
              <a:t>load albums with an Effect and a typed Axios GET request</a:t>
            </a:r>
            <a:endParaRPr lang="en-US" sz="1060" dirty="0"/>
          </a:p>
          <a:p>
            <a:pPr marL="177800" indent="-177800">
              <a:buSzPct val="100000"/>
              <a:buChar char="•"/>
            </a:pPr>
            <a:r>
              <a:rPr lang="en-US" sz="1060" dirty="0">
                <a:solidFill>
                  <a:srgbClr val="0F172A"/>
                </a:solidFill>
                <a:latin typeface="Arial" pitchFamily="34" charset="0"/>
                <a:ea typeface="Arial" pitchFamily="34" charset="-122"/>
                <a:cs typeface="Arial" pitchFamily="34" charset="-120"/>
              </a:rPr>
              <a:t>store the returned data in React state</a:t>
            </a:r>
            <a:endParaRPr lang="en-US" sz="1060" dirty="0"/>
          </a:p>
          <a:p>
            <a:pPr marL="177800" indent="-177800">
              <a:buSzPct val="100000"/>
              <a:buChar char="•"/>
            </a:pPr>
            <a:r>
              <a:rPr lang="en-US" sz="1060" dirty="0">
                <a:solidFill>
                  <a:srgbClr val="0F172A"/>
                </a:solidFill>
                <a:latin typeface="Arial" pitchFamily="34" charset="0"/>
                <a:ea typeface="Arial" pitchFamily="34" charset="-122"/>
                <a:cs typeface="Arial" pitchFamily="34" charset="-120"/>
              </a:rPr>
              <a:t>represent loading, failure, and a successful empty result</a:t>
            </a:r>
            <a:endParaRPr lang="en-US" sz="1060" dirty="0"/>
          </a:p>
          <a:p>
            <a:pPr marL="177800" indent="-177800">
              <a:buSzPct val="100000"/>
              <a:buChar char="•"/>
            </a:pPr>
            <a:r>
              <a:rPr lang="en-US" sz="1060" dirty="0">
                <a:solidFill>
                  <a:srgbClr val="0F172A"/>
                </a:solidFill>
                <a:latin typeface="Arial" pitchFamily="34" charset="0"/>
                <a:ea typeface="Arial" pitchFamily="34" charset="-122"/>
                <a:cs typeface="Arial" pitchFamily="34" charset="-120"/>
              </a:rPr>
              <a:t>render the albums using their API IDs as stable keys</a:t>
            </a:r>
            <a:endParaRPr lang="en-US" sz="1060" dirty="0"/>
          </a:p>
        </p:txBody>
      </p:sp>
      <p:sp>
        <p:nvSpPr>
          <p:cNvPr id="23" name="homework-readme"/>
          <p:cNvSpPr/>
          <p:nvPr/>
        </p:nvSpPr>
        <p:spPr>
          <a:xfrm>
            <a:off x="4846320" y="4005072"/>
            <a:ext cx="3255264" cy="347472"/>
          </a:xfrm>
          <a:prstGeom prst="roundRect">
            <a:avLst/>
          </a:prstGeom>
          <a:solidFill>
            <a:srgbClr val="F8FAFC"/>
          </a:solidFill>
          <a:ln w="12700">
            <a:solidFill>
              <a:srgbClr val="CBD5E1"/>
            </a:solidFill>
            <a:prstDash val="solid"/>
          </a:ln>
        </p:spPr>
      </p:sp>
      <p:sp>
        <p:nvSpPr>
          <p:cNvPr id="24" name="body-text"/>
          <p:cNvSpPr/>
          <p:nvPr/>
        </p:nvSpPr>
        <p:spPr>
          <a:xfrm>
            <a:off x="5010912" y="4096512"/>
            <a:ext cx="2926080" cy="164592"/>
          </a:xfrm>
          <a:prstGeom prst="rect">
            <a:avLst/>
          </a:prstGeom>
          <a:noFill/>
          <a:ln/>
        </p:spPr>
        <p:txBody>
          <a:bodyPr wrap="square" lIns="0" tIns="0" rIns="0" bIns="0" rtlCol="0" anchor="t"/>
          <a:lstStyle/>
          <a:p>
            <a:pPr algn="ctr" indent="0" marL="0">
              <a:buNone/>
            </a:pPr>
            <a:r>
              <a:rPr lang="en-US" sz="990" b="1" dirty="0">
                <a:solidFill>
                  <a:srgbClr val="475569"/>
                </a:solidFill>
                <a:latin typeface="Arial" pitchFamily="34" charset="0"/>
                <a:ea typeface="Arial" pitchFamily="34" charset="-122"/>
                <a:cs typeface="Arial" pitchFamily="34" charset="-120"/>
              </a:rPr>
              <a:t>Use the supplied starter project and README.</a:t>
            </a:r>
            <a:endParaRPr lang="en-US" sz="9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GUVI / HCL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23 — Effects and External Data in React</dc:title>
  <dc:subject>Lecture 23 — Effects and External Data in React</dc:subject>
  <dc:creator>OpenAI</dc:creator>
  <cp:lastModifiedBy>OpenAI</cp:lastModifiedBy>
  <cp:revision>1</cp:revision>
  <dcterms:created xsi:type="dcterms:W3CDTF">2026-08-30T00:54:10Z</dcterms:created>
  <dcterms:modified xsi:type="dcterms:W3CDTF">2026-08-30T00:54:10Z</dcterms:modified>
</cp:coreProperties>
</file>