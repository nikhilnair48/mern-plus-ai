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embeddedFontLst>
    <p:embeddedFont>
      <p:font typeface="Montserrat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Montserrat-italic.fntdata"/><Relationship Id="rId61" Type="http://schemas.openxmlformats.org/officeDocument/2006/relationships/font" Target="fonts/Montserrat-bold.fntdata"/><Relationship Id="rId20" Type="http://schemas.openxmlformats.org/officeDocument/2006/relationships/slide" Target="slides/slide14.xml"/><Relationship Id="rId63" Type="http://schemas.openxmlformats.org/officeDocument/2006/relationships/font" Target="fonts/Montserrat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Montserrat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cf33ff35_2_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4cf33ff35_2_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4cf33ff35_2_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4cf33ff35_2_1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4cf33ff35_2_1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4cf33ff35_2_1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4cf33ff35_2_2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f4cf33ff35_2_2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4cf33ff35_2_2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4cf33ff35_2_2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f4cf33ff35_2_2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f4cf33ff35_2_2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4cf33ff35_2_3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f4cf33ff35_2_3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4cf33ff35_2_3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4cf33ff35_2_4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f4cf33ff35_2_4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f4cf33ff35_2_4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4cf33ff35_2_6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4cf33ff35_2_6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4cf33ff35_2_6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4cf33ff35_2_7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4cf33ff35_2_7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4cf33ff35_2_7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4cf33ff35_2_8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f4cf33ff35_2_8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4cf33ff35_2_8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4cf33ff35_2_8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4cf33ff35_2_8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the HTML/CSS with learners</a:t>
            </a:r>
            <a:endParaRPr/>
          </a:p>
        </p:txBody>
      </p:sp>
      <p:sp>
        <p:nvSpPr>
          <p:cNvPr id="147" name="Google Shape;147;g3f4cf33ff35_2_8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4cf33ff35_2_9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f4cf33ff35_2_9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4cf33ff35_2_9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4cf33ff35_2_11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f4cf33ff35_2_11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Briefly show the width value while resizing the browser. Introduce the Chrome DevTools Device Toolbar as an optional testing tool.</a:t>
            </a:r>
            <a:endParaRPr/>
          </a:p>
        </p:txBody>
      </p:sp>
      <p:sp>
        <p:nvSpPr>
          <p:cNvPr id="168" name="Google Shape;168;g3f4cf33ff35_2_11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4cf33ff35_2_14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f4cf33ff35_2_14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4cf33ff35_2_14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4cf33ff35_2_15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4cf33ff35_2_15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4cf33ff35_2_15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4cf33ff35_2_16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f4cf33ff35_2_16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not introduce % until the next slide. Allow learners to identify that fixed width is causing the problem.</a:t>
            </a:r>
            <a:endParaRPr/>
          </a:p>
        </p:txBody>
      </p:sp>
      <p:sp>
        <p:nvSpPr>
          <p:cNvPr id="220" name="Google Shape;220;g3f4cf33ff35_2_16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4cf33ff35_2_17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f4cf33ff35_2_17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4cf33ff35_2_17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4cf33ff35_2_21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f4cf33ff35_2_21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Demonstrate using the Course Landing Page. Resize the browser slowly so learners can observe the difference.</a:t>
            </a:r>
            <a:endParaRPr/>
          </a:p>
        </p:txBody>
      </p:sp>
      <p:sp>
        <p:nvSpPr>
          <p:cNvPr id="270" name="Google Shape;270;g3f4cf33ff35_2_21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4cf33ff35_2_22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f4cf33ff35_2_22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4cf33ff35_2_22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4cf33ff35_2_23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3f4cf33ff35_2_23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f4cf33ff35_2_23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4cf33ff35_2_26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g3f4cf33ff35_2_26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f4cf33ff35_2_26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4cf33ff35_2_28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f4cf33ff35_2_28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f4cf33ff35_2_28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4cf33ff35_2_28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f4cf33ff35_2_28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f4cf33ff35_2_28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4cf33ff35_2_33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f4cf33ff35_2_33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f4cf33ff35_2_33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4cf33ff35_2_34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f4cf33ff35_2_34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f4cf33ff35_2_34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4cf33ff35_2_354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g3f4cf33ff35_2_354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f4cf33ff35_2_354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4cf33ff35_2_38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g3f4cf33ff35_2_38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f4cf33ff35_2_38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4cf33ff35_2_39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f4cf33ff35_2_39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f4cf33ff35_2_39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4cf33ff35_2_40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f4cf33ff35_2_40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f4cf33ff35_2_40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4cf33ff35_2_41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g3f4cf33ff35_2_41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f4cf33ff35_2_41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4cf33ff35_2_42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f4cf33ff35_2_42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f4cf33ff35_2_42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4cf33ff35_2_43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f4cf33ff35_2_43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f4cf33ff35_2_43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4cf33ff35_2_44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3f4cf33ff35_2_44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f4cf33ff35_2_44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4cf33ff35_2_46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g3f4cf33ff35_2_46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f4cf33ff35_2_46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f4cf33ff35_2_47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f4cf33ff35_2_47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f4cf33ff35_2_47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f4cf33ff35_2_50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g3f4cf33ff35_2_50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one or two websites. Keep the observation brief. Ask learners to share changes in the chat.</a:t>
            </a:r>
            <a:endParaRPr/>
          </a:p>
        </p:txBody>
      </p:sp>
      <p:sp>
        <p:nvSpPr>
          <p:cNvPr id="584" name="Google Shape;584;g3f4cf33ff35_2_50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4cf33ff35_2_51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f4cf33ff35_2_51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f4cf33ff35_2_51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f4cf33ff35_2_52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f4cf33ff35_2_52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g3f4cf33ff35_2_52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f4cf33ff35_2_54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3f4cf33ff35_2_54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g3f4cf33ff35_2_54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f4cf33ff35_2_54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g3f4cf33ff35_2_54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g3f4cf33ff35_2_54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f4cf33ff35_2_56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2" name="Google Shape;642;g3f4cf33ff35_2_56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f4cf33ff35_2_56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f4cf33ff35_2_57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3f4cf33ff35_2_57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g3f4cf33ff35_2_57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f4cf33ff35_2_584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f4cf33ff35_2_584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g3f4cf33ff35_2_584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4cf33ff35_2_601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g3f4cf33ff35_2_601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f4cf33ff35_2_601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f4cf33ff35_2_61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f4cf33ff35_2_61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f4cf33ff35_2_61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f4cf33ff35_2_61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g3f4cf33ff35_2_61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3f4cf33ff35_2_61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f4cf33ff35_2_62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0" name="Google Shape;710;g3f4cf33ff35_2_62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g3f4cf33ff35_2_62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f4cf33ff35_2_63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g3f4cf33ff35_2_63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g3f4cf33ff35_2_63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4cf33ff35_2_64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g3f4cf33ff35_2_64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3f4cf33ff35_2_64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f4cf33ff35_2_65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g3f4cf33ff35_2_65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3f4cf33ff35_2_65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f4cf33ff35_2_66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g3f4cf33ff35_2_66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g3f4cf33ff35_2_66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f4cf33ff35_2_67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g3f4cf33ff35_2_67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g3f4cf33ff35_2_67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f4cf33ff35_2_69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g3f4cf33ff35_2_69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g3f4cf33ff35_2_69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f4cf33ff35_2_70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1" name="Google Shape;791;g3f4cf33ff35_2_70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g3f4cf33ff35_2_70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PPT-Slide-Template.png" id="53" name="Google Shape;5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77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514364" y="1851660"/>
            <a:ext cx="3772001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i="0" lang="en" sz="21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Lecture 9</a:t>
            </a:r>
            <a:endParaRPr b="0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514364" y="2228850"/>
            <a:ext cx="5143637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700"/>
              <a:buFont typeface="Montserrat"/>
              <a:buNone/>
            </a:pPr>
            <a:r>
              <a:rPr b="1" i="0" lang="en" sz="27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Responsive Design</a:t>
            </a:r>
            <a:endParaRPr b="0" i="0" sz="2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534938" y="2756916"/>
            <a:ext cx="534938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Build webpages that adapt to different screen sizes.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6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9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i="0" lang="en" sz="21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Today's Agenda</a:t>
            </a:r>
            <a:endParaRPr b="0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480073" y="720090"/>
            <a:ext cx="3429091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Montserrat"/>
              <a:buNone/>
            </a:pPr>
            <a:r>
              <a:rPr b="1" i="0" lang="en" sz="11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Session Objectives</a:t>
            </a:r>
            <a:endParaRPr b="0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514381" y="973825"/>
            <a:ext cx="8088000" cy="3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b="0" i="0" lang="en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Review CSS positioning concepts from the previous lecture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Understand the foundations of Responsive Design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Explore common viewport sizes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responsive CSS units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■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%, rem, vw, vh, em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Write Media Queries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Understand breakpoints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Apply the Mobile-First approach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Build a responsive Course Landing Page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7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9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/>
          <p:nvPr/>
        </p:nvSpPr>
        <p:spPr>
          <a:xfrm>
            <a:off x="548655" y="205740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Warm-up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8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 1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9"/>
          <p:cNvSpPr/>
          <p:nvPr/>
        </p:nvSpPr>
        <p:spPr>
          <a:xfrm>
            <a:off x="445782" y="720090"/>
            <a:ext cx="7338256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CSS property controls how an element is positioned on a webpage?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9"/>
          <p:cNvSpPr/>
          <p:nvPr/>
        </p:nvSpPr>
        <p:spPr>
          <a:xfrm>
            <a:off x="445782" y="1371600"/>
            <a:ext cx="5829455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display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position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margin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9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9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 2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20"/>
          <p:cNvSpPr/>
          <p:nvPr/>
        </p:nvSpPr>
        <p:spPr>
          <a:xfrm>
            <a:off x="445782" y="720090"/>
            <a:ext cx="7338256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statement correctly describes position: relative?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20"/>
          <p:cNvSpPr/>
          <p:nvPr/>
        </p:nvSpPr>
        <p:spPr>
          <a:xfrm>
            <a:off x="445782" y="1371600"/>
            <a:ext cx="5829455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The element is removed from normal document flow.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The element moves relative to its original position while its original space remains reserved.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The element is positioned relative to the viewport.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The element ignores the top, right, bottom, and left properties.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20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/>
          <p:nvPr/>
        </p:nvSpPr>
        <p:spPr>
          <a:xfrm>
            <a:off x="445782" y="288036"/>
            <a:ext cx="6583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 3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21"/>
          <p:cNvSpPr/>
          <p:nvPr/>
        </p:nvSpPr>
        <p:spPr>
          <a:xfrm>
            <a:off x="445782" y="720090"/>
            <a:ext cx="390916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element provides the positioning reference point for .label?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21"/>
          <p:cNvSpPr/>
          <p:nvPr/>
        </p:nvSpPr>
        <p:spPr>
          <a:xfrm>
            <a:off x="445782" y="1371600"/>
            <a:ext cx="3703419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The viewport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The body element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.card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The h2 element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1"/>
          <p:cNvSpPr/>
          <p:nvPr/>
        </p:nvSpPr>
        <p:spPr>
          <a:xfrm>
            <a:off x="4800728" y="788670"/>
            <a:ext cx="3634837" cy="85725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4855593" y="822960"/>
            <a:ext cx="352510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4855593" y="994410"/>
            <a:ext cx="3525106" cy="596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7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&lt;div class="card"&gt;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7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&lt;span class="label"&gt;New&lt;/span&gt;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7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&lt;h2&gt;Frontend Course&lt;/h2&gt;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7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&lt;/div&gt;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4800728" y="1885950"/>
            <a:ext cx="3634837" cy="13716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4855593" y="1920240"/>
            <a:ext cx="352510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styles.css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4855593" y="2091690"/>
            <a:ext cx="3525106" cy="1110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.card {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position: relative;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.label {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position: absolute;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top: 8px;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right: 8px;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C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21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 4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445782" y="720090"/>
            <a:ext cx="7338256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CSS rule makes each navigation link begin on a new line?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445782" y="1371600"/>
            <a:ext cx="5829455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nav a { display: inline;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nav a { display: block;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nav a { display: none;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nav a { position: block;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2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 5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445782" y="720090"/>
            <a:ext cx="7338256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Two positioned elements overlap. Which CSS property controls which element appears in front?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445782" y="1371600"/>
            <a:ext cx="5829455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overflow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padding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z-index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margin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C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23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/>
          <p:nvPr/>
        </p:nvSpPr>
        <p:spPr>
          <a:xfrm>
            <a:off x="548655" y="205740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Responsive Design Basics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One Page, Different Screen Sizes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480073" y="720090"/>
            <a:ext cx="3429091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Observe the webpage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548650" y="973825"/>
            <a:ext cx="40233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Open the Course Landing Page in the browser.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Gradually reduce the width of the browser window.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Notice how the page changes as the viewport becomes narrower.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480073" y="2057400"/>
            <a:ext cx="3429091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Questions to consider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548650" y="2297425"/>
            <a:ext cx="40233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Does the content remain easy to read?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Does the spacing still feel comfortable?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Do any parts of the page feel crowded?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Would the page be convenient to use on a mobile phone?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5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9750" y="779280"/>
            <a:ext cx="2283874" cy="3584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Designing for Different Screens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514375" y="768100"/>
            <a:ext cx="43299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is Responsive Design?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Responsive Design is the practice of creating webpages that adapt to different viewport sizes.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content, sizing, spacing, and layout can change to remain usable across devices.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Why is Responsive Design important?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Users access websites from mobile phones, tablets, laptops, and desktop computers.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layout that works well on a large screen may feel crowded on a smaller screen.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Responsive webpages improve readability and usability.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Responsive Design allows one webpage to support multiple screen sizes.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6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" name="Google Shape;164;p26"/>
          <p:cNvPicPr preferRelativeResize="0"/>
          <p:nvPr/>
        </p:nvPicPr>
        <p:blipFill rotWithShape="1">
          <a:blip r:embed="rId3">
            <a:alphaModFix/>
          </a:blip>
          <a:srcRect b="0" l="0" r="0" t="18381"/>
          <a:stretch/>
        </p:blipFill>
        <p:spPr>
          <a:xfrm>
            <a:off x="5006375" y="1598926"/>
            <a:ext cx="3994926" cy="16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/>
        </p:nvSpPr>
        <p:spPr>
          <a:xfrm>
            <a:off x="480075" y="720102"/>
            <a:ext cx="4114800" cy="10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is a viewport?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viewport is the visible area of a webpage inside the browser.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CSS responds to the viewport size rather than the physical size of the device.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Common viewport categories: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Viewport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548655" y="1885950"/>
            <a:ext cx="1697400" cy="253746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7"/>
          <p:cNvSpPr/>
          <p:nvPr/>
        </p:nvSpPr>
        <p:spPr>
          <a:xfrm>
            <a:off x="576087" y="1906524"/>
            <a:ext cx="1642535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Category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2246055" y="1885950"/>
            <a:ext cx="2074600" cy="253746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>
            <a:off x="2273488" y="1906524"/>
            <a:ext cx="2019735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Typical Viewport Width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548655" y="2139696"/>
            <a:ext cx="1697400" cy="25374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576087" y="2160270"/>
            <a:ext cx="1642535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Mobile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2246055" y="2139696"/>
            <a:ext cx="2074600" cy="25374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/>
          <p:nvPr/>
        </p:nvSpPr>
        <p:spPr>
          <a:xfrm>
            <a:off x="2273488" y="2160270"/>
            <a:ext cx="2019735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320px to 480px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548655" y="2393442"/>
            <a:ext cx="1697400" cy="25374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7"/>
          <p:cNvSpPr/>
          <p:nvPr/>
        </p:nvSpPr>
        <p:spPr>
          <a:xfrm>
            <a:off x="576087" y="2414016"/>
            <a:ext cx="1642535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Tablet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2246055" y="2393442"/>
            <a:ext cx="2074600" cy="25374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/>
          <p:nvPr/>
        </p:nvSpPr>
        <p:spPr>
          <a:xfrm>
            <a:off x="2273488" y="2414016"/>
            <a:ext cx="2019735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768px to 1023px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548655" y="2647188"/>
            <a:ext cx="1697400" cy="25374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/>
          <p:nvPr/>
        </p:nvSpPr>
        <p:spPr>
          <a:xfrm>
            <a:off x="576087" y="2667762"/>
            <a:ext cx="1642535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Laptop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2246055" y="2647188"/>
            <a:ext cx="2074600" cy="25374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/>
          <p:nvPr/>
        </p:nvSpPr>
        <p:spPr>
          <a:xfrm>
            <a:off x="2273488" y="2667762"/>
            <a:ext cx="2019735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1024px to 1279px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548655" y="2900934"/>
            <a:ext cx="1697400" cy="25374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/>
          <p:nvPr/>
        </p:nvSpPr>
        <p:spPr>
          <a:xfrm>
            <a:off x="576087" y="2921508"/>
            <a:ext cx="1642535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Desktop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2246055" y="2900934"/>
            <a:ext cx="2074600" cy="25374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7"/>
          <p:cNvSpPr/>
          <p:nvPr/>
        </p:nvSpPr>
        <p:spPr>
          <a:xfrm>
            <a:off x="2273488" y="2921508"/>
            <a:ext cx="2019735" cy="212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1280px and above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27"/>
          <p:cNvSpPr/>
          <p:nvPr/>
        </p:nvSpPr>
        <p:spPr>
          <a:xfrm>
            <a:off x="514364" y="3326130"/>
            <a:ext cx="24003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Important note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7"/>
          <p:cNvSpPr/>
          <p:nvPr/>
        </p:nvSpPr>
        <p:spPr>
          <a:xfrm>
            <a:off x="582950" y="3579875"/>
            <a:ext cx="45366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These ranges are useful guidelines, not fixed rules.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same device category may contain many different viewport sizes.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Breakpoints should also consider where the webpage content begins to feel crowded or difficult to use.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7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5" name="Google Shape;19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5175" y="1423275"/>
            <a:ext cx="3294550" cy="219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8"/>
          <p:cNvSpPr/>
          <p:nvPr/>
        </p:nvSpPr>
        <p:spPr>
          <a:xfrm>
            <a:off x="364707" y="288011"/>
            <a:ext cx="6583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Montserrat"/>
              <a:buNone/>
            </a:pPr>
            <a:r>
              <a:rPr b="1" lang="en" sz="18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Choosing the Better Mobile Experience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364689" y="1146255"/>
            <a:ext cx="4457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version provides the better mobile experience?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364689" y="1489155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Version A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Version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Both versions provide the same experience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8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6" name="Google Shape;2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625" y="1067236"/>
            <a:ext cx="1695225" cy="300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2199" y="1067238"/>
            <a:ext cx="1695225" cy="300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8"/>
          <p:cNvSpPr/>
          <p:nvPr/>
        </p:nvSpPr>
        <p:spPr>
          <a:xfrm>
            <a:off x="5425028" y="677583"/>
            <a:ext cx="914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Version A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7486878" y="651471"/>
            <a:ext cx="9144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Version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/>
          <p:nvPr/>
        </p:nvSpPr>
        <p:spPr>
          <a:xfrm>
            <a:off x="548655" y="205740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Responsive Units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9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Fixed Widths Do Not Adapt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480073" y="720090"/>
            <a:ext cx="418349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 sz="9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Consider the following Course Landing Page section: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0"/>
          <p:cNvSpPr/>
          <p:nvPr/>
        </p:nvSpPr>
        <p:spPr>
          <a:xfrm>
            <a:off x="514364" y="1131570"/>
            <a:ext cx="3909164" cy="96012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0"/>
          <p:cNvSpPr/>
          <p:nvPr/>
        </p:nvSpPr>
        <p:spPr>
          <a:xfrm>
            <a:off x="569229" y="1165860"/>
            <a:ext cx="379943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HTML Snippet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569229" y="1337310"/>
            <a:ext cx="3799433" cy="699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class="course-info"&gt;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&lt;h2&gt;About the Course&lt;/h2&gt;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&lt;p&gt;Learn frontend development using HTML, CSS, and JavaScript.&lt;/p&gt;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&lt;/section&gt;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4800728" y="1131570"/>
            <a:ext cx="3291928" cy="99441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4855593" y="1165860"/>
            <a:ext cx="318219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styles.css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4855593" y="1337310"/>
            <a:ext cx="3182197" cy="733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.course-info {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width: 600px;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padding: 24px;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border: 1px solid gray;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514364" y="2331720"/>
            <a:ext cx="5212219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What happens when the viewport becomes narrower?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0"/>
          <p:cNvSpPr/>
          <p:nvPr/>
        </p:nvSpPr>
        <p:spPr>
          <a:xfrm>
            <a:off x="582946" y="2606040"/>
            <a:ext cx="4937892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section keeps its fixed width of 600px.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available viewport width may become smaller than the section.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content no longer adapts to the available space.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30"/>
          <p:cNvSpPr/>
          <p:nvPr/>
        </p:nvSpPr>
        <p:spPr>
          <a:xfrm>
            <a:off x="514377" y="3669025"/>
            <a:ext cx="6379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Question: How can we make the section width adjust when its parent becomes narrower?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0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Percentage (%)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4800728" y="720090"/>
            <a:ext cx="27432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unit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31"/>
          <p:cNvSpPr/>
          <p:nvPr/>
        </p:nvSpPr>
        <p:spPr>
          <a:xfrm>
            <a:off x="480075" y="685800"/>
            <a:ext cx="3874200" cy="3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is the Percentage (%) unit?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% represents a percentage of the parent element's size.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As the parent element changes size, the child element adjusts automatically.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Why use %?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Creates flexible layouts.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Adapts automatically to different viewport sizes.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○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Commonly used for containers and images.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4800728" y="973836"/>
            <a:ext cx="3017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 sz="9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If the parent element is 1000px wide: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4800728" y="1248156"/>
            <a:ext cx="1296197" cy="226314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4828161" y="1268730"/>
            <a:ext cx="1241331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Width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6096925" y="1248156"/>
            <a:ext cx="1584240" cy="226314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6124357" y="1268730"/>
            <a:ext cx="1529375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Actual Size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4800728" y="1474470"/>
            <a:ext cx="1296197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4828161" y="1495044"/>
            <a:ext cx="1241331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6096925" y="1474470"/>
            <a:ext cx="1584240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1"/>
          <p:cNvSpPr/>
          <p:nvPr/>
        </p:nvSpPr>
        <p:spPr>
          <a:xfrm>
            <a:off x="6124357" y="1495044"/>
            <a:ext cx="1529375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1000px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4800728" y="1700784"/>
            <a:ext cx="1296197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1"/>
          <p:cNvSpPr/>
          <p:nvPr/>
        </p:nvSpPr>
        <p:spPr>
          <a:xfrm>
            <a:off x="4828161" y="1721358"/>
            <a:ext cx="1241331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6096925" y="1700784"/>
            <a:ext cx="1584240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1"/>
          <p:cNvSpPr/>
          <p:nvPr/>
        </p:nvSpPr>
        <p:spPr>
          <a:xfrm>
            <a:off x="6124357" y="1721358"/>
            <a:ext cx="1529375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750px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4800728" y="1927098"/>
            <a:ext cx="1296197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1"/>
          <p:cNvSpPr/>
          <p:nvPr/>
        </p:nvSpPr>
        <p:spPr>
          <a:xfrm>
            <a:off x="4828161" y="1947672"/>
            <a:ext cx="1241331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31"/>
          <p:cNvSpPr/>
          <p:nvPr/>
        </p:nvSpPr>
        <p:spPr>
          <a:xfrm>
            <a:off x="6096925" y="1927098"/>
            <a:ext cx="1584240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1"/>
          <p:cNvSpPr/>
          <p:nvPr/>
        </p:nvSpPr>
        <p:spPr>
          <a:xfrm>
            <a:off x="6124357" y="1947672"/>
            <a:ext cx="1529375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500px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31"/>
          <p:cNvSpPr/>
          <p:nvPr/>
        </p:nvSpPr>
        <p:spPr>
          <a:xfrm>
            <a:off x="4800728" y="2153412"/>
            <a:ext cx="1296197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4828161" y="2173986"/>
            <a:ext cx="1241331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6096925" y="2153412"/>
            <a:ext cx="1584240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1"/>
          <p:cNvSpPr/>
          <p:nvPr/>
        </p:nvSpPr>
        <p:spPr>
          <a:xfrm>
            <a:off x="6124357" y="2173986"/>
            <a:ext cx="1529375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250px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31"/>
          <p:cNvSpPr/>
          <p:nvPr/>
        </p:nvSpPr>
        <p:spPr>
          <a:xfrm>
            <a:off x="4800728" y="2914650"/>
            <a:ext cx="2949019" cy="6858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1"/>
          <p:cNvSpPr/>
          <p:nvPr/>
        </p:nvSpPr>
        <p:spPr>
          <a:xfrm>
            <a:off x="4855593" y="2948940"/>
            <a:ext cx="283928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31"/>
          <p:cNvSpPr/>
          <p:nvPr/>
        </p:nvSpPr>
        <p:spPr>
          <a:xfrm>
            <a:off x="4855593" y="3120390"/>
            <a:ext cx="2839288" cy="425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7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.course-info {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7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width: 90%;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7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31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Example: Fixed Width vs Percentage Width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514364" y="822960"/>
            <a:ext cx="1371637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Before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32"/>
          <p:cNvSpPr/>
          <p:nvPr/>
        </p:nvSpPr>
        <p:spPr>
          <a:xfrm>
            <a:off x="514364" y="1131570"/>
            <a:ext cx="3497673" cy="78867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2"/>
          <p:cNvSpPr/>
          <p:nvPr/>
        </p:nvSpPr>
        <p:spPr>
          <a:xfrm>
            <a:off x="569229" y="1179576"/>
            <a:ext cx="3387942" cy="692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.course-info {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width: 600px;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32"/>
          <p:cNvSpPr/>
          <p:nvPr/>
        </p:nvSpPr>
        <p:spPr>
          <a:xfrm>
            <a:off x="514364" y="2194560"/>
            <a:ext cx="1371637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After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32"/>
          <p:cNvSpPr/>
          <p:nvPr/>
        </p:nvSpPr>
        <p:spPr>
          <a:xfrm>
            <a:off x="514364" y="2503170"/>
            <a:ext cx="3497673" cy="78867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2"/>
          <p:cNvSpPr/>
          <p:nvPr/>
        </p:nvSpPr>
        <p:spPr>
          <a:xfrm>
            <a:off x="569229" y="2551176"/>
            <a:ext cx="3387942" cy="692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.course-info {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width: 90%;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32"/>
          <p:cNvSpPr/>
          <p:nvPr/>
        </p:nvSpPr>
        <p:spPr>
          <a:xfrm>
            <a:off x="4800728" y="891540"/>
            <a:ext cx="27432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Observe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2"/>
          <p:cNvSpPr/>
          <p:nvPr/>
        </p:nvSpPr>
        <p:spPr>
          <a:xfrm>
            <a:off x="4869310" y="1200150"/>
            <a:ext cx="3086182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Resize the browser window.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Compare how each version behaves.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Notice which layout adapts naturally.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4835019" y="2297430"/>
            <a:ext cx="3086182" cy="1165860"/>
          </a:xfrm>
          <a:prstGeom prst="roundRect">
            <a:avLst>
              <a:gd fmla="val 4706" name="adj"/>
            </a:avLst>
          </a:prstGeom>
          <a:solidFill>
            <a:srgbClr val="F6F8FB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4917317" y="2379726"/>
            <a:ext cx="2921586" cy="1001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Course Landing Page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Browser resize demo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32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Montserrat"/>
              <a:buNone/>
            </a:pPr>
            <a:r>
              <a:rPr b="1" lang="en" sz="2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Flexible Widths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445782" y="720090"/>
            <a:ext cx="7338256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An online bookstore displays each book description inside a container. Which CSS is more suitable if the container should adapt to different screen sizes?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33"/>
          <p:cNvSpPr/>
          <p:nvPr/>
        </p:nvSpPr>
        <p:spPr>
          <a:xfrm>
            <a:off x="445782" y="1371600"/>
            <a:ext cx="7269674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.book { width: 500px;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.book { width: 90%;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.book { width: 90vw;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.book { width: inherit;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33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33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Root-relative Units (rem)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34"/>
          <p:cNvSpPr/>
          <p:nvPr/>
        </p:nvSpPr>
        <p:spPr>
          <a:xfrm>
            <a:off x="4800728" y="720090"/>
            <a:ext cx="27432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unit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480073" y="685800"/>
            <a:ext cx="390916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is rem?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rem is relative to the root html font size.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Why use rem?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Creates consistent typography.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Makes spacing easier to maintain.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Allows an entire website to scale consistently.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34"/>
          <p:cNvSpPr/>
          <p:nvPr/>
        </p:nvSpPr>
        <p:spPr>
          <a:xfrm>
            <a:off x="4800728" y="973836"/>
            <a:ext cx="3017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 sz="9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If the root font size is 16px: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34"/>
          <p:cNvSpPr/>
          <p:nvPr/>
        </p:nvSpPr>
        <p:spPr>
          <a:xfrm>
            <a:off x="4800728" y="1248156"/>
            <a:ext cx="1296197" cy="226314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4"/>
          <p:cNvSpPr/>
          <p:nvPr/>
        </p:nvSpPr>
        <p:spPr>
          <a:xfrm>
            <a:off x="4828161" y="1268730"/>
            <a:ext cx="1241331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Value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4"/>
          <p:cNvSpPr/>
          <p:nvPr/>
        </p:nvSpPr>
        <p:spPr>
          <a:xfrm>
            <a:off x="6096925" y="1248156"/>
            <a:ext cx="1584240" cy="226314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4"/>
          <p:cNvSpPr/>
          <p:nvPr/>
        </p:nvSpPr>
        <p:spPr>
          <a:xfrm>
            <a:off x="6124357" y="1268730"/>
            <a:ext cx="1529375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Actual Size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4800728" y="1474470"/>
            <a:ext cx="1296197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4"/>
          <p:cNvSpPr/>
          <p:nvPr/>
        </p:nvSpPr>
        <p:spPr>
          <a:xfrm>
            <a:off x="4828161" y="1495044"/>
            <a:ext cx="1241331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0.5rem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34"/>
          <p:cNvSpPr/>
          <p:nvPr/>
        </p:nvSpPr>
        <p:spPr>
          <a:xfrm>
            <a:off x="6096925" y="1474470"/>
            <a:ext cx="1584240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4"/>
          <p:cNvSpPr/>
          <p:nvPr/>
        </p:nvSpPr>
        <p:spPr>
          <a:xfrm>
            <a:off x="6124357" y="1495044"/>
            <a:ext cx="1529375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8px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34"/>
          <p:cNvSpPr/>
          <p:nvPr/>
        </p:nvSpPr>
        <p:spPr>
          <a:xfrm>
            <a:off x="4800728" y="1700784"/>
            <a:ext cx="1296197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4"/>
          <p:cNvSpPr/>
          <p:nvPr/>
        </p:nvSpPr>
        <p:spPr>
          <a:xfrm>
            <a:off x="4828161" y="1721358"/>
            <a:ext cx="1241331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1rem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34"/>
          <p:cNvSpPr/>
          <p:nvPr/>
        </p:nvSpPr>
        <p:spPr>
          <a:xfrm>
            <a:off x="6096925" y="1700784"/>
            <a:ext cx="1584240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4"/>
          <p:cNvSpPr/>
          <p:nvPr/>
        </p:nvSpPr>
        <p:spPr>
          <a:xfrm>
            <a:off x="6124357" y="1721358"/>
            <a:ext cx="1529375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16px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34"/>
          <p:cNvSpPr/>
          <p:nvPr/>
        </p:nvSpPr>
        <p:spPr>
          <a:xfrm>
            <a:off x="4800728" y="1927098"/>
            <a:ext cx="1296197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4"/>
          <p:cNvSpPr/>
          <p:nvPr/>
        </p:nvSpPr>
        <p:spPr>
          <a:xfrm>
            <a:off x="4828161" y="1947672"/>
            <a:ext cx="1241331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2rem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34"/>
          <p:cNvSpPr/>
          <p:nvPr/>
        </p:nvSpPr>
        <p:spPr>
          <a:xfrm>
            <a:off x="6096925" y="1927098"/>
            <a:ext cx="1584240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4"/>
          <p:cNvSpPr/>
          <p:nvPr/>
        </p:nvSpPr>
        <p:spPr>
          <a:xfrm>
            <a:off x="6124357" y="1947672"/>
            <a:ext cx="1529375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32px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34"/>
          <p:cNvSpPr/>
          <p:nvPr/>
        </p:nvSpPr>
        <p:spPr>
          <a:xfrm>
            <a:off x="4800728" y="2153412"/>
            <a:ext cx="1296197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4"/>
          <p:cNvSpPr/>
          <p:nvPr/>
        </p:nvSpPr>
        <p:spPr>
          <a:xfrm>
            <a:off x="4828161" y="2173986"/>
            <a:ext cx="1241331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3rem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34"/>
          <p:cNvSpPr/>
          <p:nvPr/>
        </p:nvSpPr>
        <p:spPr>
          <a:xfrm>
            <a:off x="6096925" y="2153412"/>
            <a:ext cx="1584240" cy="22631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4"/>
          <p:cNvSpPr/>
          <p:nvPr/>
        </p:nvSpPr>
        <p:spPr>
          <a:xfrm>
            <a:off x="6124357" y="2173986"/>
            <a:ext cx="1529375" cy="185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48px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34"/>
          <p:cNvSpPr/>
          <p:nvPr/>
        </p:nvSpPr>
        <p:spPr>
          <a:xfrm>
            <a:off x="4800728" y="2866644"/>
            <a:ext cx="2949019" cy="106299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4"/>
          <p:cNvSpPr/>
          <p:nvPr/>
        </p:nvSpPr>
        <p:spPr>
          <a:xfrm>
            <a:off x="4855593" y="2900934"/>
            <a:ext cx="283928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34"/>
          <p:cNvSpPr/>
          <p:nvPr/>
        </p:nvSpPr>
        <p:spPr>
          <a:xfrm>
            <a:off x="4855593" y="3072384"/>
            <a:ext cx="2839288" cy="802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h2 {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2rem;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section {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padding: 2rem;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6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34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Example: Typography and Spacing with rem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35"/>
          <p:cNvSpPr/>
          <p:nvPr/>
        </p:nvSpPr>
        <p:spPr>
          <a:xfrm>
            <a:off x="514364" y="925830"/>
            <a:ext cx="3634837" cy="24003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5"/>
          <p:cNvSpPr/>
          <p:nvPr/>
        </p:nvSpPr>
        <p:spPr>
          <a:xfrm>
            <a:off x="569229" y="960120"/>
            <a:ext cx="352510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styles.css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35"/>
          <p:cNvSpPr/>
          <p:nvPr/>
        </p:nvSpPr>
        <p:spPr>
          <a:xfrm>
            <a:off x="569229" y="1131570"/>
            <a:ext cx="3525106" cy="2139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.course-card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padding: 2rem;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.course-card h2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2rem;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.course-card p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1rem;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35"/>
          <p:cNvSpPr/>
          <p:nvPr/>
        </p:nvSpPr>
        <p:spPr>
          <a:xfrm>
            <a:off x="4800728" y="925830"/>
            <a:ext cx="27432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Observe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35"/>
          <p:cNvSpPr/>
          <p:nvPr/>
        </p:nvSpPr>
        <p:spPr>
          <a:xfrm>
            <a:off x="4869298" y="1234450"/>
            <a:ext cx="3880200" cy="11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Increase the root font size.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Notice how the heading, paragraph, and spacing scale together.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Compare the same example using px values.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35"/>
          <p:cNvSpPr/>
          <p:nvPr/>
        </p:nvSpPr>
        <p:spPr>
          <a:xfrm>
            <a:off x="4835019" y="2674620"/>
            <a:ext cx="3086182" cy="960120"/>
          </a:xfrm>
          <a:prstGeom prst="roundRect">
            <a:avLst>
              <a:gd fmla="val 5714" name="adj"/>
            </a:avLst>
          </a:prstGeom>
          <a:solidFill>
            <a:srgbClr val="F6F8FB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5"/>
          <p:cNvSpPr/>
          <p:nvPr/>
        </p:nvSpPr>
        <p:spPr>
          <a:xfrm>
            <a:off x="4917317" y="2756916"/>
            <a:ext cx="2921586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Course information card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px values compared with rem values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35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6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Montserrat"/>
              <a:buNone/>
            </a:pPr>
            <a:r>
              <a:rPr b="1" lang="en" sz="2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rem for Scaling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36"/>
          <p:cNvSpPr/>
          <p:nvPr/>
        </p:nvSpPr>
        <p:spPr>
          <a:xfrm>
            <a:off x="445782" y="720090"/>
            <a:ext cx="7338256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product page should scale its typography consistently across the entire website. Which CSS is more appropriate?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36"/>
          <p:cNvSpPr/>
          <p:nvPr/>
        </p:nvSpPr>
        <p:spPr>
          <a:xfrm>
            <a:off x="445782" y="1371600"/>
            <a:ext cx="7269674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h2 { font-size: 32px; } section { padding: 32px;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h2 { font-size: 2rem; } section { padding: 2rem;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h2 { font-size: 2vh;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h2 { font-size: 20%;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36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36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Viewport Units (vw and vh)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37"/>
          <p:cNvSpPr/>
          <p:nvPr/>
        </p:nvSpPr>
        <p:spPr>
          <a:xfrm>
            <a:off x="4663564" y="685800"/>
            <a:ext cx="2949019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Montserrat"/>
              <a:buNone/>
            </a:pPr>
            <a:r>
              <a:rPr b="1" lang="en" sz="9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If the viewport width is 1200px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37"/>
          <p:cNvSpPr/>
          <p:nvPr/>
        </p:nvSpPr>
        <p:spPr>
          <a:xfrm>
            <a:off x="480075" y="685800"/>
            <a:ext cx="3840600" cy="3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are Viewport Units?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vw represents a percentage of the viewport width.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vh represents a percentage of the viewport height.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Common uses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Hero sections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Full-screen banners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Sections that should occupy a portion of the viewport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37"/>
          <p:cNvSpPr/>
          <p:nvPr/>
        </p:nvSpPr>
        <p:spPr>
          <a:xfrm>
            <a:off x="4663564" y="925830"/>
            <a:ext cx="1357920" cy="231458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7"/>
          <p:cNvSpPr/>
          <p:nvPr/>
        </p:nvSpPr>
        <p:spPr>
          <a:xfrm>
            <a:off x="4690997" y="946404"/>
            <a:ext cx="1303055" cy="190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Value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37"/>
          <p:cNvSpPr/>
          <p:nvPr/>
        </p:nvSpPr>
        <p:spPr>
          <a:xfrm>
            <a:off x="6021485" y="925830"/>
            <a:ext cx="1659680" cy="231458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7"/>
          <p:cNvSpPr/>
          <p:nvPr/>
        </p:nvSpPr>
        <p:spPr>
          <a:xfrm>
            <a:off x="6048917" y="946404"/>
            <a:ext cx="1604815" cy="190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Actual Width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37"/>
          <p:cNvSpPr/>
          <p:nvPr/>
        </p:nvSpPr>
        <p:spPr>
          <a:xfrm>
            <a:off x="4663564" y="1157288"/>
            <a:ext cx="135792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7"/>
          <p:cNvSpPr/>
          <p:nvPr/>
        </p:nvSpPr>
        <p:spPr>
          <a:xfrm>
            <a:off x="4690997" y="1177862"/>
            <a:ext cx="1303055" cy="190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1vw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37"/>
          <p:cNvSpPr/>
          <p:nvPr/>
        </p:nvSpPr>
        <p:spPr>
          <a:xfrm>
            <a:off x="6021485" y="1157288"/>
            <a:ext cx="165968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7"/>
          <p:cNvSpPr/>
          <p:nvPr/>
        </p:nvSpPr>
        <p:spPr>
          <a:xfrm>
            <a:off x="6048917" y="1177862"/>
            <a:ext cx="1604815" cy="190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12px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4663564" y="1388745"/>
            <a:ext cx="1357920" cy="23145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7"/>
          <p:cNvSpPr/>
          <p:nvPr/>
        </p:nvSpPr>
        <p:spPr>
          <a:xfrm>
            <a:off x="4690997" y="1409319"/>
            <a:ext cx="130305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50vw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37"/>
          <p:cNvSpPr/>
          <p:nvPr/>
        </p:nvSpPr>
        <p:spPr>
          <a:xfrm>
            <a:off x="6021485" y="1388745"/>
            <a:ext cx="1659680" cy="23145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7"/>
          <p:cNvSpPr/>
          <p:nvPr/>
        </p:nvSpPr>
        <p:spPr>
          <a:xfrm>
            <a:off x="6048917" y="1409319"/>
            <a:ext cx="160481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600px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37"/>
          <p:cNvSpPr/>
          <p:nvPr/>
        </p:nvSpPr>
        <p:spPr>
          <a:xfrm>
            <a:off x="4663564" y="1620203"/>
            <a:ext cx="135792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7"/>
          <p:cNvSpPr/>
          <p:nvPr/>
        </p:nvSpPr>
        <p:spPr>
          <a:xfrm>
            <a:off x="4690997" y="1640777"/>
            <a:ext cx="130305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100vw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37"/>
          <p:cNvSpPr/>
          <p:nvPr/>
        </p:nvSpPr>
        <p:spPr>
          <a:xfrm>
            <a:off x="6021485" y="1620203"/>
            <a:ext cx="165968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7"/>
          <p:cNvSpPr/>
          <p:nvPr/>
        </p:nvSpPr>
        <p:spPr>
          <a:xfrm>
            <a:off x="6048917" y="1640777"/>
            <a:ext cx="160481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1200px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7"/>
          <p:cNvSpPr/>
          <p:nvPr/>
        </p:nvSpPr>
        <p:spPr>
          <a:xfrm>
            <a:off x="4663564" y="2091690"/>
            <a:ext cx="308618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Montserrat"/>
              <a:buNone/>
            </a:pPr>
            <a:r>
              <a:rPr b="1" lang="en" sz="9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If the viewport height is 800px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37"/>
          <p:cNvSpPr/>
          <p:nvPr/>
        </p:nvSpPr>
        <p:spPr>
          <a:xfrm>
            <a:off x="4663564" y="2331720"/>
            <a:ext cx="1357920" cy="231458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7"/>
          <p:cNvSpPr/>
          <p:nvPr/>
        </p:nvSpPr>
        <p:spPr>
          <a:xfrm>
            <a:off x="4690997" y="2352294"/>
            <a:ext cx="130305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Value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6021485" y="2331720"/>
            <a:ext cx="1659680" cy="231458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7"/>
          <p:cNvSpPr/>
          <p:nvPr/>
        </p:nvSpPr>
        <p:spPr>
          <a:xfrm>
            <a:off x="6048917" y="2352294"/>
            <a:ext cx="160481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Actual Height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37"/>
          <p:cNvSpPr/>
          <p:nvPr/>
        </p:nvSpPr>
        <p:spPr>
          <a:xfrm>
            <a:off x="4663564" y="2563177"/>
            <a:ext cx="135792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7"/>
          <p:cNvSpPr/>
          <p:nvPr/>
        </p:nvSpPr>
        <p:spPr>
          <a:xfrm>
            <a:off x="4690997" y="2583752"/>
            <a:ext cx="130305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1vh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37"/>
          <p:cNvSpPr/>
          <p:nvPr/>
        </p:nvSpPr>
        <p:spPr>
          <a:xfrm>
            <a:off x="6021485" y="2563177"/>
            <a:ext cx="165968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/>
          <p:nvPr/>
        </p:nvSpPr>
        <p:spPr>
          <a:xfrm>
            <a:off x="6048917" y="2583752"/>
            <a:ext cx="160481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8px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37"/>
          <p:cNvSpPr/>
          <p:nvPr/>
        </p:nvSpPr>
        <p:spPr>
          <a:xfrm>
            <a:off x="4663564" y="2794635"/>
            <a:ext cx="135792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7"/>
          <p:cNvSpPr/>
          <p:nvPr/>
        </p:nvSpPr>
        <p:spPr>
          <a:xfrm>
            <a:off x="4690997" y="2815209"/>
            <a:ext cx="130305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50vh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37"/>
          <p:cNvSpPr/>
          <p:nvPr/>
        </p:nvSpPr>
        <p:spPr>
          <a:xfrm>
            <a:off x="6021485" y="2794635"/>
            <a:ext cx="165968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7"/>
          <p:cNvSpPr/>
          <p:nvPr/>
        </p:nvSpPr>
        <p:spPr>
          <a:xfrm>
            <a:off x="6048917" y="2815209"/>
            <a:ext cx="160481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400px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37"/>
          <p:cNvSpPr/>
          <p:nvPr/>
        </p:nvSpPr>
        <p:spPr>
          <a:xfrm>
            <a:off x="4663564" y="3026093"/>
            <a:ext cx="135792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7"/>
          <p:cNvSpPr/>
          <p:nvPr/>
        </p:nvSpPr>
        <p:spPr>
          <a:xfrm>
            <a:off x="4690997" y="3046667"/>
            <a:ext cx="130305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100vh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7"/>
          <p:cNvSpPr/>
          <p:nvPr/>
        </p:nvSpPr>
        <p:spPr>
          <a:xfrm>
            <a:off x="6021485" y="3026093"/>
            <a:ext cx="165968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7"/>
          <p:cNvSpPr/>
          <p:nvPr/>
        </p:nvSpPr>
        <p:spPr>
          <a:xfrm>
            <a:off x="6048917" y="3046667"/>
            <a:ext cx="160481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800px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37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8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Example: Hero Section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38"/>
          <p:cNvSpPr/>
          <p:nvPr/>
        </p:nvSpPr>
        <p:spPr>
          <a:xfrm>
            <a:off x="514364" y="857250"/>
            <a:ext cx="3566255" cy="92583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8"/>
          <p:cNvSpPr/>
          <p:nvPr/>
        </p:nvSpPr>
        <p:spPr>
          <a:xfrm>
            <a:off x="569229" y="891540"/>
            <a:ext cx="345652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styles.css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8"/>
          <p:cNvSpPr/>
          <p:nvPr/>
        </p:nvSpPr>
        <p:spPr>
          <a:xfrm>
            <a:off x="569229" y="1062990"/>
            <a:ext cx="3456524" cy="66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.hero {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width: 100vw;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min-height: 60vh;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8"/>
          <p:cNvSpPr/>
          <p:nvPr/>
        </p:nvSpPr>
        <p:spPr>
          <a:xfrm>
            <a:off x="514364" y="2057400"/>
            <a:ext cx="2606109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Important note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38"/>
          <p:cNvSpPr/>
          <p:nvPr/>
        </p:nvSpPr>
        <p:spPr>
          <a:xfrm>
            <a:off x="582950" y="2317999"/>
            <a:ext cx="38406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100vw and 100% are not always identical.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100vw is based on the viewport width.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100% is based on the width of the parent element.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Choose the unit based on what the element should respond to.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38"/>
          <p:cNvSpPr/>
          <p:nvPr/>
        </p:nvSpPr>
        <p:spPr>
          <a:xfrm>
            <a:off x="4869310" y="857250"/>
            <a:ext cx="3086182" cy="1577340"/>
          </a:xfrm>
          <a:prstGeom prst="roundRect">
            <a:avLst>
              <a:gd fmla="val 3478" name="adj"/>
            </a:avLst>
          </a:prstGeom>
          <a:solidFill>
            <a:srgbClr val="F6F8FB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8"/>
          <p:cNvSpPr/>
          <p:nvPr/>
        </p:nvSpPr>
        <p:spPr>
          <a:xfrm>
            <a:off x="4951608" y="939546"/>
            <a:ext cx="2921586" cy="1412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Viewport diagram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Width and height measured from visible browser area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8"/>
          <p:cNvSpPr/>
          <p:nvPr/>
        </p:nvSpPr>
        <p:spPr>
          <a:xfrm>
            <a:off x="4869310" y="2743200"/>
            <a:ext cx="2057455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Observe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38"/>
          <p:cNvSpPr/>
          <p:nvPr/>
        </p:nvSpPr>
        <p:spPr>
          <a:xfrm>
            <a:off x="4937892" y="2983230"/>
            <a:ext cx="30176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Resize the browser width.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Resize the browser height.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Observe how the hero section responds.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38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Montserrat"/>
              <a:buNone/>
            </a:pPr>
            <a:r>
              <a:rPr b="1" lang="en" sz="2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Viewport Height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9"/>
          <p:cNvSpPr/>
          <p:nvPr/>
        </p:nvSpPr>
        <p:spPr>
          <a:xfrm>
            <a:off x="445782" y="720090"/>
            <a:ext cx="7338256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travel website wants its hero banner to occupy 60% of the visible browser height. Which unit should be used?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39"/>
          <p:cNvSpPr/>
          <p:nvPr/>
        </p:nvSpPr>
        <p:spPr>
          <a:xfrm>
            <a:off x="445782" y="1371600"/>
            <a:ext cx="7269674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%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vh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rem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px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39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9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0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Element-relative Units (em)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40"/>
          <p:cNvSpPr/>
          <p:nvPr/>
        </p:nvSpPr>
        <p:spPr>
          <a:xfrm>
            <a:off x="480075" y="685800"/>
            <a:ext cx="3840600" cy="28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is em?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em is relative to the current element's font size.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Why use em?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Useful for component-level sizing.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Allows spacing to grow together with text.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40"/>
          <p:cNvSpPr/>
          <p:nvPr/>
        </p:nvSpPr>
        <p:spPr>
          <a:xfrm>
            <a:off x="4800728" y="720090"/>
            <a:ext cx="27432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unit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40"/>
          <p:cNvSpPr/>
          <p:nvPr/>
        </p:nvSpPr>
        <p:spPr>
          <a:xfrm>
            <a:off x="4800728" y="973836"/>
            <a:ext cx="3017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 sz="9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If the current font size is 20px: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40"/>
          <p:cNvSpPr/>
          <p:nvPr/>
        </p:nvSpPr>
        <p:spPr>
          <a:xfrm>
            <a:off x="4800728" y="1248156"/>
            <a:ext cx="1296197" cy="231458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0"/>
          <p:cNvSpPr/>
          <p:nvPr/>
        </p:nvSpPr>
        <p:spPr>
          <a:xfrm>
            <a:off x="4828161" y="1268730"/>
            <a:ext cx="1241331" cy="190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Value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40"/>
          <p:cNvSpPr/>
          <p:nvPr/>
        </p:nvSpPr>
        <p:spPr>
          <a:xfrm>
            <a:off x="6096925" y="1248156"/>
            <a:ext cx="1584240" cy="231458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0"/>
          <p:cNvSpPr/>
          <p:nvPr/>
        </p:nvSpPr>
        <p:spPr>
          <a:xfrm>
            <a:off x="6124357" y="1268730"/>
            <a:ext cx="1529375" cy="190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Actual Size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40"/>
          <p:cNvSpPr/>
          <p:nvPr/>
        </p:nvSpPr>
        <p:spPr>
          <a:xfrm>
            <a:off x="4800728" y="1479614"/>
            <a:ext cx="1296197" cy="23145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0"/>
          <p:cNvSpPr/>
          <p:nvPr/>
        </p:nvSpPr>
        <p:spPr>
          <a:xfrm>
            <a:off x="4828161" y="1500188"/>
            <a:ext cx="1241331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0.5em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p40"/>
          <p:cNvSpPr/>
          <p:nvPr/>
        </p:nvSpPr>
        <p:spPr>
          <a:xfrm>
            <a:off x="6096925" y="1479614"/>
            <a:ext cx="1584240" cy="231457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0"/>
          <p:cNvSpPr/>
          <p:nvPr/>
        </p:nvSpPr>
        <p:spPr>
          <a:xfrm>
            <a:off x="6124357" y="1500188"/>
            <a:ext cx="152937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40"/>
          <p:cNvSpPr/>
          <p:nvPr/>
        </p:nvSpPr>
        <p:spPr>
          <a:xfrm>
            <a:off x="4800728" y="1711071"/>
            <a:ext cx="1296197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0"/>
          <p:cNvSpPr/>
          <p:nvPr/>
        </p:nvSpPr>
        <p:spPr>
          <a:xfrm>
            <a:off x="4828161" y="1731645"/>
            <a:ext cx="1241331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1em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40"/>
          <p:cNvSpPr/>
          <p:nvPr/>
        </p:nvSpPr>
        <p:spPr>
          <a:xfrm>
            <a:off x="6096925" y="1711071"/>
            <a:ext cx="158424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0"/>
          <p:cNvSpPr/>
          <p:nvPr/>
        </p:nvSpPr>
        <p:spPr>
          <a:xfrm>
            <a:off x="6124357" y="1731645"/>
            <a:ext cx="152937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20px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40"/>
          <p:cNvSpPr/>
          <p:nvPr/>
        </p:nvSpPr>
        <p:spPr>
          <a:xfrm>
            <a:off x="4800728" y="1942528"/>
            <a:ext cx="1296197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0"/>
          <p:cNvSpPr/>
          <p:nvPr/>
        </p:nvSpPr>
        <p:spPr>
          <a:xfrm>
            <a:off x="4828161" y="1963103"/>
            <a:ext cx="1241331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2em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40"/>
          <p:cNvSpPr/>
          <p:nvPr/>
        </p:nvSpPr>
        <p:spPr>
          <a:xfrm>
            <a:off x="6096925" y="1942528"/>
            <a:ext cx="1584240" cy="23145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0"/>
          <p:cNvSpPr/>
          <p:nvPr/>
        </p:nvSpPr>
        <p:spPr>
          <a:xfrm>
            <a:off x="6124357" y="1963103"/>
            <a:ext cx="1529375" cy="190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40px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40"/>
          <p:cNvSpPr/>
          <p:nvPr/>
        </p:nvSpPr>
        <p:spPr>
          <a:xfrm>
            <a:off x="4800728" y="2743200"/>
            <a:ext cx="2949019" cy="8229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0"/>
          <p:cNvSpPr/>
          <p:nvPr/>
        </p:nvSpPr>
        <p:spPr>
          <a:xfrm>
            <a:off x="4855593" y="2777490"/>
            <a:ext cx="283928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4855593" y="2948940"/>
            <a:ext cx="2839288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button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20px;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padding: 0.5em 1em;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40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1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Example: Button Component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41"/>
          <p:cNvSpPr/>
          <p:nvPr/>
        </p:nvSpPr>
        <p:spPr>
          <a:xfrm>
            <a:off x="514364" y="857250"/>
            <a:ext cx="3497673" cy="8229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41"/>
          <p:cNvSpPr/>
          <p:nvPr/>
        </p:nvSpPr>
        <p:spPr>
          <a:xfrm>
            <a:off x="569229" y="891540"/>
            <a:ext cx="3387942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styles.css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41"/>
          <p:cNvSpPr/>
          <p:nvPr/>
        </p:nvSpPr>
        <p:spPr>
          <a:xfrm>
            <a:off x="569229" y="1062990"/>
            <a:ext cx="3387942" cy="56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button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20px;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padding: 0.5em 1em;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41"/>
          <p:cNvSpPr/>
          <p:nvPr/>
        </p:nvSpPr>
        <p:spPr>
          <a:xfrm>
            <a:off x="514364" y="1988820"/>
            <a:ext cx="2057455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Observe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41"/>
          <p:cNvSpPr/>
          <p:nvPr/>
        </p:nvSpPr>
        <p:spPr>
          <a:xfrm>
            <a:off x="582946" y="2249424"/>
            <a:ext cx="356625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Increase the button font size.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Observe how the padding increases automatically.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41"/>
          <p:cNvSpPr/>
          <p:nvPr/>
        </p:nvSpPr>
        <p:spPr>
          <a:xfrm>
            <a:off x="4800728" y="857250"/>
            <a:ext cx="3154764" cy="12344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1"/>
          <p:cNvSpPr/>
          <p:nvPr/>
        </p:nvSpPr>
        <p:spPr>
          <a:xfrm>
            <a:off x="4855593" y="891540"/>
            <a:ext cx="3045033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Parent-child Example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41"/>
          <p:cNvSpPr/>
          <p:nvPr/>
        </p:nvSpPr>
        <p:spPr>
          <a:xfrm>
            <a:off x="4855593" y="1062990"/>
            <a:ext cx="3045033" cy="97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.card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20px;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.card p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1.2em;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41"/>
          <p:cNvSpPr/>
          <p:nvPr/>
        </p:nvSpPr>
        <p:spPr>
          <a:xfrm>
            <a:off x="4800728" y="2400300"/>
            <a:ext cx="2057455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Important note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41"/>
          <p:cNvSpPr/>
          <p:nvPr/>
        </p:nvSpPr>
        <p:spPr>
          <a:xfrm>
            <a:off x="4869299" y="2674625"/>
            <a:ext cx="3566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paragraph size changes relative to its parent.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Nested em values can compound.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em thoughtfully when nesting elements.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41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2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Montserrat"/>
              <a:buNone/>
            </a:pPr>
            <a:r>
              <a:rPr b="1" lang="en" sz="2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em-based Spacing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42"/>
          <p:cNvSpPr/>
          <p:nvPr/>
        </p:nvSpPr>
        <p:spPr>
          <a:xfrm>
            <a:off x="445782" y="720090"/>
            <a:ext cx="7338256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shopping website increases a button font size from 20px to 30px. The padding is defined using em. What happens to the padding?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42"/>
          <p:cNvSpPr/>
          <p:nvPr/>
        </p:nvSpPr>
        <p:spPr>
          <a:xfrm>
            <a:off x="445782" y="1371600"/>
            <a:ext cx="7269674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It becomes smaller.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It remains unchanged.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It increases proportionally.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It becomes zero.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42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C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42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3"/>
          <p:cNvSpPr/>
          <p:nvPr/>
        </p:nvSpPr>
        <p:spPr>
          <a:xfrm>
            <a:off x="548655" y="205740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Media Queries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43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4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Flexible Elements Are Not Always Enough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44"/>
          <p:cNvSpPr/>
          <p:nvPr/>
        </p:nvSpPr>
        <p:spPr>
          <a:xfrm>
            <a:off x="480073" y="720090"/>
            <a:ext cx="3429091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What have we improved so far?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44"/>
          <p:cNvSpPr/>
          <p:nvPr/>
        </p:nvSpPr>
        <p:spPr>
          <a:xfrm>
            <a:off x="548655" y="973836"/>
            <a:ext cx="384058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Flexible widths using %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Scalable typography and spacing using rem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Viewport-based sizing using vw and vh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Component-level scaling using em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44"/>
          <p:cNvSpPr/>
          <p:nvPr/>
        </p:nvSpPr>
        <p:spPr>
          <a:xfrm>
            <a:off x="480073" y="2125980"/>
            <a:ext cx="27432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The remaining problem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44"/>
          <p:cNvSpPr/>
          <p:nvPr/>
        </p:nvSpPr>
        <p:spPr>
          <a:xfrm>
            <a:off x="548655" y="2372868"/>
            <a:ext cx="3977746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Flexible elements can resize.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However, some layouts need to change their structure at smaller viewport widths.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horizontal navigation bar may become crowded on a mobile viewport.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44"/>
          <p:cNvSpPr/>
          <p:nvPr/>
        </p:nvSpPr>
        <p:spPr>
          <a:xfrm>
            <a:off x="514377" y="3703325"/>
            <a:ext cx="6112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Question: How can CSS apply a different layout when the viewport becomes narrower?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44"/>
          <p:cNvSpPr/>
          <p:nvPr/>
        </p:nvSpPr>
        <p:spPr>
          <a:xfrm>
            <a:off x="4835019" y="1165860"/>
            <a:ext cx="3223346" cy="1577340"/>
          </a:xfrm>
          <a:prstGeom prst="roundRect">
            <a:avLst>
              <a:gd fmla="val 3478" name="adj"/>
            </a:avLst>
          </a:prstGeom>
          <a:solidFill>
            <a:srgbClr val="F6F8FB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4"/>
          <p:cNvSpPr/>
          <p:nvPr/>
        </p:nvSpPr>
        <p:spPr>
          <a:xfrm>
            <a:off x="4917317" y="1248156"/>
            <a:ext cx="3058750" cy="1412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Course Landing Page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Navigation becomes crowded during resize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44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5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Applying CSS Conditionally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45"/>
          <p:cNvSpPr/>
          <p:nvPr/>
        </p:nvSpPr>
        <p:spPr>
          <a:xfrm>
            <a:off x="5608944" y="2115325"/>
            <a:ext cx="3086100" cy="8574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5"/>
          <p:cNvSpPr/>
          <p:nvPr/>
        </p:nvSpPr>
        <p:spPr>
          <a:xfrm>
            <a:off x="480075" y="720102"/>
            <a:ext cx="4252200" cy="3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is a Media Query?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Media Query allows CSS rules to be applied only when a specified condition is true.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It helps a webpage adapt its presentation to different viewport sizes.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How does it work?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browser evaluates the condition.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If the condition is true, the CSS rules inside the Media Query are applied.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If the condition is false, the CSS rules inside the Media Query are ignored.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45"/>
          <p:cNvSpPr/>
          <p:nvPr/>
        </p:nvSpPr>
        <p:spPr>
          <a:xfrm>
            <a:off x="5663809" y="2149615"/>
            <a:ext cx="29766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General Structure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45"/>
          <p:cNvSpPr/>
          <p:nvPr/>
        </p:nvSpPr>
        <p:spPr>
          <a:xfrm>
            <a:off x="5663809" y="2321065"/>
            <a:ext cx="2976600" cy="5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(condition)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/* CSS rules */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45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the Condition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46"/>
          <p:cNvSpPr/>
          <p:nvPr/>
        </p:nvSpPr>
        <p:spPr>
          <a:xfrm>
            <a:off x="4835019" y="857250"/>
            <a:ext cx="3291928" cy="92583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6"/>
          <p:cNvSpPr/>
          <p:nvPr/>
        </p:nvSpPr>
        <p:spPr>
          <a:xfrm>
            <a:off x="480073" y="720090"/>
            <a:ext cx="4046328" cy="212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is a Media Query condition?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condition tells the browser when the CSS rules should be applied.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Example condition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max-width: 600px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Meaning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Apply the styles when the viewport width is 600px or smaller.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4889884" y="891540"/>
            <a:ext cx="318219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Complete Media Query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46"/>
          <p:cNvSpPr/>
          <p:nvPr/>
        </p:nvSpPr>
        <p:spPr>
          <a:xfrm>
            <a:off x="4889884" y="1062990"/>
            <a:ext cx="3182197" cy="665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(max-width: 600px)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/* CSS rules for smaller viewports */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46"/>
          <p:cNvSpPr/>
          <p:nvPr/>
        </p:nvSpPr>
        <p:spPr>
          <a:xfrm>
            <a:off x="4835019" y="2091690"/>
            <a:ext cx="2057455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Breakdown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46"/>
          <p:cNvSpPr/>
          <p:nvPr/>
        </p:nvSpPr>
        <p:spPr>
          <a:xfrm>
            <a:off x="4903600" y="2345425"/>
            <a:ext cx="37641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@media begins the Media Query.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(max-width: 600px) defines the condition.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{ } contains the CSS rules applied when the condition is true.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46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7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Example: Responsive Navigation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47"/>
          <p:cNvSpPr/>
          <p:nvPr/>
        </p:nvSpPr>
        <p:spPr>
          <a:xfrm>
            <a:off x="445782" y="857250"/>
            <a:ext cx="3806291" cy="123444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7"/>
          <p:cNvSpPr/>
          <p:nvPr/>
        </p:nvSpPr>
        <p:spPr>
          <a:xfrm>
            <a:off x="500647" y="891540"/>
            <a:ext cx="369656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HTML Snippet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47"/>
          <p:cNvSpPr/>
          <p:nvPr/>
        </p:nvSpPr>
        <p:spPr>
          <a:xfrm>
            <a:off x="500647" y="1062990"/>
            <a:ext cx="3696561" cy="973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&lt;nav class="course-nav"&gt;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&lt;a href="#"&gt;Home&lt;/a&gt;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&lt;a href="#"&gt;Curriculum&lt;/a&gt;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&lt;a href="#"&gt;Instructor&lt;/a&gt;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&lt;a href="#"&gt;Enroll&lt;/a&gt;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&lt;/nav&gt;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p47"/>
          <p:cNvSpPr/>
          <p:nvPr/>
        </p:nvSpPr>
        <p:spPr>
          <a:xfrm>
            <a:off x="445782" y="2366010"/>
            <a:ext cx="3806291" cy="85725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7"/>
          <p:cNvSpPr/>
          <p:nvPr/>
        </p:nvSpPr>
        <p:spPr>
          <a:xfrm>
            <a:off x="500647" y="2400300"/>
            <a:ext cx="369656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Default 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500647" y="2571750"/>
            <a:ext cx="3696561" cy="5966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.course-nav a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display: inline;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margin-right: 16px;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47"/>
          <p:cNvSpPr/>
          <p:nvPr/>
        </p:nvSpPr>
        <p:spPr>
          <a:xfrm>
            <a:off x="4594982" y="857250"/>
            <a:ext cx="3566255" cy="13716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7"/>
          <p:cNvSpPr/>
          <p:nvPr/>
        </p:nvSpPr>
        <p:spPr>
          <a:xfrm>
            <a:off x="4649848" y="891540"/>
            <a:ext cx="345652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CSS for Smaller Viewports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47"/>
          <p:cNvSpPr/>
          <p:nvPr/>
        </p:nvSpPr>
        <p:spPr>
          <a:xfrm>
            <a:off x="4649848" y="1062990"/>
            <a:ext cx="3456524" cy="1110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(max-width: 600px)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.course-nav a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display: block;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margin-bottom: 12px;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4594982" y="2537460"/>
            <a:ext cx="24003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47"/>
          <p:cNvSpPr/>
          <p:nvPr/>
        </p:nvSpPr>
        <p:spPr>
          <a:xfrm>
            <a:off x="4663575" y="2777500"/>
            <a:ext cx="3963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Above 600px, the navigation links remain on the same line when space is available.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At 600px or smaller, each navigation link begins on a new line.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p47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8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Breakpoints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48"/>
          <p:cNvSpPr/>
          <p:nvPr/>
        </p:nvSpPr>
        <p:spPr>
          <a:xfrm>
            <a:off x="4835019" y="925830"/>
            <a:ext cx="3223346" cy="11658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8"/>
          <p:cNvSpPr/>
          <p:nvPr/>
        </p:nvSpPr>
        <p:spPr>
          <a:xfrm>
            <a:off x="480075" y="685800"/>
            <a:ext cx="42522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is a Breakpoint?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Breakpoint is a viewport width at which a webpage changes its presentation.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It is commonly used inside a Media Query condition.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How are Breakpoints chosen?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Breakpoints are often selected around common viewport categories.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exact value should also depend on where the content begins to feel crowded or difficult to use.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48"/>
          <p:cNvSpPr/>
          <p:nvPr/>
        </p:nvSpPr>
        <p:spPr>
          <a:xfrm>
            <a:off x="4889884" y="960120"/>
            <a:ext cx="3113615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48"/>
          <p:cNvSpPr/>
          <p:nvPr/>
        </p:nvSpPr>
        <p:spPr>
          <a:xfrm>
            <a:off x="4889884" y="1131570"/>
            <a:ext cx="3113615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(max-width: 600px)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nav a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display: block;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48"/>
          <p:cNvSpPr/>
          <p:nvPr/>
        </p:nvSpPr>
        <p:spPr>
          <a:xfrm>
            <a:off x="4835019" y="2366010"/>
            <a:ext cx="32233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 sz="9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In this example, 600px is the Breakpoint.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48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9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Common Breakpoint Ranges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49"/>
          <p:cNvSpPr/>
          <p:nvPr/>
        </p:nvSpPr>
        <p:spPr>
          <a:xfrm>
            <a:off x="651527" y="857250"/>
            <a:ext cx="2126037" cy="288036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9"/>
          <p:cNvSpPr/>
          <p:nvPr/>
        </p:nvSpPr>
        <p:spPr>
          <a:xfrm>
            <a:off x="678960" y="877824"/>
            <a:ext cx="207117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Viewport Category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49"/>
          <p:cNvSpPr/>
          <p:nvPr/>
        </p:nvSpPr>
        <p:spPr>
          <a:xfrm>
            <a:off x="2777564" y="857250"/>
            <a:ext cx="2126037" cy="288036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49"/>
          <p:cNvSpPr/>
          <p:nvPr/>
        </p:nvSpPr>
        <p:spPr>
          <a:xfrm>
            <a:off x="2804997" y="877824"/>
            <a:ext cx="207117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b="1"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Typical Width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49"/>
          <p:cNvSpPr/>
          <p:nvPr/>
        </p:nvSpPr>
        <p:spPr>
          <a:xfrm>
            <a:off x="651527" y="1145286"/>
            <a:ext cx="2126037" cy="2880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9"/>
          <p:cNvSpPr/>
          <p:nvPr/>
        </p:nvSpPr>
        <p:spPr>
          <a:xfrm>
            <a:off x="678960" y="1165860"/>
            <a:ext cx="207117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Mobile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49"/>
          <p:cNvSpPr/>
          <p:nvPr/>
        </p:nvSpPr>
        <p:spPr>
          <a:xfrm>
            <a:off x="2777564" y="1145286"/>
            <a:ext cx="2126037" cy="2880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9"/>
          <p:cNvSpPr/>
          <p:nvPr/>
        </p:nvSpPr>
        <p:spPr>
          <a:xfrm>
            <a:off x="2804997" y="1165860"/>
            <a:ext cx="207117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320px to 480px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49"/>
          <p:cNvSpPr/>
          <p:nvPr/>
        </p:nvSpPr>
        <p:spPr>
          <a:xfrm>
            <a:off x="651527" y="1433322"/>
            <a:ext cx="2126037" cy="2880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9"/>
          <p:cNvSpPr/>
          <p:nvPr/>
        </p:nvSpPr>
        <p:spPr>
          <a:xfrm>
            <a:off x="678960" y="1453896"/>
            <a:ext cx="207117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Tablet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49"/>
          <p:cNvSpPr/>
          <p:nvPr/>
        </p:nvSpPr>
        <p:spPr>
          <a:xfrm>
            <a:off x="2777564" y="1433322"/>
            <a:ext cx="2126037" cy="2880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9"/>
          <p:cNvSpPr/>
          <p:nvPr/>
        </p:nvSpPr>
        <p:spPr>
          <a:xfrm>
            <a:off x="2804997" y="1453896"/>
            <a:ext cx="207117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768px to 1023px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49"/>
          <p:cNvSpPr/>
          <p:nvPr/>
        </p:nvSpPr>
        <p:spPr>
          <a:xfrm>
            <a:off x="651527" y="1721358"/>
            <a:ext cx="2126037" cy="2880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9"/>
          <p:cNvSpPr/>
          <p:nvPr/>
        </p:nvSpPr>
        <p:spPr>
          <a:xfrm>
            <a:off x="678960" y="1741932"/>
            <a:ext cx="207117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Laptop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p49"/>
          <p:cNvSpPr/>
          <p:nvPr/>
        </p:nvSpPr>
        <p:spPr>
          <a:xfrm>
            <a:off x="2777564" y="1721358"/>
            <a:ext cx="2126037" cy="2880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9"/>
          <p:cNvSpPr/>
          <p:nvPr/>
        </p:nvSpPr>
        <p:spPr>
          <a:xfrm>
            <a:off x="2804997" y="1741932"/>
            <a:ext cx="207117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1024px to 1279px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49"/>
          <p:cNvSpPr/>
          <p:nvPr/>
        </p:nvSpPr>
        <p:spPr>
          <a:xfrm>
            <a:off x="651527" y="2009394"/>
            <a:ext cx="2126037" cy="2880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9"/>
          <p:cNvSpPr/>
          <p:nvPr/>
        </p:nvSpPr>
        <p:spPr>
          <a:xfrm>
            <a:off x="678960" y="2029968"/>
            <a:ext cx="207117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Desktop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49"/>
          <p:cNvSpPr/>
          <p:nvPr/>
        </p:nvSpPr>
        <p:spPr>
          <a:xfrm>
            <a:off x="2777564" y="2009394"/>
            <a:ext cx="2126037" cy="2880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9CE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49"/>
          <p:cNvSpPr/>
          <p:nvPr/>
        </p:nvSpPr>
        <p:spPr>
          <a:xfrm>
            <a:off x="2804997" y="2029968"/>
            <a:ext cx="207117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Montserrat"/>
              <a:buNone/>
            </a:pPr>
            <a:r>
              <a:rPr lang="en" sz="8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1280px and above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49"/>
          <p:cNvSpPr/>
          <p:nvPr/>
        </p:nvSpPr>
        <p:spPr>
          <a:xfrm>
            <a:off x="651527" y="2571750"/>
            <a:ext cx="24003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Important Note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49"/>
          <p:cNvSpPr/>
          <p:nvPr/>
        </p:nvSpPr>
        <p:spPr>
          <a:xfrm>
            <a:off x="720100" y="2825502"/>
            <a:ext cx="43893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These values are general guidelines.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Breakpoint should be added when the content or layout requires a change.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Developers should not depend only on specific device models.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49"/>
          <p:cNvSpPr/>
          <p:nvPr/>
        </p:nvSpPr>
        <p:spPr>
          <a:xfrm>
            <a:off x="5280801" y="1165860"/>
            <a:ext cx="2880437" cy="1645920"/>
          </a:xfrm>
          <a:prstGeom prst="roundRect">
            <a:avLst>
              <a:gd fmla="val 3333" name="adj"/>
            </a:avLst>
          </a:prstGeom>
          <a:solidFill>
            <a:srgbClr val="F6F8FB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9"/>
          <p:cNvSpPr/>
          <p:nvPr/>
        </p:nvSpPr>
        <p:spPr>
          <a:xfrm>
            <a:off x="5363099" y="1248156"/>
            <a:ext cx="2715840" cy="1481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Viewport width changes gradually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Layout changes at selected Breakpoints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0" name="Google Shape;580;p49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0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Responsive Websites in Practice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50"/>
          <p:cNvSpPr/>
          <p:nvPr/>
        </p:nvSpPr>
        <p:spPr>
          <a:xfrm>
            <a:off x="480073" y="720090"/>
            <a:ext cx="3429091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Observe a responsive website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50"/>
          <p:cNvSpPr/>
          <p:nvPr/>
        </p:nvSpPr>
        <p:spPr>
          <a:xfrm>
            <a:off x="582946" y="1268730"/>
            <a:ext cx="3772001" cy="21259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changes?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Navigation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Images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Typography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Spacing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Section widths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remains the same?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●"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At which viewport width does the layout change?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50"/>
          <p:cNvSpPr/>
          <p:nvPr/>
        </p:nvSpPr>
        <p:spPr>
          <a:xfrm>
            <a:off x="514364" y="994410"/>
            <a:ext cx="3429091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Resize the browser and notice: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50"/>
          <p:cNvSpPr/>
          <p:nvPr/>
        </p:nvSpPr>
        <p:spPr>
          <a:xfrm>
            <a:off x="4800728" y="822960"/>
            <a:ext cx="2743273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Suggested Websites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50"/>
          <p:cNvSpPr/>
          <p:nvPr/>
        </p:nvSpPr>
        <p:spPr>
          <a:xfrm>
            <a:off x="4869310" y="1097280"/>
            <a:ext cx="2743273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MDN Web Docs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BBC News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50"/>
          <p:cNvSpPr/>
          <p:nvPr/>
        </p:nvSpPr>
        <p:spPr>
          <a:xfrm>
            <a:off x="4835019" y="2263140"/>
            <a:ext cx="3017600" cy="1028700"/>
          </a:xfrm>
          <a:prstGeom prst="roundRect">
            <a:avLst>
              <a:gd fmla="val 5333" name="adj"/>
            </a:avLst>
          </a:prstGeom>
          <a:solidFill>
            <a:srgbClr val="F6F8FB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50"/>
          <p:cNvSpPr/>
          <p:nvPr/>
        </p:nvSpPr>
        <p:spPr>
          <a:xfrm>
            <a:off x="4917317" y="2345436"/>
            <a:ext cx="2853004" cy="864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Live browser resize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&amp; observations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50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1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Montserrat"/>
              <a:buNone/>
            </a:pPr>
            <a:r>
              <a:rPr b="1" lang="en" sz="2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Choose the Correct Media Query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p51"/>
          <p:cNvSpPr/>
          <p:nvPr/>
        </p:nvSpPr>
        <p:spPr>
          <a:xfrm>
            <a:off x="445782" y="720090"/>
            <a:ext cx="7338256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An online bookstore wants its category links to appear on separate lines when the viewport is 768px or smaller. Which Media Query should be used?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51"/>
          <p:cNvSpPr/>
          <p:nvPr/>
        </p:nvSpPr>
        <p:spPr>
          <a:xfrm>
            <a:off x="445782" y="1371600"/>
            <a:ext cx="7269674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@media (max-width: 768px) { .category-link { display: block; }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@media (min-width: 768px) { .category-link { display: block; }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@media (width: 768px) { .category-link { display: block; }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@media (screen-width: 768px) { .category-link { display: block; }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51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A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4" name="Google Shape;604;p51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2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Montserrat"/>
              <a:buNone/>
            </a:pPr>
            <a:r>
              <a:rPr b="1" lang="en" sz="2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Predict the Result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52"/>
          <p:cNvSpPr/>
          <p:nvPr/>
        </p:nvSpPr>
        <p:spPr>
          <a:xfrm>
            <a:off x="445782" y="720090"/>
            <a:ext cx="3909164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Consider the following CSS. What happens when the viewport width becomes 500px or smaller?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52"/>
          <p:cNvSpPr/>
          <p:nvPr/>
        </p:nvSpPr>
        <p:spPr>
          <a:xfrm>
            <a:off x="445775" y="1578425"/>
            <a:ext cx="3840600" cy="24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The notice becomes smaller.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The notice becomes larger.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The notice is hidden.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The Media Query is ignored.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52"/>
          <p:cNvSpPr/>
          <p:nvPr/>
        </p:nvSpPr>
        <p:spPr>
          <a:xfrm>
            <a:off x="4800725" y="788675"/>
            <a:ext cx="3634800" cy="15336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52"/>
          <p:cNvSpPr/>
          <p:nvPr/>
        </p:nvSpPr>
        <p:spPr>
          <a:xfrm>
            <a:off x="4855593" y="822960"/>
            <a:ext cx="352510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styles.css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52"/>
          <p:cNvSpPr/>
          <p:nvPr/>
        </p:nvSpPr>
        <p:spPr>
          <a:xfrm>
            <a:off x="4855593" y="994410"/>
            <a:ext cx="3525106" cy="117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.notice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1rem;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(max-width: 500px)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.notice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1.25rem;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6" name="Google Shape;616;p52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52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3"/>
          <p:cNvSpPr/>
          <p:nvPr/>
        </p:nvSpPr>
        <p:spPr>
          <a:xfrm>
            <a:off x="548655" y="205740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Mobile-First Approach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4" name="Google Shape;624;p53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4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Two Ways to Write Responsive CSS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1" name="Google Shape;631;p54"/>
          <p:cNvSpPr/>
          <p:nvPr/>
        </p:nvSpPr>
        <p:spPr>
          <a:xfrm>
            <a:off x="514364" y="857250"/>
            <a:ext cx="3806291" cy="188595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54"/>
          <p:cNvSpPr/>
          <p:nvPr/>
        </p:nvSpPr>
        <p:spPr>
          <a:xfrm>
            <a:off x="569229" y="891540"/>
            <a:ext cx="369656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Stylesheet A: Desktop-First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3" name="Google Shape;633;p54"/>
          <p:cNvSpPr/>
          <p:nvPr/>
        </p:nvSpPr>
        <p:spPr>
          <a:xfrm>
            <a:off x="569229" y="1062990"/>
            <a:ext cx="3696561" cy="1625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.course-title {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2.625rem;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(max-width: 768px) {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.course-title {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1.75rem;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2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4" name="Google Shape;634;p54"/>
          <p:cNvSpPr/>
          <p:nvPr/>
        </p:nvSpPr>
        <p:spPr>
          <a:xfrm>
            <a:off x="4629273" y="857250"/>
            <a:ext cx="3806291" cy="188595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4"/>
          <p:cNvSpPr/>
          <p:nvPr/>
        </p:nvSpPr>
        <p:spPr>
          <a:xfrm>
            <a:off x="4684139" y="891540"/>
            <a:ext cx="369656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Stylesheet B: Mobile-First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54"/>
          <p:cNvSpPr/>
          <p:nvPr/>
        </p:nvSpPr>
        <p:spPr>
          <a:xfrm>
            <a:off x="4684139" y="1062990"/>
            <a:ext cx="3696561" cy="1625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1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.course-title {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1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1.75rem;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1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1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(min-width: 768px) {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1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.course-title {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1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2.625rem;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1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1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7" name="Google Shape;637;p54"/>
          <p:cNvSpPr/>
          <p:nvPr/>
        </p:nvSpPr>
        <p:spPr>
          <a:xfrm>
            <a:off x="514364" y="3051810"/>
            <a:ext cx="1371637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Observe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54"/>
          <p:cNvSpPr/>
          <p:nvPr/>
        </p:nvSpPr>
        <p:spPr>
          <a:xfrm>
            <a:off x="582946" y="3291840"/>
            <a:ext cx="4663564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Stylesheet A begins with the larger-screen style.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Stylesheet B begins with the smaller-screen style.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9" name="Google Shape;639;p54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5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Starting with Smaller Screens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p55"/>
          <p:cNvSpPr/>
          <p:nvPr/>
        </p:nvSpPr>
        <p:spPr>
          <a:xfrm>
            <a:off x="480073" y="685800"/>
            <a:ext cx="4594982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is the Mobile-First approach?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Mobile-First is an approach where the base CSS is written for smaller viewports first.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Additional styles are added as more viewport space becomes available.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How does it work?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Write the simplest layout as the default.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Media Queries to enhance the page for tablets, laptops, and desktops.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Why use Mobile-First?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Keeps the base CSS focused and simple.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Encourages developers to prioritize essential content.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Supports a clear and maintainable CSS structure.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7" name="Google Shape;647;p55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48" name="Google Shape;64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055" y="1474484"/>
            <a:ext cx="3764145" cy="219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56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Understanding min-width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5" name="Google Shape;655;p56"/>
          <p:cNvSpPr/>
          <p:nvPr/>
        </p:nvSpPr>
        <p:spPr>
          <a:xfrm>
            <a:off x="514364" y="720090"/>
            <a:ext cx="480072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What does min-width mean inside a Media Query?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6" name="Google Shape;656;p56"/>
          <p:cNvSpPr/>
          <p:nvPr/>
        </p:nvSpPr>
        <p:spPr>
          <a:xfrm>
            <a:off x="514364" y="1062990"/>
            <a:ext cx="3977746" cy="8229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56"/>
          <p:cNvSpPr/>
          <p:nvPr/>
        </p:nvSpPr>
        <p:spPr>
          <a:xfrm>
            <a:off x="569229" y="1110996"/>
            <a:ext cx="3868015" cy="726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(min-width: 768px)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/* CSS rules */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7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p56"/>
          <p:cNvSpPr/>
          <p:nvPr/>
        </p:nvSpPr>
        <p:spPr>
          <a:xfrm>
            <a:off x="5349383" y="1371600"/>
            <a:ext cx="2880437" cy="13716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56"/>
          <p:cNvSpPr/>
          <p:nvPr/>
        </p:nvSpPr>
        <p:spPr>
          <a:xfrm>
            <a:off x="5404248" y="1405890"/>
            <a:ext cx="2770706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Pattern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0" name="Google Shape;660;p56"/>
          <p:cNvSpPr/>
          <p:nvPr/>
        </p:nvSpPr>
        <p:spPr>
          <a:xfrm>
            <a:off x="582950" y="2091703"/>
            <a:ext cx="4526400" cy="26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Apply the enclosed CSS rules when the viewport width is 768px or wider.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Compare the conditions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max-width: 768px applies styles at 768px or smaller.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min-width: 768px applies styles at 768px or larger.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Mobile-First Pattern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Base styles are written for smaller viewports.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min-width Media Queries add enhancements for wider viewports.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1" name="Google Shape;661;p56"/>
          <p:cNvSpPr/>
          <p:nvPr/>
        </p:nvSpPr>
        <p:spPr>
          <a:xfrm>
            <a:off x="5404248" y="1577340"/>
            <a:ext cx="2770706" cy="1110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/* Base styles for smaller viewports */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(min-width: 768px)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/* Enhancements for wider viewports */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2" name="Google Shape;662;p56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7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Example: Mobile-First Course Heading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9" name="Google Shape;669;p57"/>
          <p:cNvSpPr/>
          <p:nvPr/>
        </p:nvSpPr>
        <p:spPr>
          <a:xfrm>
            <a:off x="445782" y="822960"/>
            <a:ext cx="3772001" cy="130302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7"/>
          <p:cNvSpPr/>
          <p:nvPr/>
        </p:nvSpPr>
        <p:spPr>
          <a:xfrm>
            <a:off x="500647" y="857250"/>
            <a:ext cx="36622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HTML Snippet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1" name="Google Shape;671;p57"/>
          <p:cNvSpPr/>
          <p:nvPr/>
        </p:nvSpPr>
        <p:spPr>
          <a:xfrm>
            <a:off x="500647" y="1028700"/>
            <a:ext cx="3662270" cy="1042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class="course-hero"&gt;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&lt;h1 class="course-title"&gt;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Full Stack Engineering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&lt;/h1&gt;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&lt;p&gt;Learn to build modern web applications.&lt;/p&gt;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&lt;/section&gt;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57"/>
          <p:cNvSpPr/>
          <p:nvPr/>
        </p:nvSpPr>
        <p:spPr>
          <a:xfrm>
            <a:off x="445782" y="2468880"/>
            <a:ext cx="3772001" cy="120015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7"/>
          <p:cNvSpPr/>
          <p:nvPr/>
        </p:nvSpPr>
        <p:spPr>
          <a:xfrm>
            <a:off x="500647" y="2503170"/>
            <a:ext cx="3662270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Base CSS for Smaller Viewports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4" name="Google Shape;674;p57"/>
          <p:cNvSpPr/>
          <p:nvPr/>
        </p:nvSpPr>
        <p:spPr>
          <a:xfrm>
            <a:off x="500647" y="2674620"/>
            <a:ext cx="3662270" cy="939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.course-hero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padding: 1.5rem;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.course-title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1.75rem;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5" name="Google Shape;675;p57"/>
          <p:cNvSpPr/>
          <p:nvPr/>
        </p:nvSpPr>
        <p:spPr>
          <a:xfrm>
            <a:off x="4594982" y="822960"/>
            <a:ext cx="3703419" cy="174879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7"/>
          <p:cNvSpPr/>
          <p:nvPr/>
        </p:nvSpPr>
        <p:spPr>
          <a:xfrm>
            <a:off x="4649848" y="857250"/>
            <a:ext cx="3593688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Enhancement for Larger Viewports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7" name="Google Shape;677;p57"/>
          <p:cNvSpPr/>
          <p:nvPr/>
        </p:nvSpPr>
        <p:spPr>
          <a:xfrm>
            <a:off x="4649848" y="1028700"/>
            <a:ext cx="3593688" cy="1488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(min-width: 768px)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.course-hero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padding: 3rem;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.course-title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2.625rem;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8" name="Google Shape;678;p57"/>
          <p:cNvSpPr/>
          <p:nvPr/>
        </p:nvSpPr>
        <p:spPr>
          <a:xfrm>
            <a:off x="4594982" y="2846070"/>
            <a:ext cx="24003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9" name="Google Shape;679;p57"/>
          <p:cNvSpPr/>
          <p:nvPr/>
        </p:nvSpPr>
        <p:spPr>
          <a:xfrm>
            <a:off x="4663576" y="3086100"/>
            <a:ext cx="3849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Below 768px, the section uses smaller spacing and typography.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At 768px or wider, the section receives more spacing and a larger course title.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0" name="Google Shape;680;p57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8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Montserrat"/>
              <a:buNone/>
            </a:pPr>
            <a:r>
              <a:rPr b="1" lang="en" sz="2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Identify the Mobile-First Stylesheet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58"/>
          <p:cNvSpPr/>
          <p:nvPr/>
        </p:nvSpPr>
        <p:spPr>
          <a:xfrm>
            <a:off x="445782" y="720090"/>
            <a:ext cx="7338256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restaurant website should use smaller text by default and increase the heading size on wider viewports. Which stylesheet follows the Mobile-First approach?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58"/>
          <p:cNvSpPr/>
          <p:nvPr/>
        </p:nvSpPr>
        <p:spPr>
          <a:xfrm>
            <a:off x="445782" y="1371600"/>
            <a:ext cx="7269674" cy="267462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.menu-title { font-size: 2.5rem; } @media (max-width: 700px) { .menu-title { font-size: 1.75rem; }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.menu-title { font-size: 1.75rem; } @media (min-width: 700px) { .menu-title { font-size: 2.5rem; }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.menu-title { font-size: 2.5rem;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Montserrat"/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@media (width: 700px) { .menu-title { font-size: 1.75rem; } }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9" name="Google Shape;689;p58"/>
          <p:cNvSpPr/>
          <p:nvPr/>
        </p:nvSpPr>
        <p:spPr>
          <a:xfrm>
            <a:off x="445782" y="4649724"/>
            <a:ext cx="2057455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0" lIns="200" spcFirstLastPara="1" rIns="200" wrap="square" tIns="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0" name="Google Shape;690;p58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9"/>
          <p:cNvSpPr/>
          <p:nvPr/>
        </p:nvSpPr>
        <p:spPr>
          <a:xfrm>
            <a:off x="548655" y="2057400"/>
            <a:ext cx="788691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Putting It All Together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7" name="Google Shape;697;p59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0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Activity: Responsive Course Landing Page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60"/>
          <p:cNvSpPr/>
          <p:nvPr/>
        </p:nvSpPr>
        <p:spPr>
          <a:xfrm>
            <a:off x="514364" y="720090"/>
            <a:ext cx="4457819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Objective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Apply Responsive Units, Media Queries, and the Mobile-First approach to a Course Landing Page.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●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Page Sections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Header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Course title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Navigation links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Hero section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Main heading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Course description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Enrolment link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Course information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Overview and learning outcomes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Montserrat"/>
              <a:buChar char="○"/>
            </a:pPr>
            <a:r>
              <a:rPr lang="en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Footer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5" name="Google Shape;705;p60"/>
          <p:cNvSpPr/>
          <p:nvPr/>
        </p:nvSpPr>
        <p:spPr>
          <a:xfrm>
            <a:off x="5280801" y="1371600"/>
            <a:ext cx="2811855" cy="1508760"/>
          </a:xfrm>
          <a:prstGeom prst="roundRect">
            <a:avLst>
              <a:gd fmla="val 3636" name="adj"/>
            </a:avLst>
          </a:prstGeom>
          <a:solidFill>
            <a:srgbClr val="F6F8FB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60"/>
          <p:cNvSpPr/>
          <p:nvPr/>
        </p:nvSpPr>
        <p:spPr>
          <a:xfrm>
            <a:off x="5363099" y="1453896"/>
            <a:ext cx="2647259" cy="1344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Build progressively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Complete unfinished milestones as homework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7" name="Google Shape;707;p60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61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HTML Starter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4" name="Google Shape;714;p61"/>
          <p:cNvSpPr/>
          <p:nvPr/>
        </p:nvSpPr>
        <p:spPr>
          <a:xfrm>
            <a:off x="514364" y="720090"/>
            <a:ext cx="7955492" cy="401193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61"/>
          <p:cNvSpPr/>
          <p:nvPr/>
        </p:nvSpPr>
        <p:spPr>
          <a:xfrm>
            <a:off x="569229" y="768096"/>
            <a:ext cx="7845761" cy="3915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&lt;header class="site-header"&gt;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&lt;h1&gt;Full Stack Engineering&lt;/h1&gt;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&lt;nav class="course-nav"&gt;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&lt;a href="#about"&gt;About&lt;/a&gt;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&lt;a href="#outcomes"&gt;Outcomes&lt;/a&gt;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&lt;a href="#enrol"&gt;Enroll&lt;/a&gt;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&lt;/nav&gt;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&lt;/header&gt;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&lt;main class="page-content"&gt;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&lt;section class="course-hero"&gt;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&lt;h2&gt;Build Modern Web Applications&lt;/h2&gt;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&lt;p&gt;Learn HTML, CSS, JavaScript, React, Node.js, and databases.&lt;/p&gt;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&lt;a href="#enrol"&gt;View Course Details&lt;/a&gt;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&lt;/section&gt;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&lt;section id="about" class="course-section"&gt;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&lt;h2&gt;About the Course&lt;/h2&gt;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&lt;p&gt;Develop practical full-stack engineering skills through guided examples and hands-on projects.&lt;/p&gt;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&lt;/section&gt;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&lt;section id="outcomes" class="course-section"&gt;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&lt;h2&gt;Learning Outcomes&lt;/h2&gt;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&lt;p&gt;Build frontend interfaces and backend APIs.&lt;/p&gt;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&lt;p&gt;Work with relational and non-relational databases.&lt;/p&gt;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&lt;p&gt;Integrate AI features into full-stack applications.&lt;/p&gt;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&lt;/section&gt;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&lt;/main&gt;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&lt;footer class="site-footer"&gt;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&lt;p&gt;Full Stack Engineering Course&lt;/p&gt;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7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&lt;/footer&gt;</a:t>
            </a:r>
            <a:endParaRPr sz="7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6" name="Google Shape;716;p61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2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CSS Starter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3" name="Google Shape;723;p62"/>
          <p:cNvSpPr/>
          <p:nvPr/>
        </p:nvSpPr>
        <p:spPr>
          <a:xfrm>
            <a:off x="514364" y="720090"/>
            <a:ext cx="4869310" cy="401193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62"/>
          <p:cNvSpPr/>
          <p:nvPr/>
        </p:nvSpPr>
        <p:spPr>
          <a:xfrm>
            <a:off x="569229" y="768096"/>
            <a:ext cx="4759579" cy="39159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body {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.site-header,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.page-content,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.site-footer {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.site-header {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.course-nav a {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.course-hero {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.course-hero h2 {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.course-section {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Montserrat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.site-footer {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t/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500"/>
              <a:buFont typeface="Consolas"/>
              <a:buNone/>
            </a:pPr>
            <a:r>
              <a:rPr lang="en" sz="65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6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5" name="Google Shape;725;p62"/>
          <p:cNvSpPr/>
          <p:nvPr/>
        </p:nvSpPr>
        <p:spPr>
          <a:xfrm>
            <a:off x="5658001" y="822960"/>
            <a:ext cx="2057455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Starting Point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6" name="Google Shape;726;p62"/>
          <p:cNvSpPr/>
          <p:nvPr/>
        </p:nvSpPr>
        <p:spPr>
          <a:xfrm>
            <a:off x="5726575" y="1097274"/>
            <a:ext cx="3131700" cy="20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base CSS is designed for smaller viewports.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Navigation links begin on separate lines.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Widths and spacing use responsive units.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7" name="Google Shape;727;p62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3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Milestone 1: Flexible Content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4" name="Google Shape;734;p63"/>
          <p:cNvSpPr/>
          <p:nvPr/>
        </p:nvSpPr>
        <p:spPr>
          <a:xfrm>
            <a:off x="480073" y="720090"/>
            <a:ext cx="3977746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Update the page content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% for the main page width.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max-width to prevent the content from becoming too wide on larger screens.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5" name="Google Shape;735;p63"/>
          <p:cNvSpPr/>
          <p:nvPr/>
        </p:nvSpPr>
        <p:spPr>
          <a:xfrm>
            <a:off x="514364" y="2057400"/>
            <a:ext cx="3840600" cy="13716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63"/>
          <p:cNvSpPr/>
          <p:nvPr/>
        </p:nvSpPr>
        <p:spPr>
          <a:xfrm>
            <a:off x="569229" y="2091690"/>
            <a:ext cx="3730800" cy="1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Suggested 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7" name="Google Shape;737;p63"/>
          <p:cNvSpPr/>
          <p:nvPr/>
        </p:nvSpPr>
        <p:spPr>
          <a:xfrm>
            <a:off x="569229" y="2263140"/>
            <a:ext cx="37308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.site-header,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.page-content,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.site-footer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width: 90%;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max-width: 900px;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margin: 0 auto;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8" name="Google Shape;738;p63"/>
          <p:cNvSpPr/>
          <p:nvPr/>
        </p:nvSpPr>
        <p:spPr>
          <a:xfrm>
            <a:off x="4800728" y="822960"/>
            <a:ext cx="2057455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9" name="Google Shape;739;p63"/>
          <p:cNvSpPr/>
          <p:nvPr/>
        </p:nvSpPr>
        <p:spPr>
          <a:xfrm>
            <a:off x="4869299" y="1097275"/>
            <a:ext cx="35961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Resize the browser.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content should adapt to narrower viewports.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content should remain readable on wider viewports.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63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4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Milestone 2: Responsive Typography &amp; Spacing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7" name="Google Shape;747;p64"/>
          <p:cNvSpPr/>
          <p:nvPr/>
        </p:nvSpPr>
        <p:spPr>
          <a:xfrm>
            <a:off x="480073" y="720090"/>
            <a:ext cx="3977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Update the hero section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rem for the heading size.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rem for padding.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vh for the minimum hero height.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8" name="Google Shape;748;p64"/>
          <p:cNvSpPr/>
          <p:nvPr/>
        </p:nvSpPr>
        <p:spPr>
          <a:xfrm>
            <a:off x="514364" y="2194560"/>
            <a:ext cx="3840582" cy="13716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64"/>
          <p:cNvSpPr/>
          <p:nvPr/>
        </p:nvSpPr>
        <p:spPr>
          <a:xfrm>
            <a:off x="569229" y="2228850"/>
            <a:ext cx="3730851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Suggested 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0" name="Google Shape;750;p64"/>
          <p:cNvSpPr/>
          <p:nvPr/>
        </p:nvSpPr>
        <p:spPr>
          <a:xfrm>
            <a:off x="569229" y="2400300"/>
            <a:ext cx="3730851" cy="1110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.course-hero {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min-height: 50vh;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padding: 2rem 1rem;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.course-hero h2 {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2rem;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8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1" name="Google Shape;751;p64"/>
          <p:cNvSpPr/>
          <p:nvPr/>
        </p:nvSpPr>
        <p:spPr>
          <a:xfrm>
            <a:off x="4800728" y="822960"/>
            <a:ext cx="2057455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2" name="Google Shape;752;p64"/>
          <p:cNvSpPr/>
          <p:nvPr/>
        </p:nvSpPr>
        <p:spPr>
          <a:xfrm>
            <a:off x="4869298" y="1097272"/>
            <a:ext cx="38406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hero should remain readable on smaller viewports.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section should occupy a meaningful portion of the viewport height.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3" name="Google Shape;753;p64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5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Milestone 3: Responsive Navigation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0" name="Google Shape;760;p65"/>
          <p:cNvSpPr/>
          <p:nvPr/>
        </p:nvSpPr>
        <p:spPr>
          <a:xfrm>
            <a:off x="514364" y="788670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a Mobile-First Media Query.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1" name="Google Shape;761;p65"/>
          <p:cNvSpPr/>
          <p:nvPr/>
        </p:nvSpPr>
        <p:spPr>
          <a:xfrm>
            <a:off x="514364" y="1234440"/>
            <a:ext cx="4320655" cy="171450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65"/>
          <p:cNvSpPr/>
          <p:nvPr/>
        </p:nvSpPr>
        <p:spPr>
          <a:xfrm>
            <a:off x="569229" y="1268730"/>
            <a:ext cx="421092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Suggested 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3" name="Google Shape;763;p65"/>
          <p:cNvSpPr/>
          <p:nvPr/>
        </p:nvSpPr>
        <p:spPr>
          <a:xfrm>
            <a:off x="569229" y="1440180"/>
            <a:ext cx="4210924" cy="1453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(min-width: 768px)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.course-nav a {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display: inline;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margin-right: 1rem;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margin-bottom: 0;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10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4" name="Google Shape;764;p65"/>
          <p:cNvSpPr/>
          <p:nvPr/>
        </p:nvSpPr>
        <p:spPr>
          <a:xfrm>
            <a:off x="5075055" y="925830"/>
            <a:ext cx="24003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5" name="Google Shape;765;p65"/>
          <p:cNvSpPr/>
          <p:nvPr/>
        </p:nvSpPr>
        <p:spPr>
          <a:xfrm>
            <a:off x="5143623" y="1200150"/>
            <a:ext cx="3500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Below 768px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Navigation links appear on separate lines.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At 768px or wider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Navigation links appear on the same line when space is available.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6" name="Google Shape;766;p65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Milestone 4: Larger-Viewport Enhancements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3" name="Google Shape;773;p66"/>
          <p:cNvSpPr/>
          <p:nvPr/>
        </p:nvSpPr>
        <p:spPr>
          <a:xfrm>
            <a:off x="514364" y="788670"/>
            <a:ext cx="411491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Montserrat"/>
              <a:buNone/>
            </a:pPr>
            <a:r>
              <a:rPr lang="en" sz="10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larger-screen styles.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p66"/>
          <p:cNvSpPr/>
          <p:nvPr/>
        </p:nvSpPr>
        <p:spPr>
          <a:xfrm>
            <a:off x="514364" y="1234440"/>
            <a:ext cx="4320655" cy="2194560"/>
          </a:xfrm>
          <a:prstGeom prst="rect">
            <a:avLst/>
          </a:prstGeom>
          <a:solidFill>
            <a:srgbClr val="1F2937"/>
          </a:solidFill>
          <a:ln cap="flat" cmpd="sng" w="12700">
            <a:solidFill>
              <a:srgbClr val="1F29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66"/>
          <p:cNvSpPr/>
          <p:nvPr/>
        </p:nvSpPr>
        <p:spPr>
          <a:xfrm>
            <a:off x="569229" y="1268730"/>
            <a:ext cx="4210924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600"/>
              <a:buFont typeface="Montserrat"/>
              <a:buNone/>
            </a:pPr>
            <a:r>
              <a:rPr b="1" lang="en" sz="6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rPr>
              <a:t>Suggested CSS</a:t>
            </a:r>
            <a:endParaRPr sz="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6" name="Google Shape;776;p66"/>
          <p:cNvSpPr/>
          <p:nvPr/>
        </p:nvSpPr>
        <p:spPr>
          <a:xfrm>
            <a:off x="569229" y="1440180"/>
            <a:ext cx="4210924" cy="19339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(min-width: 768px)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.course-hero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padding: 4rem 2rem;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.course-hero h2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3rem;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Montserrat"/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.course-section {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padding: 2.5rem 0;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600"/>
              <a:buFont typeface="Consolas"/>
              <a:buNone/>
            </a:pPr>
            <a:r>
              <a:rPr lang="en" sz="900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7" name="Google Shape;777;p66"/>
          <p:cNvSpPr/>
          <p:nvPr/>
        </p:nvSpPr>
        <p:spPr>
          <a:xfrm>
            <a:off x="5075055" y="960120"/>
            <a:ext cx="2057455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Font typeface="Montserrat"/>
              <a:buNone/>
            </a:pPr>
            <a:r>
              <a:rPr b="1" lang="en" sz="10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8" name="Google Shape;778;p66"/>
          <p:cNvSpPr/>
          <p:nvPr/>
        </p:nvSpPr>
        <p:spPr>
          <a:xfrm>
            <a:off x="5143637" y="1234440"/>
            <a:ext cx="308618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mobile layout remains the default.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Larger viewports receive more spacing and larger typography.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page remains usable at each viewport size.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9" name="Google Shape;779;p66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7"/>
          <p:cNvSpPr/>
          <p:nvPr/>
        </p:nvSpPr>
        <p:spPr>
          <a:xfrm>
            <a:off x="445782" y="288036"/>
            <a:ext cx="6583856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Font typeface="Montserrat"/>
              <a:buNone/>
            </a:pPr>
            <a:r>
              <a:rPr b="1" lang="en" sz="2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6" name="Google Shape;786;p67"/>
          <p:cNvSpPr/>
          <p:nvPr/>
        </p:nvSpPr>
        <p:spPr>
          <a:xfrm>
            <a:off x="514364" y="754380"/>
            <a:ext cx="3429091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Montserrat"/>
              <a:buNone/>
            </a:pPr>
            <a:r>
              <a:rPr b="1" lang="en" sz="11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Responsive Event Landing Page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7" name="Google Shape;787;p67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8" name="Google Shape;788;p67"/>
          <p:cNvSpPr/>
          <p:nvPr/>
        </p:nvSpPr>
        <p:spPr>
          <a:xfrm>
            <a:off x="582946" y="1062990"/>
            <a:ext cx="5829455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Create a webpage for an upcoming event.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Required Sections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■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Event title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■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Event description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Navigation links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Event schedule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Registration link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■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Footer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Responsive Requirements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% for a flexible content container.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rem for typography or spacing.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vh for the hero section.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Write at least one Media Query.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Follow the Mobile-First approach.</a:t>
            </a:r>
            <a:endParaRPr sz="1100"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c</a:t>
            </a: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lear and meaningful class names</a:t>
            </a:r>
            <a:endParaRPr sz="1100">
              <a:solidFill>
                <a:srgbClr val="22222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●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Submission Requirements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ndex.html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Char char="○"/>
            </a:pPr>
            <a:r>
              <a:rPr lang="en" sz="1100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styles.css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8"/>
          <p:cNvSpPr/>
          <p:nvPr/>
        </p:nvSpPr>
        <p:spPr>
          <a:xfrm>
            <a:off x="548655" y="2091690"/>
            <a:ext cx="788691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300"/>
              <a:buFont typeface="Montserrat"/>
              <a:buNone/>
            </a:pPr>
            <a:r>
              <a:rPr b="1" lang="en" sz="23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That's it for today!</a:t>
            </a:r>
            <a:endParaRPr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5" name="Google Shape;795;p68"/>
          <p:cNvSpPr/>
          <p:nvPr/>
        </p:nvSpPr>
        <p:spPr>
          <a:xfrm>
            <a:off x="548655" y="2551176"/>
            <a:ext cx="788691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Montserrat"/>
              <a:buNone/>
            </a:pPr>
            <a:r>
              <a:rPr lang="en" sz="14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Any questions?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6" name="Google Shape;796;p68"/>
          <p:cNvSpPr txBox="1"/>
          <p:nvPr>
            <p:ph idx="4294967295" type="sldNum"/>
          </p:nvPr>
        </p:nvSpPr>
        <p:spPr>
          <a:xfrm>
            <a:off x="8401274" y="4869180"/>
            <a:ext cx="600016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"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