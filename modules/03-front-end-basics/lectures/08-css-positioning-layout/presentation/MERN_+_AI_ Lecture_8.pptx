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Montserrat"/>
      <p:regular r:id="rId45"/>
      <p:bold r:id="rId46"/>
      <p:italic r:id="rId47"/>
      <p:boldItalic r:id="rId48"/>
    </p:embeddedFont>
    <p:embeddedFont>
      <p:font typeface="Montserrat Medium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Montserrat-bold.fntdata"/><Relationship Id="rId45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ontserrat-boldItalic.fntdata"/><Relationship Id="rId47" Type="http://schemas.openxmlformats.org/officeDocument/2006/relationships/font" Target="fonts/Montserrat-italic.fntdata"/><Relationship Id="rId49" Type="http://schemas.openxmlformats.org/officeDocument/2006/relationships/font" Target="fonts/Montserrat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Medium-italic.fntdata"/><Relationship Id="rId50" Type="http://schemas.openxmlformats.org/officeDocument/2006/relationships/font" Target="fonts/MontserratMedium-bold.fntdata"/><Relationship Id="rId52" Type="http://schemas.openxmlformats.org/officeDocument/2006/relationships/font" Target="fonts/Montserrat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0b6469c73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0b6469c73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0b6469c73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0b6469c73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492b795b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492b795b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0b6469c73_2_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0b6469c73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492b795b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492b795b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0b6469c73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0b6469c73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492b795b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492b795b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492b795b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492b795b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0b6469c73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0b6469c73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0b6469c7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0b6469c7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492b795b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492b795b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92b795b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492b795b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0b6469c7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0b6469c7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492b795b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492b795b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492b795b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492b795b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492b795b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492b795b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492b795b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492b795b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492b795b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492b795b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492b795b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492b795b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492b795b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492b795b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492b795b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492b795b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492b795b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492b795b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492b795b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492b795b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92b795b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492b795b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492b795b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492b795b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492b795b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492b795b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492b795b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492b795b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492b795b0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492b795b0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492b795b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492b795b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492b795b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492b795b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492b795b0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492b795b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492b795b0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492b795b0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492b795b0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492b795b0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492b795b0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492b795b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492b795b0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492b795b0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492b795b0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492b795b0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492b795b0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492b795b0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0b6469c73_2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f0b6469c73_2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f8fecb86_10_0)">
  <p:cSld name="Generated (g3f2f8fecb86_10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/>
        </p:nvSpPr>
        <p:spPr>
          <a:xfrm>
            <a:off x="125" y="1386800"/>
            <a:ext cx="914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Welcome to lecture 8!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7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06" name="Google Shape;106;p27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7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Today’s Agenda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7"/>
          <p:cNvGrpSpPr/>
          <p:nvPr/>
        </p:nvGrpSpPr>
        <p:grpSpPr>
          <a:xfrm>
            <a:off x="311700" y="1152477"/>
            <a:ext cx="8520600" cy="3416400"/>
            <a:chOff x="0" y="0"/>
            <a:chExt cx="8520600" cy="3416400"/>
          </a:xfrm>
        </p:grpSpPr>
        <p:sp>
          <p:nvSpPr>
            <p:cNvPr id="109" name="Google Shape;109;p27"/>
            <p:cNvSpPr/>
            <p:nvPr/>
          </p:nvSpPr>
          <p:spPr>
            <a:xfrm>
              <a:off x="0" y="0"/>
              <a:ext cx="8520600" cy="341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7"/>
            <p:cNvSpPr txBox="1"/>
            <p:nvPr/>
          </p:nvSpPr>
          <p:spPr>
            <a:xfrm>
              <a:off x="0" y="0"/>
              <a:ext cx="8520600" cy="3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228600" spcFirstLastPara="1" rIns="91400" wrap="square" tIns="91400">
              <a:noAutofit/>
            </a:bodyPr>
            <a:lstStyle/>
            <a:p>
              <a:pPr indent="0" lvl="0" marL="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Session Objectives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Understand how elements are arranged in normal document flow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Explore CSS positioning values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 to CSS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static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relative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absolute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fixed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1" marL="9144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○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sticky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Position elements within containers and the viewport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Control the stacking order of overlapping elements using z-index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Apply positioning to common user-interface patterns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Homework (due next Saturday)</a:t>
              </a:r>
              <a:endParaRPr sz="1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Warmup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/>
        </p:nvSpPr>
        <p:spPr>
          <a:xfrm>
            <a:off x="408350" y="1076925"/>
            <a:ext cx="5306700" cy="3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Which selector targets only the paragraph with the class bio?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section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.card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.bio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#bio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21" name="Google Shape;121;p29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22" name="Google Shape;122;p29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9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1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9"/>
          <p:cNvSpPr txBox="1"/>
          <p:nvPr/>
        </p:nvSpPr>
        <p:spPr>
          <a:xfrm>
            <a:off x="5823100" y="2123925"/>
            <a:ext cx="2835900" cy="1023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"card"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About Me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"bio"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I am learning CSS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rgbClr val="000000"/>
              </a:highlight>
            </a:endParaRPr>
          </a:p>
        </p:txBody>
      </p:sp>
      <p:sp>
        <p:nvSpPr>
          <p:cNvPr id="125" name="Google Shape;125;p29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C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08350" y="1076925"/>
            <a:ext cx="5532300" cy="3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Which property adds space between an element’s content and its border?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margin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padding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border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width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31" name="Google Shape;131;p30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32" name="Google Shape;132;p30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0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2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30"/>
          <p:cNvSpPr txBox="1"/>
          <p:nvPr/>
        </p:nvSpPr>
        <p:spPr>
          <a:xfrm>
            <a:off x="5823100" y="2123925"/>
            <a:ext cx="2835900" cy="108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.card 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padding: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20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px;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border: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px solid gray;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margin: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16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px;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B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/>
        </p:nvSpPr>
        <p:spPr>
          <a:xfrm>
            <a:off x="408350" y="1076925"/>
            <a:ext cx="55041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What will be the color of the heading?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Orange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Green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Black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Both orange and green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41" name="Google Shape;141;p31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42" name="Google Shape;142;p31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1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3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31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31"/>
          <p:cNvSpPr txBox="1"/>
          <p:nvPr/>
        </p:nvSpPr>
        <p:spPr>
          <a:xfrm>
            <a:off x="5597400" y="1017725"/>
            <a:ext cx="3343800" cy="27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&lt;!-- HTML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–&gt;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"section-title"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id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"featured-title"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Featured Projects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// CSS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section-title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orange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#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featured-title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green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/>
        </p:nvSpPr>
        <p:spPr>
          <a:xfrm>
            <a:off x="408350" y="1076925"/>
            <a:ext cx="54147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How will these elements appear by default?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A. Each element starts on a new line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B. The elements appear on the same line when space is available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C. Each element occupies the full width of the page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D. The elements are hidden</a:t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151" name="Google Shape;151;p32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52" name="Google Shape;152;p32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2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4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32"/>
          <p:cNvSpPr txBox="1"/>
          <p:nvPr/>
        </p:nvSpPr>
        <p:spPr>
          <a:xfrm>
            <a:off x="5823100" y="2123925"/>
            <a:ext cx="2835900" cy="88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HTML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CSS&lt;/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JavaScript&lt;/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</p:txBody>
      </p:sp>
      <p:sp>
        <p:nvSpPr>
          <p:cNvPr id="155" name="Google Shape;155;p32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B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/>
        </p:nvSpPr>
        <p:spPr>
          <a:xfrm>
            <a:off x="408350" y="1076925"/>
            <a:ext cx="7833900" cy="3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Which pseudo-class applies styles while the pointer is placed over an element?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A. :visited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B. :active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C. :hover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D. :link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61" name="Google Shape;161;p33"/>
          <p:cNvGrpSpPr/>
          <p:nvPr/>
        </p:nvGrpSpPr>
        <p:grpSpPr>
          <a:xfrm>
            <a:off x="311700" y="445025"/>
            <a:ext cx="8520600" cy="572700"/>
            <a:chOff x="0" y="0"/>
            <a:chExt cx="8520600" cy="572700"/>
          </a:xfrm>
        </p:grpSpPr>
        <p:sp>
          <p:nvSpPr>
            <p:cNvPr id="162" name="Google Shape;162;p33"/>
            <p:cNvSpPr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3"/>
            <p:cNvSpPr txBox="1"/>
            <p:nvPr/>
          </p:nvSpPr>
          <p:spPr>
            <a:xfrm>
              <a:off x="0" y="0"/>
              <a:ext cx="8520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00" lIns="91400" spcFirstLastPara="1" rIns="91400" wrap="square" tIns="91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/>
                <a:t>Question 5</a:t>
              </a:r>
              <a:endParaRPr b="0" sz="23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33"/>
          <p:cNvSpPr txBox="1"/>
          <p:nvPr/>
        </p:nvSpPr>
        <p:spPr>
          <a:xfrm>
            <a:off x="408350" y="4586100"/>
            <a:ext cx="324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Answer: C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CSS Positioning Foundations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idx="1" type="body"/>
          </p:nvPr>
        </p:nvSpPr>
        <p:spPr>
          <a:xfrm>
            <a:off x="195825" y="941525"/>
            <a:ext cx="4543200" cy="3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normal flow?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Normal flow is the browser’s default method of arranging elements on a webpage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are elements arranged?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Elements generally appear in the order in which they are written in HTML.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Block-level elements: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Begin on a new 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Usually occupy the available width of their parent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Inline elements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Remain within the current 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Occupy only the space required by their content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Flow Layout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150" y="1294225"/>
            <a:ext cx="3269500" cy="32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Normal Flow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64100" y="1397450"/>
            <a:ext cx="3149400" cy="2462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header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Developer Conference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header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nav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Home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Schedule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Speakers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nav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lang="en" sz="1100">
                <a:solidFill>
                  <a:srgbClr val="F6C1D0"/>
                </a:solidFill>
                <a:highlight>
                  <a:schemeClr val="dk1"/>
                </a:highlight>
              </a:rPr>
              <a:t>main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Main conference content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lang="en" sz="1100">
                <a:solidFill>
                  <a:srgbClr val="F6C1D0"/>
                </a:solidFill>
                <a:highlight>
                  <a:schemeClr val="dk1"/>
                </a:highlight>
              </a:rPr>
              <a:t>main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footer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Conference information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footer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200">
              <a:solidFill>
                <a:srgbClr val="865700"/>
              </a:solidFill>
            </a:endParaRPr>
          </a:p>
        </p:txBody>
      </p:sp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4261475" y="9591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4040975" y="1397450"/>
            <a:ext cx="1929900" cy="2462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header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,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nav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,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main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,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footer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margin-bottom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solid blue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08030"/>
              </a:solidFill>
            </a:endParaRPr>
          </a:p>
        </p:txBody>
      </p:sp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6326475" y="959150"/>
            <a:ext cx="2558400" cy="25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Expected result: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header, nav, main, and footer stack vertically.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links inside nav remain on the same line when space is available.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Checkpoint: Predict the Article Layout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7"/>
          <p:cNvSpPr txBox="1"/>
          <p:nvPr>
            <p:ph idx="1" type="body"/>
          </p:nvPr>
        </p:nvSpPr>
        <p:spPr>
          <a:xfrm>
            <a:off x="464100" y="1397450"/>
            <a:ext cx="3288000" cy="2695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article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CSS Positioning&lt;/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Learn how elements are placed on 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webpage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Beginner&lt;/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45 minutes&lt;/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href="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#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"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Start lesson&lt;/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article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2CD8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3872600" y="1017725"/>
            <a:ext cx="5012400" cy="30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Which statement correctly describes the default layout?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h2 and p begin on new lines, while span and a can remain on the same line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Every element remains on the same line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Only the a element begins on a new line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D. Every element occupies the full available width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A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4" name="Google Shape;194;p37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The position Property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8"/>
          <p:cNvSpPr txBox="1"/>
          <p:nvPr>
            <p:ph idx="1" type="body"/>
          </p:nvPr>
        </p:nvSpPr>
        <p:spPr>
          <a:xfrm>
            <a:off x="195825" y="941525"/>
            <a:ext cx="8520600" cy="30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CSS positioning?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CSS positioning controls how an element is placed within a document.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determines whether the element follows normal flow and which reference point is used to place it.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the position property?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CSS position property defines the positioning method used for an element.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Available values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static - keeps the element in its default position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relative - moves the element relative to its original position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absolute - positions the element relative to a containing block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fixed - positions the element relative to the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viewport</a:t>
            </a:r>
            <a:endParaRPr sz="1400"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sticky - allows the element to stick after reaching a scroll threshold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1" name="Google Shape;201;p38"/>
          <p:cNvPicPr preferRelativeResize="0"/>
          <p:nvPr/>
        </p:nvPicPr>
        <p:blipFill rotWithShape="1">
          <a:blip r:embed="rId3">
            <a:alphaModFix/>
          </a:blip>
          <a:srcRect b="18287" l="0" r="0" t="27139"/>
          <a:stretch/>
        </p:blipFill>
        <p:spPr>
          <a:xfrm>
            <a:off x="2324175" y="4021625"/>
            <a:ext cx="3850075" cy="10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idx="1" type="body"/>
          </p:nvPr>
        </p:nvSpPr>
        <p:spPr>
          <a:xfrm>
            <a:off x="195825" y="941525"/>
            <a:ext cx="8520600" cy="21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an offset?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offset defines the distance between a positioned element and one of its reference edges.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offset property has the following values: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top - sets the distance from the top reference edge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right - sets the distance from the right reference edge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bottom - sets the distance from the bottom reference edge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left - sets the distance from the left reference edge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The position Property: Part 2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738250" y="3160250"/>
            <a:ext cx="3883200" cy="1623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200">
                <a:solidFill>
                  <a:srgbClr val="D1D1D1"/>
                </a:solidFill>
                <a:highlight>
                  <a:schemeClr val="dk1"/>
                </a:highlight>
              </a:rPr>
              <a:t>element </a:t>
            </a:r>
            <a:r>
              <a:rPr lang="en" sz="12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2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2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2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2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2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2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2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2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2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2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2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2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2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200">
                <a:solidFill>
                  <a:srgbClr val="904050"/>
                </a:solidFill>
                <a:highlight>
                  <a:schemeClr val="dk1"/>
                </a:highlight>
              </a:rPr>
              <a:t>left</a:t>
            </a:r>
            <a:r>
              <a:rPr lang="en" sz="12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2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200">
                <a:solidFill>
                  <a:srgbClr val="00A800"/>
                </a:solidFill>
                <a:highlight>
                  <a:schemeClr val="dk1"/>
                </a:highlight>
              </a:rPr>
              <a:t>20</a:t>
            </a:r>
            <a:r>
              <a:rPr lang="en" sz="12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2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2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2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// The element is moved downward from its original</a:t>
            </a:r>
            <a:endParaRPr sz="11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top position and to the right from its original left position</a:t>
            </a:r>
            <a:endParaRPr sz="1100">
              <a:solidFill>
                <a:srgbClr val="B060B0"/>
              </a:solidFill>
              <a:highlight>
                <a:schemeClr val="dk1"/>
              </a:highlight>
            </a:endParaRPr>
          </a:p>
        </p:txBody>
      </p:sp>
      <p:pic>
        <p:nvPicPr>
          <p:cNvPr id="209" name="Google Shape;209;p39"/>
          <p:cNvPicPr preferRelativeResize="0"/>
          <p:nvPr/>
        </p:nvPicPr>
        <p:blipFill rotWithShape="1">
          <a:blip r:embed="rId3">
            <a:alphaModFix/>
          </a:blip>
          <a:srcRect b="0" l="0" r="20515" t="12587"/>
          <a:stretch/>
        </p:blipFill>
        <p:spPr>
          <a:xfrm>
            <a:off x="5914500" y="2857500"/>
            <a:ext cx="2458100" cy="15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195825" y="1017725"/>
            <a:ext cx="8520600" cy="17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static positioning?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static is the default position value for HTML elements.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remains in normal document flow.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appears in its default location.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Offset properties do not move a statically positioned element.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5" name="Google Shape;21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The Default Position Value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40"/>
          <p:cNvSpPr txBox="1"/>
          <p:nvPr>
            <p:ph idx="1" type="body"/>
          </p:nvPr>
        </p:nvSpPr>
        <p:spPr>
          <a:xfrm>
            <a:off x="688425" y="2903400"/>
            <a:ext cx="2998800" cy="1177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element 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static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4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>
            <p:ph idx="1" type="body"/>
          </p:nvPr>
        </p:nvSpPr>
        <p:spPr>
          <a:xfrm>
            <a:off x="421925" y="3525875"/>
            <a:ext cx="48399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Expected Result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message remains in its normal position.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top and left have no effect because the element is static.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Static Positioning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421925" y="1593175"/>
            <a:ext cx="3235200" cy="1029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4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400">
                <a:solidFill>
                  <a:srgbClr val="00C4C4"/>
                </a:solidFill>
                <a:highlight>
                  <a:schemeClr val="dk1"/>
                </a:highlight>
              </a:rPr>
              <a:t>"status-message"</a:t>
            </a:r>
            <a:r>
              <a:rPr lang="en" sz="14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Registration is open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4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4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4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421925" y="11018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41"/>
          <p:cNvSpPr txBox="1"/>
          <p:nvPr>
            <p:ph idx="1" type="body"/>
          </p:nvPr>
        </p:nvSpPr>
        <p:spPr>
          <a:xfrm>
            <a:off x="5060175" y="11018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5060175" y="1593175"/>
            <a:ext cx="2653800" cy="2052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status-message 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static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30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left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30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16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4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E6617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HTML/CSS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42"/>
          <p:cNvSpPr txBox="1"/>
          <p:nvPr>
            <p:ph idx="1" type="body"/>
          </p:nvPr>
        </p:nvSpPr>
        <p:spPr>
          <a:xfrm>
            <a:off x="464100" y="1397450"/>
            <a:ext cx="3288000" cy="30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&lt;!-- HTML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--&gt;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promotion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Registration is open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// CSS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.promotion 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position: static;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right: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40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px;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bottom: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20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px;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border: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px solid orange;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padding: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px;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</p:txBody>
      </p:sp>
      <p:sp>
        <p:nvSpPr>
          <p:cNvPr id="233" name="Google Shape;23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Static Positioning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42"/>
          <p:cNvSpPr txBox="1"/>
          <p:nvPr>
            <p:ph idx="1" type="body"/>
          </p:nvPr>
        </p:nvSpPr>
        <p:spPr>
          <a:xfrm>
            <a:off x="3872600" y="1017725"/>
            <a:ext cx="5012400" cy="32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Where will the promotional message appear?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40px from the right and 20px from the bottom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In its normal position within the document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Fixed to the bottom-right corner of the viewport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D. Outside its parent container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B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Reason: </a:t>
            </a:r>
            <a:r>
              <a:rPr i="1"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right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</a:t>
            </a:r>
            <a:r>
              <a:rPr i="1"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bottom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do not move a statically positioned element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idx="1" type="body"/>
          </p:nvPr>
        </p:nvSpPr>
        <p:spPr>
          <a:xfrm>
            <a:off x="195825" y="1017725"/>
            <a:ext cx="8520600" cy="17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relative positioning?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relative positions an element relative to its original location.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remains part of normal document flow.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Its original space remains reserved.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Offset properties move the element visually from its original location.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0" name="Google Shape;2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Moving from the Original Position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698475" y="2809325"/>
            <a:ext cx="2998800" cy="1447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element 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left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30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idx="1" type="body"/>
          </p:nvPr>
        </p:nvSpPr>
        <p:spPr>
          <a:xfrm>
            <a:off x="6259750" y="959150"/>
            <a:ext cx="2625300" cy="30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Expected Result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second step moves down and to the right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Its original space remains reserved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third step remains in its normal layout position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7" name="Google Shape;24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Relative Positioning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464100" y="1397450"/>
            <a:ext cx="3149400" cy="1801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"step"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Step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: Create HTML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"step current-step"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Step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: Add CSS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"step"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Step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3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: Test the Page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  <p:sp>
        <p:nvSpPr>
          <p:cNvPr id="249" name="Google Shape;249;p44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Snippet from 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44"/>
          <p:cNvSpPr txBox="1"/>
          <p:nvPr>
            <p:ph idx="1" type="body"/>
          </p:nvPr>
        </p:nvSpPr>
        <p:spPr>
          <a:xfrm>
            <a:off x="4261475" y="9591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4040975" y="1397450"/>
            <a:ext cx="1929900" cy="2657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step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14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margin-bottom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24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current-step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left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40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border-color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blue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E6617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>
            <p:ph idx="1" type="body"/>
          </p:nvPr>
        </p:nvSpPr>
        <p:spPr>
          <a:xfrm>
            <a:off x="464100" y="1397450"/>
            <a:ext cx="3710400" cy="3598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&lt;!-- HTML --&gt;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nav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"nav-link"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Home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"nav-link active-link"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Courses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"nav-link"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Contact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nav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// CSS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nav-link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display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inline-block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active-link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-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6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</p:txBody>
      </p:sp>
      <p:sp>
        <p:nvSpPr>
          <p:cNvPr id="257" name="Google Shape;257;p45"/>
          <p:cNvSpPr txBox="1"/>
          <p:nvPr>
            <p:ph idx="1" type="body"/>
          </p:nvPr>
        </p:nvSpPr>
        <p:spPr>
          <a:xfrm>
            <a:off x="4174425" y="1017725"/>
            <a:ext cx="4710600" cy="32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happens to the Courses link?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It moves upward while its original space remains reserved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It is removed from normal document flow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The Contact link moves into its original position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D. It becomes fixed to the top of the viewport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A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8" name="Google Shape;258;p45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HTML/CSS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: Raised Navigation Tab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Positioning Inside a Container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433450" y="3008125"/>
            <a:ext cx="3047400" cy="1507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element 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absolute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right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4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  <p:sp>
        <p:nvSpPr>
          <p:cNvPr id="266" name="Google Shape;266;p46"/>
          <p:cNvSpPr txBox="1"/>
          <p:nvPr>
            <p:ph idx="1" type="body"/>
          </p:nvPr>
        </p:nvSpPr>
        <p:spPr>
          <a:xfrm>
            <a:off x="195825" y="1017725"/>
            <a:ext cx="8520600" cy="17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absolute positioning?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absolute removes an element from normal document flow.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no longer reserves its original space.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Offset properties determine its final location.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is positioned relative to its containing block (eg: parent)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idx="1" type="body"/>
          </p:nvPr>
        </p:nvSpPr>
        <p:spPr>
          <a:xfrm>
            <a:off x="195825" y="4081525"/>
            <a:ext cx="8520600" cy="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parent does not need to move.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position: relative establishes the positioning area for the absolute child.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47"/>
          <p:cNvSpPr txBox="1"/>
          <p:nvPr>
            <p:ph idx="1" type="body"/>
          </p:nvPr>
        </p:nvSpPr>
        <p:spPr>
          <a:xfrm>
            <a:off x="195825" y="1017725"/>
            <a:ext cx="85206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a positioned ancestor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positioned ancestor is an ancestor whose position value is not static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is the reference point selected?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absolutely positioned element searches its ancestors.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normally uses the nearest positioned ancestor as its reference point.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no positioned ancestor exists, the element is positioned relative to the page’s initial containing block.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 Pattern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Establishing a Reference Point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47"/>
          <p:cNvSpPr txBox="1"/>
          <p:nvPr>
            <p:ph idx="1" type="body"/>
          </p:nvPr>
        </p:nvSpPr>
        <p:spPr>
          <a:xfrm>
            <a:off x="589050" y="3206925"/>
            <a:ext cx="2998800" cy="795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parent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idx="1" type="body"/>
          </p:nvPr>
        </p:nvSpPr>
        <p:spPr>
          <a:xfrm>
            <a:off x="5724950" y="959150"/>
            <a:ext cx="3160200" cy="30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Expected Result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badge appears in the top-right corner of the notification icon.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.notification-icon provides the reference point for .badge.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464100" y="1397450"/>
            <a:ext cx="2438100" cy="1174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"notification-icon"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"bell"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&gt;🔔&lt;/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"badge"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3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Notification Badge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48"/>
          <p:cNvSpPr txBox="1"/>
          <p:nvPr>
            <p:ph idx="1" type="body"/>
          </p:nvPr>
        </p:nvSpPr>
        <p:spPr>
          <a:xfrm>
            <a:off x="464100" y="959150"/>
            <a:ext cx="25308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48"/>
          <p:cNvSpPr txBox="1"/>
          <p:nvPr>
            <p:ph idx="1" type="body"/>
          </p:nvPr>
        </p:nvSpPr>
        <p:spPr>
          <a:xfrm>
            <a:off x="3505225" y="9591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48"/>
          <p:cNvSpPr txBox="1"/>
          <p:nvPr>
            <p:ph idx="1" type="body"/>
          </p:nvPr>
        </p:nvSpPr>
        <p:spPr>
          <a:xfrm>
            <a:off x="3140275" y="1397450"/>
            <a:ext cx="2218800" cy="3558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notification-icon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display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inline-block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font-size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40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badge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absolute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right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min-width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18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red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font-size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14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text-align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center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4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border-radius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999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/>
          <p:nvPr>
            <p:ph idx="1" type="body"/>
          </p:nvPr>
        </p:nvSpPr>
        <p:spPr>
          <a:xfrm>
            <a:off x="464100" y="1321250"/>
            <a:ext cx="2887200" cy="3723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&lt;!-- HTML --&gt;</a:t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9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900">
                <a:solidFill>
                  <a:srgbClr val="00C4C4"/>
                </a:solidFill>
                <a:highlight>
                  <a:schemeClr val="dk1"/>
                </a:highlight>
              </a:rPr>
              <a:t>"video-preview"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9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900">
                <a:solidFill>
                  <a:srgbClr val="00C4C4"/>
                </a:solidFill>
                <a:highlight>
                  <a:schemeClr val="dk1"/>
                </a:highlight>
              </a:rPr>
              <a:t>"video-placeholder"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  Workshop Preview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9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9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900">
                <a:solidFill>
                  <a:srgbClr val="00C4C4"/>
                </a:solidFill>
                <a:highlight>
                  <a:schemeClr val="dk1"/>
                </a:highlight>
              </a:rPr>
              <a:t>"live-label"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LIVE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9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9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// CSS</a:t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video-preview 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width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900">
                <a:solidFill>
                  <a:srgbClr val="00A800"/>
                </a:solidFill>
                <a:highlight>
                  <a:schemeClr val="dk1"/>
                </a:highlight>
              </a:rPr>
              <a:t>320</a:t>
            </a:r>
            <a:r>
              <a:rPr lang="en" sz="9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height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900">
                <a:solidFill>
                  <a:srgbClr val="00A800"/>
                </a:solidFill>
                <a:highlight>
                  <a:schemeClr val="dk1"/>
                </a:highlight>
              </a:rPr>
              <a:t>180</a:t>
            </a:r>
            <a:r>
              <a:rPr lang="en" sz="9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9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9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live-label 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absolute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9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9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left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9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9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red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9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9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900">
                <a:solidFill>
                  <a:srgbClr val="00A800"/>
                </a:solidFill>
                <a:highlight>
                  <a:schemeClr val="dk1"/>
                </a:highlight>
              </a:rPr>
              <a:t>4</a:t>
            </a:r>
            <a:r>
              <a:rPr lang="en" sz="9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9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900">
                <a:solidFill>
                  <a:srgbClr val="00A800"/>
                </a:solidFill>
                <a:highlight>
                  <a:schemeClr val="dk1"/>
                </a:highlight>
              </a:rPr>
              <a:t>8</a:t>
            </a:r>
            <a:r>
              <a:rPr lang="en" sz="9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9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</p:txBody>
      </p:sp>
      <p:sp>
        <p:nvSpPr>
          <p:cNvPr id="290" name="Google Shape;290;p49"/>
          <p:cNvSpPr txBox="1"/>
          <p:nvPr>
            <p:ph idx="1" type="body"/>
          </p:nvPr>
        </p:nvSpPr>
        <p:spPr>
          <a:xfrm>
            <a:off x="4174425" y="1017725"/>
            <a:ext cx="4710600" cy="3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label is positioning relative to the page instead of the video preview. Which declaration is missing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position: relative on .video-preview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display: inline on .live-label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position: fixed on .video-preview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D. margin: auto on .live-label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A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Required change:</a:t>
            </a:r>
            <a:b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.video-preview {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position: relative;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width: 320px;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height: 180px;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border: 2px solid gray;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}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1" name="Google Shape;291;p49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HTML/CSS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: Position the Live Label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Positioning Relative to the Viewport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50"/>
          <p:cNvSpPr txBox="1"/>
          <p:nvPr>
            <p:ph idx="1" type="body"/>
          </p:nvPr>
        </p:nvSpPr>
        <p:spPr>
          <a:xfrm>
            <a:off x="727425" y="2984625"/>
            <a:ext cx="2998800" cy="1338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element 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fixed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400">
                <a:solidFill>
                  <a:srgbClr val="904050"/>
                </a:solidFill>
                <a:highlight>
                  <a:schemeClr val="dk1"/>
                </a:highlight>
              </a:rPr>
              <a:t>right</a:t>
            </a:r>
            <a:r>
              <a:rPr lang="en" sz="14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4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4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4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4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4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  <p:sp>
        <p:nvSpPr>
          <p:cNvPr id="299" name="Google Shape;299;p50"/>
          <p:cNvSpPr txBox="1"/>
          <p:nvPr>
            <p:ph idx="1" type="body"/>
          </p:nvPr>
        </p:nvSpPr>
        <p:spPr>
          <a:xfrm>
            <a:off x="195825" y="1017725"/>
            <a:ext cx="8520600" cy="18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fixed positioning?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fixed removes an element from normal document flow and positions it relative to the viewport.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remains in the same viewport position while the page scrolls.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Offset properties define its distance from the viewport edges.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 uses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Floating help buttons, Chat widgets, Persistent navigation bars, “Back to top” controls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/>
          <p:nvPr>
            <p:ph idx="1" type="body"/>
          </p:nvPr>
        </p:nvSpPr>
        <p:spPr>
          <a:xfrm>
            <a:off x="5724950" y="959150"/>
            <a:ext cx="3160200" cy="30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Expected Result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button remains in the bottom-right corner of the viewport.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Scrolling the page does not change its viewport position.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5" name="Google Shape;305;p51"/>
          <p:cNvSpPr txBox="1"/>
          <p:nvPr>
            <p:ph idx="1" type="body"/>
          </p:nvPr>
        </p:nvSpPr>
        <p:spPr>
          <a:xfrm>
            <a:off x="464100" y="1397450"/>
            <a:ext cx="2438100" cy="954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"help-button"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Help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306" name="Google Shape;30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Floating Help Button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464100" y="959150"/>
            <a:ext cx="25308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51"/>
          <p:cNvSpPr txBox="1"/>
          <p:nvPr>
            <p:ph idx="1" type="body"/>
          </p:nvPr>
        </p:nvSpPr>
        <p:spPr>
          <a:xfrm>
            <a:off x="3505225" y="9591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51"/>
          <p:cNvSpPr txBox="1"/>
          <p:nvPr>
            <p:ph idx="1" type="body"/>
          </p:nvPr>
        </p:nvSpPr>
        <p:spPr>
          <a:xfrm>
            <a:off x="3140275" y="1397450"/>
            <a:ext cx="2218800" cy="3096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help-button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fixed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right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bottom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#2563eb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16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border-radius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999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text-decoration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none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font-weight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bold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2"/>
          <p:cNvSpPr txBox="1"/>
          <p:nvPr>
            <p:ph idx="1" type="body"/>
          </p:nvPr>
        </p:nvSpPr>
        <p:spPr>
          <a:xfrm>
            <a:off x="5773800" y="1892850"/>
            <a:ext cx="3058500" cy="1357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&lt;!-- HTML --&gt;</a:t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"contact-shortcut"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"#contact"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Contact Us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900">
              <a:solidFill>
                <a:srgbClr val="D1D1D1"/>
              </a:solidFill>
              <a:highlight>
                <a:schemeClr val="dk1"/>
              </a:highlight>
            </a:endParaRPr>
          </a:p>
        </p:txBody>
      </p:sp>
      <p:sp>
        <p:nvSpPr>
          <p:cNvPr id="315" name="Google Shape;315;p52"/>
          <p:cNvSpPr txBox="1"/>
          <p:nvPr>
            <p:ph idx="1" type="body"/>
          </p:nvPr>
        </p:nvSpPr>
        <p:spPr>
          <a:xfrm>
            <a:off x="311700" y="1017725"/>
            <a:ext cx="53562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contact shortcut should remain 24px from the bottom-left corner of the viewport while the page scrolls. Which CSS rule satisfies the requirement?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.contact-shortcut {  position: fixed;  bottom: 24px;  left: 24px; }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.contact-shortcut {  position: absolute;  top: 24px;  right: 24px; }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.contact-shortcut {  position: relative;  bottom: 24px;  left: 24px; }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A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6" name="Google Shape;31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: Fixed Contact Shortcut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3"/>
          <p:cNvSpPr txBox="1"/>
          <p:nvPr>
            <p:ph idx="1" type="body"/>
          </p:nvPr>
        </p:nvSpPr>
        <p:spPr>
          <a:xfrm>
            <a:off x="195825" y="4336925"/>
            <a:ext cx="85206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top: 0 tells the element to stick when it reaches the top edge of its scrolling container.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2" name="Google Shape;32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Positioning During Scroll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53"/>
          <p:cNvSpPr txBox="1"/>
          <p:nvPr>
            <p:ph idx="1" type="body"/>
          </p:nvPr>
        </p:nvSpPr>
        <p:spPr>
          <a:xfrm>
            <a:off x="739200" y="3231575"/>
            <a:ext cx="3047400" cy="978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element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sticky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0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  <p:sp>
        <p:nvSpPr>
          <p:cNvPr id="324" name="Google Shape;324;p53"/>
          <p:cNvSpPr txBox="1"/>
          <p:nvPr>
            <p:ph idx="1" type="body"/>
          </p:nvPr>
        </p:nvSpPr>
        <p:spPr>
          <a:xfrm>
            <a:off x="195825" y="1017725"/>
            <a:ext cx="8520600" cy="20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sticky positioning?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sticky allows an element to behave normally until it reaches a defined scroll threshold.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element initially remains in normal document flow.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becomes fixed-like after reaching the specified threshold.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remains constrained by its scrolling container.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the sticky threshold?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threshold defines the point at which the element should begin sticking.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4"/>
          <p:cNvSpPr txBox="1"/>
          <p:nvPr>
            <p:ph idx="1" type="body"/>
          </p:nvPr>
        </p:nvSpPr>
        <p:spPr>
          <a:xfrm>
            <a:off x="6301500" y="1017725"/>
            <a:ext cx="2530800" cy="14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Supporting Styles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height limits the visible height of the panel.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overflow-y: auto allows the panel content to scroll vertically.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0" name="Google Shape;330;p54"/>
          <p:cNvSpPr txBox="1"/>
          <p:nvPr>
            <p:ph idx="1" type="body"/>
          </p:nvPr>
        </p:nvSpPr>
        <p:spPr>
          <a:xfrm>
            <a:off x="464100" y="1397450"/>
            <a:ext cx="3416400" cy="3635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"notes-panel"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"sticky-heading"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CSS Positioning Notes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Static is the default position value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Relative moves an element from its original location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Absolute uses a containing block as its reference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Fixed positions an element relative to the viewport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Sticky changes behaviour during scrolling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z-index controls the stacking order of elements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Offset properties include top, right, bottom, and left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Positioned elements may overlap other content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331" name="Google Shape;33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Sticky Section Heading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54"/>
          <p:cNvSpPr txBox="1"/>
          <p:nvPr>
            <p:ph idx="1" type="body"/>
          </p:nvPr>
        </p:nvSpPr>
        <p:spPr>
          <a:xfrm>
            <a:off x="464100" y="959150"/>
            <a:ext cx="25308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54"/>
          <p:cNvSpPr txBox="1"/>
          <p:nvPr>
            <p:ph idx="1" type="body"/>
          </p:nvPr>
        </p:nvSpPr>
        <p:spPr>
          <a:xfrm>
            <a:off x="4380225" y="9591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54"/>
          <p:cNvSpPr txBox="1"/>
          <p:nvPr>
            <p:ph idx="1" type="body"/>
          </p:nvPr>
        </p:nvSpPr>
        <p:spPr>
          <a:xfrm>
            <a:off x="4015275" y="1397450"/>
            <a:ext cx="2218800" cy="3694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notes-panel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height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240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overflow-y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auto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notes-panel 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sticky-heading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sticky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0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border-bottom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Checkpoint</a:t>
            </a: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: Fixed or Sticky?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55"/>
          <p:cNvSpPr txBox="1"/>
          <p:nvPr>
            <p:ph idx="1" type="body"/>
          </p:nvPr>
        </p:nvSpPr>
        <p:spPr>
          <a:xfrm>
            <a:off x="311700" y="1017725"/>
            <a:ext cx="8119800" cy="3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section heading should remain visible while its section is being read, but it should scroll away when that section ends. Which position value is most appropriate</a:t>
            </a: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?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static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absolute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fixed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D. sticky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D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Layout Control Using Positioning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7"/>
          <p:cNvSpPr txBox="1"/>
          <p:nvPr>
            <p:ph idx="1" type="body"/>
          </p:nvPr>
        </p:nvSpPr>
        <p:spPr>
          <a:xfrm>
            <a:off x="195825" y="1017725"/>
            <a:ext cx="8520600" cy="20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is z-index?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z-index is a CSS property that controls the stacking order of overlapping elements along the z-axis.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features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element with a higher stacking level is generally displayed above an element with a lower stacking level.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z-index is commonly used with positioned elements.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controls stacking order, not horizontal or vertical placement.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1" name="Google Shape;351;p57"/>
          <p:cNvSpPr txBox="1"/>
          <p:nvPr>
            <p:ph idx="1" type="body"/>
          </p:nvPr>
        </p:nvSpPr>
        <p:spPr>
          <a:xfrm>
            <a:off x="195825" y="433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 uses: Modal dialogs, Dropdown menus, Navigation bars, Notifications, Overlays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2" name="Google Shape;3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Controlling Stacking Order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57"/>
          <p:cNvSpPr txBox="1"/>
          <p:nvPr>
            <p:ph idx="1" type="body"/>
          </p:nvPr>
        </p:nvSpPr>
        <p:spPr>
          <a:xfrm>
            <a:off x="739200" y="3104525"/>
            <a:ext cx="3047400" cy="978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element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fixed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z-index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idx="1" type="body"/>
          </p:nvPr>
        </p:nvSpPr>
        <p:spPr>
          <a:xfrm>
            <a:off x="6301500" y="1017725"/>
            <a:ext cx="2530800" cy="16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Expected Result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notification boxes overlap.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.toast-two appears above .toast-one.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has the higher z-index value.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9" name="Google Shape;359;p58"/>
          <p:cNvSpPr txBox="1"/>
          <p:nvPr>
            <p:ph idx="1" type="body"/>
          </p:nvPr>
        </p:nvSpPr>
        <p:spPr>
          <a:xfrm>
            <a:off x="464100" y="1373931"/>
            <a:ext cx="2393400" cy="2200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"toast toast-one"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Build completed successfully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"toast toast-two"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New message received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360" name="Google Shape;36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Example: Overlapping Notifications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58"/>
          <p:cNvSpPr txBox="1"/>
          <p:nvPr>
            <p:ph idx="1" type="body"/>
          </p:nvPr>
        </p:nvSpPr>
        <p:spPr>
          <a:xfrm>
            <a:off x="464100" y="959150"/>
            <a:ext cx="25308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Index.html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58"/>
          <p:cNvSpPr txBox="1"/>
          <p:nvPr>
            <p:ph idx="1" type="body"/>
          </p:nvPr>
        </p:nvSpPr>
        <p:spPr>
          <a:xfrm>
            <a:off x="3521800" y="959138"/>
            <a:ext cx="14889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styles.css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58"/>
          <p:cNvSpPr txBox="1"/>
          <p:nvPr>
            <p:ph idx="1" type="body"/>
          </p:nvPr>
        </p:nvSpPr>
        <p:spPr>
          <a:xfrm>
            <a:off x="3156850" y="1373925"/>
            <a:ext cx="2218800" cy="3769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toast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fixed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width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220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16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border-radius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8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toast-one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40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right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40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#2563eb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z-index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toast-two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70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right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70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#dc2626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z-index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9"/>
          <p:cNvSpPr txBox="1"/>
          <p:nvPr>
            <p:ph idx="1" type="body"/>
          </p:nvPr>
        </p:nvSpPr>
        <p:spPr>
          <a:xfrm>
            <a:off x="2851725" y="1321250"/>
            <a:ext cx="2116500" cy="3723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// More CSS</a:t>
            </a:r>
            <a:endParaRPr sz="1100">
              <a:solidFill>
                <a:srgbClr val="D2CD8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dropdown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absolute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top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30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left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0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width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160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z-index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banner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24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lightblue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z-index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  <p:sp>
        <p:nvSpPr>
          <p:cNvPr id="369" name="Google Shape;369;p59"/>
          <p:cNvSpPr txBox="1"/>
          <p:nvPr>
            <p:ph idx="1" type="body"/>
          </p:nvPr>
        </p:nvSpPr>
        <p:spPr>
          <a:xfrm>
            <a:off x="464100" y="1321250"/>
            <a:ext cx="2264100" cy="3723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&lt;!-- HTML --&gt;</a:t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nav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"navigation"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button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Courses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button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"dropdown"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Frontend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Backend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div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nav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100">
                <a:solidFill>
                  <a:srgbClr val="00C4C4"/>
                </a:solidFill>
                <a:highlight>
                  <a:schemeClr val="dk1"/>
                </a:highlight>
              </a:rPr>
              <a:t>"banner"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New courses available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1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1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1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8906"/>
                </a:solidFill>
                <a:highlight>
                  <a:schemeClr val="dk1"/>
                </a:highlight>
              </a:rPr>
              <a:t>// CSS</a:t>
            </a:r>
            <a:endParaRPr sz="9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navigation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position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relative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height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40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2CD86"/>
              </a:solidFill>
              <a:highlight>
                <a:schemeClr val="dk1"/>
              </a:highlight>
            </a:endParaRPr>
          </a:p>
        </p:txBody>
      </p:sp>
      <p:sp>
        <p:nvSpPr>
          <p:cNvPr id="370" name="Google Shape;370;p59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HTML/CSS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Activity: Position the Live Label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59"/>
          <p:cNvSpPr txBox="1"/>
          <p:nvPr>
            <p:ph idx="1" type="body"/>
          </p:nvPr>
        </p:nvSpPr>
        <p:spPr>
          <a:xfrm>
            <a:off x="5091750" y="1100050"/>
            <a:ext cx="3887400" cy="39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Which element currently appears on top where the elements overlap?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The dropdown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The banner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Both appear at the same stacking level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D. Neither element appears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B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Which change would place the dropdown above the banner?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A. Increase the dropdown’s z-index to a value greater than 2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B. Add more padding to the dropdown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C. Change the dropdown to display: block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D. Remove position: relative from the navigation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Answer: A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idx="1" type="body"/>
          </p:nvPr>
        </p:nvSpPr>
        <p:spPr>
          <a:xfrm>
            <a:off x="464100" y="1297725"/>
            <a:ext cx="4357200" cy="3747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8906"/>
                </a:solidFill>
                <a:highlight>
                  <a:schemeClr val="dk1"/>
                </a:highlight>
              </a:rPr>
              <a:t>&lt;!-- HTML --&gt;</a:t>
            </a:r>
            <a:endParaRPr sz="8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lang="en" sz="1000">
                <a:solidFill>
                  <a:srgbClr val="F6C1D0"/>
                </a:solidFill>
                <a:highlight>
                  <a:schemeClr val="dk1"/>
                </a:highlight>
              </a:rPr>
              <a:t>main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"event-card"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"live-badge"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Live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span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Frontend Workshop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Learn how CSS controls element placement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"schedule"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"schedule-heading"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  Workshop Schedule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h2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00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— CSS Review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30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— Positioning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11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30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— Practice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15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— Debugging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12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45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— Questions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p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section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class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"support-button"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href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=</a:t>
            </a:r>
            <a:r>
              <a:rPr lang="en" sz="1000">
                <a:solidFill>
                  <a:srgbClr val="00C4C4"/>
                </a:solidFill>
                <a:highlight>
                  <a:schemeClr val="dk1"/>
                </a:highlight>
              </a:rPr>
              <a:t>"#"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  Help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b="1" lang="en" sz="1000">
                <a:solidFill>
                  <a:srgbClr val="E66170"/>
                </a:solidFill>
                <a:highlight>
                  <a:schemeClr val="dk1"/>
                </a:highlight>
              </a:rPr>
              <a:t>a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&lt;/</a:t>
            </a:r>
            <a:r>
              <a:rPr lang="en" sz="1000">
                <a:solidFill>
                  <a:srgbClr val="F6C1D0"/>
                </a:solidFill>
                <a:highlight>
                  <a:schemeClr val="dk1"/>
                </a:highlight>
              </a:rPr>
              <a:t>main</a:t>
            </a:r>
            <a:r>
              <a:rPr lang="en" sz="1000">
                <a:solidFill>
                  <a:srgbClr val="FF8906"/>
                </a:solidFill>
                <a:highlight>
                  <a:schemeClr val="dk1"/>
                </a:highlight>
              </a:rPr>
              <a:t>&gt;</a:t>
            </a:r>
            <a:endParaRPr sz="1000">
              <a:solidFill>
                <a:srgbClr val="FF8906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378" name="Google Shape;378;p60"/>
          <p:cNvSpPr txBox="1"/>
          <p:nvPr>
            <p:ph idx="1" type="body"/>
          </p:nvPr>
        </p:nvSpPr>
        <p:spPr>
          <a:xfrm>
            <a:off x="5091750" y="1100050"/>
            <a:ext cx="38874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Goal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multiple positioning techniques to a small event interface.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Interface Requirements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Live badge positioned inside the event card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schedule heading that remains visible while the schedule scrolls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help button fixed to the viewport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Appropriate stacking order when elements overlap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9" name="Google Shape;379;p60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HTML/CSS Snippet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Activity: Build an Event Interface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"/>
          <p:cNvSpPr txBox="1"/>
          <p:nvPr>
            <p:ph idx="1" type="body"/>
          </p:nvPr>
        </p:nvSpPr>
        <p:spPr>
          <a:xfrm>
            <a:off x="464100" y="1297725"/>
            <a:ext cx="3288000" cy="3747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event-card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width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320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24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border-radius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999A9"/>
                </a:solidFill>
                <a:highlight>
                  <a:schemeClr val="dk1"/>
                </a:highlight>
              </a:rPr>
              <a:t>/* Establish a reference point for the badge */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live-badge 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red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1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4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100">
                <a:solidFill>
                  <a:srgbClr val="00A800"/>
                </a:solidFill>
                <a:highlight>
                  <a:schemeClr val="dk1"/>
                </a:highlight>
              </a:rPr>
              <a:t>8</a:t>
            </a:r>
            <a:r>
              <a:rPr lang="en" sz="11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100">
                <a:solidFill>
                  <a:srgbClr val="9999A9"/>
                </a:solidFill>
                <a:highlight>
                  <a:schemeClr val="dk1"/>
                </a:highlight>
              </a:rPr>
              <a:t>/* Place the badge in the top-right corner */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1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  <p:sp>
        <p:nvSpPr>
          <p:cNvPr id="386" name="Google Shape;386;p61"/>
          <p:cNvSpPr txBox="1"/>
          <p:nvPr>
            <p:ph idx="1" type="body"/>
          </p:nvPr>
        </p:nvSpPr>
        <p:spPr>
          <a:xfrm>
            <a:off x="464100" y="959150"/>
            <a:ext cx="3288000" cy="3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CSS Starter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Activity: Build an Event Interface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61"/>
          <p:cNvSpPr txBox="1"/>
          <p:nvPr>
            <p:ph idx="1" type="body"/>
          </p:nvPr>
        </p:nvSpPr>
        <p:spPr>
          <a:xfrm>
            <a:off x="4426500" y="1017725"/>
            <a:ext cx="3288000" cy="4026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schedule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height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180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overflow-y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auto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border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solid gray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schedule-heading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999A9"/>
                </a:solidFill>
                <a:highlight>
                  <a:schemeClr val="dk1"/>
                </a:highlight>
              </a:rPr>
              <a:t>/* Keep the heading visible while scrolling */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.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support-button 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{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background-color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#2563eb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color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white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padding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10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</a:t>
            </a:r>
            <a:r>
              <a:rPr lang="en" sz="1000">
                <a:solidFill>
                  <a:srgbClr val="00A800"/>
                </a:solidFill>
                <a:highlight>
                  <a:schemeClr val="dk1"/>
                </a:highlight>
              </a:rPr>
              <a:t>14</a:t>
            </a:r>
            <a:r>
              <a:rPr lang="en" sz="1000">
                <a:solidFill>
                  <a:srgbClr val="006600"/>
                </a:solidFill>
                <a:highlight>
                  <a:schemeClr val="dk1"/>
                </a:highlight>
              </a:rPr>
              <a:t>px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04050"/>
                </a:solidFill>
                <a:highlight>
                  <a:schemeClr val="dk1"/>
                </a:highlight>
              </a:rPr>
              <a:t>text-decoration</a:t>
            </a:r>
            <a:r>
              <a:rPr lang="en" sz="1000">
                <a:solidFill>
                  <a:srgbClr val="D2CD86"/>
                </a:solidFill>
                <a:highlight>
                  <a:schemeClr val="dk1"/>
                </a:highlight>
              </a:rPr>
              <a:t>:</a:t>
            </a: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none</a:t>
            </a: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;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1D1D1"/>
                </a:solidFill>
                <a:highlight>
                  <a:schemeClr val="dk1"/>
                </a:highlight>
              </a:rPr>
              <a:t>  </a:t>
            </a:r>
            <a:r>
              <a:rPr lang="en" sz="1000">
                <a:solidFill>
                  <a:srgbClr val="9999A9"/>
                </a:solidFill>
                <a:highlight>
                  <a:schemeClr val="dk1"/>
                </a:highlight>
              </a:rPr>
              <a:t>/* Keep the button in the bottom-right of the viewport */</a:t>
            </a:r>
            <a:endParaRPr sz="1000">
              <a:solidFill>
                <a:srgbClr val="D1D1D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060B0"/>
                </a:solidFill>
                <a:highlight>
                  <a:schemeClr val="dk1"/>
                </a:highlight>
              </a:rPr>
              <a:t>}</a:t>
            </a:r>
            <a:endParaRPr sz="1000">
              <a:solidFill>
                <a:srgbClr val="B060B0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890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/>
          <p:nvPr>
            <p:ph idx="1" type="body"/>
          </p:nvPr>
        </p:nvSpPr>
        <p:spPr>
          <a:xfrm>
            <a:off x="458550" y="1100050"/>
            <a:ext cx="7302600" cy="4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static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Keeps an element in its default position within normal flow.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relative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Moves an element relative to its original location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Preserves its original space.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absolute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Removes an element from normal flow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Positions it relative to a containing block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relative</a:t>
            </a:r>
            <a:endParaRPr sz="1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1" marL="9144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Moves an element relative to its original location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fixed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Positions an element relative to the viewport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Keeps it in place while the page scrolls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sticky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Keeps an element in normal flow until a scroll threshold is reached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Restricts the element to its scrolling container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820">
                <a:latin typeface="Montserrat"/>
                <a:ea typeface="Montserrat"/>
                <a:cs typeface="Montserrat"/>
                <a:sym typeface="Montserrat"/>
              </a:rPr>
              <a:t>Choosing the Right Position Value</a:t>
            </a:r>
            <a:endParaRPr b="1" sz="282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/>
          <p:nvPr/>
        </p:nvSpPr>
        <p:spPr>
          <a:xfrm>
            <a:off x="0" y="2301000"/>
            <a:ext cx="9144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That’s it for today!</a:t>
            </a:r>
            <a:endParaRPr sz="238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dk1"/>
                </a:solidFill>
              </a:rPr>
              <a:t>Any questions?</a:t>
            </a:r>
            <a:endParaRPr sz="23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