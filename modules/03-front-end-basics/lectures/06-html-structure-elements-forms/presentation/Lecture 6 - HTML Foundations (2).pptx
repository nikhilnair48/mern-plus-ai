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embeddedFontLst>
    <p:embeddedFont>
      <p:font typeface="Montserrat"/>
      <p:regular r:id="rId61"/>
      <p:bold r:id="rId62"/>
      <p:italic r:id="rId63"/>
      <p:boldItalic r:id="rId64"/>
    </p:embeddedFont>
    <p:embeddedFont>
      <p:font typeface="Montserrat Medium"/>
      <p:regular r:id="rId65"/>
      <p:bold r:id="rId66"/>
      <p:italic r:id="rId67"/>
      <p:boldItalic r:id="rId68"/>
    </p:embeddedFon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.fntdata"/><Relationship Id="rId61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64" Type="http://schemas.openxmlformats.org/officeDocument/2006/relationships/font" Target="fonts/Montserrat-boldItalic.fntdata"/><Relationship Id="rId63" Type="http://schemas.openxmlformats.org/officeDocument/2006/relationships/font" Target="fonts/Montserrat-italic.fntdata"/><Relationship Id="rId22" Type="http://schemas.openxmlformats.org/officeDocument/2006/relationships/slide" Target="slides/slide17.xml"/><Relationship Id="rId66" Type="http://schemas.openxmlformats.org/officeDocument/2006/relationships/font" Target="fonts/MontserratMedium-bold.fntdata"/><Relationship Id="rId21" Type="http://schemas.openxmlformats.org/officeDocument/2006/relationships/slide" Target="slides/slide16.xml"/><Relationship Id="rId65" Type="http://schemas.openxmlformats.org/officeDocument/2006/relationships/font" Target="fonts/MontserratMedium-regular.fntdata"/><Relationship Id="rId24" Type="http://schemas.openxmlformats.org/officeDocument/2006/relationships/slide" Target="slides/slide19.xml"/><Relationship Id="rId68" Type="http://schemas.openxmlformats.org/officeDocument/2006/relationships/font" Target="fonts/MontserratMedium-boldItalic.fntdata"/><Relationship Id="rId23" Type="http://schemas.openxmlformats.org/officeDocument/2006/relationships/slide" Target="slides/slide18.xml"/><Relationship Id="rId67" Type="http://schemas.openxmlformats.org/officeDocument/2006/relationships/font" Target="fonts/MontserratMedium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2f8fecb86_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2f8fecb86_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2f8fecb86_3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2f8fecb86_3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f8fecb86_3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2f8fecb86_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305edc56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305edc56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305edc5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305edc5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05edc5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305edc5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05edc56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05edc56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033cf0b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3033cf0b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2f8fecb86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2f8fecb86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3033cf0b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3033cf0b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3033cf0b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3033cf0b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3033cf0b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3033cf0b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033cf0b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3033cf0b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3033cf0b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3033cf0b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033cf0b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3033cf0b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033cf0b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033cf0b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033cf0b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3033cf0b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3033cf0ba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3033cf0b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3033cf0b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3033cf0b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3033cf0ba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3033cf0b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3033cf0b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3033cf0b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3033cf0b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3033cf0b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2f8fecb86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2f8fecb86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033cf0b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3033cf0b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3033cf0ba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3033cf0b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3033cf0ba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3033cf0b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3033cf0b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3033cf0b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3033cf0b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3033cf0b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3033cf0ba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3033cf0b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3033cf0b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3033cf0b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305edc56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305edc56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305edc56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305edc56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3033cf0ba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3033cf0ba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3033cf0ba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3033cf0ba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3033cf0ba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3033cf0ba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3033cf0ba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3033cf0ba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3033cf0ba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3033cf0ba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3033cf0ba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3033cf0ba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3033cf0ba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3033cf0ba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3033cf0ba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3033cf0ba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3033cf0ba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3033cf0ba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305edc56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305edc56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305edc56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305edc56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3033cf0ba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3033cf0ba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3033cf0ba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3033cf0ba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3033cf0ba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3033cf0ba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3033cf0ba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3033cf0ba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3033cf0ba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3033cf0ba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3033cf0ba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3033cf0ba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3033cf0ba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3033cf0ba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3033cf0ba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3033cf0ba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3033cf0ba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3033cf0ba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305edc56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305edc56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305edc56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305edc56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305edc56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305edc56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f8fecb86_10_0)">
  <p:cSld name="Generated (g3f2f8fecb86_10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.org/History/19921103-hypertext/hypertext/WWW/MarkUp/Tags.html" TargetMode="External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w3schools.am/tryit/tryitfb35.html?filename=tryhtml_defaul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.mozilla.org/en-US/docs/Web/HTML/Elemen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311708" y="744575"/>
            <a:ext cx="8520600" cy="2052600"/>
            <a:chOff x="0" y="0"/>
            <a:chExt cx="8520600" cy="20526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8520600" cy="20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0" y="0"/>
              <a:ext cx="8520600" cy="20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Lecture 6: HTML Foundations</a:t>
              </a:r>
              <a:endParaRPr b="0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14"/>
          <p:cNvGrpSpPr/>
          <p:nvPr/>
        </p:nvGrpSpPr>
        <p:grpSpPr>
          <a:xfrm>
            <a:off x="311700" y="2834126"/>
            <a:ext cx="8520600" cy="792600"/>
            <a:chOff x="0" y="0"/>
            <a:chExt cx="8520600" cy="792600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8520600" cy="79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0"/>
              <a:ext cx="85206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Build your first developer profile page.</a:t>
              </a:r>
              <a:endParaRPr b="0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25" y="1386800"/>
            <a:ext cx="914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Welcome to lecture 6!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Today’s Agenda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311700" y="1152477"/>
            <a:ext cx="8520600" cy="3416400"/>
            <a:chOff x="0" y="0"/>
            <a:chExt cx="8520600" cy="34164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8520600" cy="341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0" y="0"/>
              <a:ext cx="8520600" cy="3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228600" spcFirstLastPara="1" rIns="91400" wrap="square" tIns="91400">
              <a:noAutofit/>
            </a:bodyPr>
            <a:lstStyle/>
            <a:p>
              <a:pPr indent="0" lvl="0" marL="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Session Objectives</a:t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Warmup: Git/Github review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 to HTML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Understand the purpose and structure of HTML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Discover basic tags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2" marL="13716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■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div, span, paragraph (p), headers &amp; more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2" marL="13716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■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Semantic tags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2" marL="13716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■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Forms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2" marL="13716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■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Tables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Explore HTML attributes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Best Practices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Q&amp;A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Homework (due next tomorrow)</a:t>
              </a:r>
              <a:endParaRPr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6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79" name="Google Shape;79;p16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Checkpoint: Test Your Knowledge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6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408350" y="1076925"/>
            <a:ext cx="84240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1. What does the command, </a:t>
            </a:r>
            <a:r>
              <a:rPr lang="en" sz="1800" u="sng">
                <a:solidFill>
                  <a:schemeClr val="dk1"/>
                </a:solidFill>
              </a:rPr>
              <a:t>git status</a:t>
            </a:r>
            <a:r>
              <a:rPr lang="en" sz="1800">
                <a:solidFill>
                  <a:schemeClr val="dk1"/>
                </a:solidFill>
              </a:rPr>
              <a:t>, show?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The current state of files in the working directory and staging area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The list of all GitHub repositories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The password of your GitHub account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The total number of commits in the project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Answer: 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7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88" name="Google Shape;88;p17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Checkpoint: Test Your Knowledge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17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408350" y="1076925"/>
            <a:ext cx="84240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2. Which command is used to stage a file before committing?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git push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git add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git clone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git log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8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97" name="Google Shape;97;p18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Checkpoint: Test Your Knowledge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8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408350" y="1076925"/>
            <a:ext cx="84240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3. What is GitHub mainly used for?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Running JavaScript code in the browser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Designing website layouts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Hosting and collaborating on Git repositories online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Installing npm packages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C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9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06" name="Google Shape;106;p19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Checkpoint: Test Your Knowledge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19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408350" y="1076925"/>
            <a:ext cx="84240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4. Which command sends your local commits to a remote repository?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git init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git pull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git commit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git push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0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15" name="Google Shape;115;p20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0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Checkpoint: Test Your Knowledge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0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408350" y="1076925"/>
            <a:ext cx="84240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5. What does </a:t>
            </a:r>
            <a:r>
              <a:rPr lang="en" sz="1800" u="sng">
                <a:solidFill>
                  <a:schemeClr val="dk1"/>
                </a:solidFill>
              </a:rPr>
              <a:t>git clone</a:t>
            </a:r>
            <a:r>
              <a:rPr lang="en" sz="1800">
                <a:solidFill>
                  <a:schemeClr val="dk1"/>
                </a:solidFill>
              </a:rPr>
              <a:t> do?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Deletes a repository from GitHub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Creates a local copy of a remote repository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Uploads local files to GitHub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Shows the commit history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An introduction to HTML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/>
        </p:nvSpPr>
        <p:spPr>
          <a:xfrm>
            <a:off x="430850" y="1121900"/>
            <a:ext cx="61815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HyperText Markup Language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 markup language for creating web pages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 is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interpreted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by web browsers to display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Provides the layout and structure of a webpage (headers, paragraphs, links, and more)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Markup Language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 uses tags to "markup" content, indicating its role (e.g., heading, paragraph, list) in the webpage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use HTML?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 uses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tags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define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providing the building block for the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Semantic Meaning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Provides context to the structure, helping search engines and assistive technologies understand the purpose of different elements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Engine Optimization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Improves website ranking by providing search engines with clear information about the page's content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9" name="Google Shape;129;p22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30" name="Google Shape;130;p22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2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What’s HTML?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4750" y="1784175"/>
            <a:ext cx="2226851" cy="222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3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38" name="Google Shape;138;p23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3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A brief history of HTML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3"/>
          <p:cNvSpPr txBox="1"/>
          <p:nvPr/>
        </p:nvSpPr>
        <p:spPr>
          <a:xfrm>
            <a:off x="420900" y="2571750"/>
            <a:ext cx="79386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 Berners-Lee invented an early version of HTML in 1991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fact, you can view the first website created with HTML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here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early version of HTML didn’t enable a rich user experience on the web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 uses tags to "markup" content, indicating its role (e.g., heading, paragraph, list) in the webpage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Until the HTML5 in 2014, there was no standard way to present audio and video in the browser.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 rotWithShape="1">
          <a:blip r:embed="rId4">
            <a:alphaModFix/>
          </a:blip>
          <a:srcRect b="0" l="0" r="0" t="16493"/>
          <a:stretch/>
        </p:blipFill>
        <p:spPr>
          <a:xfrm>
            <a:off x="1981175" y="1086487"/>
            <a:ext cx="4818049" cy="125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195825" y="941525"/>
            <a:ext cx="8636400" cy="3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Basic structure of a HTML document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&lt;!DOCTYPE html&gt;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document type declaration.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Tells the browser which HTML version is being used (HTML5 is the standard).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is the very first line in an HTML document.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&lt;html&gt;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root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element of the page.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Contains all other HTML elements (except &lt;!DOCTYPE&gt;).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&lt;head&gt;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Contains metadata (information </a:t>
            </a: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HTML document), such as: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title of the page (displayed in the browser tab).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&lt;meta&gt;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tags: Information for browsers, search engines, etc.</a:t>
            </a:r>
            <a:endParaRPr sz="1100">
              <a:solidFill>
                <a:schemeClr val="dk1"/>
              </a:solidFill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&lt;link&gt;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tags: Links to external resources (like CSS files)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&lt;body&gt;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Contains the visible page content (text, images, etc.)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What’s the structure of HTML?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A basic HTML Page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64100" y="1161825"/>
            <a:ext cx="5210700" cy="3409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4A43"/>
                </a:solidFill>
              </a:rPr>
              <a:t>&lt;!DOCTYPE html&gt;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My First Page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meta</a:t>
            </a:r>
            <a:r>
              <a:rPr lang="en" sz="1200">
                <a:solidFill>
                  <a:srgbClr val="477766"/>
                </a:solidFill>
              </a:rPr>
              <a:t> charset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"UTF-8"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meta</a:t>
            </a:r>
            <a:r>
              <a:rPr lang="en" sz="1200">
                <a:solidFill>
                  <a:srgbClr val="477766"/>
                </a:solidFill>
              </a:rPr>
              <a:t> name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"description"</a:t>
            </a:r>
            <a:r>
              <a:rPr lang="en" sz="1200">
                <a:solidFill>
                  <a:srgbClr val="477766"/>
                </a:solidFill>
              </a:rPr>
              <a:t> content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"A simple HTML page"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h1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Welcome Header!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h1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This is a paragraph</a:t>
            </a:r>
            <a:r>
              <a:rPr lang="en" sz="1200">
                <a:solidFill>
                  <a:srgbClr val="778C77"/>
                </a:solidFill>
              </a:rPr>
              <a:t>.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808030"/>
              </a:solidFill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925" y="3147575"/>
            <a:ext cx="4086799" cy="12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Let’s Tag the HTML!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195825" y="941525"/>
            <a:ext cx="8636400" cy="3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comes to mind when you hear – tags?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example of tags are labels: price tag on a dress, hashtag on a post; they give us information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tags in HTML?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Instructions to a web browser to display content on a webpage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Heading Tags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&lt;h1&gt; to &lt;h6&gt; define headings of different levels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&lt;h1&gt; is the most important heading (main title)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&lt;h6&gt; is the least important heading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only one &lt;h1&gt; per page (usually the main title)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headings in the correct order (don't skip levels)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Paragraph Tag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&lt;p&gt; defines a paragraph of text.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Browsers automatically add spacing before and after paragraphs.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 within &lt;p&gt; tags is displayed as a block of text.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HTML Tags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Tags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87900" y="1161825"/>
            <a:ext cx="4944300" cy="3459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4A43"/>
                </a:solidFill>
              </a:rPr>
              <a:t>&lt;!DOCTYPE html&gt;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65700"/>
                </a:solidFill>
              </a:rPr>
              <a:t>&lt;</a:t>
            </a:r>
            <a:r>
              <a:rPr b="1" lang="en" sz="1400">
                <a:solidFill>
                  <a:srgbClr val="508050"/>
                </a:solidFill>
              </a:rPr>
              <a:t>html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65700"/>
                </a:solidFill>
              </a:rPr>
              <a:t>&lt;</a:t>
            </a:r>
            <a:r>
              <a:rPr b="1" lang="en" sz="1400">
                <a:solidFill>
                  <a:srgbClr val="508050"/>
                </a:solidFill>
              </a:rPr>
              <a:t>body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5CC66"/>
                </a:solidFill>
              </a:rPr>
              <a:t>  </a:t>
            </a:r>
            <a:r>
              <a:rPr lang="en" sz="1400">
                <a:solidFill>
                  <a:srgbClr val="865700"/>
                </a:solidFill>
              </a:rPr>
              <a:t>&lt;</a:t>
            </a:r>
            <a:r>
              <a:rPr b="1" lang="en" sz="1400">
                <a:solidFill>
                  <a:srgbClr val="508050"/>
                </a:solidFill>
              </a:rPr>
              <a:t>h1</a:t>
            </a:r>
            <a:r>
              <a:rPr lang="en" sz="1400">
                <a:solidFill>
                  <a:srgbClr val="865700"/>
                </a:solidFill>
              </a:rPr>
              <a:t>&gt;</a:t>
            </a:r>
            <a:r>
              <a:rPr lang="en" sz="1400">
                <a:solidFill>
                  <a:srgbClr val="55CC66"/>
                </a:solidFill>
              </a:rPr>
              <a:t>This is the main title</a:t>
            </a: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h1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5CC66"/>
                </a:solidFill>
              </a:rPr>
              <a:t>  </a:t>
            </a:r>
            <a:r>
              <a:rPr lang="en" sz="1400">
                <a:solidFill>
                  <a:srgbClr val="865700"/>
                </a:solidFill>
              </a:rPr>
              <a:t>&lt;</a:t>
            </a:r>
            <a:r>
              <a:rPr b="1" lang="en" sz="1400">
                <a:solidFill>
                  <a:srgbClr val="508050"/>
                </a:solidFill>
              </a:rPr>
              <a:t>p</a:t>
            </a:r>
            <a:r>
              <a:rPr lang="en" sz="1400">
                <a:solidFill>
                  <a:srgbClr val="865700"/>
                </a:solidFill>
              </a:rPr>
              <a:t>&gt;</a:t>
            </a:r>
            <a:r>
              <a:rPr lang="en" sz="1400">
                <a:solidFill>
                  <a:srgbClr val="55CC66"/>
                </a:solidFill>
              </a:rPr>
              <a:t>This is a paragraph of text</a:t>
            </a:r>
            <a:r>
              <a:rPr lang="en" sz="1400">
                <a:solidFill>
                  <a:srgbClr val="778C77"/>
                </a:solidFill>
              </a:rPr>
              <a:t>.</a:t>
            </a: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p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5CC66"/>
                </a:solidFill>
              </a:rPr>
              <a:t>  </a:t>
            </a:r>
            <a:r>
              <a:rPr lang="en" sz="1400">
                <a:solidFill>
                  <a:srgbClr val="865700"/>
                </a:solidFill>
              </a:rPr>
              <a:t>&lt;</a:t>
            </a:r>
            <a:r>
              <a:rPr b="1" lang="en" sz="1400">
                <a:solidFill>
                  <a:srgbClr val="508050"/>
                </a:solidFill>
              </a:rPr>
              <a:t>h2</a:t>
            </a:r>
            <a:r>
              <a:rPr lang="en" sz="1400">
                <a:solidFill>
                  <a:srgbClr val="865700"/>
                </a:solidFill>
              </a:rPr>
              <a:t>&gt;</a:t>
            </a:r>
            <a:r>
              <a:rPr lang="en" sz="1400">
                <a:solidFill>
                  <a:srgbClr val="55CC66"/>
                </a:solidFill>
              </a:rPr>
              <a:t>This is a subheading</a:t>
            </a: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h2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5CC66"/>
                </a:solidFill>
              </a:rPr>
              <a:t>  </a:t>
            </a:r>
            <a:r>
              <a:rPr lang="en" sz="1400">
                <a:solidFill>
                  <a:srgbClr val="865700"/>
                </a:solidFill>
              </a:rPr>
              <a:t>&lt;</a:t>
            </a:r>
            <a:r>
              <a:rPr b="1" lang="en" sz="1400">
                <a:solidFill>
                  <a:srgbClr val="508050"/>
                </a:solidFill>
              </a:rPr>
              <a:t>p</a:t>
            </a:r>
            <a:r>
              <a:rPr lang="en" sz="1400">
                <a:solidFill>
                  <a:srgbClr val="865700"/>
                </a:solidFill>
              </a:rPr>
              <a:t>&gt;</a:t>
            </a:r>
            <a:r>
              <a:rPr lang="en" sz="1400">
                <a:solidFill>
                  <a:srgbClr val="55CC66"/>
                </a:solidFill>
              </a:rPr>
              <a:t>Another paragraph with more text</a:t>
            </a:r>
            <a:r>
              <a:rPr lang="en" sz="1400">
                <a:solidFill>
                  <a:srgbClr val="778C77"/>
                </a:solidFill>
              </a:rPr>
              <a:t>.</a:t>
            </a: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p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65700"/>
                </a:solidFill>
              </a:rPr>
              <a:t>  &lt;</a:t>
            </a:r>
            <a:r>
              <a:rPr b="1" lang="en" sz="1400">
                <a:solidFill>
                  <a:srgbClr val="508050"/>
                </a:solidFill>
              </a:rPr>
              <a:t>h3</a:t>
            </a:r>
            <a:r>
              <a:rPr lang="en" sz="1400">
                <a:solidFill>
                  <a:srgbClr val="865700"/>
                </a:solidFill>
              </a:rPr>
              <a:t>&gt;</a:t>
            </a:r>
            <a:r>
              <a:rPr lang="en" sz="1400">
                <a:solidFill>
                  <a:srgbClr val="55CC66"/>
                </a:solidFill>
              </a:rPr>
              <a:t>A smaller heading</a:t>
            </a: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h3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body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65700"/>
                </a:solidFill>
              </a:rPr>
              <a:t>&lt;/</a:t>
            </a:r>
            <a:r>
              <a:rPr b="1" lang="en" sz="1400">
                <a:solidFill>
                  <a:srgbClr val="508050"/>
                </a:solidFill>
              </a:rPr>
              <a:t>html</a:t>
            </a:r>
            <a:r>
              <a:rPr lang="en" sz="1400">
                <a:solidFill>
                  <a:srgbClr val="865700"/>
                </a:solidFill>
              </a:rPr>
              <a:t>&gt;</a:t>
            </a:r>
            <a:endParaRPr sz="14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4A43"/>
              </a:solidFill>
              <a:highlight>
                <a:srgbClr val="001800"/>
              </a:highlight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950" y="1534150"/>
            <a:ext cx="3507000" cy="245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195825" y="941525"/>
            <a:ext cx="86364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Formatting Tags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&lt;b&gt;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(Bold): Renders text in bold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&lt;strong&gt;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(Strong): Indicates strong importance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Semantic meaning; screen readers may emphasize this text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Eg: "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Warning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 This is very dangerous."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&lt;i&gt;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(Italic): Renders text in italic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&lt;em&gt;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(Emphasis): Indicates emphasis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Semantic meaning; screen readers may emphasize this text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Eg: "I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love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carrots" vs. "I love carrots"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&lt;br&gt;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(Line Break): Inserts a single line break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Useful for formatting addresses or poems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an empty tag; meaning, it doesn't have a closing tag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&lt;hr&gt;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(Horizontal Rule): Creates a horizontal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to separate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Uncovering HTML Tags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: Continued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Examples: Formatting Tags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439075" y="1071000"/>
            <a:ext cx="5299500" cy="3188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A43"/>
                </a:solidFill>
              </a:rPr>
              <a:t>&lt;!DOCTYPE html&gt;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is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bold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 text and this is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strong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important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strong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 text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is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italic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i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 text and this is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em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emphasized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em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 text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is a line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with a line break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is below the horizontal rule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b="1" sz="1200">
              <a:solidFill>
                <a:srgbClr val="508050"/>
              </a:solidFill>
              <a:highlight>
                <a:srgbClr val="001800"/>
              </a:highlight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075" y="2409125"/>
            <a:ext cx="2957099" cy="15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195825" y="2938800"/>
            <a:ext cx="8520600" cy="19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comes to mind when you hear – element?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Elements may be found in the periodic table in chemistry; shapes or colors in art/design; characters, plot or setting in a story.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elements in HTML?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Basic building blocks of a webpage.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Usually consists of a start tag and end tag, with the content inserted in between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include attributes to add extra information.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HTML Elements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125" y="1120226"/>
            <a:ext cx="389572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195825" y="2938800"/>
            <a:ext cx="8520600" cy="19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comes to mind when you hear – attributes?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Attributes is comparable to characteristics (eg: of a person) or features that describe something.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attributes in HTML?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Attributes provide additional  information about an element.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Always in name="value" pairs.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 behavior, appearance, or metadata of elements.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What are attributes?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525" y="1358775"/>
            <a:ext cx="455295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1700" y="1017725"/>
            <a:ext cx="84048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Your task: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 the basic structure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&lt;!DOCTYPE html&gt;, &lt;html&gt;, &lt;head&gt;, &lt;body&gt;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Inside &lt;head&gt;, add a &lt;title&gt;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Inside &lt;body&gt;, add: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&lt;h1&gt; heading tag with a header of your choice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&lt;p&gt; paragraph with text of your choice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 it in your browser and verify it displays the content. </a:t>
            </a:r>
            <a:r>
              <a:rPr lang="en" sz="14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  <a:t>W3C Link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Recommended: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Create a new folder on your computer named developer-profile.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Inside that folder, create a file named index.html.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 the file in your code editor and type the starter layout.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9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Exercise: Create your own HTML Document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195825" y="941525"/>
            <a:ext cx="86364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What is the purpose of &lt;!DOCTYPE html&gt;?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It tells the browser that the page is written using HTML5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B. It creates the visible heading on the 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C. It links the HTML page to GitHub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2. Which part of an HTML page contains content that is visible to the user?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&lt;head&gt;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B. &lt;body&gt;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C. &lt;meta&gt;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3. Which statement best explains the difference between an element and an attribute?</a:t>
            </a:r>
            <a:endParaRPr sz="14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An attribute creates a new paragraph, while an element creates a line break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B. An element is the full HTML structure like &lt;p&gt;Hello&lt;/p&gt;, while an attribute gives extra information like href or class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C. An element is only used inside &lt;head&gt;, while an attribute is only used inside &lt;body&gt;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Checkpoint!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HTML Elements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36"/>
          <p:cNvGrpSpPr/>
          <p:nvPr/>
        </p:nvGrpSpPr>
        <p:grpSpPr>
          <a:xfrm>
            <a:off x="311700" y="381000"/>
            <a:ext cx="8520600" cy="476400"/>
            <a:chOff x="0" y="0"/>
            <a:chExt cx="8520600" cy="476400"/>
          </a:xfrm>
        </p:grpSpPr>
        <p:sp>
          <p:nvSpPr>
            <p:cNvPr id="222" name="Google Shape;222;p36"/>
            <p:cNvSpPr/>
            <p:nvPr/>
          </p:nvSpPr>
          <p:spPr>
            <a:xfrm>
              <a:off x="0" y="0"/>
              <a:ext cx="8520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6"/>
            <p:cNvSpPr txBox="1"/>
            <p:nvPr/>
          </p:nvSpPr>
          <p:spPr>
            <a:xfrm>
              <a:off x="0" y="0"/>
              <a:ext cx="852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Developer's Toolkit: Common Elements</a:t>
              </a:r>
              <a:endPara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36"/>
          <p:cNvGrpSpPr/>
          <p:nvPr/>
        </p:nvGrpSpPr>
        <p:grpSpPr>
          <a:xfrm>
            <a:off x="311700" y="952500"/>
            <a:ext cx="8520600" cy="285900"/>
            <a:chOff x="0" y="0"/>
            <a:chExt cx="8520600" cy="285900"/>
          </a:xfrm>
        </p:grpSpPr>
        <p:sp>
          <p:nvSpPr>
            <p:cNvPr id="225" name="Google Shape;225;p36"/>
            <p:cNvSpPr/>
            <p:nvPr/>
          </p:nvSpPr>
          <p:spPr>
            <a:xfrm>
              <a:off x="0" y="0"/>
              <a:ext cx="85206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6"/>
            <p:cNvSpPr txBox="1"/>
            <p:nvPr/>
          </p:nvSpPr>
          <p:spPr>
            <a:xfrm>
              <a:off x="0" y="0"/>
              <a:ext cx="852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These are the most frequently used HTML tags for structuring content:</a:t>
              </a:r>
              <a:endParaRPr b="0" sz="1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36"/>
          <p:cNvGrpSpPr/>
          <p:nvPr/>
        </p:nvGrpSpPr>
        <p:grpSpPr>
          <a:xfrm>
            <a:off x="311700" y="1428750"/>
            <a:ext cx="2648100" cy="3238500"/>
            <a:chOff x="0" y="0"/>
            <a:chExt cx="2648100" cy="3238500"/>
          </a:xfrm>
        </p:grpSpPr>
        <p:sp>
          <p:nvSpPr>
            <p:cNvPr id="228" name="Google Shape;228;p36"/>
            <p:cNvSpPr/>
            <p:nvPr/>
          </p:nvSpPr>
          <p:spPr>
            <a:xfrm>
              <a:off x="0" y="0"/>
              <a:ext cx="2648100" cy="3238500"/>
            </a:xfrm>
            <a:prstGeom prst="roundRect">
              <a:avLst>
                <a:gd fmla="val 2877" name="adj"/>
              </a:avLst>
            </a:prstGeom>
            <a:solidFill>
              <a:srgbClr val="FFFFFF"/>
            </a:solidFill>
            <a:ln cap="flat" cmpd="sng" w="19050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6"/>
            <p:cNvSpPr/>
            <p:nvPr/>
          </p:nvSpPr>
          <p:spPr>
            <a:xfrm>
              <a:off x="228600" y="266700"/>
              <a:ext cx="228600" cy="152400"/>
            </a:xfrm>
            <a:custGeom>
              <a:rect b="b" l="l" r="r" t="t"/>
              <a:pathLst>
                <a:path extrusionOk="0" h="120000" w="120000">
                  <a:moveTo>
                    <a:pt x="40000" y="120000"/>
                  </a:moveTo>
                  <a:lnTo>
                    <a:pt x="0" y="60000"/>
                  </a:lnTo>
                  <a:lnTo>
                    <a:pt x="40000" y="0"/>
                  </a:lnTo>
                  <a:moveTo>
                    <a:pt x="80000" y="120000"/>
                  </a:moveTo>
                  <a:lnTo>
                    <a:pt x="120000" y="60000"/>
                  </a:lnTo>
                  <a:lnTo>
                    <a:pt x="8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D63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6"/>
            <p:cNvSpPr txBox="1"/>
            <p:nvPr/>
          </p:nvSpPr>
          <p:spPr>
            <a:xfrm>
              <a:off x="190500" y="571500"/>
              <a:ext cx="2267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Headings &amp; Text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" name="Google Shape;231;p36"/>
            <p:cNvCxnSpPr/>
            <p:nvPr/>
          </p:nvCxnSpPr>
          <p:spPr>
            <a:xfrm>
              <a:off x="190500" y="1000125"/>
              <a:ext cx="22671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2" name="Google Shape;232;p36"/>
            <p:cNvSpPr txBox="1"/>
            <p:nvPr/>
          </p:nvSpPr>
          <p:spPr>
            <a:xfrm>
              <a:off x="190500" y="1190625"/>
              <a:ext cx="2267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&lt;h1&gt;</a:t>
              </a:r>
              <a:r>
                <a:rPr b="0" lang="en" sz="12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&lt;h6&gt;</a:t>
              </a:r>
              <a:endParaRPr b="0" sz="1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Headings (from most to least important).</a:t>
              </a:r>
              <a:endParaRPr b="0" sz="12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&lt;p&gt;</a:t>
              </a:r>
              <a:endParaRPr b="0" sz="1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Paragraphs for standard text blocks.</a:t>
              </a:r>
              <a:endParaRPr b="0" sz="12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36"/>
          <p:cNvGrpSpPr/>
          <p:nvPr/>
        </p:nvGrpSpPr>
        <p:grpSpPr>
          <a:xfrm>
            <a:off x="3245400" y="1428750"/>
            <a:ext cx="2648100" cy="3238500"/>
            <a:chOff x="0" y="0"/>
            <a:chExt cx="2648100" cy="3238500"/>
          </a:xfrm>
        </p:grpSpPr>
        <p:sp>
          <p:nvSpPr>
            <p:cNvPr id="234" name="Google Shape;234;p36"/>
            <p:cNvSpPr/>
            <p:nvPr/>
          </p:nvSpPr>
          <p:spPr>
            <a:xfrm>
              <a:off x="0" y="0"/>
              <a:ext cx="2648100" cy="3238500"/>
            </a:xfrm>
            <a:prstGeom prst="roundRect">
              <a:avLst>
                <a:gd fmla="val 2877" name="adj"/>
              </a:avLst>
            </a:prstGeom>
            <a:solidFill>
              <a:srgbClr val="FFFFFF"/>
            </a:solidFill>
            <a:ln cap="flat" cmpd="sng" w="19050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228600" y="266700"/>
              <a:ext cx="228600" cy="152400"/>
            </a:xfrm>
            <a:custGeom>
              <a:rect b="b" l="l" r="r" t="t"/>
              <a:pathLst>
                <a:path extrusionOk="0" h="120000" w="120000">
                  <a:moveTo>
                    <a:pt x="40000" y="120000"/>
                  </a:moveTo>
                  <a:lnTo>
                    <a:pt x="0" y="60000"/>
                  </a:lnTo>
                  <a:lnTo>
                    <a:pt x="40000" y="0"/>
                  </a:lnTo>
                  <a:moveTo>
                    <a:pt x="80000" y="120000"/>
                  </a:moveTo>
                  <a:lnTo>
                    <a:pt x="120000" y="60000"/>
                  </a:lnTo>
                  <a:lnTo>
                    <a:pt x="8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D63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6"/>
            <p:cNvSpPr txBox="1"/>
            <p:nvPr/>
          </p:nvSpPr>
          <p:spPr>
            <a:xfrm>
              <a:off x="190500" y="571500"/>
              <a:ext cx="2267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Lists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36"/>
            <p:cNvCxnSpPr/>
            <p:nvPr/>
          </p:nvCxnSpPr>
          <p:spPr>
            <a:xfrm>
              <a:off x="190500" y="1000125"/>
              <a:ext cx="22671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" name="Google Shape;238;p36"/>
            <p:cNvSpPr txBox="1"/>
            <p:nvPr/>
          </p:nvSpPr>
          <p:spPr>
            <a:xfrm>
              <a:off x="190500" y="1190625"/>
              <a:ext cx="2267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&lt;ul&gt;</a:t>
              </a:r>
              <a:r>
                <a:rPr b="0" lang="en" sz="12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&amp; </a:t>
              </a: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&lt;ol&gt;</a:t>
              </a:r>
              <a:endParaRPr b="0" sz="1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Unordered (bulleted) and Ordered (numbered) lists.</a:t>
              </a:r>
              <a:endParaRPr b="0" sz="12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&lt;li&gt;</a:t>
              </a:r>
              <a:endParaRPr b="0" sz="1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List items (used inside ul/ol).</a:t>
              </a:r>
              <a:endParaRPr b="0" sz="12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36"/>
          <p:cNvGrpSpPr/>
          <p:nvPr/>
        </p:nvGrpSpPr>
        <p:grpSpPr>
          <a:xfrm>
            <a:off x="6179100" y="1428750"/>
            <a:ext cx="2648100" cy="3238500"/>
            <a:chOff x="0" y="0"/>
            <a:chExt cx="2648100" cy="3238500"/>
          </a:xfrm>
        </p:grpSpPr>
        <p:sp>
          <p:nvSpPr>
            <p:cNvPr id="240" name="Google Shape;240;p36"/>
            <p:cNvSpPr/>
            <p:nvPr/>
          </p:nvSpPr>
          <p:spPr>
            <a:xfrm>
              <a:off x="0" y="0"/>
              <a:ext cx="2648100" cy="3238500"/>
            </a:xfrm>
            <a:prstGeom prst="roundRect">
              <a:avLst>
                <a:gd fmla="val 2877" name="adj"/>
              </a:avLst>
            </a:prstGeom>
            <a:solidFill>
              <a:srgbClr val="FFFFFF"/>
            </a:solidFill>
            <a:ln cap="flat" cmpd="sng" w="19050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6"/>
            <p:cNvSpPr/>
            <p:nvPr/>
          </p:nvSpPr>
          <p:spPr>
            <a:xfrm>
              <a:off x="228600" y="266700"/>
              <a:ext cx="228600" cy="152400"/>
            </a:xfrm>
            <a:custGeom>
              <a:rect b="b" l="l" r="r" t="t"/>
              <a:pathLst>
                <a:path extrusionOk="0" h="120000" w="120000">
                  <a:moveTo>
                    <a:pt x="40000" y="120000"/>
                  </a:moveTo>
                  <a:lnTo>
                    <a:pt x="0" y="60000"/>
                  </a:lnTo>
                  <a:lnTo>
                    <a:pt x="40000" y="0"/>
                  </a:lnTo>
                  <a:moveTo>
                    <a:pt x="80000" y="120000"/>
                  </a:moveTo>
                  <a:lnTo>
                    <a:pt x="120000" y="60000"/>
                  </a:lnTo>
                  <a:lnTo>
                    <a:pt x="8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D63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6"/>
            <p:cNvSpPr txBox="1"/>
            <p:nvPr/>
          </p:nvSpPr>
          <p:spPr>
            <a:xfrm>
              <a:off x="190500" y="571500"/>
              <a:ext cx="2267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Media &amp; Links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" name="Google Shape;243;p36"/>
            <p:cNvCxnSpPr/>
            <p:nvPr/>
          </p:nvCxnSpPr>
          <p:spPr>
            <a:xfrm>
              <a:off x="190500" y="1000125"/>
              <a:ext cx="22671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36"/>
            <p:cNvSpPr txBox="1"/>
            <p:nvPr/>
          </p:nvSpPr>
          <p:spPr>
            <a:xfrm>
              <a:off x="190500" y="1190625"/>
              <a:ext cx="2267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&lt;a&gt;</a:t>
              </a:r>
              <a:endParaRPr b="0" sz="1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Anchor tags for hyperlinks.</a:t>
              </a:r>
              <a:endParaRPr b="0" sz="12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6338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&lt;img&gt;</a:t>
              </a:r>
              <a:endParaRPr b="0" sz="1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Images (requires a 'src' attribute).</a:t>
              </a:r>
              <a:endParaRPr b="0" sz="12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195825" y="1856200"/>
            <a:ext cx="8683500" cy="32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provides two main types of lists to structure information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Unordered Lists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to display a list of items where the order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doesn't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matter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Represented by the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&lt;ul&gt;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tag (unordered list)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item in the list is represented by the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&lt;li&gt;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tag (list item)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default, unordered lists are displayed with bullet points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Ordered lists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to display a list of items where the order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matter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Represented by the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&lt;ol&gt;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tag (ordered list)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item in the list is also represented by the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&lt;li&gt;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default, ordered lists are displayed with numbers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Lists can be nested within each other to create sub-lists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Where have you seen ordered or unordered lists on the web?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Navigation menus, product listings, step-by-step instructions for a recipe, etc.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0" name="Google Shape;25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Lists in HTML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p37"/>
          <p:cNvPicPr preferRelativeResize="0"/>
          <p:nvPr/>
        </p:nvPicPr>
        <p:blipFill rotWithShape="1">
          <a:blip r:embed="rId3">
            <a:alphaModFix/>
          </a:blip>
          <a:srcRect b="0" l="0" r="0" t="13397"/>
          <a:stretch/>
        </p:blipFill>
        <p:spPr>
          <a:xfrm>
            <a:off x="2631275" y="1017725"/>
            <a:ext cx="3881450" cy="8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Unordered vs Ordered List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11700" y="1071000"/>
            <a:ext cx="2764800" cy="3103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4A43"/>
                </a:solidFill>
              </a:rPr>
              <a:t>&lt;!DOCTYPE html&gt;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HTML Lists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Unordered List of Fruits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ul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Apple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Banana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Orange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ul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004A43"/>
              </a:solidFill>
            </a:endParaRPr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4209100" y="1071000"/>
            <a:ext cx="3113400" cy="321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4A43"/>
                </a:solidFill>
              </a:rPr>
              <a:t>&lt;!DOCTYPE html&gt;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HTML Lists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Ordered List of Instructions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ol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First step: Prepare ingredients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Second step: Mix the batter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Third step: Bake for </a:t>
            </a:r>
            <a:r>
              <a:rPr lang="en" sz="1200">
                <a:solidFill>
                  <a:srgbClr val="778C77"/>
                </a:solidFill>
              </a:rPr>
              <a:t>30</a:t>
            </a:r>
            <a:r>
              <a:rPr lang="en" sz="1200">
                <a:solidFill>
                  <a:srgbClr val="55CC66"/>
                </a:solidFill>
              </a:rPr>
              <a:t> minutes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li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ol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004A43"/>
              </a:solidFill>
            </a:endParaRPr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300" y="3777763"/>
            <a:ext cx="2764801" cy="118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550" y="3745663"/>
            <a:ext cx="339675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Nested Ordered List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1374650" y="1116625"/>
            <a:ext cx="3462000" cy="3824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A43"/>
                </a:solidFill>
              </a:rPr>
              <a:t>&lt;!DOCTYPE html&gt;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HTML Lists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Nested List Example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ol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Category </a:t>
            </a:r>
            <a:r>
              <a:rPr lang="en" sz="1100">
                <a:solidFill>
                  <a:srgbClr val="778C77"/>
                </a:solidFill>
              </a:rPr>
              <a:t>1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ul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Item A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Item B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ul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Category </a:t>
            </a:r>
            <a:r>
              <a:rPr lang="en" sz="1100">
                <a:solidFill>
                  <a:srgbClr val="778C77"/>
                </a:solidFill>
              </a:rPr>
              <a:t>2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ol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4A43"/>
              </a:solidFill>
            </a:endParaRPr>
          </a:p>
        </p:txBody>
      </p:sp>
      <p:pic>
        <p:nvPicPr>
          <p:cNvPr id="267" name="Google Shape;267;p39"/>
          <p:cNvPicPr preferRelativeResize="0"/>
          <p:nvPr/>
        </p:nvPicPr>
        <p:blipFill rotWithShape="1">
          <a:blip r:embed="rId3">
            <a:alphaModFix/>
          </a:blip>
          <a:srcRect b="0" l="2884" r="0" t="0"/>
          <a:stretch/>
        </p:blipFill>
        <p:spPr>
          <a:xfrm>
            <a:off x="4616150" y="2091800"/>
            <a:ext cx="3205001" cy="19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311625" y="1067975"/>
            <a:ext cx="84528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&lt;img&gt; tag is used to embed images in a web page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It's an empty tag, meaning it has no closing tag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Attributes of an &lt;img&gt; tag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src (source): Specifies the path or URL to the image file.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an absolute URL (links to an image on another website) or a relative URL (links to an image within your website's files)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alt (alternative text): Provides a text description of the image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Crucial for accessibility: screen readers use the alt text to describe the image to visually impaired users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Important for SEO: search engines use alt text to understand the content of the image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Displayed if the image fails to load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width and height: Specify the dimensions of the image in pixels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It's best practice to size images correctly to avoid distortion and improve page load time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&lt;img&gt; tag multiple file formats. Eg: JPEG, PNG, GIF, SVG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3" name="Google Shape;27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Images in HTML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439075" y="1071000"/>
            <a:ext cx="5474400" cy="385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4A43"/>
                </a:solidFill>
              </a:rPr>
              <a:t>&lt;!DOCTYPE html&gt;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HTML Images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h1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My Profile Picture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h1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img</a:t>
            </a:r>
            <a:r>
              <a:rPr lang="en" sz="1200">
                <a:solidFill>
                  <a:srgbClr val="477766"/>
                </a:solidFill>
              </a:rPr>
              <a:t> src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"profile.jpg"</a:t>
            </a:r>
            <a:r>
              <a:rPr lang="en" sz="1200">
                <a:solidFill>
                  <a:srgbClr val="477766"/>
                </a:solidFill>
              </a:rPr>
              <a:t> alt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</a:t>
            </a:r>
            <a:r>
              <a:rPr lang="en" sz="1200">
                <a:solidFill>
                  <a:srgbClr val="CC5555"/>
                </a:solidFill>
              </a:rPr>
              <a:t>A profile photo</a:t>
            </a:r>
            <a:r>
              <a:rPr lang="en" sz="1200">
                <a:solidFill>
                  <a:srgbClr val="CC5555"/>
                </a:solidFill>
              </a:rPr>
              <a:t>"</a:t>
            </a:r>
            <a:r>
              <a:rPr lang="en" sz="1200">
                <a:solidFill>
                  <a:srgbClr val="477766"/>
                </a:solidFill>
              </a:rPr>
              <a:t> width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"200"</a:t>
            </a:r>
            <a:r>
              <a:rPr lang="en" sz="1200">
                <a:solidFill>
                  <a:srgbClr val="477766"/>
                </a:solidFill>
              </a:rPr>
              <a:t> height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"200"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This image is from an external source: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img</a:t>
            </a:r>
            <a:r>
              <a:rPr lang="en" sz="1200">
                <a:solidFill>
                  <a:srgbClr val="477766"/>
                </a:solidFill>
              </a:rPr>
              <a:t> src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"https://www.example.com/image.png"</a:t>
            </a:r>
            <a:r>
              <a:rPr lang="en" sz="1200">
                <a:solidFill>
                  <a:srgbClr val="477766"/>
                </a:solidFill>
              </a:rPr>
              <a:t> alt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"An example image"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300">
              <a:solidFill>
                <a:srgbClr val="004A43"/>
              </a:solidFill>
            </a:endParaRPr>
          </a:p>
        </p:txBody>
      </p:sp>
      <p:sp>
        <p:nvSpPr>
          <p:cNvPr id="279" name="Google Shape;27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Images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0" name="Google Shape;280;p41"/>
          <p:cNvPicPr preferRelativeResize="0"/>
          <p:nvPr/>
        </p:nvPicPr>
        <p:blipFill rotWithShape="1">
          <a:blip r:embed="rId3">
            <a:alphaModFix/>
          </a:blip>
          <a:srcRect b="0" l="0" r="10682" t="0"/>
          <a:stretch/>
        </p:blipFill>
        <p:spPr>
          <a:xfrm>
            <a:off x="5693775" y="878737"/>
            <a:ext cx="1818412" cy="35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195825" y="941525"/>
            <a:ext cx="8636400" cy="37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&lt;a&gt; (anchor) tag is used to create hyperlinks, which connect one web page to another page or resource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&lt;a&gt; tag can link to: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Another web page on the same website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web page on a different website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specific section within the same page (using fragment identifiers)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resources, such as files to download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Attributes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href (hypertext reference): Specifies the destination of the link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a URL or a relative path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target: Specifies where to open the linked document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_self (default): Opens the link in the same tab/window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_blank: Opens the link in a new tab/window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Links can be applied to text, images, or any other HTML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Links in HTML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Links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43"/>
          <p:cNvSpPr txBox="1"/>
          <p:nvPr>
            <p:ph idx="1" type="body"/>
          </p:nvPr>
        </p:nvSpPr>
        <p:spPr>
          <a:xfrm>
            <a:off x="439075" y="1071000"/>
            <a:ext cx="58806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4A43"/>
                </a:solidFill>
              </a:rPr>
              <a:t>&lt;!DOCTYPE html&gt;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HTML Links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title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head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Visit </a:t>
            </a:r>
            <a:endParaRPr sz="1200">
              <a:solidFill>
                <a:srgbClr val="55CC66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477766"/>
                </a:solidFill>
              </a:rPr>
              <a:t> href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"https://www.example.com"</a:t>
            </a:r>
            <a:r>
              <a:rPr lang="en" sz="1200">
                <a:solidFill>
                  <a:srgbClr val="477766"/>
                </a:solidFill>
              </a:rPr>
              <a:t> target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"_blank"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Example Website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        </a:t>
            </a:r>
            <a:r>
              <a:rPr lang="en" sz="1200">
                <a:solidFill>
                  <a:srgbClr val="55CC66"/>
                </a:solidFill>
              </a:rPr>
              <a:t>for more information</a:t>
            </a:r>
            <a:r>
              <a:rPr lang="en" sz="1200">
                <a:solidFill>
                  <a:srgbClr val="778C77"/>
                </a:solidFill>
              </a:rPr>
              <a:t>.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477766"/>
                </a:solidFill>
              </a:rPr>
              <a:t> href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"about.html"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Learn more about us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477766"/>
                </a:solidFill>
              </a:rPr>
              <a:t> href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"download.pdf"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Download the document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477766"/>
                </a:solidFill>
              </a:rPr>
              <a:t> href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"#section3"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Jump to Section </a:t>
            </a:r>
            <a:r>
              <a:rPr lang="en" sz="1200">
                <a:solidFill>
                  <a:srgbClr val="778C77"/>
                </a:solidFill>
              </a:rPr>
              <a:t>3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a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img</a:t>
            </a:r>
            <a:r>
              <a:rPr lang="en" sz="1200">
                <a:solidFill>
                  <a:srgbClr val="477766"/>
                </a:solidFill>
              </a:rPr>
              <a:t> src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"home.png"</a:t>
            </a:r>
            <a:r>
              <a:rPr lang="en" sz="1200">
                <a:solidFill>
                  <a:srgbClr val="477766"/>
                </a:solidFill>
              </a:rPr>
              <a:t> alt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"Home"</a:t>
            </a:r>
            <a:r>
              <a:rPr lang="en" sz="1200">
                <a:solidFill>
                  <a:srgbClr val="477766"/>
                </a:solidFill>
              </a:rPr>
              <a:t> width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"50"</a:t>
            </a:r>
            <a:r>
              <a:rPr lang="en" sz="1200">
                <a:solidFill>
                  <a:srgbClr val="477766"/>
                </a:solidFill>
              </a:rPr>
              <a:t> height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"50"</a:t>
            </a:r>
            <a:r>
              <a:rPr lang="en" sz="1200">
                <a:solidFill>
                  <a:srgbClr val="477766"/>
                </a:solidFill>
              </a:rPr>
              <a:t> href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"index.html"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body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html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4A43"/>
              </a:solidFill>
            </a:endParaRPr>
          </a:p>
        </p:txBody>
      </p:sp>
      <p:pic>
        <p:nvPicPr>
          <p:cNvPr id="293" name="Google Shape;293;p43"/>
          <p:cNvPicPr preferRelativeResize="0"/>
          <p:nvPr/>
        </p:nvPicPr>
        <p:blipFill rotWithShape="1">
          <a:blip r:embed="rId3">
            <a:alphaModFix/>
          </a:blip>
          <a:srcRect b="0" l="1555" r="0" t="0"/>
          <a:stretch/>
        </p:blipFill>
        <p:spPr>
          <a:xfrm>
            <a:off x="3989475" y="831500"/>
            <a:ext cx="4889750" cy="12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idx="1" type="body"/>
          </p:nvPr>
        </p:nvSpPr>
        <p:spPr>
          <a:xfrm>
            <a:off x="311700" y="1017725"/>
            <a:ext cx="84048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You’re given some notes from a lecture on frontend technologies.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Your task: c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onvert the given notes into HTML: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 Topics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		&lt;— header?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HTML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			&lt;— list?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Tags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Forms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Semantic HTML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 CSS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Selectors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Box Model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 JavaScript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Variables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- Functions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Consider how </a:t>
            </a:r>
            <a:r>
              <a:rPr i="1"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each line 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can be converted to an HTML element.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9" name="Google Shape;29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Exercise: 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Turn Notes into HTML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311700" y="1017725"/>
            <a:ext cx="84048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You’re given the below HTML snippet. 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Your task: review the HTML and fix the bugs!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5" name="Google Shape;30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Exercise: 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Spot and Fix the Broken Page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45"/>
          <p:cNvSpPr txBox="1"/>
          <p:nvPr>
            <p:ph idx="1" type="body"/>
          </p:nvPr>
        </p:nvSpPr>
        <p:spPr>
          <a:xfrm>
            <a:off x="840900" y="1896675"/>
            <a:ext cx="6753900" cy="1454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h2</a:t>
            </a:r>
            <a:r>
              <a:rPr lang="en" sz="1100">
                <a:solidFill>
                  <a:srgbClr val="333333"/>
                </a:solidFill>
              </a:rPr>
              <a:t>&gt;Useful Links&lt;/</a:t>
            </a:r>
            <a:r>
              <a:rPr lang="en" sz="1100">
                <a:solidFill>
                  <a:srgbClr val="007700"/>
                </a:solidFill>
              </a:rPr>
              <a:t>h2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li</a:t>
            </a:r>
            <a:r>
              <a:rPr lang="en" sz="1100">
                <a:solidFill>
                  <a:srgbClr val="333333"/>
                </a:solidFill>
              </a:rPr>
              <a:t>&gt;MDN HTML Docs&lt;/</a:t>
            </a:r>
            <a:r>
              <a:rPr lang="en" sz="1100">
                <a:solidFill>
                  <a:srgbClr val="007700"/>
                </a:solidFill>
              </a:rPr>
              <a:t>li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li</a:t>
            </a:r>
            <a:r>
              <a:rPr lang="en" sz="1100">
                <a:solidFill>
                  <a:srgbClr val="333333"/>
                </a:solidFill>
              </a:rPr>
              <a:t>&gt;GitHub&lt;/</a:t>
            </a:r>
            <a:r>
              <a:rPr lang="en" sz="1100">
                <a:solidFill>
                  <a:srgbClr val="007700"/>
                </a:solidFill>
              </a:rPr>
              <a:t>li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img</a:t>
            </a:r>
            <a:r>
              <a:rPr lang="en" sz="1100">
                <a:solidFill>
                  <a:srgbClr val="333333"/>
                </a:solidFill>
              </a:rPr>
              <a:t> </a:t>
            </a:r>
            <a:r>
              <a:rPr lang="en" sz="1100">
                <a:solidFill>
                  <a:srgbClr val="0000CC"/>
                </a:solidFill>
              </a:rPr>
              <a:t>href</a:t>
            </a:r>
            <a:r>
              <a:rPr lang="en" sz="1100">
                <a:solidFill>
                  <a:srgbClr val="333333"/>
                </a:solidFill>
              </a:rPr>
              <a:t>="profile.jpg" </a:t>
            </a:r>
            <a:r>
              <a:rPr lang="en" sz="1100">
                <a:solidFill>
                  <a:srgbClr val="0000CC"/>
                </a:solidFill>
              </a:rPr>
              <a:t>alt</a:t>
            </a:r>
            <a:r>
              <a:rPr lang="en" sz="1100">
                <a:solidFill>
                  <a:srgbClr val="333333"/>
                </a:solidFill>
              </a:rPr>
              <a:t>="Profile photo"&gt;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a</a:t>
            </a:r>
            <a:r>
              <a:rPr lang="en" sz="1100">
                <a:solidFill>
                  <a:srgbClr val="333333"/>
                </a:solidFill>
              </a:rPr>
              <a:t> </a:t>
            </a:r>
            <a:r>
              <a:rPr lang="en" sz="1100">
                <a:solidFill>
                  <a:srgbClr val="0000CC"/>
                </a:solidFill>
              </a:rPr>
              <a:t>src</a:t>
            </a:r>
            <a:r>
              <a:rPr lang="en" sz="1100">
                <a:solidFill>
                  <a:srgbClr val="333333"/>
                </a:solidFill>
              </a:rPr>
              <a:t>="https://developer.mozilla.org"&gt;Visit MDN&lt;/</a:t>
            </a:r>
            <a:r>
              <a:rPr lang="en" sz="1100">
                <a:solidFill>
                  <a:srgbClr val="007700"/>
                </a:solidFill>
              </a:rPr>
              <a:t>a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4A43"/>
              </a:solidFill>
            </a:endParaRPr>
          </a:p>
        </p:txBody>
      </p:sp>
      <p:sp>
        <p:nvSpPr>
          <p:cNvPr id="307" name="Google Shape;307;p45"/>
          <p:cNvSpPr txBox="1"/>
          <p:nvPr>
            <p:ph idx="1" type="body"/>
          </p:nvPr>
        </p:nvSpPr>
        <p:spPr>
          <a:xfrm>
            <a:off x="311700" y="3549300"/>
            <a:ext cx="8404800" cy="10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Answers: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&lt;li&gt; must be wrapped in &lt;ol&gt;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&lt;img&gt; must have an “src” attribute, not href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&lt;a&gt; must have an “href” attribute, not src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Organizing content with HTML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195825" y="941525"/>
            <a:ext cx="8636400" cy="4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&lt;div&gt; and &lt;span&gt; are both </a:t>
            </a:r>
            <a:r>
              <a:rPr lang="en" sz="14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container elements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 HTML, but they serve different purposes: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&lt;div&gt; (division): Is a block-level element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Creates a distinct block of content on the 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default, it takes up the full width available, starting a new line before and after itself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for structuring the overall layout of a web page into sections (header, footer, main content, sidebar, etc.)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&lt;span&gt;: Is an inline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to group small pieces of inline content, such as text or images.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only takes up as much width as its content requires and does not force line breaks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for styling or manipulating specific parts of text within a paragraph or other inline elements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Differences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Layout: &lt;div&gt; affects the overall page layout, while &lt;span&gt; affects the content flow within a block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Width: &lt;div&gt; expands to fill available width, &lt;span&gt; wraps its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 Breaks: &lt;div&gt; causes line breaks, &lt;span&gt; does not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nderstanding div vs span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Div &amp; Span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48"/>
          <p:cNvSpPr txBox="1"/>
          <p:nvPr>
            <p:ph idx="1" type="body"/>
          </p:nvPr>
        </p:nvSpPr>
        <p:spPr>
          <a:xfrm>
            <a:off x="439075" y="1071000"/>
            <a:ext cx="50712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4A43"/>
                </a:solidFill>
              </a:rPr>
              <a:t>&lt;!DOCTYPE html&gt;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title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Div and Span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title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div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Welcome to My Website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header section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div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div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main content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55CC66"/>
                </a:solidFill>
              </a:rPr>
              <a:t> It contains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span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important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span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 information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Another paragraph in the content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div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div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477766"/>
                </a:solidFill>
              </a:rPr>
              <a:t>&amp;copy;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778C77"/>
                </a:solidFill>
              </a:rPr>
              <a:t>2024</a:t>
            </a:r>
            <a:r>
              <a:rPr lang="en" sz="1000">
                <a:solidFill>
                  <a:srgbClr val="55CC66"/>
                </a:solidFill>
              </a:rPr>
              <a:t> My Website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div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4A43"/>
              </a:solidFill>
            </a:endParaRPr>
          </a:p>
        </p:txBody>
      </p:sp>
      <p:pic>
        <p:nvPicPr>
          <p:cNvPr id="325" name="Google Shape;32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223" y="739448"/>
            <a:ext cx="4085650" cy="20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Semantic HTML?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Semantic HTML uses HTML elements to reinforce the meaning of the content, rather than just its presentation.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It's about using the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right tag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the right job.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Using &lt;article&gt; to represent an article, &lt;nav&gt; for navigation, etc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is Semantic HTML Important?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Accessibility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Screen readers rely on semantic tags to understand the structure and purpose of content, making it easier for visually impaired users to navigate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Engine Optimization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search engines use semantic tags to better understand the content and structure of a webpage, which can improve search engine rankings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Maintainability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semantic HTML makes code easier to read, understand, and maintain for developers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Interoperability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semantic HTML ensures that web pages are interpreted consistently across different browsers and devices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Introduction to Semantic HTML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&lt;article&gt;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Represents a self-contained composition in a document, page, application, or site.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Examples: a blog post, a news article, a forum post, a user comment.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nested, where inner &lt;article&gt; elements represent content related to the outer article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&lt;section&gt;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Represents a thematic grouping of content within a document.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to group related content within a page.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Examples: chapters, headings, or themed groups of content.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&lt;section&gt; is typically used with a heading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&lt;nav&gt;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Represents a section of a page that provides navigation links.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Intended for major navigation blocks (e.g., primary navigation, table of contents).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 all groups of links need to be in a &lt;nav&gt;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Learning Semantic Tags in HTML5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idx="1" type="body"/>
          </p:nvPr>
        </p:nvSpPr>
        <p:spPr>
          <a:xfrm>
            <a:off x="439075" y="1071000"/>
            <a:ext cx="5001600" cy="3969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4A43"/>
                </a:solidFill>
              </a:rPr>
              <a:t>&lt;!DOCTYPE html&gt;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meta</a:t>
            </a:r>
            <a:r>
              <a:rPr lang="en" sz="1000">
                <a:solidFill>
                  <a:srgbClr val="477766"/>
                </a:solidFill>
              </a:rPr>
              <a:t> charset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"UTF-8"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title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Semantic HTML Example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title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header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Welcome to My Website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header section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header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lang="en" sz="1000">
                <a:solidFill>
                  <a:srgbClr val="5F5035"/>
                </a:solidFill>
              </a:rPr>
              <a:t>main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main content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55CC66"/>
                </a:solidFill>
              </a:rPr>
              <a:t> It contains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span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important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span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 information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Another paragraph in the content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lang="en" sz="1000">
                <a:solidFill>
                  <a:srgbClr val="5F5035"/>
                </a:solidFill>
              </a:rPr>
              <a:t>main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footer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477766"/>
                </a:solidFill>
              </a:rPr>
              <a:t>&amp;copy;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778C77"/>
                </a:solidFill>
              </a:rPr>
              <a:t>2024</a:t>
            </a:r>
            <a:r>
              <a:rPr lang="en" sz="1000">
                <a:solidFill>
                  <a:srgbClr val="55CC66"/>
                </a:solidFill>
              </a:rPr>
              <a:t> My Website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footer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4A43"/>
              </a:solidFill>
            </a:endParaRPr>
          </a:p>
        </p:txBody>
      </p:sp>
      <p:sp>
        <p:nvSpPr>
          <p:cNvPr id="343" name="Google Shape;34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620">
                <a:latin typeface="Montserrat"/>
                <a:ea typeface="Montserrat"/>
                <a:cs typeface="Montserrat"/>
                <a:sym typeface="Montserrat"/>
              </a:rPr>
              <a:t>Redo: div &amp; span example with semantic tags</a:t>
            </a:r>
            <a:endParaRPr b="1" sz="26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4" name="Google Shape;344;p51" title="Screenshot 2026-07-04 at 5.35.5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450" y="941925"/>
            <a:ext cx="4167350" cy="19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idx="1" type="body"/>
          </p:nvPr>
        </p:nvSpPr>
        <p:spPr>
          <a:xfrm>
            <a:off x="439075" y="1071000"/>
            <a:ext cx="36186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A43"/>
                </a:solidFill>
              </a:rPr>
              <a:t>&lt;!DOCTYPE html&gt;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Semantic Tags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nav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ul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Home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About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Blog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ul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nav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section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Introduction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section introduces the topic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section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4A43"/>
              </a:solidFill>
            </a:endParaRPr>
          </a:p>
        </p:txBody>
      </p:sp>
      <p:sp>
        <p:nvSpPr>
          <p:cNvPr id="350" name="Google Shape;35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Semantic Tags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52"/>
          <p:cNvSpPr txBox="1"/>
          <p:nvPr>
            <p:ph idx="1" type="body"/>
          </p:nvPr>
        </p:nvSpPr>
        <p:spPr>
          <a:xfrm>
            <a:off x="4318500" y="1071000"/>
            <a:ext cx="3286500" cy="3079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article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My Blog Post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is the content of my blog post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section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h3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Comments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h3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article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Great post!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article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section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article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4A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4A43"/>
              </a:solidFill>
            </a:endParaRPr>
          </a:p>
        </p:txBody>
      </p:sp>
      <p:pic>
        <p:nvPicPr>
          <p:cNvPr id="352" name="Google Shape;35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8597" y="2080050"/>
            <a:ext cx="2506700" cy="30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&lt;header&gt;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Represents introductory content for a section or 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Typically contains a heading, logo, navigation, or author information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used multiple times in a document (e.g., for the main page header and for section headers)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&lt;footer&gt;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Represents a footer for a section or page.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Typically contains information about the author, copyright, contact information, site map, or related documents.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also be used multiple times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&lt;aside&gt;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Represents content that is tangentially related to the main content.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Often used for sidebars, callouts, or explanatory notes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understand more, review the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documentation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Learning Semantic Tags in HTML5 (Contd.)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idx="1" type="body"/>
          </p:nvPr>
        </p:nvSpPr>
        <p:spPr>
          <a:xfrm>
            <a:off x="439075" y="1071000"/>
            <a:ext cx="36186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A43"/>
                </a:solidFill>
              </a:rPr>
              <a:t>&lt;!DOCTYPE html&gt;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More Semantic Tags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header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h1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Welcome to My Blog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h1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nav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ul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Home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About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li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ul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nav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header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endParaRPr sz="1100">
              <a:solidFill>
                <a:srgbClr val="004A43"/>
              </a:solidFill>
            </a:endParaRPr>
          </a:p>
        </p:txBody>
      </p:sp>
      <p:sp>
        <p:nvSpPr>
          <p:cNvPr id="364" name="Google Shape;36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Semantic Tags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4318500" y="1071000"/>
            <a:ext cx="45138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lang="en" sz="1100">
                <a:solidFill>
                  <a:srgbClr val="5F5035"/>
                </a:solidFill>
              </a:rPr>
              <a:t>main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article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My Article Title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Main content of the article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aside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Related information or sidebar content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aside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article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lang="en" sz="1100">
                <a:solidFill>
                  <a:srgbClr val="5F5035"/>
                </a:solidFill>
              </a:rPr>
              <a:t>main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footer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477766"/>
                </a:solidFill>
              </a:rPr>
              <a:t>&amp;copy;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2024</a:t>
            </a:r>
            <a:r>
              <a:rPr lang="en" sz="1100">
                <a:solidFill>
                  <a:srgbClr val="55CC66"/>
                </a:solidFill>
              </a:rPr>
              <a:t> My Blog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Contact: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"mailto:info@example.com"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info@example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55CC66"/>
                </a:solidFill>
              </a:rPr>
              <a:t>com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footer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 txBox="1"/>
          <p:nvPr>
            <p:ph idx="1" type="body"/>
          </p:nvPr>
        </p:nvSpPr>
        <p:spPr>
          <a:xfrm>
            <a:off x="195825" y="941525"/>
            <a:ext cx="86364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You are building the top part of a portfolio page. It contains the user’s name, a short tagline, and maybe a few navigation links.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&lt;footer&gt;		B. &lt;header&gt;		C. &lt;aside&gt;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2. You have a group of important links at the top of the page: Home, About, Projects, Contact. These links help users move around the site.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&lt;nav&gt;		B. &lt;article&gt;		C. &lt;span&gt;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A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3. You are showing one full blog post on a page. It has its own title, author, date, and content. Even if you moved it to another page, it would still make sense on its own.</a:t>
            </a:r>
            <a:endParaRPr sz="14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&lt;section&gt;		B. &lt;article&gt;		C. &lt;footer&gt;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4. You are writing an article about HTML. Beside the main article, you want to show a small box with “Related links” and “Useful tips.” It supports the main content but is not the main content itself.</a:t>
            </a:r>
            <a:endParaRPr sz="14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&lt;main&gt;		B. &lt;header&gt;		C. &lt;aside&gt;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C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Checkpoint: Which tag fits best?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6"/>
          <p:cNvSpPr txBox="1"/>
          <p:nvPr>
            <p:ph idx="1" type="body"/>
          </p:nvPr>
        </p:nvSpPr>
        <p:spPr>
          <a:xfrm>
            <a:off x="311700" y="1017725"/>
            <a:ext cx="84048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You’re given the below HTML snippet. 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Your task: replace the divs with better semantic tags.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7" name="Google Shape;37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Exercise: 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Replace the Generic Boxes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56"/>
          <p:cNvSpPr txBox="1"/>
          <p:nvPr>
            <p:ph idx="1" type="body"/>
          </p:nvPr>
        </p:nvSpPr>
        <p:spPr>
          <a:xfrm>
            <a:off x="4942500" y="1711825"/>
            <a:ext cx="3774000" cy="18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Answers: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top div: header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 content wrapper: main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blog post: article or section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useful links: aside or nav, depending on framing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bottom div: footer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840900" y="1711825"/>
            <a:ext cx="4101600" cy="3222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  &lt;</a:t>
            </a:r>
            <a:r>
              <a:rPr lang="en" sz="1100">
                <a:solidFill>
                  <a:srgbClr val="007700"/>
                </a:solidFill>
              </a:rPr>
              <a:t>h1</a:t>
            </a:r>
            <a:r>
              <a:rPr lang="en" sz="1100">
                <a:solidFill>
                  <a:srgbClr val="333333"/>
                </a:solidFill>
              </a:rPr>
              <a:t>&gt;My Learning Blog&lt;/</a:t>
            </a:r>
            <a:r>
              <a:rPr lang="en" sz="1100">
                <a:solidFill>
                  <a:srgbClr val="007700"/>
                </a:solidFill>
              </a:rPr>
              <a:t>h1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&lt;/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  &lt;</a:t>
            </a:r>
            <a:r>
              <a:rPr lang="en" sz="1100">
                <a:solidFill>
                  <a:srgbClr val="007700"/>
                </a:solidFill>
              </a:rPr>
              <a:t>h2</a:t>
            </a:r>
            <a:r>
              <a:rPr lang="en" sz="1100">
                <a:solidFill>
                  <a:srgbClr val="333333"/>
                </a:solidFill>
              </a:rPr>
              <a:t>&gt;Today I Learned HTML&lt;/</a:t>
            </a:r>
            <a:r>
              <a:rPr lang="en" sz="1100">
                <a:solidFill>
                  <a:srgbClr val="007700"/>
                </a:solidFill>
              </a:rPr>
              <a:t>h2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  &lt;</a:t>
            </a:r>
            <a:r>
              <a:rPr lang="en" sz="1100">
                <a:solidFill>
                  <a:srgbClr val="007700"/>
                </a:solidFill>
              </a:rPr>
              <a:t>p</a:t>
            </a:r>
            <a:r>
              <a:rPr lang="en" sz="1100">
                <a:solidFill>
                  <a:srgbClr val="333333"/>
                </a:solidFill>
              </a:rPr>
              <a:t>&gt;HTML helps us structure content on a webpage.&lt;/</a:t>
            </a:r>
            <a:r>
              <a:rPr lang="en" sz="1100">
                <a:solidFill>
                  <a:srgbClr val="007700"/>
                </a:solidFill>
              </a:rPr>
              <a:t>p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&lt;/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  &lt;</a:t>
            </a:r>
            <a:r>
              <a:rPr lang="en" sz="1100">
                <a:solidFill>
                  <a:srgbClr val="007700"/>
                </a:solidFill>
              </a:rPr>
              <a:t>p</a:t>
            </a:r>
            <a:r>
              <a:rPr lang="en" sz="1100">
                <a:solidFill>
                  <a:srgbClr val="333333"/>
                </a:solidFill>
              </a:rPr>
              <a:t>&gt;Useful links: MDN, GitHub, W3Schools&lt;/</a:t>
            </a:r>
            <a:r>
              <a:rPr lang="en" sz="1100">
                <a:solidFill>
                  <a:srgbClr val="007700"/>
                </a:solidFill>
              </a:rPr>
              <a:t>p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&lt;/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&lt;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  &lt;</a:t>
            </a:r>
            <a:r>
              <a:rPr lang="en" sz="1100">
                <a:solidFill>
                  <a:srgbClr val="007700"/>
                </a:solidFill>
              </a:rPr>
              <a:t>p</a:t>
            </a:r>
            <a:r>
              <a:rPr lang="en" sz="1100">
                <a:solidFill>
                  <a:srgbClr val="333333"/>
                </a:solidFill>
              </a:rPr>
              <a:t>&gt;Created by me © 2026&lt;/</a:t>
            </a:r>
            <a:r>
              <a:rPr lang="en" sz="1100">
                <a:solidFill>
                  <a:srgbClr val="007700"/>
                </a:solidFill>
              </a:rPr>
              <a:t>p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3333"/>
                </a:solidFill>
              </a:rPr>
              <a:t>&lt;/</a:t>
            </a:r>
            <a:r>
              <a:rPr lang="en" sz="1100">
                <a:solidFill>
                  <a:srgbClr val="007700"/>
                </a:solidFill>
              </a:rPr>
              <a:t>div</a:t>
            </a:r>
            <a:r>
              <a:rPr lang="en" sz="1100">
                <a:solidFill>
                  <a:srgbClr val="333333"/>
                </a:solidFill>
              </a:rPr>
              <a:t>&gt;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7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HTML Forms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8"/>
          <p:cNvSpPr txBox="1"/>
          <p:nvPr>
            <p:ph idx="1" type="body"/>
          </p:nvPr>
        </p:nvSpPr>
        <p:spPr>
          <a:xfrm>
            <a:off x="195825" y="941525"/>
            <a:ext cx="64860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are forms?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Forms are a fundamental part of web interaction, allowing users to submit data to a server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&lt;form&gt;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tag defines an HTML form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acts as a container for various input elements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attributes of the &lt;form&gt; element: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Specifies the URL where the form data should be sent when the form is submitted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is typically a server-side script or application that will process the data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Specifies the HTTP method used to send the form data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Sends the data as part of the URL (visible in the address bar)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Should be used for short forms and non-sensitive data as it’s insecure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Sends the data in the HTTP request body (not visible in the URL)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Should be used for longer forms and sensitive data (like passwords)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Introduction to HTML Forms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9"/>
          <p:cNvSpPr txBox="1"/>
          <p:nvPr>
            <p:ph idx="1" type="body"/>
          </p:nvPr>
        </p:nvSpPr>
        <p:spPr>
          <a:xfrm>
            <a:off x="439075" y="1071000"/>
            <a:ext cx="4247100" cy="3177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4A43"/>
                </a:solidFill>
              </a:rPr>
              <a:t>&lt;!DOCTYPE html&gt;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65700"/>
                </a:solidFill>
              </a:rPr>
              <a:t>&lt;</a:t>
            </a:r>
            <a:r>
              <a:rPr b="1" lang="en" sz="1300">
                <a:solidFill>
                  <a:srgbClr val="508050"/>
                </a:solidFill>
              </a:rPr>
              <a:t>html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65700"/>
                </a:solidFill>
              </a:rPr>
              <a:t>&lt;</a:t>
            </a:r>
            <a:r>
              <a:rPr b="1" lang="en" sz="1300">
                <a:solidFill>
                  <a:srgbClr val="508050"/>
                </a:solidFill>
              </a:rPr>
              <a:t>head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5CC66"/>
                </a:solidFill>
              </a:rPr>
              <a:t>  </a:t>
            </a:r>
            <a:r>
              <a:rPr lang="en" sz="1300">
                <a:solidFill>
                  <a:srgbClr val="865700"/>
                </a:solidFill>
              </a:rPr>
              <a:t>&lt;</a:t>
            </a:r>
            <a:r>
              <a:rPr b="1" lang="en" sz="1300">
                <a:solidFill>
                  <a:srgbClr val="508050"/>
                </a:solidFill>
              </a:rPr>
              <a:t>title</a:t>
            </a:r>
            <a:r>
              <a:rPr lang="en" sz="1300">
                <a:solidFill>
                  <a:srgbClr val="865700"/>
                </a:solidFill>
              </a:rPr>
              <a:t>&gt;</a:t>
            </a:r>
            <a:r>
              <a:rPr lang="en" sz="1300">
                <a:solidFill>
                  <a:srgbClr val="55CC66"/>
                </a:solidFill>
              </a:rPr>
              <a:t>HTML Forms</a:t>
            </a:r>
            <a:r>
              <a:rPr lang="en" sz="1300">
                <a:solidFill>
                  <a:srgbClr val="865700"/>
                </a:solidFill>
              </a:rPr>
              <a:t>&lt;/</a:t>
            </a:r>
            <a:r>
              <a:rPr b="1" lang="en" sz="1300">
                <a:solidFill>
                  <a:srgbClr val="508050"/>
                </a:solidFill>
              </a:rPr>
              <a:t>title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65700"/>
                </a:solidFill>
              </a:rPr>
              <a:t>&lt;/</a:t>
            </a:r>
            <a:r>
              <a:rPr b="1" lang="en" sz="1300">
                <a:solidFill>
                  <a:srgbClr val="508050"/>
                </a:solidFill>
              </a:rPr>
              <a:t>head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65700"/>
                </a:solidFill>
              </a:rPr>
              <a:t>&lt;</a:t>
            </a:r>
            <a:r>
              <a:rPr b="1" lang="en" sz="1300">
                <a:solidFill>
                  <a:srgbClr val="508050"/>
                </a:solidFill>
              </a:rPr>
              <a:t>body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5CC66"/>
                </a:solidFill>
              </a:rPr>
              <a:t>  </a:t>
            </a:r>
            <a:r>
              <a:rPr lang="en" sz="1300">
                <a:solidFill>
                  <a:srgbClr val="865700"/>
                </a:solidFill>
              </a:rPr>
              <a:t>&lt;</a:t>
            </a:r>
            <a:r>
              <a:rPr b="1" lang="en" sz="1300">
                <a:solidFill>
                  <a:srgbClr val="508050"/>
                </a:solidFill>
              </a:rPr>
              <a:t>h2</a:t>
            </a:r>
            <a:r>
              <a:rPr lang="en" sz="1300">
                <a:solidFill>
                  <a:srgbClr val="865700"/>
                </a:solidFill>
              </a:rPr>
              <a:t>&gt;</a:t>
            </a:r>
            <a:r>
              <a:rPr lang="en" sz="1300">
                <a:solidFill>
                  <a:srgbClr val="55CC66"/>
                </a:solidFill>
              </a:rPr>
              <a:t>Registration Form</a:t>
            </a:r>
            <a:r>
              <a:rPr lang="en" sz="1300">
                <a:solidFill>
                  <a:srgbClr val="865700"/>
                </a:solidFill>
              </a:rPr>
              <a:t>&lt;/</a:t>
            </a:r>
            <a:r>
              <a:rPr b="1" lang="en" sz="1300">
                <a:solidFill>
                  <a:srgbClr val="508050"/>
                </a:solidFill>
              </a:rPr>
              <a:t>h2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5CC66"/>
                </a:solidFill>
              </a:rPr>
              <a:t>  </a:t>
            </a:r>
            <a:r>
              <a:rPr lang="en" sz="1300">
                <a:solidFill>
                  <a:srgbClr val="865700"/>
                </a:solidFill>
              </a:rPr>
              <a:t>&lt;</a:t>
            </a:r>
            <a:r>
              <a:rPr b="1" lang="en" sz="1300">
                <a:solidFill>
                  <a:srgbClr val="508050"/>
                </a:solidFill>
              </a:rPr>
              <a:t>form</a:t>
            </a:r>
            <a:r>
              <a:rPr lang="en" sz="1300">
                <a:solidFill>
                  <a:srgbClr val="477766"/>
                </a:solidFill>
              </a:rPr>
              <a:t> action</a:t>
            </a:r>
            <a:r>
              <a:rPr lang="en" sz="1300">
                <a:solidFill>
                  <a:srgbClr val="808030"/>
                </a:solidFill>
              </a:rPr>
              <a:t>=</a:t>
            </a:r>
            <a:r>
              <a:rPr lang="en" sz="1300">
                <a:solidFill>
                  <a:srgbClr val="CC5555"/>
                </a:solidFill>
              </a:rPr>
              <a:t>"/submit-form"</a:t>
            </a:r>
            <a:r>
              <a:rPr lang="en" sz="1300">
                <a:solidFill>
                  <a:srgbClr val="477766"/>
                </a:solidFill>
              </a:rPr>
              <a:t> method</a:t>
            </a:r>
            <a:r>
              <a:rPr lang="en" sz="1300">
                <a:solidFill>
                  <a:srgbClr val="808030"/>
                </a:solidFill>
              </a:rPr>
              <a:t>=</a:t>
            </a:r>
            <a:r>
              <a:rPr lang="en" sz="1300">
                <a:solidFill>
                  <a:srgbClr val="CC5555"/>
                </a:solidFill>
              </a:rPr>
              <a:t>"post"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5CC66"/>
                </a:solidFill>
              </a:rPr>
              <a:t>    </a:t>
            </a:r>
            <a:r>
              <a:rPr lang="en" sz="1300">
                <a:solidFill>
                  <a:srgbClr val="865700"/>
                </a:solidFill>
              </a:rPr>
              <a:t>&lt;/</a:t>
            </a:r>
            <a:r>
              <a:rPr b="1" lang="en" sz="1300">
                <a:solidFill>
                  <a:srgbClr val="508050"/>
                </a:solidFill>
              </a:rPr>
              <a:t>form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65700"/>
                </a:solidFill>
              </a:rPr>
              <a:t>&lt;/</a:t>
            </a:r>
            <a:r>
              <a:rPr b="1" lang="en" sz="1300">
                <a:solidFill>
                  <a:srgbClr val="508050"/>
                </a:solidFill>
              </a:rPr>
              <a:t>body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65700"/>
                </a:solidFill>
              </a:rPr>
              <a:t>&lt;/</a:t>
            </a:r>
            <a:r>
              <a:rPr b="1" lang="en" sz="1300">
                <a:solidFill>
                  <a:srgbClr val="508050"/>
                </a:solidFill>
              </a:rPr>
              <a:t>html</a:t>
            </a:r>
            <a:r>
              <a:rPr lang="en" sz="1300">
                <a:solidFill>
                  <a:srgbClr val="865700"/>
                </a:solidFill>
              </a:rPr>
              <a:t>&gt;</a:t>
            </a:r>
            <a:endParaRPr sz="1300">
              <a:solidFill>
                <a:srgbClr val="004A43"/>
              </a:solidFill>
            </a:endParaRPr>
          </a:p>
        </p:txBody>
      </p:sp>
      <p:sp>
        <p:nvSpPr>
          <p:cNvPr id="396" name="Google Shape;39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Form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 a user submitting forms, what are the ways you’ve entered information?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 field, radio button, checkboxes and more!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What’s the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&lt;input&gt;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tag?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&lt;input&gt;: a versatile form element, used to create various input fields.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is typically a server-side script or application that will process the data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attribute: Specifies the type of input control to display.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single-line text input field.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for names, usernames, etc.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password input field.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Masks the entered characters for security.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An input field for email addresses.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Often includes basic validation to ensure the input has a valid email format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Capturing input in Forms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>
            <p:ph idx="1" type="body"/>
          </p:nvPr>
        </p:nvSpPr>
        <p:spPr>
          <a:xfrm>
            <a:off x="439075" y="1071000"/>
            <a:ext cx="4416000" cy="4001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4A43"/>
                </a:solidFill>
              </a:rPr>
              <a:t>&lt;!DOCTYPE html&gt;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title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Form Inputs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title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form</a:t>
            </a:r>
            <a:r>
              <a:rPr lang="en" sz="1000">
                <a:solidFill>
                  <a:srgbClr val="477766"/>
                </a:solidFill>
              </a:rPr>
              <a:t> action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"/submit-form"</a:t>
            </a:r>
            <a:r>
              <a:rPr lang="en" sz="1000">
                <a:solidFill>
                  <a:srgbClr val="477766"/>
                </a:solidFill>
              </a:rPr>
              <a:t> method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"post"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label</a:t>
            </a:r>
            <a:r>
              <a:rPr lang="en" sz="1000">
                <a:solidFill>
                  <a:srgbClr val="477766"/>
                </a:solidFill>
              </a:rPr>
              <a:t> for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"username"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Username: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label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input</a:t>
            </a:r>
            <a:r>
              <a:rPr lang="en" sz="1000">
                <a:solidFill>
                  <a:srgbClr val="477766"/>
                </a:solidFill>
              </a:rPr>
              <a:t> type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"text"</a:t>
            </a:r>
            <a:r>
              <a:rPr lang="en" sz="1000">
                <a:solidFill>
                  <a:srgbClr val="477766"/>
                </a:solidFill>
              </a:rPr>
              <a:t> id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"username"</a:t>
            </a:r>
            <a:r>
              <a:rPr lang="en" sz="1000">
                <a:solidFill>
                  <a:srgbClr val="477766"/>
                </a:solidFill>
              </a:rPr>
              <a:t> name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"username"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label</a:t>
            </a:r>
            <a:r>
              <a:rPr lang="en" sz="1000">
                <a:solidFill>
                  <a:srgbClr val="477766"/>
                </a:solidFill>
              </a:rPr>
              <a:t> for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"password"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Password: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label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input</a:t>
            </a:r>
            <a:r>
              <a:rPr lang="en" sz="1000">
                <a:solidFill>
                  <a:srgbClr val="477766"/>
                </a:solidFill>
              </a:rPr>
              <a:t> type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"password"</a:t>
            </a:r>
            <a:r>
              <a:rPr lang="en" sz="1000">
                <a:solidFill>
                  <a:srgbClr val="477766"/>
                </a:solidFill>
              </a:rPr>
              <a:t> id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"password"</a:t>
            </a:r>
            <a:r>
              <a:rPr lang="en" sz="1000">
                <a:solidFill>
                  <a:srgbClr val="477766"/>
                </a:solidFill>
              </a:rPr>
              <a:t> name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"password"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label</a:t>
            </a:r>
            <a:r>
              <a:rPr lang="en" sz="1000">
                <a:solidFill>
                  <a:srgbClr val="477766"/>
                </a:solidFill>
              </a:rPr>
              <a:t> for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"email"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Email: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label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input</a:t>
            </a:r>
            <a:r>
              <a:rPr lang="en" sz="1000">
                <a:solidFill>
                  <a:srgbClr val="477766"/>
                </a:solidFill>
              </a:rPr>
              <a:t> type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"email"</a:t>
            </a:r>
            <a:r>
              <a:rPr lang="en" sz="1000">
                <a:solidFill>
                  <a:srgbClr val="477766"/>
                </a:solidFill>
              </a:rPr>
              <a:t> id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"email"</a:t>
            </a:r>
            <a:r>
              <a:rPr lang="en" sz="1000">
                <a:solidFill>
                  <a:srgbClr val="477766"/>
                </a:solidFill>
              </a:rPr>
              <a:t> name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"email"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&gt;&lt;</a:t>
            </a:r>
            <a:r>
              <a:rPr b="1" lang="en" sz="1000">
                <a:solidFill>
                  <a:srgbClr val="508050"/>
                </a:solidFill>
              </a:rPr>
              <a:t>br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input</a:t>
            </a:r>
            <a:r>
              <a:rPr lang="en" sz="1000">
                <a:solidFill>
                  <a:srgbClr val="477766"/>
                </a:solidFill>
              </a:rPr>
              <a:t> type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"submit"</a:t>
            </a:r>
            <a:r>
              <a:rPr lang="en" sz="1000">
                <a:solidFill>
                  <a:srgbClr val="477766"/>
                </a:solidFill>
              </a:rPr>
              <a:t> value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"Submit"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form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4A43"/>
              </a:solidFill>
            </a:endParaRPr>
          </a:p>
        </p:txBody>
      </p:sp>
      <p:sp>
        <p:nvSpPr>
          <p:cNvPr id="408" name="Google Shape;40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Form Input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9" name="Google Shape;409;p61"/>
          <p:cNvPicPr preferRelativeResize="0"/>
          <p:nvPr/>
        </p:nvPicPr>
        <p:blipFill rotWithShape="1">
          <a:blip r:embed="rId3">
            <a:alphaModFix/>
          </a:blip>
          <a:srcRect b="0" l="0" r="0" t="2468"/>
          <a:stretch/>
        </p:blipFill>
        <p:spPr>
          <a:xfrm>
            <a:off x="4749350" y="794275"/>
            <a:ext cx="2286000" cy="2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attribute: Specifies the type of input control to display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radio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Radio buttons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the user to select one option from a group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Radio buttons in a group must have the same name attribute to work correctly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checkbox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Checkboxes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the user to select multiple options from a group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submit: A button that submits the form data to the server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&lt;textarea&gt;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multi-line text input area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for comments, messages, etc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&lt;select&gt;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&lt;option&gt;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drop down list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&lt;select&gt; defines the dropdown list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&lt;option&gt; defines an option within the list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Form Input Elements (Continued)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3"/>
          <p:cNvSpPr txBox="1"/>
          <p:nvPr>
            <p:ph idx="1" type="body"/>
          </p:nvPr>
        </p:nvSpPr>
        <p:spPr>
          <a:xfrm>
            <a:off x="439075" y="1071000"/>
            <a:ext cx="46071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A43"/>
                </a:solidFill>
              </a:rPr>
              <a:t>&lt;!DOCTYPE html&gt;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More Form Inputs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form</a:t>
            </a:r>
            <a:r>
              <a:rPr lang="en" sz="1100">
                <a:solidFill>
                  <a:srgbClr val="477766"/>
                </a:solidFill>
              </a:rPr>
              <a:t> action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"/submit-form"</a:t>
            </a:r>
            <a:r>
              <a:rPr lang="en" sz="1100">
                <a:solidFill>
                  <a:srgbClr val="477766"/>
                </a:solidFill>
              </a:rPr>
              <a:t> method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"post"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Gender: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"radio"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"male"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"gender"</a:t>
            </a:r>
            <a:r>
              <a:rPr lang="en" sz="1100">
                <a:solidFill>
                  <a:srgbClr val="4777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"male"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477766"/>
                </a:solidFill>
              </a:rPr>
              <a:t> for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"male"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Male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"radio"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"female"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"gender"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"female"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477766"/>
                </a:solidFill>
              </a:rPr>
              <a:t> for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"female"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Female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I agree to the terms: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"checkbox"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"agree"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"agree"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"agree"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477766"/>
                </a:solidFill>
              </a:rPr>
              <a:t> for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"agree"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Agree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textarea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"message"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"message"</a:t>
            </a:r>
            <a:r>
              <a:rPr lang="en" sz="1100">
                <a:solidFill>
                  <a:srgbClr val="477766"/>
                </a:solidFill>
              </a:rPr>
              <a:t> rows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"4"</a:t>
            </a:r>
            <a:r>
              <a:rPr lang="en" sz="1100">
                <a:solidFill>
                  <a:srgbClr val="477766"/>
                </a:solidFill>
              </a:rPr>
              <a:t> cols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"50"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textarea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    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endParaRPr sz="1100">
              <a:solidFill>
                <a:srgbClr val="004A43"/>
              </a:solidFill>
            </a:endParaRPr>
          </a:p>
        </p:txBody>
      </p:sp>
      <p:sp>
        <p:nvSpPr>
          <p:cNvPr id="421" name="Google Shape;42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Form Input Attributes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63"/>
          <p:cNvSpPr txBox="1"/>
          <p:nvPr>
            <p:ph idx="1" type="body"/>
          </p:nvPr>
        </p:nvSpPr>
        <p:spPr>
          <a:xfrm>
            <a:off x="5132825" y="1071000"/>
            <a:ext cx="3375900" cy="2508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477766"/>
                </a:solidFill>
              </a:rPr>
              <a:t> for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"cars"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Choose a car: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select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"cars"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"cars"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"volvo"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Volvo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"saab"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Saab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"fiat"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Fiat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"audi"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Audi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option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select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"submit"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"Send"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form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  <p:pic>
        <p:nvPicPr>
          <p:cNvPr id="423" name="Google Shape;42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012" y="3265705"/>
            <a:ext cx="3031287" cy="16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4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Attributes provide additional information and control over input elements?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Common attributes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Specifies the name of the input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to identify the input when the form data is submitted.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Essential for server-side processing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unique identifier for the input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for associating labels, styling with CSS, and accessing the element with JavaScript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Specifies the initial value of the input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text inputs, it's the default text.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radio buttons and checkboxes, it's the value sent to the server when selected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placeholder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Provides a hint to the user about what kind of data to enter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3" marL="18288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placeholder text disappears when the user starts typing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required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Specifies that the input field must be filled out before the form can be submitted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&lt;label&gt;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Provides a user-friendly caption for form elements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for attribute of the &lt;label&gt; must match the id of the associated input element.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Improves accessibility by allowing users to click the label to focus on the input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Form Input Attributes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5"/>
          <p:cNvSpPr txBox="1"/>
          <p:nvPr>
            <p:ph idx="1" type="body"/>
          </p:nvPr>
        </p:nvSpPr>
        <p:spPr>
          <a:xfrm>
            <a:off x="439075" y="1071000"/>
            <a:ext cx="7378800" cy="3910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A43"/>
                </a:solidFill>
              </a:rPr>
              <a:t>&lt;!DOCTYPE html&gt;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Form Attributes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title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head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form</a:t>
            </a:r>
            <a:r>
              <a:rPr lang="en" sz="1100">
                <a:solidFill>
                  <a:srgbClr val="477766"/>
                </a:solidFill>
              </a:rPr>
              <a:t> action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"/submit-form"</a:t>
            </a:r>
            <a:r>
              <a:rPr lang="en" sz="1100">
                <a:solidFill>
                  <a:srgbClr val="477766"/>
                </a:solidFill>
              </a:rPr>
              <a:t> method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"post"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477766"/>
                </a:solidFill>
              </a:rPr>
              <a:t> for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"username"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Username: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"text"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"username"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"username"</a:t>
            </a:r>
            <a:r>
              <a:rPr lang="en" sz="1100">
                <a:solidFill>
                  <a:srgbClr val="477766"/>
                </a:solidFill>
              </a:rPr>
              <a:t> placeholder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"Enter your username"</a:t>
            </a:r>
            <a:r>
              <a:rPr lang="en" sz="1100">
                <a:solidFill>
                  <a:srgbClr val="477766"/>
                </a:solidFill>
              </a:rPr>
              <a:t> required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477766"/>
                </a:solidFill>
              </a:rPr>
              <a:t> for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"password"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Password: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label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"password"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"password"</a:t>
            </a:r>
            <a:r>
              <a:rPr lang="en" sz="1100">
                <a:solidFill>
                  <a:srgbClr val="477766"/>
                </a:solidFill>
              </a:rPr>
              <a:t> name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"password"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"mySecret"</a:t>
            </a:r>
            <a:r>
              <a:rPr lang="en" sz="1100">
                <a:solidFill>
                  <a:srgbClr val="477766"/>
                </a:solidFill>
              </a:rPr>
              <a:t> required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br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input</a:t>
            </a:r>
            <a:r>
              <a:rPr lang="en" sz="1100">
                <a:solidFill>
                  <a:srgbClr val="477766"/>
                </a:solidFill>
              </a:rPr>
              <a:t> type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"submit"</a:t>
            </a:r>
            <a:r>
              <a:rPr lang="en" sz="1100">
                <a:solidFill>
                  <a:srgbClr val="477766"/>
                </a:solidFill>
              </a:rPr>
              <a:t> value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"Register"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form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body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html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004A43"/>
              </a:solidFill>
            </a:endParaRPr>
          </a:p>
        </p:txBody>
      </p:sp>
      <p:sp>
        <p:nvSpPr>
          <p:cNvPr id="435" name="Google Shape;43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Form Input Attributes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6"/>
          <p:cNvSpPr txBox="1"/>
          <p:nvPr>
            <p:ph idx="1" type="body"/>
          </p:nvPr>
        </p:nvSpPr>
        <p:spPr>
          <a:xfrm>
            <a:off x="195825" y="941525"/>
            <a:ext cx="86364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are creating a course registration form. The learner needs to enter their full name in one line.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&lt;textarea&gt;		B. &lt;input type=”text”&gt;		C. &lt;select&gt;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2. You want learners to write a longer response about what they found difficult in today’s class.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&lt;input type=”radio”&gt;		B. &lt;input type=”checkbox”&gt;		C. &lt;textarea&gt;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C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3. You want learners to choose exactly one option, indicating the comfort level on HTML: Beginner, Comfortable, or Confident</a:t>
            </a:r>
            <a:endParaRPr sz="14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&lt;input type=”radio”&gt;		B. &lt;input type=”checkbox”&gt;		C. &lt;input type=”email”&gt;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A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</a:rPr>
              <a:t>4. </a:t>
            </a:r>
            <a:r>
              <a:rPr lang="en" sz="1400">
                <a:solidFill>
                  <a:schemeClr val="dk1"/>
                </a:solidFill>
              </a:rPr>
              <a:t>You want learners to select all the topics they already know: HTML, CSS, JavaScript, Git.</a:t>
            </a:r>
            <a:endParaRPr sz="14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&lt;select&gt;		B. &lt;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input type=”checkbox”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		C. &lt;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input type=”password”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Checkpoint: 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Which form field fits best?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7"/>
          <p:cNvSpPr txBox="1"/>
          <p:nvPr>
            <p:ph idx="1" type="body"/>
          </p:nvPr>
        </p:nvSpPr>
        <p:spPr>
          <a:xfrm>
            <a:off x="195825" y="941525"/>
            <a:ext cx="86364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Task: create a profile for yourself for this course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Objectives for mini-course profile page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One-line goal for the course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About me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 learned so far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Topics I want to practice further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Useful links (or references)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Contact /  Feedback Form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Email (please don’t share your personal emails)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Comfort level with topics so far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Anything you wish to add!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8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That’s it for today!</a:t>
            </a:r>
            <a:endParaRPr sz="238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Any questions?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