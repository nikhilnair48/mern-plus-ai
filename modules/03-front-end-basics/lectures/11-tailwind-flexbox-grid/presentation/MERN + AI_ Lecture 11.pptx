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93a48f4a8_2_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93a48f4a8_2_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g3f93a48f4a8_2_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93a48f4a8_2_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f93a48f4a8_2_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g3f93a48f4a8_2_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93a48f4a8_2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f93a48f4a8_2_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f93a48f4a8_2_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93a48f4a8_2_2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f93a48f4a8_2_2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3f93a48f4a8_2_2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93a48f4a8_0_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3f93a48f4a8_0_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3f93a48f4a8_0_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93a48f4a8_2_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f93a48f4a8_2_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g3f93a48f4a8_2_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93a48f4a8_0_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f93a48f4a8_0_2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f93a48f4a8_0_2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93a48f4a8_2_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f93a48f4a8_2_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f93a48f4a8_2_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93a48f4a8_2_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f93a48f4a8_2_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f93a48f4a8_2_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93a48f4a8_2_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f93a48f4a8_2_7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f93a48f4a8_2_7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93a48f4a8_2_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f93a48f4a8_2_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f93a48f4a8_2_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93a48f4a8_2_1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f93a48f4a8_2_10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f93a48f4a8_2_10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93a48f4a8_2_1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f93a48f4a8_2_1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93a48f4a8_2_1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93a48f4a8_2_1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f93a48f4a8_2_13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f93a48f4a8_2_13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93a48f4a8_2_1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f93a48f4a8_2_1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f93a48f4a8_2_1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93a48f4a8_2_17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f93a48f4a8_2_17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f93a48f4a8_2_17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93a48f4a8_2_1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f93a48f4a8_2_1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f93a48f4a8_2_1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93a48f4a8_2_2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f93a48f4a8_2_20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f93a48f4a8_2_20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93a48f4a8_2_2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f93a48f4a8_2_2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f93a48f4a8_2_2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93a48f4a8_2_2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f93a48f4a8_2_2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f93a48f4a8_2_2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93a48f4a8_2_2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f93a48f4a8_2_25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f93a48f4a8_2_25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93a48f4a8_2_2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f93a48f4a8_2_2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f93a48f4a8_2_2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93a48f4a8_2_29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3f93a48f4a8_2_29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3f93a48f4a8_2_29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93a48f4a8_2_3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f93a48f4a8_2_30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f93a48f4a8_2_30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93a48f4a8_2_3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f93a48f4a8_2_3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f93a48f4a8_2_3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93a48f4a8_2_33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f93a48f4a8_2_33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g3f93a48f4a8_2_33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93a48f4a8_2_3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f93a48f4a8_2_3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f93a48f4a8_2_3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93a48f4a8_2_3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f93a48f4a8_2_3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g3f93a48f4a8_2_3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93a48f4a8_2_3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f93a48f4a8_2_38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g3f93a48f4a8_2_38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f93a48f4a8_2_40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f93a48f4a8_2_40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g3f93a48f4a8_2_40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93a48f4a8_2_4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3f93a48f4a8_2_4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g3f93a48f4a8_2_4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93a48f4a8_2_43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f93a48f4a8_2_43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3f93a48f4a8_2_43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93a48f4a8_2_4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f93a48f4a8_2_4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g3f93a48f4a8_2_4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f93a48f4a8_2_4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g3f93a48f4a8_2_4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g3f93a48f4a8_2_4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93a48f4a8_2_4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g3f93a48f4a8_2_4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g3f93a48f4a8_2_4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f93a48f4a8_2_4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g3f93a48f4a8_2_4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g3f93a48f4a8_2_4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f93a48f4a8_2_5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f93a48f4a8_2_5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g3f93a48f4a8_2_5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f93a48f4a8_2_5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g3f93a48f4a8_2_5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g3f93a48f4a8_2_5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f93a48f4a8_2_5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g3f93a48f4a8_2_5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3f93a48f4a8_2_5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f93a48f4a8_2_5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g3f93a48f4a8_2_55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g3f93a48f4a8_2_55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f93a48f4a8_2_5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3f93a48f4a8_2_5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g3f93a48f4a8_2_5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f93a48f4a8_2_5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f93a48f4a8_2_58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g3f93a48f4a8_2_58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f93a48f4a8_2_6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g3f93a48f4a8_2_60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g3f93a48f4a8_2_60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93a48f4a8_2_6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g3f93a48f4a8_2_6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g3f93a48f4a8_2_6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93a48f4a8_2_6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g3f93a48f4a8_2_6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g3f93a48f4a8_2_6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93a48f4a8_2_6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f93a48f4a8_2_6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g3f93a48f4a8_2_6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f93a48f4a8_2_6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g3f93a48f4a8_2_6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g3f93a48f4a8_2_6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93a48f4a8_2_6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f93a48f4a8_2_65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g3f93a48f4a8_2_65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f93a48f4a8_2_6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g3f93a48f4a8_2_6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g3f93a48f4a8_2_6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MPLATE">
  <p:cSld name="TEMPLATE">
    <p:bg>
      <p:bgPr>
        <a:blipFill>
          <a:blip r:embed="rId2">
            <a:alphaModFix/>
          </a:blip>
          <a:stretch>
            <a:fillRect/>
          </a:stretch>
        </a:blip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6"/>
          <p:cNvSpPr/>
          <p:nvPr/>
        </p:nvSpPr>
        <p:spPr>
          <a:xfrm>
            <a:off x="658368" y="187452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 sz="1600" u="none" cap="none" strike="noStrike">
                <a:solidFill>
                  <a:srgbClr val="111827"/>
                </a:solidFill>
                <a:latin typeface="Arial"/>
                <a:ea typeface="Arial"/>
                <a:cs typeface="Arial"/>
                <a:sym typeface="Arial"/>
              </a:rPr>
              <a:t>Lecture 11</a:t>
            </a:r>
            <a:endParaRPr b="0" i="0" sz="1600" u="none" cap="none" strike="noStrike">
              <a:solidFill>
                <a:schemeClr val="dk1"/>
              </a:solidFill>
              <a:latin typeface="Arial"/>
              <a:ea typeface="Arial"/>
              <a:cs typeface="Arial"/>
              <a:sym typeface="Arial"/>
            </a:endParaRPr>
          </a:p>
        </p:txBody>
      </p:sp>
      <p:sp>
        <p:nvSpPr>
          <p:cNvPr id="59" name="Google Shape;59;p16"/>
          <p:cNvSpPr/>
          <p:nvPr/>
        </p:nvSpPr>
        <p:spPr>
          <a:xfrm>
            <a:off x="658368" y="2221992"/>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600"/>
              <a:buFont typeface="Arial"/>
              <a:buNone/>
            </a:pPr>
            <a:r>
              <a:rPr b="1" i="0" lang="en" sz="2600" u="none" cap="none" strike="noStrike">
                <a:solidFill>
                  <a:srgbClr val="111827"/>
                </a:solidFill>
                <a:latin typeface="Arial"/>
                <a:ea typeface="Arial"/>
                <a:cs typeface="Arial"/>
                <a:sym typeface="Arial"/>
              </a:rPr>
              <a:t>Tailwind CSS layouts</a:t>
            </a:r>
            <a:endParaRPr b="0" i="0" sz="2600" u="none" cap="none" strike="noStrike">
              <a:solidFill>
                <a:schemeClr val="dk1"/>
              </a:solidFill>
              <a:latin typeface="Arial"/>
              <a:ea typeface="Arial"/>
              <a:cs typeface="Arial"/>
              <a:sym typeface="Arial"/>
            </a:endParaRPr>
          </a:p>
        </p:txBody>
      </p:sp>
      <p:sp>
        <p:nvSpPr>
          <p:cNvPr id="60" name="Google Shape;60;p16"/>
          <p:cNvSpPr/>
          <p:nvPr/>
        </p:nvSpPr>
        <p:spPr>
          <a:xfrm>
            <a:off x="658368" y="2724912"/>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Arial"/>
              <a:buNone/>
            </a:pPr>
            <a:r>
              <a:rPr b="0" i="0" lang="en" sz="1300" u="none" cap="none" strike="noStrike">
                <a:solidFill>
                  <a:srgbClr val="4B5563"/>
                </a:solidFill>
                <a:latin typeface="Arial"/>
                <a:ea typeface="Arial"/>
                <a:cs typeface="Arial"/>
                <a:sym typeface="Arial"/>
              </a:rPr>
              <a:t>Arrange page content with Flexbox and Grid utilities.</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7"/>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Today's agenda</a:t>
            </a:r>
            <a:endParaRPr b="0" i="0" sz="2100" u="none" cap="none" strike="noStrike">
              <a:solidFill>
                <a:schemeClr val="dk1"/>
              </a:solidFill>
              <a:latin typeface="Arial"/>
              <a:ea typeface="Arial"/>
              <a:cs typeface="Arial"/>
              <a:sym typeface="Arial"/>
            </a:endParaRPr>
          </a:p>
        </p:txBody>
      </p:sp>
      <p:sp>
        <p:nvSpPr>
          <p:cNvPr id="67" name="Google Shape;67;p17"/>
          <p:cNvSpPr/>
          <p:nvPr/>
        </p:nvSpPr>
        <p:spPr>
          <a:xfrm>
            <a:off x="822960" y="960120"/>
            <a:ext cx="7132320" cy="3474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Warm-up: Tailwind CSS and responsive CSS review</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Flexbox in Tailwind</a:t>
            </a:r>
            <a:endParaRPr b="0" i="0" sz="1400" u="none" cap="none" strike="noStrike">
              <a:solidFill>
                <a:schemeClr val="dk1"/>
              </a:solidFill>
              <a:latin typeface="Arial"/>
              <a:ea typeface="Arial"/>
              <a:cs typeface="Arial"/>
              <a:sym typeface="Arial"/>
            </a:endParaRPr>
          </a:p>
          <a:p>
            <a:pPr indent="-342900" lvl="1" marL="6858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Direction</a:t>
            </a:r>
            <a:endParaRPr b="0" i="0" sz="1400" u="none" cap="none" strike="noStrike">
              <a:solidFill>
                <a:schemeClr val="dk1"/>
              </a:solidFill>
              <a:latin typeface="Arial"/>
              <a:ea typeface="Arial"/>
              <a:cs typeface="Arial"/>
              <a:sym typeface="Arial"/>
            </a:endParaRPr>
          </a:p>
          <a:p>
            <a:pPr indent="-342900" lvl="1" marL="6858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Alignment and space distribution</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Grid in Tailwind</a:t>
            </a:r>
            <a:endParaRPr b="0" i="0" sz="1400" u="none" cap="none" strike="noStrike">
              <a:solidFill>
                <a:schemeClr val="dk1"/>
              </a:solidFill>
              <a:latin typeface="Arial"/>
              <a:ea typeface="Arial"/>
              <a:cs typeface="Arial"/>
              <a:sym typeface="Arial"/>
            </a:endParaRPr>
          </a:p>
          <a:p>
            <a:pPr indent="-342900" lvl="1" marL="6858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Columns</a:t>
            </a:r>
            <a:endParaRPr b="0" i="0" sz="1400" u="none" cap="none" strike="noStrike">
              <a:solidFill>
                <a:schemeClr val="dk1"/>
              </a:solidFill>
              <a:latin typeface="Arial"/>
              <a:ea typeface="Arial"/>
              <a:cs typeface="Arial"/>
              <a:sym typeface="Arial"/>
            </a:endParaRPr>
          </a:p>
          <a:p>
            <a:pPr indent="-342900" lvl="1" marL="6858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Rows and gaps</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Responsive layouts</a:t>
            </a:r>
            <a:endParaRPr b="0" i="0" sz="1400" u="none" cap="none" strike="noStrike">
              <a:solidFill>
                <a:schemeClr val="dk1"/>
              </a:solidFill>
              <a:latin typeface="Arial"/>
              <a:ea typeface="Arial"/>
              <a:cs typeface="Arial"/>
              <a:sym typeface="Arial"/>
            </a:endParaRPr>
          </a:p>
          <a:p>
            <a:pPr indent="-342900" lvl="1" marL="6858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Breakpoint prefixes</a:t>
            </a:r>
            <a:endParaRPr b="0" i="0" sz="1400" u="none" cap="none" strike="noStrike">
              <a:solidFill>
                <a:schemeClr val="dk1"/>
              </a:solidFill>
              <a:latin typeface="Arial"/>
              <a:ea typeface="Arial"/>
              <a:cs typeface="Arial"/>
              <a:sym typeface="Arial"/>
            </a:endParaRPr>
          </a:p>
          <a:p>
            <a:pPr indent="-342900" lvl="1" marL="6858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Layout changes at wider viewports</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Combining Flexbox and Grid</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Activity: Coworking Room Directory</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Debug clinic</a:t>
            </a:r>
            <a:endParaRPr b="0" i="0" sz="14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400"/>
              <a:buFont typeface="Arial"/>
              <a:buChar char="•"/>
            </a:pPr>
            <a:r>
              <a:rPr b="0" i="0" lang="en" sz="1400" u="none" cap="none" strike="noStrike">
                <a:solidFill>
                  <a:srgbClr val="111827"/>
                </a:solidFill>
                <a:latin typeface="Arial"/>
                <a:ea typeface="Arial"/>
                <a:cs typeface="Arial"/>
                <a:sym typeface="Arial"/>
              </a:rPr>
              <a:t>Homework</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8"/>
          <p:cNvSpPr/>
          <p:nvPr/>
        </p:nvSpPr>
        <p:spPr>
          <a:xfrm>
            <a:off x="658368" y="2157984"/>
            <a:ext cx="7406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500"/>
              <a:buFont typeface="Arial"/>
              <a:buNone/>
            </a:pPr>
            <a:r>
              <a:rPr b="1" i="0" lang="en" sz="2500" u="none" cap="none" strike="noStrike">
                <a:solidFill>
                  <a:srgbClr val="111827"/>
                </a:solidFill>
                <a:latin typeface="Arial"/>
                <a:ea typeface="Arial"/>
                <a:cs typeface="Arial"/>
                <a:sym typeface="Arial"/>
              </a:rPr>
              <a:t>Warm-up</a:t>
            </a:r>
            <a:endParaRPr b="0" i="0" sz="2500" u="none" cap="none" strike="noStrike">
              <a:solidFill>
                <a:schemeClr val="dk1"/>
              </a:solidFill>
              <a:latin typeface="Arial"/>
              <a:ea typeface="Arial"/>
              <a:cs typeface="Arial"/>
              <a:sym typeface="Arial"/>
            </a:endParaRPr>
          </a:p>
        </p:txBody>
      </p:sp>
      <p:sp>
        <p:nvSpPr>
          <p:cNvPr id="74" name="Google Shape;74;p18"/>
          <p:cNvSpPr/>
          <p:nvPr/>
        </p:nvSpPr>
        <p:spPr>
          <a:xfrm>
            <a:off x="658368" y="2642616"/>
            <a:ext cx="7406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400"/>
              <a:buFont typeface="Arial"/>
              <a:buNone/>
            </a:pPr>
            <a:r>
              <a:rPr b="0" i="0" lang="en" sz="1400" u="none" cap="none" strike="noStrike">
                <a:solidFill>
                  <a:srgbClr val="4B5563"/>
                </a:solidFill>
                <a:latin typeface="Arial"/>
                <a:ea typeface="Arial"/>
                <a:cs typeface="Arial"/>
                <a:sym typeface="Arial"/>
              </a:rPr>
              <a:t>Tailwind CSS, HTML structure, and responsive CSS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9"/>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Question 1</a:t>
            </a:r>
            <a:endParaRPr b="0" i="0" sz="2100" u="none" cap="none" strike="noStrike">
              <a:solidFill>
                <a:schemeClr val="dk1"/>
              </a:solidFill>
              <a:latin typeface="Arial"/>
              <a:ea typeface="Arial"/>
              <a:cs typeface="Arial"/>
              <a:sym typeface="Arial"/>
            </a:endParaRPr>
          </a:p>
        </p:txBody>
      </p:sp>
      <p:sp>
        <p:nvSpPr>
          <p:cNvPr id="81" name="Google Shape;81;p19"/>
          <p:cNvSpPr/>
          <p:nvPr/>
        </p:nvSpPr>
        <p:spPr>
          <a:xfrm>
            <a:off x="685800" y="868680"/>
            <a:ext cx="7680960" cy="3200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600"/>
              <a:buFont typeface="Arial"/>
              <a:buNone/>
            </a:pPr>
            <a:r>
              <a:rPr b="1" lang="en" sz="1600">
                <a:solidFill>
                  <a:srgbClr val="111827"/>
                </a:solidFill>
              </a:rPr>
              <a:t>Using Tailwind’s default spacing scale, what CSS value does p-4 apply?</a:t>
            </a:r>
            <a:endParaRPr b="0" i="0" sz="1600" u="none" cap="none" strike="noStrike">
              <a:solidFill>
                <a:schemeClr val="dk1"/>
              </a:solidFill>
              <a:latin typeface="Arial"/>
              <a:ea typeface="Arial"/>
              <a:cs typeface="Arial"/>
              <a:sym typeface="Arial"/>
            </a:endParaRPr>
          </a:p>
        </p:txBody>
      </p:sp>
      <p:sp>
        <p:nvSpPr>
          <p:cNvPr id="82" name="Google Shape;82;p19"/>
          <p:cNvSpPr/>
          <p:nvPr/>
        </p:nvSpPr>
        <p:spPr>
          <a:xfrm>
            <a:off x="685800" y="1280152"/>
            <a:ext cx="4114800" cy="12801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50"/>
              <a:buFont typeface="Courier New"/>
              <a:buNone/>
            </a:pPr>
            <a:r>
              <a:rPr lang="en" sz="1250">
                <a:solidFill>
                  <a:srgbClr val="FFFFFF"/>
                </a:solidFill>
                <a:latin typeface="Courier New"/>
                <a:ea typeface="Courier New"/>
                <a:cs typeface="Courier New"/>
                <a:sym typeface="Courier New"/>
              </a:rPr>
              <a:t>&lt;section class="p-4"&gt;</a:t>
            </a:r>
            <a:endParaRPr sz="1250">
              <a:solidFill>
                <a:srgbClr val="FFFFFF"/>
              </a:solidFill>
              <a:latin typeface="Courier New"/>
              <a:ea typeface="Courier New"/>
              <a:cs typeface="Courier New"/>
              <a:sym typeface="Courier New"/>
            </a:endParaRPr>
          </a:p>
          <a:p>
            <a:pPr indent="0" lvl="0" marL="0" marR="0" rtl="0" algn="l">
              <a:spcBef>
                <a:spcPts val="0"/>
              </a:spcBef>
              <a:spcAft>
                <a:spcPts val="0"/>
              </a:spcAft>
              <a:buClr>
                <a:srgbClr val="FFFFFF"/>
              </a:buClr>
              <a:buSzPts val="1250"/>
              <a:buFont typeface="Courier New"/>
              <a:buNone/>
            </a:pPr>
            <a:r>
              <a:rPr lang="en" sz="1250">
                <a:solidFill>
                  <a:srgbClr val="FFFFFF"/>
                </a:solidFill>
                <a:latin typeface="Courier New"/>
                <a:ea typeface="Courier New"/>
                <a:cs typeface="Courier New"/>
                <a:sym typeface="Courier New"/>
              </a:rPr>
              <a:t>  Profile details</a:t>
            </a:r>
            <a:endParaRPr sz="1250">
              <a:solidFill>
                <a:srgbClr val="FFFFFF"/>
              </a:solidFill>
              <a:latin typeface="Courier New"/>
              <a:ea typeface="Courier New"/>
              <a:cs typeface="Courier New"/>
              <a:sym typeface="Courier New"/>
            </a:endParaRPr>
          </a:p>
          <a:p>
            <a:pPr indent="0" lvl="0" marL="0" marR="0" rtl="0" algn="l">
              <a:spcBef>
                <a:spcPts val="0"/>
              </a:spcBef>
              <a:spcAft>
                <a:spcPts val="0"/>
              </a:spcAft>
              <a:buClr>
                <a:srgbClr val="FFFFFF"/>
              </a:buClr>
              <a:buSzPts val="1250"/>
              <a:buFont typeface="Courier New"/>
              <a:buNone/>
            </a:pPr>
            <a:r>
              <a:rPr lang="en" sz="1250">
                <a:solidFill>
                  <a:srgbClr val="FFFFFF"/>
                </a:solidFill>
                <a:latin typeface="Courier New"/>
                <a:ea typeface="Courier New"/>
                <a:cs typeface="Courier New"/>
                <a:sym typeface="Courier New"/>
              </a:rPr>
              <a:t>&lt;/section&gt;</a:t>
            </a:r>
            <a:endParaRPr sz="1250">
              <a:solidFill>
                <a:srgbClr val="FFFFFF"/>
              </a:solidFill>
              <a:latin typeface="Courier New"/>
              <a:ea typeface="Courier New"/>
              <a:cs typeface="Courier New"/>
              <a:sym typeface="Courier New"/>
            </a:endParaRPr>
          </a:p>
        </p:txBody>
      </p:sp>
      <p:sp>
        <p:nvSpPr>
          <p:cNvPr id="83" name="Google Shape;83;p19"/>
          <p:cNvSpPr/>
          <p:nvPr/>
        </p:nvSpPr>
        <p:spPr>
          <a:xfrm>
            <a:off x="5074920" y="1325880"/>
            <a:ext cx="3291840" cy="128016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 4px</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B. 0.25rem</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C. 1rem</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D. 4rem</a:t>
            </a:r>
            <a:endParaRPr>
              <a:solidFill>
                <a:srgbClr val="111827"/>
              </a:solidFill>
            </a:endParaRPr>
          </a:p>
        </p:txBody>
      </p:sp>
      <p:sp>
        <p:nvSpPr>
          <p:cNvPr id="84" name="Google Shape;84;p19"/>
          <p:cNvSpPr/>
          <p:nvPr/>
        </p:nvSpPr>
        <p:spPr>
          <a:xfrm>
            <a:off x="685800" y="4370225"/>
            <a:ext cx="3291900" cy="4950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C</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4 × 0.25rem = 1rem</a:t>
            </a:r>
            <a:endParaRPr>
              <a:solidFill>
                <a:srgbClr val="111827"/>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p:nvPr/>
        </p:nvSpPr>
        <p:spPr>
          <a:xfrm>
            <a:off x="548640" y="384048"/>
            <a:ext cx="6583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Question </a:t>
            </a:r>
            <a:r>
              <a:rPr b="1" lang="en" sz="2100">
                <a:solidFill>
                  <a:srgbClr val="111827"/>
                </a:solidFill>
              </a:rPr>
              <a:t>2</a:t>
            </a:r>
            <a:endParaRPr b="0" i="0" sz="2100" u="none" cap="none" strike="noStrike">
              <a:solidFill>
                <a:schemeClr val="dk1"/>
              </a:solidFill>
              <a:latin typeface="Arial"/>
              <a:ea typeface="Arial"/>
              <a:cs typeface="Arial"/>
              <a:sym typeface="Arial"/>
            </a:endParaRPr>
          </a:p>
        </p:txBody>
      </p:sp>
      <p:sp>
        <p:nvSpPr>
          <p:cNvPr id="91" name="Google Shape;91;p20"/>
          <p:cNvSpPr/>
          <p:nvPr/>
        </p:nvSpPr>
        <p:spPr>
          <a:xfrm>
            <a:off x="685800" y="868680"/>
            <a:ext cx="7680900" cy="3201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600"/>
              <a:buFont typeface="Arial"/>
              <a:buNone/>
            </a:pPr>
            <a:r>
              <a:rPr b="1" lang="en" sz="1600">
                <a:solidFill>
                  <a:srgbClr val="111827"/>
                </a:solidFill>
              </a:rPr>
              <a:t>What does border-l-4 apply?</a:t>
            </a:r>
            <a:endParaRPr b="0" i="0" sz="1600" u="none" cap="none" strike="noStrike">
              <a:solidFill>
                <a:schemeClr val="dk1"/>
              </a:solidFill>
              <a:latin typeface="Arial"/>
              <a:ea typeface="Arial"/>
              <a:cs typeface="Arial"/>
              <a:sym typeface="Arial"/>
            </a:endParaRPr>
          </a:p>
        </p:txBody>
      </p:sp>
      <p:sp>
        <p:nvSpPr>
          <p:cNvPr id="92" name="Google Shape;92;p20"/>
          <p:cNvSpPr/>
          <p:nvPr/>
        </p:nvSpPr>
        <p:spPr>
          <a:xfrm>
            <a:off x="685800" y="1188770"/>
            <a:ext cx="7680900" cy="12801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00"/>
              <a:buFont typeface="Arial"/>
              <a:buNone/>
            </a:pPr>
            <a:r>
              <a:rPr lang="en" sz="1300">
                <a:solidFill>
                  <a:srgbClr val="111827"/>
                </a:solidFill>
              </a:rPr>
              <a:t>A. A 1rem border on every side</a:t>
            </a:r>
            <a:endParaRPr sz="1300">
              <a:solidFill>
                <a:srgbClr val="111827"/>
              </a:solidFill>
            </a:endParaRPr>
          </a:p>
          <a:p>
            <a:pPr indent="0" lvl="0" marL="0" marR="0" rtl="0" algn="l">
              <a:spcBef>
                <a:spcPts val="0"/>
              </a:spcBef>
              <a:spcAft>
                <a:spcPts val="0"/>
              </a:spcAft>
              <a:buClr>
                <a:srgbClr val="111827"/>
              </a:buClr>
              <a:buSzPts val="1300"/>
              <a:buFont typeface="Arial"/>
              <a:buNone/>
            </a:pPr>
            <a:r>
              <a:rPr lang="en" sz="1300">
                <a:solidFill>
                  <a:srgbClr val="111827"/>
                </a:solidFill>
              </a:rPr>
              <a:t>B. A 4px border on the left side</a:t>
            </a:r>
            <a:endParaRPr sz="1300">
              <a:solidFill>
                <a:srgbClr val="111827"/>
              </a:solidFill>
            </a:endParaRPr>
          </a:p>
          <a:p>
            <a:pPr indent="0" lvl="0" marL="0" marR="0" rtl="0" algn="l">
              <a:spcBef>
                <a:spcPts val="0"/>
              </a:spcBef>
              <a:spcAft>
                <a:spcPts val="0"/>
              </a:spcAft>
              <a:buClr>
                <a:srgbClr val="111827"/>
              </a:buClr>
              <a:buSzPts val="1300"/>
              <a:buFont typeface="Arial"/>
              <a:buNone/>
            </a:pPr>
            <a:r>
              <a:rPr lang="en" sz="1300">
                <a:solidFill>
                  <a:srgbClr val="111827"/>
                </a:solidFill>
              </a:rPr>
              <a:t>C. Four borders on the left side</a:t>
            </a:r>
            <a:endParaRPr sz="1300">
              <a:solidFill>
                <a:srgbClr val="111827"/>
              </a:solidFill>
            </a:endParaRPr>
          </a:p>
          <a:p>
            <a:pPr indent="0" lvl="0" marL="0" marR="0" rtl="0" algn="l">
              <a:spcBef>
                <a:spcPts val="0"/>
              </a:spcBef>
              <a:spcAft>
                <a:spcPts val="0"/>
              </a:spcAft>
              <a:buClr>
                <a:srgbClr val="111827"/>
              </a:buClr>
              <a:buSzPts val="1300"/>
              <a:buFont typeface="Arial"/>
              <a:buNone/>
            </a:pPr>
            <a:r>
              <a:rPr lang="en" sz="1300">
                <a:solidFill>
                  <a:srgbClr val="111827"/>
                </a:solidFill>
              </a:rPr>
              <a:t>D. A left margin of 4px</a:t>
            </a:r>
            <a:endParaRPr sz="1300">
              <a:solidFill>
                <a:srgbClr val="111827"/>
              </a:solidFill>
            </a:endParaRPr>
          </a:p>
        </p:txBody>
      </p:sp>
      <p:sp>
        <p:nvSpPr>
          <p:cNvPr id="93" name="Google Shape;93;p20"/>
          <p:cNvSpPr/>
          <p:nvPr/>
        </p:nvSpPr>
        <p:spPr>
          <a:xfrm>
            <a:off x="685800" y="4100900"/>
            <a:ext cx="4553400" cy="7641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B</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border-l identifies the left border-width family.</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4 represents a </a:t>
            </a:r>
            <a:r>
              <a:rPr i="1" lang="en" u="sng">
                <a:solidFill>
                  <a:srgbClr val="111827"/>
                </a:solidFill>
              </a:rPr>
              <a:t>4px</a:t>
            </a:r>
            <a:r>
              <a:rPr lang="en">
                <a:solidFill>
                  <a:srgbClr val="111827"/>
                </a:solidFill>
              </a:rPr>
              <a:t> border width in this utility family.</a:t>
            </a:r>
            <a:endParaRPr>
              <a:solidFill>
                <a:srgbClr val="111827"/>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Question </a:t>
            </a:r>
            <a:r>
              <a:rPr b="1" lang="en" sz="2100">
                <a:solidFill>
                  <a:srgbClr val="111827"/>
                </a:solidFill>
              </a:rPr>
              <a:t>3</a:t>
            </a:r>
            <a:endParaRPr b="0" i="0" sz="2100" u="none" cap="none" strike="noStrike">
              <a:solidFill>
                <a:schemeClr val="dk1"/>
              </a:solidFill>
              <a:latin typeface="Arial"/>
              <a:ea typeface="Arial"/>
              <a:cs typeface="Arial"/>
              <a:sym typeface="Arial"/>
            </a:endParaRPr>
          </a:p>
        </p:txBody>
      </p:sp>
      <p:sp>
        <p:nvSpPr>
          <p:cNvPr id="100" name="Google Shape;100;p21"/>
          <p:cNvSpPr/>
          <p:nvPr/>
        </p:nvSpPr>
        <p:spPr>
          <a:xfrm>
            <a:off x="685800" y="868680"/>
            <a:ext cx="7863840" cy="4114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600"/>
              <a:buFont typeface="Arial"/>
              <a:buNone/>
            </a:pPr>
            <a:r>
              <a:rPr b="1" lang="en" sz="1600">
                <a:solidFill>
                  <a:srgbClr val="111827"/>
                </a:solidFill>
              </a:rPr>
              <a:t>What width does w-1/2 apply to an element?</a:t>
            </a:r>
            <a:endParaRPr b="0" i="0" sz="1600" u="none" cap="none" strike="noStrike">
              <a:solidFill>
                <a:schemeClr val="dk1"/>
              </a:solidFill>
              <a:latin typeface="Arial"/>
              <a:ea typeface="Arial"/>
              <a:cs typeface="Arial"/>
              <a:sym typeface="Arial"/>
            </a:endParaRPr>
          </a:p>
        </p:txBody>
      </p:sp>
      <p:sp>
        <p:nvSpPr>
          <p:cNvPr id="101" name="Google Shape;101;p21"/>
          <p:cNvSpPr/>
          <p:nvPr/>
        </p:nvSpPr>
        <p:spPr>
          <a:xfrm>
            <a:off x="685790" y="1444725"/>
            <a:ext cx="3474600" cy="10974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 Half of the available parent width</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B. Half of the viewport height</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C. 0.5rem</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D. 2px</a:t>
            </a:r>
            <a:endParaRPr>
              <a:solidFill>
                <a:srgbClr val="111827"/>
              </a:solidFill>
            </a:endParaRPr>
          </a:p>
        </p:txBody>
      </p:sp>
      <p:sp>
        <p:nvSpPr>
          <p:cNvPr id="102" name="Google Shape;102;p21"/>
          <p:cNvSpPr/>
          <p:nvPr/>
        </p:nvSpPr>
        <p:spPr>
          <a:xfrm>
            <a:off x="685800" y="3767675"/>
            <a:ext cx="4623300" cy="10974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A</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The suffix lg is interpreted according to its utility family:</a:t>
            </a:r>
            <a:endParaRPr>
              <a:solidFill>
                <a:srgbClr val="111827"/>
              </a:solidFill>
            </a:endParaRPr>
          </a:p>
          <a:p>
            <a:pPr indent="0" lvl="0" marL="0" marR="0" rtl="0" algn="l">
              <a:spcBef>
                <a:spcPts val="0"/>
              </a:spcBef>
              <a:spcAft>
                <a:spcPts val="0"/>
              </a:spcAft>
              <a:buClr>
                <a:srgbClr val="111827"/>
              </a:buClr>
              <a:buSzPts val="1400"/>
              <a:buFont typeface="Arial"/>
              <a:buNone/>
            </a:pPr>
            <a:r>
              <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text-lg: named font size</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rounded-lg: named border radius</a:t>
            </a:r>
            <a:endParaRPr>
              <a:solidFill>
                <a:srgbClr val="111827"/>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p:nvPr/>
        </p:nvSpPr>
        <p:spPr>
          <a:xfrm>
            <a:off x="548640" y="384048"/>
            <a:ext cx="6583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Question </a:t>
            </a:r>
            <a:r>
              <a:rPr b="1" lang="en" sz="2100">
                <a:solidFill>
                  <a:srgbClr val="111827"/>
                </a:solidFill>
              </a:rPr>
              <a:t>4</a:t>
            </a:r>
            <a:endParaRPr b="0" i="0" sz="2100" u="none" cap="none" strike="noStrike">
              <a:solidFill>
                <a:schemeClr val="dk1"/>
              </a:solidFill>
              <a:latin typeface="Arial"/>
              <a:ea typeface="Arial"/>
              <a:cs typeface="Arial"/>
              <a:sym typeface="Arial"/>
            </a:endParaRPr>
          </a:p>
        </p:txBody>
      </p:sp>
      <p:sp>
        <p:nvSpPr>
          <p:cNvPr id="109" name="Google Shape;109;p22"/>
          <p:cNvSpPr/>
          <p:nvPr/>
        </p:nvSpPr>
        <p:spPr>
          <a:xfrm>
            <a:off x="685800" y="868680"/>
            <a:ext cx="7772400" cy="3657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600"/>
              <a:buFont typeface="Arial"/>
              <a:buNone/>
            </a:pPr>
            <a:r>
              <a:rPr b="1" lang="en" sz="1600">
                <a:solidFill>
                  <a:srgbClr val="111827"/>
                </a:solidFill>
              </a:rPr>
              <a:t>Which statement correctly compares these utilities?</a:t>
            </a:r>
            <a:endParaRPr b="0" i="0" sz="1600" u="none" cap="none" strike="noStrike">
              <a:solidFill>
                <a:schemeClr val="dk1"/>
              </a:solidFill>
              <a:latin typeface="Arial"/>
              <a:ea typeface="Arial"/>
              <a:cs typeface="Arial"/>
              <a:sym typeface="Arial"/>
            </a:endParaRPr>
          </a:p>
        </p:txBody>
      </p:sp>
      <p:sp>
        <p:nvSpPr>
          <p:cNvPr id="110" name="Google Shape;110;p22"/>
          <p:cNvSpPr/>
          <p:nvPr/>
        </p:nvSpPr>
        <p:spPr>
          <a:xfrm>
            <a:off x="685775" y="1325875"/>
            <a:ext cx="6396900" cy="12459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 Both utilities use the same measurement.</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B. text-lg controls font size, while rounded-lg controls border radius.</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C. text-lg controls text alignment, while rounded-lg controls border width.</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D. Both utilities use the spacing scale.</a:t>
            </a:r>
            <a:endParaRPr>
              <a:solidFill>
                <a:srgbClr val="111827"/>
              </a:solidFill>
            </a:endParaRPr>
          </a:p>
        </p:txBody>
      </p:sp>
      <p:sp>
        <p:nvSpPr>
          <p:cNvPr id="111" name="Google Shape;111;p22"/>
          <p:cNvSpPr/>
          <p:nvPr/>
        </p:nvSpPr>
        <p:spPr>
          <a:xfrm>
            <a:off x="694500" y="4206475"/>
            <a:ext cx="7083300" cy="6759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B</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The Play CDN is suitable for learning, experimentation, and development. It is not intended for production deployment.</a:t>
            </a:r>
            <a:endParaRPr>
              <a:solidFill>
                <a:srgbClr val="111827"/>
              </a:solidFill>
            </a:endParaRPr>
          </a:p>
        </p:txBody>
      </p:sp>
      <p:sp>
        <p:nvSpPr>
          <p:cNvPr id="112" name="Google Shape;112;p22"/>
          <p:cNvSpPr/>
          <p:nvPr/>
        </p:nvSpPr>
        <p:spPr>
          <a:xfrm>
            <a:off x="685775" y="3006625"/>
            <a:ext cx="2931000" cy="7650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50"/>
              <a:buFont typeface="Courier New"/>
              <a:buNone/>
            </a:pPr>
            <a:r>
              <a:rPr lang="en" sz="1250">
                <a:solidFill>
                  <a:srgbClr val="FFFFFF"/>
                </a:solidFill>
                <a:latin typeface="Courier New"/>
                <a:ea typeface="Courier New"/>
                <a:cs typeface="Courier New"/>
                <a:sym typeface="Courier New"/>
              </a:rPr>
              <a:t>class="text-lg rounded-lg"</a:t>
            </a:r>
            <a:endParaRPr sz="1250">
              <a:solidFill>
                <a:srgbClr val="FFFFFF"/>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Question </a:t>
            </a:r>
            <a:r>
              <a:rPr b="1" lang="en" sz="2100">
                <a:solidFill>
                  <a:srgbClr val="111827"/>
                </a:solidFill>
              </a:rPr>
              <a:t>5</a:t>
            </a:r>
            <a:endParaRPr b="0" i="0" sz="2100" u="none" cap="none" strike="noStrike">
              <a:solidFill>
                <a:schemeClr val="dk1"/>
              </a:solidFill>
              <a:latin typeface="Arial"/>
              <a:ea typeface="Arial"/>
              <a:cs typeface="Arial"/>
              <a:sym typeface="Arial"/>
            </a:endParaRPr>
          </a:p>
        </p:txBody>
      </p:sp>
      <p:sp>
        <p:nvSpPr>
          <p:cNvPr id="119" name="Google Shape;119;p23"/>
          <p:cNvSpPr/>
          <p:nvPr/>
        </p:nvSpPr>
        <p:spPr>
          <a:xfrm>
            <a:off x="685800" y="868680"/>
            <a:ext cx="7772400" cy="36576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600"/>
              <a:buFont typeface="Arial"/>
              <a:buNone/>
            </a:pPr>
            <a:r>
              <a:rPr b="1" lang="en" sz="1600">
                <a:solidFill>
                  <a:srgbClr val="111827"/>
                </a:solidFill>
              </a:rPr>
              <a:t>What is the recommended use of Tailwind’s Play CDN?</a:t>
            </a:r>
            <a:endParaRPr b="0" i="0" sz="1600" u="none" cap="none" strike="noStrike">
              <a:solidFill>
                <a:schemeClr val="dk1"/>
              </a:solidFill>
              <a:latin typeface="Arial"/>
              <a:ea typeface="Arial"/>
              <a:cs typeface="Arial"/>
              <a:sym typeface="Arial"/>
            </a:endParaRPr>
          </a:p>
        </p:txBody>
      </p:sp>
      <p:sp>
        <p:nvSpPr>
          <p:cNvPr id="120" name="Google Shape;120;p23"/>
          <p:cNvSpPr/>
          <p:nvPr/>
        </p:nvSpPr>
        <p:spPr>
          <a:xfrm>
            <a:off x="685786" y="1325875"/>
            <a:ext cx="6995100" cy="10974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 Building optimized production websites</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B. Trying Tailwind in the browser during development</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C. Replacing HTML and CSS completely</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D. Hosting JavaScript application data</a:t>
            </a:r>
            <a:endParaRPr>
              <a:solidFill>
                <a:srgbClr val="111827"/>
              </a:solidFill>
            </a:endParaRPr>
          </a:p>
        </p:txBody>
      </p:sp>
      <p:sp>
        <p:nvSpPr>
          <p:cNvPr id="121" name="Google Shape;121;p23"/>
          <p:cNvSpPr/>
          <p:nvPr/>
        </p:nvSpPr>
        <p:spPr>
          <a:xfrm>
            <a:off x="694500" y="4206475"/>
            <a:ext cx="7083300" cy="6759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B</a:t>
            </a:r>
            <a:endParaRPr>
              <a:solidFill>
                <a:srgbClr val="111827"/>
              </a:solidFill>
            </a:endParaRPr>
          </a:p>
          <a:p>
            <a:pPr indent="0" lvl="0" marL="0" marR="0" rtl="0" algn="l">
              <a:spcBef>
                <a:spcPts val="0"/>
              </a:spcBef>
              <a:spcAft>
                <a:spcPts val="0"/>
              </a:spcAft>
              <a:buClr>
                <a:srgbClr val="111827"/>
              </a:buClr>
              <a:buSzPts val="1400"/>
              <a:buFont typeface="Arial"/>
              <a:buNone/>
            </a:pPr>
            <a:r>
              <a:rPr lang="en">
                <a:solidFill>
                  <a:srgbClr val="111827"/>
                </a:solidFill>
              </a:rPr>
              <a:t>The Play CDN is suitable for learning, experimentation, and development. It is not intended for production deployment.</a:t>
            </a:r>
            <a:endParaRPr>
              <a:solidFill>
                <a:srgbClr val="111827"/>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p:nvPr/>
        </p:nvSpPr>
        <p:spPr>
          <a:xfrm>
            <a:off x="658368" y="2157984"/>
            <a:ext cx="7406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500"/>
              <a:buFont typeface="Arial"/>
              <a:buNone/>
            </a:pPr>
            <a:r>
              <a:rPr b="1" i="0" lang="en" sz="2500" u="none" cap="none" strike="noStrike">
                <a:solidFill>
                  <a:srgbClr val="111827"/>
                </a:solidFill>
                <a:latin typeface="Arial"/>
                <a:ea typeface="Arial"/>
                <a:cs typeface="Arial"/>
                <a:sym typeface="Arial"/>
              </a:rPr>
              <a:t>Flexbox in Tailwind</a:t>
            </a:r>
            <a:endParaRPr b="0" i="0" sz="2500" u="none" cap="none" strike="noStrike">
              <a:solidFill>
                <a:schemeClr val="dk1"/>
              </a:solidFill>
              <a:latin typeface="Arial"/>
              <a:ea typeface="Arial"/>
              <a:cs typeface="Arial"/>
              <a:sym typeface="Arial"/>
            </a:endParaRPr>
          </a:p>
        </p:txBody>
      </p:sp>
      <p:sp>
        <p:nvSpPr>
          <p:cNvPr id="128" name="Google Shape;128;p24"/>
          <p:cNvSpPr/>
          <p:nvPr/>
        </p:nvSpPr>
        <p:spPr>
          <a:xfrm>
            <a:off x="658368" y="2642616"/>
            <a:ext cx="7406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400"/>
              <a:buFont typeface="Arial"/>
              <a:buNone/>
            </a:pPr>
            <a:r>
              <a:rPr b="0" i="0" lang="en" sz="1400" u="none" cap="none" strike="noStrike">
                <a:solidFill>
                  <a:srgbClr val="4B5563"/>
                </a:solidFill>
                <a:latin typeface="Arial"/>
                <a:ea typeface="Arial"/>
                <a:cs typeface="Arial"/>
                <a:sym typeface="Arial"/>
              </a:rPr>
              <a:t>Arrange direct children along one main direction.</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Plac</a:t>
            </a:r>
            <a:r>
              <a:rPr b="1" lang="en" sz="2100">
                <a:solidFill>
                  <a:srgbClr val="111827"/>
                </a:solidFill>
              </a:rPr>
              <a:t>ing</a:t>
            </a:r>
            <a:r>
              <a:rPr b="1" i="0" lang="en" sz="2100" u="none" cap="none" strike="noStrike">
                <a:solidFill>
                  <a:srgbClr val="111827"/>
                </a:solidFill>
                <a:latin typeface="Arial"/>
                <a:ea typeface="Arial"/>
                <a:cs typeface="Arial"/>
                <a:sym typeface="Arial"/>
              </a:rPr>
              <a:t> related content on one row</a:t>
            </a:r>
            <a:endParaRPr b="0" i="0" sz="2100" u="none" cap="none" strike="noStrike">
              <a:solidFill>
                <a:schemeClr val="dk1"/>
              </a:solidFill>
              <a:latin typeface="Arial"/>
              <a:ea typeface="Arial"/>
              <a:cs typeface="Arial"/>
              <a:sym typeface="Arial"/>
            </a:endParaRPr>
          </a:p>
        </p:txBody>
      </p:sp>
      <p:sp>
        <p:nvSpPr>
          <p:cNvPr id="135" name="Google Shape;135;p25"/>
          <p:cNvSpPr/>
          <p:nvPr/>
        </p:nvSpPr>
        <p:spPr>
          <a:xfrm>
            <a:off x="685800" y="914400"/>
            <a:ext cx="3657600" cy="132588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70"/>
              <a:buFont typeface="Courier New"/>
              <a:buNone/>
            </a:pPr>
            <a:r>
              <a:rPr b="0" i="0" lang="en" sz="1270" u="none" cap="none" strike="noStrike">
                <a:solidFill>
                  <a:srgbClr val="FFFFFF"/>
                </a:solidFill>
                <a:latin typeface="Courier New"/>
                <a:ea typeface="Courier New"/>
                <a:cs typeface="Courier New"/>
                <a:sym typeface="Courier New"/>
              </a:rPr>
              <a:t>&lt;div&gt;</a:t>
            </a:r>
            <a:endParaRPr b="0" i="0" sz="12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70"/>
              <a:buFont typeface="Courier New"/>
              <a:buNone/>
            </a:pPr>
            <a:r>
              <a:rPr b="0" i="0" lang="en" sz="1270" u="none" cap="none" strike="noStrike">
                <a:solidFill>
                  <a:srgbClr val="FFFFFF"/>
                </a:solidFill>
                <a:latin typeface="Courier New"/>
                <a:ea typeface="Courier New"/>
                <a:cs typeface="Courier New"/>
                <a:sym typeface="Courier New"/>
              </a:rPr>
              <a:t>  &lt;h2&gt;Visual Studio Code&lt;/h2&gt;</a:t>
            </a:r>
            <a:endParaRPr b="0" i="0" sz="12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70"/>
              <a:buFont typeface="Courier New"/>
              <a:buNone/>
            </a:pPr>
            <a:r>
              <a:rPr b="0" i="0" lang="en" sz="1270" u="none" cap="none" strike="noStrike">
                <a:solidFill>
                  <a:srgbClr val="FFFFFF"/>
                </a:solidFill>
                <a:latin typeface="Courier New"/>
                <a:ea typeface="Courier New"/>
                <a:cs typeface="Courier New"/>
                <a:sym typeface="Courier New"/>
              </a:rPr>
              <a:t>  &lt;span&gt;Installed&lt;/span&gt;</a:t>
            </a:r>
            <a:endParaRPr b="0" i="0" sz="12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70"/>
              <a:buFont typeface="Courier New"/>
              <a:buNone/>
            </a:pPr>
            <a:r>
              <a:rPr b="0" i="0" lang="en" sz="1270" u="none" cap="none" strike="noStrike">
                <a:solidFill>
                  <a:srgbClr val="FFFFFF"/>
                </a:solidFill>
                <a:latin typeface="Courier New"/>
                <a:ea typeface="Courier New"/>
                <a:cs typeface="Courier New"/>
                <a:sym typeface="Courier New"/>
              </a:rPr>
              <a:t>&lt;/div&gt;</a:t>
            </a:r>
            <a:endParaRPr b="0" i="0" sz="1270" u="none" cap="none" strike="noStrike">
              <a:solidFill>
                <a:schemeClr val="dk1"/>
              </a:solidFill>
              <a:latin typeface="Arial"/>
              <a:ea typeface="Arial"/>
              <a:cs typeface="Arial"/>
              <a:sym typeface="Arial"/>
            </a:endParaRPr>
          </a:p>
        </p:txBody>
      </p:sp>
      <p:sp>
        <p:nvSpPr>
          <p:cNvPr id="136" name="Google Shape;136;p25"/>
          <p:cNvSpPr/>
          <p:nvPr/>
        </p:nvSpPr>
        <p:spPr>
          <a:xfrm>
            <a:off x="685800" y="2377440"/>
            <a:ext cx="3657600" cy="5486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The tool name and status belong to the same card.</a:t>
            </a:r>
            <a:endParaRPr b="0" i="0" sz="1400" u="none" cap="none" strike="noStrike">
              <a:solidFill>
                <a:schemeClr val="dk1"/>
              </a:solidFill>
              <a:latin typeface="Arial"/>
              <a:ea typeface="Arial"/>
              <a:cs typeface="Arial"/>
              <a:sym typeface="Arial"/>
            </a:endParaRPr>
          </a:p>
        </p:txBody>
      </p:sp>
      <p:sp>
        <p:nvSpPr>
          <p:cNvPr id="137" name="Google Shape;137;p25"/>
          <p:cNvSpPr/>
          <p:nvPr/>
        </p:nvSpPr>
        <p:spPr>
          <a:xfrm>
            <a:off x="4663440" y="960120"/>
            <a:ext cx="3383280" cy="1188720"/>
          </a:xfrm>
          <a:prstGeom prst="roundRect">
            <a:avLst>
              <a:gd fmla="val 2308"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5"/>
          <p:cNvSpPr/>
          <p:nvPr/>
        </p:nvSpPr>
        <p:spPr>
          <a:xfrm>
            <a:off x="4663440" y="960120"/>
            <a:ext cx="33832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p:nvPr/>
        </p:nvSpPr>
        <p:spPr>
          <a:xfrm>
            <a:off x="4773168" y="1014984"/>
            <a:ext cx="31638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current arrangement</a:t>
            </a:r>
            <a:endParaRPr b="0" i="0" sz="850" u="none" cap="none" strike="noStrike">
              <a:solidFill>
                <a:schemeClr val="dk1"/>
              </a:solidFill>
              <a:latin typeface="Arial"/>
              <a:ea typeface="Arial"/>
              <a:cs typeface="Arial"/>
              <a:sym typeface="Arial"/>
            </a:endParaRPr>
          </a:p>
        </p:txBody>
      </p:sp>
      <p:sp>
        <p:nvSpPr>
          <p:cNvPr id="140" name="Google Shape;140;p25"/>
          <p:cNvSpPr/>
          <p:nvPr/>
        </p:nvSpPr>
        <p:spPr>
          <a:xfrm>
            <a:off x="4937760" y="1335024"/>
            <a:ext cx="1645920" cy="246888"/>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Visual Studio Code</a:t>
            </a:r>
            <a:endParaRPr b="0" i="0" sz="900" u="none" cap="none" strike="noStrike">
              <a:solidFill>
                <a:schemeClr val="dk1"/>
              </a:solidFill>
              <a:latin typeface="Arial"/>
              <a:ea typeface="Arial"/>
              <a:cs typeface="Arial"/>
              <a:sym typeface="Arial"/>
            </a:endParaRPr>
          </a:p>
        </p:txBody>
      </p:sp>
      <p:sp>
        <p:nvSpPr>
          <p:cNvPr id="141" name="Google Shape;141;p25"/>
          <p:cNvSpPr/>
          <p:nvPr/>
        </p:nvSpPr>
        <p:spPr>
          <a:xfrm>
            <a:off x="4937760" y="1664208"/>
            <a:ext cx="822960" cy="237744"/>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Installed</a:t>
            </a:r>
            <a:endParaRPr b="0" i="0" sz="900" u="none" cap="none" strike="noStrike">
              <a:solidFill>
                <a:schemeClr val="dk1"/>
              </a:solidFill>
              <a:latin typeface="Arial"/>
              <a:ea typeface="Arial"/>
              <a:cs typeface="Arial"/>
              <a:sym typeface="Arial"/>
            </a:endParaRPr>
          </a:p>
        </p:txBody>
      </p:sp>
      <p:sp>
        <p:nvSpPr>
          <p:cNvPr id="142" name="Google Shape;142;p25"/>
          <p:cNvSpPr/>
          <p:nvPr/>
        </p:nvSpPr>
        <p:spPr>
          <a:xfrm>
            <a:off x="4663440" y="2560320"/>
            <a:ext cx="3383280" cy="914400"/>
          </a:xfrm>
          <a:prstGeom prst="roundRect">
            <a:avLst>
              <a:gd fmla="val 30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5"/>
          <p:cNvSpPr/>
          <p:nvPr/>
        </p:nvSpPr>
        <p:spPr>
          <a:xfrm>
            <a:off x="4663440" y="2560320"/>
            <a:ext cx="33832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a:off x="4773168" y="2615184"/>
            <a:ext cx="31638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layout goal</a:t>
            </a:r>
            <a:endParaRPr b="0" i="0" sz="850" u="none" cap="none" strike="noStrike">
              <a:solidFill>
                <a:schemeClr val="dk1"/>
              </a:solidFill>
              <a:latin typeface="Arial"/>
              <a:ea typeface="Arial"/>
              <a:cs typeface="Arial"/>
              <a:sym typeface="Arial"/>
            </a:endParaRPr>
          </a:p>
        </p:txBody>
      </p:sp>
      <p:sp>
        <p:nvSpPr>
          <p:cNvPr id="145" name="Google Shape;145;p25"/>
          <p:cNvSpPr/>
          <p:nvPr/>
        </p:nvSpPr>
        <p:spPr>
          <a:xfrm>
            <a:off x="4892040" y="2916936"/>
            <a:ext cx="1508760" cy="22860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60"/>
              <a:buFont typeface="Arial"/>
              <a:buNone/>
            </a:pPr>
            <a:r>
              <a:rPr b="0" i="0" lang="en" sz="860" u="none" cap="none" strike="noStrike">
                <a:solidFill>
                  <a:srgbClr val="111827"/>
                </a:solidFill>
                <a:latin typeface="Arial"/>
                <a:ea typeface="Arial"/>
                <a:cs typeface="Arial"/>
                <a:sym typeface="Arial"/>
              </a:rPr>
              <a:t>Visual Studio Code</a:t>
            </a:r>
            <a:endParaRPr b="0" i="0" sz="860" u="none" cap="none" strike="noStrike">
              <a:solidFill>
                <a:schemeClr val="dk1"/>
              </a:solidFill>
              <a:latin typeface="Arial"/>
              <a:ea typeface="Arial"/>
              <a:cs typeface="Arial"/>
              <a:sym typeface="Arial"/>
            </a:endParaRPr>
          </a:p>
        </p:txBody>
      </p:sp>
      <p:sp>
        <p:nvSpPr>
          <p:cNvPr id="146" name="Google Shape;146;p25"/>
          <p:cNvSpPr/>
          <p:nvPr/>
        </p:nvSpPr>
        <p:spPr>
          <a:xfrm>
            <a:off x="6903720" y="2916936"/>
            <a:ext cx="777240" cy="228600"/>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50"/>
              <a:buFont typeface="Arial"/>
              <a:buNone/>
            </a:pPr>
            <a:r>
              <a:rPr b="0" i="0" lang="en" sz="850" u="none" cap="none" strike="noStrike">
                <a:solidFill>
                  <a:srgbClr val="111827"/>
                </a:solidFill>
                <a:latin typeface="Arial"/>
                <a:ea typeface="Arial"/>
                <a:cs typeface="Arial"/>
                <a:sym typeface="Arial"/>
              </a:rPr>
              <a:t>Installed</a:t>
            </a:r>
            <a:endParaRPr b="0" i="0" sz="850" u="none" cap="none" strike="noStrike">
              <a:solidFill>
                <a:schemeClr val="dk1"/>
              </a:solidFill>
              <a:latin typeface="Arial"/>
              <a:ea typeface="Arial"/>
              <a:cs typeface="Arial"/>
              <a:sym typeface="Arial"/>
            </a:endParaRPr>
          </a:p>
        </p:txBody>
      </p:sp>
      <p:sp>
        <p:nvSpPr>
          <p:cNvPr id="147" name="Google Shape;147;p25"/>
          <p:cNvSpPr/>
          <p:nvPr/>
        </p:nvSpPr>
        <p:spPr>
          <a:xfrm>
            <a:off x="685800" y="3794760"/>
            <a:ext cx="7315200" cy="3200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400"/>
              <a:buFont typeface="Arial"/>
              <a:buNone/>
            </a:pPr>
            <a:r>
              <a:rPr b="1" i="0" lang="en" sz="1400" u="none" cap="none" strike="noStrike">
                <a:solidFill>
                  <a:srgbClr val="334155"/>
                </a:solidFill>
                <a:latin typeface="Arial"/>
                <a:ea typeface="Arial"/>
                <a:cs typeface="Arial"/>
                <a:sym typeface="Arial"/>
              </a:rPr>
              <a:t>Flexbox lets the parent arrange its direct children along one main direction.</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Create a flex container</a:t>
            </a:r>
            <a:endParaRPr b="0" i="0" sz="2100" u="none" cap="none" strike="noStrike">
              <a:solidFill>
                <a:schemeClr val="dk1"/>
              </a:solidFill>
              <a:latin typeface="Arial"/>
              <a:ea typeface="Arial"/>
              <a:cs typeface="Arial"/>
              <a:sym typeface="Arial"/>
            </a:endParaRPr>
          </a:p>
        </p:txBody>
      </p:sp>
      <p:sp>
        <p:nvSpPr>
          <p:cNvPr id="154" name="Google Shape;154;p26"/>
          <p:cNvSpPr/>
          <p:nvPr/>
        </p:nvSpPr>
        <p:spPr>
          <a:xfrm>
            <a:off x="685800" y="868680"/>
            <a:ext cx="658368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0" i="0" lang="en" sz="1500" u="none" cap="none" strike="noStrike">
                <a:solidFill>
                  <a:srgbClr val="111827"/>
                </a:solidFill>
                <a:latin typeface="Arial"/>
                <a:ea typeface="Arial"/>
                <a:cs typeface="Arial"/>
                <a:sym typeface="Arial"/>
              </a:rPr>
              <a:t>Add flex to the parent element.</a:t>
            </a:r>
            <a:endParaRPr b="0" i="0" sz="1500" u="none" cap="none" strike="noStrike">
              <a:solidFill>
                <a:schemeClr val="dk1"/>
              </a:solidFill>
              <a:latin typeface="Arial"/>
              <a:ea typeface="Arial"/>
              <a:cs typeface="Arial"/>
              <a:sym typeface="Arial"/>
            </a:endParaRPr>
          </a:p>
        </p:txBody>
      </p:sp>
      <p:sp>
        <p:nvSpPr>
          <p:cNvPr id="155" name="Google Shape;155;p26"/>
          <p:cNvSpPr/>
          <p:nvPr/>
        </p:nvSpPr>
        <p:spPr>
          <a:xfrm>
            <a:off x="685800" y="1234440"/>
            <a:ext cx="3840480" cy="141732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80"/>
              <a:buFont typeface="Courier New"/>
              <a:buNone/>
            </a:pPr>
            <a:r>
              <a:rPr b="0" i="0" lang="en" sz="1280" u="none" cap="none" strike="noStrike">
                <a:solidFill>
                  <a:srgbClr val="FFFFFF"/>
                </a:solidFill>
                <a:latin typeface="Courier New"/>
                <a:ea typeface="Courier New"/>
                <a:cs typeface="Courier New"/>
                <a:sym typeface="Courier New"/>
              </a:rPr>
              <a:t>&lt;div class="flex"&gt;</a:t>
            </a:r>
            <a:endParaRPr b="0" i="0" sz="12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80"/>
              <a:buFont typeface="Courier New"/>
              <a:buNone/>
            </a:pPr>
            <a:r>
              <a:rPr b="0" i="0" lang="en" sz="1280" u="none" cap="none" strike="noStrike">
                <a:solidFill>
                  <a:srgbClr val="FFFFFF"/>
                </a:solidFill>
                <a:latin typeface="Courier New"/>
                <a:ea typeface="Courier New"/>
                <a:cs typeface="Courier New"/>
                <a:sym typeface="Courier New"/>
              </a:rPr>
              <a:t>  &lt;h2&gt;Visual Studio Code&lt;/h2&gt;</a:t>
            </a:r>
            <a:endParaRPr b="0" i="0" sz="12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80"/>
              <a:buFont typeface="Courier New"/>
              <a:buNone/>
            </a:pPr>
            <a:r>
              <a:rPr b="0" i="0" lang="en" sz="1280" u="none" cap="none" strike="noStrike">
                <a:solidFill>
                  <a:srgbClr val="FFFFFF"/>
                </a:solidFill>
                <a:latin typeface="Courier New"/>
                <a:ea typeface="Courier New"/>
                <a:cs typeface="Courier New"/>
                <a:sym typeface="Courier New"/>
              </a:rPr>
              <a:t>  &lt;span&gt;Installed&lt;/span&gt;</a:t>
            </a:r>
            <a:endParaRPr b="0" i="0" sz="12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80"/>
              <a:buFont typeface="Courier New"/>
              <a:buNone/>
            </a:pPr>
            <a:r>
              <a:rPr b="0" i="0" lang="en" sz="1280" u="none" cap="none" strike="noStrike">
                <a:solidFill>
                  <a:srgbClr val="FFFFFF"/>
                </a:solidFill>
                <a:latin typeface="Courier New"/>
                <a:ea typeface="Courier New"/>
                <a:cs typeface="Courier New"/>
                <a:sym typeface="Courier New"/>
              </a:rPr>
              <a:t>&lt;/div&gt;</a:t>
            </a:r>
            <a:endParaRPr b="0" i="0" sz="1280" u="none" cap="none" strike="noStrike">
              <a:solidFill>
                <a:schemeClr val="dk1"/>
              </a:solidFill>
              <a:latin typeface="Arial"/>
              <a:ea typeface="Arial"/>
              <a:cs typeface="Arial"/>
              <a:sym typeface="Arial"/>
            </a:endParaRPr>
          </a:p>
        </p:txBody>
      </p:sp>
      <p:sp>
        <p:nvSpPr>
          <p:cNvPr id="156" name="Google Shape;156;p26"/>
          <p:cNvSpPr/>
          <p:nvPr/>
        </p:nvSpPr>
        <p:spPr>
          <a:xfrm>
            <a:off x="5074920" y="1051560"/>
            <a:ext cx="2560320" cy="50292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div.flex</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Flex container</a:t>
            </a:r>
            <a:endParaRPr b="0" i="0" sz="1200" u="none" cap="none" strike="noStrike">
              <a:solidFill>
                <a:schemeClr val="dk1"/>
              </a:solidFill>
              <a:latin typeface="Arial"/>
              <a:ea typeface="Arial"/>
              <a:cs typeface="Arial"/>
              <a:sym typeface="Arial"/>
            </a:endParaRPr>
          </a:p>
        </p:txBody>
      </p:sp>
      <p:sp>
        <p:nvSpPr>
          <p:cNvPr id="157" name="Google Shape;157;p26"/>
          <p:cNvSpPr/>
          <p:nvPr/>
        </p:nvSpPr>
        <p:spPr>
          <a:xfrm>
            <a:off x="4709160" y="1965960"/>
            <a:ext cx="1143000" cy="50292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h2</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Flex item</a:t>
            </a:r>
            <a:endParaRPr b="0" i="0" sz="1100" u="none" cap="none" strike="noStrike">
              <a:solidFill>
                <a:schemeClr val="dk1"/>
              </a:solidFill>
              <a:latin typeface="Arial"/>
              <a:ea typeface="Arial"/>
              <a:cs typeface="Arial"/>
              <a:sym typeface="Arial"/>
            </a:endParaRPr>
          </a:p>
        </p:txBody>
      </p:sp>
      <p:sp>
        <p:nvSpPr>
          <p:cNvPr id="158" name="Google Shape;158;p26"/>
          <p:cNvSpPr/>
          <p:nvPr/>
        </p:nvSpPr>
        <p:spPr>
          <a:xfrm>
            <a:off x="6812280" y="1965960"/>
            <a:ext cx="1143000" cy="50292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span</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Flex item</a:t>
            </a:r>
            <a:endParaRPr b="0" i="0" sz="1100" u="none" cap="none" strike="noStrike">
              <a:solidFill>
                <a:schemeClr val="dk1"/>
              </a:solidFill>
              <a:latin typeface="Arial"/>
              <a:ea typeface="Arial"/>
              <a:cs typeface="Arial"/>
              <a:sym typeface="Arial"/>
            </a:endParaRPr>
          </a:p>
        </p:txBody>
      </p:sp>
      <p:cxnSp>
        <p:nvCxnSpPr>
          <p:cNvPr id="159" name="Google Shape;159;p26"/>
          <p:cNvCxnSpPr/>
          <p:nvPr/>
        </p:nvCxnSpPr>
        <p:spPr>
          <a:xfrm flipH="1">
            <a:off x="5303520" y="1554480"/>
            <a:ext cx="1051560" cy="411480"/>
          </a:xfrm>
          <a:prstGeom prst="straightConnector1">
            <a:avLst/>
          </a:prstGeom>
          <a:noFill/>
          <a:ln cap="flat" cmpd="sng" w="12700">
            <a:solidFill>
              <a:srgbClr val="94A3B8"/>
            </a:solidFill>
            <a:prstDash val="solid"/>
            <a:round/>
            <a:headEnd len="sm" w="sm" type="none"/>
            <a:tailEnd len="med" w="med" type="triangle"/>
          </a:ln>
        </p:spPr>
      </p:cxnSp>
      <p:cxnSp>
        <p:nvCxnSpPr>
          <p:cNvPr id="160" name="Google Shape;160;p26"/>
          <p:cNvCxnSpPr/>
          <p:nvPr/>
        </p:nvCxnSpPr>
        <p:spPr>
          <a:xfrm>
            <a:off x="6355080" y="1554480"/>
            <a:ext cx="1005840" cy="411480"/>
          </a:xfrm>
          <a:prstGeom prst="straightConnector1">
            <a:avLst/>
          </a:prstGeom>
          <a:noFill/>
          <a:ln cap="flat" cmpd="sng" w="12700">
            <a:solidFill>
              <a:srgbClr val="94A3B8"/>
            </a:solidFill>
            <a:prstDash val="solid"/>
            <a:round/>
            <a:headEnd len="sm" w="sm" type="none"/>
            <a:tailEnd len="med" w="med" type="triangle"/>
          </a:ln>
        </p:spPr>
      </p:cxnSp>
      <p:sp>
        <p:nvSpPr>
          <p:cNvPr id="161" name="Google Shape;161;p26"/>
          <p:cNvSpPr/>
          <p:nvPr/>
        </p:nvSpPr>
        <p:spPr>
          <a:xfrm>
            <a:off x="685800" y="3063240"/>
            <a:ext cx="7772400" cy="10972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50"/>
              <a:buFont typeface="Arial"/>
              <a:buChar char="•"/>
            </a:pPr>
            <a:r>
              <a:rPr b="0" i="0" lang="en" sz="1350" u="none" cap="none" strike="noStrike">
                <a:solidFill>
                  <a:srgbClr val="111827"/>
                </a:solidFill>
                <a:latin typeface="Arial"/>
                <a:ea typeface="Arial"/>
                <a:cs typeface="Arial"/>
                <a:sym typeface="Arial"/>
              </a:rPr>
              <a:t>The &lt;div&gt; becomes a flex container.</a:t>
            </a:r>
            <a:endParaRPr b="0" i="0" sz="13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50"/>
              <a:buFont typeface="Arial"/>
              <a:buChar char="•"/>
            </a:pPr>
            <a:r>
              <a:rPr b="0" i="0" lang="en" sz="1350" u="none" cap="none" strike="noStrike">
                <a:solidFill>
                  <a:srgbClr val="111827"/>
                </a:solidFill>
                <a:latin typeface="Arial"/>
                <a:ea typeface="Arial"/>
                <a:cs typeface="Arial"/>
                <a:sym typeface="Arial"/>
              </a:rPr>
              <a:t>The &lt;h2&gt; and &lt;span&gt; become flex items.</a:t>
            </a:r>
            <a:endParaRPr b="0" i="0" sz="13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50"/>
              <a:buFont typeface="Arial"/>
              <a:buChar char="•"/>
            </a:pPr>
            <a:r>
              <a:rPr b="0" i="0" lang="en" sz="1350" u="none" cap="none" strike="noStrike">
                <a:solidFill>
                  <a:srgbClr val="111827"/>
                </a:solidFill>
                <a:latin typeface="Arial"/>
                <a:ea typeface="Arial"/>
                <a:cs typeface="Arial"/>
                <a:sym typeface="Arial"/>
              </a:rPr>
              <a:t>Flexbox arranges the direct children of the container.</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Flexbox starts with a row</a:t>
            </a:r>
            <a:endParaRPr b="0" i="0" sz="2100" u="none" cap="none" strike="noStrike">
              <a:solidFill>
                <a:schemeClr val="dk1"/>
              </a:solidFill>
              <a:latin typeface="Arial"/>
              <a:ea typeface="Arial"/>
              <a:cs typeface="Arial"/>
              <a:sym typeface="Arial"/>
            </a:endParaRPr>
          </a:p>
        </p:txBody>
      </p:sp>
      <p:sp>
        <p:nvSpPr>
          <p:cNvPr id="168" name="Google Shape;168;p27"/>
          <p:cNvSpPr/>
          <p:nvPr/>
        </p:nvSpPr>
        <p:spPr>
          <a:xfrm>
            <a:off x="685800" y="868680"/>
            <a:ext cx="5486400" cy="292608"/>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0" i="0" lang="en" sz="1500" u="none" cap="none" strike="noStrike">
                <a:solidFill>
                  <a:srgbClr val="111827"/>
                </a:solidFill>
                <a:latin typeface="Arial"/>
                <a:ea typeface="Arial"/>
                <a:cs typeface="Arial"/>
                <a:sym typeface="Arial"/>
              </a:rPr>
              <a:t>The default Flexbox direction is a row.</a:t>
            </a:r>
            <a:endParaRPr b="0" i="0" sz="1500" u="none" cap="none" strike="noStrike">
              <a:solidFill>
                <a:schemeClr val="dk1"/>
              </a:solidFill>
              <a:latin typeface="Arial"/>
              <a:ea typeface="Arial"/>
              <a:cs typeface="Arial"/>
              <a:sym typeface="Arial"/>
            </a:endParaRPr>
          </a:p>
        </p:txBody>
      </p:sp>
      <p:sp>
        <p:nvSpPr>
          <p:cNvPr id="169" name="Google Shape;169;p27"/>
          <p:cNvSpPr/>
          <p:nvPr/>
        </p:nvSpPr>
        <p:spPr>
          <a:xfrm>
            <a:off x="685800" y="1234440"/>
            <a:ext cx="3291840" cy="141732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&lt;div class="flex"&gt;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  &lt;div&gt;One&lt;/div&gt;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  &lt;div&gt;Two&lt;/div&gt;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  &lt;div&gt;Three&lt;/div&gt;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&lt;/div&gt;</a:t>
            </a:r>
            <a:endParaRPr b="0" i="0" sz="1250" u="none" cap="none" strike="noStrike">
              <a:solidFill>
                <a:schemeClr val="dk1"/>
              </a:solidFill>
              <a:latin typeface="Arial"/>
              <a:ea typeface="Arial"/>
              <a:cs typeface="Arial"/>
              <a:sym typeface="Arial"/>
            </a:endParaRPr>
          </a:p>
        </p:txBody>
      </p:sp>
      <p:sp>
        <p:nvSpPr>
          <p:cNvPr id="170" name="Google Shape;170;p27"/>
          <p:cNvSpPr/>
          <p:nvPr/>
        </p:nvSpPr>
        <p:spPr>
          <a:xfrm>
            <a:off x="4572000" y="1600200"/>
            <a:ext cx="822960" cy="41148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One</a:t>
            </a:r>
            <a:endParaRPr b="0" i="0" sz="1200" u="none" cap="none" strike="noStrike">
              <a:solidFill>
                <a:schemeClr val="dk1"/>
              </a:solidFill>
              <a:latin typeface="Arial"/>
              <a:ea typeface="Arial"/>
              <a:cs typeface="Arial"/>
              <a:sym typeface="Arial"/>
            </a:endParaRPr>
          </a:p>
        </p:txBody>
      </p:sp>
      <p:sp>
        <p:nvSpPr>
          <p:cNvPr id="171" name="Google Shape;171;p27"/>
          <p:cNvSpPr/>
          <p:nvPr/>
        </p:nvSpPr>
        <p:spPr>
          <a:xfrm>
            <a:off x="5623560" y="1600200"/>
            <a:ext cx="822960" cy="41148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Two</a:t>
            </a:r>
            <a:endParaRPr b="0" i="0" sz="1200" u="none" cap="none" strike="noStrike">
              <a:solidFill>
                <a:schemeClr val="dk1"/>
              </a:solidFill>
              <a:latin typeface="Arial"/>
              <a:ea typeface="Arial"/>
              <a:cs typeface="Arial"/>
              <a:sym typeface="Arial"/>
            </a:endParaRPr>
          </a:p>
        </p:txBody>
      </p:sp>
      <p:sp>
        <p:nvSpPr>
          <p:cNvPr id="172" name="Google Shape;172;p27"/>
          <p:cNvSpPr/>
          <p:nvPr/>
        </p:nvSpPr>
        <p:spPr>
          <a:xfrm>
            <a:off x="6675120" y="1600200"/>
            <a:ext cx="822960" cy="41148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Three</a:t>
            </a:r>
            <a:endParaRPr b="0" i="0" sz="1200" u="none" cap="none" strike="noStrike">
              <a:solidFill>
                <a:schemeClr val="dk1"/>
              </a:solidFill>
              <a:latin typeface="Arial"/>
              <a:ea typeface="Arial"/>
              <a:cs typeface="Arial"/>
              <a:sym typeface="Arial"/>
            </a:endParaRPr>
          </a:p>
        </p:txBody>
      </p:sp>
      <p:cxnSp>
        <p:nvCxnSpPr>
          <p:cNvPr id="173" name="Google Shape;173;p27"/>
          <p:cNvCxnSpPr/>
          <p:nvPr/>
        </p:nvCxnSpPr>
        <p:spPr>
          <a:xfrm>
            <a:off x="4572000" y="2331720"/>
            <a:ext cx="2926080" cy="0"/>
          </a:xfrm>
          <a:prstGeom prst="straightConnector1">
            <a:avLst/>
          </a:prstGeom>
          <a:noFill/>
          <a:ln cap="flat" cmpd="sng" w="17775">
            <a:solidFill>
              <a:srgbClr val="2563EB"/>
            </a:solidFill>
            <a:prstDash val="solid"/>
            <a:round/>
            <a:headEnd len="sm" w="sm" type="none"/>
            <a:tailEnd len="med" w="med" type="triangle"/>
          </a:ln>
        </p:spPr>
      </p:cxnSp>
      <p:sp>
        <p:nvSpPr>
          <p:cNvPr id="174" name="Google Shape;174;p27"/>
          <p:cNvSpPr/>
          <p:nvPr/>
        </p:nvSpPr>
        <p:spPr>
          <a:xfrm>
            <a:off x="5486400" y="2395728"/>
            <a:ext cx="1280160" cy="18288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2563EB"/>
              </a:buClr>
              <a:buSzPts val="1000"/>
              <a:buFont typeface="Arial"/>
              <a:buNone/>
            </a:pPr>
            <a:r>
              <a:rPr b="0" i="0" lang="en" sz="1000" u="none" cap="none" strike="noStrike">
                <a:solidFill>
                  <a:srgbClr val="2563EB"/>
                </a:solidFill>
                <a:latin typeface="Arial"/>
                <a:ea typeface="Arial"/>
                <a:cs typeface="Arial"/>
                <a:sym typeface="Arial"/>
              </a:rPr>
              <a:t>main axis</a:t>
            </a:r>
            <a:endParaRPr b="0" i="0" sz="1000" u="none" cap="none" strike="noStrike">
              <a:solidFill>
                <a:schemeClr val="dk1"/>
              </a:solidFill>
              <a:latin typeface="Arial"/>
              <a:ea typeface="Arial"/>
              <a:cs typeface="Arial"/>
              <a:sym typeface="Arial"/>
            </a:endParaRPr>
          </a:p>
        </p:txBody>
      </p:sp>
      <p:sp>
        <p:nvSpPr>
          <p:cNvPr id="175" name="Google Shape;175;p27"/>
          <p:cNvSpPr/>
          <p:nvPr/>
        </p:nvSpPr>
        <p:spPr>
          <a:xfrm>
            <a:off x="685800" y="3154680"/>
            <a:ext cx="7863840" cy="1143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20"/>
              <a:buFont typeface="Arial"/>
              <a:buChar char="•"/>
            </a:pPr>
            <a:r>
              <a:rPr b="0" i="0" lang="en" sz="1320" u="none" cap="none" strike="noStrike">
                <a:solidFill>
                  <a:srgbClr val="111827"/>
                </a:solidFill>
                <a:latin typeface="Arial"/>
                <a:ea typeface="Arial"/>
                <a:cs typeface="Arial"/>
                <a:sym typeface="Arial"/>
              </a:rPr>
              <a:t>The items follow the main axis.</a:t>
            </a:r>
            <a:endParaRPr b="0" i="0" sz="132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20"/>
              <a:buFont typeface="Arial"/>
              <a:buChar char="•"/>
            </a:pPr>
            <a:r>
              <a:rPr b="0" i="0" lang="en" sz="1320" u="none" cap="none" strike="noStrike">
                <a:solidFill>
                  <a:srgbClr val="111827"/>
                </a:solidFill>
                <a:latin typeface="Arial"/>
                <a:ea typeface="Arial"/>
                <a:cs typeface="Arial"/>
                <a:sym typeface="Arial"/>
              </a:rPr>
              <a:t>The default main axis runs from left to right in this page.</a:t>
            </a:r>
            <a:endParaRPr b="0" i="0" sz="132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20"/>
              <a:buFont typeface="Arial"/>
              <a:buChar char="•"/>
            </a:pPr>
            <a:r>
              <a:rPr b="0" i="0" lang="en" sz="1320" u="none" cap="none" strike="noStrike">
                <a:solidFill>
                  <a:srgbClr val="111827"/>
                </a:solidFill>
                <a:latin typeface="Arial"/>
                <a:ea typeface="Arial"/>
                <a:cs typeface="Arial"/>
                <a:sym typeface="Arial"/>
              </a:rPr>
              <a:t>HTML order remains unchanged.</a:t>
            </a:r>
            <a:endParaRPr b="0" i="0" sz="132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20"/>
              <a:buFont typeface="Arial"/>
              <a:buChar char="•"/>
            </a:pPr>
            <a:r>
              <a:rPr b="0" i="0" lang="en" sz="1320" u="none" cap="none" strike="noStrike">
                <a:solidFill>
                  <a:srgbClr val="111827"/>
                </a:solidFill>
                <a:latin typeface="Arial"/>
                <a:ea typeface="Arial"/>
                <a:cs typeface="Arial"/>
                <a:sym typeface="Arial"/>
              </a:rPr>
              <a:t>flex-row sets the same direction explicitly.</a:t>
            </a:r>
            <a:endParaRPr b="0" i="0" sz="132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Change direction with flex-col</a:t>
            </a:r>
            <a:endParaRPr b="0" i="0" sz="2100" u="none" cap="none" strike="noStrike">
              <a:solidFill>
                <a:schemeClr val="dk1"/>
              </a:solidFill>
              <a:latin typeface="Arial"/>
              <a:ea typeface="Arial"/>
              <a:cs typeface="Arial"/>
              <a:sym typeface="Arial"/>
            </a:endParaRPr>
          </a:p>
        </p:txBody>
      </p:sp>
      <p:sp>
        <p:nvSpPr>
          <p:cNvPr id="182" name="Google Shape;182;p28"/>
          <p:cNvSpPr/>
          <p:nvPr/>
        </p:nvSpPr>
        <p:spPr>
          <a:xfrm>
            <a:off x="685800" y="868680"/>
            <a:ext cx="59436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0" i="0" lang="en" sz="1500" u="none" cap="none" strike="noStrike">
                <a:solidFill>
                  <a:srgbClr val="111827"/>
                </a:solidFill>
                <a:latin typeface="Arial"/>
                <a:ea typeface="Arial"/>
                <a:cs typeface="Arial"/>
                <a:sym typeface="Arial"/>
              </a:rPr>
              <a:t>flex-col changes the main axis to a column.</a:t>
            </a:r>
            <a:endParaRPr b="0" i="0" sz="1500" u="none" cap="none" strike="noStrike">
              <a:solidFill>
                <a:schemeClr val="dk1"/>
              </a:solidFill>
              <a:latin typeface="Arial"/>
              <a:ea typeface="Arial"/>
              <a:cs typeface="Arial"/>
              <a:sym typeface="Arial"/>
            </a:endParaRPr>
          </a:p>
        </p:txBody>
      </p:sp>
      <p:sp>
        <p:nvSpPr>
          <p:cNvPr id="183" name="Google Shape;183;p28"/>
          <p:cNvSpPr/>
          <p:nvPr/>
        </p:nvSpPr>
        <p:spPr>
          <a:xfrm>
            <a:off x="685800" y="1234440"/>
            <a:ext cx="3383280" cy="141732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40"/>
              <a:buFont typeface="Courier New"/>
              <a:buNone/>
            </a:pPr>
            <a:r>
              <a:rPr b="0" i="0" lang="en" sz="1240" u="none" cap="none" strike="noStrike">
                <a:solidFill>
                  <a:srgbClr val="FFFFFF"/>
                </a:solidFill>
                <a:latin typeface="Courier New"/>
                <a:ea typeface="Courier New"/>
                <a:cs typeface="Courier New"/>
                <a:sym typeface="Courier New"/>
              </a:rPr>
              <a:t>&lt;div class="flex flex-col"&gt;</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40"/>
              <a:buFont typeface="Courier New"/>
              <a:buNone/>
            </a:pPr>
            <a:r>
              <a:rPr b="0" i="0" lang="en" sz="1240" u="none" cap="none" strike="noStrike">
                <a:solidFill>
                  <a:srgbClr val="FFFFFF"/>
                </a:solidFill>
                <a:latin typeface="Courier New"/>
                <a:ea typeface="Courier New"/>
                <a:cs typeface="Courier New"/>
                <a:sym typeface="Courier New"/>
              </a:rPr>
              <a:t>  &lt;div&gt;Design&lt;/div&gt;</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40"/>
              <a:buFont typeface="Courier New"/>
              <a:buNone/>
            </a:pPr>
            <a:r>
              <a:rPr b="0" i="0" lang="en" sz="1240" u="none" cap="none" strike="noStrike">
                <a:solidFill>
                  <a:srgbClr val="FFFFFF"/>
                </a:solidFill>
                <a:latin typeface="Courier New"/>
                <a:ea typeface="Courier New"/>
                <a:cs typeface="Courier New"/>
                <a:sym typeface="Courier New"/>
              </a:rPr>
              <a:t>  &lt;div&gt;Develop&lt;/div&gt;</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40"/>
              <a:buFont typeface="Courier New"/>
              <a:buNone/>
            </a:pPr>
            <a:r>
              <a:rPr b="0" i="0" lang="en" sz="1240" u="none" cap="none" strike="noStrike">
                <a:solidFill>
                  <a:srgbClr val="FFFFFF"/>
                </a:solidFill>
                <a:latin typeface="Courier New"/>
                <a:ea typeface="Courier New"/>
                <a:cs typeface="Courier New"/>
                <a:sym typeface="Courier New"/>
              </a:rPr>
              <a:t>  &lt;div&gt;Test&lt;/div&gt;</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40"/>
              <a:buFont typeface="Courier New"/>
              <a:buNone/>
            </a:pPr>
            <a:r>
              <a:rPr b="0" i="0" lang="en" sz="1240" u="none" cap="none" strike="noStrike">
                <a:solidFill>
                  <a:srgbClr val="FFFFFF"/>
                </a:solidFill>
                <a:latin typeface="Courier New"/>
                <a:ea typeface="Courier New"/>
                <a:cs typeface="Courier New"/>
                <a:sym typeface="Courier New"/>
              </a:rPr>
              <a:t>&lt;/div&gt;</a:t>
            </a:r>
            <a:endParaRPr b="0" i="0" sz="1240" u="none" cap="none" strike="noStrike">
              <a:solidFill>
                <a:schemeClr val="dk1"/>
              </a:solidFill>
              <a:latin typeface="Arial"/>
              <a:ea typeface="Arial"/>
              <a:cs typeface="Arial"/>
              <a:sym typeface="Arial"/>
            </a:endParaRPr>
          </a:p>
        </p:txBody>
      </p:sp>
      <p:sp>
        <p:nvSpPr>
          <p:cNvPr id="184" name="Google Shape;184;p28"/>
          <p:cNvSpPr/>
          <p:nvPr/>
        </p:nvSpPr>
        <p:spPr>
          <a:xfrm>
            <a:off x="4572000" y="1097280"/>
            <a:ext cx="10972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flex</a:t>
            </a:r>
            <a:endParaRPr b="0" i="0" sz="1200" u="none" cap="none" strike="noStrike">
              <a:solidFill>
                <a:schemeClr val="dk1"/>
              </a:solidFill>
              <a:latin typeface="Arial"/>
              <a:ea typeface="Arial"/>
              <a:cs typeface="Arial"/>
              <a:sym typeface="Arial"/>
            </a:endParaRPr>
          </a:p>
        </p:txBody>
      </p:sp>
      <p:sp>
        <p:nvSpPr>
          <p:cNvPr id="185" name="Google Shape;185;p28"/>
          <p:cNvSpPr/>
          <p:nvPr/>
        </p:nvSpPr>
        <p:spPr>
          <a:xfrm>
            <a:off x="4572000" y="1417320"/>
            <a:ext cx="82296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Design</a:t>
            </a:r>
            <a:endParaRPr b="0" i="0" sz="900" u="none" cap="none" strike="noStrike">
              <a:solidFill>
                <a:schemeClr val="dk1"/>
              </a:solidFill>
              <a:latin typeface="Arial"/>
              <a:ea typeface="Arial"/>
              <a:cs typeface="Arial"/>
              <a:sym typeface="Arial"/>
            </a:endParaRPr>
          </a:p>
        </p:txBody>
      </p:sp>
      <p:sp>
        <p:nvSpPr>
          <p:cNvPr id="186" name="Google Shape;186;p28"/>
          <p:cNvSpPr/>
          <p:nvPr/>
        </p:nvSpPr>
        <p:spPr>
          <a:xfrm>
            <a:off x="5532120" y="1417320"/>
            <a:ext cx="82296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Develop</a:t>
            </a:r>
            <a:endParaRPr b="0" i="0" sz="900" u="none" cap="none" strike="noStrike">
              <a:solidFill>
                <a:schemeClr val="dk1"/>
              </a:solidFill>
              <a:latin typeface="Arial"/>
              <a:ea typeface="Arial"/>
              <a:cs typeface="Arial"/>
              <a:sym typeface="Arial"/>
            </a:endParaRPr>
          </a:p>
        </p:txBody>
      </p:sp>
      <p:sp>
        <p:nvSpPr>
          <p:cNvPr id="187" name="Google Shape;187;p28"/>
          <p:cNvSpPr/>
          <p:nvPr/>
        </p:nvSpPr>
        <p:spPr>
          <a:xfrm>
            <a:off x="6492240" y="1417320"/>
            <a:ext cx="82296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Test</a:t>
            </a:r>
            <a:endParaRPr b="0" i="0" sz="900" u="none" cap="none" strike="noStrike">
              <a:solidFill>
                <a:schemeClr val="dk1"/>
              </a:solidFill>
              <a:latin typeface="Arial"/>
              <a:ea typeface="Arial"/>
              <a:cs typeface="Arial"/>
              <a:sym typeface="Arial"/>
            </a:endParaRPr>
          </a:p>
        </p:txBody>
      </p:sp>
      <p:cxnSp>
        <p:nvCxnSpPr>
          <p:cNvPr id="188" name="Google Shape;188;p28"/>
          <p:cNvCxnSpPr/>
          <p:nvPr/>
        </p:nvCxnSpPr>
        <p:spPr>
          <a:xfrm>
            <a:off x="4572000" y="1965960"/>
            <a:ext cx="2743200" cy="0"/>
          </a:xfrm>
          <a:prstGeom prst="straightConnector1">
            <a:avLst/>
          </a:prstGeom>
          <a:noFill/>
          <a:ln cap="flat" cmpd="sng" w="15225">
            <a:solidFill>
              <a:srgbClr val="2563EB"/>
            </a:solidFill>
            <a:prstDash val="solid"/>
            <a:round/>
            <a:headEnd len="sm" w="sm" type="none"/>
            <a:tailEnd len="med" w="med" type="triangle"/>
          </a:ln>
        </p:spPr>
      </p:cxnSp>
      <p:sp>
        <p:nvSpPr>
          <p:cNvPr id="189" name="Google Shape;189;p28"/>
          <p:cNvSpPr/>
          <p:nvPr/>
        </p:nvSpPr>
        <p:spPr>
          <a:xfrm>
            <a:off x="5120640" y="2029968"/>
            <a:ext cx="210312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2563EB"/>
              </a:buClr>
              <a:buSzPts val="1000"/>
              <a:buFont typeface="Arial"/>
              <a:buNone/>
            </a:pPr>
            <a:r>
              <a:rPr b="0" i="0" lang="en" sz="1000" u="none" cap="none" strike="noStrike">
                <a:solidFill>
                  <a:srgbClr val="2563EB"/>
                </a:solidFill>
                <a:latin typeface="Arial"/>
                <a:ea typeface="Arial"/>
                <a:cs typeface="Arial"/>
                <a:sym typeface="Arial"/>
              </a:rPr>
              <a:t>main axis: left to right</a:t>
            </a:r>
            <a:endParaRPr b="0" i="0" sz="1000" u="none" cap="none" strike="noStrike">
              <a:solidFill>
                <a:schemeClr val="dk1"/>
              </a:solidFill>
              <a:latin typeface="Arial"/>
              <a:ea typeface="Arial"/>
              <a:cs typeface="Arial"/>
              <a:sym typeface="Arial"/>
            </a:endParaRPr>
          </a:p>
        </p:txBody>
      </p:sp>
      <p:sp>
        <p:nvSpPr>
          <p:cNvPr id="190" name="Google Shape;190;p28"/>
          <p:cNvSpPr/>
          <p:nvPr/>
        </p:nvSpPr>
        <p:spPr>
          <a:xfrm>
            <a:off x="4572000" y="2423160"/>
            <a:ext cx="20116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flex flex-col</a:t>
            </a:r>
            <a:endParaRPr b="0" i="0" sz="1200" u="none" cap="none" strike="noStrike">
              <a:solidFill>
                <a:schemeClr val="dk1"/>
              </a:solidFill>
              <a:latin typeface="Arial"/>
              <a:ea typeface="Arial"/>
              <a:cs typeface="Arial"/>
              <a:sym typeface="Arial"/>
            </a:endParaRPr>
          </a:p>
        </p:txBody>
      </p:sp>
      <p:sp>
        <p:nvSpPr>
          <p:cNvPr id="191" name="Google Shape;191;p28"/>
          <p:cNvSpPr/>
          <p:nvPr/>
        </p:nvSpPr>
        <p:spPr>
          <a:xfrm>
            <a:off x="4617720" y="2743200"/>
            <a:ext cx="914400" cy="320040"/>
          </a:xfrm>
          <a:prstGeom prst="rect">
            <a:avLst/>
          </a:prstGeom>
          <a:solidFill>
            <a:srgbClr val="FEF3C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Design</a:t>
            </a:r>
            <a:endParaRPr b="0" i="0" sz="900" u="none" cap="none" strike="noStrike">
              <a:solidFill>
                <a:schemeClr val="dk1"/>
              </a:solidFill>
              <a:latin typeface="Arial"/>
              <a:ea typeface="Arial"/>
              <a:cs typeface="Arial"/>
              <a:sym typeface="Arial"/>
            </a:endParaRPr>
          </a:p>
        </p:txBody>
      </p:sp>
      <p:sp>
        <p:nvSpPr>
          <p:cNvPr id="192" name="Google Shape;192;p28"/>
          <p:cNvSpPr/>
          <p:nvPr/>
        </p:nvSpPr>
        <p:spPr>
          <a:xfrm>
            <a:off x="4617720" y="3154680"/>
            <a:ext cx="914400" cy="320040"/>
          </a:xfrm>
          <a:prstGeom prst="rect">
            <a:avLst/>
          </a:prstGeom>
          <a:solidFill>
            <a:srgbClr val="FEF3C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Develop</a:t>
            </a:r>
            <a:endParaRPr b="0" i="0" sz="900" u="none" cap="none" strike="noStrike">
              <a:solidFill>
                <a:schemeClr val="dk1"/>
              </a:solidFill>
              <a:latin typeface="Arial"/>
              <a:ea typeface="Arial"/>
              <a:cs typeface="Arial"/>
              <a:sym typeface="Arial"/>
            </a:endParaRPr>
          </a:p>
        </p:txBody>
      </p:sp>
      <p:sp>
        <p:nvSpPr>
          <p:cNvPr id="193" name="Google Shape;193;p28"/>
          <p:cNvSpPr/>
          <p:nvPr/>
        </p:nvSpPr>
        <p:spPr>
          <a:xfrm>
            <a:off x="4617720" y="3566160"/>
            <a:ext cx="914400" cy="320040"/>
          </a:xfrm>
          <a:prstGeom prst="rect">
            <a:avLst/>
          </a:prstGeom>
          <a:solidFill>
            <a:srgbClr val="FEF3C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Test</a:t>
            </a:r>
            <a:endParaRPr b="0" i="0" sz="900" u="none" cap="none" strike="noStrike">
              <a:solidFill>
                <a:schemeClr val="dk1"/>
              </a:solidFill>
              <a:latin typeface="Arial"/>
              <a:ea typeface="Arial"/>
              <a:cs typeface="Arial"/>
              <a:sym typeface="Arial"/>
            </a:endParaRPr>
          </a:p>
        </p:txBody>
      </p:sp>
      <p:cxnSp>
        <p:nvCxnSpPr>
          <p:cNvPr id="194" name="Google Shape;194;p28"/>
          <p:cNvCxnSpPr/>
          <p:nvPr/>
        </p:nvCxnSpPr>
        <p:spPr>
          <a:xfrm>
            <a:off x="5943600" y="2697480"/>
            <a:ext cx="0" cy="1143000"/>
          </a:xfrm>
          <a:prstGeom prst="straightConnector1">
            <a:avLst/>
          </a:prstGeom>
          <a:noFill/>
          <a:ln cap="flat" cmpd="sng" w="15225">
            <a:solidFill>
              <a:srgbClr val="F59E0B"/>
            </a:solidFill>
            <a:prstDash val="solid"/>
            <a:round/>
            <a:headEnd len="sm" w="sm" type="none"/>
            <a:tailEnd len="med" w="med" type="triangle"/>
          </a:ln>
        </p:spPr>
      </p:cxnSp>
      <p:sp>
        <p:nvSpPr>
          <p:cNvPr id="195" name="Google Shape;195;p28"/>
          <p:cNvSpPr/>
          <p:nvPr/>
        </p:nvSpPr>
        <p:spPr>
          <a:xfrm>
            <a:off x="6217920" y="3154680"/>
            <a:ext cx="1828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F59E0B"/>
              </a:buClr>
              <a:buSzPts val="1000"/>
              <a:buFont typeface="Arial"/>
              <a:buNone/>
            </a:pPr>
            <a:r>
              <a:rPr b="0" i="0" lang="en" sz="1000" u="none" cap="none" strike="noStrike">
                <a:solidFill>
                  <a:srgbClr val="F59E0B"/>
                </a:solidFill>
                <a:latin typeface="Arial"/>
                <a:ea typeface="Arial"/>
                <a:cs typeface="Arial"/>
                <a:sym typeface="Arial"/>
              </a:rPr>
              <a:t>main axis: top to bottom</a:t>
            </a:r>
            <a:endParaRPr b="0" i="0" sz="1000" u="none" cap="none" strike="noStrike">
              <a:solidFill>
                <a:schemeClr val="dk1"/>
              </a:solidFill>
              <a:latin typeface="Arial"/>
              <a:ea typeface="Arial"/>
              <a:cs typeface="Arial"/>
              <a:sym typeface="Arial"/>
            </a:endParaRPr>
          </a:p>
        </p:txBody>
      </p:sp>
      <p:sp>
        <p:nvSpPr>
          <p:cNvPr id="196" name="Google Shape;196;p28"/>
          <p:cNvSpPr/>
          <p:nvPr/>
        </p:nvSpPr>
        <p:spPr>
          <a:xfrm>
            <a:off x="685800" y="4251960"/>
            <a:ext cx="758952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350"/>
              <a:buFont typeface="Arial"/>
              <a:buNone/>
            </a:pPr>
            <a:r>
              <a:rPr b="1" i="0" lang="en" sz="1350" u="none" cap="none" strike="noStrike">
                <a:solidFill>
                  <a:srgbClr val="334155"/>
                </a:solidFill>
                <a:latin typeface="Arial"/>
                <a:ea typeface="Arial"/>
                <a:cs typeface="Arial"/>
                <a:sym typeface="Arial"/>
              </a:rPr>
              <a:t>flex-col changes direction. It does not create Flexbox by itself.</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Align items on the cross axis</a:t>
            </a:r>
            <a:endParaRPr b="0" i="0" sz="2100" u="none" cap="none" strike="noStrike">
              <a:solidFill>
                <a:schemeClr val="dk1"/>
              </a:solidFill>
              <a:latin typeface="Arial"/>
              <a:ea typeface="Arial"/>
              <a:cs typeface="Arial"/>
              <a:sym typeface="Arial"/>
            </a:endParaRPr>
          </a:p>
        </p:txBody>
      </p:sp>
      <p:sp>
        <p:nvSpPr>
          <p:cNvPr id="203" name="Google Shape;203;p29"/>
          <p:cNvSpPr/>
          <p:nvPr/>
        </p:nvSpPr>
        <p:spPr>
          <a:xfrm>
            <a:off x="685800" y="914400"/>
            <a:ext cx="3840480" cy="123444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&lt;div class="flex items-center"&gt;</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  &lt;h2&gt;Visual Studio Code&lt;/h2&gt;</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  &lt;span&gt;Installed&lt;/span&gt;</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&lt;/div&gt;</a:t>
            </a:r>
            <a:endParaRPr b="0" i="0" sz="1220" u="none" cap="none" strike="noStrike">
              <a:solidFill>
                <a:schemeClr val="dk1"/>
              </a:solidFill>
              <a:latin typeface="Arial"/>
              <a:ea typeface="Arial"/>
              <a:cs typeface="Arial"/>
              <a:sym typeface="Arial"/>
            </a:endParaRPr>
          </a:p>
        </p:txBody>
      </p:sp>
      <p:sp>
        <p:nvSpPr>
          <p:cNvPr id="204" name="Google Shape;204;p29"/>
          <p:cNvSpPr/>
          <p:nvPr/>
        </p:nvSpPr>
        <p:spPr>
          <a:xfrm>
            <a:off x="685800" y="2331720"/>
            <a:ext cx="3931920" cy="384048"/>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items-center aligns flex items on the cross axis.</a:t>
            </a:r>
            <a:endParaRPr b="0" i="0" sz="1400" u="none" cap="none" strike="noStrike">
              <a:solidFill>
                <a:schemeClr val="dk1"/>
              </a:solidFill>
              <a:latin typeface="Arial"/>
              <a:ea typeface="Arial"/>
              <a:cs typeface="Arial"/>
              <a:sym typeface="Arial"/>
            </a:endParaRPr>
          </a:p>
        </p:txBody>
      </p:sp>
      <p:sp>
        <p:nvSpPr>
          <p:cNvPr id="205" name="Google Shape;205;p29"/>
          <p:cNvSpPr/>
          <p:nvPr/>
        </p:nvSpPr>
        <p:spPr>
          <a:xfrm>
            <a:off x="4800600" y="960120"/>
            <a:ext cx="3200400" cy="1188720"/>
          </a:xfrm>
          <a:prstGeom prst="roundRect">
            <a:avLst>
              <a:gd fmla="val 2308"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9"/>
          <p:cNvSpPr/>
          <p:nvPr/>
        </p:nvSpPr>
        <p:spPr>
          <a:xfrm>
            <a:off x="4800600" y="960120"/>
            <a:ext cx="320040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9"/>
          <p:cNvSpPr/>
          <p:nvPr/>
        </p:nvSpPr>
        <p:spPr>
          <a:xfrm>
            <a:off x="4910328" y="1014984"/>
            <a:ext cx="298094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row layout</a:t>
            </a:r>
            <a:endParaRPr b="0" i="0" sz="850" u="none" cap="none" strike="noStrike">
              <a:solidFill>
                <a:schemeClr val="dk1"/>
              </a:solidFill>
              <a:latin typeface="Arial"/>
              <a:ea typeface="Arial"/>
              <a:cs typeface="Arial"/>
              <a:sym typeface="Arial"/>
            </a:endParaRPr>
          </a:p>
        </p:txBody>
      </p:sp>
      <p:sp>
        <p:nvSpPr>
          <p:cNvPr id="208" name="Google Shape;208;p29"/>
          <p:cNvSpPr/>
          <p:nvPr/>
        </p:nvSpPr>
        <p:spPr>
          <a:xfrm>
            <a:off x="5120640" y="1417320"/>
            <a:ext cx="68580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h2</a:t>
            </a:r>
            <a:endParaRPr b="0" i="0" sz="1200" u="none" cap="none" strike="noStrike">
              <a:solidFill>
                <a:schemeClr val="dk1"/>
              </a:solidFill>
              <a:latin typeface="Arial"/>
              <a:ea typeface="Arial"/>
              <a:cs typeface="Arial"/>
              <a:sym typeface="Arial"/>
            </a:endParaRPr>
          </a:p>
        </p:txBody>
      </p:sp>
      <p:sp>
        <p:nvSpPr>
          <p:cNvPr id="209" name="Google Shape;209;p29"/>
          <p:cNvSpPr/>
          <p:nvPr/>
        </p:nvSpPr>
        <p:spPr>
          <a:xfrm>
            <a:off x="6949440" y="1472184"/>
            <a:ext cx="640080" cy="310896"/>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span</a:t>
            </a:r>
            <a:endParaRPr b="0" i="0" sz="1200" u="none" cap="none" strike="noStrike">
              <a:solidFill>
                <a:schemeClr val="dk1"/>
              </a:solidFill>
              <a:latin typeface="Arial"/>
              <a:ea typeface="Arial"/>
              <a:cs typeface="Arial"/>
              <a:sym typeface="Arial"/>
            </a:endParaRPr>
          </a:p>
        </p:txBody>
      </p:sp>
      <p:cxnSp>
        <p:nvCxnSpPr>
          <p:cNvPr id="210" name="Google Shape;210;p29"/>
          <p:cNvCxnSpPr/>
          <p:nvPr/>
        </p:nvCxnSpPr>
        <p:spPr>
          <a:xfrm>
            <a:off x="7818120" y="1234440"/>
            <a:ext cx="0" cy="685800"/>
          </a:xfrm>
          <a:prstGeom prst="straightConnector1">
            <a:avLst/>
          </a:prstGeom>
          <a:noFill/>
          <a:ln cap="flat" cmpd="sng" w="15225">
            <a:solidFill>
              <a:srgbClr val="16A34A"/>
            </a:solidFill>
            <a:prstDash val="solid"/>
            <a:round/>
            <a:headEnd len="sm" w="sm" type="none"/>
            <a:tailEnd len="med" w="med" type="triangle"/>
          </a:ln>
        </p:spPr>
      </p:cxnSp>
      <p:sp>
        <p:nvSpPr>
          <p:cNvPr id="211" name="Google Shape;211;p29"/>
          <p:cNvSpPr/>
          <p:nvPr/>
        </p:nvSpPr>
        <p:spPr>
          <a:xfrm>
            <a:off x="7543800" y="1938528"/>
            <a:ext cx="731520" cy="164592"/>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6A34A"/>
              </a:buClr>
              <a:buSzPts val="1000"/>
              <a:buFont typeface="Arial"/>
              <a:buNone/>
            </a:pPr>
            <a:r>
              <a:rPr b="0" i="0" lang="en" sz="1000" u="none" cap="none" strike="noStrike">
                <a:solidFill>
                  <a:srgbClr val="16A34A"/>
                </a:solidFill>
                <a:latin typeface="Arial"/>
                <a:ea typeface="Arial"/>
                <a:cs typeface="Arial"/>
                <a:sym typeface="Arial"/>
              </a:rPr>
              <a:t>cross axis</a:t>
            </a:r>
            <a:endParaRPr b="0" i="0" sz="1000" u="none" cap="none" strike="noStrike">
              <a:solidFill>
                <a:schemeClr val="dk1"/>
              </a:solidFill>
              <a:latin typeface="Arial"/>
              <a:ea typeface="Arial"/>
              <a:cs typeface="Arial"/>
              <a:sym typeface="Arial"/>
            </a:endParaRPr>
          </a:p>
        </p:txBody>
      </p:sp>
      <p:sp>
        <p:nvSpPr>
          <p:cNvPr id="212" name="Google Shape;212;p29"/>
          <p:cNvSpPr/>
          <p:nvPr/>
        </p:nvSpPr>
        <p:spPr>
          <a:xfrm>
            <a:off x="685800" y="3063240"/>
            <a:ext cx="1828800" cy="28956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Class</a:t>
            </a:r>
            <a:endParaRPr b="0" i="0" sz="1200" u="none" cap="none" strike="noStrike">
              <a:solidFill>
                <a:schemeClr val="dk1"/>
              </a:solidFill>
              <a:latin typeface="Arial"/>
              <a:ea typeface="Arial"/>
              <a:cs typeface="Arial"/>
              <a:sym typeface="Arial"/>
            </a:endParaRPr>
          </a:p>
        </p:txBody>
      </p:sp>
      <p:sp>
        <p:nvSpPr>
          <p:cNvPr id="213" name="Google Shape;213;p29"/>
          <p:cNvSpPr/>
          <p:nvPr/>
        </p:nvSpPr>
        <p:spPr>
          <a:xfrm>
            <a:off x="2514600" y="3063240"/>
            <a:ext cx="5486400" cy="28956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Controls</a:t>
            </a:r>
            <a:endParaRPr b="0" i="0" sz="1200" u="none" cap="none" strike="noStrike">
              <a:solidFill>
                <a:schemeClr val="dk1"/>
              </a:solidFill>
              <a:latin typeface="Arial"/>
              <a:ea typeface="Arial"/>
              <a:cs typeface="Arial"/>
              <a:sym typeface="Arial"/>
            </a:endParaRPr>
          </a:p>
        </p:txBody>
      </p:sp>
      <p:sp>
        <p:nvSpPr>
          <p:cNvPr id="214" name="Google Shape;214;p29"/>
          <p:cNvSpPr/>
          <p:nvPr/>
        </p:nvSpPr>
        <p:spPr>
          <a:xfrm>
            <a:off x="685800" y="3352800"/>
            <a:ext cx="1828800" cy="2895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items-center</a:t>
            </a:r>
            <a:endParaRPr b="0" i="0" sz="1200" u="none" cap="none" strike="noStrike">
              <a:solidFill>
                <a:schemeClr val="dk1"/>
              </a:solidFill>
              <a:latin typeface="Arial"/>
              <a:ea typeface="Arial"/>
              <a:cs typeface="Arial"/>
              <a:sym typeface="Arial"/>
            </a:endParaRPr>
          </a:p>
        </p:txBody>
      </p:sp>
      <p:sp>
        <p:nvSpPr>
          <p:cNvPr id="215" name="Google Shape;215;p29"/>
          <p:cNvSpPr/>
          <p:nvPr/>
        </p:nvSpPr>
        <p:spPr>
          <a:xfrm>
            <a:off x="2514600" y="3352800"/>
            <a:ext cx="5486400" cy="2895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element alignment</a:t>
            </a:r>
            <a:endParaRPr b="0" i="0" sz="1200" u="none" cap="none" strike="noStrike">
              <a:solidFill>
                <a:schemeClr val="dk1"/>
              </a:solidFill>
              <a:latin typeface="Arial"/>
              <a:ea typeface="Arial"/>
              <a:cs typeface="Arial"/>
              <a:sym typeface="Arial"/>
            </a:endParaRPr>
          </a:p>
        </p:txBody>
      </p:sp>
      <p:sp>
        <p:nvSpPr>
          <p:cNvPr id="216" name="Google Shape;216;p29"/>
          <p:cNvSpPr/>
          <p:nvPr/>
        </p:nvSpPr>
        <p:spPr>
          <a:xfrm>
            <a:off x="685800" y="3642360"/>
            <a:ext cx="1828800" cy="2895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text-center</a:t>
            </a:r>
            <a:endParaRPr b="0" i="0" sz="1200" u="none" cap="none" strike="noStrike">
              <a:solidFill>
                <a:schemeClr val="dk1"/>
              </a:solidFill>
              <a:latin typeface="Arial"/>
              <a:ea typeface="Arial"/>
              <a:cs typeface="Arial"/>
              <a:sym typeface="Arial"/>
            </a:endParaRPr>
          </a:p>
        </p:txBody>
      </p:sp>
      <p:sp>
        <p:nvSpPr>
          <p:cNvPr id="217" name="Google Shape;217;p29"/>
          <p:cNvSpPr/>
          <p:nvPr/>
        </p:nvSpPr>
        <p:spPr>
          <a:xfrm>
            <a:off x="2514600" y="3642360"/>
            <a:ext cx="5486400" cy="2895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text inside an element</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Distribute space on the main axis</a:t>
            </a:r>
            <a:endParaRPr b="0" i="0" sz="2100" u="none" cap="none" strike="noStrike">
              <a:solidFill>
                <a:schemeClr val="dk1"/>
              </a:solidFill>
              <a:latin typeface="Arial"/>
              <a:ea typeface="Arial"/>
              <a:cs typeface="Arial"/>
              <a:sym typeface="Arial"/>
            </a:endParaRPr>
          </a:p>
        </p:txBody>
      </p:sp>
      <p:sp>
        <p:nvSpPr>
          <p:cNvPr id="224" name="Google Shape;224;p30"/>
          <p:cNvSpPr/>
          <p:nvPr/>
        </p:nvSpPr>
        <p:spPr>
          <a:xfrm>
            <a:off x="685800" y="868680"/>
            <a:ext cx="4389120" cy="13716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190"/>
              <a:buFont typeface="Courier New"/>
              <a:buNone/>
            </a:pPr>
            <a:r>
              <a:rPr b="0" i="0" lang="en" sz="1190" u="none" cap="none" strike="noStrike">
                <a:solidFill>
                  <a:srgbClr val="FFFFFF"/>
                </a:solidFill>
                <a:latin typeface="Courier New"/>
                <a:ea typeface="Courier New"/>
                <a:cs typeface="Courier New"/>
                <a:sym typeface="Courier New"/>
              </a:rPr>
              <a:t>&lt;div class="flex items-center justify-between"&gt;</a:t>
            </a:r>
            <a:endParaRPr b="0" i="0" sz="119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90"/>
              <a:buFont typeface="Courier New"/>
              <a:buNone/>
            </a:pPr>
            <a:r>
              <a:rPr b="0" i="0" lang="en" sz="1190" u="none" cap="none" strike="noStrike">
                <a:solidFill>
                  <a:srgbClr val="FFFFFF"/>
                </a:solidFill>
                <a:latin typeface="Courier New"/>
                <a:ea typeface="Courier New"/>
                <a:cs typeface="Courier New"/>
                <a:sym typeface="Courier New"/>
              </a:rPr>
              <a:t>  &lt;h2&gt;Visual Studio Code&lt;/h2&gt;</a:t>
            </a:r>
            <a:endParaRPr b="0" i="0" sz="119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90"/>
              <a:buFont typeface="Courier New"/>
              <a:buNone/>
            </a:pPr>
            <a:r>
              <a:rPr b="0" i="0" lang="en" sz="1190" u="none" cap="none" strike="noStrike">
                <a:solidFill>
                  <a:srgbClr val="FFFFFF"/>
                </a:solidFill>
                <a:latin typeface="Courier New"/>
                <a:ea typeface="Courier New"/>
                <a:cs typeface="Courier New"/>
                <a:sym typeface="Courier New"/>
              </a:rPr>
              <a:t>  &lt;span&gt;Installed&lt;/span&gt;</a:t>
            </a:r>
            <a:endParaRPr b="0" i="0" sz="119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90"/>
              <a:buFont typeface="Courier New"/>
              <a:buNone/>
            </a:pPr>
            <a:r>
              <a:rPr b="0" i="0" lang="en" sz="1190" u="none" cap="none" strike="noStrike">
                <a:solidFill>
                  <a:srgbClr val="FFFFFF"/>
                </a:solidFill>
                <a:latin typeface="Courier New"/>
                <a:ea typeface="Courier New"/>
                <a:cs typeface="Courier New"/>
                <a:sym typeface="Courier New"/>
              </a:rPr>
              <a:t>&lt;/div&gt;</a:t>
            </a:r>
            <a:endParaRPr b="0" i="0" sz="1190" u="none" cap="none" strike="noStrike">
              <a:solidFill>
                <a:schemeClr val="dk1"/>
              </a:solidFill>
              <a:latin typeface="Arial"/>
              <a:ea typeface="Arial"/>
              <a:cs typeface="Arial"/>
              <a:sym typeface="Arial"/>
            </a:endParaRPr>
          </a:p>
        </p:txBody>
      </p:sp>
      <p:sp>
        <p:nvSpPr>
          <p:cNvPr id="225" name="Google Shape;225;p30"/>
          <p:cNvSpPr/>
          <p:nvPr/>
        </p:nvSpPr>
        <p:spPr>
          <a:xfrm>
            <a:off x="685800" y="2423160"/>
            <a:ext cx="4389120" cy="4114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justify-between distributes available space on the main axis.</a:t>
            </a:r>
            <a:endParaRPr b="0" i="0" sz="1400" u="none" cap="none" strike="noStrike">
              <a:solidFill>
                <a:schemeClr val="dk1"/>
              </a:solidFill>
              <a:latin typeface="Arial"/>
              <a:ea typeface="Arial"/>
              <a:cs typeface="Arial"/>
              <a:sym typeface="Arial"/>
            </a:endParaRPr>
          </a:p>
        </p:txBody>
      </p:sp>
      <p:sp>
        <p:nvSpPr>
          <p:cNvPr id="226" name="Google Shape;226;p30"/>
          <p:cNvSpPr/>
          <p:nvPr/>
        </p:nvSpPr>
        <p:spPr>
          <a:xfrm>
            <a:off x="5349240" y="960120"/>
            <a:ext cx="2926080" cy="777240"/>
          </a:xfrm>
          <a:prstGeom prst="roundRect">
            <a:avLst>
              <a:gd fmla="val 3529"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0"/>
          <p:cNvSpPr/>
          <p:nvPr/>
        </p:nvSpPr>
        <p:spPr>
          <a:xfrm>
            <a:off x="5349240" y="960120"/>
            <a:ext cx="29260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0"/>
          <p:cNvSpPr/>
          <p:nvPr/>
        </p:nvSpPr>
        <p:spPr>
          <a:xfrm>
            <a:off x="5458968" y="1014984"/>
            <a:ext cx="27066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before</a:t>
            </a:r>
            <a:endParaRPr b="0" i="0" sz="850" u="none" cap="none" strike="noStrike">
              <a:solidFill>
                <a:schemeClr val="dk1"/>
              </a:solidFill>
              <a:latin typeface="Arial"/>
              <a:ea typeface="Arial"/>
              <a:cs typeface="Arial"/>
              <a:sym typeface="Arial"/>
            </a:endParaRPr>
          </a:p>
        </p:txBody>
      </p:sp>
      <p:sp>
        <p:nvSpPr>
          <p:cNvPr id="229" name="Google Shape;229;p30"/>
          <p:cNvSpPr/>
          <p:nvPr/>
        </p:nvSpPr>
        <p:spPr>
          <a:xfrm>
            <a:off x="5577840" y="1307592"/>
            <a:ext cx="1280160" cy="22860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20"/>
              <a:buFont typeface="Arial"/>
              <a:buNone/>
            </a:pPr>
            <a:r>
              <a:rPr b="0" i="0" lang="en" sz="820" u="none" cap="none" strike="noStrike">
                <a:solidFill>
                  <a:srgbClr val="111827"/>
                </a:solidFill>
                <a:latin typeface="Arial"/>
                <a:ea typeface="Arial"/>
                <a:cs typeface="Arial"/>
                <a:sym typeface="Arial"/>
              </a:rPr>
              <a:t>Visual Studio Code</a:t>
            </a:r>
            <a:endParaRPr b="0" i="0" sz="820" u="none" cap="none" strike="noStrike">
              <a:solidFill>
                <a:schemeClr val="dk1"/>
              </a:solidFill>
              <a:latin typeface="Arial"/>
              <a:ea typeface="Arial"/>
              <a:cs typeface="Arial"/>
              <a:sym typeface="Arial"/>
            </a:endParaRPr>
          </a:p>
        </p:txBody>
      </p:sp>
      <p:sp>
        <p:nvSpPr>
          <p:cNvPr id="230" name="Google Shape;230;p30"/>
          <p:cNvSpPr/>
          <p:nvPr/>
        </p:nvSpPr>
        <p:spPr>
          <a:xfrm>
            <a:off x="6995160" y="1307592"/>
            <a:ext cx="685800" cy="228600"/>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20"/>
              <a:buFont typeface="Arial"/>
              <a:buNone/>
            </a:pPr>
            <a:r>
              <a:rPr b="0" i="0" lang="en" sz="820" u="none" cap="none" strike="noStrike">
                <a:solidFill>
                  <a:srgbClr val="111827"/>
                </a:solidFill>
                <a:latin typeface="Arial"/>
                <a:ea typeface="Arial"/>
                <a:cs typeface="Arial"/>
                <a:sym typeface="Arial"/>
              </a:rPr>
              <a:t>Installed</a:t>
            </a:r>
            <a:endParaRPr b="0" i="0" sz="820" u="none" cap="none" strike="noStrike">
              <a:solidFill>
                <a:schemeClr val="dk1"/>
              </a:solidFill>
              <a:latin typeface="Arial"/>
              <a:ea typeface="Arial"/>
              <a:cs typeface="Arial"/>
              <a:sym typeface="Arial"/>
            </a:endParaRPr>
          </a:p>
        </p:txBody>
      </p:sp>
      <p:sp>
        <p:nvSpPr>
          <p:cNvPr id="231" name="Google Shape;231;p30"/>
          <p:cNvSpPr/>
          <p:nvPr/>
        </p:nvSpPr>
        <p:spPr>
          <a:xfrm>
            <a:off x="5349240" y="2148840"/>
            <a:ext cx="2926080" cy="777240"/>
          </a:xfrm>
          <a:prstGeom prst="roundRect">
            <a:avLst>
              <a:gd fmla="val 3529"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0"/>
          <p:cNvSpPr/>
          <p:nvPr/>
        </p:nvSpPr>
        <p:spPr>
          <a:xfrm>
            <a:off x="5349240" y="2148840"/>
            <a:ext cx="29260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5458968" y="2203704"/>
            <a:ext cx="27066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after justify-between</a:t>
            </a:r>
            <a:endParaRPr b="0" i="0" sz="850" u="none" cap="none" strike="noStrike">
              <a:solidFill>
                <a:schemeClr val="dk1"/>
              </a:solidFill>
              <a:latin typeface="Arial"/>
              <a:ea typeface="Arial"/>
              <a:cs typeface="Arial"/>
              <a:sym typeface="Arial"/>
            </a:endParaRPr>
          </a:p>
        </p:txBody>
      </p:sp>
      <p:sp>
        <p:nvSpPr>
          <p:cNvPr id="234" name="Google Shape;234;p30"/>
          <p:cNvSpPr/>
          <p:nvPr/>
        </p:nvSpPr>
        <p:spPr>
          <a:xfrm>
            <a:off x="5577840" y="2496312"/>
            <a:ext cx="1280160" cy="22860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20"/>
              <a:buFont typeface="Arial"/>
              <a:buNone/>
            </a:pPr>
            <a:r>
              <a:rPr b="0" i="0" lang="en" sz="820" u="none" cap="none" strike="noStrike">
                <a:solidFill>
                  <a:srgbClr val="111827"/>
                </a:solidFill>
                <a:latin typeface="Arial"/>
                <a:ea typeface="Arial"/>
                <a:cs typeface="Arial"/>
                <a:sym typeface="Arial"/>
              </a:rPr>
              <a:t>Visual Studio Code</a:t>
            </a:r>
            <a:endParaRPr b="0" i="0" sz="820" u="none" cap="none" strike="noStrike">
              <a:solidFill>
                <a:schemeClr val="dk1"/>
              </a:solidFill>
              <a:latin typeface="Arial"/>
              <a:ea typeface="Arial"/>
              <a:cs typeface="Arial"/>
              <a:sym typeface="Arial"/>
            </a:endParaRPr>
          </a:p>
        </p:txBody>
      </p:sp>
      <p:sp>
        <p:nvSpPr>
          <p:cNvPr id="235" name="Google Shape;235;p30"/>
          <p:cNvSpPr/>
          <p:nvPr/>
        </p:nvSpPr>
        <p:spPr>
          <a:xfrm>
            <a:off x="7388352" y="2496312"/>
            <a:ext cx="685800" cy="228600"/>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20"/>
              <a:buFont typeface="Arial"/>
              <a:buNone/>
            </a:pPr>
            <a:r>
              <a:rPr b="0" i="0" lang="en" sz="820" u="none" cap="none" strike="noStrike">
                <a:solidFill>
                  <a:srgbClr val="111827"/>
                </a:solidFill>
                <a:latin typeface="Arial"/>
                <a:ea typeface="Arial"/>
                <a:cs typeface="Arial"/>
                <a:sym typeface="Arial"/>
              </a:rPr>
              <a:t>Installed</a:t>
            </a:r>
            <a:endParaRPr b="0" i="0" sz="820" u="none" cap="none" strike="noStrike">
              <a:solidFill>
                <a:schemeClr val="dk1"/>
              </a:solidFill>
              <a:latin typeface="Arial"/>
              <a:ea typeface="Arial"/>
              <a:cs typeface="Arial"/>
              <a:sym typeface="Arial"/>
            </a:endParaRPr>
          </a:p>
        </p:txBody>
      </p:sp>
      <p:sp>
        <p:nvSpPr>
          <p:cNvPr id="236" name="Google Shape;236;p30"/>
          <p:cNvSpPr/>
          <p:nvPr/>
        </p:nvSpPr>
        <p:spPr>
          <a:xfrm>
            <a:off x="685800" y="3337560"/>
            <a:ext cx="7680960" cy="960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first item moves to the start of the row.</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last item moves to the end of the row.</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container needs available width for the result to be visible.</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Live demonstration: Arrange the tool heading</a:t>
            </a:r>
            <a:endParaRPr b="0" i="0" sz="2100" u="none" cap="none" strike="noStrike">
              <a:solidFill>
                <a:schemeClr val="dk1"/>
              </a:solidFill>
              <a:latin typeface="Arial"/>
              <a:ea typeface="Arial"/>
              <a:cs typeface="Arial"/>
              <a:sym typeface="Arial"/>
            </a:endParaRPr>
          </a:p>
        </p:txBody>
      </p:sp>
      <p:sp>
        <p:nvSpPr>
          <p:cNvPr id="243" name="Google Shape;243;p31"/>
          <p:cNvSpPr/>
          <p:nvPr/>
        </p:nvSpPr>
        <p:spPr>
          <a:xfrm>
            <a:off x="685800" y="822960"/>
            <a:ext cx="36576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Add one utility at a time.</a:t>
            </a:r>
            <a:endParaRPr b="0" i="0" sz="1400" u="none" cap="none" strike="noStrike">
              <a:solidFill>
                <a:schemeClr val="dk1"/>
              </a:solidFill>
              <a:latin typeface="Arial"/>
              <a:ea typeface="Arial"/>
              <a:cs typeface="Arial"/>
              <a:sym typeface="Arial"/>
            </a:endParaRPr>
          </a:p>
        </p:txBody>
      </p:sp>
      <p:sp>
        <p:nvSpPr>
          <p:cNvPr id="244" name="Google Shape;244;p31"/>
          <p:cNvSpPr/>
          <p:nvPr/>
        </p:nvSpPr>
        <p:spPr>
          <a:xfrm>
            <a:off x="685800" y="1143000"/>
            <a:ext cx="3474720" cy="100584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&lt;div&gt;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  &lt;h2&gt;Visual Studio Code&lt;/h2&gt;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  &lt;span&gt;Installed&lt;/span&gt;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&lt;/div&gt;</a:t>
            </a:r>
            <a:endParaRPr b="0" i="0" sz="1120" u="none" cap="none" strike="noStrike">
              <a:solidFill>
                <a:schemeClr val="dk1"/>
              </a:solidFill>
              <a:latin typeface="Arial"/>
              <a:ea typeface="Arial"/>
              <a:cs typeface="Arial"/>
              <a:sym typeface="Arial"/>
            </a:endParaRPr>
          </a:p>
        </p:txBody>
      </p:sp>
      <p:sp>
        <p:nvSpPr>
          <p:cNvPr id="245" name="Google Shape;245;p31"/>
          <p:cNvSpPr/>
          <p:nvPr/>
        </p:nvSpPr>
        <p:spPr>
          <a:xfrm>
            <a:off x="685800" y="2331720"/>
            <a:ext cx="347472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220"/>
              <a:buFont typeface="Courier New"/>
              <a:buNone/>
            </a:pPr>
            <a:r>
              <a:rPr b="0" i="0" lang="en" sz="1220" u="none" cap="none" strike="noStrike">
                <a:solidFill>
                  <a:srgbClr val="111827"/>
                </a:solidFill>
                <a:latin typeface="Courier New"/>
                <a:ea typeface="Courier New"/>
                <a:cs typeface="Courier New"/>
                <a:sym typeface="Courier New"/>
              </a:rPr>
              <a:t>&lt;div class="flex"&gt;</a:t>
            </a:r>
            <a:endParaRPr b="0" i="0" sz="1220" u="none" cap="none" strike="noStrike">
              <a:solidFill>
                <a:schemeClr val="dk1"/>
              </a:solidFill>
              <a:latin typeface="Arial"/>
              <a:ea typeface="Arial"/>
              <a:cs typeface="Arial"/>
              <a:sym typeface="Arial"/>
            </a:endParaRPr>
          </a:p>
        </p:txBody>
      </p:sp>
      <p:sp>
        <p:nvSpPr>
          <p:cNvPr id="246" name="Google Shape;246;p31"/>
          <p:cNvSpPr/>
          <p:nvPr/>
        </p:nvSpPr>
        <p:spPr>
          <a:xfrm>
            <a:off x="685800" y="2852928"/>
            <a:ext cx="347472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220"/>
              <a:buFont typeface="Courier New"/>
              <a:buNone/>
            </a:pPr>
            <a:r>
              <a:rPr b="0" i="0" lang="en" sz="1220" u="none" cap="none" strike="noStrike">
                <a:solidFill>
                  <a:srgbClr val="111827"/>
                </a:solidFill>
                <a:latin typeface="Courier New"/>
                <a:ea typeface="Courier New"/>
                <a:cs typeface="Courier New"/>
                <a:sym typeface="Courier New"/>
              </a:rPr>
              <a:t>&lt;div class="flex items-center"&gt;</a:t>
            </a:r>
            <a:endParaRPr b="0" i="0" sz="1220" u="none" cap="none" strike="noStrike">
              <a:solidFill>
                <a:schemeClr val="dk1"/>
              </a:solidFill>
              <a:latin typeface="Arial"/>
              <a:ea typeface="Arial"/>
              <a:cs typeface="Arial"/>
              <a:sym typeface="Arial"/>
            </a:endParaRPr>
          </a:p>
        </p:txBody>
      </p:sp>
      <p:sp>
        <p:nvSpPr>
          <p:cNvPr id="247" name="Google Shape;247;p31"/>
          <p:cNvSpPr/>
          <p:nvPr/>
        </p:nvSpPr>
        <p:spPr>
          <a:xfrm>
            <a:off x="685800" y="3374136"/>
            <a:ext cx="443484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090"/>
              <a:buFont typeface="Courier New"/>
              <a:buNone/>
            </a:pPr>
            <a:r>
              <a:rPr b="0" i="0" lang="en" sz="1090" u="none" cap="none" strike="noStrike">
                <a:solidFill>
                  <a:srgbClr val="111827"/>
                </a:solidFill>
                <a:latin typeface="Courier New"/>
                <a:ea typeface="Courier New"/>
                <a:cs typeface="Courier New"/>
                <a:sym typeface="Courier New"/>
              </a:rPr>
              <a:t>&lt;div class="flex items-center justify-between"&gt;</a:t>
            </a:r>
            <a:endParaRPr b="0" i="0" sz="1090" u="none" cap="none" strike="noStrike">
              <a:solidFill>
                <a:schemeClr val="dk1"/>
              </a:solidFill>
              <a:latin typeface="Arial"/>
              <a:ea typeface="Arial"/>
              <a:cs typeface="Arial"/>
              <a:sym typeface="Arial"/>
            </a:endParaRPr>
          </a:p>
        </p:txBody>
      </p:sp>
      <p:sp>
        <p:nvSpPr>
          <p:cNvPr id="248" name="Google Shape;248;p31"/>
          <p:cNvSpPr/>
          <p:nvPr/>
        </p:nvSpPr>
        <p:spPr>
          <a:xfrm>
            <a:off x="5440680" y="1143000"/>
            <a:ext cx="2926080" cy="1371600"/>
          </a:xfrm>
          <a:prstGeom prst="roundRect">
            <a:avLst>
              <a:gd fmla="val 20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1"/>
          <p:cNvSpPr/>
          <p:nvPr/>
        </p:nvSpPr>
        <p:spPr>
          <a:xfrm>
            <a:off x="5440680" y="1143000"/>
            <a:ext cx="29260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1"/>
          <p:cNvSpPr/>
          <p:nvPr/>
        </p:nvSpPr>
        <p:spPr>
          <a:xfrm>
            <a:off x="5550408" y="1197864"/>
            <a:ext cx="27066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expected result</a:t>
            </a:r>
            <a:endParaRPr b="0" i="0" sz="850" u="none" cap="none" strike="noStrike">
              <a:solidFill>
                <a:schemeClr val="dk1"/>
              </a:solidFill>
              <a:latin typeface="Arial"/>
              <a:ea typeface="Arial"/>
              <a:cs typeface="Arial"/>
              <a:sym typeface="Arial"/>
            </a:endParaRPr>
          </a:p>
        </p:txBody>
      </p:sp>
      <p:sp>
        <p:nvSpPr>
          <p:cNvPr id="251" name="Google Shape;251;p31"/>
          <p:cNvSpPr/>
          <p:nvPr/>
        </p:nvSpPr>
        <p:spPr>
          <a:xfrm>
            <a:off x="5650992" y="1673352"/>
            <a:ext cx="132588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Visual Studio Code</a:t>
            </a:r>
            <a:endParaRPr b="0" i="0" sz="840" u="none" cap="none" strike="noStrike">
              <a:solidFill>
                <a:schemeClr val="dk1"/>
              </a:solidFill>
              <a:latin typeface="Arial"/>
              <a:ea typeface="Arial"/>
              <a:cs typeface="Arial"/>
              <a:sym typeface="Arial"/>
            </a:endParaRPr>
          </a:p>
        </p:txBody>
      </p:sp>
      <p:sp>
        <p:nvSpPr>
          <p:cNvPr id="252" name="Google Shape;252;p31"/>
          <p:cNvSpPr/>
          <p:nvPr/>
        </p:nvSpPr>
        <p:spPr>
          <a:xfrm>
            <a:off x="7424928" y="1673352"/>
            <a:ext cx="685800" cy="256032"/>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30"/>
              <a:buFont typeface="Arial"/>
              <a:buNone/>
            </a:pPr>
            <a:r>
              <a:rPr b="0" i="0" lang="en" sz="830" u="none" cap="none" strike="noStrike">
                <a:solidFill>
                  <a:srgbClr val="111827"/>
                </a:solidFill>
                <a:latin typeface="Arial"/>
                <a:ea typeface="Arial"/>
                <a:cs typeface="Arial"/>
                <a:sym typeface="Arial"/>
              </a:rPr>
              <a:t>Installed</a:t>
            </a:r>
            <a:endParaRPr b="0" i="0" sz="830" u="none" cap="none" strike="noStrike">
              <a:solidFill>
                <a:schemeClr val="dk1"/>
              </a:solidFill>
              <a:latin typeface="Arial"/>
              <a:ea typeface="Arial"/>
              <a:cs typeface="Arial"/>
              <a:sym typeface="Arial"/>
            </a:endParaRPr>
          </a:p>
        </p:txBody>
      </p:sp>
      <p:sp>
        <p:nvSpPr>
          <p:cNvPr id="253" name="Google Shape;253;p31"/>
          <p:cNvSpPr/>
          <p:nvPr/>
        </p:nvSpPr>
        <p:spPr>
          <a:xfrm>
            <a:off x="5440680" y="2971800"/>
            <a:ext cx="2926080" cy="4572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250"/>
              <a:buFont typeface="Arial"/>
              <a:buNone/>
            </a:pPr>
            <a:r>
              <a:rPr b="0" i="0" lang="en" sz="1250" u="none" cap="none" strike="noStrike">
                <a:solidFill>
                  <a:srgbClr val="334155"/>
                </a:solidFill>
                <a:latin typeface="Arial"/>
                <a:ea typeface="Arial"/>
                <a:cs typeface="Arial"/>
                <a:sym typeface="Arial"/>
              </a:rPr>
              <a:t>The tool name and status appear on one aligned row.</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Checkpoint: Arrange the delivery header</a:t>
            </a:r>
            <a:endParaRPr b="0" i="0" sz="2100" u="none" cap="none" strike="noStrike">
              <a:solidFill>
                <a:schemeClr val="dk1"/>
              </a:solidFill>
              <a:latin typeface="Arial"/>
              <a:ea typeface="Arial"/>
              <a:cs typeface="Arial"/>
              <a:sym typeface="Arial"/>
            </a:endParaRPr>
          </a:p>
        </p:txBody>
      </p:sp>
      <p:sp>
        <p:nvSpPr>
          <p:cNvPr id="260" name="Google Shape;260;p32"/>
          <p:cNvSpPr/>
          <p:nvPr/>
        </p:nvSpPr>
        <p:spPr>
          <a:xfrm>
            <a:off x="685800" y="822960"/>
            <a:ext cx="38404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A delivery card has a title and status.</a:t>
            </a:r>
            <a:endParaRPr b="0" i="0" sz="1400" u="none" cap="none" strike="noStrike">
              <a:solidFill>
                <a:schemeClr val="dk1"/>
              </a:solidFill>
              <a:latin typeface="Arial"/>
              <a:ea typeface="Arial"/>
              <a:cs typeface="Arial"/>
              <a:sym typeface="Arial"/>
            </a:endParaRPr>
          </a:p>
        </p:txBody>
      </p:sp>
      <p:sp>
        <p:nvSpPr>
          <p:cNvPr id="261" name="Google Shape;261;p32"/>
          <p:cNvSpPr/>
          <p:nvPr/>
        </p:nvSpPr>
        <p:spPr>
          <a:xfrm>
            <a:off x="685800" y="1143000"/>
            <a:ext cx="3474720" cy="123444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&lt;div&gt;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  &lt;h2&gt;Package 1048&lt;/h2&gt;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  &lt;span&gt;Out for delivery&lt;/span&gt;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&lt;/div&gt;</a:t>
            </a:r>
            <a:endParaRPr b="0" i="0" sz="1200" u="none" cap="none" strike="noStrike">
              <a:solidFill>
                <a:schemeClr val="dk1"/>
              </a:solidFill>
              <a:latin typeface="Arial"/>
              <a:ea typeface="Arial"/>
              <a:cs typeface="Arial"/>
              <a:sym typeface="Arial"/>
            </a:endParaRPr>
          </a:p>
        </p:txBody>
      </p:sp>
      <p:sp>
        <p:nvSpPr>
          <p:cNvPr id="262" name="Google Shape;262;p32"/>
          <p:cNvSpPr/>
          <p:nvPr/>
        </p:nvSpPr>
        <p:spPr>
          <a:xfrm>
            <a:off x="4434840" y="868680"/>
            <a:ext cx="3886200" cy="5486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Which class list places the elements on one aligned row and moves them to opposite ends?</a:t>
            </a:r>
            <a:endParaRPr b="0" i="0" sz="1400" u="none" cap="none" strike="noStrike">
              <a:solidFill>
                <a:schemeClr val="dk1"/>
              </a:solidFill>
              <a:latin typeface="Arial"/>
              <a:ea typeface="Arial"/>
              <a:cs typeface="Arial"/>
              <a:sym typeface="Arial"/>
            </a:endParaRPr>
          </a:p>
        </p:txBody>
      </p:sp>
      <p:sp>
        <p:nvSpPr>
          <p:cNvPr id="263" name="Google Shape;263;p32"/>
          <p:cNvSpPr/>
          <p:nvPr/>
        </p:nvSpPr>
        <p:spPr>
          <a:xfrm>
            <a:off x="4434840" y="1600200"/>
            <a:ext cx="3794760" cy="1325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260"/>
              <a:buFont typeface="Arial"/>
              <a:buNone/>
            </a:pPr>
            <a:r>
              <a:rPr b="0" i="0" lang="en" sz="1260" u="none" cap="none" strike="noStrike">
                <a:solidFill>
                  <a:srgbClr val="111827"/>
                </a:solidFill>
                <a:latin typeface="Arial"/>
                <a:ea typeface="Arial"/>
                <a:cs typeface="Arial"/>
                <a:sym typeface="Arial"/>
              </a:rPr>
              <a:t>A. flex items-center justify-between</a:t>
            </a:r>
            <a:endParaRPr b="0" i="0" sz="12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60"/>
              <a:buFont typeface="Arial"/>
              <a:buNone/>
            </a:pPr>
            <a:r>
              <a:rPr b="0" i="0" lang="en" sz="1260" u="none" cap="none" strike="noStrike">
                <a:solidFill>
                  <a:srgbClr val="111827"/>
                </a:solidFill>
                <a:latin typeface="Arial"/>
                <a:ea typeface="Arial"/>
                <a:cs typeface="Arial"/>
                <a:sym typeface="Arial"/>
              </a:rPr>
              <a:t>B. flex text-center justify-between</a:t>
            </a:r>
            <a:endParaRPr b="0" i="0" sz="12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60"/>
              <a:buFont typeface="Arial"/>
              <a:buNone/>
            </a:pPr>
            <a:r>
              <a:rPr b="0" i="0" lang="en" sz="1260" u="none" cap="none" strike="noStrike">
                <a:solidFill>
                  <a:srgbClr val="111827"/>
                </a:solidFill>
                <a:latin typeface="Arial"/>
                <a:ea typeface="Arial"/>
                <a:cs typeface="Arial"/>
                <a:sym typeface="Arial"/>
              </a:rPr>
              <a:t>C. flex items-center</a:t>
            </a:r>
            <a:endParaRPr b="0" i="0" sz="12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60"/>
              <a:buFont typeface="Arial"/>
              <a:buNone/>
            </a:pPr>
            <a:r>
              <a:rPr b="0" i="0" lang="en" sz="1260" u="none" cap="none" strike="noStrike">
                <a:solidFill>
                  <a:srgbClr val="111827"/>
                </a:solidFill>
                <a:latin typeface="Arial"/>
                <a:ea typeface="Arial"/>
                <a:cs typeface="Arial"/>
                <a:sym typeface="Arial"/>
              </a:rPr>
              <a:t>D. flex flex-col items-center justify-between</a:t>
            </a:r>
            <a:endParaRPr b="0" i="0" sz="1260" u="none" cap="none" strike="noStrike">
              <a:solidFill>
                <a:schemeClr val="dk1"/>
              </a:solidFill>
              <a:latin typeface="Arial"/>
              <a:ea typeface="Arial"/>
              <a:cs typeface="Arial"/>
              <a:sym typeface="Arial"/>
            </a:endParaRPr>
          </a:p>
        </p:txBody>
      </p:sp>
      <p:sp>
        <p:nvSpPr>
          <p:cNvPr id="264" name="Google Shape;264;p32"/>
          <p:cNvSpPr/>
          <p:nvPr/>
        </p:nvSpPr>
        <p:spPr>
          <a:xfrm>
            <a:off x="548650" y="4067160"/>
            <a:ext cx="38406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A</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p:nvPr/>
        </p:nvSpPr>
        <p:spPr>
          <a:xfrm>
            <a:off x="658368" y="2157984"/>
            <a:ext cx="7406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500"/>
              <a:buFont typeface="Arial"/>
              <a:buNone/>
            </a:pPr>
            <a:r>
              <a:rPr b="1" i="0" lang="en" sz="2500" u="none" cap="none" strike="noStrike">
                <a:solidFill>
                  <a:srgbClr val="111827"/>
                </a:solidFill>
                <a:latin typeface="Arial"/>
                <a:ea typeface="Arial"/>
                <a:cs typeface="Arial"/>
                <a:sym typeface="Arial"/>
              </a:rPr>
              <a:t>Grid in Tailwind</a:t>
            </a:r>
            <a:endParaRPr b="0" i="0" sz="2500" u="none" cap="none" strike="noStrike">
              <a:solidFill>
                <a:schemeClr val="dk1"/>
              </a:solidFill>
              <a:latin typeface="Arial"/>
              <a:ea typeface="Arial"/>
              <a:cs typeface="Arial"/>
              <a:sym typeface="Arial"/>
            </a:endParaRPr>
          </a:p>
        </p:txBody>
      </p:sp>
      <p:sp>
        <p:nvSpPr>
          <p:cNvPr id="271" name="Google Shape;271;p33"/>
          <p:cNvSpPr/>
          <p:nvPr/>
        </p:nvSpPr>
        <p:spPr>
          <a:xfrm>
            <a:off x="658368" y="2642616"/>
            <a:ext cx="7406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400"/>
              <a:buFont typeface="Arial"/>
              <a:buNone/>
            </a:pPr>
            <a:r>
              <a:rPr b="0" i="0" lang="en" sz="1400" u="none" cap="none" strike="noStrike">
                <a:solidFill>
                  <a:srgbClr val="4B5563"/>
                </a:solidFill>
                <a:latin typeface="Arial"/>
                <a:ea typeface="Arial"/>
                <a:cs typeface="Arial"/>
                <a:sym typeface="Arial"/>
              </a:rPr>
              <a:t>Arrange repeated items across columns and rows.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Create a Grid container</a:t>
            </a:r>
            <a:endParaRPr b="0" i="0" sz="2100" u="none" cap="none" strike="noStrike">
              <a:solidFill>
                <a:schemeClr val="dk1"/>
              </a:solidFill>
              <a:latin typeface="Arial"/>
              <a:ea typeface="Arial"/>
              <a:cs typeface="Arial"/>
              <a:sym typeface="Arial"/>
            </a:endParaRPr>
          </a:p>
        </p:txBody>
      </p:sp>
      <p:sp>
        <p:nvSpPr>
          <p:cNvPr id="278" name="Google Shape;278;p34"/>
          <p:cNvSpPr/>
          <p:nvPr/>
        </p:nvSpPr>
        <p:spPr>
          <a:xfrm>
            <a:off x="685800" y="868680"/>
            <a:ext cx="45720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0" i="0" lang="en" sz="1500" u="none" cap="none" strike="noStrike">
                <a:solidFill>
                  <a:srgbClr val="111827"/>
                </a:solidFill>
                <a:latin typeface="Arial"/>
                <a:ea typeface="Arial"/>
                <a:cs typeface="Arial"/>
                <a:sym typeface="Arial"/>
              </a:rPr>
              <a:t>Add grid to the parent element.</a:t>
            </a:r>
            <a:endParaRPr b="0" i="0" sz="1500" u="none" cap="none" strike="noStrike">
              <a:solidFill>
                <a:schemeClr val="dk1"/>
              </a:solidFill>
              <a:latin typeface="Arial"/>
              <a:ea typeface="Arial"/>
              <a:cs typeface="Arial"/>
              <a:sym typeface="Arial"/>
            </a:endParaRPr>
          </a:p>
        </p:txBody>
      </p:sp>
      <p:sp>
        <p:nvSpPr>
          <p:cNvPr id="279" name="Google Shape;279;p34"/>
          <p:cNvSpPr/>
          <p:nvPr/>
        </p:nvSpPr>
        <p:spPr>
          <a:xfrm>
            <a:off x="685800" y="1234440"/>
            <a:ext cx="4206240" cy="16002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150"/>
              <a:buFont typeface="Courier New"/>
              <a:buNone/>
            </a:pPr>
            <a:r>
              <a:rPr b="0" i="0" lang="en" sz="1150" u="none" cap="none" strike="noStrike">
                <a:solidFill>
                  <a:srgbClr val="FFFFFF"/>
                </a:solidFill>
                <a:latin typeface="Courier New"/>
                <a:ea typeface="Courier New"/>
                <a:cs typeface="Courier New"/>
                <a:sym typeface="Courier New"/>
              </a:rPr>
              <a:t>&lt;section class="grid"&gt;</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50"/>
              <a:buFont typeface="Courier New"/>
              <a:buNone/>
            </a:pPr>
            <a:r>
              <a:rPr b="0" i="0" lang="en" sz="1150" u="none" cap="none" strike="noStrike">
                <a:solidFill>
                  <a:srgbClr val="FFFFFF"/>
                </a:solidFill>
                <a:latin typeface="Courier New"/>
                <a:ea typeface="Courier New"/>
                <a:cs typeface="Courier New"/>
                <a:sym typeface="Courier New"/>
              </a:rPr>
              <a:t>  &lt;article&gt;Visual Studio Code&lt;/article&gt;</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50"/>
              <a:buFont typeface="Courier New"/>
              <a:buNone/>
            </a:pPr>
            <a:r>
              <a:rPr b="0" i="0" lang="en" sz="1150" u="none" cap="none" strike="noStrike">
                <a:solidFill>
                  <a:srgbClr val="FFFFFF"/>
                </a:solidFill>
                <a:latin typeface="Courier New"/>
                <a:ea typeface="Courier New"/>
                <a:cs typeface="Courier New"/>
                <a:sym typeface="Courier New"/>
              </a:rPr>
              <a:t>  &lt;article&gt;GitHub Desktop&lt;/article&gt;</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50"/>
              <a:buFont typeface="Courier New"/>
              <a:buNone/>
            </a:pPr>
            <a:r>
              <a:rPr b="0" i="0" lang="en" sz="1150" u="none" cap="none" strike="noStrike">
                <a:solidFill>
                  <a:srgbClr val="FFFFFF"/>
                </a:solidFill>
                <a:latin typeface="Courier New"/>
                <a:ea typeface="Courier New"/>
                <a:cs typeface="Courier New"/>
                <a:sym typeface="Courier New"/>
              </a:rPr>
              <a:t>  &lt;article&gt;Postman&lt;/article&gt;</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50"/>
              <a:buFont typeface="Courier New"/>
              <a:buNone/>
            </a:pPr>
            <a:r>
              <a:rPr b="0" i="0" lang="en" sz="1150" u="none" cap="none" strike="noStrike">
                <a:solidFill>
                  <a:srgbClr val="FFFFFF"/>
                </a:solidFill>
                <a:latin typeface="Courier New"/>
                <a:ea typeface="Courier New"/>
                <a:cs typeface="Courier New"/>
                <a:sym typeface="Courier New"/>
              </a:rPr>
              <a:t>&lt;/section&gt;</a:t>
            </a:r>
            <a:endParaRPr b="0" i="0" sz="1150" u="none" cap="none" strike="noStrike">
              <a:solidFill>
                <a:schemeClr val="dk1"/>
              </a:solidFill>
              <a:latin typeface="Arial"/>
              <a:ea typeface="Arial"/>
              <a:cs typeface="Arial"/>
              <a:sym typeface="Arial"/>
            </a:endParaRPr>
          </a:p>
        </p:txBody>
      </p:sp>
      <p:sp>
        <p:nvSpPr>
          <p:cNvPr id="280" name="Google Shape;280;p34"/>
          <p:cNvSpPr/>
          <p:nvPr/>
        </p:nvSpPr>
        <p:spPr>
          <a:xfrm>
            <a:off x="5577840" y="960120"/>
            <a:ext cx="1920240" cy="457200"/>
          </a:xfrm>
          <a:prstGeom prst="rect">
            <a:avLst/>
          </a:prstGeom>
          <a:solidFill>
            <a:srgbClr val="F5F3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section.grid</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Grid container</a:t>
            </a:r>
            <a:endParaRPr b="0" i="0" sz="1100" u="none" cap="none" strike="noStrike">
              <a:solidFill>
                <a:schemeClr val="dk1"/>
              </a:solidFill>
              <a:latin typeface="Arial"/>
              <a:ea typeface="Arial"/>
              <a:cs typeface="Arial"/>
              <a:sym typeface="Arial"/>
            </a:endParaRPr>
          </a:p>
        </p:txBody>
      </p:sp>
      <p:sp>
        <p:nvSpPr>
          <p:cNvPr id="281" name="Google Shape;281;p34"/>
          <p:cNvSpPr/>
          <p:nvPr/>
        </p:nvSpPr>
        <p:spPr>
          <a:xfrm>
            <a:off x="4892040" y="1737360"/>
            <a:ext cx="1188720" cy="41148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article</a:t>
            </a:r>
            <a:endParaRPr b="0" i="0" sz="9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Grid item</a:t>
            </a:r>
            <a:endParaRPr b="0" i="0" sz="900" u="none" cap="none" strike="noStrike">
              <a:solidFill>
                <a:schemeClr val="dk1"/>
              </a:solidFill>
              <a:latin typeface="Arial"/>
              <a:ea typeface="Arial"/>
              <a:cs typeface="Arial"/>
              <a:sym typeface="Arial"/>
            </a:endParaRPr>
          </a:p>
        </p:txBody>
      </p:sp>
      <p:sp>
        <p:nvSpPr>
          <p:cNvPr id="282" name="Google Shape;282;p34"/>
          <p:cNvSpPr/>
          <p:nvPr/>
        </p:nvSpPr>
        <p:spPr>
          <a:xfrm>
            <a:off x="6172200" y="1737360"/>
            <a:ext cx="1188720" cy="41148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article</a:t>
            </a:r>
            <a:endParaRPr b="0" i="0" sz="9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Grid item</a:t>
            </a:r>
            <a:endParaRPr b="0" i="0" sz="900" u="none" cap="none" strike="noStrike">
              <a:solidFill>
                <a:schemeClr val="dk1"/>
              </a:solidFill>
              <a:latin typeface="Arial"/>
              <a:ea typeface="Arial"/>
              <a:cs typeface="Arial"/>
              <a:sym typeface="Arial"/>
            </a:endParaRPr>
          </a:p>
        </p:txBody>
      </p:sp>
      <p:sp>
        <p:nvSpPr>
          <p:cNvPr id="283" name="Google Shape;283;p34"/>
          <p:cNvSpPr/>
          <p:nvPr/>
        </p:nvSpPr>
        <p:spPr>
          <a:xfrm>
            <a:off x="4892040" y="2240280"/>
            <a:ext cx="1188720" cy="41148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article</a:t>
            </a:r>
            <a:endParaRPr b="0" i="0" sz="9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Grid item</a:t>
            </a:r>
            <a:endParaRPr b="0" i="0" sz="900" u="none" cap="none" strike="noStrike">
              <a:solidFill>
                <a:schemeClr val="dk1"/>
              </a:solidFill>
              <a:latin typeface="Arial"/>
              <a:ea typeface="Arial"/>
              <a:cs typeface="Arial"/>
              <a:sym typeface="Arial"/>
            </a:endParaRPr>
          </a:p>
        </p:txBody>
      </p:sp>
      <p:sp>
        <p:nvSpPr>
          <p:cNvPr id="284" name="Google Shape;284;p34"/>
          <p:cNvSpPr/>
          <p:nvPr/>
        </p:nvSpPr>
        <p:spPr>
          <a:xfrm>
            <a:off x="685800" y="3154680"/>
            <a:ext cx="7680960" cy="10058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&lt;section&gt; becomes a Grid container.</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direct &lt;article&gt; elements become Grid items.</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grid creates the layout system.</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column structure is defined separately.</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5"/>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Define the column structure</a:t>
            </a:r>
            <a:endParaRPr b="0" i="0" sz="2100" u="none" cap="none" strike="noStrike">
              <a:solidFill>
                <a:schemeClr val="dk1"/>
              </a:solidFill>
              <a:latin typeface="Arial"/>
              <a:ea typeface="Arial"/>
              <a:cs typeface="Arial"/>
              <a:sym typeface="Arial"/>
            </a:endParaRPr>
          </a:p>
        </p:txBody>
      </p:sp>
      <p:sp>
        <p:nvSpPr>
          <p:cNvPr id="291" name="Google Shape;291;p35"/>
          <p:cNvSpPr/>
          <p:nvPr/>
        </p:nvSpPr>
        <p:spPr>
          <a:xfrm>
            <a:off x="685800" y="841248"/>
            <a:ext cx="73152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grid-cols-* defines the column structure of a Grid container.</a:t>
            </a:r>
            <a:endParaRPr b="0" i="0" sz="1500" u="none" cap="none" strike="noStrike">
              <a:solidFill>
                <a:schemeClr val="dk1"/>
              </a:solidFill>
              <a:latin typeface="Arial"/>
              <a:ea typeface="Arial"/>
              <a:cs typeface="Arial"/>
              <a:sym typeface="Arial"/>
            </a:endParaRPr>
          </a:p>
        </p:txBody>
      </p:sp>
      <p:sp>
        <p:nvSpPr>
          <p:cNvPr id="292" name="Google Shape;292;p35"/>
          <p:cNvSpPr/>
          <p:nvPr/>
        </p:nvSpPr>
        <p:spPr>
          <a:xfrm>
            <a:off x="685800" y="1143000"/>
            <a:ext cx="73152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350"/>
              <a:buFont typeface="Arial"/>
              <a:buNone/>
            </a:pPr>
            <a:r>
              <a:rPr b="0" i="0" lang="en" sz="1350" u="none" cap="none" strike="noStrike">
                <a:solidFill>
                  <a:srgbClr val="334155"/>
                </a:solidFill>
                <a:latin typeface="Arial"/>
                <a:ea typeface="Arial"/>
                <a:cs typeface="Arial"/>
                <a:sym typeface="Arial"/>
              </a:rPr>
              <a:t>The numeric suffix tells Tailwind how many equal-width columns to create.</a:t>
            </a:r>
            <a:endParaRPr b="0" i="0" sz="1350" u="none" cap="none" strike="noStrike">
              <a:solidFill>
                <a:schemeClr val="dk1"/>
              </a:solidFill>
              <a:latin typeface="Arial"/>
              <a:ea typeface="Arial"/>
              <a:cs typeface="Arial"/>
              <a:sym typeface="Arial"/>
            </a:endParaRPr>
          </a:p>
        </p:txBody>
      </p:sp>
      <p:sp>
        <p:nvSpPr>
          <p:cNvPr id="293" name="Google Shape;293;p35"/>
          <p:cNvSpPr/>
          <p:nvPr/>
        </p:nvSpPr>
        <p:spPr>
          <a:xfrm>
            <a:off x="685800" y="1554480"/>
            <a:ext cx="3520440" cy="9144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&lt;section class="grid grid-cols-2"&gt;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  ...</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&lt;/section&gt;</a:t>
            </a:r>
            <a:endParaRPr b="0" i="0" sz="1250" u="none" cap="none" strike="noStrike">
              <a:solidFill>
                <a:schemeClr val="dk1"/>
              </a:solidFill>
              <a:latin typeface="Arial"/>
              <a:ea typeface="Arial"/>
              <a:cs typeface="Arial"/>
              <a:sym typeface="Arial"/>
            </a:endParaRPr>
          </a:p>
        </p:txBody>
      </p:sp>
      <p:sp>
        <p:nvSpPr>
          <p:cNvPr id="294" name="Google Shape;294;p35"/>
          <p:cNvSpPr/>
          <p:nvPr/>
        </p:nvSpPr>
        <p:spPr>
          <a:xfrm>
            <a:off x="4663440" y="1417320"/>
            <a:ext cx="1280160" cy="35433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Utility</a:t>
            </a:r>
            <a:endParaRPr b="0" i="0" sz="1100" u="none" cap="none" strike="noStrike">
              <a:solidFill>
                <a:schemeClr val="dk1"/>
              </a:solidFill>
              <a:latin typeface="Arial"/>
              <a:ea typeface="Arial"/>
              <a:cs typeface="Arial"/>
              <a:sym typeface="Arial"/>
            </a:endParaRPr>
          </a:p>
        </p:txBody>
      </p:sp>
      <p:sp>
        <p:nvSpPr>
          <p:cNvPr id="295" name="Google Shape;295;p35"/>
          <p:cNvSpPr/>
          <p:nvPr/>
        </p:nvSpPr>
        <p:spPr>
          <a:xfrm>
            <a:off x="5943600" y="1417320"/>
            <a:ext cx="2286000" cy="35433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Result</a:t>
            </a:r>
            <a:endParaRPr b="0" i="0" sz="1100" u="none" cap="none" strike="noStrike">
              <a:solidFill>
                <a:schemeClr val="dk1"/>
              </a:solidFill>
              <a:latin typeface="Arial"/>
              <a:ea typeface="Arial"/>
              <a:cs typeface="Arial"/>
              <a:sym typeface="Arial"/>
            </a:endParaRPr>
          </a:p>
        </p:txBody>
      </p:sp>
      <p:sp>
        <p:nvSpPr>
          <p:cNvPr id="296" name="Google Shape;296;p35"/>
          <p:cNvSpPr/>
          <p:nvPr/>
        </p:nvSpPr>
        <p:spPr>
          <a:xfrm>
            <a:off x="4663440" y="1771650"/>
            <a:ext cx="1280160" cy="35433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grid-cols-1</a:t>
            </a:r>
            <a:endParaRPr b="0" i="0" sz="1100" u="none" cap="none" strike="noStrike">
              <a:solidFill>
                <a:schemeClr val="dk1"/>
              </a:solidFill>
              <a:latin typeface="Arial"/>
              <a:ea typeface="Arial"/>
              <a:cs typeface="Arial"/>
              <a:sym typeface="Arial"/>
            </a:endParaRPr>
          </a:p>
        </p:txBody>
      </p:sp>
      <p:sp>
        <p:nvSpPr>
          <p:cNvPr id="297" name="Google Shape;297;p35"/>
          <p:cNvSpPr/>
          <p:nvPr/>
        </p:nvSpPr>
        <p:spPr>
          <a:xfrm>
            <a:off x="5943600" y="1771650"/>
            <a:ext cx="2286000" cy="35433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One column</a:t>
            </a:r>
            <a:endParaRPr b="0" i="0" sz="1100" u="none" cap="none" strike="noStrike">
              <a:solidFill>
                <a:schemeClr val="dk1"/>
              </a:solidFill>
              <a:latin typeface="Arial"/>
              <a:ea typeface="Arial"/>
              <a:cs typeface="Arial"/>
              <a:sym typeface="Arial"/>
            </a:endParaRPr>
          </a:p>
        </p:txBody>
      </p:sp>
      <p:sp>
        <p:nvSpPr>
          <p:cNvPr id="298" name="Google Shape;298;p35"/>
          <p:cNvSpPr/>
          <p:nvPr/>
        </p:nvSpPr>
        <p:spPr>
          <a:xfrm>
            <a:off x="4663440" y="2125980"/>
            <a:ext cx="1280160" cy="35433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grid-cols-2</a:t>
            </a:r>
            <a:endParaRPr b="0" i="0" sz="1100" u="none" cap="none" strike="noStrike">
              <a:solidFill>
                <a:schemeClr val="dk1"/>
              </a:solidFill>
              <a:latin typeface="Arial"/>
              <a:ea typeface="Arial"/>
              <a:cs typeface="Arial"/>
              <a:sym typeface="Arial"/>
            </a:endParaRPr>
          </a:p>
        </p:txBody>
      </p:sp>
      <p:sp>
        <p:nvSpPr>
          <p:cNvPr id="299" name="Google Shape;299;p35"/>
          <p:cNvSpPr/>
          <p:nvPr/>
        </p:nvSpPr>
        <p:spPr>
          <a:xfrm>
            <a:off x="5943600" y="2125980"/>
            <a:ext cx="2286000" cy="35433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Two equal-width columns</a:t>
            </a:r>
            <a:endParaRPr b="0" i="0" sz="1100" u="none" cap="none" strike="noStrike">
              <a:solidFill>
                <a:schemeClr val="dk1"/>
              </a:solidFill>
              <a:latin typeface="Arial"/>
              <a:ea typeface="Arial"/>
              <a:cs typeface="Arial"/>
              <a:sym typeface="Arial"/>
            </a:endParaRPr>
          </a:p>
        </p:txBody>
      </p:sp>
      <p:sp>
        <p:nvSpPr>
          <p:cNvPr id="300" name="Google Shape;300;p35"/>
          <p:cNvSpPr/>
          <p:nvPr/>
        </p:nvSpPr>
        <p:spPr>
          <a:xfrm>
            <a:off x="4663440" y="2480310"/>
            <a:ext cx="1280160" cy="35433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grid-cols-3</a:t>
            </a:r>
            <a:endParaRPr b="0" i="0" sz="1100" u="none" cap="none" strike="noStrike">
              <a:solidFill>
                <a:schemeClr val="dk1"/>
              </a:solidFill>
              <a:latin typeface="Arial"/>
              <a:ea typeface="Arial"/>
              <a:cs typeface="Arial"/>
              <a:sym typeface="Arial"/>
            </a:endParaRPr>
          </a:p>
        </p:txBody>
      </p:sp>
      <p:sp>
        <p:nvSpPr>
          <p:cNvPr id="301" name="Google Shape;301;p35"/>
          <p:cNvSpPr/>
          <p:nvPr/>
        </p:nvSpPr>
        <p:spPr>
          <a:xfrm>
            <a:off x="5943600" y="2480310"/>
            <a:ext cx="2286000" cy="35433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Three equal-width columns</a:t>
            </a:r>
            <a:endParaRPr b="0" i="0" sz="1100" u="none" cap="none" strike="noStrike">
              <a:solidFill>
                <a:schemeClr val="dk1"/>
              </a:solidFill>
              <a:latin typeface="Arial"/>
              <a:ea typeface="Arial"/>
              <a:cs typeface="Arial"/>
              <a:sym typeface="Arial"/>
            </a:endParaRPr>
          </a:p>
        </p:txBody>
      </p:sp>
      <p:sp>
        <p:nvSpPr>
          <p:cNvPr id="302" name="Google Shape;302;p35"/>
          <p:cNvSpPr/>
          <p:nvPr/>
        </p:nvSpPr>
        <p:spPr>
          <a:xfrm>
            <a:off x="868680" y="2971800"/>
            <a:ext cx="128016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grid-cols-1</a:t>
            </a:r>
            <a:endParaRPr b="0" i="0" sz="1000" u="none" cap="none" strike="noStrike">
              <a:solidFill>
                <a:schemeClr val="dk1"/>
              </a:solidFill>
              <a:latin typeface="Arial"/>
              <a:ea typeface="Arial"/>
              <a:cs typeface="Arial"/>
              <a:sym typeface="Arial"/>
            </a:endParaRPr>
          </a:p>
        </p:txBody>
      </p:sp>
      <p:sp>
        <p:nvSpPr>
          <p:cNvPr id="303" name="Google Shape;303;p35"/>
          <p:cNvSpPr/>
          <p:nvPr/>
        </p:nvSpPr>
        <p:spPr>
          <a:xfrm>
            <a:off x="868680" y="3246120"/>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304" name="Google Shape;304;p35"/>
          <p:cNvSpPr/>
          <p:nvPr/>
        </p:nvSpPr>
        <p:spPr>
          <a:xfrm>
            <a:off x="868680" y="3639312"/>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305" name="Google Shape;305;p35"/>
          <p:cNvSpPr/>
          <p:nvPr/>
        </p:nvSpPr>
        <p:spPr>
          <a:xfrm>
            <a:off x="868680" y="4032504"/>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306" name="Google Shape;306;p35"/>
          <p:cNvSpPr/>
          <p:nvPr/>
        </p:nvSpPr>
        <p:spPr>
          <a:xfrm>
            <a:off x="3063240" y="2971800"/>
            <a:ext cx="128016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grid-cols-2</a:t>
            </a:r>
            <a:endParaRPr b="0" i="0" sz="1000" u="none" cap="none" strike="noStrike">
              <a:solidFill>
                <a:schemeClr val="dk1"/>
              </a:solidFill>
              <a:latin typeface="Arial"/>
              <a:ea typeface="Arial"/>
              <a:cs typeface="Arial"/>
              <a:sym typeface="Arial"/>
            </a:endParaRPr>
          </a:p>
        </p:txBody>
      </p:sp>
      <p:sp>
        <p:nvSpPr>
          <p:cNvPr id="307" name="Google Shape;307;p35"/>
          <p:cNvSpPr/>
          <p:nvPr/>
        </p:nvSpPr>
        <p:spPr>
          <a:xfrm>
            <a:off x="3063240" y="3246120"/>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308" name="Google Shape;308;p35"/>
          <p:cNvSpPr/>
          <p:nvPr/>
        </p:nvSpPr>
        <p:spPr>
          <a:xfrm>
            <a:off x="3749040" y="3246120"/>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309" name="Google Shape;309;p35"/>
          <p:cNvSpPr/>
          <p:nvPr/>
        </p:nvSpPr>
        <p:spPr>
          <a:xfrm>
            <a:off x="3063240" y="3639312"/>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310" name="Google Shape;310;p35"/>
          <p:cNvSpPr/>
          <p:nvPr/>
        </p:nvSpPr>
        <p:spPr>
          <a:xfrm>
            <a:off x="3749040" y="3639312"/>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311" name="Google Shape;311;p35"/>
          <p:cNvSpPr/>
          <p:nvPr/>
        </p:nvSpPr>
        <p:spPr>
          <a:xfrm>
            <a:off x="5486400" y="2971800"/>
            <a:ext cx="128016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grid-cols-3</a:t>
            </a:r>
            <a:endParaRPr b="0" i="0" sz="1000" u="none" cap="none" strike="noStrike">
              <a:solidFill>
                <a:schemeClr val="dk1"/>
              </a:solidFill>
              <a:latin typeface="Arial"/>
              <a:ea typeface="Arial"/>
              <a:cs typeface="Arial"/>
              <a:sym typeface="Arial"/>
            </a:endParaRPr>
          </a:p>
        </p:txBody>
      </p:sp>
      <p:sp>
        <p:nvSpPr>
          <p:cNvPr id="312" name="Google Shape;312;p35"/>
          <p:cNvSpPr/>
          <p:nvPr/>
        </p:nvSpPr>
        <p:spPr>
          <a:xfrm>
            <a:off x="5486400" y="3246120"/>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313" name="Google Shape;313;p35"/>
          <p:cNvSpPr/>
          <p:nvPr/>
        </p:nvSpPr>
        <p:spPr>
          <a:xfrm>
            <a:off x="6172200" y="3246120"/>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314" name="Google Shape;314;p35"/>
          <p:cNvSpPr/>
          <p:nvPr/>
        </p:nvSpPr>
        <p:spPr>
          <a:xfrm>
            <a:off x="6858000" y="3246120"/>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315" name="Google Shape;315;p35"/>
          <p:cNvSpPr/>
          <p:nvPr/>
        </p:nvSpPr>
        <p:spPr>
          <a:xfrm>
            <a:off x="5486400" y="3639312"/>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316" name="Google Shape;316;p35"/>
          <p:cNvSpPr/>
          <p:nvPr/>
        </p:nvSpPr>
        <p:spPr>
          <a:xfrm>
            <a:off x="6172200" y="3639312"/>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sp>
        <p:nvSpPr>
          <p:cNvPr id="317" name="Google Shape;317;p35"/>
          <p:cNvSpPr/>
          <p:nvPr/>
        </p:nvSpPr>
        <p:spPr>
          <a:xfrm>
            <a:off x="6858000" y="3639312"/>
            <a:ext cx="594360" cy="34747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0" i="0" lang="en" sz="900" u="none" cap="none" strike="noStrike">
                <a:solidFill>
                  <a:srgbClr val="111827"/>
                </a:solidFill>
                <a:latin typeface="Arial"/>
                <a:ea typeface="Arial"/>
                <a:cs typeface="Arial"/>
                <a:sym typeface="Arial"/>
              </a:rPr>
              <a:t>6</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Additional items continue on a new row</a:t>
            </a:r>
            <a:endParaRPr b="0" i="0" sz="2100" u="none" cap="none" strike="noStrike">
              <a:solidFill>
                <a:schemeClr val="dk1"/>
              </a:solidFill>
              <a:latin typeface="Arial"/>
              <a:ea typeface="Arial"/>
              <a:cs typeface="Arial"/>
              <a:sym typeface="Arial"/>
            </a:endParaRPr>
          </a:p>
        </p:txBody>
      </p:sp>
      <p:sp>
        <p:nvSpPr>
          <p:cNvPr id="324" name="Google Shape;324;p36"/>
          <p:cNvSpPr/>
          <p:nvPr/>
        </p:nvSpPr>
        <p:spPr>
          <a:xfrm>
            <a:off x="5212080" y="1097280"/>
            <a:ext cx="73152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325" name="Google Shape;325;p36"/>
          <p:cNvSpPr/>
          <p:nvPr/>
        </p:nvSpPr>
        <p:spPr>
          <a:xfrm>
            <a:off x="685800" y="868676"/>
            <a:ext cx="3886200" cy="21984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&lt;section class="grid grid-cols-3"&gt;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  &lt;article&gt;1&lt;/article&gt;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  &lt;article&gt;2&lt;/article&gt;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  &lt;article&gt;3&lt;/article&gt;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  &lt;article&gt;4&lt;/article&gt;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  &lt;article&gt;5&lt;/article&gt;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  &lt;article&gt;6&lt;/article&gt;</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Courier New"/>
              <a:buNone/>
            </a:pPr>
            <a:r>
              <a:rPr b="0" i="0" lang="en" sz="1060" u="none" cap="none" strike="noStrike">
                <a:solidFill>
                  <a:srgbClr val="FFFFFF"/>
                </a:solidFill>
                <a:latin typeface="Courier New"/>
                <a:ea typeface="Courier New"/>
                <a:cs typeface="Courier New"/>
                <a:sym typeface="Courier New"/>
              </a:rPr>
              <a:t>&lt;/section&gt;</a:t>
            </a:r>
            <a:endParaRPr b="0" i="0" sz="1060" u="none" cap="none" strike="noStrike">
              <a:solidFill>
                <a:schemeClr val="dk1"/>
              </a:solidFill>
              <a:latin typeface="Arial"/>
              <a:ea typeface="Arial"/>
              <a:cs typeface="Arial"/>
              <a:sym typeface="Arial"/>
            </a:endParaRPr>
          </a:p>
        </p:txBody>
      </p:sp>
      <p:sp>
        <p:nvSpPr>
          <p:cNvPr id="326" name="Google Shape;326;p36"/>
          <p:cNvSpPr/>
          <p:nvPr/>
        </p:nvSpPr>
        <p:spPr>
          <a:xfrm>
            <a:off x="6080760" y="1097280"/>
            <a:ext cx="73152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327" name="Google Shape;327;p36"/>
          <p:cNvSpPr/>
          <p:nvPr/>
        </p:nvSpPr>
        <p:spPr>
          <a:xfrm>
            <a:off x="6949440" y="1097280"/>
            <a:ext cx="73152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328" name="Google Shape;328;p36"/>
          <p:cNvSpPr/>
          <p:nvPr/>
        </p:nvSpPr>
        <p:spPr>
          <a:xfrm>
            <a:off x="5212080" y="1664208"/>
            <a:ext cx="73152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4</a:t>
            </a:r>
            <a:endParaRPr b="0" i="0" sz="1200" u="none" cap="none" strike="noStrike">
              <a:solidFill>
                <a:schemeClr val="dk1"/>
              </a:solidFill>
              <a:latin typeface="Arial"/>
              <a:ea typeface="Arial"/>
              <a:cs typeface="Arial"/>
              <a:sym typeface="Arial"/>
            </a:endParaRPr>
          </a:p>
        </p:txBody>
      </p:sp>
      <p:sp>
        <p:nvSpPr>
          <p:cNvPr id="329" name="Google Shape;329;p36"/>
          <p:cNvSpPr/>
          <p:nvPr/>
        </p:nvSpPr>
        <p:spPr>
          <a:xfrm>
            <a:off x="6080760" y="1664208"/>
            <a:ext cx="73152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5</a:t>
            </a:r>
            <a:endParaRPr b="0" i="0" sz="1200" u="none" cap="none" strike="noStrike">
              <a:solidFill>
                <a:schemeClr val="dk1"/>
              </a:solidFill>
              <a:latin typeface="Arial"/>
              <a:ea typeface="Arial"/>
              <a:cs typeface="Arial"/>
              <a:sym typeface="Arial"/>
            </a:endParaRPr>
          </a:p>
        </p:txBody>
      </p:sp>
      <p:sp>
        <p:nvSpPr>
          <p:cNvPr id="330" name="Google Shape;330;p36"/>
          <p:cNvSpPr/>
          <p:nvPr/>
        </p:nvSpPr>
        <p:spPr>
          <a:xfrm>
            <a:off x="6949440" y="1664208"/>
            <a:ext cx="731520" cy="438912"/>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200"/>
              <a:buFont typeface="Arial"/>
              <a:buNone/>
            </a:pPr>
            <a:r>
              <a:rPr b="0" i="0" lang="en" sz="1200" u="none" cap="none" strike="noStrike">
                <a:solidFill>
                  <a:srgbClr val="111827"/>
                </a:solidFill>
                <a:latin typeface="Arial"/>
                <a:ea typeface="Arial"/>
                <a:cs typeface="Arial"/>
                <a:sym typeface="Arial"/>
              </a:rPr>
              <a:t>6</a:t>
            </a:r>
            <a:endParaRPr b="0" i="0" sz="1200" u="none" cap="none" strike="noStrike">
              <a:solidFill>
                <a:schemeClr val="dk1"/>
              </a:solidFill>
              <a:latin typeface="Arial"/>
              <a:ea typeface="Arial"/>
              <a:cs typeface="Arial"/>
              <a:sym typeface="Arial"/>
            </a:endParaRPr>
          </a:p>
        </p:txBody>
      </p:sp>
      <p:sp>
        <p:nvSpPr>
          <p:cNvPr id="331" name="Google Shape;331;p36"/>
          <p:cNvSpPr/>
          <p:nvPr/>
        </p:nvSpPr>
        <p:spPr>
          <a:xfrm>
            <a:off x="5760720" y="804672"/>
            <a:ext cx="1463040" cy="18288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three columns</a:t>
            </a:r>
            <a:endParaRPr b="0" i="0" sz="1000" u="none" cap="none" strike="noStrike">
              <a:solidFill>
                <a:schemeClr val="dk1"/>
              </a:solidFill>
              <a:latin typeface="Arial"/>
              <a:ea typeface="Arial"/>
              <a:cs typeface="Arial"/>
              <a:sym typeface="Arial"/>
            </a:endParaRPr>
          </a:p>
        </p:txBody>
      </p:sp>
      <p:sp>
        <p:nvSpPr>
          <p:cNvPr id="332" name="Google Shape;332;p36"/>
          <p:cNvSpPr/>
          <p:nvPr/>
        </p:nvSpPr>
        <p:spPr>
          <a:xfrm>
            <a:off x="4846320" y="2606040"/>
            <a:ext cx="3474720" cy="1051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Items 1, 2, and 3 fill the first row.</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Items 4, 5, and 6 continue on the next row.</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The items remain in their HTML order.</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7"/>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Add space between items with gap-*</a:t>
            </a:r>
            <a:endParaRPr b="0" i="0" sz="2100" u="none" cap="none" strike="noStrike">
              <a:solidFill>
                <a:schemeClr val="dk1"/>
              </a:solidFill>
              <a:latin typeface="Arial"/>
              <a:ea typeface="Arial"/>
              <a:cs typeface="Arial"/>
              <a:sym typeface="Arial"/>
            </a:endParaRPr>
          </a:p>
        </p:txBody>
      </p:sp>
      <p:sp>
        <p:nvSpPr>
          <p:cNvPr id="339" name="Google Shape;339;p37"/>
          <p:cNvSpPr/>
          <p:nvPr/>
        </p:nvSpPr>
        <p:spPr>
          <a:xfrm>
            <a:off x="685800" y="868680"/>
            <a:ext cx="73152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A gap is the space between neighbouring Grid or Flexbox items.</a:t>
            </a:r>
            <a:endParaRPr b="0" i="0" sz="1500" u="none" cap="none" strike="noStrike">
              <a:solidFill>
                <a:schemeClr val="dk1"/>
              </a:solidFill>
              <a:latin typeface="Arial"/>
              <a:ea typeface="Arial"/>
              <a:cs typeface="Arial"/>
              <a:sym typeface="Arial"/>
            </a:endParaRPr>
          </a:p>
        </p:txBody>
      </p:sp>
      <p:sp>
        <p:nvSpPr>
          <p:cNvPr id="340" name="Google Shape;340;p37"/>
          <p:cNvSpPr/>
          <p:nvPr/>
        </p:nvSpPr>
        <p:spPr>
          <a:xfrm>
            <a:off x="685800" y="1234440"/>
            <a:ext cx="3840480" cy="82296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&lt;section class="grid grid-cols-2 gap-4"&gt;</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  ...</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 sz="1220" u="none" cap="none" strike="noStrike">
                <a:solidFill>
                  <a:srgbClr val="FFFFFF"/>
                </a:solidFill>
                <a:latin typeface="Courier New"/>
                <a:ea typeface="Courier New"/>
                <a:cs typeface="Courier New"/>
                <a:sym typeface="Courier New"/>
              </a:rPr>
              <a:t>&lt;/section&gt;</a:t>
            </a:r>
            <a:endParaRPr b="0" i="0" sz="1220" u="none" cap="none" strike="noStrike">
              <a:solidFill>
                <a:schemeClr val="dk1"/>
              </a:solidFill>
              <a:latin typeface="Arial"/>
              <a:ea typeface="Arial"/>
              <a:cs typeface="Arial"/>
              <a:sym typeface="Arial"/>
            </a:endParaRPr>
          </a:p>
        </p:txBody>
      </p:sp>
      <p:sp>
        <p:nvSpPr>
          <p:cNvPr id="341" name="Google Shape;341;p37"/>
          <p:cNvSpPr/>
          <p:nvPr/>
        </p:nvSpPr>
        <p:spPr>
          <a:xfrm>
            <a:off x="4892040" y="1170432"/>
            <a:ext cx="1005840" cy="32004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1" i="0" lang="en" sz="1050" u="none" cap="none" strike="noStrike">
                <a:solidFill>
                  <a:srgbClr val="111827"/>
                </a:solidFill>
                <a:latin typeface="Arial"/>
                <a:ea typeface="Arial"/>
                <a:cs typeface="Arial"/>
                <a:sym typeface="Arial"/>
              </a:rPr>
              <a:t>Part</a:t>
            </a:r>
            <a:endParaRPr b="0" i="0" sz="1050" u="none" cap="none" strike="noStrike">
              <a:solidFill>
                <a:schemeClr val="dk1"/>
              </a:solidFill>
              <a:latin typeface="Arial"/>
              <a:ea typeface="Arial"/>
              <a:cs typeface="Arial"/>
              <a:sym typeface="Arial"/>
            </a:endParaRPr>
          </a:p>
        </p:txBody>
      </p:sp>
      <p:sp>
        <p:nvSpPr>
          <p:cNvPr id="342" name="Google Shape;342;p37"/>
          <p:cNvSpPr/>
          <p:nvPr/>
        </p:nvSpPr>
        <p:spPr>
          <a:xfrm>
            <a:off x="5897880" y="1170432"/>
            <a:ext cx="2331720" cy="32004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1" i="0" lang="en" sz="1050" u="none" cap="none" strike="noStrike">
                <a:solidFill>
                  <a:srgbClr val="111827"/>
                </a:solidFill>
                <a:latin typeface="Arial"/>
                <a:ea typeface="Arial"/>
                <a:cs typeface="Arial"/>
                <a:sym typeface="Arial"/>
              </a:rPr>
              <a:t>Meaning</a:t>
            </a:r>
            <a:endParaRPr b="0" i="0" sz="1050" u="none" cap="none" strike="noStrike">
              <a:solidFill>
                <a:schemeClr val="dk1"/>
              </a:solidFill>
              <a:latin typeface="Arial"/>
              <a:ea typeface="Arial"/>
              <a:cs typeface="Arial"/>
              <a:sym typeface="Arial"/>
            </a:endParaRPr>
          </a:p>
        </p:txBody>
      </p:sp>
      <p:sp>
        <p:nvSpPr>
          <p:cNvPr id="343" name="Google Shape;343;p37"/>
          <p:cNvSpPr/>
          <p:nvPr/>
        </p:nvSpPr>
        <p:spPr>
          <a:xfrm>
            <a:off x="4892040" y="1490472"/>
            <a:ext cx="1005840" cy="32004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gap</a:t>
            </a:r>
            <a:endParaRPr b="0" i="0" sz="1050" u="none" cap="none" strike="noStrike">
              <a:solidFill>
                <a:schemeClr val="dk1"/>
              </a:solidFill>
              <a:latin typeface="Arial"/>
              <a:ea typeface="Arial"/>
              <a:cs typeface="Arial"/>
              <a:sym typeface="Arial"/>
            </a:endParaRPr>
          </a:p>
        </p:txBody>
      </p:sp>
      <p:sp>
        <p:nvSpPr>
          <p:cNvPr id="344" name="Google Shape;344;p37"/>
          <p:cNvSpPr/>
          <p:nvPr/>
        </p:nvSpPr>
        <p:spPr>
          <a:xfrm>
            <a:off x="5897880" y="1490472"/>
            <a:ext cx="2331720" cy="32004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Space between rows and columns</a:t>
            </a:r>
            <a:endParaRPr b="0" i="0" sz="1050" u="none" cap="none" strike="noStrike">
              <a:solidFill>
                <a:schemeClr val="dk1"/>
              </a:solidFill>
              <a:latin typeface="Arial"/>
              <a:ea typeface="Arial"/>
              <a:cs typeface="Arial"/>
              <a:sym typeface="Arial"/>
            </a:endParaRPr>
          </a:p>
        </p:txBody>
      </p:sp>
      <p:sp>
        <p:nvSpPr>
          <p:cNvPr id="345" name="Google Shape;345;p37"/>
          <p:cNvSpPr/>
          <p:nvPr/>
        </p:nvSpPr>
        <p:spPr>
          <a:xfrm>
            <a:off x="4892040" y="1810512"/>
            <a:ext cx="1005840" cy="32004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4</a:t>
            </a:r>
            <a:endParaRPr b="0" i="0" sz="1050" u="none" cap="none" strike="noStrike">
              <a:solidFill>
                <a:schemeClr val="dk1"/>
              </a:solidFill>
              <a:latin typeface="Arial"/>
              <a:ea typeface="Arial"/>
              <a:cs typeface="Arial"/>
              <a:sym typeface="Arial"/>
            </a:endParaRPr>
          </a:p>
        </p:txBody>
      </p:sp>
      <p:sp>
        <p:nvSpPr>
          <p:cNvPr id="346" name="Google Shape;346;p37"/>
          <p:cNvSpPr/>
          <p:nvPr/>
        </p:nvSpPr>
        <p:spPr>
          <a:xfrm>
            <a:off x="5897880" y="1810512"/>
            <a:ext cx="2331720" cy="32004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Four steps from the spacing scale</a:t>
            </a:r>
            <a:endParaRPr b="0" i="0" sz="1050" u="none" cap="none" strike="noStrike">
              <a:solidFill>
                <a:schemeClr val="dk1"/>
              </a:solidFill>
              <a:latin typeface="Arial"/>
              <a:ea typeface="Arial"/>
              <a:cs typeface="Arial"/>
              <a:sym typeface="Arial"/>
            </a:endParaRPr>
          </a:p>
        </p:txBody>
      </p:sp>
      <p:sp>
        <p:nvSpPr>
          <p:cNvPr id="347" name="Google Shape;347;p37"/>
          <p:cNvSpPr/>
          <p:nvPr/>
        </p:nvSpPr>
        <p:spPr>
          <a:xfrm>
            <a:off x="4892040" y="2286000"/>
            <a:ext cx="292608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200"/>
              <a:buFont typeface="Courier New"/>
              <a:buNone/>
            </a:pPr>
            <a:r>
              <a:rPr b="0" i="0" lang="en" sz="1200" u="none" cap="none" strike="noStrike">
                <a:solidFill>
                  <a:srgbClr val="111827"/>
                </a:solidFill>
                <a:latin typeface="Courier New"/>
                <a:ea typeface="Courier New"/>
                <a:cs typeface="Courier New"/>
                <a:sym typeface="Courier New"/>
              </a:rPr>
              <a:t>4 × 0.25rem = 1rem</a:t>
            </a:r>
            <a:endParaRPr b="0" i="0" sz="1200" u="none" cap="none" strike="noStrike">
              <a:solidFill>
                <a:schemeClr val="dk1"/>
              </a:solidFill>
              <a:latin typeface="Arial"/>
              <a:ea typeface="Arial"/>
              <a:cs typeface="Arial"/>
              <a:sym typeface="Arial"/>
            </a:endParaRPr>
          </a:p>
        </p:txBody>
      </p:sp>
      <p:sp>
        <p:nvSpPr>
          <p:cNvPr id="348" name="Google Shape;348;p37"/>
          <p:cNvSpPr/>
          <p:nvPr/>
        </p:nvSpPr>
        <p:spPr>
          <a:xfrm>
            <a:off x="1051560" y="2788920"/>
            <a:ext cx="137160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Without gap</a:t>
            </a:r>
            <a:endParaRPr b="0" i="0" sz="1000" u="none" cap="none" strike="noStrike">
              <a:solidFill>
                <a:schemeClr val="dk1"/>
              </a:solidFill>
              <a:latin typeface="Arial"/>
              <a:ea typeface="Arial"/>
              <a:cs typeface="Arial"/>
              <a:sym typeface="Arial"/>
            </a:endParaRPr>
          </a:p>
        </p:txBody>
      </p:sp>
      <p:sp>
        <p:nvSpPr>
          <p:cNvPr id="349" name="Google Shape;349;p37"/>
          <p:cNvSpPr/>
          <p:nvPr/>
        </p:nvSpPr>
        <p:spPr>
          <a:xfrm>
            <a:off x="1051560" y="3063240"/>
            <a:ext cx="640080" cy="36576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0" name="Google Shape;350;p37"/>
          <p:cNvSpPr/>
          <p:nvPr/>
        </p:nvSpPr>
        <p:spPr>
          <a:xfrm>
            <a:off x="1691640" y="3063240"/>
            <a:ext cx="640080" cy="36576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1" name="Google Shape;351;p37"/>
          <p:cNvSpPr/>
          <p:nvPr/>
        </p:nvSpPr>
        <p:spPr>
          <a:xfrm>
            <a:off x="1051560" y="3429000"/>
            <a:ext cx="640080" cy="36576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2" name="Google Shape;352;p37"/>
          <p:cNvSpPr/>
          <p:nvPr/>
        </p:nvSpPr>
        <p:spPr>
          <a:xfrm>
            <a:off x="1691640" y="3429000"/>
            <a:ext cx="640080" cy="36576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3" name="Google Shape;353;p37"/>
          <p:cNvSpPr/>
          <p:nvPr/>
        </p:nvSpPr>
        <p:spPr>
          <a:xfrm>
            <a:off x="4114800" y="2788920"/>
            <a:ext cx="137160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With gap-4</a:t>
            </a:r>
            <a:endParaRPr b="0" i="0" sz="1000" u="none" cap="none" strike="noStrike">
              <a:solidFill>
                <a:schemeClr val="dk1"/>
              </a:solidFill>
              <a:latin typeface="Arial"/>
              <a:ea typeface="Arial"/>
              <a:cs typeface="Arial"/>
              <a:sym typeface="Arial"/>
            </a:endParaRPr>
          </a:p>
        </p:txBody>
      </p:sp>
      <p:sp>
        <p:nvSpPr>
          <p:cNvPr id="354" name="Google Shape;354;p37"/>
          <p:cNvSpPr/>
          <p:nvPr/>
        </p:nvSpPr>
        <p:spPr>
          <a:xfrm>
            <a:off x="4114800" y="3063240"/>
            <a:ext cx="64008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5" name="Google Shape;355;p37"/>
          <p:cNvSpPr/>
          <p:nvPr/>
        </p:nvSpPr>
        <p:spPr>
          <a:xfrm>
            <a:off x="4983480" y="3063240"/>
            <a:ext cx="64008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6" name="Google Shape;356;p37"/>
          <p:cNvSpPr/>
          <p:nvPr/>
        </p:nvSpPr>
        <p:spPr>
          <a:xfrm>
            <a:off x="4114800" y="3657600"/>
            <a:ext cx="64008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7" name="Google Shape;357;p37"/>
          <p:cNvSpPr/>
          <p:nvPr/>
        </p:nvSpPr>
        <p:spPr>
          <a:xfrm>
            <a:off x="4983480" y="3657600"/>
            <a:ext cx="640080" cy="36576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58" name="Google Shape;358;p37"/>
          <p:cNvSpPr/>
          <p:nvPr/>
        </p:nvSpPr>
        <p:spPr>
          <a:xfrm>
            <a:off x="3977640" y="2926080"/>
            <a:ext cx="1828800" cy="1234440"/>
          </a:xfrm>
          <a:prstGeom prst="rect">
            <a:avLst/>
          </a:prstGeom>
          <a:solidFill>
            <a:srgbClr val="000000">
              <a:alpha val="0"/>
            </a:srgbClr>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7"/>
          <p:cNvSpPr/>
          <p:nvPr/>
        </p:nvSpPr>
        <p:spPr>
          <a:xfrm>
            <a:off x="685800" y="4279392"/>
            <a:ext cx="7772400" cy="3200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320"/>
              <a:buFont typeface="Arial"/>
              <a:buNone/>
            </a:pPr>
            <a:r>
              <a:rPr b="1" i="0" lang="en" sz="1320" u="none" cap="none" strike="noStrike">
                <a:solidFill>
                  <a:srgbClr val="334155"/>
                </a:solidFill>
                <a:latin typeface="Arial"/>
                <a:ea typeface="Arial"/>
                <a:cs typeface="Arial"/>
                <a:sym typeface="Arial"/>
              </a:rPr>
              <a:t>gap-4 adds space between items. It does not add space around the outside of the container.</a:t>
            </a:r>
            <a:endParaRPr b="0" i="0" sz="132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The same number can mean different things</a:t>
            </a:r>
            <a:endParaRPr b="0" i="0" sz="2100" u="none" cap="none" strike="noStrike">
              <a:solidFill>
                <a:schemeClr val="dk1"/>
              </a:solidFill>
              <a:latin typeface="Arial"/>
              <a:ea typeface="Arial"/>
              <a:cs typeface="Arial"/>
              <a:sym typeface="Arial"/>
            </a:endParaRPr>
          </a:p>
        </p:txBody>
      </p:sp>
      <p:sp>
        <p:nvSpPr>
          <p:cNvPr id="366" name="Google Shape;366;p38"/>
          <p:cNvSpPr/>
          <p:nvPr/>
        </p:nvSpPr>
        <p:spPr>
          <a:xfrm>
            <a:off x="685800" y="914400"/>
            <a:ext cx="411480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300"/>
              <a:buFont typeface="Courier New"/>
              <a:buNone/>
            </a:pPr>
            <a:r>
              <a:rPr b="0" i="0" lang="en" sz="1300" u="none" cap="none" strike="noStrike">
                <a:solidFill>
                  <a:srgbClr val="111827"/>
                </a:solidFill>
                <a:latin typeface="Courier New"/>
                <a:ea typeface="Courier New"/>
                <a:cs typeface="Courier New"/>
                <a:sym typeface="Courier New"/>
              </a:rPr>
              <a:t>class="grid grid-cols-4 gap-4"</a:t>
            </a:r>
            <a:endParaRPr b="0" i="0" sz="1300" u="none" cap="none" strike="noStrike">
              <a:solidFill>
                <a:schemeClr val="dk1"/>
              </a:solidFill>
              <a:latin typeface="Arial"/>
              <a:ea typeface="Arial"/>
              <a:cs typeface="Arial"/>
              <a:sym typeface="Arial"/>
            </a:endParaRPr>
          </a:p>
        </p:txBody>
      </p:sp>
      <p:sp>
        <p:nvSpPr>
          <p:cNvPr id="367" name="Google Shape;367;p38"/>
          <p:cNvSpPr/>
          <p:nvPr/>
        </p:nvSpPr>
        <p:spPr>
          <a:xfrm>
            <a:off x="685800" y="1554480"/>
            <a:ext cx="4389120" cy="256032"/>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The two 4 values have different meanings.</a:t>
            </a:r>
            <a:endParaRPr b="0" i="0" sz="1500" u="none" cap="none" strike="noStrike">
              <a:solidFill>
                <a:schemeClr val="dk1"/>
              </a:solidFill>
              <a:latin typeface="Arial"/>
              <a:ea typeface="Arial"/>
              <a:cs typeface="Arial"/>
              <a:sym typeface="Arial"/>
            </a:endParaRPr>
          </a:p>
        </p:txBody>
      </p:sp>
      <p:sp>
        <p:nvSpPr>
          <p:cNvPr id="368" name="Google Shape;368;p38"/>
          <p:cNvSpPr/>
          <p:nvPr/>
        </p:nvSpPr>
        <p:spPr>
          <a:xfrm>
            <a:off x="1005840" y="2286000"/>
            <a:ext cx="2834640" cy="1143000"/>
          </a:xfrm>
          <a:prstGeom prst="rect">
            <a:avLst/>
          </a:prstGeom>
          <a:solidFill>
            <a:srgbClr val="F5F3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grid-cols-4</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4 = column count</a:t>
            </a:r>
            <a:endParaRPr b="0" i="0" sz="1500" u="none" cap="none" strike="noStrike">
              <a:solidFill>
                <a:schemeClr val="dk1"/>
              </a:solidFill>
              <a:latin typeface="Arial"/>
              <a:ea typeface="Arial"/>
              <a:cs typeface="Arial"/>
              <a:sym typeface="Arial"/>
            </a:endParaRPr>
          </a:p>
        </p:txBody>
      </p:sp>
      <p:sp>
        <p:nvSpPr>
          <p:cNvPr id="369" name="Google Shape;369;p38"/>
          <p:cNvSpPr/>
          <p:nvPr/>
        </p:nvSpPr>
        <p:spPr>
          <a:xfrm>
            <a:off x="5029200" y="2286000"/>
            <a:ext cx="2834640" cy="1143000"/>
          </a:xfrm>
          <a:prstGeom prst="rect">
            <a:avLst/>
          </a:prstGeom>
          <a:solidFill>
            <a:srgbClr val="FEF3C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gap-4</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4 = spacing-scale value</a:t>
            </a:r>
            <a:endParaRPr b="0" i="0" sz="1500" u="none" cap="none" strike="noStrike">
              <a:solidFill>
                <a:schemeClr val="dk1"/>
              </a:solidFill>
              <a:latin typeface="Arial"/>
              <a:ea typeface="Arial"/>
              <a:cs typeface="Arial"/>
              <a:sym typeface="Arial"/>
            </a:endParaRPr>
          </a:p>
        </p:txBody>
      </p:sp>
      <p:sp>
        <p:nvSpPr>
          <p:cNvPr id="370" name="Google Shape;370;p38"/>
          <p:cNvSpPr/>
          <p:nvPr/>
        </p:nvSpPr>
        <p:spPr>
          <a:xfrm>
            <a:off x="685800" y="3977640"/>
            <a:ext cx="7315200" cy="32004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334155"/>
              </a:buClr>
              <a:buSzPts val="1500"/>
              <a:buFont typeface="Arial"/>
              <a:buNone/>
            </a:pPr>
            <a:r>
              <a:rPr b="1" i="0" lang="en" sz="1500" u="none" cap="none" strike="noStrike">
                <a:solidFill>
                  <a:srgbClr val="334155"/>
                </a:solidFill>
                <a:latin typeface="Arial"/>
                <a:ea typeface="Arial"/>
                <a:cs typeface="Arial"/>
                <a:sym typeface="Arial"/>
              </a:rPr>
              <a:t>Read the complete utility before interpreting the number.</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9"/>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Live demonstration: Create the catalog Grid</a:t>
            </a:r>
            <a:endParaRPr b="0" i="0" sz="2100" u="none" cap="none" strike="noStrike">
              <a:solidFill>
                <a:schemeClr val="dk1"/>
              </a:solidFill>
              <a:latin typeface="Arial"/>
              <a:ea typeface="Arial"/>
              <a:cs typeface="Arial"/>
              <a:sym typeface="Arial"/>
            </a:endParaRPr>
          </a:p>
        </p:txBody>
      </p:sp>
      <p:sp>
        <p:nvSpPr>
          <p:cNvPr id="377" name="Google Shape;377;p39"/>
          <p:cNvSpPr/>
          <p:nvPr/>
        </p:nvSpPr>
        <p:spPr>
          <a:xfrm>
            <a:off x="685800" y="914400"/>
            <a:ext cx="356616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300"/>
              <a:buFont typeface="Courier New"/>
              <a:buNone/>
            </a:pPr>
            <a:r>
              <a:rPr b="0" i="0" lang="en" sz="1300" u="none" cap="none" strike="noStrike">
                <a:solidFill>
                  <a:srgbClr val="111827"/>
                </a:solidFill>
                <a:latin typeface="Courier New"/>
                <a:ea typeface="Courier New"/>
                <a:cs typeface="Courier New"/>
                <a:sym typeface="Courier New"/>
              </a:rPr>
              <a:t>&lt;section class="grid"&gt;</a:t>
            </a:r>
            <a:endParaRPr b="0" i="0" sz="1300" u="none" cap="none" strike="noStrike">
              <a:solidFill>
                <a:schemeClr val="dk1"/>
              </a:solidFill>
              <a:latin typeface="Arial"/>
              <a:ea typeface="Arial"/>
              <a:cs typeface="Arial"/>
              <a:sym typeface="Arial"/>
            </a:endParaRPr>
          </a:p>
        </p:txBody>
      </p:sp>
      <p:sp>
        <p:nvSpPr>
          <p:cNvPr id="378" name="Google Shape;378;p39"/>
          <p:cNvSpPr/>
          <p:nvPr/>
        </p:nvSpPr>
        <p:spPr>
          <a:xfrm>
            <a:off x="4389120" y="987552"/>
            <a:ext cx="228600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Step 1: create the Grid container</a:t>
            </a:r>
            <a:endParaRPr b="0" i="0" sz="1000" u="none" cap="none" strike="noStrike">
              <a:solidFill>
                <a:schemeClr val="dk1"/>
              </a:solidFill>
              <a:latin typeface="Arial"/>
              <a:ea typeface="Arial"/>
              <a:cs typeface="Arial"/>
              <a:sym typeface="Arial"/>
            </a:endParaRPr>
          </a:p>
        </p:txBody>
      </p:sp>
      <p:sp>
        <p:nvSpPr>
          <p:cNvPr id="379" name="Google Shape;379;p39"/>
          <p:cNvSpPr/>
          <p:nvPr/>
        </p:nvSpPr>
        <p:spPr>
          <a:xfrm>
            <a:off x="685800" y="1508760"/>
            <a:ext cx="420624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240"/>
              <a:buFont typeface="Courier New"/>
              <a:buNone/>
            </a:pPr>
            <a:r>
              <a:rPr b="0" i="0" lang="en" sz="1240" u="none" cap="none" strike="noStrike">
                <a:solidFill>
                  <a:srgbClr val="111827"/>
                </a:solidFill>
                <a:latin typeface="Courier New"/>
                <a:ea typeface="Courier New"/>
                <a:cs typeface="Courier New"/>
                <a:sym typeface="Courier New"/>
              </a:rPr>
              <a:t>&lt;section class="grid grid-cols-2"&gt;</a:t>
            </a:r>
            <a:endParaRPr b="0" i="0" sz="1240" u="none" cap="none" strike="noStrike">
              <a:solidFill>
                <a:schemeClr val="dk1"/>
              </a:solidFill>
              <a:latin typeface="Arial"/>
              <a:ea typeface="Arial"/>
              <a:cs typeface="Arial"/>
              <a:sym typeface="Arial"/>
            </a:endParaRPr>
          </a:p>
        </p:txBody>
      </p:sp>
      <p:sp>
        <p:nvSpPr>
          <p:cNvPr id="380" name="Google Shape;380;p39"/>
          <p:cNvSpPr/>
          <p:nvPr/>
        </p:nvSpPr>
        <p:spPr>
          <a:xfrm>
            <a:off x="5074920" y="1581912"/>
            <a:ext cx="219456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Step 2: create two columns</a:t>
            </a:r>
            <a:endParaRPr b="0" i="0" sz="1000" u="none" cap="none" strike="noStrike">
              <a:solidFill>
                <a:schemeClr val="dk1"/>
              </a:solidFill>
              <a:latin typeface="Arial"/>
              <a:ea typeface="Arial"/>
              <a:cs typeface="Arial"/>
              <a:sym typeface="Arial"/>
            </a:endParaRPr>
          </a:p>
        </p:txBody>
      </p:sp>
      <p:sp>
        <p:nvSpPr>
          <p:cNvPr id="381" name="Google Shape;381;p39"/>
          <p:cNvSpPr/>
          <p:nvPr/>
        </p:nvSpPr>
        <p:spPr>
          <a:xfrm>
            <a:off x="685800" y="2103120"/>
            <a:ext cx="4572000" cy="347472"/>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200"/>
              <a:buFont typeface="Courier New"/>
              <a:buNone/>
            </a:pPr>
            <a:r>
              <a:rPr b="0" i="0" lang="en" sz="1200" u="none" cap="none" strike="noStrike">
                <a:solidFill>
                  <a:srgbClr val="111827"/>
                </a:solidFill>
                <a:latin typeface="Courier New"/>
                <a:ea typeface="Courier New"/>
                <a:cs typeface="Courier New"/>
                <a:sym typeface="Courier New"/>
              </a:rPr>
              <a:t>&lt;section class="grid grid-cols-2 gap-4"&gt;</a:t>
            </a:r>
            <a:endParaRPr b="0" i="0" sz="1200" u="none" cap="none" strike="noStrike">
              <a:solidFill>
                <a:schemeClr val="dk1"/>
              </a:solidFill>
              <a:latin typeface="Arial"/>
              <a:ea typeface="Arial"/>
              <a:cs typeface="Arial"/>
              <a:sym typeface="Arial"/>
            </a:endParaRPr>
          </a:p>
        </p:txBody>
      </p:sp>
      <p:sp>
        <p:nvSpPr>
          <p:cNvPr id="382" name="Google Shape;382;p39"/>
          <p:cNvSpPr/>
          <p:nvPr/>
        </p:nvSpPr>
        <p:spPr>
          <a:xfrm>
            <a:off x="5440680" y="2176272"/>
            <a:ext cx="2286000" cy="1828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4B5563"/>
              </a:buClr>
              <a:buSzPts val="1000"/>
              <a:buFont typeface="Arial"/>
              <a:buNone/>
            </a:pPr>
            <a:r>
              <a:rPr b="0" i="0" lang="en" sz="1000" u="none" cap="none" strike="noStrike">
                <a:solidFill>
                  <a:srgbClr val="4B5563"/>
                </a:solidFill>
                <a:latin typeface="Arial"/>
                <a:ea typeface="Arial"/>
                <a:cs typeface="Arial"/>
                <a:sym typeface="Arial"/>
              </a:rPr>
              <a:t>Step 3: add space between cards</a:t>
            </a:r>
            <a:endParaRPr b="0" i="0" sz="1000" u="none" cap="none" strike="noStrike">
              <a:solidFill>
                <a:schemeClr val="dk1"/>
              </a:solidFill>
              <a:latin typeface="Arial"/>
              <a:ea typeface="Arial"/>
              <a:cs typeface="Arial"/>
              <a:sym typeface="Arial"/>
            </a:endParaRPr>
          </a:p>
        </p:txBody>
      </p:sp>
      <p:sp>
        <p:nvSpPr>
          <p:cNvPr id="383" name="Google Shape;383;p39"/>
          <p:cNvSpPr/>
          <p:nvPr/>
        </p:nvSpPr>
        <p:spPr>
          <a:xfrm>
            <a:off x="822960" y="2971800"/>
            <a:ext cx="3474720" cy="1051560"/>
          </a:xfrm>
          <a:prstGeom prst="roundRect">
            <a:avLst>
              <a:gd fmla="val 2609"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9"/>
          <p:cNvSpPr/>
          <p:nvPr/>
        </p:nvSpPr>
        <p:spPr>
          <a:xfrm>
            <a:off x="822960" y="2971800"/>
            <a:ext cx="347472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9"/>
          <p:cNvSpPr/>
          <p:nvPr/>
        </p:nvSpPr>
        <p:spPr>
          <a:xfrm>
            <a:off x="932688" y="3026664"/>
            <a:ext cx="325526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two columns</a:t>
            </a:r>
            <a:endParaRPr b="0" i="0" sz="850" u="none" cap="none" strike="noStrike">
              <a:solidFill>
                <a:schemeClr val="dk1"/>
              </a:solidFill>
              <a:latin typeface="Arial"/>
              <a:ea typeface="Arial"/>
              <a:cs typeface="Arial"/>
              <a:sym typeface="Arial"/>
            </a:endParaRPr>
          </a:p>
        </p:txBody>
      </p:sp>
      <p:sp>
        <p:nvSpPr>
          <p:cNvPr id="386" name="Google Shape;386;p39"/>
          <p:cNvSpPr/>
          <p:nvPr/>
        </p:nvSpPr>
        <p:spPr>
          <a:xfrm>
            <a:off x="1051560" y="3337560"/>
            <a:ext cx="132588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87" name="Google Shape;387;p39"/>
          <p:cNvSpPr/>
          <p:nvPr/>
        </p:nvSpPr>
        <p:spPr>
          <a:xfrm>
            <a:off x="2606040" y="3337560"/>
            <a:ext cx="132588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88" name="Google Shape;388;p39"/>
          <p:cNvSpPr/>
          <p:nvPr/>
        </p:nvSpPr>
        <p:spPr>
          <a:xfrm>
            <a:off x="1051560" y="3703320"/>
            <a:ext cx="132588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89" name="Google Shape;389;p39"/>
          <p:cNvSpPr/>
          <p:nvPr/>
        </p:nvSpPr>
        <p:spPr>
          <a:xfrm>
            <a:off x="2606040" y="3703320"/>
            <a:ext cx="132588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90" name="Google Shape;390;p39"/>
          <p:cNvSpPr/>
          <p:nvPr/>
        </p:nvSpPr>
        <p:spPr>
          <a:xfrm>
            <a:off x="4800600" y="2971800"/>
            <a:ext cx="2423160" cy="1051560"/>
          </a:xfrm>
          <a:prstGeom prst="roundRect">
            <a:avLst>
              <a:gd fmla="val 2609"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9"/>
          <p:cNvSpPr/>
          <p:nvPr/>
        </p:nvSpPr>
        <p:spPr>
          <a:xfrm>
            <a:off x="4800600" y="2971800"/>
            <a:ext cx="242316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9"/>
          <p:cNvSpPr/>
          <p:nvPr/>
        </p:nvSpPr>
        <p:spPr>
          <a:xfrm>
            <a:off x="4910328" y="3026664"/>
            <a:ext cx="220370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narrow viewport</a:t>
            </a:r>
            <a:endParaRPr b="0" i="0" sz="850" u="none" cap="none" strike="noStrike">
              <a:solidFill>
                <a:schemeClr val="dk1"/>
              </a:solidFill>
              <a:latin typeface="Arial"/>
              <a:ea typeface="Arial"/>
              <a:cs typeface="Arial"/>
              <a:sym typeface="Arial"/>
            </a:endParaRPr>
          </a:p>
        </p:txBody>
      </p:sp>
      <p:sp>
        <p:nvSpPr>
          <p:cNvPr id="393" name="Google Shape;393;p39"/>
          <p:cNvSpPr/>
          <p:nvPr/>
        </p:nvSpPr>
        <p:spPr>
          <a:xfrm>
            <a:off x="4937760" y="3337560"/>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94" name="Google Shape;394;p39"/>
          <p:cNvSpPr/>
          <p:nvPr/>
        </p:nvSpPr>
        <p:spPr>
          <a:xfrm>
            <a:off x="6035040" y="3337560"/>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95" name="Google Shape;395;p39"/>
          <p:cNvSpPr/>
          <p:nvPr/>
        </p:nvSpPr>
        <p:spPr>
          <a:xfrm>
            <a:off x="4937760" y="3703320"/>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96" name="Google Shape;396;p39"/>
          <p:cNvSpPr/>
          <p:nvPr/>
        </p:nvSpPr>
        <p:spPr>
          <a:xfrm>
            <a:off x="6035040" y="3703320"/>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397" name="Google Shape;397;p39"/>
          <p:cNvSpPr/>
          <p:nvPr/>
        </p:nvSpPr>
        <p:spPr>
          <a:xfrm>
            <a:off x="685800" y="4343400"/>
            <a:ext cx="7589520" cy="3200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350"/>
              <a:buFont typeface="Arial"/>
              <a:buNone/>
            </a:pPr>
            <a:r>
              <a:rPr b="1" i="0" lang="en" sz="1350" u="none" cap="none" strike="noStrike">
                <a:solidFill>
                  <a:srgbClr val="334155"/>
                </a:solidFill>
                <a:latin typeface="Arial"/>
                <a:ea typeface="Arial"/>
                <a:cs typeface="Arial"/>
                <a:sym typeface="Arial"/>
              </a:rPr>
              <a:t>Two columns become cramped when the browser becomes narrow. How should the layout change?</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0"/>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Checkpoint: Flexbox or Grid?</a:t>
            </a:r>
            <a:endParaRPr b="0" i="0" sz="2100" u="none" cap="none" strike="noStrike">
              <a:solidFill>
                <a:schemeClr val="dk1"/>
              </a:solidFill>
              <a:latin typeface="Arial"/>
              <a:ea typeface="Arial"/>
              <a:cs typeface="Arial"/>
              <a:sym typeface="Arial"/>
            </a:endParaRPr>
          </a:p>
        </p:txBody>
      </p:sp>
      <p:sp>
        <p:nvSpPr>
          <p:cNvPr id="404" name="Google Shape;404;p40"/>
          <p:cNvSpPr/>
          <p:nvPr/>
        </p:nvSpPr>
        <p:spPr>
          <a:xfrm>
            <a:off x="685800" y="868680"/>
            <a:ext cx="36576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A travel planner needs two layouts:</a:t>
            </a:r>
            <a:endParaRPr b="0" i="0" sz="1500" u="none" cap="none" strike="noStrike">
              <a:solidFill>
                <a:schemeClr val="dk1"/>
              </a:solidFill>
              <a:latin typeface="Arial"/>
              <a:ea typeface="Arial"/>
              <a:cs typeface="Arial"/>
              <a:sym typeface="Arial"/>
            </a:endParaRPr>
          </a:p>
        </p:txBody>
      </p:sp>
      <p:sp>
        <p:nvSpPr>
          <p:cNvPr id="405" name="Google Shape;405;p40"/>
          <p:cNvSpPr/>
          <p:nvPr/>
        </p:nvSpPr>
        <p:spPr>
          <a:xfrm>
            <a:off x="685800" y="1234440"/>
            <a:ext cx="4206240" cy="7315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0" i="0" lang="en" sz="1350" u="none" cap="none" strike="noStrike">
                <a:solidFill>
                  <a:srgbClr val="111827"/>
                </a:solidFill>
                <a:latin typeface="Arial"/>
                <a:ea typeface="Arial"/>
                <a:cs typeface="Arial"/>
                <a:sym typeface="Arial"/>
              </a:rPr>
              <a:t>1. Place the page title and Add trip button on one row.</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350"/>
              <a:buFont typeface="Arial"/>
              <a:buNone/>
            </a:pPr>
            <a:r>
              <a:rPr b="0" i="0" lang="en" sz="1350" u="none" cap="none" strike="noStrike">
                <a:solidFill>
                  <a:srgbClr val="111827"/>
                </a:solidFill>
                <a:latin typeface="Arial"/>
                <a:ea typeface="Arial"/>
                <a:cs typeface="Arial"/>
                <a:sym typeface="Arial"/>
              </a:rPr>
              <a:t>2. Arrange six destination cards across equal columns.</a:t>
            </a:r>
            <a:endParaRPr b="0" i="0" sz="1350" u="none" cap="none" strike="noStrike">
              <a:solidFill>
                <a:schemeClr val="dk1"/>
              </a:solidFill>
              <a:latin typeface="Arial"/>
              <a:ea typeface="Arial"/>
              <a:cs typeface="Arial"/>
              <a:sym typeface="Arial"/>
            </a:endParaRPr>
          </a:p>
        </p:txBody>
      </p:sp>
      <p:sp>
        <p:nvSpPr>
          <p:cNvPr id="406" name="Google Shape;406;p40"/>
          <p:cNvSpPr/>
          <p:nvPr/>
        </p:nvSpPr>
        <p:spPr>
          <a:xfrm>
            <a:off x="5074920" y="868680"/>
            <a:ext cx="329184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Which choice is most suitable?</a:t>
            </a:r>
            <a:endParaRPr b="0" i="0" sz="1500" u="none" cap="none" strike="noStrike">
              <a:solidFill>
                <a:schemeClr val="dk1"/>
              </a:solidFill>
              <a:latin typeface="Arial"/>
              <a:ea typeface="Arial"/>
              <a:cs typeface="Arial"/>
              <a:sym typeface="Arial"/>
            </a:endParaRPr>
          </a:p>
        </p:txBody>
      </p:sp>
      <p:sp>
        <p:nvSpPr>
          <p:cNvPr id="407" name="Google Shape;407;p40"/>
          <p:cNvSpPr/>
          <p:nvPr/>
        </p:nvSpPr>
        <p:spPr>
          <a:xfrm>
            <a:off x="5074920" y="1261872"/>
            <a:ext cx="3429000" cy="16916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A. </a:t>
            </a:r>
            <a:r>
              <a:rPr lang="en" sz="1150">
                <a:solidFill>
                  <a:srgbClr val="111827"/>
                </a:solidFill>
              </a:rPr>
              <a:t>Grid for the title and button; Flexbox for the destination cards</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B. </a:t>
            </a:r>
            <a:r>
              <a:rPr lang="en" sz="1150">
                <a:solidFill>
                  <a:srgbClr val="111827"/>
                </a:solidFill>
              </a:rPr>
              <a:t>Flexbox for the title and button; Grid for the destination cards</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C. Flexbox for both layouts</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D. Grid for both layouts</a:t>
            </a:r>
            <a:endParaRPr b="0" i="0" sz="1150" u="none" cap="none" strike="noStrike">
              <a:solidFill>
                <a:schemeClr val="dk1"/>
              </a:solidFill>
              <a:latin typeface="Arial"/>
              <a:ea typeface="Arial"/>
              <a:cs typeface="Arial"/>
              <a:sym typeface="Arial"/>
            </a:endParaRPr>
          </a:p>
        </p:txBody>
      </p:sp>
      <p:sp>
        <p:nvSpPr>
          <p:cNvPr id="408" name="Google Shape;408;p40"/>
          <p:cNvSpPr/>
          <p:nvPr/>
        </p:nvSpPr>
        <p:spPr>
          <a:xfrm>
            <a:off x="548650" y="4067160"/>
            <a:ext cx="38406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B</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1"/>
          <p:cNvSpPr/>
          <p:nvPr/>
        </p:nvSpPr>
        <p:spPr>
          <a:xfrm>
            <a:off x="658368" y="2157984"/>
            <a:ext cx="7406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500"/>
              <a:buFont typeface="Arial"/>
              <a:buNone/>
            </a:pPr>
            <a:r>
              <a:rPr b="1" i="0" lang="en" sz="2500" u="none" cap="none" strike="noStrike">
                <a:solidFill>
                  <a:srgbClr val="111827"/>
                </a:solidFill>
                <a:latin typeface="Arial"/>
                <a:ea typeface="Arial"/>
                <a:cs typeface="Arial"/>
                <a:sym typeface="Arial"/>
              </a:rPr>
              <a:t>Responsive Tailwind layouts</a:t>
            </a:r>
            <a:endParaRPr b="0" i="0" sz="2500" u="none" cap="none" strike="noStrike">
              <a:solidFill>
                <a:schemeClr val="dk1"/>
              </a:solidFill>
              <a:latin typeface="Arial"/>
              <a:ea typeface="Arial"/>
              <a:cs typeface="Arial"/>
              <a:sym typeface="Arial"/>
            </a:endParaRPr>
          </a:p>
        </p:txBody>
      </p:sp>
      <p:sp>
        <p:nvSpPr>
          <p:cNvPr id="415" name="Google Shape;415;p41"/>
          <p:cNvSpPr/>
          <p:nvPr/>
        </p:nvSpPr>
        <p:spPr>
          <a:xfrm>
            <a:off x="658368" y="2642616"/>
            <a:ext cx="7406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400"/>
              <a:buFont typeface="Arial"/>
              <a:buNone/>
            </a:pPr>
            <a:r>
              <a:rPr b="0" i="0" lang="en" sz="1400" u="none" cap="none" strike="noStrike">
                <a:solidFill>
                  <a:srgbClr val="4B5563"/>
                </a:solidFill>
                <a:latin typeface="Arial"/>
                <a:ea typeface="Arial"/>
                <a:cs typeface="Arial"/>
                <a:sym typeface="Arial"/>
              </a:rPr>
              <a:t>Change the layout when more viewport space is available.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2"/>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Two columns do not fit every viewport</a:t>
            </a:r>
            <a:endParaRPr b="0" i="0" sz="2100" u="none" cap="none" strike="noStrike">
              <a:solidFill>
                <a:schemeClr val="dk1"/>
              </a:solidFill>
              <a:latin typeface="Arial"/>
              <a:ea typeface="Arial"/>
              <a:cs typeface="Arial"/>
              <a:sym typeface="Arial"/>
            </a:endParaRPr>
          </a:p>
        </p:txBody>
      </p:sp>
      <p:sp>
        <p:nvSpPr>
          <p:cNvPr id="422" name="Google Shape;422;p42"/>
          <p:cNvSpPr/>
          <p:nvPr/>
        </p:nvSpPr>
        <p:spPr>
          <a:xfrm>
            <a:off x="685800" y="868680"/>
            <a:ext cx="4023360" cy="82296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&lt;section class="grid grid-cols-2 gap-4"&gt;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&lt;/section&gt;</a:t>
            </a:r>
            <a:endParaRPr b="0" i="0" sz="1200" u="none" cap="none" strike="noStrike">
              <a:solidFill>
                <a:schemeClr val="dk1"/>
              </a:solidFill>
              <a:latin typeface="Arial"/>
              <a:ea typeface="Arial"/>
              <a:cs typeface="Arial"/>
              <a:sym typeface="Arial"/>
            </a:endParaRPr>
          </a:p>
        </p:txBody>
      </p:sp>
      <p:sp>
        <p:nvSpPr>
          <p:cNvPr id="423" name="Google Shape;423;p42"/>
          <p:cNvSpPr/>
          <p:nvPr/>
        </p:nvSpPr>
        <p:spPr>
          <a:xfrm>
            <a:off x="777240" y="2011680"/>
            <a:ext cx="2926080" cy="1143000"/>
          </a:xfrm>
          <a:prstGeom prst="roundRect">
            <a:avLst>
              <a:gd fmla="val 24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2"/>
          <p:cNvSpPr/>
          <p:nvPr/>
        </p:nvSpPr>
        <p:spPr>
          <a:xfrm>
            <a:off x="777240" y="2011680"/>
            <a:ext cx="29260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2"/>
          <p:cNvSpPr/>
          <p:nvPr/>
        </p:nvSpPr>
        <p:spPr>
          <a:xfrm>
            <a:off x="886968" y="2066544"/>
            <a:ext cx="27066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wider viewport</a:t>
            </a:r>
            <a:endParaRPr b="0" i="0" sz="850" u="none" cap="none" strike="noStrike">
              <a:solidFill>
                <a:schemeClr val="dk1"/>
              </a:solidFill>
              <a:latin typeface="Arial"/>
              <a:ea typeface="Arial"/>
              <a:cs typeface="Arial"/>
              <a:sym typeface="Arial"/>
            </a:endParaRPr>
          </a:p>
        </p:txBody>
      </p:sp>
      <p:sp>
        <p:nvSpPr>
          <p:cNvPr id="426" name="Google Shape;426;p42"/>
          <p:cNvSpPr/>
          <p:nvPr/>
        </p:nvSpPr>
        <p:spPr>
          <a:xfrm>
            <a:off x="987552" y="2395728"/>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27" name="Google Shape;427;p42"/>
          <p:cNvSpPr/>
          <p:nvPr/>
        </p:nvSpPr>
        <p:spPr>
          <a:xfrm>
            <a:off x="2304288" y="2395728"/>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28" name="Google Shape;428;p42"/>
          <p:cNvSpPr/>
          <p:nvPr/>
        </p:nvSpPr>
        <p:spPr>
          <a:xfrm>
            <a:off x="987552" y="2788920"/>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29" name="Google Shape;429;p42"/>
          <p:cNvSpPr/>
          <p:nvPr/>
        </p:nvSpPr>
        <p:spPr>
          <a:xfrm>
            <a:off x="2304288" y="2788920"/>
            <a:ext cx="100584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30" name="Google Shape;430;p42"/>
          <p:cNvSpPr/>
          <p:nvPr/>
        </p:nvSpPr>
        <p:spPr>
          <a:xfrm>
            <a:off x="4251960" y="2011680"/>
            <a:ext cx="2331720" cy="1143000"/>
          </a:xfrm>
          <a:prstGeom prst="roundRect">
            <a:avLst>
              <a:gd fmla="val 24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2"/>
          <p:cNvSpPr/>
          <p:nvPr/>
        </p:nvSpPr>
        <p:spPr>
          <a:xfrm>
            <a:off x="4251960" y="2011680"/>
            <a:ext cx="233172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2"/>
          <p:cNvSpPr/>
          <p:nvPr/>
        </p:nvSpPr>
        <p:spPr>
          <a:xfrm>
            <a:off x="4361688" y="2066544"/>
            <a:ext cx="211226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narrow viewport</a:t>
            </a:r>
            <a:endParaRPr b="0" i="0" sz="850" u="none" cap="none" strike="noStrike">
              <a:solidFill>
                <a:schemeClr val="dk1"/>
              </a:solidFill>
              <a:latin typeface="Arial"/>
              <a:ea typeface="Arial"/>
              <a:cs typeface="Arial"/>
              <a:sym typeface="Arial"/>
            </a:endParaRPr>
          </a:p>
        </p:txBody>
      </p:sp>
      <p:sp>
        <p:nvSpPr>
          <p:cNvPr id="433" name="Google Shape;433;p42"/>
          <p:cNvSpPr/>
          <p:nvPr/>
        </p:nvSpPr>
        <p:spPr>
          <a:xfrm>
            <a:off x="4389120" y="2395728"/>
            <a:ext cx="91440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34" name="Google Shape;434;p42"/>
          <p:cNvSpPr/>
          <p:nvPr/>
        </p:nvSpPr>
        <p:spPr>
          <a:xfrm>
            <a:off x="5394960" y="2395728"/>
            <a:ext cx="91440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35" name="Google Shape;435;p42"/>
          <p:cNvSpPr/>
          <p:nvPr/>
        </p:nvSpPr>
        <p:spPr>
          <a:xfrm>
            <a:off x="4389120" y="2788920"/>
            <a:ext cx="91440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36" name="Google Shape;436;p42"/>
          <p:cNvSpPr/>
          <p:nvPr/>
        </p:nvSpPr>
        <p:spPr>
          <a:xfrm>
            <a:off x="5394960" y="2788920"/>
            <a:ext cx="91440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p:txBody>
      </p:sp>
      <p:sp>
        <p:nvSpPr>
          <p:cNvPr id="437" name="Google Shape;437;p42"/>
          <p:cNvSpPr/>
          <p:nvPr/>
        </p:nvSpPr>
        <p:spPr>
          <a:xfrm>
            <a:off x="6903720" y="2011680"/>
            <a:ext cx="1508760" cy="1143000"/>
          </a:xfrm>
          <a:prstGeom prst="roundRect">
            <a:avLst>
              <a:gd fmla="val 24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42"/>
          <p:cNvSpPr/>
          <p:nvPr/>
        </p:nvSpPr>
        <p:spPr>
          <a:xfrm>
            <a:off x="6903720" y="2011680"/>
            <a:ext cx="150876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2"/>
          <p:cNvSpPr/>
          <p:nvPr/>
        </p:nvSpPr>
        <p:spPr>
          <a:xfrm>
            <a:off x="7013448" y="2066544"/>
            <a:ext cx="128930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better starting layout</a:t>
            </a:r>
            <a:endParaRPr b="0" i="0" sz="850" u="none" cap="none" strike="noStrike">
              <a:solidFill>
                <a:schemeClr val="dk1"/>
              </a:solidFill>
              <a:latin typeface="Arial"/>
              <a:ea typeface="Arial"/>
              <a:cs typeface="Arial"/>
              <a:sym typeface="Arial"/>
            </a:endParaRPr>
          </a:p>
        </p:txBody>
      </p:sp>
      <p:sp>
        <p:nvSpPr>
          <p:cNvPr id="440" name="Google Shape;440;p42"/>
          <p:cNvSpPr/>
          <p:nvPr/>
        </p:nvSpPr>
        <p:spPr>
          <a:xfrm>
            <a:off x="7068312" y="2313432"/>
            <a:ext cx="1143000" cy="21031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41" name="Google Shape;441;p42"/>
          <p:cNvSpPr/>
          <p:nvPr/>
        </p:nvSpPr>
        <p:spPr>
          <a:xfrm>
            <a:off x="7068312" y="2606040"/>
            <a:ext cx="1143000" cy="21031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42" name="Google Shape;442;p42"/>
          <p:cNvSpPr/>
          <p:nvPr/>
        </p:nvSpPr>
        <p:spPr>
          <a:xfrm>
            <a:off x="7068312" y="2898648"/>
            <a:ext cx="1143000" cy="21031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43" name="Google Shape;443;p42"/>
          <p:cNvSpPr/>
          <p:nvPr/>
        </p:nvSpPr>
        <p:spPr>
          <a:xfrm>
            <a:off x="685800" y="3886200"/>
            <a:ext cx="7772400" cy="36576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334155"/>
              </a:buClr>
              <a:buSzPts val="1500"/>
              <a:buFont typeface="Arial"/>
              <a:buNone/>
            </a:pPr>
            <a:r>
              <a:rPr b="1" i="0" lang="en" sz="1500" u="none" cap="none" strike="noStrike">
                <a:solidFill>
                  <a:srgbClr val="334155"/>
                </a:solidFill>
                <a:latin typeface="Arial"/>
                <a:ea typeface="Arial"/>
                <a:cs typeface="Arial"/>
                <a:sym typeface="Arial"/>
              </a:rPr>
              <a:t>Start with one column. Add more columns when the viewport becomes wider.</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3"/>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Read a responsive utility</a:t>
            </a:r>
            <a:endParaRPr b="0" i="0" sz="2100" u="none" cap="none" strike="noStrike">
              <a:solidFill>
                <a:schemeClr val="dk1"/>
              </a:solidFill>
              <a:latin typeface="Arial"/>
              <a:ea typeface="Arial"/>
              <a:cs typeface="Arial"/>
              <a:sym typeface="Arial"/>
            </a:endParaRPr>
          </a:p>
        </p:txBody>
      </p:sp>
      <p:sp>
        <p:nvSpPr>
          <p:cNvPr id="450" name="Google Shape;450;p43"/>
          <p:cNvSpPr/>
          <p:nvPr/>
        </p:nvSpPr>
        <p:spPr>
          <a:xfrm>
            <a:off x="685800" y="914400"/>
            <a:ext cx="2743200" cy="50292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2000"/>
              <a:buFont typeface="Courier New"/>
              <a:buNone/>
            </a:pPr>
            <a:r>
              <a:rPr b="0" i="0" lang="en" sz="2000" u="none" cap="none" strike="noStrike">
                <a:solidFill>
                  <a:srgbClr val="111827"/>
                </a:solidFill>
                <a:latin typeface="Courier New"/>
                <a:ea typeface="Courier New"/>
                <a:cs typeface="Courier New"/>
                <a:sym typeface="Courier New"/>
              </a:rPr>
              <a:t>md:grid-cols-2</a:t>
            </a:r>
            <a:endParaRPr b="0" i="0" sz="2000" u="none" cap="none" strike="noStrike">
              <a:solidFill>
                <a:schemeClr val="dk1"/>
              </a:solidFill>
              <a:latin typeface="Arial"/>
              <a:ea typeface="Arial"/>
              <a:cs typeface="Arial"/>
              <a:sym typeface="Arial"/>
            </a:endParaRPr>
          </a:p>
        </p:txBody>
      </p:sp>
      <p:sp>
        <p:nvSpPr>
          <p:cNvPr id="451" name="Google Shape;451;p43"/>
          <p:cNvSpPr/>
          <p:nvPr/>
        </p:nvSpPr>
        <p:spPr>
          <a:xfrm>
            <a:off x="3931920" y="868680"/>
            <a:ext cx="1280160" cy="38100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1" i="0" lang="en" sz="1150" u="none" cap="none" strike="noStrike">
                <a:solidFill>
                  <a:srgbClr val="111827"/>
                </a:solidFill>
                <a:latin typeface="Arial"/>
                <a:ea typeface="Arial"/>
                <a:cs typeface="Arial"/>
                <a:sym typeface="Arial"/>
              </a:rPr>
              <a:t>Part</a:t>
            </a:r>
            <a:endParaRPr b="0" i="0" sz="1150" u="none" cap="none" strike="noStrike">
              <a:solidFill>
                <a:schemeClr val="dk1"/>
              </a:solidFill>
              <a:latin typeface="Arial"/>
              <a:ea typeface="Arial"/>
              <a:cs typeface="Arial"/>
              <a:sym typeface="Arial"/>
            </a:endParaRPr>
          </a:p>
        </p:txBody>
      </p:sp>
      <p:sp>
        <p:nvSpPr>
          <p:cNvPr id="452" name="Google Shape;452;p43"/>
          <p:cNvSpPr/>
          <p:nvPr/>
        </p:nvSpPr>
        <p:spPr>
          <a:xfrm>
            <a:off x="5212080" y="868680"/>
            <a:ext cx="3063240" cy="38100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1" i="0" lang="en" sz="1150" u="none" cap="none" strike="noStrike">
                <a:solidFill>
                  <a:srgbClr val="111827"/>
                </a:solidFill>
                <a:latin typeface="Arial"/>
                <a:ea typeface="Arial"/>
                <a:cs typeface="Arial"/>
                <a:sym typeface="Arial"/>
              </a:rPr>
              <a:t>Meaning</a:t>
            </a:r>
            <a:endParaRPr b="0" i="0" sz="1150" u="none" cap="none" strike="noStrike">
              <a:solidFill>
                <a:schemeClr val="dk1"/>
              </a:solidFill>
              <a:latin typeface="Arial"/>
              <a:ea typeface="Arial"/>
              <a:cs typeface="Arial"/>
              <a:sym typeface="Arial"/>
            </a:endParaRPr>
          </a:p>
        </p:txBody>
      </p:sp>
      <p:sp>
        <p:nvSpPr>
          <p:cNvPr id="453" name="Google Shape;453;p43"/>
          <p:cNvSpPr/>
          <p:nvPr/>
        </p:nvSpPr>
        <p:spPr>
          <a:xfrm>
            <a:off x="3931920" y="1249680"/>
            <a:ext cx="1280160" cy="3810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md:</a:t>
            </a:r>
            <a:endParaRPr b="0" i="0" sz="1150" u="none" cap="none" strike="noStrike">
              <a:solidFill>
                <a:schemeClr val="dk1"/>
              </a:solidFill>
              <a:latin typeface="Arial"/>
              <a:ea typeface="Arial"/>
              <a:cs typeface="Arial"/>
              <a:sym typeface="Arial"/>
            </a:endParaRPr>
          </a:p>
        </p:txBody>
      </p:sp>
      <p:sp>
        <p:nvSpPr>
          <p:cNvPr id="454" name="Google Shape;454;p43"/>
          <p:cNvSpPr/>
          <p:nvPr/>
        </p:nvSpPr>
        <p:spPr>
          <a:xfrm>
            <a:off x="5212080" y="1249680"/>
            <a:ext cx="3063240" cy="3810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Apply the utility from the md breakpoint and wider</a:t>
            </a:r>
            <a:endParaRPr b="0" i="0" sz="1150" u="none" cap="none" strike="noStrike">
              <a:solidFill>
                <a:schemeClr val="dk1"/>
              </a:solidFill>
              <a:latin typeface="Arial"/>
              <a:ea typeface="Arial"/>
              <a:cs typeface="Arial"/>
              <a:sym typeface="Arial"/>
            </a:endParaRPr>
          </a:p>
        </p:txBody>
      </p:sp>
      <p:sp>
        <p:nvSpPr>
          <p:cNvPr id="455" name="Google Shape;455;p43"/>
          <p:cNvSpPr/>
          <p:nvPr/>
        </p:nvSpPr>
        <p:spPr>
          <a:xfrm>
            <a:off x="3931920" y="1630680"/>
            <a:ext cx="1280160" cy="3810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grid-cols-2</a:t>
            </a:r>
            <a:endParaRPr b="0" i="0" sz="1150" u="none" cap="none" strike="noStrike">
              <a:solidFill>
                <a:schemeClr val="dk1"/>
              </a:solidFill>
              <a:latin typeface="Arial"/>
              <a:ea typeface="Arial"/>
              <a:cs typeface="Arial"/>
              <a:sym typeface="Arial"/>
            </a:endParaRPr>
          </a:p>
        </p:txBody>
      </p:sp>
      <p:sp>
        <p:nvSpPr>
          <p:cNvPr id="456" name="Google Shape;456;p43"/>
          <p:cNvSpPr/>
          <p:nvPr/>
        </p:nvSpPr>
        <p:spPr>
          <a:xfrm>
            <a:off x="5212080" y="1630680"/>
            <a:ext cx="3063240" cy="3810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Use two Grid columns</a:t>
            </a:r>
            <a:endParaRPr b="0" i="0" sz="1150" u="none" cap="none" strike="noStrike">
              <a:solidFill>
                <a:schemeClr val="dk1"/>
              </a:solidFill>
              <a:latin typeface="Arial"/>
              <a:ea typeface="Arial"/>
              <a:cs typeface="Arial"/>
              <a:sym typeface="Arial"/>
            </a:endParaRPr>
          </a:p>
        </p:txBody>
      </p:sp>
      <p:sp>
        <p:nvSpPr>
          <p:cNvPr id="457" name="Google Shape;457;p43"/>
          <p:cNvSpPr/>
          <p:nvPr/>
        </p:nvSpPr>
        <p:spPr>
          <a:xfrm>
            <a:off x="685800" y="2331720"/>
            <a:ext cx="29260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Default md breakpoint</a:t>
            </a:r>
            <a:endParaRPr b="0" i="0" sz="1350" u="none" cap="none" strike="noStrike">
              <a:solidFill>
                <a:schemeClr val="dk1"/>
              </a:solidFill>
              <a:latin typeface="Arial"/>
              <a:ea typeface="Arial"/>
              <a:cs typeface="Arial"/>
              <a:sym typeface="Arial"/>
            </a:endParaRPr>
          </a:p>
        </p:txBody>
      </p:sp>
      <p:sp>
        <p:nvSpPr>
          <p:cNvPr id="458" name="Google Shape;458;p43"/>
          <p:cNvSpPr/>
          <p:nvPr/>
        </p:nvSpPr>
        <p:spPr>
          <a:xfrm>
            <a:off x="685800" y="2697480"/>
            <a:ext cx="192024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600"/>
              <a:buFont typeface="Courier New"/>
              <a:buNone/>
            </a:pPr>
            <a:r>
              <a:rPr b="0" i="0" lang="en" sz="1600" u="none" cap="none" strike="noStrike">
                <a:solidFill>
                  <a:srgbClr val="111827"/>
                </a:solidFill>
                <a:latin typeface="Courier New"/>
                <a:ea typeface="Courier New"/>
                <a:cs typeface="Courier New"/>
                <a:sym typeface="Courier New"/>
              </a:rPr>
              <a:t>48rem</a:t>
            </a:r>
            <a:endParaRPr b="0" i="0" sz="1600" u="none" cap="none" strike="noStrike">
              <a:solidFill>
                <a:schemeClr val="dk1"/>
              </a:solidFill>
              <a:latin typeface="Arial"/>
              <a:ea typeface="Arial"/>
              <a:cs typeface="Arial"/>
              <a:sym typeface="Arial"/>
            </a:endParaRPr>
          </a:p>
        </p:txBody>
      </p:sp>
      <p:sp>
        <p:nvSpPr>
          <p:cNvPr id="459" name="Google Shape;459;p43"/>
          <p:cNvSpPr/>
          <p:nvPr/>
        </p:nvSpPr>
        <p:spPr>
          <a:xfrm>
            <a:off x="3657600" y="2331720"/>
            <a:ext cx="29260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Common table value</a:t>
            </a:r>
            <a:endParaRPr b="0" i="0" sz="1350" u="none" cap="none" strike="noStrike">
              <a:solidFill>
                <a:schemeClr val="dk1"/>
              </a:solidFill>
              <a:latin typeface="Arial"/>
              <a:ea typeface="Arial"/>
              <a:cs typeface="Arial"/>
              <a:sym typeface="Arial"/>
            </a:endParaRPr>
          </a:p>
        </p:txBody>
      </p:sp>
      <p:sp>
        <p:nvSpPr>
          <p:cNvPr id="460" name="Google Shape;460;p43"/>
          <p:cNvSpPr/>
          <p:nvPr/>
        </p:nvSpPr>
        <p:spPr>
          <a:xfrm>
            <a:off x="3657600" y="2697480"/>
            <a:ext cx="192024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600"/>
              <a:buFont typeface="Courier New"/>
              <a:buNone/>
            </a:pPr>
            <a:r>
              <a:rPr b="0" i="0" lang="en" sz="1600" u="none" cap="none" strike="noStrike">
                <a:solidFill>
                  <a:srgbClr val="111827"/>
                </a:solidFill>
                <a:latin typeface="Courier New"/>
                <a:ea typeface="Courier New"/>
                <a:cs typeface="Courier New"/>
                <a:sym typeface="Courier New"/>
              </a:rPr>
              <a:t>768px</a:t>
            </a:r>
            <a:endParaRPr b="0" i="0" sz="1600" u="none" cap="none" strike="noStrike">
              <a:solidFill>
                <a:schemeClr val="dk1"/>
              </a:solidFill>
              <a:latin typeface="Arial"/>
              <a:ea typeface="Arial"/>
              <a:cs typeface="Arial"/>
              <a:sym typeface="Arial"/>
            </a:endParaRPr>
          </a:p>
        </p:txBody>
      </p:sp>
      <p:sp>
        <p:nvSpPr>
          <p:cNvPr id="461" name="Google Shape;461;p43"/>
          <p:cNvSpPr/>
          <p:nvPr/>
        </p:nvSpPr>
        <p:spPr>
          <a:xfrm>
            <a:off x="685800" y="3886200"/>
            <a:ext cx="7680960" cy="36576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334155"/>
              </a:buClr>
              <a:buSzPts val="1430"/>
              <a:buFont typeface="Arial"/>
              <a:buNone/>
            </a:pPr>
            <a:r>
              <a:rPr b="1" i="0" lang="en" sz="1430" u="none" cap="none" strike="noStrike">
                <a:solidFill>
                  <a:srgbClr val="334155"/>
                </a:solidFill>
                <a:latin typeface="Arial"/>
                <a:ea typeface="Arial"/>
                <a:cs typeface="Arial"/>
                <a:sym typeface="Arial"/>
              </a:rPr>
              <a:t>md: represents a minimum-width condition. It does not mean “only medium screens.”</a:t>
            </a:r>
            <a:endParaRPr b="0" i="0" sz="143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4"/>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Start with the narrow layout</a:t>
            </a:r>
            <a:endParaRPr b="0" i="0" sz="2100" u="none" cap="none" strike="noStrike">
              <a:solidFill>
                <a:schemeClr val="dk1"/>
              </a:solidFill>
              <a:latin typeface="Arial"/>
              <a:ea typeface="Arial"/>
              <a:cs typeface="Arial"/>
              <a:sym typeface="Arial"/>
            </a:endParaRPr>
          </a:p>
        </p:txBody>
      </p:sp>
      <p:sp>
        <p:nvSpPr>
          <p:cNvPr id="468" name="Google Shape;468;p44"/>
          <p:cNvSpPr/>
          <p:nvPr/>
        </p:nvSpPr>
        <p:spPr>
          <a:xfrm>
            <a:off x="685800" y="868673"/>
            <a:ext cx="4206300" cy="411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Use one column as the unprefixed base layout.</a:t>
            </a:r>
            <a:endParaRPr b="0" i="0" sz="1500" u="none" cap="none" strike="noStrike">
              <a:solidFill>
                <a:schemeClr val="dk1"/>
              </a:solidFill>
              <a:latin typeface="Arial"/>
              <a:ea typeface="Arial"/>
              <a:cs typeface="Arial"/>
              <a:sym typeface="Arial"/>
            </a:endParaRPr>
          </a:p>
        </p:txBody>
      </p:sp>
      <p:sp>
        <p:nvSpPr>
          <p:cNvPr id="469" name="Google Shape;469;p44"/>
          <p:cNvSpPr/>
          <p:nvPr/>
        </p:nvSpPr>
        <p:spPr>
          <a:xfrm>
            <a:off x="685800" y="1335028"/>
            <a:ext cx="4297800" cy="8229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&lt;section class="grid grid-cols-1 gap-4"&gt;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&lt;/section&gt;</a:t>
            </a:r>
            <a:endParaRPr b="0" i="0" sz="1200" u="none" cap="none" strike="noStrike">
              <a:solidFill>
                <a:schemeClr val="dk1"/>
              </a:solidFill>
              <a:latin typeface="Arial"/>
              <a:ea typeface="Arial"/>
              <a:cs typeface="Arial"/>
              <a:sym typeface="Arial"/>
            </a:endParaRPr>
          </a:p>
        </p:txBody>
      </p:sp>
      <p:sp>
        <p:nvSpPr>
          <p:cNvPr id="470" name="Google Shape;470;p44"/>
          <p:cNvSpPr/>
          <p:nvPr/>
        </p:nvSpPr>
        <p:spPr>
          <a:xfrm>
            <a:off x="685800" y="2423160"/>
            <a:ext cx="384048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Add two columns at md and wider.</a:t>
            </a:r>
            <a:endParaRPr b="0" i="0" sz="1500" u="none" cap="none" strike="noStrike">
              <a:solidFill>
                <a:schemeClr val="dk1"/>
              </a:solidFill>
              <a:latin typeface="Arial"/>
              <a:ea typeface="Arial"/>
              <a:cs typeface="Arial"/>
              <a:sym typeface="Arial"/>
            </a:endParaRPr>
          </a:p>
        </p:txBody>
      </p:sp>
      <p:sp>
        <p:nvSpPr>
          <p:cNvPr id="471" name="Google Shape;471;p44"/>
          <p:cNvSpPr/>
          <p:nvPr/>
        </p:nvSpPr>
        <p:spPr>
          <a:xfrm>
            <a:off x="685800" y="2788920"/>
            <a:ext cx="4480560" cy="105156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&lt;section class="</a:t>
            </a:r>
            <a:endParaRPr b="0" i="0" sz="10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  grid grid-cols-1 gap-4</a:t>
            </a:r>
            <a:endParaRPr b="0" i="0" sz="10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  md:grid-cols-2</a:t>
            </a:r>
            <a:endParaRPr b="0" i="0" sz="10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"&gt;</a:t>
            </a:r>
            <a:endParaRPr b="0" i="0" sz="1080" u="none" cap="none" strike="noStrike">
              <a:solidFill>
                <a:schemeClr val="dk1"/>
              </a:solidFill>
              <a:latin typeface="Arial"/>
              <a:ea typeface="Arial"/>
              <a:cs typeface="Arial"/>
              <a:sym typeface="Arial"/>
            </a:endParaRPr>
          </a:p>
        </p:txBody>
      </p:sp>
      <p:sp>
        <p:nvSpPr>
          <p:cNvPr id="472" name="Google Shape;472;p44"/>
          <p:cNvSpPr/>
          <p:nvPr/>
        </p:nvSpPr>
        <p:spPr>
          <a:xfrm>
            <a:off x="5532120" y="1325880"/>
            <a:ext cx="1143000" cy="44196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1" i="0" lang="en" sz="1050" u="none" cap="none" strike="noStrike">
                <a:solidFill>
                  <a:srgbClr val="111827"/>
                </a:solidFill>
                <a:latin typeface="Arial"/>
                <a:ea typeface="Arial"/>
                <a:cs typeface="Arial"/>
                <a:sym typeface="Arial"/>
              </a:rPr>
              <a:t>Viewport</a:t>
            </a:r>
            <a:endParaRPr b="0" i="0" sz="1050" u="none" cap="none" strike="noStrike">
              <a:solidFill>
                <a:schemeClr val="dk1"/>
              </a:solidFill>
              <a:latin typeface="Arial"/>
              <a:ea typeface="Arial"/>
              <a:cs typeface="Arial"/>
              <a:sym typeface="Arial"/>
            </a:endParaRPr>
          </a:p>
        </p:txBody>
      </p:sp>
      <p:sp>
        <p:nvSpPr>
          <p:cNvPr id="473" name="Google Shape;473;p44"/>
          <p:cNvSpPr/>
          <p:nvPr/>
        </p:nvSpPr>
        <p:spPr>
          <a:xfrm>
            <a:off x="6675120" y="1325880"/>
            <a:ext cx="1691640" cy="44196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1" i="0" lang="en" sz="1050" u="none" cap="none" strike="noStrike">
                <a:solidFill>
                  <a:srgbClr val="111827"/>
                </a:solidFill>
                <a:latin typeface="Arial"/>
                <a:ea typeface="Arial"/>
                <a:cs typeface="Arial"/>
                <a:sym typeface="Arial"/>
              </a:rPr>
              <a:t>Applied column layout</a:t>
            </a:r>
            <a:endParaRPr b="0" i="0" sz="1050" u="none" cap="none" strike="noStrike">
              <a:solidFill>
                <a:schemeClr val="dk1"/>
              </a:solidFill>
              <a:latin typeface="Arial"/>
              <a:ea typeface="Arial"/>
              <a:cs typeface="Arial"/>
              <a:sym typeface="Arial"/>
            </a:endParaRPr>
          </a:p>
        </p:txBody>
      </p:sp>
      <p:sp>
        <p:nvSpPr>
          <p:cNvPr id="474" name="Google Shape;474;p44"/>
          <p:cNvSpPr/>
          <p:nvPr/>
        </p:nvSpPr>
        <p:spPr>
          <a:xfrm>
            <a:off x="5532120" y="1767840"/>
            <a:ext cx="1143000" cy="4419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Below md</a:t>
            </a:r>
            <a:endParaRPr b="0" i="0" sz="1050" u="none" cap="none" strike="noStrike">
              <a:solidFill>
                <a:schemeClr val="dk1"/>
              </a:solidFill>
              <a:latin typeface="Arial"/>
              <a:ea typeface="Arial"/>
              <a:cs typeface="Arial"/>
              <a:sym typeface="Arial"/>
            </a:endParaRPr>
          </a:p>
        </p:txBody>
      </p:sp>
      <p:sp>
        <p:nvSpPr>
          <p:cNvPr id="475" name="Google Shape;475;p44"/>
          <p:cNvSpPr/>
          <p:nvPr/>
        </p:nvSpPr>
        <p:spPr>
          <a:xfrm>
            <a:off x="6675120" y="1767840"/>
            <a:ext cx="1691640" cy="4419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grid-cols-1</a:t>
            </a:r>
            <a:endParaRPr b="0" i="0" sz="1050" u="none" cap="none" strike="noStrike">
              <a:solidFill>
                <a:schemeClr val="dk1"/>
              </a:solidFill>
              <a:latin typeface="Arial"/>
              <a:ea typeface="Arial"/>
              <a:cs typeface="Arial"/>
              <a:sym typeface="Arial"/>
            </a:endParaRPr>
          </a:p>
        </p:txBody>
      </p:sp>
      <p:sp>
        <p:nvSpPr>
          <p:cNvPr id="476" name="Google Shape;476;p44"/>
          <p:cNvSpPr/>
          <p:nvPr/>
        </p:nvSpPr>
        <p:spPr>
          <a:xfrm>
            <a:off x="5532120" y="2209800"/>
            <a:ext cx="1143000" cy="4419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At md and wider</a:t>
            </a:r>
            <a:endParaRPr b="0" i="0" sz="1050" u="none" cap="none" strike="noStrike">
              <a:solidFill>
                <a:schemeClr val="dk1"/>
              </a:solidFill>
              <a:latin typeface="Arial"/>
              <a:ea typeface="Arial"/>
              <a:cs typeface="Arial"/>
              <a:sym typeface="Arial"/>
            </a:endParaRPr>
          </a:p>
        </p:txBody>
      </p:sp>
      <p:sp>
        <p:nvSpPr>
          <p:cNvPr id="477" name="Google Shape;477;p44"/>
          <p:cNvSpPr/>
          <p:nvPr/>
        </p:nvSpPr>
        <p:spPr>
          <a:xfrm>
            <a:off x="6675120" y="2209800"/>
            <a:ext cx="1691640" cy="4419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050"/>
              <a:buFont typeface="Arial"/>
              <a:buNone/>
            </a:pPr>
            <a:r>
              <a:rPr b="0" i="0" lang="en" sz="1050" u="none" cap="none" strike="noStrike">
                <a:solidFill>
                  <a:srgbClr val="111827"/>
                </a:solidFill>
                <a:latin typeface="Arial"/>
                <a:ea typeface="Arial"/>
                <a:cs typeface="Arial"/>
                <a:sym typeface="Arial"/>
              </a:rPr>
              <a:t>md:grid-cols-2</a:t>
            </a:r>
            <a:endParaRPr b="0" i="0" sz="1050" u="none" cap="none" strike="noStrike">
              <a:solidFill>
                <a:schemeClr val="dk1"/>
              </a:solidFill>
              <a:latin typeface="Arial"/>
              <a:ea typeface="Arial"/>
              <a:cs typeface="Arial"/>
              <a:sym typeface="Arial"/>
            </a:endParaRPr>
          </a:p>
        </p:txBody>
      </p:sp>
      <p:sp>
        <p:nvSpPr>
          <p:cNvPr id="478" name="Google Shape;478;p44"/>
          <p:cNvSpPr/>
          <p:nvPr/>
        </p:nvSpPr>
        <p:spPr>
          <a:xfrm>
            <a:off x="5532120" y="3154680"/>
            <a:ext cx="2834640" cy="4114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250"/>
              <a:buFont typeface="Arial"/>
              <a:buNone/>
            </a:pPr>
            <a:r>
              <a:rPr b="0" i="0" lang="en" sz="1250" u="none" cap="none" strike="noStrike">
                <a:solidFill>
                  <a:srgbClr val="334155"/>
                </a:solidFill>
                <a:latin typeface="Arial"/>
                <a:ea typeface="Arial"/>
                <a:cs typeface="Arial"/>
                <a:sym typeface="Arial"/>
              </a:rPr>
              <a:t>The prefixed class changes only the column count.</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5"/>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1900" u="none" cap="none" strike="noStrike">
                <a:solidFill>
                  <a:srgbClr val="111827"/>
                </a:solidFill>
                <a:latin typeface="Arial"/>
                <a:ea typeface="Arial"/>
                <a:cs typeface="Arial"/>
                <a:sym typeface="Arial"/>
              </a:rPr>
              <a:t>Live demonstration: Make the catalog Grid responsive</a:t>
            </a:r>
            <a:endParaRPr b="0" i="0" sz="1900" u="none" cap="none" strike="noStrike">
              <a:solidFill>
                <a:schemeClr val="dk1"/>
              </a:solidFill>
              <a:latin typeface="Arial"/>
              <a:ea typeface="Arial"/>
              <a:cs typeface="Arial"/>
              <a:sym typeface="Arial"/>
            </a:endParaRPr>
          </a:p>
        </p:txBody>
      </p:sp>
      <p:sp>
        <p:nvSpPr>
          <p:cNvPr id="485" name="Google Shape;485;p45"/>
          <p:cNvSpPr/>
          <p:nvPr/>
        </p:nvSpPr>
        <p:spPr>
          <a:xfrm>
            <a:off x="685800" y="914400"/>
            <a:ext cx="4206240" cy="603504"/>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Current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&lt;section class="grid grid-cols-2 gap-4"&gt;</a:t>
            </a:r>
            <a:endParaRPr b="0" i="0" sz="1120" u="none" cap="none" strike="noStrike">
              <a:solidFill>
                <a:schemeClr val="dk1"/>
              </a:solidFill>
              <a:latin typeface="Arial"/>
              <a:ea typeface="Arial"/>
              <a:cs typeface="Arial"/>
              <a:sym typeface="Arial"/>
            </a:endParaRPr>
          </a:p>
        </p:txBody>
      </p:sp>
      <p:sp>
        <p:nvSpPr>
          <p:cNvPr id="486" name="Google Shape;486;p45"/>
          <p:cNvSpPr/>
          <p:nvPr/>
        </p:nvSpPr>
        <p:spPr>
          <a:xfrm>
            <a:off x="685800" y="1737360"/>
            <a:ext cx="4206240" cy="603504"/>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Step 1</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&lt;section class="grid grid-cols-1 gap-4"&gt;</a:t>
            </a:r>
            <a:endParaRPr b="0" i="0" sz="1120" u="none" cap="none" strike="noStrike">
              <a:solidFill>
                <a:schemeClr val="dk1"/>
              </a:solidFill>
              <a:latin typeface="Arial"/>
              <a:ea typeface="Arial"/>
              <a:cs typeface="Arial"/>
              <a:sym typeface="Arial"/>
            </a:endParaRPr>
          </a:p>
        </p:txBody>
      </p:sp>
      <p:sp>
        <p:nvSpPr>
          <p:cNvPr id="487" name="Google Shape;487;p45"/>
          <p:cNvSpPr/>
          <p:nvPr/>
        </p:nvSpPr>
        <p:spPr>
          <a:xfrm>
            <a:off x="685800" y="2560320"/>
            <a:ext cx="4526280" cy="841248"/>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960"/>
              <a:buFont typeface="Courier New"/>
              <a:buNone/>
            </a:pPr>
            <a:r>
              <a:rPr b="0" i="0" lang="en" sz="960" u="none" cap="none" strike="noStrike">
                <a:solidFill>
                  <a:srgbClr val="111827"/>
                </a:solidFill>
                <a:latin typeface="Courier New"/>
                <a:ea typeface="Courier New"/>
                <a:cs typeface="Courier New"/>
                <a:sym typeface="Courier New"/>
              </a:rPr>
              <a:t>Step 2</a:t>
            </a:r>
            <a:endParaRPr b="0" i="0" sz="9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960"/>
              <a:buFont typeface="Courier New"/>
              <a:buNone/>
            </a:pPr>
            <a:r>
              <a:rPr b="0" i="0" lang="en" sz="960" u="none" cap="none" strike="noStrike">
                <a:solidFill>
                  <a:srgbClr val="111827"/>
                </a:solidFill>
                <a:latin typeface="Courier New"/>
                <a:ea typeface="Courier New"/>
                <a:cs typeface="Courier New"/>
                <a:sym typeface="Courier New"/>
              </a:rPr>
              <a:t>&lt;section class="</a:t>
            </a:r>
            <a:endParaRPr b="0" i="0" sz="9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960"/>
              <a:buFont typeface="Courier New"/>
              <a:buNone/>
            </a:pPr>
            <a:r>
              <a:rPr b="0" i="0" lang="en" sz="960" u="none" cap="none" strike="noStrike">
                <a:solidFill>
                  <a:srgbClr val="111827"/>
                </a:solidFill>
                <a:latin typeface="Courier New"/>
                <a:ea typeface="Courier New"/>
                <a:cs typeface="Courier New"/>
                <a:sym typeface="Courier New"/>
              </a:rPr>
              <a:t>  grid grid-cols-1 gap-4</a:t>
            </a:r>
            <a:endParaRPr b="0" i="0" sz="9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960"/>
              <a:buFont typeface="Courier New"/>
              <a:buNone/>
            </a:pPr>
            <a:r>
              <a:rPr b="0" i="0" lang="en" sz="960" u="none" cap="none" strike="noStrike">
                <a:solidFill>
                  <a:srgbClr val="111827"/>
                </a:solidFill>
                <a:latin typeface="Courier New"/>
                <a:ea typeface="Courier New"/>
                <a:cs typeface="Courier New"/>
                <a:sym typeface="Courier New"/>
              </a:rPr>
              <a:t>  md:grid-cols-2</a:t>
            </a:r>
            <a:endParaRPr b="0" i="0" sz="9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960"/>
              <a:buFont typeface="Courier New"/>
              <a:buNone/>
            </a:pPr>
            <a:r>
              <a:rPr b="0" i="0" lang="en" sz="960" u="none" cap="none" strike="noStrike">
                <a:solidFill>
                  <a:srgbClr val="111827"/>
                </a:solidFill>
                <a:latin typeface="Courier New"/>
                <a:ea typeface="Courier New"/>
                <a:cs typeface="Courier New"/>
                <a:sym typeface="Courier New"/>
              </a:rPr>
              <a:t>"&gt;</a:t>
            </a:r>
            <a:endParaRPr b="0" i="0" sz="960" u="none" cap="none" strike="noStrike">
              <a:solidFill>
                <a:schemeClr val="dk1"/>
              </a:solidFill>
              <a:latin typeface="Arial"/>
              <a:ea typeface="Arial"/>
              <a:cs typeface="Arial"/>
              <a:sym typeface="Arial"/>
            </a:endParaRPr>
          </a:p>
        </p:txBody>
      </p:sp>
      <p:sp>
        <p:nvSpPr>
          <p:cNvPr id="488" name="Google Shape;488;p45"/>
          <p:cNvSpPr/>
          <p:nvPr/>
        </p:nvSpPr>
        <p:spPr>
          <a:xfrm>
            <a:off x="5989320" y="1005840"/>
            <a:ext cx="1554480" cy="1417320"/>
          </a:xfrm>
          <a:prstGeom prst="roundRect">
            <a:avLst>
              <a:gd fmla="val 1935"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5"/>
          <p:cNvSpPr/>
          <p:nvPr/>
        </p:nvSpPr>
        <p:spPr>
          <a:xfrm>
            <a:off x="5989320" y="1005840"/>
            <a:ext cx="155448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5"/>
          <p:cNvSpPr/>
          <p:nvPr/>
        </p:nvSpPr>
        <p:spPr>
          <a:xfrm>
            <a:off x="6099048" y="1060704"/>
            <a:ext cx="133502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narrow viewport</a:t>
            </a:r>
            <a:endParaRPr b="0" i="0" sz="850" u="none" cap="none" strike="noStrike">
              <a:solidFill>
                <a:schemeClr val="dk1"/>
              </a:solidFill>
              <a:latin typeface="Arial"/>
              <a:ea typeface="Arial"/>
              <a:cs typeface="Arial"/>
              <a:sym typeface="Arial"/>
            </a:endParaRPr>
          </a:p>
        </p:txBody>
      </p:sp>
      <p:sp>
        <p:nvSpPr>
          <p:cNvPr id="491" name="Google Shape;491;p45"/>
          <p:cNvSpPr/>
          <p:nvPr/>
        </p:nvSpPr>
        <p:spPr>
          <a:xfrm>
            <a:off x="6144768" y="1371600"/>
            <a:ext cx="114300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92" name="Google Shape;492;p45"/>
          <p:cNvSpPr/>
          <p:nvPr/>
        </p:nvSpPr>
        <p:spPr>
          <a:xfrm>
            <a:off x="6144768" y="1691640"/>
            <a:ext cx="114300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93" name="Google Shape;493;p45"/>
          <p:cNvSpPr/>
          <p:nvPr/>
        </p:nvSpPr>
        <p:spPr>
          <a:xfrm>
            <a:off x="6144768" y="2011680"/>
            <a:ext cx="114300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94" name="Google Shape;494;p45"/>
          <p:cNvSpPr/>
          <p:nvPr/>
        </p:nvSpPr>
        <p:spPr>
          <a:xfrm>
            <a:off x="5623560" y="2788920"/>
            <a:ext cx="2377440" cy="1097280"/>
          </a:xfrm>
          <a:prstGeom prst="roundRect">
            <a:avLst>
              <a:gd fmla="val 25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5"/>
          <p:cNvSpPr/>
          <p:nvPr/>
        </p:nvSpPr>
        <p:spPr>
          <a:xfrm>
            <a:off x="5623560" y="2788920"/>
            <a:ext cx="237744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5"/>
          <p:cNvSpPr/>
          <p:nvPr/>
        </p:nvSpPr>
        <p:spPr>
          <a:xfrm>
            <a:off x="5733288" y="2843784"/>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md and wider</a:t>
            </a:r>
            <a:endParaRPr b="0" i="0" sz="850" u="none" cap="none" strike="noStrike">
              <a:solidFill>
                <a:schemeClr val="dk1"/>
              </a:solidFill>
              <a:latin typeface="Arial"/>
              <a:ea typeface="Arial"/>
              <a:cs typeface="Arial"/>
              <a:sym typeface="Arial"/>
            </a:endParaRPr>
          </a:p>
        </p:txBody>
      </p:sp>
      <p:sp>
        <p:nvSpPr>
          <p:cNvPr id="497" name="Google Shape;497;p45"/>
          <p:cNvSpPr/>
          <p:nvPr/>
        </p:nvSpPr>
        <p:spPr>
          <a:xfrm>
            <a:off x="5806440" y="3172968"/>
            <a:ext cx="86868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98" name="Google Shape;498;p45"/>
          <p:cNvSpPr/>
          <p:nvPr/>
        </p:nvSpPr>
        <p:spPr>
          <a:xfrm>
            <a:off x="6903720" y="3172968"/>
            <a:ext cx="86868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499" name="Google Shape;499;p45"/>
          <p:cNvSpPr/>
          <p:nvPr/>
        </p:nvSpPr>
        <p:spPr>
          <a:xfrm>
            <a:off x="5806440" y="3520440"/>
            <a:ext cx="86868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500" name="Google Shape;500;p45"/>
          <p:cNvSpPr/>
          <p:nvPr/>
        </p:nvSpPr>
        <p:spPr>
          <a:xfrm>
            <a:off x="6903720" y="3520440"/>
            <a:ext cx="86868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Card</a:t>
            </a:r>
            <a:endParaRPr b="0" i="0" sz="700" u="none" cap="none" strike="noStrike">
              <a:solidFill>
                <a:schemeClr val="dk1"/>
              </a:solidFill>
              <a:latin typeface="Arial"/>
              <a:ea typeface="Arial"/>
              <a:cs typeface="Arial"/>
              <a:sym typeface="Arial"/>
            </a:endParaRPr>
          </a:p>
        </p:txBody>
      </p:sp>
      <p:sp>
        <p:nvSpPr>
          <p:cNvPr id="501" name="Google Shape;501;p45"/>
          <p:cNvSpPr/>
          <p:nvPr/>
        </p:nvSpPr>
        <p:spPr>
          <a:xfrm>
            <a:off x="685800" y="4160520"/>
            <a:ext cx="740664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350"/>
              <a:buFont typeface="Arial"/>
              <a:buNone/>
            </a:pPr>
            <a:r>
              <a:rPr b="1" i="0" lang="en" sz="1350" u="none" cap="none" strike="noStrike">
                <a:solidFill>
                  <a:srgbClr val="334155"/>
                </a:solidFill>
                <a:latin typeface="Arial"/>
                <a:ea typeface="Arial"/>
                <a:cs typeface="Arial"/>
                <a:sym typeface="Arial"/>
              </a:rPr>
              <a:t>gap-4 remains active at both widths.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6"/>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Change Flexbox direction at md</a:t>
            </a:r>
            <a:endParaRPr b="0" i="0" sz="2100" u="none" cap="none" strike="noStrike">
              <a:solidFill>
                <a:schemeClr val="dk1"/>
              </a:solidFill>
              <a:latin typeface="Arial"/>
              <a:ea typeface="Arial"/>
              <a:cs typeface="Arial"/>
              <a:sym typeface="Arial"/>
            </a:endParaRPr>
          </a:p>
        </p:txBody>
      </p:sp>
      <p:sp>
        <p:nvSpPr>
          <p:cNvPr id="508" name="Google Shape;508;p46"/>
          <p:cNvSpPr/>
          <p:nvPr/>
        </p:nvSpPr>
        <p:spPr>
          <a:xfrm>
            <a:off x="685800" y="822960"/>
            <a:ext cx="758952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20"/>
              <a:buFont typeface="Arial"/>
              <a:buNone/>
            </a:pPr>
            <a:r>
              <a:rPr b="0" i="0" lang="en" sz="1420" u="none" cap="none" strike="noStrike">
                <a:solidFill>
                  <a:srgbClr val="111827"/>
                </a:solidFill>
                <a:latin typeface="Arial"/>
                <a:ea typeface="Arial"/>
                <a:cs typeface="Arial"/>
                <a:sym typeface="Arial"/>
              </a:rPr>
              <a:t>A page heading can stack on narrow screens and move into a row on wider screens.</a:t>
            </a:r>
            <a:endParaRPr b="0" i="0" sz="1420" u="none" cap="none" strike="noStrike">
              <a:solidFill>
                <a:schemeClr val="dk1"/>
              </a:solidFill>
              <a:latin typeface="Arial"/>
              <a:ea typeface="Arial"/>
              <a:cs typeface="Arial"/>
              <a:sym typeface="Arial"/>
            </a:endParaRPr>
          </a:p>
        </p:txBody>
      </p:sp>
      <p:sp>
        <p:nvSpPr>
          <p:cNvPr id="509" name="Google Shape;509;p46"/>
          <p:cNvSpPr/>
          <p:nvPr/>
        </p:nvSpPr>
        <p:spPr>
          <a:xfrm>
            <a:off x="822960" y="1417320"/>
            <a:ext cx="2194560" cy="182880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Base layout</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flex</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flex-col</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gap-4</a:t>
            </a:r>
            <a:endParaRPr b="0" i="0" sz="1400" u="none" cap="none" strike="noStrike">
              <a:solidFill>
                <a:schemeClr val="dk1"/>
              </a:solidFill>
              <a:latin typeface="Arial"/>
              <a:ea typeface="Arial"/>
              <a:cs typeface="Arial"/>
              <a:sym typeface="Arial"/>
            </a:endParaRPr>
          </a:p>
        </p:txBody>
      </p:sp>
      <p:sp>
        <p:nvSpPr>
          <p:cNvPr id="510" name="Google Shape;510;p46"/>
          <p:cNvSpPr/>
          <p:nvPr/>
        </p:nvSpPr>
        <p:spPr>
          <a:xfrm>
            <a:off x="3429000" y="1417320"/>
            <a:ext cx="2651760" cy="1828800"/>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Wider-layout changes</a:t>
            </a:r>
            <a:endParaRPr b="0" i="0" sz="135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md:flex-row</a:t>
            </a:r>
            <a:endParaRPr b="0" i="0" sz="13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md:items-center</a:t>
            </a:r>
            <a:endParaRPr b="0" i="0" sz="13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md:justify-between</a:t>
            </a:r>
            <a:endParaRPr b="0" i="0" sz="1350" u="none" cap="none" strike="noStrike">
              <a:solidFill>
                <a:schemeClr val="dk1"/>
              </a:solidFill>
              <a:latin typeface="Arial"/>
              <a:ea typeface="Arial"/>
              <a:cs typeface="Arial"/>
              <a:sym typeface="Arial"/>
            </a:endParaRPr>
          </a:p>
        </p:txBody>
      </p:sp>
      <p:sp>
        <p:nvSpPr>
          <p:cNvPr id="511" name="Google Shape;511;p46"/>
          <p:cNvSpPr/>
          <p:nvPr/>
        </p:nvSpPr>
        <p:spPr>
          <a:xfrm>
            <a:off x="822960" y="3657600"/>
            <a:ext cx="7223760" cy="566928"/>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class="flex flex-col gap-4</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Courier New"/>
              <a:buNone/>
            </a:pPr>
            <a:r>
              <a:rPr b="0" i="0" lang="en" sz="1120" u="none" cap="none" strike="noStrike">
                <a:solidFill>
                  <a:srgbClr val="111827"/>
                </a:solidFill>
                <a:latin typeface="Courier New"/>
                <a:ea typeface="Courier New"/>
                <a:cs typeface="Courier New"/>
                <a:sym typeface="Courier New"/>
              </a:rPr>
              <a:t>       md:flex-row md:items-center md:justify-between"</a:t>
            </a:r>
            <a:endParaRPr b="0" i="0" sz="1120" u="none" cap="none" strike="noStrike">
              <a:solidFill>
                <a:schemeClr val="dk1"/>
              </a:solidFill>
              <a:latin typeface="Arial"/>
              <a:ea typeface="Arial"/>
              <a:cs typeface="Arial"/>
              <a:sym typeface="Arial"/>
            </a:endParaRPr>
          </a:p>
        </p:txBody>
      </p:sp>
      <p:sp>
        <p:nvSpPr>
          <p:cNvPr id="512" name="Google Shape;512;p46"/>
          <p:cNvSpPr/>
          <p:nvPr/>
        </p:nvSpPr>
        <p:spPr>
          <a:xfrm>
            <a:off x="822960" y="4343400"/>
            <a:ext cx="7132320" cy="22860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334155"/>
              </a:buClr>
              <a:buSzPts val="1280"/>
              <a:buFont typeface="Arial"/>
              <a:buNone/>
            </a:pPr>
            <a:r>
              <a:rPr b="1" i="0" lang="en" sz="1280" u="none" cap="none" strike="noStrike">
                <a:solidFill>
                  <a:srgbClr val="334155"/>
                </a:solidFill>
                <a:latin typeface="Arial"/>
                <a:ea typeface="Arial"/>
                <a:cs typeface="Arial"/>
                <a:sym typeface="Arial"/>
              </a:rPr>
              <a:t>Changing direction changes how the main axis and cross axis are read.</a:t>
            </a:r>
            <a:endParaRPr b="0" i="0" sz="128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7"/>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Checkpoint: Predict the responsive layout</a:t>
            </a:r>
            <a:endParaRPr b="0" i="0" sz="2100" u="none" cap="none" strike="noStrike">
              <a:solidFill>
                <a:schemeClr val="dk1"/>
              </a:solidFill>
              <a:latin typeface="Arial"/>
              <a:ea typeface="Arial"/>
              <a:cs typeface="Arial"/>
              <a:sym typeface="Arial"/>
            </a:endParaRPr>
          </a:p>
        </p:txBody>
      </p:sp>
      <p:sp>
        <p:nvSpPr>
          <p:cNvPr id="519" name="Google Shape;519;p47"/>
          <p:cNvSpPr/>
          <p:nvPr/>
        </p:nvSpPr>
        <p:spPr>
          <a:xfrm>
            <a:off x="685800" y="868675"/>
            <a:ext cx="6446400" cy="8229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120"/>
              <a:buFont typeface="Courier New"/>
              <a:buNone/>
            </a:pPr>
            <a:r>
              <a:rPr b="0" i="0" lang="en" sz="1120" u="none" cap="none" strike="noStrike">
                <a:solidFill>
                  <a:srgbClr val="FFFFFF"/>
                </a:solidFill>
                <a:latin typeface="Courier New"/>
                <a:ea typeface="Courier New"/>
                <a:cs typeface="Courier New"/>
                <a:sym typeface="Courier New"/>
              </a:rPr>
              <a:t>&lt;section class="grid grid-cols-1 gap-4 md:grid-cols-2"&gt;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20"/>
              <a:buFont typeface="Courier New"/>
              <a:buNone/>
            </a:pPr>
            <a:r>
              <a:rPr b="0" i="0" lang="en" sz="1120" u="none" cap="none" strike="noStrike">
                <a:solidFill>
                  <a:srgbClr val="FFFFFF"/>
                </a:solidFill>
                <a:latin typeface="Courier New"/>
                <a:ea typeface="Courier New"/>
                <a:cs typeface="Courier New"/>
                <a:sym typeface="Courier New"/>
              </a:rPr>
              <a:t>  ...</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20"/>
              <a:buFont typeface="Courier New"/>
              <a:buNone/>
            </a:pPr>
            <a:r>
              <a:rPr b="0" i="0" lang="en" sz="1120" u="none" cap="none" strike="noStrike">
                <a:solidFill>
                  <a:srgbClr val="FFFFFF"/>
                </a:solidFill>
                <a:latin typeface="Courier New"/>
                <a:ea typeface="Courier New"/>
                <a:cs typeface="Courier New"/>
                <a:sym typeface="Courier New"/>
              </a:rPr>
              <a:t>&lt;/section&gt;</a:t>
            </a:r>
            <a:endParaRPr b="0" i="0" sz="1120" u="none" cap="none" strike="noStrike">
              <a:solidFill>
                <a:schemeClr val="dk1"/>
              </a:solidFill>
              <a:latin typeface="Arial"/>
              <a:ea typeface="Arial"/>
              <a:cs typeface="Arial"/>
              <a:sym typeface="Arial"/>
            </a:endParaRPr>
          </a:p>
        </p:txBody>
      </p:sp>
      <p:sp>
        <p:nvSpPr>
          <p:cNvPr id="520" name="Google Shape;520;p47"/>
          <p:cNvSpPr/>
          <p:nvPr/>
        </p:nvSpPr>
        <p:spPr>
          <a:xfrm>
            <a:off x="685800" y="1920240"/>
            <a:ext cx="402336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What layout appears at each viewport?</a:t>
            </a:r>
            <a:endParaRPr b="0" i="0" sz="1500" u="none" cap="none" strike="noStrike">
              <a:solidFill>
                <a:schemeClr val="dk1"/>
              </a:solidFill>
              <a:latin typeface="Arial"/>
              <a:ea typeface="Arial"/>
              <a:cs typeface="Arial"/>
              <a:sym typeface="Arial"/>
            </a:endParaRPr>
          </a:p>
        </p:txBody>
      </p:sp>
      <p:sp>
        <p:nvSpPr>
          <p:cNvPr id="521" name="Google Shape;521;p47"/>
          <p:cNvSpPr/>
          <p:nvPr/>
        </p:nvSpPr>
        <p:spPr>
          <a:xfrm>
            <a:off x="685800" y="2423160"/>
            <a:ext cx="7680960" cy="128016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270"/>
              <a:buFont typeface="Arial"/>
              <a:buNone/>
            </a:pPr>
            <a:r>
              <a:rPr b="0" i="0" lang="en" sz="1270" u="none" cap="none" strike="noStrike">
                <a:solidFill>
                  <a:srgbClr val="111827"/>
                </a:solidFill>
                <a:latin typeface="Arial"/>
                <a:ea typeface="Arial"/>
                <a:cs typeface="Arial"/>
                <a:sym typeface="Arial"/>
              </a:rPr>
              <a:t>A. </a:t>
            </a:r>
            <a:r>
              <a:rPr lang="en" sz="1270">
                <a:solidFill>
                  <a:srgbClr val="111827"/>
                </a:solidFill>
              </a:rPr>
              <a:t>The layout changes only at exactly 768px</a:t>
            </a:r>
            <a:endParaRPr b="0" i="0" sz="12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70"/>
              <a:buFont typeface="Arial"/>
              <a:buNone/>
            </a:pPr>
            <a:r>
              <a:rPr b="0" i="0" lang="en" sz="1270" u="none" cap="none" strike="noStrike">
                <a:solidFill>
                  <a:srgbClr val="111827"/>
                </a:solidFill>
                <a:latin typeface="Arial"/>
                <a:ea typeface="Arial"/>
                <a:cs typeface="Arial"/>
                <a:sym typeface="Arial"/>
              </a:rPr>
              <a:t>B. Narrow: two columns; md and wider: one column</a:t>
            </a:r>
            <a:endParaRPr b="0" i="0" sz="12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70"/>
              <a:buFont typeface="Arial"/>
              <a:buNone/>
            </a:pPr>
            <a:r>
              <a:rPr b="0" i="0" lang="en" sz="1270" u="none" cap="none" strike="noStrike">
                <a:solidFill>
                  <a:srgbClr val="111827"/>
                </a:solidFill>
                <a:latin typeface="Arial"/>
                <a:ea typeface="Arial"/>
                <a:cs typeface="Arial"/>
                <a:sym typeface="Arial"/>
              </a:rPr>
              <a:t>C. Narrow: no Grid layout; md and wider: two columns</a:t>
            </a:r>
            <a:endParaRPr b="0" i="0" sz="12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70"/>
              <a:buFont typeface="Arial"/>
              <a:buNone/>
            </a:pPr>
            <a:r>
              <a:rPr b="0" i="0" lang="en" sz="1270" u="none" cap="none" strike="noStrike">
                <a:solidFill>
                  <a:srgbClr val="111827"/>
                </a:solidFill>
                <a:latin typeface="Arial"/>
                <a:ea typeface="Arial"/>
                <a:cs typeface="Arial"/>
                <a:sym typeface="Arial"/>
              </a:rPr>
              <a:t>D. </a:t>
            </a:r>
            <a:r>
              <a:rPr lang="en" sz="1270">
                <a:solidFill>
                  <a:srgbClr val="111827"/>
                </a:solidFill>
              </a:rPr>
              <a:t>Narrow: one column; md and wider: two columns</a:t>
            </a:r>
            <a:endParaRPr b="0" i="0" sz="1270" u="none" cap="none" strike="noStrike">
              <a:solidFill>
                <a:schemeClr val="dk1"/>
              </a:solidFill>
              <a:latin typeface="Arial"/>
              <a:ea typeface="Arial"/>
              <a:cs typeface="Arial"/>
              <a:sym typeface="Arial"/>
            </a:endParaRPr>
          </a:p>
        </p:txBody>
      </p:sp>
      <p:sp>
        <p:nvSpPr>
          <p:cNvPr id="522" name="Google Shape;522;p47"/>
          <p:cNvSpPr/>
          <p:nvPr/>
        </p:nvSpPr>
        <p:spPr>
          <a:xfrm>
            <a:off x="548650" y="4067160"/>
            <a:ext cx="38406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D</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8"/>
          <p:cNvSpPr/>
          <p:nvPr/>
        </p:nvSpPr>
        <p:spPr>
          <a:xfrm>
            <a:off x="658368" y="2157984"/>
            <a:ext cx="7406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500"/>
              <a:buFont typeface="Arial"/>
              <a:buNone/>
            </a:pPr>
            <a:r>
              <a:rPr b="1" i="0" lang="en" sz="2500" u="none" cap="none" strike="noStrike">
                <a:solidFill>
                  <a:srgbClr val="111827"/>
                </a:solidFill>
                <a:latin typeface="Arial"/>
                <a:ea typeface="Arial"/>
                <a:cs typeface="Arial"/>
                <a:sym typeface="Arial"/>
              </a:rPr>
              <a:t>Combining Flexbox and Grid</a:t>
            </a:r>
            <a:endParaRPr b="0" i="0" sz="2500" u="none" cap="none" strike="noStrike">
              <a:solidFill>
                <a:schemeClr val="dk1"/>
              </a:solidFill>
              <a:latin typeface="Arial"/>
              <a:ea typeface="Arial"/>
              <a:cs typeface="Arial"/>
              <a:sym typeface="Arial"/>
            </a:endParaRPr>
          </a:p>
        </p:txBody>
      </p:sp>
      <p:sp>
        <p:nvSpPr>
          <p:cNvPr id="529" name="Google Shape;529;p48"/>
          <p:cNvSpPr/>
          <p:nvPr/>
        </p:nvSpPr>
        <p:spPr>
          <a:xfrm>
            <a:off x="658368" y="2642616"/>
            <a:ext cx="7406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400"/>
              <a:buFont typeface="Arial"/>
              <a:buNone/>
            </a:pPr>
            <a:r>
              <a:rPr b="0" i="0" lang="en" sz="1400" u="none" cap="none" strike="noStrike">
                <a:solidFill>
                  <a:srgbClr val="4B5563"/>
                </a:solidFill>
                <a:latin typeface="Arial"/>
                <a:ea typeface="Arial"/>
                <a:cs typeface="Arial"/>
                <a:sym typeface="Arial"/>
              </a:rPr>
              <a:t>Use each layout system where its local requirement fits.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9"/>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Use Grid outside and Flexbox inside</a:t>
            </a:r>
            <a:endParaRPr b="0" i="0" sz="2100" u="none" cap="none" strike="noStrike">
              <a:solidFill>
                <a:schemeClr val="dk1"/>
              </a:solidFill>
              <a:latin typeface="Arial"/>
              <a:ea typeface="Arial"/>
              <a:cs typeface="Arial"/>
              <a:sym typeface="Arial"/>
            </a:endParaRPr>
          </a:p>
        </p:txBody>
      </p:sp>
      <p:sp>
        <p:nvSpPr>
          <p:cNvPr id="536" name="Google Shape;536;p49"/>
          <p:cNvSpPr/>
          <p:nvPr/>
        </p:nvSpPr>
        <p:spPr>
          <a:xfrm>
            <a:off x="594360" y="841248"/>
            <a:ext cx="4572000" cy="265176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&lt;section class="grid grid-cols-1 gap-4 md:grid-cols-2"&gt;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&lt;article&gt;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&lt;div class="flex items-center justify-between"&gt;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&lt;h2&gt;Visual Studio Code&lt;/h2&gt;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&lt;span&gt;Installed&lt;/span&gt;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&lt;/div&gt;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&lt;p&gt;Edit and debug source code.&lt;/p&gt;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  &lt;/article&gt;</a:t>
            </a:r>
            <a:endParaRPr b="0" i="0" sz="9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939"/>
              <a:buFont typeface="Courier New"/>
              <a:buNone/>
            </a:pPr>
            <a:r>
              <a:rPr b="0" i="0" lang="en" sz="940" u="none" cap="none" strike="noStrike">
                <a:solidFill>
                  <a:srgbClr val="FFFFFF"/>
                </a:solidFill>
                <a:latin typeface="Courier New"/>
                <a:ea typeface="Courier New"/>
                <a:cs typeface="Courier New"/>
                <a:sym typeface="Courier New"/>
              </a:rPr>
              <a:t>&lt;/section&gt;</a:t>
            </a:r>
            <a:endParaRPr b="0" i="0" sz="940" u="none" cap="none" strike="noStrike">
              <a:solidFill>
                <a:schemeClr val="dk1"/>
              </a:solidFill>
              <a:latin typeface="Arial"/>
              <a:ea typeface="Arial"/>
              <a:cs typeface="Arial"/>
              <a:sym typeface="Arial"/>
            </a:endParaRPr>
          </a:p>
        </p:txBody>
      </p:sp>
      <p:sp>
        <p:nvSpPr>
          <p:cNvPr id="537" name="Google Shape;537;p49"/>
          <p:cNvSpPr/>
          <p:nvPr/>
        </p:nvSpPr>
        <p:spPr>
          <a:xfrm>
            <a:off x="5532120" y="960120"/>
            <a:ext cx="2560320" cy="640080"/>
          </a:xfrm>
          <a:prstGeom prst="rect">
            <a:avLst/>
          </a:prstGeom>
          <a:solidFill>
            <a:srgbClr val="F5F3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Outer container</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Grid arranges the card collection</a:t>
            </a:r>
            <a:endParaRPr b="0" i="0" sz="1100" u="none" cap="none" strike="noStrike">
              <a:solidFill>
                <a:schemeClr val="dk1"/>
              </a:solidFill>
              <a:latin typeface="Arial"/>
              <a:ea typeface="Arial"/>
              <a:cs typeface="Arial"/>
              <a:sym typeface="Arial"/>
            </a:endParaRPr>
          </a:p>
        </p:txBody>
      </p:sp>
      <p:sp>
        <p:nvSpPr>
          <p:cNvPr id="538" name="Google Shape;538;p49"/>
          <p:cNvSpPr/>
          <p:nvPr/>
        </p:nvSpPr>
        <p:spPr>
          <a:xfrm>
            <a:off x="5532120" y="1874520"/>
            <a:ext cx="2560320" cy="64008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Inner container</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Flexbox arranges title and status</a:t>
            </a:r>
            <a:endParaRPr b="0" i="0" sz="1100" u="none" cap="none" strike="noStrike">
              <a:solidFill>
                <a:schemeClr val="dk1"/>
              </a:solidFill>
              <a:latin typeface="Arial"/>
              <a:ea typeface="Arial"/>
              <a:cs typeface="Arial"/>
              <a:sym typeface="Arial"/>
            </a:endParaRPr>
          </a:p>
        </p:txBody>
      </p:sp>
      <p:sp>
        <p:nvSpPr>
          <p:cNvPr id="539" name="Google Shape;539;p49"/>
          <p:cNvSpPr/>
          <p:nvPr/>
        </p:nvSpPr>
        <p:spPr>
          <a:xfrm>
            <a:off x="5394960" y="2971800"/>
            <a:ext cx="2834640" cy="1143000"/>
          </a:xfrm>
          <a:prstGeom prst="rect">
            <a:avLst/>
          </a:prstGeom>
          <a:solidFill>
            <a:srgbClr val="000000">
              <a:alpha val="0"/>
            </a:srgbClr>
          </a:solidFill>
          <a:ln cap="flat" cmpd="sng" w="165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9"/>
          <p:cNvSpPr/>
          <p:nvPr/>
        </p:nvSpPr>
        <p:spPr>
          <a:xfrm>
            <a:off x="6355080" y="2761488"/>
            <a:ext cx="1097280" cy="18288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7C3AED"/>
              </a:buClr>
              <a:buSzPts val="1000"/>
              <a:buFont typeface="Arial"/>
              <a:buNone/>
            </a:pPr>
            <a:r>
              <a:rPr b="0" i="0" lang="en" sz="1000" u="none" cap="none" strike="noStrike">
                <a:solidFill>
                  <a:srgbClr val="7C3AED"/>
                </a:solidFill>
                <a:latin typeface="Arial"/>
                <a:ea typeface="Arial"/>
                <a:cs typeface="Arial"/>
                <a:sym typeface="Arial"/>
              </a:rPr>
              <a:t>Grid container</a:t>
            </a:r>
            <a:endParaRPr b="0" i="0" sz="1000" u="none" cap="none" strike="noStrike">
              <a:solidFill>
                <a:schemeClr val="dk1"/>
              </a:solidFill>
              <a:latin typeface="Arial"/>
              <a:ea typeface="Arial"/>
              <a:cs typeface="Arial"/>
              <a:sym typeface="Arial"/>
            </a:endParaRPr>
          </a:p>
        </p:txBody>
      </p:sp>
      <p:sp>
        <p:nvSpPr>
          <p:cNvPr id="541" name="Google Shape;541;p49"/>
          <p:cNvSpPr/>
          <p:nvPr/>
        </p:nvSpPr>
        <p:spPr>
          <a:xfrm>
            <a:off x="5623560" y="3246120"/>
            <a:ext cx="1005840" cy="59436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Card</a:t>
            </a:r>
            <a:endParaRPr b="0" i="0" sz="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flex row inside</a:t>
            </a:r>
            <a:endParaRPr b="0" i="0" sz="800" u="none" cap="none" strike="noStrike">
              <a:solidFill>
                <a:schemeClr val="dk1"/>
              </a:solidFill>
              <a:latin typeface="Arial"/>
              <a:ea typeface="Arial"/>
              <a:cs typeface="Arial"/>
              <a:sym typeface="Arial"/>
            </a:endParaRPr>
          </a:p>
        </p:txBody>
      </p:sp>
      <p:sp>
        <p:nvSpPr>
          <p:cNvPr id="542" name="Google Shape;542;p49"/>
          <p:cNvSpPr/>
          <p:nvPr/>
        </p:nvSpPr>
        <p:spPr>
          <a:xfrm>
            <a:off x="6903720" y="3246120"/>
            <a:ext cx="1005840" cy="59436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Card</a:t>
            </a:r>
            <a:endParaRPr b="0" i="0" sz="1100" u="none" cap="none" strike="noStrike">
              <a:solidFill>
                <a:schemeClr val="dk1"/>
              </a:solidFill>
              <a:latin typeface="Arial"/>
              <a:ea typeface="Arial"/>
              <a:cs typeface="Arial"/>
              <a:sym typeface="Arial"/>
            </a:endParaRPr>
          </a:p>
        </p:txBody>
      </p:sp>
      <p:sp>
        <p:nvSpPr>
          <p:cNvPr id="543" name="Google Shape;543;p49"/>
          <p:cNvSpPr/>
          <p:nvPr/>
        </p:nvSpPr>
        <p:spPr>
          <a:xfrm>
            <a:off x="685800" y="4343400"/>
            <a:ext cx="7680960" cy="22860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334155"/>
              </a:buClr>
              <a:buSzPts val="1350"/>
              <a:buFont typeface="Arial"/>
              <a:buNone/>
            </a:pPr>
            <a:r>
              <a:rPr b="1" i="0" lang="en" sz="1350" u="none" cap="none" strike="noStrike">
                <a:solidFill>
                  <a:srgbClr val="334155"/>
                </a:solidFill>
                <a:latin typeface="Arial"/>
                <a:ea typeface="Arial"/>
                <a:cs typeface="Arial"/>
                <a:sym typeface="Arial"/>
              </a:rPr>
              <a:t>The layout systems are applied to different elements.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0"/>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Trace the completed catalog layout</a:t>
            </a:r>
            <a:endParaRPr b="0" i="0" sz="2100" u="none" cap="none" strike="noStrike">
              <a:solidFill>
                <a:schemeClr val="dk1"/>
              </a:solidFill>
              <a:latin typeface="Arial"/>
              <a:ea typeface="Arial"/>
              <a:cs typeface="Arial"/>
              <a:sym typeface="Arial"/>
            </a:endParaRPr>
          </a:p>
        </p:txBody>
      </p:sp>
      <p:sp>
        <p:nvSpPr>
          <p:cNvPr id="550" name="Google Shape;550;p50"/>
          <p:cNvSpPr/>
          <p:nvPr/>
        </p:nvSpPr>
        <p:spPr>
          <a:xfrm>
            <a:off x="685800" y="868680"/>
            <a:ext cx="3566160" cy="214884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&lt;section class="grid ..."&gt;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&lt;article&gt;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&lt;div class="flex ..."&gt;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&lt;h2&gt;...&lt;/h2&gt;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&lt;span&gt;...&lt;/span&gt;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&lt;/div&gt;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&lt;p&gt;...&lt;/p&gt;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  &lt;/article&gt;</a:t>
            </a:r>
            <a:endParaRPr b="0" i="0" sz="10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50"/>
              <a:buFont typeface="Courier New"/>
              <a:buNone/>
            </a:pPr>
            <a:r>
              <a:rPr b="0" i="0" lang="en" sz="1050" u="none" cap="none" strike="noStrike">
                <a:solidFill>
                  <a:srgbClr val="FFFFFF"/>
                </a:solidFill>
                <a:latin typeface="Courier New"/>
                <a:ea typeface="Courier New"/>
                <a:cs typeface="Courier New"/>
                <a:sym typeface="Courier New"/>
              </a:rPr>
              <a:t>&lt;/section&gt;</a:t>
            </a:r>
            <a:endParaRPr b="0" i="0" sz="1050" u="none" cap="none" strike="noStrike">
              <a:solidFill>
                <a:schemeClr val="dk1"/>
              </a:solidFill>
              <a:latin typeface="Arial"/>
              <a:ea typeface="Arial"/>
              <a:cs typeface="Arial"/>
              <a:sym typeface="Arial"/>
            </a:endParaRPr>
          </a:p>
        </p:txBody>
      </p:sp>
      <p:sp>
        <p:nvSpPr>
          <p:cNvPr id="551" name="Google Shape;551;p50"/>
          <p:cNvSpPr/>
          <p:nvPr/>
        </p:nvSpPr>
        <p:spPr>
          <a:xfrm>
            <a:off x="4572000" y="914400"/>
            <a:ext cx="3657600" cy="1417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1. Which element controls the arrangement of the cards?</a:t>
            </a:r>
            <a:endParaRPr b="0" i="0" sz="13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2. Which element controls the tool name and status?</a:t>
            </a:r>
            <a:endParaRPr b="0" i="0" sz="13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3. Which elements are Grid items?</a:t>
            </a:r>
            <a:endParaRPr b="0" i="0" sz="13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4. Which elements are Flex items?</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1"/>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Checkpoint: Choose the layout containers</a:t>
            </a:r>
            <a:endParaRPr b="0" i="0" sz="2100" u="none" cap="none" strike="noStrike">
              <a:solidFill>
                <a:schemeClr val="dk1"/>
              </a:solidFill>
              <a:latin typeface="Arial"/>
              <a:ea typeface="Arial"/>
              <a:cs typeface="Arial"/>
              <a:sym typeface="Arial"/>
            </a:endParaRPr>
          </a:p>
        </p:txBody>
      </p:sp>
      <p:sp>
        <p:nvSpPr>
          <p:cNvPr id="558" name="Google Shape;558;p51"/>
          <p:cNvSpPr/>
          <p:nvPr/>
        </p:nvSpPr>
        <p:spPr>
          <a:xfrm>
            <a:off x="594360" y="749808"/>
            <a:ext cx="8046720" cy="5029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280"/>
              <a:buFont typeface="Arial"/>
              <a:buNone/>
            </a:pPr>
            <a:r>
              <a:rPr b="1" i="0" lang="en" sz="1280" u="none" cap="none" strike="noStrike">
                <a:solidFill>
                  <a:srgbClr val="111827"/>
                </a:solidFill>
                <a:latin typeface="Arial"/>
                <a:ea typeface="Arial"/>
                <a:cs typeface="Arial"/>
                <a:sym typeface="Arial"/>
              </a:rPr>
              <a:t>A resource library needs one card per row on narrow screens, two cards per row at md and wider, and the resource title and file type on opposite ends of one row.</a:t>
            </a:r>
            <a:endParaRPr b="0" i="0" sz="1280" u="none" cap="none" strike="noStrike">
              <a:solidFill>
                <a:schemeClr val="dk1"/>
              </a:solidFill>
              <a:latin typeface="Arial"/>
              <a:ea typeface="Arial"/>
              <a:cs typeface="Arial"/>
              <a:sym typeface="Arial"/>
            </a:endParaRPr>
          </a:p>
        </p:txBody>
      </p:sp>
      <p:sp>
        <p:nvSpPr>
          <p:cNvPr id="559" name="Google Shape;559;p51"/>
          <p:cNvSpPr/>
          <p:nvPr/>
        </p:nvSpPr>
        <p:spPr>
          <a:xfrm>
            <a:off x="594360" y="1307592"/>
            <a:ext cx="73152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Which option places the layout classes correctly?</a:t>
            </a:r>
            <a:endParaRPr b="0" i="0" sz="1400" u="none" cap="none" strike="noStrike">
              <a:solidFill>
                <a:schemeClr val="dk1"/>
              </a:solidFill>
              <a:latin typeface="Arial"/>
              <a:ea typeface="Arial"/>
              <a:cs typeface="Arial"/>
              <a:sym typeface="Arial"/>
            </a:endParaRPr>
          </a:p>
        </p:txBody>
      </p:sp>
      <p:sp>
        <p:nvSpPr>
          <p:cNvPr id="560" name="Google Shape;560;p51"/>
          <p:cNvSpPr/>
          <p:nvPr/>
        </p:nvSpPr>
        <p:spPr>
          <a:xfrm>
            <a:off x="685800" y="1691640"/>
            <a:ext cx="256032" cy="256032"/>
          </a:xfrm>
          <a:prstGeom prst="rect">
            <a:avLst/>
          </a:prstGeom>
          <a:solidFill>
            <a:srgbClr val="2563EB"/>
          </a:solidFill>
          <a:ln cap="flat" cmpd="sng" w="9525">
            <a:solidFill>
              <a:srgbClr val="2563EB"/>
            </a:solidFill>
            <a:prstDash val="solid"/>
            <a:round/>
            <a:headEnd len="sm" w="sm" type="none"/>
            <a:tailEnd len="sm" w="sm" type="none"/>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A</a:t>
            </a:r>
            <a:endParaRPr b="0" i="0" sz="1200" u="none" cap="none" strike="noStrike">
              <a:solidFill>
                <a:schemeClr val="dk1"/>
              </a:solidFill>
              <a:latin typeface="Arial"/>
              <a:ea typeface="Arial"/>
              <a:cs typeface="Arial"/>
              <a:sym typeface="Arial"/>
            </a:endParaRPr>
          </a:p>
        </p:txBody>
      </p:sp>
      <p:sp>
        <p:nvSpPr>
          <p:cNvPr id="561" name="Google Shape;561;p51"/>
          <p:cNvSpPr/>
          <p:nvPr/>
        </p:nvSpPr>
        <p:spPr>
          <a:xfrm>
            <a:off x="1005840" y="1691640"/>
            <a:ext cx="141732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Element</a:t>
            </a:r>
            <a:endParaRPr b="0" i="0" sz="840" u="none" cap="none" strike="noStrike">
              <a:solidFill>
                <a:schemeClr val="dk1"/>
              </a:solidFill>
              <a:latin typeface="Arial"/>
              <a:ea typeface="Arial"/>
              <a:cs typeface="Arial"/>
              <a:sym typeface="Arial"/>
            </a:endParaRPr>
          </a:p>
        </p:txBody>
      </p:sp>
      <p:sp>
        <p:nvSpPr>
          <p:cNvPr id="562" name="Google Shape;562;p51"/>
          <p:cNvSpPr/>
          <p:nvPr/>
        </p:nvSpPr>
        <p:spPr>
          <a:xfrm>
            <a:off x="2423160" y="1691640"/>
            <a:ext cx="201168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Class list</a:t>
            </a:r>
            <a:endParaRPr b="0" i="0" sz="840" u="none" cap="none" strike="noStrike">
              <a:solidFill>
                <a:schemeClr val="dk1"/>
              </a:solidFill>
              <a:latin typeface="Arial"/>
              <a:ea typeface="Arial"/>
              <a:cs typeface="Arial"/>
              <a:sym typeface="Arial"/>
            </a:endParaRPr>
          </a:p>
        </p:txBody>
      </p:sp>
      <p:sp>
        <p:nvSpPr>
          <p:cNvPr id="563" name="Google Shape;563;p51"/>
          <p:cNvSpPr/>
          <p:nvPr/>
        </p:nvSpPr>
        <p:spPr>
          <a:xfrm>
            <a:off x="1005840" y="204216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Collection</a:t>
            </a:r>
            <a:endParaRPr b="0" i="0" sz="840" u="none" cap="none" strike="noStrike">
              <a:solidFill>
                <a:schemeClr val="dk1"/>
              </a:solidFill>
              <a:latin typeface="Arial"/>
              <a:ea typeface="Arial"/>
              <a:cs typeface="Arial"/>
              <a:sym typeface="Arial"/>
            </a:endParaRPr>
          </a:p>
        </p:txBody>
      </p:sp>
      <p:sp>
        <p:nvSpPr>
          <p:cNvPr id="564" name="Google Shape;564;p51"/>
          <p:cNvSpPr/>
          <p:nvPr/>
        </p:nvSpPr>
        <p:spPr>
          <a:xfrm>
            <a:off x="2423160" y="204216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grid grid-cols-1 gap-4 md:grid-cols-2</a:t>
            </a:r>
            <a:endParaRPr b="0" i="0" sz="840" u="none" cap="none" strike="noStrike">
              <a:solidFill>
                <a:schemeClr val="dk1"/>
              </a:solidFill>
              <a:latin typeface="Arial"/>
              <a:ea typeface="Arial"/>
              <a:cs typeface="Arial"/>
              <a:sym typeface="Arial"/>
            </a:endParaRPr>
          </a:p>
        </p:txBody>
      </p:sp>
      <p:sp>
        <p:nvSpPr>
          <p:cNvPr id="565" name="Google Shape;565;p51"/>
          <p:cNvSpPr/>
          <p:nvPr/>
        </p:nvSpPr>
        <p:spPr>
          <a:xfrm>
            <a:off x="1005840" y="239268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Heading</a:t>
            </a:r>
            <a:endParaRPr b="0" i="0" sz="840" u="none" cap="none" strike="noStrike">
              <a:solidFill>
                <a:schemeClr val="dk1"/>
              </a:solidFill>
              <a:latin typeface="Arial"/>
              <a:ea typeface="Arial"/>
              <a:cs typeface="Arial"/>
              <a:sym typeface="Arial"/>
            </a:endParaRPr>
          </a:p>
        </p:txBody>
      </p:sp>
      <p:sp>
        <p:nvSpPr>
          <p:cNvPr id="566" name="Google Shape;566;p51"/>
          <p:cNvSpPr/>
          <p:nvPr/>
        </p:nvSpPr>
        <p:spPr>
          <a:xfrm>
            <a:off x="2423160" y="239268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flex items-center justify-between</a:t>
            </a:r>
            <a:endParaRPr b="0" i="0" sz="840" u="none" cap="none" strike="noStrike">
              <a:solidFill>
                <a:schemeClr val="dk1"/>
              </a:solidFill>
              <a:latin typeface="Arial"/>
              <a:ea typeface="Arial"/>
              <a:cs typeface="Arial"/>
              <a:sym typeface="Arial"/>
            </a:endParaRPr>
          </a:p>
        </p:txBody>
      </p:sp>
      <p:sp>
        <p:nvSpPr>
          <p:cNvPr id="567" name="Google Shape;567;p51"/>
          <p:cNvSpPr/>
          <p:nvPr/>
        </p:nvSpPr>
        <p:spPr>
          <a:xfrm>
            <a:off x="4663440" y="1691640"/>
            <a:ext cx="256032" cy="256032"/>
          </a:xfrm>
          <a:prstGeom prst="rect">
            <a:avLst/>
          </a:prstGeom>
          <a:solidFill>
            <a:srgbClr val="2563EB"/>
          </a:solidFill>
          <a:ln cap="flat" cmpd="sng" w="9525">
            <a:solidFill>
              <a:srgbClr val="2563EB"/>
            </a:solidFill>
            <a:prstDash val="solid"/>
            <a:round/>
            <a:headEnd len="sm" w="sm" type="none"/>
            <a:tailEnd len="sm" w="sm" type="none"/>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B</a:t>
            </a:r>
            <a:endParaRPr b="0" i="0" sz="1200" u="none" cap="none" strike="noStrike">
              <a:solidFill>
                <a:schemeClr val="dk1"/>
              </a:solidFill>
              <a:latin typeface="Arial"/>
              <a:ea typeface="Arial"/>
              <a:cs typeface="Arial"/>
              <a:sym typeface="Arial"/>
            </a:endParaRPr>
          </a:p>
        </p:txBody>
      </p:sp>
      <p:sp>
        <p:nvSpPr>
          <p:cNvPr id="568" name="Google Shape;568;p51"/>
          <p:cNvSpPr/>
          <p:nvPr/>
        </p:nvSpPr>
        <p:spPr>
          <a:xfrm>
            <a:off x="4983480" y="1691640"/>
            <a:ext cx="141732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Element</a:t>
            </a:r>
            <a:endParaRPr b="0" i="0" sz="840" u="none" cap="none" strike="noStrike">
              <a:solidFill>
                <a:schemeClr val="dk1"/>
              </a:solidFill>
              <a:latin typeface="Arial"/>
              <a:ea typeface="Arial"/>
              <a:cs typeface="Arial"/>
              <a:sym typeface="Arial"/>
            </a:endParaRPr>
          </a:p>
        </p:txBody>
      </p:sp>
      <p:sp>
        <p:nvSpPr>
          <p:cNvPr id="569" name="Google Shape;569;p51"/>
          <p:cNvSpPr/>
          <p:nvPr/>
        </p:nvSpPr>
        <p:spPr>
          <a:xfrm>
            <a:off x="6400800" y="1691640"/>
            <a:ext cx="201168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Class list</a:t>
            </a:r>
            <a:endParaRPr b="0" i="0" sz="840" u="none" cap="none" strike="noStrike">
              <a:solidFill>
                <a:schemeClr val="dk1"/>
              </a:solidFill>
              <a:latin typeface="Arial"/>
              <a:ea typeface="Arial"/>
              <a:cs typeface="Arial"/>
              <a:sym typeface="Arial"/>
            </a:endParaRPr>
          </a:p>
        </p:txBody>
      </p:sp>
      <p:sp>
        <p:nvSpPr>
          <p:cNvPr id="570" name="Google Shape;570;p51"/>
          <p:cNvSpPr/>
          <p:nvPr/>
        </p:nvSpPr>
        <p:spPr>
          <a:xfrm>
            <a:off x="4983480" y="204216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Collection</a:t>
            </a:r>
            <a:endParaRPr b="0" i="0" sz="840" u="none" cap="none" strike="noStrike">
              <a:solidFill>
                <a:schemeClr val="dk1"/>
              </a:solidFill>
              <a:latin typeface="Arial"/>
              <a:ea typeface="Arial"/>
              <a:cs typeface="Arial"/>
              <a:sym typeface="Arial"/>
            </a:endParaRPr>
          </a:p>
        </p:txBody>
      </p:sp>
      <p:sp>
        <p:nvSpPr>
          <p:cNvPr id="571" name="Google Shape;571;p51"/>
          <p:cNvSpPr/>
          <p:nvPr/>
        </p:nvSpPr>
        <p:spPr>
          <a:xfrm>
            <a:off x="6400800" y="204216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flex items-center justify-between</a:t>
            </a:r>
            <a:endParaRPr b="0" i="0" sz="840" u="none" cap="none" strike="noStrike">
              <a:solidFill>
                <a:schemeClr val="dk1"/>
              </a:solidFill>
              <a:latin typeface="Arial"/>
              <a:ea typeface="Arial"/>
              <a:cs typeface="Arial"/>
              <a:sym typeface="Arial"/>
            </a:endParaRPr>
          </a:p>
        </p:txBody>
      </p:sp>
      <p:sp>
        <p:nvSpPr>
          <p:cNvPr id="572" name="Google Shape;572;p51"/>
          <p:cNvSpPr/>
          <p:nvPr/>
        </p:nvSpPr>
        <p:spPr>
          <a:xfrm>
            <a:off x="4983480" y="239268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Heading</a:t>
            </a:r>
            <a:endParaRPr b="0" i="0" sz="840" u="none" cap="none" strike="noStrike">
              <a:solidFill>
                <a:schemeClr val="dk1"/>
              </a:solidFill>
              <a:latin typeface="Arial"/>
              <a:ea typeface="Arial"/>
              <a:cs typeface="Arial"/>
              <a:sym typeface="Arial"/>
            </a:endParaRPr>
          </a:p>
        </p:txBody>
      </p:sp>
      <p:sp>
        <p:nvSpPr>
          <p:cNvPr id="573" name="Google Shape;573;p51"/>
          <p:cNvSpPr/>
          <p:nvPr/>
        </p:nvSpPr>
        <p:spPr>
          <a:xfrm>
            <a:off x="6400800" y="239268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grid grid-cols-2</a:t>
            </a:r>
            <a:endParaRPr b="0" i="0" sz="840" u="none" cap="none" strike="noStrike">
              <a:solidFill>
                <a:schemeClr val="dk1"/>
              </a:solidFill>
              <a:latin typeface="Arial"/>
              <a:ea typeface="Arial"/>
              <a:cs typeface="Arial"/>
              <a:sym typeface="Arial"/>
            </a:endParaRPr>
          </a:p>
        </p:txBody>
      </p:sp>
      <p:sp>
        <p:nvSpPr>
          <p:cNvPr id="574" name="Google Shape;574;p51"/>
          <p:cNvSpPr/>
          <p:nvPr/>
        </p:nvSpPr>
        <p:spPr>
          <a:xfrm>
            <a:off x="685800" y="2971800"/>
            <a:ext cx="256032" cy="256032"/>
          </a:xfrm>
          <a:prstGeom prst="rect">
            <a:avLst/>
          </a:prstGeom>
          <a:solidFill>
            <a:srgbClr val="2563EB"/>
          </a:solidFill>
          <a:ln cap="flat" cmpd="sng" w="9525">
            <a:solidFill>
              <a:srgbClr val="2563EB"/>
            </a:solidFill>
            <a:prstDash val="solid"/>
            <a:round/>
            <a:headEnd len="sm" w="sm" type="none"/>
            <a:tailEnd len="sm" w="sm" type="none"/>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C</a:t>
            </a:r>
            <a:endParaRPr b="0" i="0" sz="1200" u="none" cap="none" strike="noStrike">
              <a:solidFill>
                <a:schemeClr val="dk1"/>
              </a:solidFill>
              <a:latin typeface="Arial"/>
              <a:ea typeface="Arial"/>
              <a:cs typeface="Arial"/>
              <a:sym typeface="Arial"/>
            </a:endParaRPr>
          </a:p>
        </p:txBody>
      </p:sp>
      <p:sp>
        <p:nvSpPr>
          <p:cNvPr id="575" name="Google Shape;575;p51"/>
          <p:cNvSpPr/>
          <p:nvPr/>
        </p:nvSpPr>
        <p:spPr>
          <a:xfrm>
            <a:off x="1005840" y="2971800"/>
            <a:ext cx="141732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Element</a:t>
            </a:r>
            <a:endParaRPr b="0" i="0" sz="840" u="none" cap="none" strike="noStrike">
              <a:solidFill>
                <a:schemeClr val="dk1"/>
              </a:solidFill>
              <a:latin typeface="Arial"/>
              <a:ea typeface="Arial"/>
              <a:cs typeface="Arial"/>
              <a:sym typeface="Arial"/>
            </a:endParaRPr>
          </a:p>
        </p:txBody>
      </p:sp>
      <p:sp>
        <p:nvSpPr>
          <p:cNvPr id="576" name="Google Shape;576;p51"/>
          <p:cNvSpPr/>
          <p:nvPr/>
        </p:nvSpPr>
        <p:spPr>
          <a:xfrm>
            <a:off x="2423160" y="2971800"/>
            <a:ext cx="201168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Class list</a:t>
            </a:r>
            <a:endParaRPr b="0" i="0" sz="840" u="none" cap="none" strike="noStrike">
              <a:solidFill>
                <a:schemeClr val="dk1"/>
              </a:solidFill>
              <a:latin typeface="Arial"/>
              <a:ea typeface="Arial"/>
              <a:cs typeface="Arial"/>
              <a:sym typeface="Arial"/>
            </a:endParaRPr>
          </a:p>
        </p:txBody>
      </p:sp>
      <p:sp>
        <p:nvSpPr>
          <p:cNvPr id="577" name="Google Shape;577;p51"/>
          <p:cNvSpPr/>
          <p:nvPr/>
        </p:nvSpPr>
        <p:spPr>
          <a:xfrm>
            <a:off x="1005840" y="332232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Collection</a:t>
            </a:r>
            <a:endParaRPr b="0" i="0" sz="840" u="none" cap="none" strike="noStrike">
              <a:solidFill>
                <a:schemeClr val="dk1"/>
              </a:solidFill>
              <a:latin typeface="Arial"/>
              <a:ea typeface="Arial"/>
              <a:cs typeface="Arial"/>
              <a:sym typeface="Arial"/>
            </a:endParaRPr>
          </a:p>
        </p:txBody>
      </p:sp>
      <p:sp>
        <p:nvSpPr>
          <p:cNvPr id="578" name="Google Shape;578;p51"/>
          <p:cNvSpPr/>
          <p:nvPr/>
        </p:nvSpPr>
        <p:spPr>
          <a:xfrm>
            <a:off x="2423160" y="332232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no layout classes</a:t>
            </a:r>
            <a:endParaRPr b="0" i="0" sz="840" u="none" cap="none" strike="noStrike">
              <a:solidFill>
                <a:schemeClr val="dk1"/>
              </a:solidFill>
              <a:latin typeface="Arial"/>
              <a:ea typeface="Arial"/>
              <a:cs typeface="Arial"/>
              <a:sym typeface="Arial"/>
            </a:endParaRPr>
          </a:p>
        </p:txBody>
      </p:sp>
      <p:sp>
        <p:nvSpPr>
          <p:cNvPr id="579" name="Google Shape;579;p51"/>
          <p:cNvSpPr/>
          <p:nvPr/>
        </p:nvSpPr>
        <p:spPr>
          <a:xfrm>
            <a:off x="1005840" y="367284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Heading</a:t>
            </a:r>
            <a:endParaRPr b="0" i="0" sz="840" u="none" cap="none" strike="noStrike">
              <a:solidFill>
                <a:schemeClr val="dk1"/>
              </a:solidFill>
              <a:latin typeface="Arial"/>
              <a:ea typeface="Arial"/>
              <a:cs typeface="Arial"/>
              <a:sym typeface="Arial"/>
            </a:endParaRPr>
          </a:p>
        </p:txBody>
      </p:sp>
      <p:sp>
        <p:nvSpPr>
          <p:cNvPr id="580" name="Google Shape;580;p51"/>
          <p:cNvSpPr/>
          <p:nvPr/>
        </p:nvSpPr>
        <p:spPr>
          <a:xfrm>
            <a:off x="2423160" y="367284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grid grid-cols-1 gap-4 md:grid-cols-2 flex</a:t>
            </a:r>
            <a:endParaRPr b="0" i="0" sz="840" u="none" cap="none" strike="noStrike">
              <a:solidFill>
                <a:schemeClr val="dk1"/>
              </a:solidFill>
              <a:latin typeface="Arial"/>
              <a:ea typeface="Arial"/>
              <a:cs typeface="Arial"/>
              <a:sym typeface="Arial"/>
            </a:endParaRPr>
          </a:p>
        </p:txBody>
      </p:sp>
      <p:sp>
        <p:nvSpPr>
          <p:cNvPr id="581" name="Google Shape;581;p51"/>
          <p:cNvSpPr/>
          <p:nvPr/>
        </p:nvSpPr>
        <p:spPr>
          <a:xfrm>
            <a:off x="4663440" y="2971800"/>
            <a:ext cx="256032" cy="256032"/>
          </a:xfrm>
          <a:prstGeom prst="rect">
            <a:avLst/>
          </a:prstGeom>
          <a:solidFill>
            <a:srgbClr val="2563EB"/>
          </a:solidFill>
          <a:ln cap="flat" cmpd="sng" w="9525">
            <a:solidFill>
              <a:srgbClr val="2563EB"/>
            </a:solidFill>
            <a:prstDash val="solid"/>
            <a:round/>
            <a:headEnd len="sm" w="sm" type="none"/>
            <a:tailEnd len="sm" w="sm" type="none"/>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D</a:t>
            </a:r>
            <a:endParaRPr b="0" i="0" sz="1200" u="none" cap="none" strike="noStrike">
              <a:solidFill>
                <a:schemeClr val="dk1"/>
              </a:solidFill>
              <a:latin typeface="Arial"/>
              <a:ea typeface="Arial"/>
              <a:cs typeface="Arial"/>
              <a:sym typeface="Arial"/>
            </a:endParaRPr>
          </a:p>
        </p:txBody>
      </p:sp>
      <p:sp>
        <p:nvSpPr>
          <p:cNvPr id="582" name="Google Shape;582;p51"/>
          <p:cNvSpPr/>
          <p:nvPr/>
        </p:nvSpPr>
        <p:spPr>
          <a:xfrm>
            <a:off x="4983480" y="2971800"/>
            <a:ext cx="141732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Element</a:t>
            </a:r>
            <a:endParaRPr b="0" i="0" sz="840" u="none" cap="none" strike="noStrike">
              <a:solidFill>
                <a:schemeClr val="dk1"/>
              </a:solidFill>
              <a:latin typeface="Arial"/>
              <a:ea typeface="Arial"/>
              <a:cs typeface="Arial"/>
              <a:sym typeface="Arial"/>
            </a:endParaRPr>
          </a:p>
        </p:txBody>
      </p:sp>
      <p:sp>
        <p:nvSpPr>
          <p:cNvPr id="583" name="Google Shape;583;p51"/>
          <p:cNvSpPr/>
          <p:nvPr/>
        </p:nvSpPr>
        <p:spPr>
          <a:xfrm>
            <a:off x="6400800" y="2971800"/>
            <a:ext cx="2011680" cy="35052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1" i="0" lang="en" sz="840" u="none" cap="none" strike="noStrike">
                <a:solidFill>
                  <a:srgbClr val="111827"/>
                </a:solidFill>
                <a:latin typeface="Arial"/>
                <a:ea typeface="Arial"/>
                <a:cs typeface="Arial"/>
                <a:sym typeface="Arial"/>
              </a:rPr>
              <a:t>Class list</a:t>
            </a:r>
            <a:endParaRPr b="0" i="0" sz="840" u="none" cap="none" strike="noStrike">
              <a:solidFill>
                <a:schemeClr val="dk1"/>
              </a:solidFill>
              <a:latin typeface="Arial"/>
              <a:ea typeface="Arial"/>
              <a:cs typeface="Arial"/>
              <a:sym typeface="Arial"/>
            </a:endParaRPr>
          </a:p>
        </p:txBody>
      </p:sp>
      <p:sp>
        <p:nvSpPr>
          <p:cNvPr id="584" name="Google Shape;584;p51"/>
          <p:cNvSpPr/>
          <p:nvPr/>
        </p:nvSpPr>
        <p:spPr>
          <a:xfrm>
            <a:off x="4983480" y="332232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Collection</a:t>
            </a:r>
            <a:endParaRPr b="0" i="0" sz="840" u="none" cap="none" strike="noStrike">
              <a:solidFill>
                <a:schemeClr val="dk1"/>
              </a:solidFill>
              <a:latin typeface="Arial"/>
              <a:ea typeface="Arial"/>
              <a:cs typeface="Arial"/>
              <a:sym typeface="Arial"/>
            </a:endParaRPr>
          </a:p>
        </p:txBody>
      </p:sp>
      <p:sp>
        <p:nvSpPr>
          <p:cNvPr id="585" name="Google Shape;585;p51"/>
          <p:cNvSpPr/>
          <p:nvPr/>
        </p:nvSpPr>
        <p:spPr>
          <a:xfrm>
            <a:off x="6400800" y="332232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grid-cols-2 gap-4</a:t>
            </a:r>
            <a:endParaRPr b="0" i="0" sz="840" u="none" cap="none" strike="noStrike">
              <a:solidFill>
                <a:schemeClr val="dk1"/>
              </a:solidFill>
              <a:latin typeface="Arial"/>
              <a:ea typeface="Arial"/>
              <a:cs typeface="Arial"/>
              <a:sym typeface="Arial"/>
            </a:endParaRPr>
          </a:p>
        </p:txBody>
      </p:sp>
      <p:sp>
        <p:nvSpPr>
          <p:cNvPr id="586" name="Google Shape;586;p51"/>
          <p:cNvSpPr/>
          <p:nvPr/>
        </p:nvSpPr>
        <p:spPr>
          <a:xfrm>
            <a:off x="4983480" y="3672840"/>
            <a:ext cx="141732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Heading</a:t>
            </a:r>
            <a:endParaRPr b="0" i="0" sz="840" u="none" cap="none" strike="noStrike">
              <a:solidFill>
                <a:schemeClr val="dk1"/>
              </a:solidFill>
              <a:latin typeface="Arial"/>
              <a:ea typeface="Arial"/>
              <a:cs typeface="Arial"/>
              <a:sym typeface="Arial"/>
            </a:endParaRPr>
          </a:p>
        </p:txBody>
      </p:sp>
      <p:sp>
        <p:nvSpPr>
          <p:cNvPr id="587" name="Google Shape;587;p51"/>
          <p:cNvSpPr/>
          <p:nvPr/>
        </p:nvSpPr>
        <p:spPr>
          <a:xfrm>
            <a:off x="6400800" y="3672840"/>
            <a:ext cx="2011680" cy="350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39"/>
              <a:buFont typeface="Arial"/>
              <a:buNone/>
            </a:pPr>
            <a:r>
              <a:rPr b="0" i="0" lang="en" sz="840" u="none" cap="none" strike="noStrike">
                <a:solidFill>
                  <a:srgbClr val="111827"/>
                </a:solidFill>
                <a:latin typeface="Arial"/>
                <a:ea typeface="Arial"/>
                <a:cs typeface="Arial"/>
                <a:sym typeface="Arial"/>
              </a:rPr>
              <a:t>items-center justify-between</a:t>
            </a:r>
            <a:endParaRPr b="0" i="0" sz="840" u="none" cap="none" strike="noStrike">
              <a:solidFill>
                <a:schemeClr val="dk1"/>
              </a:solidFill>
              <a:latin typeface="Arial"/>
              <a:ea typeface="Arial"/>
              <a:cs typeface="Arial"/>
              <a:sym typeface="Arial"/>
            </a:endParaRPr>
          </a:p>
        </p:txBody>
      </p:sp>
      <p:sp>
        <p:nvSpPr>
          <p:cNvPr id="588" name="Google Shape;588;p51"/>
          <p:cNvSpPr/>
          <p:nvPr/>
        </p:nvSpPr>
        <p:spPr>
          <a:xfrm>
            <a:off x="548650" y="4139610"/>
            <a:ext cx="38406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lang="en">
                <a:solidFill>
                  <a:srgbClr val="111827"/>
                </a:solidFill>
              </a:rPr>
              <a:t>Answer: A</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2"/>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Activity: Build a coworking room directory</a:t>
            </a:r>
            <a:endParaRPr b="0" i="0" sz="2100" u="none" cap="none" strike="noStrike">
              <a:solidFill>
                <a:schemeClr val="dk1"/>
              </a:solidFill>
              <a:latin typeface="Arial"/>
              <a:ea typeface="Arial"/>
              <a:cs typeface="Arial"/>
              <a:sym typeface="Arial"/>
            </a:endParaRPr>
          </a:p>
        </p:txBody>
      </p:sp>
      <p:sp>
        <p:nvSpPr>
          <p:cNvPr id="595" name="Google Shape;595;p52"/>
          <p:cNvSpPr/>
          <p:nvPr/>
        </p:nvSpPr>
        <p:spPr>
          <a:xfrm>
            <a:off x="685800" y="868680"/>
            <a:ext cx="420624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Use responsive Grid and Flexbox utilities.</a:t>
            </a:r>
            <a:endParaRPr b="0" i="0" sz="1500" u="none" cap="none" strike="noStrike">
              <a:solidFill>
                <a:schemeClr val="dk1"/>
              </a:solidFill>
              <a:latin typeface="Arial"/>
              <a:ea typeface="Arial"/>
              <a:cs typeface="Arial"/>
              <a:sym typeface="Arial"/>
            </a:endParaRPr>
          </a:p>
        </p:txBody>
      </p:sp>
      <p:sp>
        <p:nvSpPr>
          <p:cNvPr id="596" name="Google Shape;596;p52"/>
          <p:cNvSpPr/>
          <p:nvPr/>
        </p:nvSpPr>
        <p:spPr>
          <a:xfrm>
            <a:off x="685800" y="1325880"/>
            <a:ext cx="4114800" cy="1188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50"/>
              <a:buFont typeface="Arial"/>
              <a:buChar char="•"/>
            </a:pPr>
            <a:r>
              <a:rPr b="0" i="0" lang="en" sz="1350" u="none" cap="none" strike="noStrike">
                <a:solidFill>
                  <a:srgbClr val="111827"/>
                </a:solidFill>
                <a:latin typeface="Arial"/>
                <a:ea typeface="Arial"/>
                <a:cs typeface="Arial"/>
                <a:sym typeface="Arial"/>
              </a:rPr>
              <a:t>arrange the room collection using Grid</a:t>
            </a:r>
            <a:endParaRPr b="0" i="0" sz="13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50"/>
              <a:buFont typeface="Arial"/>
              <a:buChar char="•"/>
            </a:pPr>
            <a:r>
              <a:rPr b="0" i="0" lang="en" sz="1350" u="none" cap="none" strike="noStrike">
                <a:solidFill>
                  <a:srgbClr val="111827"/>
                </a:solidFill>
                <a:latin typeface="Arial"/>
                <a:ea typeface="Arial"/>
                <a:cs typeface="Arial"/>
                <a:sym typeface="Arial"/>
              </a:rPr>
              <a:t>change the column count at a wider viewport</a:t>
            </a:r>
            <a:endParaRPr b="0" i="0" sz="13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50"/>
              <a:buFont typeface="Arial"/>
              <a:buChar char="•"/>
            </a:pPr>
            <a:r>
              <a:rPr b="0" i="0" lang="en" sz="1350" u="none" cap="none" strike="noStrike">
                <a:solidFill>
                  <a:srgbClr val="111827"/>
                </a:solidFill>
                <a:latin typeface="Arial"/>
                <a:ea typeface="Arial"/>
                <a:cs typeface="Arial"/>
                <a:sym typeface="Arial"/>
              </a:rPr>
              <a:t>arrange information inside each room card using Flexbox</a:t>
            </a:r>
            <a:endParaRPr b="0" i="0" sz="1350" u="none" cap="none" strike="noStrike">
              <a:solidFill>
                <a:schemeClr val="dk1"/>
              </a:solidFill>
              <a:latin typeface="Arial"/>
              <a:ea typeface="Arial"/>
              <a:cs typeface="Arial"/>
              <a:sym typeface="Arial"/>
            </a:endParaRPr>
          </a:p>
        </p:txBody>
      </p:sp>
      <p:sp>
        <p:nvSpPr>
          <p:cNvPr id="597" name="Google Shape;597;p52"/>
          <p:cNvSpPr/>
          <p:nvPr/>
        </p:nvSpPr>
        <p:spPr>
          <a:xfrm>
            <a:off x="5166360" y="914400"/>
            <a:ext cx="2880360" cy="2834640"/>
          </a:xfrm>
          <a:prstGeom prst="roundRect">
            <a:avLst>
              <a:gd fmla="val 968"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2"/>
          <p:cNvSpPr/>
          <p:nvPr/>
        </p:nvSpPr>
        <p:spPr>
          <a:xfrm>
            <a:off x="5166360" y="914400"/>
            <a:ext cx="288036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2"/>
          <p:cNvSpPr/>
          <p:nvPr/>
        </p:nvSpPr>
        <p:spPr>
          <a:xfrm>
            <a:off x="5276088" y="969264"/>
            <a:ext cx="266090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starter state</a:t>
            </a:r>
            <a:endParaRPr b="0" i="0" sz="850" u="none" cap="none" strike="noStrike">
              <a:solidFill>
                <a:schemeClr val="dk1"/>
              </a:solidFill>
              <a:latin typeface="Arial"/>
              <a:ea typeface="Arial"/>
              <a:cs typeface="Arial"/>
              <a:sym typeface="Arial"/>
            </a:endParaRPr>
          </a:p>
        </p:txBody>
      </p:sp>
      <p:sp>
        <p:nvSpPr>
          <p:cNvPr id="600" name="Google Shape;600;p52"/>
          <p:cNvSpPr/>
          <p:nvPr/>
        </p:nvSpPr>
        <p:spPr>
          <a:xfrm>
            <a:off x="5440680" y="1325880"/>
            <a:ext cx="2194560" cy="256032"/>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900"/>
              <a:buFont typeface="Arial"/>
              <a:buNone/>
            </a:pPr>
            <a:r>
              <a:rPr b="1" i="0" lang="en" sz="900" u="none" cap="none" strike="noStrike">
                <a:solidFill>
                  <a:srgbClr val="111827"/>
                </a:solidFill>
                <a:latin typeface="Arial"/>
                <a:ea typeface="Arial"/>
                <a:cs typeface="Arial"/>
                <a:sym typeface="Arial"/>
              </a:rPr>
              <a:t>Coworking Room Directory</a:t>
            </a:r>
            <a:endParaRPr b="0" i="0" sz="900" u="none" cap="none" strike="noStrike">
              <a:solidFill>
                <a:schemeClr val="dk1"/>
              </a:solidFill>
              <a:latin typeface="Arial"/>
              <a:ea typeface="Arial"/>
              <a:cs typeface="Arial"/>
              <a:sym typeface="Arial"/>
            </a:endParaRPr>
          </a:p>
        </p:txBody>
      </p:sp>
      <p:sp>
        <p:nvSpPr>
          <p:cNvPr id="601" name="Google Shape;601;p52"/>
          <p:cNvSpPr/>
          <p:nvPr/>
        </p:nvSpPr>
        <p:spPr>
          <a:xfrm>
            <a:off x="5440680" y="1737360"/>
            <a:ext cx="2148840" cy="50292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Focus Room</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Available</a:t>
            </a:r>
            <a:endParaRPr b="0" i="0" sz="800" u="none" cap="none" strike="noStrike">
              <a:solidFill>
                <a:schemeClr val="dk1"/>
              </a:solidFill>
              <a:latin typeface="Arial"/>
              <a:ea typeface="Arial"/>
              <a:cs typeface="Arial"/>
              <a:sym typeface="Arial"/>
            </a:endParaRPr>
          </a:p>
        </p:txBody>
      </p:sp>
      <p:sp>
        <p:nvSpPr>
          <p:cNvPr id="602" name="Google Shape;602;p52"/>
          <p:cNvSpPr/>
          <p:nvPr/>
        </p:nvSpPr>
        <p:spPr>
          <a:xfrm>
            <a:off x="5440680" y="2331720"/>
            <a:ext cx="2148840" cy="50292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Team Room</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Booked</a:t>
            </a:r>
            <a:endParaRPr b="0" i="0" sz="800" u="none" cap="none" strike="noStrike">
              <a:solidFill>
                <a:schemeClr val="dk1"/>
              </a:solidFill>
              <a:latin typeface="Arial"/>
              <a:ea typeface="Arial"/>
              <a:cs typeface="Arial"/>
              <a:sym typeface="Arial"/>
            </a:endParaRPr>
          </a:p>
        </p:txBody>
      </p:sp>
      <p:sp>
        <p:nvSpPr>
          <p:cNvPr id="603" name="Google Shape;603;p52"/>
          <p:cNvSpPr/>
          <p:nvPr/>
        </p:nvSpPr>
        <p:spPr>
          <a:xfrm>
            <a:off x="5440680" y="2926080"/>
            <a:ext cx="2148840" cy="50292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Quiet Desk</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Available</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3"/>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Starting state and rules</a:t>
            </a:r>
            <a:endParaRPr b="0" i="0" sz="2100" u="none" cap="none" strike="noStrike">
              <a:solidFill>
                <a:schemeClr val="dk1"/>
              </a:solidFill>
              <a:latin typeface="Arial"/>
              <a:ea typeface="Arial"/>
              <a:cs typeface="Arial"/>
              <a:sym typeface="Arial"/>
            </a:endParaRPr>
          </a:p>
        </p:txBody>
      </p:sp>
      <p:sp>
        <p:nvSpPr>
          <p:cNvPr id="610" name="Google Shape;610;p53"/>
          <p:cNvSpPr/>
          <p:nvPr/>
        </p:nvSpPr>
        <p:spPr>
          <a:xfrm>
            <a:off x="685800" y="868680"/>
            <a:ext cx="3931920" cy="1417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180"/>
              <a:buFont typeface="Arial"/>
              <a:buChar char="•"/>
            </a:pPr>
            <a:r>
              <a:rPr b="0" i="0" lang="en" sz="1180" u="none" cap="none" strike="noStrike">
                <a:solidFill>
                  <a:srgbClr val="111827"/>
                </a:solidFill>
                <a:latin typeface="Arial"/>
                <a:ea typeface="Arial"/>
                <a:cs typeface="Arial"/>
                <a:sym typeface="Arial"/>
              </a:rPr>
              <a:t>The HTML content is complete.</a:t>
            </a:r>
            <a:endParaRPr b="0" i="0" sz="11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80"/>
              <a:buFont typeface="Arial"/>
              <a:buChar char="•"/>
            </a:pPr>
            <a:r>
              <a:rPr b="0" i="0" lang="en" sz="1180" u="none" cap="none" strike="noStrike">
                <a:solidFill>
                  <a:srgbClr val="111827"/>
                </a:solidFill>
                <a:latin typeface="Arial"/>
                <a:ea typeface="Arial"/>
                <a:cs typeface="Arial"/>
                <a:sym typeface="Arial"/>
              </a:rPr>
              <a:t>Tailwind is connected.</a:t>
            </a:r>
            <a:endParaRPr b="0" i="0" sz="11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80"/>
              <a:buFont typeface="Arial"/>
              <a:buChar char="•"/>
            </a:pPr>
            <a:r>
              <a:rPr b="0" i="0" lang="en" sz="1180" u="none" cap="none" strike="noStrike">
                <a:solidFill>
                  <a:srgbClr val="111827"/>
                </a:solidFill>
                <a:latin typeface="Arial"/>
                <a:ea typeface="Arial"/>
                <a:cs typeface="Arial"/>
                <a:sym typeface="Arial"/>
              </a:rPr>
              <a:t>Text, spacing, backgrounds, borders, and rounded corners are already applied.</a:t>
            </a:r>
            <a:endParaRPr b="0" i="0" sz="11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80"/>
              <a:buFont typeface="Arial"/>
              <a:buChar char="•"/>
            </a:pPr>
            <a:r>
              <a:rPr b="0" i="0" lang="en" sz="1180" u="none" cap="none" strike="noStrike">
                <a:solidFill>
                  <a:srgbClr val="111827"/>
                </a:solidFill>
                <a:latin typeface="Arial"/>
                <a:ea typeface="Arial"/>
                <a:cs typeface="Arial"/>
                <a:sym typeface="Arial"/>
              </a:rPr>
              <a:t>The room cards are stacked vertically.</a:t>
            </a:r>
            <a:endParaRPr b="0" i="0" sz="11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80"/>
              <a:buFont typeface="Arial"/>
              <a:buChar char="•"/>
            </a:pPr>
            <a:r>
              <a:rPr b="0" i="0" lang="en" sz="1180" u="none" cap="none" strike="noStrike">
                <a:solidFill>
                  <a:srgbClr val="111827"/>
                </a:solidFill>
                <a:latin typeface="Arial"/>
                <a:ea typeface="Arial"/>
                <a:cs typeface="Arial"/>
                <a:sym typeface="Arial"/>
              </a:rPr>
              <a:t>No Flexbox, Grid, or responsive layout classes are present.</a:t>
            </a:r>
            <a:endParaRPr b="0" i="0" sz="1180" u="none" cap="none" strike="noStrike">
              <a:solidFill>
                <a:schemeClr val="dk1"/>
              </a:solidFill>
              <a:latin typeface="Arial"/>
              <a:ea typeface="Arial"/>
              <a:cs typeface="Arial"/>
              <a:sym typeface="Arial"/>
            </a:endParaRPr>
          </a:p>
        </p:txBody>
      </p:sp>
      <p:sp>
        <p:nvSpPr>
          <p:cNvPr id="611" name="Google Shape;611;p53"/>
          <p:cNvSpPr/>
          <p:nvPr/>
        </p:nvSpPr>
        <p:spPr>
          <a:xfrm>
            <a:off x="4800600" y="914400"/>
            <a:ext cx="1188720" cy="292608"/>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Flexbox</a:t>
            </a:r>
            <a:endParaRPr b="0" i="0" sz="1100" u="none" cap="none" strike="noStrike">
              <a:solidFill>
                <a:schemeClr val="dk1"/>
              </a:solidFill>
              <a:latin typeface="Arial"/>
              <a:ea typeface="Arial"/>
              <a:cs typeface="Arial"/>
              <a:sym typeface="Arial"/>
            </a:endParaRPr>
          </a:p>
        </p:txBody>
      </p:sp>
      <p:sp>
        <p:nvSpPr>
          <p:cNvPr id="612" name="Google Shape;612;p53"/>
          <p:cNvSpPr/>
          <p:nvPr/>
        </p:nvSpPr>
        <p:spPr>
          <a:xfrm>
            <a:off x="5989320" y="914400"/>
            <a:ext cx="1188720" cy="292608"/>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Grid</a:t>
            </a:r>
            <a:endParaRPr b="0" i="0" sz="1100" u="none" cap="none" strike="noStrike">
              <a:solidFill>
                <a:schemeClr val="dk1"/>
              </a:solidFill>
              <a:latin typeface="Arial"/>
              <a:ea typeface="Arial"/>
              <a:cs typeface="Arial"/>
              <a:sym typeface="Arial"/>
            </a:endParaRPr>
          </a:p>
        </p:txBody>
      </p:sp>
      <p:sp>
        <p:nvSpPr>
          <p:cNvPr id="613" name="Google Shape;613;p53"/>
          <p:cNvSpPr/>
          <p:nvPr/>
        </p:nvSpPr>
        <p:spPr>
          <a:xfrm>
            <a:off x="7178040" y="914400"/>
            <a:ext cx="1143000" cy="292608"/>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1" i="0" lang="en" sz="1100" u="none" cap="none" strike="noStrike">
                <a:solidFill>
                  <a:srgbClr val="111827"/>
                </a:solidFill>
                <a:latin typeface="Arial"/>
                <a:ea typeface="Arial"/>
                <a:cs typeface="Arial"/>
                <a:sym typeface="Arial"/>
              </a:rPr>
              <a:t>Responsive</a:t>
            </a:r>
            <a:endParaRPr b="0" i="0" sz="1100" u="none" cap="none" strike="noStrike">
              <a:solidFill>
                <a:schemeClr val="dk1"/>
              </a:solidFill>
              <a:latin typeface="Arial"/>
              <a:ea typeface="Arial"/>
              <a:cs typeface="Arial"/>
              <a:sym typeface="Arial"/>
            </a:endParaRPr>
          </a:p>
        </p:txBody>
      </p:sp>
      <p:sp>
        <p:nvSpPr>
          <p:cNvPr id="614" name="Google Shape;614;p53"/>
          <p:cNvSpPr/>
          <p:nvPr/>
        </p:nvSpPr>
        <p:spPr>
          <a:xfrm>
            <a:off x="4800600" y="1207008"/>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flex</a:t>
            </a:r>
            <a:endParaRPr b="0" i="0" sz="1100" u="none" cap="none" strike="noStrike">
              <a:solidFill>
                <a:schemeClr val="dk1"/>
              </a:solidFill>
              <a:latin typeface="Arial"/>
              <a:ea typeface="Arial"/>
              <a:cs typeface="Arial"/>
              <a:sym typeface="Arial"/>
            </a:endParaRPr>
          </a:p>
        </p:txBody>
      </p:sp>
      <p:sp>
        <p:nvSpPr>
          <p:cNvPr id="615" name="Google Shape;615;p53"/>
          <p:cNvSpPr/>
          <p:nvPr/>
        </p:nvSpPr>
        <p:spPr>
          <a:xfrm>
            <a:off x="5989320" y="1207008"/>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grid</a:t>
            </a:r>
            <a:endParaRPr b="0" i="0" sz="1100" u="none" cap="none" strike="noStrike">
              <a:solidFill>
                <a:schemeClr val="dk1"/>
              </a:solidFill>
              <a:latin typeface="Arial"/>
              <a:ea typeface="Arial"/>
              <a:cs typeface="Arial"/>
              <a:sym typeface="Arial"/>
            </a:endParaRPr>
          </a:p>
        </p:txBody>
      </p:sp>
      <p:sp>
        <p:nvSpPr>
          <p:cNvPr id="616" name="Google Shape;616;p53"/>
          <p:cNvSpPr/>
          <p:nvPr/>
        </p:nvSpPr>
        <p:spPr>
          <a:xfrm>
            <a:off x="7178040" y="1207008"/>
            <a:ext cx="114300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md:</a:t>
            </a:r>
            <a:endParaRPr b="0" i="0" sz="1100" u="none" cap="none" strike="noStrike">
              <a:solidFill>
                <a:schemeClr val="dk1"/>
              </a:solidFill>
              <a:latin typeface="Arial"/>
              <a:ea typeface="Arial"/>
              <a:cs typeface="Arial"/>
              <a:sym typeface="Arial"/>
            </a:endParaRPr>
          </a:p>
        </p:txBody>
      </p:sp>
      <p:sp>
        <p:nvSpPr>
          <p:cNvPr id="617" name="Google Shape;617;p53"/>
          <p:cNvSpPr/>
          <p:nvPr/>
        </p:nvSpPr>
        <p:spPr>
          <a:xfrm>
            <a:off x="4800600" y="1499616"/>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items-center</a:t>
            </a:r>
            <a:endParaRPr b="0" i="0" sz="1100" u="none" cap="none" strike="noStrike">
              <a:solidFill>
                <a:schemeClr val="dk1"/>
              </a:solidFill>
              <a:latin typeface="Arial"/>
              <a:ea typeface="Arial"/>
              <a:cs typeface="Arial"/>
              <a:sym typeface="Arial"/>
            </a:endParaRPr>
          </a:p>
        </p:txBody>
      </p:sp>
      <p:sp>
        <p:nvSpPr>
          <p:cNvPr id="618" name="Google Shape;618;p53"/>
          <p:cNvSpPr/>
          <p:nvPr/>
        </p:nvSpPr>
        <p:spPr>
          <a:xfrm>
            <a:off x="5989320" y="1499616"/>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grid-cols-1</a:t>
            </a:r>
            <a:endParaRPr b="0" i="0" sz="1100" u="none" cap="none" strike="noStrike">
              <a:solidFill>
                <a:schemeClr val="dk1"/>
              </a:solidFill>
              <a:latin typeface="Arial"/>
              <a:ea typeface="Arial"/>
              <a:cs typeface="Arial"/>
              <a:sym typeface="Arial"/>
            </a:endParaRPr>
          </a:p>
        </p:txBody>
      </p:sp>
      <p:sp>
        <p:nvSpPr>
          <p:cNvPr id="619" name="Google Shape;619;p53"/>
          <p:cNvSpPr/>
          <p:nvPr/>
        </p:nvSpPr>
        <p:spPr>
          <a:xfrm>
            <a:off x="7178040" y="1499616"/>
            <a:ext cx="114300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620" name="Google Shape;620;p53"/>
          <p:cNvSpPr/>
          <p:nvPr/>
        </p:nvSpPr>
        <p:spPr>
          <a:xfrm>
            <a:off x="4800600" y="1792224"/>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justify-between</a:t>
            </a:r>
            <a:endParaRPr b="0" i="0" sz="1100" u="none" cap="none" strike="noStrike">
              <a:solidFill>
                <a:schemeClr val="dk1"/>
              </a:solidFill>
              <a:latin typeface="Arial"/>
              <a:ea typeface="Arial"/>
              <a:cs typeface="Arial"/>
              <a:sym typeface="Arial"/>
            </a:endParaRPr>
          </a:p>
        </p:txBody>
      </p:sp>
      <p:sp>
        <p:nvSpPr>
          <p:cNvPr id="621" name="Google Shape;621;p53"/>
          <p:cNvSpPr/>
          <p:nvPr/>
        </p:nvSpPr>
        <p:spPr>
          <a:xfrm>
            <a:off x="5989320" y="1792224"/>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grid-cols-2</a:t>
            </a:r>
            <a:endParaRPr b="0" i="0" sz="1100" u="none" cap="none" strike="noStrike">
              <a:solidFill>
                <a:schemeClr val="dk1"/>
              </a:solidFill>
              <a:latin typeface="Arial"/>
              <a:ea typeface="Arial"/>
              <a:cs typeface="Arial"/>
              <a:sym typeface="Arial"/>
            </a:endParaRPr>
          </a:p>
        </p:txBody>
      </p:sp>
      <p:sp>
        <p:nvSpPr>
          <p:cNvPr id="622" name="Google Shape;622;p53"/>
          <p:cNvSpPr/>
          <p:nvPr/>
        </p:nvSpPr>
        <p:spPr>
          <a:xfrm>
            <a:off x="7178040" y="1792224"/>
            <a:ext cx="114300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623" name="Google Shape;623;p53"/>
          <p:cNvSpPr/>
          <p:nvPr/>
        </p:nvSpPr>
        <p:spPr>
          <a:xfrm>
            <a:off x="4800600" y="2084832"/>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624" name="Google Shape;624;p53"/>
          <p:cNvSpPr/>
          <p:nvPr/>
        </p:nvSpPr>
        <p:spPr>
          <a:xfrm>
            <a:off x="5989320" y="2084832"/>
            <a:ext cx="118872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00"/>
              <a:buFont typeface="Arial"/>
              <a:buNone/>
            </a:pPr>
            <a:r>
              <a:rPr b="0" i="0" lang="en" sz="1100" u="none" cap="none" strike="noStrike">
                <a:solidFill>
                  <a:srgbClr val="111827"/>
                </a:solidFill>
                <a:latin typeface="Arial"/>
                <a:ea typeface="Arial"/>
                <a:cs typeface="Arial"/>
                <a:sym typeface="Arial"/>
              </a:rPr>
              <a:t>gap-4</a:t>
            </a:r>
            <a:endParaRPr b="0" i="0" sz="1100" u="none" cap="none" strike="noStrike">
              <a:solidFill>
                <a:schemeClr val="dk1"/>
              </a:solidFill>
              <a:latin typeface="Arial"/>
              <a:ea typeface="Arial"/>
              <a:cs typeface="Arial"/>
              <a:sym typeface="Arial"/>
            </a:endParaRPr>
          </a:p>
        </p:txBody>
      </p:sp>
      <p:sp>
        <p:nvSpPr>
          <p:cNvPr id="625" name="Google Shape;625;p53"/>
          <p:cNvSpPr/>
          <p:nvPr/>
        </p:nvSpPr>
        <p:spPr>
          <a:xfrm>
            <a:off x="7178040" y="2084832"/>
            <a:ext cx="1143000" cy="292608"/>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626" name="Google Shape;626;p53"/>
          <p:cNvSpPr/>
          <p:nvPr/>
        </p:nvSpPr>
        <p:spPr>
          <a:xfrm>
            <a:off x="685800" y="2651760"/>
            <a:ext cx="1828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Do not use</a:t>
            </a:r>
            <a:endParaRPr b="0" i="0" sz="1400" u="none" cap="none" strike="noStrike">
              <a:solidFill>
                <a:schemeClr val="dk1"/>
              </a:solidFill>
              <a:latin typeface="Arial"/>
              <a:ea typeface="Arial"/>
              <a:cs typeface="Arial"/>
              <a:sym typeface="Arial"/>
            </a:endParaRPr>
          </a:p>
        </p:txBody>
      </p:sp>
      <p:sp>
        <p:nvSpPr>
          <p:cNvPr id="627" name="Google Shape;627;p53"/>
          <p:cNvSpPr/>
          <p:nvPr/>
        </p:nvSpPr>
        <p:spPr>
          <a:xfrm>
            <a:off x="777240" y="2971800"/>
            <a:ext cx="3108960" cy="10058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150"/>
              <a:buFont typeface="Arial"/>
              <a:buChar char="•"/>
            </a:pPr>
            <a:r>
              <a:rPr b="0" i="0" lang="en" sz="1150" u="none" cap="none" strike="noStrike">
                <a:solidFill>
                  <a:srgbClr val="111827"/>
                </a:solidFill>
                <a:latin typeface="Arial"/>
                <a:ea typeface="Arial"/>
                <a:cs typeface="Arial"/>
                <a:sym typeface="Arial"/>
              </a:rPr>
              <a:t>JavaScript</a:t>
            </a:r>
            <a:endParaRPr b="0" i="0" sz="11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50"/>
              <a:buFont typeface="Arial"/>
              <a:buChar char="•"/>
            </a:pPr>
            <a:r>
              <a:rPr b="0" i="0" lang="en" sz="1150" u="none" cap="none" strike="noStrike">
                <a:solidFill>
                  <a:srgbClr val="111827"/>
                </a:solidFill>
                <a:latin typeface="Arial"/>
                <a:ea typeface="Arial"/>
                <a:cs typeface="Arial"/>
                <a:sym typeface="Arial"/>
              </a:rPr>
              <a:t>custom Tailwind configuration</a:t>
            </a:r>
            <a:endParaRPr b="0" i="0" sz="11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50"/>
              <a:buFont typeface="Arial"/>
              <a:buChar char="•"/>
            </a:pPr>
            <a:r>
              <a:rPr b="0" i="0" lang="en" sz="1150" u="none" cap="none" strike="noStrike">
                <a:solidFill>
                  <a:srgbClr val="111827"/>
                </a:solidFill>
                <a:latin typeface="Arial"/>
                <a:ea typeface="Arial"/>
                <a:cs typeface="Arial"/>
                <a:sym typeface="Arial"/>
              </a:rPr>
              <a:t>arbitrary values</a:t>
            </a:r>
            <a:endParaRPr b="0" i="0" sz="11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50"/>
              <a:buFont typeface="Arial"/>
              <a:buChar char="•"/>
            </a:pPr>
            <a:r>
              <a:rPr b="0" i="0" lang="en" sz="1150" u="none" cap="none" strike="noStrike">
                <a:solidFill>
                  <a:srgbClr val="111827"/>
                </a:solidFill>
                <a:latin typeface="Arial"/>
                <a:ea typeface="Arial"/>
                <a:cs typeface="Arial"/>
                <a:sym typeface="Arial"/>
              </a:rPr>
              <a:t>Grid spans</a:t>
            </a:r>
            <a:endParaRPr b="0" i="0" sz="11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150"/>
              <a:buFont typeface="Arial"/>
              <a:buChar char="•"/>
            </a:pPr>
            <a:r>
              <a:rPr b="0" i="0" lang="en" sz="1150" u="none" cap="none" strike="noStrike">
                <a:solidFill>
                  <a:srgbClr val="111827"/>
                </a:solidFill>
                <a:latin typeface="Arial"/>
                <a:ea typeface="Arial"/>
                <a:cs typeface="Arial"/>
                <a:sym typeface="Arial"/>
              </a:rPr>
              <a:t>Flexbox growth utilities</a:t>
            </a:r>
            <a:endParaRPr b="0" i="0" sz="1150" u="none" cap="none" strike="noStrike">
              <a:solidFill>
                <a:schemeClr val="dk1"/>
              </a:solidFill>
              <a:latin typeface="Arial"/>
              <a:ea typeface="Arial"/>
              <a:cs typeface="Arial"/>
              <a:sym typeface="Arial"/>
            </a:endParaRPr>
          </a:p>
        </p:txBody>
      </p:sp>
      <p:sp>
        <p:nvSpPr>
          <p:cNvPr id="628" name="Google Shape;628;p53"/>
          <p:cNvSpPr/>
          <p:nvPr/>
        </p:nvSpPr>
        <p:spPr>
          <a:xfrm>
            <a:off x="4800600" y="2971800"/>
            <a:ext cx="3383280" cy="59436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250" lIns="1250" spcFirstLastPara="1" rIns="1250" wrap="square" tIns="1250">
            <a:noAutofit/>
          </a:bodyPr>
          <a:lstStyle/>
          <a:p>
            <a:pPr indent="0" lvl="0" marL="0" marR="0" rtl="0" algn="l">
              <a:spcBef>
                <a:spcPts val="0"/>
              </a:spcBef>
              <a:spcAft>
                <a:spcPts val="0"/>
              </a:spcAft>
              <a:buClr>
                <a:srgbClr val="334155"/>
              </a:buClr>
              <a:buSzPts val="1300"/>
              <a:buFont typeface="Arial"/>
              <a:buNone/>
            </a:pPr>
            <a:r>
              <a:rPr b="1" i="0" lang="en" sz="1300" u="none" cap="none" strike="noStrike">
                <a:solidFill>
                  <a:srgbClr val="334155"/>
                </a:solidFill>
                <a:latin typeface="Arial"/>
                <a:ea typeface="Arial"/>
                <a:cs typeface="Arial"/>
                <a:sym typeface="Arial"/>
              </a:rPr>
              <a:t>Post M1, M2, or M3 in chat after completing each milestone.</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4"/>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Milestone 1: Create the room Grid</a:t>
            </a:r>
            <a:endParaRPr b="0" i="0" sz="2100" u="none" cap="none" strike="noStrike">
              <a:solidFill>
                <a:schemeClr val="dk1"/>
              </a:solidFill>
              <a:latin typeface="Arial"/>
              <a:ea typeface="Arial"/>
              <a:cs typeface="Arial"/>
              <a:sym typeface="Arial"/>
            </a:endParaRPr>
          </a:p>
        </p:txBody>
      </p:sp>
      <p:sp>
        <p:nvSpPr>
          <p:cNvPr id="635" name="Google Shape;635;p54"/>
          <p:cNvSpPr/>
          <p:nvPr/>
        </p:nvSpPr>
        <p:spPr>
          <a:xfrm>
            <a:off x="685800" y="868680"/>
            <a:ext cx="3291840" cy="9144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&lt;section&gt;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  &lt;!-- room cards --&gt;</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50"/>
              <a:buFont typeface="Courier New"/>
              <a:buNone/>
            </a:pPr>
            <a:r>
              <a:rPr b="0" i="0" lang="en" sz="1250" u="none" cap="none" strike="noStrike">
                <a:solidFill>
                  <a:srgbClr val="FFFFFF"/>
                </a:solidFill>
                <a:latin typeface="Courier New"/>
                <a:ea typeface="Courier New"/>
                <a:cs typeface="Courier New"/>
                <a:sym typeface="Courier New"/>
              </a:rPr>
              <a:t>&lt;/section&gt;</a:t>
            </a:r>
            <a:endParaRPr b="0" i="0" sz="1250" u="none" cap="none" strike="noStrike">
              <a:solidFill>
                <a:schemeClr val="dk1"/>
              </a:solidFill>
              <a:latin typeface="Arial"/>
              <a:ea typeface="Arial"/>
              <a:cs typeface="Arial"/>
              <a:sym typeface="Arial"/>
            </a:endParaRPr>
          </a:p>
        </p:txBody>
      </p:sp>
      <p:sp>
        <p:nvSpPr>
          <p:cNvPr id="636" name="Google Shape;636;p54"/>
          <p:cNvSpPr/>
          <p:nvPr/>
        </p:nvSpPr>
        <p:spPr>
          <a:xfrm>
            <a:off x="685800" y="1965960"/>
            <a:ext cx="393192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The room cards share one collection container.</a:t>
            </a:r>
            <a:endParaRPr b="0" i="0" sz="1400" u="none" cap="none" strike="noStrike">
              <a:solidFill>
                <a:schemeClr val="dk1"/>
              </a:solidFill>
              <a:latin typeface="Arial"/>
              <a:ea typeface="Arial"/>
              <a:cs typeface="Arial"/>
              <a:sym typeface="Arial"/>
            </a:endParaRPr>
          </a:p>
        </p:txBody>
      </p:sp>
      <p:sp>
        <p:nvSpPr>
          <p:cNvPr id="637" name="Google Shape;637;p54"/>
          <p:cNvSpPr/>
          <p:nvPr/>
        </p:nvSpPr>
        <p:spPr>
          <a:xfrm>
            <a:off x="4754880" y="868680"/>
            <a:ext cx="1828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Your task</a:t>
            </a:r>
            <a:endParaRPr b="0" i="0" sz="1500" u="none" cap="none" strike="noStrike">
              <a:solidFill>
                <a:schemeClr val="dk1"/>
              </a:solidFill>
              <a:latin typeface="Arial"/>
              <a:ea typeface="Arial"/>
              <a:cs typeface="Arial"/>
              <a:sym typeface="Arial"/>
            </a:endParaRPr>
          </a:p>
        </p:txBody>
      </p:sp>
      <p:sp>
        <p:nvSpPr>
          <p:cNvPr id="638" name="Google Shape;638;p54"/>
          <p:cNvSpPr/>
          <p:nvPr/>
        </p:nvSpPr>
        <p:spPr>
          <a:xfrm>
            <a:off x="4754880" y="1188720"/>
            <a:ext cx="3474720" cy="10058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Turn the collection into a Grid container.</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Keep one column as the base layout.</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Add consistent space between the room cards.</a:t>
            </a:r>
            <a:endParaRPr b="0" i="0" sz="1300" u="none" cap="none" strike="noStrike">
              <a:solidFill>
                <a:schemeClr val="dk1"/>
              </a:solidFill>
              <a:latin typeface="Arial"/>
              <a:ea typeface="Arial"/>
              <a:cs typeface="Arial"/>
              <a:sym typeface="Arial"/>
            </a:endParaRPr>
          </a:p>
        </p:txBody>
      </p:sp>
      <p:sp>
        <p:nvSpPr>
          <p:cNvPr id="639" name="Google Shape;639;p54"/>
          <p:cNvSpPr/>
          <p:nvPr/>
        </p:nvSpPr>
        <p:spPr>
          <a:xfrm>
            <a:off x="4754880" y="2514600"/>
            <a:ext cx="219456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Completion check</a:t>
            </a:r>
            <a:endParaRPr b="0" i="0" sz="1500" u="none" cap="none" strike="noStrike">
              <a:solidFill>
                <a:schemeClr val="dk1"/>
              </a:solidFill>
              <a:latin typeface="Arial"/>
              <a:ea typeface="Arial"/>
              <a:cs typeface="Arial"/>
              <a:sym typeface="Arial"/>
            </a:endParaRPr>
          </a:p>
        </p:txBody>
      </p:sp>
      <p:sp>
        <p:nvSpPr>
          <p:cNvPr id="640" name="Google Shape;640;p54"/>
          <p:cNvSpPr/>
          <p:nvPr/>
        </p:nvSpPr>
        <p:spPr>
          <a:xfrm>
            <a:off x="4754880" y="2834640"/>
            <a:ext cx="3474720" cy="960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250"/>
              <a:buFont typeface="Arial"/>
              <a:buChar char="•"/>
            </a:pPr>
            <a:r>
              <a:rPr b="0" i="0" lang="en" sz="1250" u="none" cap="none" strike="noStrike">
                <a:solidFill>
                  <a:srgbClr val="111827"/>
                </a:solidFill>
                <a:latin typeface="Arial"/>
                <a:ea typeface="Arial"/>
                <a:cs typeface="Arial"/>
                <a:sym typeface="Arial"/>
              </a:rPr>
              <a:t>The cards remain in one column.</a:t>
            </a:r>
            <a:endParaRPr b="0" i="0" sz="12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250"/>
              <a:buFont typeface="Arial"/>
              <a:buChar char="•"/>
            </a:pPr>
            <a:r>
              <a:rPr b="0" i="0" lang="en" sz="1250" u="none" cap="none" strike="noStrike">
                <a:solidFill>
                  <a:srgbClr val="111827"/>
                </a:solidFill>
                <a:latin typeface="Arial"/>
                <a:ea typeface="Arial"/>
                <a:cs typeface="Arial"/>
                <a:sym typeface="Arial"/>
              </a:rPr>
              <a:t>The collection now uses Grid.</a:t>
            </a:r>
            <a:endParaRPr b="0" i="0" sz="12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250"/>
              <a:buFont typeface="Arial"/>
              <a:buChar char="•"/>
            </a:pPr>
            <a:r>
              <a:rPr b="0" i="0" lang="en" sz="1250" u="none" cap="none" strike="noStrike">
                <a:solidFill>
                  <a:srgbClr val="111827"/>
                </a:solidFill>
                <a:latin typeface="Arial"/>
                <a:ea typeface="Arial"/>
                <a:cs typeface="Arial"/>
                <a:sym typeface="Arial"/>
              </a:rPr>
              <a:t>The space between the cards is consistent.</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55"/>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Milestone 2: Make the Grid responsive</a:t>
            </a:r>
            <a:endParaRPr b="0" i="0" sz="2100" u="none" cap="none" strike="noStrike">
              <a:solidFill>
                <a:schemeClr val="dk1"/>
              </a:solidFill>
              <a:latin typeface="Arial"/>
              <a:ea typeface="Arial"/>
              <a:cs typeface="Arial"/>
              <a:sym typeface="Arial"/>
            </a:endParaRPr>
          </a:p>
        </p:txBody>
      </p:sp>
      <p:sp>
        <p:nvSpPr>
          <p:cNvPr id="647" name="Google Shape;647;p55"/>
          <p:cNvSpPr/>
          <p:nvPr/>
        </p:nvSpPr>
        <p:spPr>
          <a:xfrm>
            <a:off x="685800" y="914400"/>
            <a:ext cx="27432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Current layout</a:t>
            </a:r>
            <a:endParaRPr b="0" i="0" sz="1400" u="none" cap="none" strike="noStrike">
              <a:solidFill>
                <a:schemeClr val="dk1"/>
              </a:solidFill>
              <a:latin typeface="Arial"/>
              <a:ea typeface="Arial"/>
              <a:cs typeface="Arial"/>
              <a:sym typeface="Arial"/>
            </a:endParaRPr>
          </a:p>
        </p:txBody>
      </p:sp>
      <p:sp>
        <p:nvSpPr>
          <p:cNvPr id="648" name="Google Shape;648;p55"/>
          <p:cNvSpPr/>
          <p:nvPr/>
        </p:nvSpPr>
        <p:spPr>
          <a:xfrm>
            <a:off x="685800" y="1325880"/>
            <a:ext cx="402336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260"/>
              <a:buFont typeface="Courier New"/>
              <a:buNone/>
            </a:pPr>
            <a:r>
              <a:rPr b="0" i="0" lang="en" sz="1260" u="none" cap="none" strike="noStrike">
                <a:solidFill>
                  <a:srgbClr val="111827"/>
                </a:solidFill>
                <a:latin typeface="Courier New"/>
                <a:ea typeface="Courier New"/>
                <a:cs typeface="Courier New"/>
                <a:sym typeface="Courier New"/>
              </a:rPr>
              <a:t>class="grid grid-cols-1 gap-4"</a:t>
            </a:r>
            <a:endParaRPr b="0" i="0" sz="1260" u="none" cap="none" strike="noStrike">
              <a:solidFill>
                <a:schemeClr val="dk1"/>
              </a:solidFill>
              <a:latin typeface="Arial"/>
              <a:ea typeface="Arial"/>
              <a:cs typeface="Arial"/>
              <a:sym typeface="Arial"/>
            </a:endParaRPr>
          </a:p>
        </p:txBody>
      </p:sp>
      <p:sp>
        <p:nvSpPr>
          <p:cNvPr id="649" name="Google Shape;649;p55"/>
          <p:cNvSpPr/>
          <p:nvPr/>
        </p:nvSpPr>
        <p:spPr>
          <a:xfrm>
            <a:off x="685800" y="2057400"/>
            <a:ext cx="32004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Add one responsive utility</a:t>
            </a:r>
            <a:endParaRPr b="0" i="0" sz="1400" u="none" cap="none" strike="noStrike">
              <a:solidFill>
                <a:schemeClr val="dk1"/>
              </a:solidFill>
              <a:latin typeface="Arial"/>
              <a:ea typeface="Arial"/>
              <a:cs typeface="Arial"/>
              <a:sym typeface="Arial"/>
            </a:endParaRPr>
          </a:p>
        </p:txBody>
      </p:sp>
      <p:sp>
        <p:nvSpPr>
          <p:cNvPr id="650" name="Google Shape;650;p55"/>
          <p:cNvSpPr/>
          <p:nvPr/>
        </p:nvSpPr>
        <p:spPr>
          <a:xfrm>
            <a:off x="685800" y="2423160"/>
            <a:ext cx="201168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600"/>
              <a:buFont typeface="Courier New"/>
              <a:buNone/>
            </a:pPr>
            <a:r>
              <a:rPr b="0" i="0" lang="en" sz="1600" u="none" cap="none" strike="noStrike">
                <a:solidFill>
                  <a:srgbClr val="111827"/>
                </a:solidFill>
                <a:latin typeface="Courier New"/>
                <a:ea typeface="Courier New"/>
                <a:cs typeface="Courier New"/>
                <a:sym typeface="Courier New"/>
              </a:rPr>
              <a:t>md:...</a:t>
            </a:r>
            <a:endParaRPr b="0" i="0" sz="1600" u="none" cap="none" strike="noStrike">
              <a:solidFill>
                <a:schemeClr val="dk1"/>
              </a:solidFill>
              <a:latin typeface="Arial"/>
              <a:ea typeface="Arial"/>
              <a:cs typeface="Arial"/>
              <a:sym typeface="Arial"/>
            </a:endParaRPr>
          </a:p>
        </p:txBody>
      </p:sp>
      <p:sp>
        <p:nvSpPr>
          <p:cNvPr id="651" name="Google Shape;651;p55"/>
          <p:cNvSpPr/>
          <p:nvPr/>
        </p:nvSpPr>
        <p:spPr>
          <a:xfrm>
            <a:off x="5074920" y="868680"/>
            <a:ext cx="1828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Your task</a:t>
            </a:r>
            <a:endParaRPr b="0" i="0" sz="1500" u="none" cap="none" strike="noStrike">
              <a:solidFill>
                <a:schemeClr val="dk1"/>
              </a:solidFill>
              <a:latin typeface="Arial"/>
              <a:ea typeface="Arial"/>
              <a:cs typeface="Arial"/>
              <a:sym typeface="Arial"/>
            </a:endParaRPr>
          </a:p>
        </p:txBody>
      </p:sp>
      <p:sp>
        <p:nvSpPr>
          <p:cNvPr id="652" name="Google Shape;652;p55"/>
          <p:cNvSpPr/>
          <p:nvPr/>
        </p:nvSpPr>
        <p:spPr>
          <a:xfrm>
            <a:off x="5074920" y="1207008"/>
            <a:ext cx="3200400" cy="68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Keep one column by default.</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Use two columns at the md breakpoint and wider.</a:t>
            </a:r>
            <a:endParaRPr b="0" i="0" sz="1300" u="none" cap="none" strike="noStrike">
              <a:solidFill>
                <a:schemeClr val="dk1"/>
              </a:solidFill>
              <a:latin typeface="Arial"/>
              <a:ea typeface="Arial"/>
              <a:cs typeface="Arial"/>
              <a:sym typeface="Arial"/>
            </a:endParaRPr>
          </a:p>
        </p:txBody>
      </p:sp>
      <p:sp>
        <p:nvSpPr>
          <p:cNvPr id="653" name="Google Shape;653;p55"/>
          <p:cNvSpPr/>
          <p:nvPr/>
        </p:nvSpPr>
        <p:spPr>
          <a:xfrm>
            <a:off x="5074920" y="2240280"/>
            <a:ext cx="1554480" cy="36576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1" i="0" lang="en" sz="1150" u="none" cap="none" strike="noStrike">
                <a:solidFill>
                  <a:srgbClr val="111827"/>
                </a:solidFill>
                <a:latin typeface="Arial"/>
                <a:ea typeface="Arial"/>
                <a:cs typeface="Arial"/>
                <a:sym typeface="Arial"/>
              </a:rPr>
              <a:t>Narrow viewport</a:t>
            </a:r>
            <a:endParaRPr b="0" i="0" sz="1150" u="none" cap="none" strike="noStrike">
              <a:solidFill>
                <a:schemeClr val="dk1"/>
              </a:solidFill>
              <a:latin typeface="Arial"/>
              <a:ea typeface="Arial"/>
              <a:cs typeface="Arial"/>
              <a:sym typeface="Arial"/>
            </a:endParaRPr>
          </a:p>
        </p:txBody>
      </p:sp>
      <p:sp>
        <p:nvSpPr>
          <p:cNvPr id="654" name="Google Shape;654;p55"/>
          <p:cNvSpPr/>
          <p:nvPr/>
        </p:nvSpPr>
        <p:spPr>
          <a:xfrm>
            <a:off x="6629400" y="2240280"/>
            <a:ext cx="1554480" cy="36576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1" i="0" lang="en" sz="1150" u="none" cap="none" strike="noStrike">
                <a:solidFill>
                  <a:srgbClr val="111827"/>
                </a:solidFill>
                <a:latin typeface="Arial"/>
                <a:ea typeface="Arial"/>
                <a:cs typeface="Arial"/>
                <a:sym typeface="Arial"/>
              </a:rPr>
              <a:t>md and wider</a:t>
            </a:r>
            <a:endParaRPr b="0" i="0" sz="1150" u="none" cap="none" strike="noStrike">
              <a:solidFill>
                <a:schemeClr val="dk1"/>
              </a:solidFill>
              <a:latin typeface="Arial"/>
              <a:ea typeface="Arial"/>
              <a:cs typeface="Arial"/>
              <a:sym typeface="Arial"/>
            </a:endParaRPr>
          </a:p>
        </p:txBody>
      </p:sp>
      <p:sp>
        <p:nvSpPr>
          <p:cNvPr id="655" name="Google Shape;655;p55"/>
          <p:cNvSpPr/>
          <p:nvPr/>
        </p:nvSpPr>
        <p:spPr>
          <a:xfrm>
            <a:off x="5074920" y="2606040"/>
            <a:ext cx="1554480" cy="3657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One column</a:t>
            </a:r>
            <a:endParaRPr b="0" i="0" sz="1150" u="none" cap="none" strike="noStrike">
              <a:solidFill>
                <a:schemeClr val="dk1"/>
              </a:solidFill>
              <a:latin typeface="Arial"/>
              <a:ea typeface="Arial"/>
              <a:cs typeface="Arial"/>
              <a:sym typeface="Arial"/>
            </a:endParaRPr>
          </a:p>
        </p:txBody>
      </p:sp>
      <p:sp>
        <p:nvSpPr>
          <p:cNvPr id="656" name="Google Shape;656;p55"/>
          <p:cNvSpPr/>
          <p:nvPr/>
        </p:nvSpPr>
        <p:spPr>
          <a:xfrm>
            <a:off x="6629400" y="2606040"/>
            <a:ext cx="1554480" cy="36576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150"/>
              <a:buFont typeface="Arial"/>
              <a:buNone/>
            </a:pPr>
            <a:r>
              <a:rPr b="0" i="0" lang="en" sz="1150" u="none" cap="none" strike="noStrike">
                <a:solidFill>
                  <a:srgbClr val="111827"/>
                </a:solidFill>
                <a:latin typeface="Arial"/>
                <a:ea typeface="Arial"/>
                <a:cs typeface="Arial"/>
                <a:sym typeface="Arial"/>
              </a:rPr>
              <a:t>Two columns</a:t>
            </a:r>
            <a:endParaRPr b="0" i="0" sz="1150" u="none"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6"/>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Milestone 3: Arrange the room details</a:t>
            </a:r>
            <a:endParaRPr b="0" i="0" sz="2100" u="none" cap="none" strike="noStrike">
              <a:solidFill>
                <a:schemeClr val="dk1"/>
              </a:solidFill>
              <a:latin typeface="Arial"/>
              <a:ea typeface="Arial"/>
              <a:cs typeface="Arial"/>
              <a:sym typeface="Arial"/>
            </a:endParaRPr>
          </a:p>
        </p:txBody>
      </p:sp>
      <p:sp>
        <p:nvSpPr>
          <p:cNvPr id="663" name="Google Shape;663;p56"/>
          <p:cNvSpPr/>
          <p:nvPr/>
        </p:nvSpPr>
        <p:spPr>
          <a:xfrm>
            <a:off x="685800" y="868680"/>
            <a:ext cx="3291840" cy="123444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30"/>
              <a:buFont typeface="Courier New"/>
              <a:buNone/>
            </a:pPr>
            <a:r>
              <a:rPr b="0" i="0" lang="en" sz="1230" u="none" cap="none" strike="noStrike">
                <a:solidFill>
                  <a:srgbClr val="FFFFFF"/>
                </a:solidFill>
                <a:latin typeface="Courier New"/>
                <a:ea typeface="Courier New"/>
                <a:cs typeface="Courier New"/>
                <a:sym typeface="Courier New"/>
              </a:rPr>
              <a:t>&lt;div&gt;</a:t>
            </a:r>
            <a:endParaRPr b="0" i="0" sz="123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30"/>
              <a:buFont typeface="Courier New"/>
              <a:buNone/>
            </a:pPr>
            <a:r>
              <a:rPr b="0" i="0" lang="en" sz="1230" u="none" cap="none" strike="noStrike">
                <a:solidFill>
                  <a:srgbClr val="FFFFFF"/>
                </a:solidFill>
                <a:latin typeface="Courier New"/>
                <a:ea typeface="Courier New"/>
                <a:cs typeface="Courier New"/>
                <a:sym typeface="Courier New"/>
              </a:rPr>
              <a:t>  &lt;h2&gt;Focus Room&lt;/h2&gt;</a:t>
            </a:r>
            <a:endParaRPr b="0" i="0" sz="123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30"/>
              <a:buFont typeface="Courier New"/>
              <a:buNone/>
            </a:pPr>
            <a:r>
              <a:rPr b="0" i="0" lang="en" sz="1230" u="none" cap="none" strike="noStrike">
                <a:solidFill>
                  <a:srgbClr val="FFFFFF"/>
                </a:solidFill>
                <a:latin typeface="Courier New"/>
                <a:ea typeface="Courier New"/>
                <a:cs typeface="Courier New"/>
                <a:sym typeface="Courier New"/>
              </a:rPr>
              <a:t>  &lt;span&gt;Available&lt;/span&gt;</a:t>
            </a:r>
            <a:endParaRPr b="0" i="0" sz="123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30"/>
              <a:buFont typeface="Courier New"/>
              <a:buNone/>
            </a:pPr>
            <a:r>
              <a:rPr b="0" i="0" lang="en" sz="1230" u="none" cap="none" strike="noStrike">
                <a:solidFill>
                  <a:srgbClr val="FFFFFF"/>
                </a:solidFill>
                <a:latin typeface="Courier New"/>
                <a:ea typeface="Courier New"/>
                <a:cs typeface="Courier New"/>
                <a:sym typeface="Courier New"/>
              </a:rPr>
              <a:t>&lt;/div&gt;</a:t>
            </a:r>
            <a:endParaRPr b="0" i="0" sz="1230" u="none" cap="none" strike="noStrike">
              <a:solidFill>
                <a:schemeClr val="dk1"/>
              </a:solidFill>
              <a:latin typeface="Arial"/>
              <a:ea typeface="Arial"/>
              <a:cs typeface="Arial"/>
              <a:sym typeface="Arial"/>
            </a:endParaRPr>
          </a:p>
        </p:txBody>
      </p:sp>
      <p:sp>
        <p:nvSpPr>
          <p:cNvPr id="664" name="Google Shape;664;p56"/>
          <p:cNvSpPr/>
          <p:nvPr/>
        </p:nvSpPr>
        <p:spPr>
          <a:xfrm>
            <a:off x="685800" y="2331720"/>
            <a:ext cx="3931920" cy="36576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Each room card contains a room name and availability status.</a:t>
            </a:r>
            <a:endParaRPr b="0" i="0" sz="1350" u="none" cap="none" strike="noStrike">
              <a:solidFill>
                <a:schemeClr val="dk1"/>
              </a:solidFill>
              <a:latin typeface="Arial"/>
              <a:ea typeface="Arial"/>
              <a:cs typeface="Arial"/>
              <a:sym typeface="Arial"/>
            </a:endParaRPr>
          </a:p>
        </p:txBody>
      </p:sp>
      <p:sp>
        <p:nvSpPr>
          <p:cNvPr id="665" name="Google Shape;665;p56"/>
          <p:cNvSpPr/>
          <p:nvPr/>
        </p:nvSpPr>
        <p:spPr>
          <a:xfrm>
            <a:off x="4800600" y="868680"/>
            <a:ext cx="1828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Your task</a:t>
            </a:r>
            <a:endParaRPr b="0" i="0" sz="1500" u="none" cap="none" strike="noStrike">
              <a:solidFill>
                <a:schemeClr val="dk1"/>
              </a:solidFill>
              <a:latin typeface="Arial"/>
              <a:ea typeface="Arial"/>
              <a:cs typeface="Arial"/>
              <a:sym typeface="Arial"/>
            </a:endParaRPr>
          </a:p>
        </p:txBody>
      </p:sp>
      <p:sp>
        <p:nvSpPr>
          <p:cNvPr id="666" name="Google Shape;666;p56"/>
          <p:cNvSpPr/>
          <p:nvPr/>
        </p:nvSpPr>
        <p:spPr>
          <a:xfrm>
            <a:off x="4800600" y="1216152"/>
            <a:ext cx="3383280" cy="8686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appear on one row</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align on the cross axis</a:t>
            </a:r>
            <a:endParaRPr b="0" i="0" sz="13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300"/>
              <a:buFont typeface="Arial"/>
              <a:buChar char="•"/>
            </a:pPr>
            <a:r>
              <a:rPr b="0" i="0" lang="en" sz="1300" u="none" cap="none" strike="noStrike">
                <a:solidFill>
                  <a:srgbClr val="111827"/>
                </a:solidFill>
                <a:latin typeface="Arial"/>
                <a:ea typeface="Arial"/>
                <a:cs typeface="Arial"/>
                <a:sym typeface="Arial"/>
              </a:rPr>
              <a:t>sit at opposite ends of the row</a:t>
            </a:r>
            <a:endParaRPr b="0" i="0" sz="1300" u="none" cap="none" strike="noStrike">
              <a:solidFill>
                <a:schemeClr val="dk1"/>
              </a:solidFill>
              <a:latin typeface="Arial"/>
              <a:ea typeface="Arial"/>
              <a:cs typeface="Arial"/>
              <a:sym typeface="Arial"/>
            </a:endParaRPr>
          </a:p>
        </p:txBody>
      </p:sp>
      <p:sp>
        <p:nvSpPr>
          <p:cNvPr id="667" name="Google Shape;667;p56"/>
          <p:cNvSpPr/>
          <p:nvPr/>
        </p:nvSpPr>
        <p:spPr>
          <a:xfrm>
            <a:off x="4800600" y="2423160"/>
            <a:ext cx="3291840" cy="777240"/>
          </a:xfrm>
          <a:prstGeom prst="roundRect">
            <a:avLst>
              <a:gd fmla="val 3529"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6"/>
          <p:cNvSpPr/>
          <p:nvPr/>
        </p:nvSpPr>
        <p:spPr>
          <a:xfrm>
            <a:off x="4800600" y="2423160"/>
            <a:ext cx="329184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6"/>
          <p:cNvSpPr/>
          <p:nvPr/>
        </p:nvSpPr>
        <p:spPr>
          <a:xfrm>
            <a:off x="4910328" y="2478024"/>
            <a:ext cx="30723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completion check</a:t>
            </a:r>
            <a:endParaRPr b="0" i="0" sz="850" u="none" cap="none" strike="noStrike">
              <a:solidFill>
                <a:schemeClr val="dk1"/>
              </a:solidFill>
              <a:latin typeface="Arial"/>
              <a:ea typeface="Arial"/>
              <a:cs typeface="Arial"/>
              <a:sym typeface="Arial"/>
            </a:endParaRPr>
          </a:p>
        </p:txBody>
      </p:sp>
      <p:sp>
        <p:nvSpPr>
          <p:cNvPr id="670" name="Google Shape;670;p56"/>
          <p:cNvSpPr/>
          <p:nvPr/>
        </p:nvSpPr>
        <p:spPr>
          <a:xfrm>
            <a:off x="5074920" y="2770632"/>
            <a:ext cx="109728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Focus Room</a:t>
            </a:r>
            <a:endParaRPr b="0" i="0" sz="800" u="none" cap="none" strike="noStrike">
              <a:solidFill>
                <a:schemeClr val="dk1"/>
              </a:solidFill>
              <a:latin typeface="Arial"/>
              <a:ea typeface="Arial"/>
              <a:cs typeface="Arial"/>
              <a:sym typeface="Arial"/>
            </a:endParaRPr>
          </a:p>
        </p:txBody>
      </p:sp>
      <p:sp>
        <p:nvSpPr>
          <p:cNvPr id="671" name="Google Shape;671;p56"/>
          <p:cNvSpPr/>
          <p:nvPr/>
        </p:nvSpPr>
        <p:spPr>
          <a:xfrm>
            <a:off x="7086600" y="2770632"/>
            <a:ext cx="777240" cy="219456"/>
          </a:xfrm>
          <a:prstGeom prst="rect">
            <a:avLst/>
          </a:prstGeom>
          <a:solidFill>
            <a:srgbClr val="DCFCE7"/>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800"/>
              <a:buFont typeface="Arial"/>
              <a:buNone/>
            </a:pPr>
            <a:r>
              <a:rPr b="0" i="0" lang="en" sz="800" u="none" cap="none" strike="noStrike">
                <a:solidFill>
                  <a:srgbClr val="111827"/>
                </a:solidFill>
                <a:latin typeface="Arial"/>
                <a:ea typeface="Arial"/>
                <a:cs typeface="Arial"/>
                <a:sym typeface="Arial"/>
              </a:rPr>
              <a:t>Available</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7"/>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Activity review</a:t>
            </a:r>
            <a:endParaRPr b="0" i="0" sz="2100" u="none" cap="none" strike="noStrike">
              <a:solidFill>
                <a:schemeClr val="dk1"/>
              </a:solidFill>
              <a:latin typeface="Arial"/>
              <a:ea typeface="Arial"/>
              <a:cs typeface="Arial"/>
              <a:sym typeface="Arial"/>
            </a:endParaRPr>
          </a:p>
        </p:txBody>
      </p:sp>
      <p:sp>
        <p:nvSpPr>
          <p:cNvPr id="678" name="Google Shape;678;p57"/>
          <p:cNvSpPr/>
          <p:nvPr/>
        </p:nvSpPr>
        <p:spPr>
          <a:xfrm>
            <a:off x="685800" y="868680"/>
            <a:ext cx="27432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Room collection</a:t>
            </a:r>
            <a:endParaRPr b="0" i="0" sz="1400" u="none" cap="none" strike="noStrike">
              <a:solidFill>
                <a:schemeClr val="dk1"/>
              </a:solidFill>
              <a:latin typeface="Arial"/>
              <a:ea typeface="Arial"/>
              <a:cs typeface="Arial"/>
              <a:sym typeface="Arial"/>
            </a:endParaRPr>
          </a:p>
        </p:txBody>
      </p:sp>
      <p:sp>
        <p:nvSpPr>
          <p:cNvPr id="679" name="Google Shape;679;p57"/>
          <p:cNvSpPr/>
          <p:nvPr/>
        </p:nvSpPr>
        <p:spPr>
          <a:xfrm>
            <a:off x="685800" y="1188720"/>
            <a:ext cx="475488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080"/>
              <a:buFont typeface="Courier New"/>
              <a:buNone/>
            </a:pPr>
            <a:r>
              <a:rPr b="0" i="0" lang="en" sz="1080" u="none" cap="none" strike="noStrike">
                <a:solidFill>
                  <a:srgbClr val="111827"/>
                </a:solidFill>
                <a:latin typeface="Courier New"/>
                <a:ea typeface="Courier New"/>
                <a:cs typeface="Courier New"/>
                <a:sym typeface="Courier New"/>
              </a:rPr>
              <a:t>class="grid grid-cols-1 gap-4 md:grid-cols-2"</a:t>
            </a:r>
            <a:endParaRPr b="0" i="0" sz="1080" u="none" cap="none" strike="noStrike">
              <a:solidFill>
                <a:schemeClr val="dk1"/>
              </a:solidFill>
              <a:latin typeface="Arial"/>
              <a:ea typeface="Arial"/>
              <a:cs typeface="Arial"/>
              <a:sym typeface="Arial"/>
            </a:endParaRPr>
          </a:p>
        </p:txBody>
      </p:sp>
      <p:sp>
        <p:nvSpPr>
          <p:cNvPr id="680" name="Google Shape;680;p57"/>
          <p:cNvSpPr/>
          <p:nvPr/>
        </p:nvSpPr>
        <p:spPr>
          <a:xfrm>
            <a:off x="685800" y="1874520"/>
            <a:ext cx="27432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Room heading</a:t>
            </a:r>
            <a:endParaRPr b="0" i="0" sz="1400" u="none" cap="none" strike="noStrike">
              <a:solidFill>
                <a:schemeClr val="dk1"/>
              </a:solidFill>
              <a:latin typeface="Arial"/>
              <a:ea typeface="Arial"/>
              <a:cs typeface="Arial"/>
              <a:sym typeface="Arial"/>
            </a:endParaRPr>
          </a:p>
        </p:txBody>
      </p:sp>
      <p:sp>
        <p:nvSpPr>
          <p:cNvPr id="681" name="Google Shape;681;p57"/>
          <p:cNvSpPr/>
          <p:nvPr/>
        </p:nvSpPr>
        <p:spPr>
          <a:xfrm>
            <a:off x="685800" y="2194560"/>
            <a:ext cx="3931920" cy="411480"/>
          </a:xfrm>
          <a:prstGeom prst="rect">
            <a:avLst/>
          </a:prstGeom>
          <a:solidFill>
            <a:srgbClr val="F3F4F6"/>
          </a:solidFill>
          <a:ln cap="flat" cmpd="sng" w="12700">
            <a:solidFill>
              <a:srgbClr val="CBD5E1"/>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111827"/>
              </a:buClr>
              <a:buSzPts val="1150"/>
              <a:buFont typeface="Courier New"/>
              <a:buNone/>
            </a:pPr>
            <a:r>
              <a:rPr b="0" i="0" lang="en" sz="1150" u="none" cap="none" strike="noStrike">
                <a:solidFill>
                  <a:srgbClr val="111827"/>
                </a:solidFill>
                <a:latin typeface="Courier New"/>
                <a:ea typeface="Courier New"/>
                <a:cs typeface="Courier New"/>
                <a:sym typeface="Courier New"/>
              </a:rPr>
              <a:t>class="flex items-center justify-between"</a:t>
            </a:r>
            <a:endParaRPr b="0" i="0" sz="1150" u="none" cap="none" strike="noStrike">
              <a:solidFill>
                <a:schemeClr val="dk1"/>
              </a:solidFill>
              <a:latin typeface="Arial"/>
              <a:ea typeface="Arial"/>
              <a:cs typeface="Arial"/>
              <a:sym typeface="Arial"/>
            </a:endParaRPr>
          </a:p>
        </p:txBody>
      </p:sp>
      <p:sp>
        <p:nvSpPr>
          <p:cNvPr id="682" name="Google Shape;682;p57"/>
          <p:cNvSpPr/>
          <p:nvPr/>
        </p:nvSpPr>
        <p:spPr>
          <a:xfrm>
            <a:off x="685800" y="2880360"/>
            <a:ext cx="1828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Review</a:t>
            </a:r>
            <a:endParaRPr b="0" i="0" sz="1400" u="none" cap="none" strike="noStrike">
              <a:solidFill>
                <a:schemeClr val="dk1"/>
              </a:solidFill>
              <a:latin typeface="Arial"/>
              <a:ea typeface="Arial"/>
              <a:cs typeface="Arial"/>
              <a:sym typeface="Arial"/>
            </a:endParaRPr>
          </a:p>
        </p:txBody>
      </p:sp>
      <p:sp>
        <p:nvSpPr>
          <p:cNvPr id="683" name="Google Shape;683;p57"/>
          <p:cNvSpPr/>
          <p:nvPr/>
        </p:nvSpPr>
        <p:spPr>
          <a:xfrm>
            <a:off x="685800" y="3200400"/>
            <a:ext cx="4572000" cy="9144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070"/>
              <a:buFont typeface="Arial"/>
              <a:buNone/>
            </a:pPr>
            <a:r>
              <a:rPr b="0" i="0" lang="en" sz="1070" u="none" cap="none" strike="noStrike">
                <a:solidFill>
                  <a:srgbClr val="111827"/>
                </a:solidFill>
                <a:latin typeface="Arial"/>
                <a:ea typeface="Arial"/>
                <a:cs typeface="Arial"/>
                <a:sym typeface="Arial"/>
              </a:rPr>
              <a:t>1. Which element controls the room cards?</a:t>
            </a:r>
            <a:endParaRPr b="0" i="0" sz="10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070"/>
              <a:buFont typeface="Arial"/>
              <a:buNone/>
            </a:pPr>
            <a:r>
              <a:rPr b="0" i="0" lang="en" sz="1070" u="none" cap="none" strike="noStrike">
                <a:solidFill>
                  <a:srgbClr val="111827"/>
                </a:solidFill>
                <a:latin typeface="Arial"/>
                <a:ea typeface="Arial"/>
                <a:cs typeface="Arial"/>
                <a:sym typeface="Arial"/>
              </a:rPr>
              <a:t>2. Which element controls the room name and status?</a:t>
            </a:r>
            <a:endParaRPr b="0" i="0" sz="10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070"/>
              <a:buFont typeface="Arial"/>
              <a:buNone/>
            </a:pPr>
            <a:r>
              <a:rPr b="0" i="0" lang="en" sz="1070" u="none" cap="none" strike="noStrike">
                <a:solidFill>
                  <a:srgbClr val="111827"/>
                </a:solidFill>
                <a:latin typeface="Arial"/>
                <a:ea typeface="Arial"/>
                <a:cs typeface="Arial"/>
                <a:sym typeface="Arial"/>
              </a:rPr>
              <a:t>3. What does 1 represent in grid-cols-1?</a:t>
            </a:r>
            <a:endParaRPr b="0" i="0" sz="10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070"/>
              <a:buFont typeface="Arial"/>
              <a:buNone/>
            </a:pPr>
            <a:r>
              <a:rPr b="0" i="0" lang="en" sz="1070" u="none" cap="none" strike="noStrike">
                <a:solidFill>
                  <a:srgbClr val="111827"/>
                </a:solidFill>
                <a:latin typeface="Arial"/>
                <a:ea typeface="Arial"/>
                <a:cs typeface="Arial"/>
                <a:sym typeface="Arial"/>
              </a:rPr>
              <a:t>4. What does 4 represent in gap-4?</a:t>
            </a:r>
            <a:endParaRPr b="0" i="0" sz="107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070"/>
              <a:buFont typeface="Arial"/>
              <a:buNone/>
            </a:pPr>
            <a:r>
              <a:rPr b="0" i="0" lang="en" sz="1070" u="none" cap="none" strike="noStrike">
                <a:solidFill>
                  <a:srgbClr val="111827"/>
                </a:solidFill>
                <a:latin typeface="Arial"/>
                <a:ea typeface="Arial"/>
                <a:cs typeface="Arial"/>
                <a:sym typeface="Arial"/>
              </a:rPr>
              <a:t>5. Which class changes only at the breakpoint?</a:t>
            </a:r>
            <a:endParaRPr b="0" i="0" sz="1070" u="none" cap="none" strike="noStrike">
              <a:solidFill>
                <a:schemeClr val="dk1"/>
              </a:solidFill>
              <a:latin typeface="Arial"/>
              <a:ea typeface="Arial"/>
              <a:cs typeface="Arial"/>
              <a:sym typeface="Arial"/>
            </a:endParaRPr>
          </a:p>
        </p:txBody>
      </p:sp>
      <p:sp>
        <p:nvSpPr>
          <p:cNvPr id="684" name="Google Shape;684;p57"/>
          <p:cNvSpPr/>
          <p:nvPr/>
        </p:nvSpPr>
        <p:spPr>
          <a:xfrm>
            <a:off x="5715000" y="914400"/>
            <a:ext cx="1371600" cy="1508760"/>
          </a:xfrm>
          <a:prstGeom prst="roundRect">
            <a:avLst>
              <a:gd fmla="val 2000"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7"/>
          <p:cNvSpPr/>
          <p:nvPr/>
        </p:nvSpPr>
        <p:spPr>
          <a:xfrm>
            <a:off x="5715000" y="914400"/>
            <a:ext cx="137160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57"/>
          <p:cNvSpPr/>
          <p:nvPr/>
        </p:nvSpPr>
        <p:spPr>
          <a:xfrm>
            <a:off x="5824728" y="969264"/>
            <a:ext cx="115214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narrow</a:t>
            </a:r>
            <a:endParaRPr b="0" i="0" sz="850" u="none" cap="none" strike="noStrike">
              <a:solidFill>
                <a:schemeClr val="dk1"/>
              </a:solidFill>
              <a:latin typeface="Arial"/>
              <a:ea typeface="Arial"/>
              <a:cs typeface="Arial"/>
              <a:sym typeface="Arial"/>
            </a:endParaRPr>
          </a:p>
        </p:txBody>
      </p:sp>
      <p:sp>
        <p:nvSpPr>
          <p:cNvPr id="687" name="Google Shape;687;p57"/>
          <p:cNvSpPr/>
          <p:nvPr/>
        </p:nvSpPr>
        <p:spPr>
          <a:xfrm>
            <a:off x="5870448" y="1325880"/>
            <a:ext cx="1005840" cy="22860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
        <p:nvSpPr>
          <p:cNvPr id="688" name="Google Shape;688;p57"/>
          <p:cNvSpPr/>
          <p:nvPr/>
        </p:nvSpPr>
        <p:spPr>
          <a:xfrm>
            <a:off x="5870448" y="1664208"/>
            <a:ext cx="1005840" cy="22860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
        <p:nvSpPr>
          <p:cNvPr id="689" name="Google Shape;689;p57"/>
          <p:cNvSpPr/>
          <p:nvPr/>
        </p:nvSpPr>
        <p:spPr>
          <a:xfrm>
            <a:off x="5870448" y="2002536"/>
            <a:ext cx="1005840" cy="228600"/>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
        <p:nvSpPr>
          <p:cNvPr id="690" name="Google Shape;690;p57"/>
          <p:cNvSpPr/>
          <p:nvPr/>
        </p:nvSpPr>
        <p:spPr>
          <a:xfrm>
            <a:off x="5532120" y="2743200"/>
            <a:ext cx="2286000" cy="1188720"/>
          </a:xfrm>
          <a:prstGeom prst="roundRect">
            <a:avLst>
              <a:gd fmla="val 2308"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7"/>
          <p:cNvSpPr/>
          <p:nvPr/>
        </p:nvSpPr>
        <p:spPr>
          <a:xfrm>
            <a:off x="5532120" y="2743200"/>
            <a:ext cx="2286000" cy="246888"/>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7"/>
          <p:cNvSpPr/>
          <p:nvPr/>
        </p:nvSpPr>
        <p:spPr>
          <a:xfrm>
            <a:off x="5641848" y="2798064"/>
            <a:ext cx="206654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50"/>
              <a:buFont typeface="Arial"/>
              <a:buNone/>
            </a:pPr>
            <a:r>
              <a:rPr b="0" i="0" lang="en" sz="850" u="none" cap="none" strike="noStrike">
                <a:solidFill>
                  <a:srgbClr val="4B5563"/>
                </a:solidFill>
                <a:latin typeface="Arial"/>
                <a:ea typeface="Arial"/>
                <a:cs typeface="Arial"/>
                <a:sym typeface="Arial"/>
              </a:rPr>
              <a:t>md and wider</a:t>
            </a:r>
            <a:endParaRPr b="0" i="0" sz="850" u="none" cap="none" strike="noStrike">
              <a:solidFill>
                <a:schemeClr val="dk1"/>
              </a:solidFill>
              <a:latin typeface="Arial"/>
              <a:ea typeface="Arial"/>
              <a:cs typeface="Arial"/>
              <a:sym typeface="Arial"/>
            </a:endParaRPr>
          </a:p>
        </p:txBody>
      </p:sp>
      <p:sp>
        <p:nvSpPr>
          <p:cNvPr id="693" name="Google Shape;693;p57"/>
          <p:cNvSpPr/>
          <p:nvPr/>
        </p:nvSpPr>
        <p:spPr>
          <a:xfrm>
            <a:off x="5696712" y="3136392"/>
            <a:ext cx="82296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
        <p:nvSpPr>
          <p:cNvPr id="694" name="Google Shape;694;p57"/>
          <p:cNvSpPr/>
          <p:nvPr/>
        </p:nvSpPr>
        <p:spPr>
          <a:xfrm>
            <a:off x="6793992" y="3136392"/>
            <a:ext cx="82296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
        <p:nvSpPr>
          <p:cNvPr id="695" name="Google Shape;695;p57"/>
          <p:cNvSpPr/>
          <p:nvPr/>
        </p:nvSpPr>
        <p:spPr>
          <a:xfrm>
            <a:off x="5696712" y="3493008"/>
            <a:ext cx="82296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
        <p:nvSpPr>
          <p:cNvPr id="696" name="Google Shape;696;p57"/>
          <p:cNvSpPr/>
          <p:nvPr/>
        </p:nvSpPr>
        <p:spPr>
          <a:xfrm>
            <a:off x="6793992" y="3493008"/>
            <a:ext cx="822960" cy="219456"/>
          </a:xfrm>
          <a:prstGeom prst="rect">
            <a:avLst/>
          </a:prstGeom>
          <a:solidFill>
            <a:srgbClr val="FFFFFF"/>
          </a:solidFill>
          <a:ln cap="flat" cmpd="sng" w="12700">
            <a:solidFill>
              <a:srgbClr val="94A3B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700"/>
              <a:buFont typeface="Arial"/>
              <a:buNone/>
            </a:pPr>
            <a:r>
              <a:rPr b="0" i="0" lang="en" sz="700" u="none" cap="none" strike="noStrike">
                <a:solidFill>
                  <a:srgbClr val="111827"/>
                </a:solidFill>
                <a:latin typeface="Arial"/>
                <a:ea typeface="Arial"/>
                <a:cs typeface="Arial"/>
                <a:sym typeface="Arial"/>
              </a:rPr>
              <a:t>Room</a:t>
            </a:r>
            <a:endParaRPr b="0" i="0" sz="7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8"/>
          <p:cNvSpPr/>
          <p:nvPr/>
        </p:nvSpPr>
        <p:spPr>
          <a:xfrm>
            <a:off x="658368" y="2157984"/>
            <a:ext cx="7406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500"/>
              <a:buFont typeface="Arial"/>
              <a:buNone/>
            </a:pPr>
            <a:r>
              <a:rPr b="1" i="0" lang="en" sz="2500" u="none" cap="none" strike="noStrike">
                <a:solidFill>
                  <a:srgbClr val="111827"/>
                </a:solidFill>
                <a:latin typeface="Arial"/>
                <a:ea typeface="Arial"/>
                <a:cs typeface="Arial"/>
                <a:sym typeface="Arial"/>
              </a:rPr>
              <a:t>Debug clinic</a:t>
            </a:r>
            <a:endParaRPr b="0" i="0" sz="2500" u="none" cap="none" strike="noStrike">
              <a:solidFill>
                <a:schemeClr val="dk1"/>
              </a:solidFill>
              <a:latin typeface="Arial"/>
              <a:ea typeface="Arial"/>
              <a:cs typeface="Arial"/>
              <a:sym typeface="Arial"/>
            </a:endParaRPr>
          </a:p>
        </p:txBody>
      </p:sp>
      <p:sp>
        <p:nvSpPr>
          <p:cNvPr id="703" name="Google Shape;703;p58"/>
          <p:cNvSpPr/>
          <p:nvPr/>
        </p:nvSpPr>
        <p:spPr>
          <a:xfrm>
            <a:off x="658368" y="2642616"/>
            <a:ext cx="7406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400"/>
              <a:buFont typeface="Arial"/>
              <a:buNone/>
            </a:pPr>
            <a:r>
              <a:rPr b="0" i="0" lang="en" sz="1400" u="none" cap="none" strike="noStrike">
                <a:solidFill>
                  <a:srgbClr val="4B5563"/>
                </a:solidFill>
                <a:latin typeface="Arial"/>
                <a:ea typeface="Arial"/>
                <a:cs typeface="Arial"/>
                <a:sym typeface="Arial"/>
              </a:rPr>
              <a:t>Find the cause before changing the class list.</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9"/>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The columns do not appear</a:t>
            </a:r>
            <a:endParaRPr b="0" i="0" sz="2100" u="none" cap="none" strike="noStrike">
              <a:solidFill>
                <a:schemeClr val="dk1"/>
              </a:solidFill>
              <a:latin typeface="Arial"/>
              <a:ea typeface="Arial"/>
              <a:cs typeface="Arial"/>
              <a:sym typeface="Arial"/>
            </a:endParaRPr>
          </a:p>
        </p:txBody>
      </p:sp>
      <p:sp>
        <p:nvSpPr>
          <p:cNvPr id="710" name="Google Shape;710;p59"/>
          <p:cNvSpPr/>
          <p:nvPr/>
        </p:nvSpPr>
        <p:spPr>
          <a:xfrm>
            <a:off x="685800" y="868680"/>
            <a:ext cx="493776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The cards still appear one below another.</a:t>
            </a:r>
            <a:endParaRPr b="0" i="0" sz="1500" u="none" cap="none" strike="noStrike">
              <a:solidFill>
                <a:schemeClr val="dk1"/>
              </a:solidFill>
              <a:latin typeface="Arial"/>
              <a:ea typeface="Arial"/>
              <a:cs typeface="Arial"/>
              <a:sym typeface="Arial"/>
            </a:endParaRPr>
          </a:p>
        </p:txBody>
      </p:sp>
      <p:sp>
        <p:nvSpPr>
          <p:cNvPr id="711" name="Google Shape;711;p59"/>
          <p:cNvSpPr/>
          <p:nvPr/>
        </p:nvSpPr>
        <p:spPr>
          <a:xfrm>
            <a:off x="685800" y="1280160"/>
            <a:ext cx="4114800" cy="91440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&lt;section class="grid-cols-2 gap-4"&gt;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  &lt;!-- cards --&gt;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Courier New"/>
              <a:buNone/>
            </a:pPr>
            <a:r>
              <a:rPr b="0" i="0" lang="en" sz="1200" u="none" cap="none" strike="noStrike">
                <a:solidFill>
                  <a:srgbClr val="FFFFFF"/>
                </a:solidFill>
                <a:latin typeface="Courier New"/>
                <a:ea typeface="Courier New"/>
                <a:cs typeface="Courier New"/>
                <a:sym typeface="Courier New"/>
              </a:rPr>
              <a:t>&lt;/section&gt;</a:t>
            </a:r>
            <a:endParaRPr b="0" i="0" sz="1200" u="none" cap="none" strike="noStrike">
              <a:solidFill>
                <a:schemeClr val="dk1"/>
              </a:solidFill>
              <a:latin typeface="Arial"/>
              <a:ea typeface="Arial"/>
              <a:cs typeface="Arial"/>
              <a:sym typeface="Arial"/>
            </a:endParaRPr>
          </a:p>
        </p:txBody>
      </p:sp>
      <p:sp>
        <p:nvSpPr>
          <p:cNvPr id="712" name="Google Shape;712;p59"/>
          <p:cNvSpPr/>
          <p:nvPr/>
        </p:nvSpPr>
        <p:spPr>
          <a:xfrm>
            <a:off x="5303520" y="914400"/>
            <a:ext cx="27432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What is missing?</a:t>
            </a:r>
            <a:endParaRPr b="0" i="0" sz="1500" u="none" cap="none" strike="noStrike">
              <a:solidFill>
                <a:schemeClr val="dk1"/>
              </a:solidFill>
              <a:latin typeface="Arial"/>
              <a:ea typeface="Arial"/>
              <a:cs typeface="Arial"/>
              <a:sym typeface="Arial"/>
            </a:endParaRPr>
          </a:p>
        </p:txBody>
      </p:sp>
      <p:sp>
        <p:nvSpPr>
          <p:cNvPr id="713" name="Google Shape;713;p59"/>
          <p:cNvSpPr/>
          <p:nvPr/>
        </p:nvSpPr>
        <p:spPr>
          <a:xfrm>
            <a:off x="5303520" y="1417320"/>
            <a:ext cx="2286000" cy="10972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A. grid</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B. flex</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C. items-center</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400"/>
              <a:buFont typeface="Arial"/>
              <a:buNone/>
            </a:pPr>
            <a:r>
              <a:rPr b="0" i="0" lang="en" sz="1400" u="none" cap="none" strike="noStrike">
                <a:solidFill>
                  <a:srgbClr val="111827"/>
                </a:solidFill>
                <a:latin typeface="Arial"/>
                <a:ea typeface="Arial"/>
                <a:cs typeface="Arial"/>
                <a:sym typeface="Arial"/>
              </a:rPr>
              <a:t>D. text-center</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0"/>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The items do not move apart</a:t>
            </a:r>
            <a:endParaRPr b="0" i="0" sz="2100" u="none" cap="none" strike="noStrike">
              <a:solidFill>
                <a:schemeClr val="dk1"/>
              </a:solidFill>
              <a:latin typeface="Arial"/>
              <a:ea typeface="Arial"/>
              <a:cs typeface="Arial"/>
              <a:sym typeface="Arial"/>
            </a:endParaRPr>
          </a:p>
        </p:txBody>
      </p:sp>
      <p:sp>
        <p:nvSpPr>
          <p:cNvPr id="720" name="Google Shape;720;p60"/>
          <p:cNvSpPr/>
          <p:nvPr/>
        </p:nvSpPr>
        <p:spPr>
          <a:xfrm>
            <a:off x="685800" y="822960"/>
            <a:ext cx="713232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The title and status should appear at opposite ends of one row.</a:t>
            </a:r>
            <a:endParaRPr b="0" i="0" sz="1500" u="none" cap="none" strike="noStrike">
              <a:solidFill>
                <a:schemeClr val="dk1"/>
              </a:solidFill>
              <a:latin typeface="Arial"/>
              <a:ea typeface="Arial"/>
              <a:cs typeface="Arial"/>
              <a:sym typeface="Arial"/>
            </a:endParaRPr>
          </a:p>
        </p:txBody>
      </p:sp>
      <p:sp>
        <p:nvSpPr>
          <p:cNvPr id="721" name="Google Shape;721;p60"/>
          <p:cNvSpPr/>
          <p:nvPr/>
        </p:nvSpPr>
        <p:spPr>
          <a:xfrm>
            <a:off x="685800" y="1234440"/>
            <a:ext cx="4389120" cy="132588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&lt;div&gt;</a:t>
            </a:r>
            <a:endParaRPr b="0" i="0" sz="10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  &lt;h2 class="flex justify-between"&gt;Order 1048&lt;/h2&gt;</a:t>
            </a:r>
            <a:endParaRPr b="0" i="0" sz="10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  &lt;span&gt;Dispatched&lt;/span&gt;</a:t>
            </a:r>
            <a:endParaRPr b="0" i="0" sz="108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80"/>
              <a:buFont typeface="Courier New"/>
              <a:buNone/>
            </a:pPr>
            <a:r>
              <a:rPr b="0" i="0" lang="en" sz="1080" u="none" cap="none" strike="noStrike">
                <a:solidFill>
                  <a:srgbClr val="FFFFFF"/>
                </a:solidFill>
                <a:latin typeface="Courier New"/>
                <a:ea typeface="Courier New"/>
                <a:cs typeface="Courier New"/>
                <a:sym typeface="Courier New"/>
              </a:rPr>
              <a:t>&lt;/div&gt;</a:t>
            </a:r>
            <a:endParaRPr b="0" i="0" sz="1080" u="none" cap="none" strike="noStrike">
              <a:solidFill>
                <a:schemeClr val="dk1"/>
              </a:solidFill>
              <a:latin typeface="Arial"/>
              <a:ea typeface="Arial"/>
              <a:cs typeface="Arial"/>
              <a:sym typeface="Arial"/>
            </a:endParaRPr>
          </a:p>
        </p:txBody>
      </p:sp>
      <p:sp>
        <p:nvSpPr>
          <p:cNvPr id="722" name="Google Shape;722;p60"/>
          <p:cNvSpPr/>
          <p:nvPr/>
        </p:nvSpPr>
        <p:spPr>
          <a:xfrm>
            <a:off x="5303520" y="1234460"/>
            <a:ext cx="3200400" cy="2742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Why does the layout not work?</a:t>
            </a:r>
            <a:endParaRPr b="0" i="0" sz="1500" u="none" cap="none" strike="noStrike">
              <a:solidFill>
                <a:schemeClr val="dk1"/>
              </a:solidFill>
              <a:latin typeface="Arial"/>
              <a:ea typeface="Arial"/>
              <a:cs typeface="Arial"/>
              <a:sym typeface="Arial"/>
            </a:endParaRPr>
          </a:p>
        </p:txBody>
      </p:sp>
      <p:sp>
        <p:nvSpPr>
          <p:cNvPr id="723" name="Google Shape;723;p60"/>
          <p:cNvSpPr/>
          <p:nvPr/>
        </p:nvSpPr>
        <p:spPr>
          <a:xfrm>
            <a:off x="5303520" y="1463040"/>
            <a:ext cx="3291900" cy="1371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120"/>
              <a:buFont typeface="Arial"/>
              <a:buNone/>
            </a:pPr>
            <a:r>
              <a:rPr b="0" i="0" lang="en" sz="1120" u="none" cap="none" strike="noStrike">
                <a:solidFill>
                  <a:srgbClr val="111827"/>
                </a:solidFill>
                <a:latin typeface="Arial"/>
                <a:ea typeface="Arial"/>
                <a:cs typeface="Arial"/>
                <a:sym typeface="Arial"/>
              </a:rPr>
              <a:t>A. justify-between needs a larger number.</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Arial"/>
              <a:buNone/>
            </a:pPr>
            <a:r>
              <a:rPr b="0" i="0" lang="en" sz="1120" u="none" cap="none" strike="noStrike">
                <a:solidFill>
                  <a:srgbClr val="111827"/>
                </a:solidFill>
                <a:latin typeface="Arial"/>
                <a:ea typeface="Arial"/>
                <a:cs typeface="Arial"/>
                <a:sym typeface="Arial"/>
              </a:rPr>
              <a:t>B. The layout classes are on the wrong element.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Arial"/>
              <a:buNone/>
            </a:pPr>
            <a:r>
              <a:rPr b="0" i="0" lang="en" sz="1120" u="none" cap="none" strike="noStrike">
                <a:solidFill>
                  <a:srgbClr val="111827"/>
                </a:solidFill>
                <a:latin typeface="Arial"/>
                <a:ea typeface="Arial"/>
                <a:cs typeface="Arial"/>
                <a:sym typeface="Arial"/>
              </a:rPr>
              <a:t>C. The &lt;span&gt; needs grid.</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120"/>
              <a:buFont typeface="Arial"/>
              <a:buNone/>
            </a:pPr>
            <a:r>
              <a:rPr b="0" i="0" lang="en" sz="1120" u="none" cap="none" strike="noStrike">
                <a:solidFill>
                  <a:srgbClr val="111827"/>
                </a:solidFill>
                <a:latin typeface="Arial"/>
                <a:ea typeface="Arial"/>
                <a:cs typeface="Arial"/>
                <a:sym typeface="Arial"/>
              </a:rPr>
              <a:t>D. justify-between works only inside Grid.</a:t>
            </a:r>
            <a:endParaRPr b="0" i="0" sz="1120" u="none" cap="none" strike="noStrik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1"/>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The narrow layout is wrong</a:t>
            </a:r>
            <a:endParaRPr b="0" i="0" sz="2100" u="none" cap="none" strike="noStrike">
              <a:solidFill>
                <a:schemeClr val="dk1"/>
              </a:solidFill>
              <a:latin typeface="Arial"/>
              <a:ea typeface="Arial"/>
              <a:cs typeface="Arial"/>
              <a:sym typeface="Arial"/>
            </a:endParaRPr>
          </a:p>
        </p:txBody>
      </p:sp>
      <p:sp>
        <p:nvSpPr>
          <p:cNvPr id="730" name="Google Shape;730;p61"/>
          <p:cNvSpPr/>
          <p:nvPr/>
        </p:nvSpPr>
        <p:spPr>
          <a:xfrm>
            <a:off x="685800" y="822960"/>
            <a:ext cx="758952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50"/>
              <a:buFont typeface="Arial"/>
              <a:buNone/>
            </a:pPr>
            <a:r>
              <a:rPr b="1" i="0" lang="en" sz="1450" u="none" cap="none" strike="noStrike">
                <a:solidFill>
                  <a:srgbClr val="111827"/>
                </a:solidFill>
                <a:latin typeface="Arial"/>
                <a:ea typeface="Arial"/>
                <a:cs typeface="Arial"/>
                <a:sym typeface="Arial"/>
              </a:rPr>
              <a:t>The page should use one column on narrow screens and two columns at md and wider.</a:t>
            </a:r>
            <a:endParaRPr b="0" i="0" sz="1450" u="none" cap="none" strike="noStrike">
              <a:solidFill>
                <a:schemeClr val="dk1"/>
              </a:solidFill>
              <a:latin typeface="Arial"/>
              <a:ea typeface="Arial"/>
              <a:cs typeface="Arial"/>
              <a:sym typeface="Arial"/>
            </a:endParaRPr>
          </a:p>
        </p:txBody>
      </p:sp>
      <p:sp>
        <p:nvSpPr>
          <p:cNvPr id="731" name="Google Shape;731;p61"/>
          <p:cNvSpPr/>
          <p:nvPr/>
        </p:nvSpPr>
        <p:spPr>
          <a:xfrm>
            <a:off x="685800" y="1234440"/>
            <a:ext cx="4937760" cy="868680"/>
          </a:xfrm>
          <a:prstGeom prst="rect">
            <a:avLst/>
          </a:prstGeom>
          <a:solidFill>
            <a:srgbClr val="0F172A"/>
          </a:solidFill>
          <a:ln cap="flat" cmpd="sng" w="9525">
            <a:solidFill>
              <a:srgbClr val="0F172A"/>
            </a:solidFill>
            <a:prstDash val="solid"/>
            <a:round/>
            <a:headEnd len="sm" w="sm" type="none"/>
            <a:tailEnd len="sm" w="sm" type="none"/>
          </a:ln>
        </p:spPr>
        <p:txBody>
          <a:bodyPr anchorCtr="0" anchor="ctr" bIns="1500" lIns="1500" spcFirstLastPara="1" rIns="1500" wrap="square" tIns="1500">
            <a:noAutofit/>
          </a:bodyPr>
          <a:lstStyle/>
          <a:p>
            <a:pPr indent="0" lvl="0" marL="0" marR="0" rtl="0" algn="l">
              <a:spcBef>
                <a:spcPts val="0"/>
              </a:spcBef>
              <a:spcAft>
                <a:spcPts val="0"/>
              </a:spcAft>
              <a:buClr>
                <a:srgbClr val="FFFFFF"/>
              </a:buClr>
              <a:buSzPts val="1120"/>
              <a:buFont typeface="Courier New"/>
              <a:buNone/>
            </a:pPr>
            <a:r>
              <a:rPr b="0" i="0" lang="en" sz="1120" u="none" cap="none" strike="noStrike">
                <a:solidFill>
                  <a:srgbClr val="FFFFFF"/>
                </a:solidFill>
                <a:latin typeface="Courier New"/>
                <a:ea typeface="Courier New"/>
                <a:cs typeface="Courier New"/>
                <a:sym typeface="Courier New"/>
              </a:rPr>
              <a:t>&lt;section class="grid grid-cols-2 gap-4 md:grid-cols-1"&gt;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20"/>
              <a:buFont typeface="Courier New"/>
              <a:buNone/>
            </a:pPr>
            <a:r>
              <a:rPr b="0" i="0" lang="en" sz="1120" u="none" cap="none" strike="noStrike">
                <a:solidFill>
                  <a:srgbClr val="FFFFFF"/>
                </a:solidFill>
                <a:latin typeface="Courier New"/>
                <a:ea typeface="Courier New"/>
                <a:cs typeface="Courier New"/>
                <a:sym typeface="Courier New"/>
              </a:rPr>
              <a:t>  &lt;!-- cards --&gt;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20"/>
              <a:buFont typeface="Courier New"/>
              <a:buNone/>
            </a:pPr>
            <a:r>
              <a:rPr b="0" i="0" lang="en" sz="1120" u="none" cap="none" strike="noStrike">
                <a:solidFill>
                  <a:srgbClr val="FFFFFF"/>
                </a:solidFill>
                <a:latin typeface="Courier New"/>
                <a:ea typeface="Courier New"/>
                <a:cs typeface="Courier New"/>
                <a:sym typeface="Courier New"/>
              </a:rPr>
              <a:t>&lt;/section&gt;</a:t>
            </a:r>
            <a:endParaRPr b="0" i="0" sz="1120" u="none" cap="none" strike="noStrike">
              <a:solidFill>
                <a:schemeClr val="dk1"/>
              </a:solidFill>
              <a:latin typeface="Arial"/>
              <a:ea typeface="Arial"/>
              <a:cs typeface="Arial"/>
              <a:sym typeface="Arial"/>
            </a:endParaRPr>
          </a:p>
        </p:txBody>
      </p:sp>
      <p:sp>
        <p:nvSpPr>
          <p:cNvPr id="732" name="Google Shape;732;p61"/>
          <p:cNvSpPr/>
          <p:nvPr/>
        </p:nvSpPr>
        <p:spPr>
          <a:xfrm>
            <a:off x="685800" y="2377440"/>
            <a:ext cx="411480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50"/>
              <a:buFont typeface="Arial"/>
              <a:buNone/>
            </a:pPr>
            <a:r>
              <a:rPr b="1" i="0" lang="en" sz="1450" u="none" cap="none" strike="noStrike">
                <a:solidFill>
                  <a:srgbClr val="111827"/>
                </a:solidFill>
                <a:latin typeface="Arial"/>
                <a:ea typeface="Arial"/>
                <a:cs typeface="Arial"/>
                <a:sym typeface="Arial"/>
              </a:rPr>
              <a:t>Which correction matches the requirement?</a:t>
            </a:r>
            <a:endParaRPr b="0" i="0" sz="1450" u="none" cap="none" strike="noStrike">
              <a:solidFill>
                <a:schemeClr val="dk1"/>
              </a:solidFill>
              <a:latin typeface="Arial"/>
              <a:ea typeface="Arial"/>
              <a:cs typeface="Arial"/>
              <a:sym typeface="Arial"/>
            </a:endParaRPr>
          </a:p>
        </p:txBody>
      </p:sp>
      <p:sp>
        <p:nvSpPr>
          <p:cNvPr id="733" name="Google Shape;733;p61"/>
          <p:cNvSpPr/>
          <p:nvPr/>
        </p:nvSpPr>
        <p:spPr>
          <a:xfrm>
            <a:off x="685800" y="2788920"/>
            <a:ext cx="7589520" cy="9601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240"/>
              <a:buFont typeface="Arial"/>
              <a:buNone/>
            </a:pPr>
            <a:r>
              <a:rPr b="0" i="0" lang="en" sz="1240" u="none" cap="none" strike="noStrike">
                <a:solidFill>
                  <a:srgbClr val="111827"/>
                </a:solidFill>
                <a:latin typeface="Arial"/>
                <a:ea typeface="Arial"/>
                <a:cs typeface="Arial"/>
                <a:sym typeface="Arial"/>
              </a:rPr>
              <a:t>A. grid grid-cols-1 gap-4 md:grid-cols-2</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40"/>
              <a:buFont typeface="Arial"/>
              <a:buNone/>
            </a:pPr>
            <a:r>
              <a:rPr b="0" i="0" lang="en" sz="1240" u="none" cap="none" strike="noStrike">
                <a:solidFill>
                  <a:srgbClr val="111827"/>
                </a:solidFill>
                <a:latin typeface="Arial"/>
                <a:ea typeface="Arial"/>
                <a:cs typeface="Arial"/>
                <a:sym typeface="Arial"/>
              </a:rPr>
              <a:t>B. grid grid-cols-2 gap-4 md:grid-cols-1</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40"/>
              <a:buFont typeface="Arial"/>
              <a:buNone/>
            </a:pPr>
            <a:r>
              <a:rPr b="0" i="0" lang="en" sz="1240" u="none" cap="none" strike="noStrike">
                <a:solidFill>
                  <a:srgbClr val="111827"/>
                </a:solidFill>
                <a:latin typeface="Arial"/>
                <a:ea typeface="Arial"/>
                <a:cs typeface="Arial"/>
                <a:sym typeface="Arial"/>
              </a:rPr>
              <a:t>C. grid gap-4 md:grid-cols-2</a:t>
            </a:r>
            <a:endParaRPr b="0" i="0" sz="124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827"/>
              </a:buClr>
              <a:buSzPts val="1240"/>
              <a:buFont typeface="Arial"/>
              <a:buNone/>
            </a:pPr>
            <a:r>
              <a:rPr b="0" i="0" lang="en" sz="1240" u="none" cap="none" strike="noStrike">
                <a:solidFill>
                  <a:srgbClr val="111827"/>
                </a:solidFill>
                <a:latin typeface="Arial"/>
                <a:ea typeface="Arial"/>
                <a:cs typeface="Arial"/>
                <a:sym typeface="Arial"/>
              </a:rPr>
              <a:t>D. grid-cols-1 gap-4 md:grid-cols-2</a:t>
            </a:r>
            <a:endParaRPr b="0" i="0" sz="1240" u="none" cap="none" strike="noStrik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62"/>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Tailwind layout summary</a:t>
            </a:r>
            <a:endParaRPr b="0" i="0" sz="2100" u="none" cap="none" strike="noStrike">
              <a:solidFill>
                <a:schemeClr val="dk1"/>
              </a:solidFill>
              <a:latin typeface="Arial"/>
              <a:ea typeface="Arial"/>
              <a:cs typeface="Arial"/>
              <a:sym typeface="Arial"/>
            </a:endParaRPr>
          </a:p>
        </p:txBody>
      </p:sp>
      <p:sp>
        <p:nvSpPr>
          <p:cNvPr id="740" name="Google Shape;740;p62"/>
          <p:cNvSpPr/>
          <p:nvPr/>
        </p:nvSpPr>
        <p:spPr>
          <a:xfrm>
            <a:off x="685800" y="868680"/>
            <a:ext cx="3474720" cy="256032"/>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Choose the layout system</a:t>
            </a:r>
            <a:endParaRPr b="0" i="0" sz="1400" u="none" cap="none" strike="noStrike">
              <a:solidFill>
                <a:schemeClr val="dk1"/>
              </a:solidFill>
              <a:latin typeface="Arial"/>
              <a:ea typeface="Arial"/>
              <a:cs typeface="Arial"/>
              <a:sym typeface="Arial"/>
            </a:endParaRPr>
          </a:p>
        </p:txBody>
      </p:sp>
      <p:sp>
        <p:nvSpPr>
          <p:cNvPr id="741" name="Google Shape;741;p62"/>
          <p:cNvSpPr/>
          <p:nvPr/>
        </p:nvSpPr>
        <p:spPr>
          <a:xfrm>
            <a:off x="777240" y="1280160"/>
            <a:ext cx="1600200" cy="960120"/>
          </a:xfrm>
          <a:prstGeom prst="rect">
            <a:avLst/>
          </a:prstGeom>
          <a:solidFill>
            <a:srgbClr val="EFF6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300"/>
              <a:buFont typeface="Arial"/>
              <a:buNone/>
            </a:pPr>
            <a:r>
              <a:rPr b="1" i="0" lang="en" sz="1300" u="none" cap="none" strike="noStrike">
                <a:solidFill>
                  <a:srgbClr val="111827"/>
                </a:solidFill>
                <a:latin typeface="Arial"/>
                <a:ea typeface="Arial"/>
                <a:cs typeface="Arial"/>
                <a:sym typeface="Arial"/>
              </a:rPr>
              <a:t>One main direction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300"/>
              <a:buFont typeface="Arial"/>
              <a:buNone/>
            </a:pPr>
            <a:r>
              <a:rPr b="1" i="0" lang="en" sz="1300" u="none" cap="none" strike="noStrike">
                <a:solidFill>
                  <a:srgbClr val="111827"/>
                </a:solidFill>
                <a:latin typeface="Arial"/>
                <a:ea typeface="Arial"/>
                <a:cs typeface="Arial"/>
                <a:sym typeface="Arial"/>
              </a:rPr>
              <a:t>Flexbox</a:t>
            </a:r>
            <a:endParaRPr b="0" i="0" sz="1300" u="none" cap="none" strike="noStrike">
              <a:solidFill>
                <a:schemeClr val="dk1"/>
              </a:solidFill>
              <a:latin typeface="Arial"/>
              <a:ea typeface="Arial"/>
              <a:cs typeface="Arial"/>
              <a:sym typeface="Arial"/>
            </a:endParaRPr>
          </a:p>
        </p:txBody>
      </p:sp>
      <p:sp>
        <p:nvSpPr>
          <p:cNvPr id="742" name="Google Shape;742;p62"/>
          <p:cNvSpPr/>
          <p:nvPr/>
        </p:nvSpPr>
        <p:spPr>
          <a:xfrm>
            <a:off x="2560320" y="1280160"/>
            <a:ext cx="1600200" cy="960120"/>
          </a:xfrm>
          <a:prstGeom prst="rect">
            <a:avLst/>
          </a:prstGeom>
          <a:solidFill>
            <a:srgbClr val="F5F3FF"/>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300"/>
              <a:buFont typeface="Arial"/>
              <a:buNone/>
            </a:pPr>
            <a:r>
              <a:rPr b="1" i="0" lang="en" sz="1300" u="none" cap="none" strike="noStrike">
                <a:solidFill>
                  <a:srgbClr val="111827"/>
                </a:solidFill>
                <a:latin typeface="Arial"/>
                <a:ea typeface="Arial"/>
                <a:cs typeface="Arial"/>
                <a:sym typeface="Arial"/>
              </a:rPr>
              <a:t>Columns and rows</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300"/>
              <a:buFont typeface="Arial"/>
              <a:buNone/>
            </a:pPr>
            <a:r>
              <a:rPr b="1" i="0" lang="en" sz="1300" u="none" cap="none" strike="noStrike">
                <a:solidFill>
                  <a:srgbClr val="111827"/>
                </a:solidFill>
                <a:latin typeface="Arial"/>
                <a:ea typeface="Arial"/>
                <a:cs typeface="Arial"/>
                <a:sym typeface="Arial"/>
              </a:rPr>
              <a:t>Grid</a:t>
            </a:r>
            <a:endParaRPr b="0" i="0" sz="1300" u="none" cap="none" strike="noStrike">
              <a:solidFill>
                <a:schemeClr val="dk1"/>
              </a:solidFill>
              <a:latin typeface="Arial"/>
              <a:ea typeface="Arial"/>
              <a:cs typeface="Arial"/>
              <a:sym typeface="Arial"/>
            </a:endParaRPr>
          </a:p>
        </p:txBody>
      </p:sp>
      <p:sp>
        <p:nvSpPr>
          <p:cNvPr id="743" name="Google Shape;743;p62"/>
          <p:cNvSpPr/>
          <p:nvPr/>
        </p:nvSpPr>
        <p:spPr>
          <a:xfrm>
            <a:off x="4754880" y="868680"/>
            <a:ext cx="3474720" cy="256032"/>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Read the utility family</a:t>
            </a:r>
            <a:endParaRPr b="0" i="0" sz="1400" u="none" cap="none" strike="noStrike">
              <a:solidFill>
                <a:schemeClr val="dk1"/>
              </a:solidFill>
              <a:latin typeface="Arial"/>
              <a:ea typeface="Arial"/>
              <a:cs typeface="Arial"/>
              <a:sym typeface="Arial"/>
            </a:endParaRPr>
          </a:p>
        </p:txBody>
      </p:sp>
      <p:sp>
        <p:nvSpPr>
          <p:cNvPr id="744" name="Google Shape;744;p62"/>
          <p:cNvSpPr/>
          <p:nvPr/>
        </p:nvSpPr>
        <p:spPr>
          <a:xfrm>
            <a:off x="4800600" y="1234440"/>
            <a:ext cx="1417320" cy="17830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150"/>
              <a:buFont typeface="Courier New"/>
              <a:buNone/>
            </a:pPr>
            <a:r>
              <a:rPr b="0" i="0" lang="en" sz="1150" u="none" cap="none" strike="noStrike">
                <a:solidFill>
                  <a:srgbClr val="334155"/>
                </a:solidFill>
                <a:latin typeface="Courier New"/>
                <a:ea typeface="Courier New"/>
                <a:cs typeface="Courier New"/>
                <a:sym typeface="Courier New"/>
              </a:rPr>
              <a:t>flex-col</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50"/>
              <a:buFont typeface="Courier New"/>
              <a:buNone/>
            </a:pPr>
            <a:r>
              <a:rPr b="0" i="0" lang="en" sz="1150" u="none" cap="none" strike="noStrike">
                <a:solidFill>
                  <a:srgbClr val="334155"/>
                </a:solidFill>
                <a:latin typeface="Courier New"/>
                <a:ea typeface="Courier New"/>
                <a:cs typeface="Courier New"/>
                <a:sym typeface="Courier New"/>
              </a:rPr>
              <a:t>items-center</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50"/>
              <a:buFont typeface="Courier New"/>
              <a:buNone/>
            </a:pPr>
            <a:r>
              <a:rPr b="0" i="0" lang="en" sz="1150" u="none" cap="none" strike="noStrike">
                <a:solidFill>
                  <a:srgbClr val="334155"/>
                </a:solidFill>
                <a:latin typeface="Courier New"/>
                <a:ea typeface="Courier New"/>
                <a:cs typeface="Courier New"/>
                <a:sym typeface="Courier New"/>
              </a:rPr>
              <a:t>justify-between</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50"/>
              <a:buFont typeface="Courier New"/>
              <a:buNone/>
            </a:pPr>
            <a:r>
              <a:rPr b="0" i="0" lang="en" sz="1150" u="none" cap="none" strike="noStrike">
                <a:solidFill>
                  <a:srgbClr val="334155"/>
                </a:solidFill>
                <a:latin typeface="Courier New"/>
                <a:ea typeface="Courier New"/>
                <a:cs typeface="Courier New"/>
                <a:sym typeface="Courier New"/>
              </a:rPr>
              <a:t>grid-cols-2</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50"/>
              <a:buFont typeface="Courier New"/>
              <a:buNone/>
            </a:pPr>
            <a:r>
              <a:rPr b="0" i="0" lang="en" sz="1150" u="none" cap="none" strike="noStrike">
                <a:solidFill>
                  <a:srgbClr val="334155"/>
                </a:solidFill>
                <a:latin typeface="Courier New"/>
                <a:ea typeface="Courier New"/>
                <a:cs typeface="Courier New"/>
                <a:sym typeface="Courier New"/>
              </a:rPr>
              <a:t>gap-4</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50"/>
              <a:buFont typeface="Courier New"/>
              <a:buNone/>
            </a:pPr>
            <a:r>
              <a:rPr b="0" i="0" lang="en" sz="1150" u="none" cap="none" strike="noStrike">
                <a:solidFill>
                  <a:srgbClr val="334155"/>
                </a:solidFill>
                <a:latin typeface="Courier New"/>
                <a:ea typeface="Courier New"/>
                <a:cs typeface="Courier New"/>
                <a:sym typeface="Courier New"/>
              </a:rPr>
              <a:t>md:grid-cols-2</a:t>
            </a:r>
            <a:endParaRPr b="0" i="0" sz="1150" u="none" cap="none" strike="noStrike">
              <a:solidFill>
                <a:schemeClr val="dk1"/>
              </a:solidFill>
              <a:latin typeface="Arial"/>
              <a:ea typeface="Arial"/>
              <a:cs typeface="Arial"/>
              <a:sym typeface="Arial"/>
            </a:endParaRPr>
          </a:p>
        </p:txBody>
      </p:sp>
      <p:sp>
        <p:nvSpPr>
          <p:cNvPr id="745" name="Google Shape;745;p62"/>
          <p:cNvSpPr/>
          <p:nvPr/>
        </p:nvSpPr>
        <p:spPr>
          <a:xfrm>
            <a:off x="6355080" y="1234440"/>
            <a:ext cx="2011680" cy="17830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334155"/>
              </a:buClr>
              <a:buSzPts val="1120"/>
              <a:buFont typeface="Arial"/>
              <a:buNone/>
            </a:pPr>
            <a:r>
              <a:rPr b="0" i="0" lang="en" sz="1120" u="none" cap="none" strike="noStrike">
                <a:solidFill>
                  <a:srgbClr val="334155"/>
                </a:solidFill>
                <a:latin typeface="Arial"/>
                <a:ea typeface="Arial"/>
                <a:cs typeface="Arial"/>
                <a:sym typeface="Arial"/>
              </a:rPr>
              <a:t>Flexbox direction</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20"/>
              <a:buFont typeface="Arial"/>
              <a:buNone/>
            </a:pPr>
            <a:r>
              <a:rPr b="0" i="0" lang="en" sz="1120" u="none" cap="none" strike="noStrike">
                <a:solidFill>
                  <a:srgbClr val="334155"/>
                </a:solidFill>
                <a:latin typeface="Arial"/>
                <a:ea typeface="Arial"/>
                <a:cs typeface="Arial"/>
                <a:sym typeface="Arial"/>
              </a:rPr>
              <a:t>Cross-axis alignment</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20"/>
              <a:buFont typeface="Arial"/>
              <a:buNone/>
            </a:pPr>
            <a:r>
              <a:rPr b="0" i="0" lang="en" sz="1120" u="none" cap="none" strike="noStrike">
                <a:solidFill>
                  <a:srgbClr val="334155"/>
                </a:solidFill>
                <a:latin typeface="Arial"/>
                <a:ea typeface="Arial"/>
                <a:cs typeface="Arial"/>
                <a:sym typeface="Arial"/>
              </a:rPr>
              <a:t>Main-axis space distribution</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20"/>
              <a:buFont typeface="Arial"/>
              <a:buNone/>
            </a:pPr>
            <a:r>
              <a:rPr b="0" i="0" lang="en" sz="1120" u="none" cap="none" strike="noStrike">
                <a:solidFill>
                  <a:srgbClr val="334155"/>
                </a:solidFill>
                <a:latin typeface="Arial"/>
                <a:ea typeface="Arial"/>
                <a:cs typeface="Arial"/>
                <a:sym typeface="Arial"/>
              </a:rPr>
              <a:t>Number of Grid columns</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20"/>
              <a:buFont typeface="Arial"/>
              <a:buNone/>
            </a:pPr>
            <a:r>
              <a:rPr b="0" i="0" lang="en" sz="1120" u="none" cap="none" strike="noStrike">
                <a:solidFill>
                  <a:srgbClr val="334155"/>
                </a:solidFill>
                <a:latin typeface="Arial"/>
                <a:ea typeface="Arial"/>
                <a:cs typeface="Arial"/>
                <a:sym typeface="Arial"/>
              </a:rPr>
              <a:t>Space between items</a:t>
            </a:r>
            <a:endParaRPr b="0" i="0" sz="11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34155"/>
              </a:buClr>
              <a:buSzPts val="1120"/>
              <a:buFont typeface="Arial"/>
              <a:buNone/>
            </a:pPr>
            <a:r>
              <a:rPr b="0" i="0" lang="en" sz="1120" u="none" cap="none" strike="noStrike">
                <a:solidFill>
                  <a:srgbClr val="334155"/>
                </a:solidFill>
                <a:latin typeface="Arial"/>
                <a:ea typeface="Arial"/>
                <a:cs typeface="Arial"/>
                <a:sym typeface="Arial"/>
              </a:rPr>
              <a:t>Column count from md and wider</a:t>
            </a:r>
            <a:endParaRPr b="0" i="0" sz="1120" u="none" cap="none" strike="noStrike">
              <a:solidFill>
                <a:schemeClr val="dk1"/>
              </a:solidFill>
              <a:latin typeface="Arial"/>
              <a:ea typeface="Arial"/>
              <a:cs typeface="Arial"/>
              <a:sym typeface="Arial"/>
            </a:endParaRPr>
          </a:p>
        </p:txBody>
      </p:sp>
      <p:sp>
        <p:nvSpPr>
          <p:cNvPr id="746" name="Google Shape;746;p62"/>
          <p:cNvSpPr/>
          <p:nvPr/>
        </p:nvSpPr>
        <p:spPr>
          <a:xfrm>
            <a:off x="1005840" y="3383280"/>
            <a:ext cx="6949440" cy="685800"/>
          </a:xfrm>
          <a:prstGeom prst="rect">
            <a:avLst/>
          </a:prstGeom>
          <a:solidFill>
            <a:srgbClr val="F3F4F6"/>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Grid arranges the card collection.</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Flexbox arranges information inside a card.</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3"/>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Homework: Volunteer Opportunities Board</a:t>
            </a:r>
            <a:endParaRPr b="0" i="0" sz="2100" u="none" cap="none" strike="noStrike">
              <a:solidFill>
                <a:schemeClr val="dk1"/>
              </a:solidFill>
              <a:latin typeface="Arial"/>
              <a:ea typeface="Arial"/>
              <a:cs typeface="Arial"/>
              <a:sym typeface="Arial"/>
            </a:endParaRPr>
          </a:p>
        </p:txBody>
      </p:sp>
      <p:sp>
        <p:nvSpPr>
          <p:cNvPr id="753" name="Google Shape;753;p63"/>
          <p:cNvSpPr/>
          <p:nvPr/>
        </p:nvSpPr>
        <p:spPr>
          <a:xfrm>
            <a:off x="685800" y="822960"/>
            <a:ext cx="7406640" cy="27432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450"/>
              <a:buFont typeface="Arial"/>
              <a:buNone/>
            </a:pPr>
            <a:r>
              <a:rPr b="1" i="0" lang="en" sz="1450" u="none" cap="none" strike="noStrike">
                <a:solidFill>
                  <a:srgbClr val="111827"/>
                </a:solidFill>
                <a:latin typeface="Arial"/>
                <a:ea typeface="Arial"/>
                <a:cs typeface="Arial"/>
                <a:sym typeface="Arial"/>
              </a:rPr>
              <a:t>Build a responsive page that lists local volunteer opportunities.</a:t>
            </a:r>
            <a:endParaRPr b="0" i="0" sz="1450" u="none" cap="none" strike="noStrike">
              <a:solidFill>
                <a:schemeClr val="dk1"/>
              </a:solidFill>
              <a:latin typeface="Arial"/>
              <a:ea typeface="Arial"/>
              <a:cs typeface="Arial"/>
              <a:sym typeface="Arial"/>
            </a:endParaRPr>
          </a:p>
        </p:txBody>
      </p:sp>
      <p:sp>
        <p:nvSpPr>
          <p:cNvPr id="754" name="Google Shape;754;p63"/>
          <p:cNvSpPr/>
          <p:nvPr/>
        </p:nvSpPr>
        <p:spPr>
          <a:xfrm>
            <a:off x="685800" y="1234440"/>
            <a:ext cx="20116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Required content</a:t>
            </a:r>
            <a:endParaRPr b="0" i="0" sz="1350" u="none" cap="none" strike="noStrike">
              <a:solidFill>
                <a:schemeClr val="dk1"/>
              </a:solidFill>
              <a:latin typeface="Arial"/>
              <a:ea typeface="Arial"/>
              <a:cs typeface="Arial"/>
              <a:sym typeface="Arial"/>
            </a:endParaRPr>
          </a:p>
        </p:txBody>
      </p:sp>
      <p:sp>
        <p:nvSpPr>
          <p:cNvPr id="755" name="Google Shape;755;p63"/>
          <p:cNvSpPr/>
          <p:nvPr/>
        </p:nvSpPr>
        <p:spPr>
          <a:xfrm>
            <a:off x="685800" y="1508760"/>
            <a:ext cx="3657600" cy="8686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080"/>
              <a:buFont typeface="Arial"/>
              <a:buChar char="•"/>
            </a:pPr>
            <a:r>
              <a:rPr b="0" i="0" lang="en" sz="1080" u="none" cap="none" strike="noStrike">
                <a:solidFill>
                  <a:srgbClr val="111827"/>
                </a:solidFill>
                <a:latin typeface="Arial"/>
                <a:ea typeface="Arial"/>
                <a:cs typeface="Arial"/>
                <a:sym typeface="Arial"/>
              </a:rPr>
              <a:t>Page title and short introduction</a:t>
            </a:r>
            <a:endParaRPr b="0" i="0" sz="10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80"/>
              <a:buFont typeface="Arial"/>
              <a:buChar char="•"/>
            </a:pPr>
            <a:r>
              <a:rPr b="0" i="0" lang="en" sz="1080" u="none" cap="none" strike="noStrike">
                <a:solidFill>
                  <a:srgbClr val="111827"/>
                </a:solidFill>
                <a:latin typeface="Arial"/>
                <a:ea typeface="Arial"/>
                <a:cs typeface="Arial"/>
                <a:sym typeface="Arial"/>
              </a:rPr>
              <a:t>At least four opportunity cards</a:t>
            </a:r>
            <a:endParaRPr b="0" i="0" sz="10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80"/>
              <a:buFont typeface="Arial"/>
              <a:buChar char="•"/>
            </a:pPr>
            <a:r>
              <a:rPr b="0" i="0" lang="en" sz="1080" u="none" cap="none" strike="noStrike">
                <a:solidFill>
                  <a:srgbClr val="111827"/>
                </a:solidFill>
                <a:latin typeface="Arial"/>
                <a:ea typeface="Arial"/>
                <a:cs typeface="Arial"/>
                <a:sym typeface="Arial"/>
              </a:rPr>
              <a:t>Organisation name, activity title, date, location, and short description</a:t>
            </a:r>
            <a:endParaRPr b="0" i="0" sz="1080" u="none" cap="none" strike="noStrike">
              <a:solidFill>
                <a:schemeClr val="dk1"/>
              </a:solidFill>
              <a:latin typeface="Arial"/>
              <a:ea typeface="Arial"/>
              <a:cs typeface="Arial"/>
              <a:sym typeface="Arial"/>
            </a:endParaRPr>
          </a:p>
        </p:txBody>
      </p:sp>
      <p:sp>
        <p:nvSpPr>
          <p:cNvPr id="756" name="Google Shape;756;p63"/>
          <p:cNvSpPr/>
          <p:nvPr/>
        </p:nvSpPr>
        <p:spPr>
          <a:xfrm>
            <a:off x="4617720" y="1234440"/>
            <a:ext cx="22860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Layout requirements</a:t>
            </a:r>
            <a:endParaRPr b="0" i="0" sz="1350" u="none" cap="none" strike="noStrike">
              <a:solidFill>
                <a:schemeClr val="dk1"/>
              </a:solidFill>
              <a:latin typeface="Arial"/>
              <a:ea typeface="Arial"/>
              <a:cs typeface="Arial"/>
              <a:sym typeface="Arial"/>
            </a:endParaRPr>
          </a:p>
        </p:txBody>
      </p:sp>
      <p:sp>
        <p:nvSpPr>
          <p:cNvPr id="757" name="Google Shape;757;p63"/>
          <p:cNvSpPr/>
          <p:nvPr/>
        </p:nvSpPr>
        <p:spPr>
          <a:xfrm>
            <a:off x="4617720" y="150876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One-column base layout</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Two columns at md and wider</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Gap between opportunity cards</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Flexbox row inside each card</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One use of items-center or justify-between</a:t>
            </a:r>
            <a:endParaRPr b="0" i="0" sz="1050" u="none" cap="none" strike="noStrike">
              <a:solidFill>
                <a:schemeClr val="dk1"/>
              </a:solidFill>
              <a:latin typeface="Arial"/>
              <a:ea typeface="Arial"/>
              <a:cs typeface="Arial"/>
              <a:sym typeface="Arial"/>
            </a:endParaRPr>
          </a:p>
        </p:txBody>
      </p:sp>
      <p:sp>
        <p:nvSpPr>
          <p:cNvPr id="758" name="Google Shape;758;p63"/>
          <p:cNvSpPr/>
          <p:nvPr/>
        </p:nvSpPr>
        <p:spPr>
          <a:xfrm>
            <a:off x="685800" y="2926080"/>
            <a:ext cx="20116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Do not use</a:t>
            </a:r>
            <a:endParaRPr b="0" i="0" sz="1350" u="none" cap="none" strike="noStrike">
              <a:solidFill>
                <a:schemeClr val="dk1"/>
              </a:solidFill>
              <a:latin typeface="Arial"/>
              <a:ea typeface="Arial"/>
              <a:cs typeface="Arial"/>
              <a:sym typeface="Arial"/>
            </a:endParaRPr>
          </a:p>
        </p:txBody>
      </p:sp>
      <p:sp>
        <p:nvSpPr>
          <p:cNvPr id="759" name="Google Shape;759;p63"/>
          <p:cNvSpPr/>
          <p:nvPr/>
        </p:nvSpPr>
        <p:spPr>
          <a:xfrm>
            <a:off x="685800" y="3200400"/>
            <a:ext cx="3840480" cy="7315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080"/>
              <a:buFont typeface="Arial"/>
              <a:buChar char="•"/>
            </a:pPr>
            <a:r>
              <a:rPr b="0" i="0" lang="en" sz="1080" u="none" cap="none" strike="noStrike">
                <a:solidFill>
                  <a:srgbClr val="111827"/>
                </a:solidFill>
                <a:latin typeface="Arial"/>
                <a:ea typeface="Arial"/>
                <a:cs typeface="Arial"/>
                <a:sym typeface="Arial"/>
              </a:rPr>
              <a:t>JavaScript</a:t>
            </a:r>
            <a:endParaRPr b="0" i="0" sz="10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80"/>
              <a:buFont typeface="Arial"/>
              <a:buChar char="•"/>
            </a:pPr>
            <a:r>
              <a:rPr b="0" i="0" lang="en" sz="1080" u="none" cap="none" strike="noStrike">
                <a:solidFill>
                  <a:srgbClr val="111827"/>
                </a:solidFill>
                <a:latin typeface="Arial"/>
                <a:ea typeface="Arial"/>
                <a:cs typeface="Arial"/>
                <a:sym typeface="Arial"/>
              </a:rPr>
              <a:t>custom Tailwind configuration</a:t>
            </a:r>
            <a:endParaRPr b="0" i="0" sz="108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80"/>
              <a:buFont typeface="Arial"/>
              <a:buChar char="•"/>
            </a:pPr>
            <a:r>
              <a:rPr b="0" i="0" lang="en" sz="1080" u="none" cap="none" strike="noStrike">
                <a:solidFill>
                  <a:srgbClr val="111827"/>
                </a:solidFill>
                <a:latin typeface="Arial"/>
                <a:ea typeface="Arial"/>
                <a:cs typeface="Arial"/>
                <a:sym typeface="Arial"/>
              </a:rPr>
              <a:t>arbitrary values, Grid spans, or advanced Flexbox sizing</a:t>
            </a:r>
            <a:endParaRPr b="0" i="0" sz="1080" u="none" cap="none" strike="noStrike">
              <a:solidFill>
                <a:schemeClr val="dk1"/>
              </a:solidFill>
              <a:latin typeface="Arial"/>
              <a:ea typeface="Arial"/>
              <a:cs typeface="Arial"/>
              <a:sym typeface="Arial"/>
            </a:endParaRPr>
          </a:p>
        </p:txBody>
      </p:sp>
      <p:sp>
        <p:nvSpPr>
          <p:cNvPr id="760" name="Google Shape;760;p63"/>
          <p:cNvSpPr/>
          <p:nvPr/>
        </p:nvSpPr>
        <p:spPr>
          <a:xfrm>
            <a:off x="4617720" y="2926080"/>
            <a:ext cx="201168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350"/>
              <a:buFont typeface="Arial"/>
              <a:buNone/>
            </a:pPr>
            <a:r>
              <a:rPr b="1" i="0" lang="en" sz="1350" u="none" cap="none" strike="noStrike">
                <a:solidFill>
                  <a:srgbClr val="111827"/>
                </a:solidFill>
                <a:latin typeface="Arial"/>
                <a:ea typeface="Arial"/>
                <a:cs typeface="Arial"/>
                <a:sym typeface="Arial"/>
              </a:rPr>
              <a:t>Submission</a:t>
            </a:r>
            <a:endParaRPr b="0" i="0" sz="1350" u="none" cap="none" strike="noStrike">
              <a:solidFill>
                <a:schemeClr val="dk1"/>
              </a:solidFill>
              <a:latin typeface="Arial"/>
              <a:ea typeface="Arial"/>
              <a:cs typeface="Arial"/>
              <a:sym typeface="Arial"/>
            </a:endParaRPr>
          </a:p>
        </p:txBody>
      </p:sp>
      <p:sp>
        <p:nvSpPr>
          <p:cNvPr id="761" name="Google Shape;761;p63"/>
          <p:cNvSpPr/>
          <p:nvPr/>
        </p:nvSpPr>
        <p:spPr>
          <a:xfrm>
            <a:off x="4617720" y="3200400"/>
            <a:ext cx="3566160" cy="822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index.html</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one narrow-view screenshot</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one wider-view screenshot</a:t>
            </a:r>
            <a:endParaRPr b="0" i="0" sz="105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rgbClr val="111827"/>
              </a:buClr>
              <a:buSzPts val="1050"/>
              <a:buFont typeface="Arial"/>
              <a:buChar char="•"/>
            </a:pPr>
            <a:r>
              <a:rPr b="0" i="0" lang="en" sz="1050" u="none" cap="none" strike="noStrike">
                <a:solidFill>
                  <a:srgbClr val="111827"/>
                </a:solidFill>
                <a:latin typeface="Arial"/>
                <a:ea typeface="Arial"/>
                <a:cs typeface="Arial"/>
                <a:sym typeface="Arial"/>
              </a:rPr>
              <a:t>folder name: lecture-11-volunteer-board</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4"/>
          <p:cNvSpPr/>
          <p:nvPr/>
        </p:nvSpPr>
        <p:spPr>
          <a:xfrm>
            <a:off x="548640" y="384048"/>
            <a:ext cx="6583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100"/>
              <a:buFont typeface="Arial"/>
              <a:buNone/>
            </a:pPr>
            <a:r>
              <a:rPr b="1" i="0" lang="en" sz="2100" u="none" cap="none" strike="noStrike">
                <a:solidFill>
                  <a:srgbClr val="111827"/>
                </a:solidFill>
                <a:latin typeface="Arial"/>
                <a:ea typeface="Arial"/>
                <a:cs typeface="Arial"/>
                <a:sym typeface="Arial"/>
              </a:rPr>
              <a:t>Next: JavaScript and the page</a:t>
            </a:r>
            <a:endParaRPr b="0" i="0" sz="2100" u="none" cap="none" strike="noStrike">
              <a:solidFill>
                <a:schemeClr val="dk1"/>
              </a:solidFill>
              <a:latin typeface="Arial"/>
              <a:ea typeface="Arial"/>
              <a:cs typeface="Arial"/>
              <a:sym typeface="Arial"/>
            </a:endParaRPr>
          </a:p>
        </p:txBody>
      </p:sp>
      <p:sp>
        <p:nvSpPr>
          <p:cNvPr id="768" name="Google Shape;768;p64"/>
          <p:cNvSpPr/>
          <p:nvPr/>
        </p:nvSpPr>
        <p:spPr>
          <a:xfrm>
            <a:off x="685800" y="868680"/>
            <a:ext cx="6858000" cy="32004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11827"/>
              </a:buClr>
              <a:buSzPts val="1600"/>
              <a:buFont typeface="Arial"/>
              <a:buNone/>
            </a:pPr>
            <a:r>
              <a:rPr b="1" i="0" lang="en" sz="1600" u="none" cap="none" strike="noStrike">
                <a:solidFill>
                  <a:srgbClr val="111827"/>
                </a:solidFill>
                <a:latin typeface="Arial"/>
                <a:ea typeface="Arial"/>
                <a:cs typeface="Arial"/>
                <a:sym typeface="Arial"/>
              </a:rPr>
              <a:t>Select page elements and respond to user actions.</a:t>
            </a:r>
            <a:endParaRPr b="0" i="0" sz="1600" u="none" cap="none" strike="noStrike">
              <a:solidFill>
                <a:schemeClr val="dk1"/>
              </a:solidFill>
              <a:latin typeface="Arial"/>
              <a:ea typeface="Arial"/>
              <a:cs typeface="Arial"/>
              <a:sym typeface="Arial"/>
            </a:endParaRPr>
          </a:p>
        </p:txBody>
      </p:sp>
      <p:sp>
        <p:nvSpPr>
          <p:cNvPr id="769" name="Google Shape;769;p64"/>
          <p:cNvSpPr/>
          <p:nvPr/>
        </p:nvSpPr>
        <p:spPr>
          <a:xfrm>
            <a:off x="822960" y="1554480"/>
            <a:ext cx="3474720" cy="37719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1" i="0" lang="en" sz="1300" u="none" cap="none" strike="noStrike">
                <a:solidFill>
                  <a:srgbClr val="111827"/>
                </a:solidFill>
                <a:latin typeface="Arial"/>
                <a:ea typeface="Arial"/>
                <a:cs typeface="Arial"/>
                <a:sym typeface="Arial"/>
              </a:rPr>
              <a:t>Today</a:t>
            </a:r>
            <a:endParaRPr b="0" i="0" sz="1300" u="none" cap="none" strike="noStrike">
              <a:solidFill>
                <a:schemeClr val="dk1"/>
              </a:solidFill>
              <a:latin typeface="Arial"/>
              <a:ea typeface="Arial"/>
              <a:cs typeface="Arial"/>
              <a:sym typeface="Arial"/>
            </a:endParaRPr>
          </a:p>
        </p:txBody>
      </p:sp>
      <p:sp>
        <p:nvSpPr>
          <p:cNvPr id="770" name="Google Shape;770;p64"/>
          <p:cNvSpPr/>
          <p:nvPr/>
        </p:nvSpPr>
        <p:spPr>
          <a:xfrm>
            <a:off x="4297680" y="1554480"/>
            <a:ext cx="3474720" cy="377190"/>
          </a:xfrm>
          <a:prstGeom prst="rect">
            <a:avLst/>
          </a:prstGeom>
          <a:solidFill>
            <a:srgbClr val="E5E7EB"/>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1" i="0" lang="en" sz="1300" u="none" cap="none" strike="noStrike">
                <a:solidFill>
                  <a:srgbClr val="111827"/>
                </a:solidFill>
                <a:latin typeface="Arial"/>
                <a:ea typeface="Arial"/>
                <a:cs typeface="Arial"/>
                <a:sym typeface="Arial"/>
              </a:rPr>
              <a:t>Next</a:t>
            </a:r>
            <a:endParaRPr b="0" i="0" sz="1300" u="none" cap="none" strike="noStrike">
              <a:solidFill>
                <a:schemeClr val="dk1"/>
              </a:solidFill>
              <a:latin typeface="Arial"/>
              <a:ea typeface="Arial"/>
              <a:cs typeface="Arial"/>
              <a:sym typeface="Arial"/>
            </a:endParaRPr>
          </a:p>
        </p:txBody>
      </p:sp>
      <p:sp>
        <p:nvSpPr>
          <p:cNvPr id="771" name="Google Shape;771;p64"/>
          <p:cNvSpPr/>
          <p:nvPr/>
        </p:nvSpPr>
        <p:spPr>
          <a:xfrm>
            <a:off x="822960" y="1931670"/>
            <a:ext cx="3474720" cy="37719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Static HTML structure</a:t>
            </a:r>
            <a:endParaRPr b="0" i="0" sz="1300" u="none" cap="none" strike="noStrike">
              <a:solidFill>
                <a:schemeClr val="dk1"/>
              </a:solidFill>
              <a:latin typeface="Arial"/>
              <a:ea typeface="Arial"/>
              <a:cs typeface="Arial"/>
              <a:sym typeface="Arial"/>
            </a:endParaRPr>
          </a:p>
        </p:txBody>
      </p:sp>
      <p:sp>
        <p:nvSpPr>
          <p:cNvPr id="772" name="Google Shape;772;p64"/>
          <p:cNvSpPr/>
          <p:nvPr/>
        </p:nvSpPr>
        <p:spPr>
          <a:xfrm>
            <a:off x="4297680" y="1931670"/>
            <a:ext cx="3474720" cy="37719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Select an element</a:t>
            </a:r>
            <a:endParaRPr b="0" i="0" sz="1300" u="none" cap="none" strike="noStrike">
              <a:solidFill>
                <a:schemeClr val="dk1"/>
              </a:solidFill>
              <a:latin typeface="Arial"/>
              <a:ea typeface="Arial"/>
              <a:cs typeface="Arial"/>
              <a:sym typeface="Arial"/>
            </a:endParaRPr>
          </a:p>
        </p:txBody>
      </p:sp>
      <p:sp>
        <p:nvSpPr>
          <p:cNvPr id="773" name="Google Shape;773;p64"/>
          <p:cNvSpPr/>
          <p:nvPr/>
        </p:nvSpPr>
        <p:spPr>
          <a:xfrm>
            <a:off x="822960" y="2308860"/>
            <a:ext cx="3474720" cy="37719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Tailwind styling</a:t>
            </a:r>
            <a:endParaRPr b="0" i="0" sz="1300" u="none" cap="none" strike="noStrike">
              <a:solidFill>
                <a:schemeClr val="dk1"/>
              </a:solidFill>
              <a:latin typeface="Arial"/>
              <a:ea typeface="Arial"/>
              <a:cs typeface="Arial"/>
              <a:sym typeface="Arial"/>
            </a:endParaRPr>
          </a:p>
        </p:txBody>
      </p:sp>
      <p:sp>
        <p:nvSpPr>
          <p:cNvPr id="774" name="Google Shape;774;p64"/>
          <p:cNvSpPr/>
          <p:nvPr/>
        </p:nvSpPr>
        <p:spPr>
          <a:xfrm>
            <a:off x="4297680" y="2308860"/>
            <a:ext cx="3474720" cy="37719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Listen for an event</a:t>
            </a:r>
            <a:endParaRPr b="0" i="0" sz="1300" u="none" cap="none" strike="noStrike">
              <a:solidFill>
                <a:schemeClr val="dk1"/>
              </a:solidFill>
              <a:latin typeface="Arial"/>
              <a:ea typeface="Arial"/>
              <a:cs typeface="Arial"/>
              <a:sym typeface="Arial"/>
            </a:endParaRPr>
          </a:p>
        </p:txBody>
      </p:sp>
      <p:sp>
        <p:nvSpPr>
          <p:cNvPr id="775" name="Google Shape;775;p64"/>
          <p:cNvSpPr/>
          <p:nvPr/>
        </p:nvSpPr>
        <p:spPr>
          <a:xfrm>
            <a:off x="822960" y="2686050"/>
            <a:ext cx="3474720" cy="37719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Responsive layout</a:t>
            </a:r>
            <a:endParaRPr b="0" i="0" sz="1300" u="none" cap="none" strike="noStrike">
              <a:solidFill>
                <a:schemeClr val="dk1"/>
              </a:solidFill>
              <a:latin typeface="Arial"/>
              <a:ea typeface="Arial"/>
              <a:cs typeface="Arial"/>
              <a:sym typeface="Arial"/>
            </a:endParaRPr>
          </a:p>
        </p:txBody>
      </p:sp>
      <p:sp>
        <p:nvSpPr>
          <p:cNvPr id="776" name="Google Shape;776;p64"/>
          <p:cNvSpPr/>
          <p:nvPr/>
        </p:nvSpPr>
        <p:spPr>
          <a:xfrm>
            <a:off x="4297680" y="2686050"/>
            <a:ext cx="3474720" cy="37719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111827"/>
              </a:buClr>
              <a:buSzPts val="1300"/>
              <a:buFont typeface="Arial"/>
              <a:buNone/>
            </a:pPr>
            <a:r>
              <a:rPr b="0" i="0" lang="en" sz="1300" u="none" cap="none" strike="noStrike">
                <a:solidFill>
                  <a:srgbClr val="111827"/>
                </a:solidFill>
                <a:latin typeface="Arial"/>
                <a:ea typeface="Arial"/>
                <a:cs typeface="Arial"/>
                <a:sym typeface="Arial"/>
              </a:rPr>
              <a:t>Update page content</a:t>
            </a:r>
            <a:endParaRPr b="0" i="0" sz="1300" u="none" cap="none" strike="noStrike">
              <a:solidFill>
                <a:schemeClr val="dk1"/>
              </a:solidFill>
              <a:latin typeface="Arial"/>
              <a:ea typeface="Arial"/>
              <a:cs typeface="Arial"/>
              <a:sym typeface="Arial"/>
            </a:endParaRPr>
          </a:p>
        </p:txBody>
      </p:sp>
      <p:sp>
        <p:nvSpPr>
          <p:cNvPr id="777" name="Google Shape;777;p64"/>
          <p:cNvSpPr/>
          <p:nvPr/>
        </p:nvSpPr>
        <p:spPr>
          <a:xfrm>
            <a:off x="685800" y="3977640"/>
            <a:ext cx="7772400" cy="41148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11827"/>
              </a:buClr>
              <a:buSzPts val="2200"/>
              <a:buFont typeface="Arial"/>
              <a:buNone/>
            </a:pPr>
            <a:r>
              <a:rPr b="1" i="0" lang="en" sz="2200" u="none" cap="none" strike="noStrike">
                <a:solidFill>
                  <a:srgbClr val="111827"/>
                </a:solidFill>
                <a:latin typeface="Arial"/>
                <a:ea typeface="Arial"/>
                <a:cs typeface="Arial"/>
                <a:sym typeface="Arial"/>
              </a:rPr>
              <a:t>Any questions?</a:t>
            </a:r>
            <a:endParaRPr b="0" i="0" sz="22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