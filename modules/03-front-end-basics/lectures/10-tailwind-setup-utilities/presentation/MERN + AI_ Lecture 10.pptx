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Montserrat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Montserrat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Montserrat-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Montserra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5649f83d_1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5649f83d_1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55649f83d_1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5649f83d_1_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f55649f83d_1_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Mention that Tailwind layout utilities begin in Lecture 11.</a:t>
            </a:r>
            <a:endParaRPr/>
          </a:p>
        </p:txBody>
      </p:sp>
      <p:sp>
        <p:nvSpPr>
          <p:cNvPr id="64" name="Google Shape;64;g3f55649f83d_1_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5649f83d_1_1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f55649f83d_1_1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to respond in chat using formats such as 1A or 2C.</a:t>
            </a:r>
            <a:endParaRPr/>
          </a:p>
        </p:txBody>
      </p:sp>
      <p:sp>
        <p:nvSpPr>
          <p:cNvPr id="72" name="Google Shape;72;g3f55649f83d_1_1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5649f83d_1_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f55649f83d_1_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reveal, identify the condition and the CSS block.</a:t>
            </a:r>
            <a:endParaRPr/>
          </a:p>
        </p:txBody>
      </p:sp>
      <p:sp>
        <p:nvSpPr>
          <p:cNvPr id="80" name="Google Shape;80;g3f55649f83d_1_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5649f83d_1_4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55649f83d_1_4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which condition is true at 540px.</a:t>
            </a:r>
            <a:endParaRPr/>
          </a:p>
        </p:txBody>
      </p:sp>
      <p:sp>
        <p:nvSpPr>
          <p:cNvPr id="103" name="Google Shape;103;g3f55649f83d_1_4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55649f83d_1_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55649f83d_1_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which rule applies before any media-query condition becomes true.</a:t>
            </a:r>
            <a:endParaRPr/>
          </a:p>
        </p:txBody>
      </p:sp>
      <p:sp>
        <p:nvSpPr>
          <p:cNvPr id="116" name="Google Shape;116;g3f55649f83d_1_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55649f83d_1_8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55649f83d_1_8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reveal, ask where margin would appear.</a:t>
            </a:r>
            <a:endParaRPr/>
          </a:p>
        </p:txBody>
      </p:sp>
      <p:sp>
        <p:nvSpPr>
          <p:cNvPr id="139" name="Google Shape;139;g3f55649f83d_1_8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55649f83d_1_1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f55649f83d_1_1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answer to establish that several class names can share one class attribute.</a:t>
            </a:r>
            <a:endParaRPr/>
          </a:p>
        </p:txBody>
      </p:sp>
      <p:sp>
        <p:nvSpPr>
          <p:cNvPr id="152" name="Google Shape;152;g3f55649f83d_1_1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5649f83d_1_1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f55649f83d_1_1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which CSS concepts still matter when using Tailwind.</a:t>
            </a:r>
            <a:endParaRPr/>
          </a:p>
        </p:txBody>
      </p:sp>
      <p:sp>
        <p:nvSpPr>
          <p:cNvPr id="175" name="Google Shape;175;g3f55649f83d_1_1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55649f83d_1_14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f55649f83d_1_14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browser result before discussing the source. Ask learners to identify familiar CSS decisions in the Tailwind class list.</a:t>
            </a:r>
            <a:endParaRPr/>
          </a:p>
        </p:txBody>
      </p:sp>
      <p:sp>
        <p:nvSpPr>
          <p:cNvPr id="194" name="Google Shape;194;g3f55649f83d_1_14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55649f83d_1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f55649f83d_1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f55649f83d_1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5649f83d_1_16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f55649f83d_1_16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which CSS properties would produce the same result.</a:t>
            </a:r>
            <a:endParaRPr/>
          </a:p>
        </p:txBody>
      </p:sp>
      <p:sp>
        <p:nvSpPr>
          <p:cNvPr id="221" name="Google Shape;221;g3f55649f83d_1_16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5649f83d_1_19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f55649f83d_1_19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the class list one responsibility at a time. Do not ask learners to memorize the complete list.</a:t>
            </a:r>
            <a:endParaRPr/>
          </a:p>
        </p:txBody>
      </p:sp>
      <p:sp>
        <p:nvSpPr>
          <p:cNvPr id="249" name="Google Shape;249;g3f55649f83d_1_19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55649f83d_1_23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f55649f83d_1_23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a learner to read mt-2 aloud. Clarify that 2 is a Tailwind spacing value, not a direct pixel value.</a:t>
            </a:r>
            <a:endParaRPr/>
          </a:p>
        </p:txBody>
      </p:sp>
      <p:sp>
        <p:nvSpPr>
          <p:cNvPr id="287" name="Google Shape;287;g3f55649f83d_1_23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55649f83d_1_2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f55649f83d_1_2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which utilities belong on the heading and which belong on the section.</a:t>
            </a:r>
            <a:endParaRPr/>
          </a:p>
        </p:txBody>
      </p:sp>
      <p:sp>
        <p:nvSpPr>
          <p:cNvPr id="355" name="Google Shape;355;g3f55649f83d_1_2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55649f83d_1_3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f55649f83d_1_3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the explanation functional. Do not cover CDN infrastructure or caching.</a:t>
            </a:r>
            <a:endParaRPr/>
          </a:p>
        </p:txBody>
      </p:sp>
      <p:sp>
        <p:nvSpPr>
          <p:cNvPr id="399" name="Google Shape;399;g3f55649f83d_1_3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f55649f83d_1_36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g3f55649f83d_1_36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where learners linked external CSS files in earlier lectures. Explain that this setup uses a script instead of a stylesheet link.</a:t>
            </a:r>
            <a:endParaRPr/>
          </a:p>
        </p:txBody>
      </p:sp>
      <p:sp>
        <p:nvSpPr>
          <p:cNvPr id="421" name="Google Shape;421;g3f55649f83d_1_36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55649f83d_1_37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g3f55649f83d_1_37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starter file, add text-3xl, check the browser, then add font-bold. Ask learners to predict each change.</a:t>
            </a:r>
            <a:endParaRPr/>
          </a:p>
        </p:txBody>
      </p:sp>
      <p:sp>
        <p:nvSpPr>
          <p:cNvPr id="435" name="Google Shape;435;g3f55649f83d_1_37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f55649f83d_1_40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f55649f83d_1_40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reveal, ask where the script belongs.</a:t>
            </a:r>
            <a:endParaRPr/>
          </a:p>
        </p:txBody>
      </p:sp>
      <p:sp>
        <p:nvSpPr>
          <p:cNvPr id="461" name="Google Shape;461;g3f55649f83d_1_40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55649f83d_1_4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f55649f83d_1_4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g3f55649f83d_1_4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f55649f83d_1_4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f55649f83d_1_4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that the same file will change throughout the section.</a:t>
            </a:r>
            <a:endParaRPr/>
          </a:p>
        </p:txBody>
      </p:sp>
      <p:sp>
        <p:nvSpPr>
          <p:cNvPr id="484" name="Google Shape;484;g3f55649f83d_1_4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55649f83d_1_44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f55649f83d_1_44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one class at a time and ask learners to name the CSS property represented by each class.</a:t>
            </a:r>
            <a:endParaRPr/>
          </a:p>
        </p:txBody>
      </p:sp>
      <p:sp>
        <p:nvSpPr>
          <p:cNvPr id="510" name="Google Shape;510;g3f55649f83d_1_44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f55649f83d_1_4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f55649f83d_1_4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why text-3xl and text-amber-700 share the same prefix.</a:t>
            </a:r>
            <a:endParaRPr/>
          </a:p>
        </p:txBody>
      </p:sp>
      <p:sp>
        <p:nvSpPr>
          <p:cNvPr id="536" name="Google Shape;536;g3f55649f83d_1_47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f55649f83d_1_5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3f55649f83d_1_5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reveal, ask what A and B change.</a:t>
            </a:r>
            <a:endParaRPr/>
          </a:p>
        </p:txBody>
      </p:sp>
      <p:sp>
        <p:nvSpPr>
          <p:cNvPr id="598" name="Google Shape;598;g3f55649f83d_1_5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f55649f83d_1_5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f55649f83d_1_5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to post only the changed opening tags in chat.</a:t>
            </a:r>
            <a:endParaRPr/>
          </a:p>
        </p:txBody>
      </p:sp>
      <p:sp>
        <p:nvSpPr>
          <p:cNvPr id="619" name="Google Shape;619;g3f55649f83d_1_5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55649f83d_1_5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g3f55649f83d_1_5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where each example utility acts before showing the table.</a:t>
            </a:r>
            <a:endParaRPr/>
          </a:p>
        </p:txBody>
      </p:sp>
      <p:sp>
        <p:nvSpPr>
          <p:cNvPr id="633" name="Google Shape;633;g3f55649f83d_1_5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55649f83d_1_60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f55649f83d_1_60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 on the naming pattern. Do not teach every available padding class.</a:t>
            </a:r>
            <a:endParaRPr/>
          </a:p>
        </p:txBody>
      </p:sp>
      <p:sp>
        <p:nvSpPr>
          <p:cNvPr id="668" name="Google Shape;668;g3f55649f83d_1_60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3f55649f83d_1_6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g3f55649f83d_1_6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how p-4 differs from m-4.</a:t>
            </a:r>
            <a:endParaRPr/>
          </a:p>
        </p:txBody>
      </p:sp>
      <p:sp>
        <p:nvSpPr>
          <p:cNvPr id="724" name="Google Shape;724;g3f55649f83d_1_6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3f55649f83d_1_68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g3f55649f83d_1_68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adding each class, ask whether it changes inner space or outer space.</a:t>
            </a:r>
            <a:endParaRPr/>
          </a:p>
        </p:txBody>
      </p:sp>
      <p:sp>
        <p:nvSpPr>
          <p:cNvPr id="752" name="Google Shape;752;g3f55649f83d_1_68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f55649f83d_1_7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g3f55649f83d_1_7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the reveal, ask what m-4 would change.</a:t>
            </a:r>
            <a:endParaRPr/>
          </a:p>
        </p:txBody>
      </p:sp>
      <p:sp>
        <p:nvSpPr>
          <p:cNvPr id="779" name="Google Shape;779;g3f55649f83d_1_7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f55649f83d_1_7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2" name="Google Shape;792;g3f55649f83d_1_7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to post the two changed opening tags. Review both the utility and the element receiving it.</a:t>
            </a:r>
            <a:endParaRPr/>
          </a:p>
        </p:txBody>
      </p:sp>
      <p:sp>
        <p:nvSpPr>
          <p:cNvPr id="793" name="Google Shape;793;g3f55649f83d_1_7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f55649f83d_1_73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7" name="Google Shape;807;g3f55649f83d_1_73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which element receives each background.</a:t>
            </a:r>
            <a:endParaRPr/>
          </a:p>
        </p:txBody>
      </p:sp>
      <p:sp>
        <p:nvSpPr>
          <p:cNvPr id="808" name="Google Shape;808;g3f55649f83d_1_73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55649f83d_1_7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f55649f83d_1_7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why border-stone-300 does not create the first border by itself.</a:t>
            </a:r>
            <a:endParaRPr/>
          </a:p>
        </p:txBody>
      </p:sp>
      <p:sp>
        <p:nvSpPr>
          <p:cNvPr id="831" name="Google Shape;831;g3f55649f83d_1_7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f55649f83d_1_80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g3f55649f83d_1_80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to choose one element and explain every utility in its class attribute.</a:t>
            </a:r>
            <a:endParaRPr/>
          </a:p>
        </p:txBody>
      </p:sp>
      <p:sp>
        <p:nvSpPr>
          <p:cNvPr id="876" name="Google Shape;876;g3f55649f83d_1_80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f55649f83d_1_83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4" name="Google Shape;904;g3f55649f83d_1_83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what is missing from B and C.</a:t>
            </a:r>
            <a:endParaRPr/>
          </a:p>
        </p:txBody>
      </p:sp>
      <p:sp>
        <p:nvSpPr>
          <p:cNvPr id="905" name="Google Shape;905;g3f55649f83d_1_83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f55649f83d_1_8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g3f55649f83d_1_8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Accept different preferences when learners support them using the source.</a:t>
            </a:r>
            <a:endParaRPr/>
          </a:p>
        </p:txBody>
      </p:sp>
      <p:sp>
        <p:nvSpPr>
          <p:cNvPr id="929" name="Google Shape;929;g3f55649f83d_1_8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3f55649f83d_1_87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5" name="Google Shape;945;g3f55649f83d_1_87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 this explanation to about five minutes. Do not demonstrate configuration code.</a:t>
            </a:r>
            <a:endParaRPr/>
          </a:p>
        </p:txBody>
      </p:sp>
      <p:sp>
        <p:nvSpPr>
          <p:cNvPr id="946" name="Google Shape;946;g3f55649f83d_1_87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f55649f83d_1_89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g3f55649f83d_1_89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that the activity uses a different page and the same utility groups.</a:t>
            </a:r>
            <a:endParaRPr/>
          </a:p>
        </p:txBody>
      </p:sp>
      <p:sp>
        <p:nvSpPr>
          <p:cNvPr id="974" name="Google Shape;974;g3f55649f83d_1_89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f55649f83d_1_9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3f55649f83d_1_9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Confirm that every learner can open the file before the timer begins.</a:t>
            </a:r>
            <a:endParaRPr/>
          </a:p>
        </p:txBody>
      </p:sp>
      <p:sp>
        <p:nvSpPr>
          <p:cNvPr id="981" name="Google Shape;981;g3f55649f83d_1_9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55649f83d_1_94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g3f55649f83d_1_94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that the bank provides available tools, not a completed class list.</a:t>
            </a:r>
            <a:endParaRPr/>
          </a:p>
        </p:txBody>
      </p:sp>
      <p:sp>
        <p:nvSpPr>
          <p:cNvPr id="1008" name="Google Shape;1008;g3f55649f83d_1_94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f55649f83d_1_100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3f55649f83d_1_100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Demonstrate the label only if learners need a starting point.</a:t>
            </a:r>
            <a:endParaRPr/>
          </a:p>
        </p:txBody>
      </p:sp>
      <p:sp>
        <p:nvSpPr>
          <p:cNvPr id="1071" name="Google Shape;1071;g3f55649f83d_1_100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f55649f83d_1_103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g3f55649f83d_1_103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learners whether each requirement needs padding or margin before they edit.</a:t>
            </a:r>
            <a:endParaRPr/>
          </a:p>
        </p:txBody>
      </p:sp>
      <p:sp>
        <p:nvSpPr>
          <p:cNvPr id="1099" name="Google Shape;1099;g3f55649f83d_1_103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55649f83d_1_106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g3f55649f83d_1_106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Remind learners that a border-color utility does not create the border width.</a:t>
            </a:r>
            <a:endParaRPr/>
          </a:p>
        </p:txBody>
      </p:sp>
      <p:sp>
        <p:nvSpPr>
          <p:cNvPr id="1126" name="Google Shape;1126;g3f55649f83d_1_106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3f55649f83d_1_108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g3f55649f83d_1_108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Show the completed page after learner discussion. Accept different class choices that satisfy the requirements and stay within scope.</a:t>
            </a:r>
            <a:endParaRPr/>
          </a:p>
        </p:txBody>
      </p:sp>
      <p:sp>
        <p:nvSpPr>
          <p:cNvPr id="1146" name="Google Shape;1146;g3f55649f83d_1_108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f55649f83d_1_111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5" name="Google Shape;1175;g3f55649f83d_1_111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for the cause before asking for the correction. Fallback case: section class="padding: 1.5rem;" should become section class="p-6".</a:t>
            </a:r>
            <a:endParaRPr/>
          </a:p>
        </p:txBody>
      </p:sp>
      <p:sp>
        <p:nvSpPr>
          <p:cNvPr id="1176" name="Google Shape;1176;g3f55649f83d_1_111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3f55649f83d_1_113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9" name="Google Shape;1199;g3f55649f83d_1_113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one learner to explain one utility from the example.</a:t>
            </a:r>
            <a:endParaRPr/>
          </a:p>
        </p:txBody>
      </p:sp>
      <p:sp>
        <p:nvSpPr>
          <p:cNvPr id="1200" name="Google Shape;1200;g3f55649f83d_1_113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55649f83d_1_115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9" name="Google Shape;1219;g3f55649f83d_1_115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Clarify that the homework tests utility choice and placement. The entries will be reused when layout utilities are introduced.</a:t>
            </a:r>
            <a:endParaRPr/>
          </a:p>
        </p:txBody>
      </p:sp>
      <p:sp>
        <p:nvSpPr>
          <p:cNvPr id="1220" name="Google Shape;1220;g3f55649f83d_1_115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f55649f83d_1_11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g3f55649f83d_1_11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visual to identify the next layout problem. Do not begin teaching Lecture 11 syntax.</a:t>
            </a:r>
            <a:endParaRPr/>
          </a:p>
        </p:txBody>
      </p:sp>
      <p:sp>
        <p:nvSpPr>
          <p:cNvPr id="1241" name="Google Shape;1241;g3f55649f83d_1_11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530352" y="187452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67"/>
              <a:buFont typeface="Montserrat"/>
              <a:buNone/>
            </a:pPr>
            <a:r>
              <a:rPr b="1" i="0" lang="en" sz="22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Lecture 10</a:t>
            </a:r>
            <a:endParaRPr b="0" i="0" sz="21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30352" y="2331720"/>
            <a:ext cx="4572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067"/>
              <a:buFont typeface="Montserrat"/>
              <a:buNone/>
            </a:pPr>
            <a:r>
              <a:rPr b="1" i="0" lang="en" sz="3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CSS</a:t>
            </a:r>
            <a:endParaRPr b="0" i="0" sz="3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30352" y="2880360"/>
            <a:ext cx="5120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Style familiar HTML with utility classes.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66" name="Google Shape;6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Today's agenda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685800" y="868680"/>
            <a:ext cx="7680900" cy="3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Warm-up: Responsive CSS review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Tailwind CSS foundations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Utility classes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Play CDN setup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Where configuration fits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Applying utility classes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Spacing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4716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◦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Backgrounds and borders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Museum Exhibit activity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Debug clinic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45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Consolas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Homework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400" y="-20925"/>
            <a:ext cx="9218400" cy="51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386520" y="2145399"/>
            <a:ext cx="82965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41"/>
              <a:buFont typeface="Consolas"/>
              <a:buNone/>
            </a:pPr>
            <a:r>
              <a:rPr b="1" i="0" lang="en" sz="941" u="none" cap="none" strike="noStrike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Warm-up</a:t>
            </a:r>
            <a:endParaRPr b="0" i="0" sz="282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386520" y="2606319"/>
            <a:ext cx="82965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79"/>
              <a:buFont typeface="Montserrat"/>
              <a:buNone/>
            </a:pPr>
            <a:r>
              <a:rPr b="1" i="0" lang="en" sz="1479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Responsive CSS and the HTML class attribute</a:t>
            </a:r>
            <a:endParaRPr b="1" i="0" sz="12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1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8"/>
          <p:cNvSpPr/>
          <p:nvPr/>
        </p:nvSpPr>
        <p:spPr>
          <a:xfrm>
            <a:off x="548640" y="77724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0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option uses valid media-query syntax?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548640" y="1170432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603504" y="1216152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603504" y="1435608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8"/>
          <p:cNvSpPr/>
          <p:nvPr/>
        </p:nvSpPr>
        <p:spPr>
          <a:xfrm>
            <a:off x="658368" y="1481328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600px)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4663440" y="1170432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8"/>
          <p:cNvSpPr/>
          <p:nvPr/>
        </p:nvSpPr>
        <p:spPr>
          <a:xfrm>
            <a:off x="4718304" y="1216152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4718304" y="1435608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4773168" y="1481328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max-width: 600px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548640" y="2788920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03504" y="283464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603504" y="3054096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658368" y="3099816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media (max-width = 600px)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663440" y="2788920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4718304" y="283464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718304" y="3054096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773168" y="3099816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max-width: 600px;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2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502920" y="914400"/>
            <a:ext cx="4023300" cy="3291900"/>
          </a:xfrm>
          <a:prstGeom prst="roundRect">
            <a:avLst>
              <a:gd fmla="val 111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557784" y="960120"/>
            <a:ext cx="39135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.notice {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1.25rem;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Montserrat"/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600px) {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.notice {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1rem;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4754880" y="91440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0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viewport is 540px wide. What font size will .notice use?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4754880" y="160020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`1.25rem`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754880" y="1984248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`1rem`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4754880" y="2368296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Both values at the same time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754880" y="2752344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The text will be hidden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3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548640" y="713232"/>
            <a:ext cx="8046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stylesheet should start with 1.25rem and increase the heading to 1.75rem at 768px and above. Which option uses a mobile-first approach?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48640" y="1143000"/>
            <a:ext cx="38862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603504" y="118872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0"/>
          <p:cNvSpPr/>
          <p:nvPr/>
        </p:nvSpPr>
        <p:spPr>
          <a:xfrm>
            <a:off x="603504" y="1408176"/>
            <a:ext cx="3776400" cy="1179600"/>
          </a:xfrm>
          <a:prstGeom prst="roundRect">
            <a:avLst>
              <a:gd fmla="val 310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58368" y="1453896"/>
            <a:ext cx="3666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1.25rem;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1.75rem;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0"/>
          <p:cNvSpPr/>
          <p:nvPr/>
        </p:nvSpPr>
        <p:spPr>
          <a:xfrm>
            <a:off x="4663440" y="1143000"/>
            <a:ext cx="38862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4718304" y="118872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718304" y="1408176"/>
            <a:ext cx="3776400" cy="1179600"/>
          </a:xfrm>
          <a:prstGeom prst="roundRect">
            <a:avLst>
              <a:gd fmla="val 310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4773168" y="1453896"/>
            <a:ext cx="3666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1.75rem;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768px)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1.25rem;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548640" y="2834640"/>
            <a:ext cx="38862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603504" y="288036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603504" y="3099816"/>
            <a:ext cx="3776400" cy="1179600"/>
          </a:xfrm>
          <a:prstGeom prst="roundRect">
            <a:avLst>
              <a:gd fmla="val 310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658368" y="3145536"/>
            <a:ext cx="3666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font-size: 1.25rem;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(max-width: 768px)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1.75rem;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4663440" y="2834640"/>
            <a:ext cx="3886200" cy="1508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18304" y="288036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718304" y="3099816"/>
            <a:ext cx="3776400" cy="1179600"/>
          </a:xfrm>
          <a:prstGeom prst="roundRect">
            <a:avLst>
              <a:gd fmla="val 310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773168" y="3145536"/>
            <a:ext cx="36666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@media (min-width: 768px)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.heading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font-size: 1.25rem;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4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594360" y="868680"/>
            <a:ext cx="4114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0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notice already has a border. Which property adds space between the text and the border?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822960" y="1691640"/>
            <a:ext cx="3108900" cy="128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203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1143000" y="214884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Registration closes today.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120640" y="100584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margin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5120640" y="146304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padding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120640" y="192024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width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5120640" y="237744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display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Question 5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548640" y="77724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0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option applies all three classes to the paragraph?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548640" y="1207008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2"/>
          <p:cNvSpPr/>
          <p:nvPr/>
        </p:nvSpPr>
        <p:spPr>
          <a:xfrm>
            <a:off x="603504" y="1252728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2"/>
          <p:cNvSpPr/>
          <p:nvPr/>
        </p:nvSpPr>
        <p:spPr>
          <a:xfrm>
            <a:off x="603504" y="1472184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658368" y="1517904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class="notice important compact"&gt;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Registration closes today.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2"/>
          <p:cNvSpPr/>
          <p:nvPr/>
        </p:nvSpPr>
        <p:spPr>
          <a:xfrm>
            <a:off x="4663440" y="1207008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4718304" y="1252728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718304" y="1472184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773168" y="1517904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class="notice, important, compact"&gt;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Registration closes today.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548640" y="2788920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603504" y="283464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603504" y="3054096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2"/>
          <p:cNvSpPr/>
          <p:nvPr/>
        </p:nvSpPr>
        <p:spPr>
          <a:xfrm>
            <a:off x="658368" y="3099816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class="notice"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class="important"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class="compact"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Registration closes today.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4663440" y="2788920"/>
            <a:ext cx="38862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2"/>
          <p:cNvSpPr/>
          <p:nvPr/>
        </p:nvSpPr>
        <p:spPr>
          <a:xfrm>
            <a:off x="4718304" y="2834640"/>
            <a:ext cx="3776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4718304" y="3054096"/>
            <a:ext cx="3776400" cy="1088100"/>
          </a:xfrm>
          <a:prstGeom prst="roundRect">
            <a:avLst>
              <a:gd fmla="val 336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4773168" y="3099816"/>
            <a:ext cx="3666600" cy="9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class="notice.important.compact"&gt;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Registration closes today.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CSS decisions in both approaches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3"/>
          <p:cNvSpPr/>
          <p:nvPr/>
        </p:nvSpPr>
        <p:spPr>
          <a:xfrm>
            <a:off x="640080" y="960120"/>
            <a:ext cx="3703200" cy="19203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3"/>
          <p:cNvSpPr/>
          <p:nvPr/>
        </p:nvSpPr>
        <p:spPr>
          <a:xfrm>
            <a:off x="822960" y="11155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Conventional CSS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822960" y="1481328"/>
            <a:ext cx="320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1. HTML uses a custom class name.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2. A CSS selector groups the declarations.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3. The browser applies those declarations.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3"/>
          <p:cNvSpPr/>
          <p:nvPr/>
        </p:nvSpPr>
        <p:spPr>
          <a:xfrm>
            <a:off x="4800600" y="960120"/>
            <a:ext cx="3703200" cy="19203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4983480" y="111556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Tailwind CSS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3"/>
          <p:cNvSpPr/>
          <p:nvPr/>
        </p:nvSpPr>
        <p:spPr>
          <a:xfrm>
            <a:off x="4983480" y="1481328"/>
            <a:ext cx="3200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1. HTML uses utility classes.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2. Each utility represents a predefined styling decision.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3. Tailwind creates the required CSS rules.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5" name="Google Shape;185;p23"/>
          <p:cNvCxnSpPr/>
          <p:nvPr/>
        </p:nvCxnSpPr>
        <p:spPr>
          <a:xfrm>
            <a:off x="2514600" y="2880360"/>
            <a:ext cx="0" cy="365700"/>
          </a:xfrm>
          <a:prstGeom prst="straightConnector1">
            <a:avLst/>
          </a:prstGeom>
          <a:noFill/>
          <a:ln cap="flat" cmpd="sng" w="169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3"/>
          <p:cNvCxnSpPr/>
          <p:nvPr/>
        </p:nvCxnSpPr>
        <p:spPr>
          <a:xfrm>
            <a:off x="6629400" y="2880360"/>
            <a:ext cx="0" cy="365700"/>
          </a:xfrm>
          <a:prstGeom prst="straightConnector1">
            <a:avLst/>
          </a:prstGeom>
          <a:noFill/>
          <a:ln cap="flat" cmpd="sng" w="169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" name="Google Shape;187;p23"/>
          <p:cNvSpPr/>
          <p:nvPr/>
        </p:nvSpPr>
        <p:spPr>
          <a:xfrm>
            <a:off x="2880360" y="3246120"/>
            <a:ext cx="3383400" cy="502800"/>
          </a:xfrm>
          <a:prstGeom prst="roundRect">
            <a:avLst>
              <a:gd fmla="val 14545" name="adj"/>
            </a:avLst>
          </a:prstGeom>
          <a:solidFill>
            <a:srgbClr val="F8FAFC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2880360" y="3383280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Styled HTML element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3"/>
          <p:cNvSpPr/>
          <p:nvPr/>
        </p:nvSpPr>
        <p:spPr>
          <a:xfrm>
            <a:off x="685800" y="3785293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Both approaches use CSS concepts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3"/>
          <p:cNvSpPr/>
          <p:nvPr/>
        </p:nvSpPr>
        <p:spPr>
          <a:xfrm>
            <a:off x="822960" y="4013893"/>
            <a:ext cx="731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 size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 weight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Padding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Margin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Background color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071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33"/>
              <a:buFont typeface="Montserrat"/>
              <a:buChar char="•"/>
            </a:pPr>
            <a:r>
              <a:rPr b="0" i="0" lang="en" sz="12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Borders</a:t>
            </a:r>
            <a:endParaRPr b="0" i="0" sz="9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4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Same component, different authoring</a:t>
            </a:r>
            <a:endParaRPr b="0" i="0" sz="22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502920" y="7772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Conventional CSS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502920" y="1024128"/>
            <a:ext cx="3794700" cy="1234500"/>
          </a:xfrm>
          <a:prstGeom prst="roundRect">
            <a:avLst>
              <a:gd fmla="val 2963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557784" y="1069848"/>
            <a:ext cx="368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 class="admission-notice"&gt;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&lt;h2&gt;Admission&lt;/h2&gt;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Entry is free. Food and products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are sold separately.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&lt;/aside&gt;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4"/>
          <p:cNvSpPr/>
          <p:nvPr/>
        </p:nvSpPr>
        <p:spPr>
          <a:xfrm>
            <a:off x="502920" y="2331720"/>
            <a:ext cx="3794700" cy="1234500"/>
          </a:xfrm>
          <a:prstGeom prst="roundRect">
            <a:avLst>
              <a:gd fmla="val 2963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4"/>
          <p:cNvSpPr/>
          <p:nvPr/>
        </p:nvSpPr>
        <p:spPr>
          <a:xfrm>
            <a:off x="557784" y="2377440"/>
            <a:ext cx="368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.admission-notice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margin-bottom: 1.5rem;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background-color: #fef3c7;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border-left: 4px solid #f59e0b;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border-radius: 0.5rem;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4617720" y="77724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Tailwind utilities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4617720" y="1024128"/>
            <a:ext cx="3977700" cy="1902000"/>
          </a:xfrm>
          <a:prstGeom prst="roundRect">
            <a:avLst>
              <a:gd fmla="val 1923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4672584" y="1069848"/>
            <a:ext cx="3867900" cy="1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border-l-4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border-amber-500 bg-amber-100 p-4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&lt;h2&gt;Admission&lt;/h2&gt;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&lt;p&gt;Entry is free. Food and products are sold separately.&lt;/p&gt;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&lt;/aside&gt;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4"/>
          <p:cNvSpPr/>
          <p:nvPr/>
        </p:nvSpPr>
        <p:spPr>
          <a:xfrm>
            <a:off x="4617720" y="306324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Discussion: Where are the styling decisions written in each version?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4"/>
          <p:cNvSpPr/>
          <p:nvPr/>
        </p:nvSpPr>
        <p:spPr>
          <a:xfrm>
            <a:off x="2331720" y="3703320"/>
            <a:ext cx="4480500" cy="685800"/>
          </a:xfrm>
          <a:prstGeom prst="roundRect">
            <a:avLst>
              <a:gd fmla="val 10667" name="adj"/>
            </a:avLst>
          </a:prstGeom>
          <a:solidFill>
            <a:srgbClr val="FEF3C7"/>
          </a:solidFill>
          <a:ln cap="flat" cmpd="sng" w="23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4"/>
          <p:cNvSpPr/>
          <p:nvPr/>
        </p:nvSpPr>
        <p:spPr>
          <a:xfrm>
            <a:off x="2560320" y="3840480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4"/>
          <p:cNvSpPr/>
          <p:nvPr/>
        </p:nvSpPr>
        <p:spPr>
          <a:xfrm>
            <a:off x="2560320" y="4059936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Entry is free. Food and products are sold separately.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/>
          <p:nvPr/>
        </p:nvSpPr>
        <p:spPr>
          <a:xfrm>
            <a:off x="457200" y="21488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Tailwind CSS foundations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457200" y="2606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Utility classes, setup, and the browser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223" name="Google Shape;2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does Tailwind CSS provide?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6"/>
          <p:cNvSpPr/>
          <p:nvPr/>
        </p:nvSpPr>
        <p:spPr>
          <a:xfrm>
            <a:off x="594360" y="914400"/>
            <a:ext cx="38406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Char char="•"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CSS is a utility-first CSS framework.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Char char="•"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It provides predefined utility classes.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48733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Each utility applies a small styling decision.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48733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Several utilities can be added to one element.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Char char="•"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classes are written inside the HTML class attribute.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Char char="•"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creates CSS rules for the utility classes used on the page.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85850" y="3443135"/>
            <a:ext cx="3657600" cy="685800"/>
          </a:xfrm>
          <a:prstGeom prst="roundRect">
            <a:avLst>
              <a:gd fmla="val 5333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740714" y="3488855"/>
            <a:ext cx="3547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&lt;h1 class="text-3xl font-bold"&gt;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Riverside Night Market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&lt;/h1&gt;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4846320" y="914400"/>
            <a:ext cx="3429000" cy="1051500"/>
          </a:xfrm>
          <a:prstGeom prst="roundRect">
            <a:avLst>
              <a:gd fmla="val 69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4846320" y="914400"/>
            <a:ext cx="34290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4919472" y="9784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5047488" y="9784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5175504" y="9784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6"/>
          <p:cNvSpPr/>
          <p:nvPr/>
        </p:nvSpPr>
        <p:spPr>
          <a:xfrm>
            <a:off x="5074920" y="1417320"/>
            <a:ext cx="297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4846320" y="2331720"/>
            <a:ext cx="17145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4892040" y="235915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560820" y="2331720"/>
            <a:ext cx="17145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40" y="235915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Applies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4846320" y="2667000"/>
            <a:ext cx="17145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4892040" y="269443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text-3xl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6560820" y="2667000"/>
            <a:ext cx="17145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6606540" y="269443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 size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6"/>
          <p:cNvSpPr/>
          <p:nvPr/>
        </p:nvSpPr>
        <p:spPr>
          <a:xfrm>
            <a:off x="4846320" y="3002280"/>
            <a:ext cx="17145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6"/>
          <p:cNvSpPr/>
          <p:nvPr/>
        </p:nvSpPr>
        <p:spPr>
          <a:xfrm>
            <a:off x="4892040" y="302971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26"/>
          <p:cNvSpPr/>
          <p:nvPr/>
        </p:nvSpPr>
        <p:spPr>
          <a:xfrm>
            <a:off x="6560820" y="3002280"/>
            <a:ext cx="17145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6"/>
          <p:cNvSpPr/>
          <p:nvPr/>
        </p:nvSpPr>
        <p:spPr>
          <a:xfrm>
            <a:off x="6606540" y="3029712"/>
            <a:ext cx="162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 weight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is utility-first styling?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94360" y="786384"/>
            <a:ext cx="7772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Utility-first styling builds an element by combining small classes.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2148840" y="1188720"/>
            <a:ext cx="4846200" cy="1143000"/>
          </a:xfrm>
          <a:prstGeom prst="roundRect">
            <a:avLst>
              <a:gd fmla="val 32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2203704" y="1234440"/>
            <a:ext cx="4736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class="rounded-lg border bg-white p-6"&gt;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 class="text-3xl font-bold"&gt;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Riverside Night Market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&lt;/h2&gt;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2011680" y="2670048"/>
            <a:ext cx="2560200" cy="2835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2057400" y="2697480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Responsibility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4572000" y="2670048"/>
            <a:ext cx="2560200" cy="2835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4617720" y="2697480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Utilities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2011680" y="2953512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2057400" y="2980944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spacing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4572000" y="2953512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7"/>
          <p:cNvSpPr/>
          <p:nvPr/>
        </p:nvSpPr>
        <p:spPr>
          <a:xfrm>
            <a:off x="4617720" y="2980944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p-6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7"/>
          <p:cNvSpPr/>
          <p:nvPr/>
        </p:nvSpPr>
        <p:spPr>
          <a:xfrm>
            <a:off x="2011680" y="3236976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7"/>
          <p:cNvSpPr/>
          <p:nvPr/>
        </p:nvSpPr>
        <p:spPr>
          <a:xfrm>
            <a:off x="2057400" y="326440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background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4572000" y="3236976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7"/>
          <p:cNvSpPr/>
          <p:nvPr/>
        </p:nvSpPr>
        <p:spPr>
          <a:xfrm>
            <a:off x="4617720" y="326440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bg-white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7"/>
          <p:cNvSpPr/>
          <p:nvPr/>
        </p:nvSpPr>
        <p:spPr>
          <a:xfrm>
            <a:off x="2011680" y="3520440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2057400" y="354787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border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4572000" y="3520440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4617720" y="354787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border rounded-lg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2011680" y="3803904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7"/>
          <p:cNvSpPr/>
          <p:nvPr/>
        </p:nvSpPr>
        <p:spPr>
          <a:xfrm>
            <a:off x="2057400" y="3831336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Heading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7"/>
          <p:cNvSpPr/>
          <p:nvPr/>
        </p:nvSpPr>
        <p:spPr>
          <a:xfrm>
            <a:off x="4572000" y="3803904"/>
            <a:ext cx="2560200" cy="283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4617720" y="3831336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text-3xl font-bold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94360" y="1234440"/>
            <a:ext cx="15087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649224" y="1380744"/>
            <a:ext cx="139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spacing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7269480" y="1234440"/>
            <a:ext cx="15087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7"/>
          <p:cNvSpPr/>
          <p:nvPr/>
        </p:nvSpPr>
        <p:spPr>
          <a:xfrm>
            <a:off x="7324344" y="1380744"/>
            <a:ext cx="139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background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7"/>
          <p:cNvSpPr/>
          <p:nvPr/>
        </p:nvSpPr>
        <p:spPr>
          <a:xfrm>
            <a:off x="594360" y="3063240"/>
            <a:ext cx="15087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7"/>
          <p:cNvSpPr/>
          <p:nvPr/>
        </p:nvSpPr>
        <p:spPr>
          <a:xfrm>
            <a:off x="649224" y="3209544"/>
            <a:ext cx="139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Container 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7"/>
          <p:cNvSpPr/>
          <p:nvPr/>
        </p:nvSpPr>
        <p:spPr>
          <a:xfrm>
            <a:off x="7269480" y="3063240"/>
            <a:ext cx="15087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7324344" y="3209544"/>
            <a:ext cx="1398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Heading text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How do we read a utility class?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594360" y="914400"/>
            <a:ext cx="3749100" cy="13260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731520" y="100584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p-6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3" name="Google Shape;293;p28"/>
          <p:cNvSpPr/>
          <p:nvPr/>
        </p:nvSpPr>
        <p:spPr>
          <a:xfrm>
            <a:off x="1737360" y="10789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8"/>
          <p:cNvSpPr/>
          <p:nvPr/>
        </p:nvSpPr>
        <p:spPr>
          <a:xfrm>
            <a:off x="1783080" y="11064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Part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8"/>
          <p:cNvSpPr/>
          <p:nvPr/>
        </p:nvSpPr>
        <p:spPr>
          <a:xfrm>
            <a:off x="3017520" y="10789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3063240" y="11064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Meaning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1737360" y="14142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1783080" y="14417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3017520" y="14142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3063240" y="14417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Padding on all sides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1737360" y="17495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1783080" y="17769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017520" y="17495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3063240" y="17769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 from the spacing scale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4709160" y="914400"/>
            <a:ext cx="3749100" cy="13260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4846320" y="100584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mt-2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5852160" y="1078992"/>
            <a:ext cx="1280100" cy="251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897880" y="110642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Part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7132320" y="1078992"/>
            <a:ext cx="1280100" cy="251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7178040" y="110642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Meaning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5852160" y="133045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8"/>
          <p:cNvSpPr/>
          <p:nvPr/>
        </p:nvSpPr>
        <p:spPr>
          <a:xfrm>
            <a:off x="5897880" y="135788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7132320" y="133045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28"/>
          <p:cNvSpPr/>
          <p:nvPr/>
        </p:nvSpPr>
        <p:spPr>
          <a:xfrm>
            <a:off x="7178040" y="135788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Margin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5852160" y="158191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5897880" y="160934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28"/>
          <p:cNvSpPr/>
          <p:nvPr/>
        </p:nvSpPr>
        <p:spPr>
          <a:xfrm>
            <a:off x="7132320" y="158191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8"/>
          <p:cNvSpPr/>
          <p:nvPr/>
        </p:nvSpPr>
        <p:spPr>
          <a:xfrm>
            <a:off x="7178040" y="160934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Top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8"/>
          <p:cNvSpPr/>
          <p:nvPr/>
        </p:nvSpPr>
        <p:spPr>
          <a:xfrm>
            <a:off x="5852160" y="183337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28"/>
          <p:cNvSpPr/>
          <p:nvPr/>
        </p:nvSpPr>
        <p:spPr>
          <a:xfrm>
            <a:off x="5897880" y="186080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8"/>
          <p:cNvSpPr/>
          <p:nvPr/>
        </p:nvSpPr>
        <p:spPr>
          <a:xfrm>
            <a:off x="7132320" y="1833372"/>
            <a:ext cx="1280100" cy="25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7178040" y="1860804"/>
            <a:ext cx="1188600" cy="1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Value from the spacing scale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594360" y="2743200"/>
            <a:ext cx="3749100" cy="13260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731520" y="283464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1F1F1F"/>
                </a:solidFill>
                <a:latin typeface="Consolas"/>
                <a:ea typeface="Consolas"/>
                <a:cs typeface="Consolas"/>
                <a:sym typeface="Consolas"/>
              </a:rPr>
              <a:t>text-3xl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1737360" y="29077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1783080" y="29352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Part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8"/>
          <p:cNvSpPr/>
          <p:nvPr/>
        </p:nvSpPr>
        <p:spPr>
          <a:xfrm>
            <a:off x="3017520" y="29077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8"/>
          <p:cNvSpPr/>
          <p:nvPr/>
        </p:nvSpPr>
        <p:spPr>
          <a:xfrm>
            <a:off x="3063240" y="29352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Meaning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8"/>
          <p:cNvSpPr/>
          <p:nvPr/>
        </p:nvSpPr>
        <p:spPr>
          <a:xfrm>
            <a:off x="1737360" y="32430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28"/>
          <p:cNvSpPr/>
          <p:nvPr/>
        </p:nvSpPr>
        <p:spPr>
          <a:xfrm>
            <a:off x="1783080" y="32705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3017520" y="32430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3063240" y="32705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Text-size family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1737360" y="35783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1783080" y="36057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3xl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3017520" y="35783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28"/>
          <p:cNvSpPr/>
          <p:nvPr/>
        </p:nvSpPr>
        <p:spPr>
          <a:xfrm>
            <a:off x="3063240" y="36057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Named font size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4709160" y="2743200"/>
            <a:ext cx="3749100" cy="132600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4846320" y="2834640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5852160" y="29077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897880" y="29352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Part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7132320" y="2907792"/>
            <a:ext cx="1280100" cy="3354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7178040" y="293522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Meaning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5852160" y="32430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5897880" y="32705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7132320" y="324307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7178040" y="327050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Font-weight family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5852160" y="35783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5897880" y="36057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bold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7132320" y="3578352"/>
            <a:ext cx="1280100" cy="335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7178040" y="3605784"/>
            <a:ext cx="11886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Named font weight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85800" y="4315968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Read the complete utility name. Utility families do not all use the same pattern.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357" name="Google Shape;3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9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Map CSS decisions to Tailwind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594360" y="868680"/>
            <a:ext cx="2651700" cy="3291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640080" y="89611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Styling decision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3246120" y="868680"/>
            <a:ext cx="2651700" cy="3291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3291840" y="89611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Conventional CSS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897880" y="868680"/>
            <a:ext cx="2651700" cy="3291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29"/>
          <p:cNvSpPr/>
          <p:nvPr/>
        </p:nvSpPr>
        <p:spPr>
          <a:xfrm>
            <a:off x="5943600" y="896112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594360" y="1197864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p29"/>
          <p:cNvSpPr/>
          <p:nvPr/>
        </p:nvSpPr>
        <p:spPr>
          <a:xfrm>
            <a:off x="64008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Increase heading size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29"/>
          <p:cNvSpPr/>
          <p:nvPr/>
        </p:nvSpPr>
        <p:spPr>
          <a:xfrm>
            <a:off x="3246120" y="1197864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329184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font-size: 1.875rem;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897880" y="1197864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5943600" y="1225296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text-3xl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594360" y="1527048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640080" y="155448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a bold heading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3246120" y="1527048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3291840" y="155448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font-weight: 700;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5897880" y="1527048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5943600" y="155448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29"/>
          <p:cNvSpPr/>
          <p:nvPr/>
        </p:nvSpPr>
        <p:spPr>
          <a:xfrm>
            <a:off x="594360" y="1856232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29"/>
          <p:cNvSpPr/>
          <p:nvPr/>
        </p:nvSpPr>
        <p:spPr>
          <a:xfrm>
            <a:off x="640080" y="188366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padding on all sides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3246120" y="1856232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29"/>
          <p:cNvSpPr/>
          <p:nvPr/>
        </p:nvSpPr>
        <p:spPr>
          <a:xfrm>
            <a:off x="3291840" y="188366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padding: 1.5rem;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29"/>
          <p:cNvSpPr/>
          <p:nvPr/>
        </p:nvSpPr>
        <p:spPr>
          <a:xfrm>
            <a:off x="5897880" y="1856232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29"/>
          <p:cNvSpPr/>
          <p:nvPr/>
        </p:nvSpPr>
        <p:spPr>
          <a:xfrm>
            <a:off x="5943600" y="1883664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p-6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29"/>
          <p:cNvSpPr/>
          <p:nvPr/>
        </p:nvSpPr>
        <p:spPr>
          <a:xfrm>
            <a:off x="594360" y="2185416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29"/>
          <p:cNvSpPr/>
          <p:nvPr/>
        </p:nvSpPr>
        <p:spPr>
          <a:xfrm>
            <a:off x="640080" y="221284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Round the corners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29"/>
          <p:cNvSpPr/>
          <p:nvPr/>
        </p:nvSpPr>
        <p:spPr>
          <a:xfrm>
            <a:off x="3246120" y="2185416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3291840" y="221284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border-radius: 0.5rem;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5897880" y="2185416"/>
            <a:ext cx="26517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5943600" y="2212848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rounded-lg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594360" y="2788920"/>
            <a:ext cx="3383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Applied to the heading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594360" y="3063240"/>
            <a:ext cx="3749100" cy="640200"/>
          </a:xfrm>
          <a:prstGeom prst="roundRect">
            <a:avLst>
              <a:gd fmla="val 571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649224" y="3108960"/>
            <a:ext cx="3639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&lt;h2 class="text-3xl font-bold"&gt;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Riverside Night Market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4617720" y="2788920"/>
            <a:ext cx="3383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Applied to the container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4617720" y="3063240"/>
            <a:ext cx="3749100" cy="640200"/>
          </a:xfrm>
          <a:prstGeom prst="roundRect">
            <a:avLst>
              <a:gd fmla="val 571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4672584" y="3108960"/>
            <a:ext cx="3639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class="rounded-lg p-6"&gt;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731520" y="3977640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uses named values and scales.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Each utility still represents a CSS decision.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01" name="Google Shape;40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0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is a CDN?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640080" y="822960"/>
            <a:ext cx="7772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CDN stands for content delivery network. A CDN provides files through web addresses that a browser can request.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731520" y="1325880"/>
            <a:ext cx="21489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0"/>
          <p:cNvSpPr/>
          <p:nvPr/>
        </p:nvSpPr>
        <p:spPr>
          <a:xfrm>
            <a:off x="804672" y="153619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index.html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0"/>
          <p:cNvSpPr/>
          <p:nvPr/>
        </p:nvSpPr>
        <p:spPr>
          <a:xfrm>
            <a:off x="3246120" y="1325880"/>
            <a:ext cx="21489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0"/>
          <p:cNvSpPr/>
          <p:nvPr/>
        </p:nvSpPr>
        <p:spPr>
          <a:xfrm>
            <a:off x="3319272" y="153619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CDN script address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5897880" y="1325880"/>
            <a:ext cx="2148900" cy="685800"/>
          </a:xfrm>
          <a:prstGeom prst="roundRect">
            <a:avLst>
              <a:gd fmla="val 10667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5971032" y="153619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browser package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0" name="Google Shape;410;p30"/>
          <p:cNvCxnSpPr/>
          <p:nvPr/>
        </p:nvCxnSpPr>
        <p:spPr>
          <a:xfrm>
            <a:off x="2880360" y="1664208"/>
            <a:ext cx="365700" cy="0"/>
          </a:xfrm>
          <a:prstGeom prst="straightConnector1">
            <a:avLst/>
          </a:prstGeom>
          <a:noFill/>
          <a:ln cap="flat" cmpd="sng" w="169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30"/>
          <p:cNvCxnSpPr/>
          <p:nvPr/>
        </p:nvCxnSpPr>
        <p:spPr>
          <a:xfrm>
            <a:off x="5394960" y="1664208"/>
            <a:ext cx="502800" cy="0"/>
          </a:xfrm>
          <a:prstGeom prst="straightConnector1">
            <a:avLst/>
          </a:prstGeom>
          <a:noFill/>
          <a:ln cap="flat" cmpd="sng" w="1692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30"/>
          <p:cNvSpPr/>
          <p:nvPr/>
        </p:nvSpPr>
        <p:spPr>
          <a:xfrm>
            <a:off x="3291840" y="2423160"/>
            <a:ext cx="2560200" cy="4572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3291840" y="2560320"/>
            <a:ext cx="2560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Styled page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777240" y="3246120"/>
            <a:ext cx="3840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Why this setup fits the course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914400" y="3520440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 Node.js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 npm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 build command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One plain HTML file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4754880" y="32461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Limitation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4754880" y="3520440"/>
            <a:ext cx="356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Play CDN is intended for development and learning, not production.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23" name="Google Shape;42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1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Connect Tailwind to the page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548640" y="868680"/>
            <a:ext cx="4755000" cy="3566100"/>
          </a:xfrm>
          <a:prstGeom prst="roundRect">
            <a:avLst>
              <a:gd fmla="val 102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603504" y="914400"/>
            <a:ext cx="46452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&lt;meta charset="UTF-8"&gt;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Montserrat"/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&lt;meta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name="viewport"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content="width=device-width, initial-scale=1.0"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Montserrat"/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&lt;script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src="https://cdn.jsdelivr.net/npm/@tailwindcss/browser@4"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&gt;&lt;/script&gt;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Montserrat"/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&lt;title&gt;Riverside Night Market&lt;/title&gt;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1"/>
          <p:cNvSpPr/>
          <p:nvPr/>
        </p:nvSpPr>
        <p:spPr>
          <a:xfrm>
            <a:off x="5623560" y="914400"/>
            <a:ext cx="2788800" cy="141720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5806440" y="1051560"/>
            <a:ext cx="2469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html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7"/>
              <a:buFont typeface="Montserrat"/>
              <a:buNone/>
            </a:pPr>
            <a:r>
              <a:t/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head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meta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script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title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7"/>
              <a:buFont typeface="Montserrat"/>
              <a:buNone/>
            </a:pPr>
            <a:r>
              <a:t/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body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  page content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5623560" y="2606040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What the script does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5715000" y="2907792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Loads Tailwind browser package.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Makes Tailwind utility classes available on the page.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1"/>
          <p:cNvSpPr/>
          <p:nvPr/>
        </p:nvSpPr>
        <p:spPr>
          <a:xfrm>
            <a:off x="5623560" y="3886200"/>
            <a:ext cx="2743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Setup requirement: The browser needs an internet connection while using the Play CDN.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37" name="Google Shape;4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2"/>
          <p:cNvSpPr/>
          <p:nvPr/>
        </p:nvSpPr>
        <p:spPr>
          <a:xfrm>
            <a:off x="457200" y="256032"/>
            <a:ext cx="64923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4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Live demonstration: Verify the setup</a:t>
            </a:r>
            <a:endParaRPr b="0" i="0" sz="22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32"/>
          <p:cNvSpPr/>
          <p:nvPr/>
        </p:nvSpPr>
        <p:spPr>
          <a:xfrm>
            <a:off x="594360" y="868680"/>
            <a:ext cx="27432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0" name="Google Shape;440;p32"/>
          <p:cNvSpPr/>
          <p:nvPr/>
        </p:nvSpPr>
        <p:spPr>
          <a:xfrm>
            <a:off x="649224" y="914400"/>
            <a:ext cx="2633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Initial state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649224" y="1133856"/>
            <a:ext cx="2633700" cy="676800"/>
          </a:xfrm>
          <a:prstGeom prst="roundRect">
            <a:avLst>
              <a:gd fmla="val 5405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32"/>
          <p:cNvSpPr/>
          <p:nvPr/>
        </p:nvSpPr>
        <p:spPr>
          <a:xfrm>
            <a:off x="704088" y="1179576"/>
            <a:ext cx="2523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Riverside Night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p32"/>
          <p:cNvSpPr/>
          <p:nvPr/>
        </p:nvSpPr>
        <p:spPr>
          <a:xfrm>
            <a:off x="3566160" y="868680"/>
            <a:ext cx="27432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4" name="Google Shape;444;p32"/>
          <p:cNvSpPr/>
          <p:nvPr/>
        </p:nvSpPr>
        <p:spPr>
          <a:xfrm>
            <a:off x="3621024" y="914400"/>
            <a:ext cx="26337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Add two utility classes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32"/>
          <p:cNvSpPr/>
          <p:nvPr/>
        </p:nvSpPr>
        <p:spPr>
          <a:xfrm>
            <a:off x="3621024" y="1133856"/>
            <a:ext cx="2633700" cy="676800"/>
          </a:xfrm>
          <a:prstGeom prst="roundRect">
            <a:avLst>
              <a:gd fmla="val 5405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2"/>
          <p:cNvSpPr/>
          <p:nvPr/>
        </p:nvSpPr>
        <p:spPr>
          <a:xfrm>
            <a:off x="3675888" y="1179576"/>
            <a:ext cx="2523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&lt;h1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class="text-3xl font-bold"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Riverside Night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6537960" y="868680"/>
            <a:ext cx="2103300" cy="1920300"/>
          </a:xfrm>
          <a:prstGeom prst="roundRect">
            <a:avLst>
              <a:gd fmla="val 381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6537960" y="868680"/>
            <a:ext cx="21033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32"/>
          <p:cNvSpPr/>
          <p:nvPr/>
        </p:nvSpPr>
        <p:spPr>
          <a:xfrm>
            <a:off x="6611112" y="93268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32"/>
          <p:cNvSpPr/>
          <p:nvPr/>
        </p:nvSpPr>
        <p:spPr>
          <a:xfrm>
            <a:off x="6739128" y="93268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6867144" y="93268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6766560" y="1371600"/>
            <a:ext cx="16461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2"/>
          <p:cNvSpPr/>
          <p:nvPr/>
        </p:nvSpPr>
        <p:spPr>
          <a:xfrm>
            <a:off x="685800" y="2331720"/>
            <a:ext cx="24687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32"/>
          <p:cNvSpPr/>
          <p:nvPr/>
        </p:nvSpPr>
        <p:spPr>
          <a:xfrm>
            <a:off x="777240" y="2606040"/>
            <a:ext cx="329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heading becomes larger.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heading becomes bold.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 custom CSS rule is added.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2"/>
          <p:cNvSpPr/>
          <p:nvPr/>
        </p:nvSpPr>
        <p:spPr>
          <a:xfrm>
            <a:off x="4572000" y="2331720"/>
            <a:ext cx="1828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32"/>
          <p:cNvSpPr/>
          <p:nvPr/>
        </p:nvSpPr>
        <p:spPr>
          <a:xfrm>
            <a:off x="4572000" y="260604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class changed the size?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class changed the weight?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2"/>
          <p:cNvSpPr/>
          <p:nvPr/>
        </p:nvSpPr>
        <p:spPr>
          <a:xfrm>
            <a:off x="685800" y="3977640"/>
            <a:ext cx="7772400" cy="2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Asset: 03-night-market-tailwind-starter/index.html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63" name="Google Shape;4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3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33"/>
              <a:buFont typeface="Montserrat"/>
              <a:buNone/>
            </a:pPr>
            <a:r>
              <a:rPr b="1" i="0" lang="en" sz="22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Why did the style not change?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3"/>
          <p:cNvSpPr/>
          <p:nvPr/>
        </p:nvSpPr>
        <p:spPr>
          <a:xfrm>
            <a:off x="502920" y="777240"/>
            <a:ext cx="4251900" cy="3566100"/>
          </a:xfrm>
          <a:prstGeom prst="roundRect">
            <a:avLst>
              <a:gd fmla="val 102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3"/>
          <p:cNvSpPr/>
          <p:nvPr/>
        </p:nvSpPr>
        <p:spPr>
          <a:xfrm>
            <a:off x="557784" y="822960"/>
            <a:ext cx="41421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&lt;meta charset="UTF-8"&gt;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&lt;meta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name="viewport"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content="width=device-width, initial-scale=1.0"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&lt;title&gt;Library Update&lt;/title&gt;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 class="text-2xl font-bold"&gt;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The library closes at 6 PM.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&lt;/h2&gt;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3"/>
          <p:cNvSpPr/>
          <p:nvPr/>
        </p:nvSpPr>
        <p:spPr>
          <a:xfrm>
            <a:off x="4983475" y="914400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learner adds Tailwind classes, but the page still uses the browser default styles.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is missing?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4983480" y="19659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A. A second class attribute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4983480" y="24231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B. The Tailwind Play CDN script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3"/>
          <p:cNvSpPr/>
          <p:nvPr/>
        </p:nvSpPr>
        <p:spPr>
          <a:xfrm>
            <a:off x="4983480" y="28803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i="0" lang="en" sz="145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C. A .text-2xl custom CSS selector</a:t>
            </a:r>
            <a:endParaRPr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3"/>
          <p:cNvSpPr/>
          <p:nvPr/>
        </p:nvSpPr>
        <p:spPr>
          <a:xfrm>
            <a:off x="4983480" y="3337560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A media query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3"/>
          <p:cNvSpPr/>
          <p:nvPr/>
        </p:nvSpPr>
        <p:spPr>
          <a:xfrm>
            <a:off x="457200" y="4617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78" name="Google Shape;47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4"/>
          <p:cNvSpPr/>
          <p:nvPr/>
        </p:nvSpPr>
        <p:spPr>
          <a:xfrm>
            <a:off x="457200" y="21488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Applying utility classes</a:t>
            </a:r>
            <a:endParaRPr b="0" i="0" sz="2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34"/>
          <p:cNvSpPr/>
          <p:nvPr/>
        </p:nvSpPr>
        <p:spPr>
          <a:xfrm>
            <a:off x="457200" y="260604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Text, spacing, backgrounds, and borders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486" name="Google Shape;4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35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Meet the Night Market page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35"/>
          <p:cNvSpPr/>
          <p:nvPr/>
        </p:nvSpPr>
        <p:spPr>
          <a:xfrm>
            <a:off x="594360" y="822960"/>
            <a:ext cx="4755000" cy="3474600"/>
          </a:xfrm>
          <a:prstGeom prst="roundRect">
            <a:avLst>
              <a:gd fmla="val 210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35"/>
          <p:cNvSpPr/>
          <p:nvPr/>
        </p:nvSpPr>
        <p:spPr>
          <a:xfrm>
            <a:off x="594360" y="822960"/>
            <a:ext cx="47550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667512" y="88696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5"/>
          <p:cNvSpPr/>
          <p:nvPr/>
        </p:nvSpPr>
        <p:spPr>
          <a:xfrm>
            <a:off x="795528" y="88696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923544" y="88696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35"/>
          <p:cNvSpPr/>
          <p:nvPr/>
        </p:nvSpPr>
        <p:spPr>
          <a:xfrm>
            <a:off x="758952" y="1207008"/>
            <a:ext cx="4425600" cy="29262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35"/>
          <p:cNvSpPr/>
          <p:nvPr/>
        </p:nvSpPr>
        <p:spPr>
          <a:xfrm>
            <a:off x="914400" y="1353312"/>
            <a:ext cx="4114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914400" y="1517904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35"/>
          <p:cNvSpPr/>
          <p:nvPr/>
        </p:nvSpPr>
        <p:spPr>
          <a:xfrm>
            <a:off x="914400" y="1801368"/>
            <a:ext cx="4114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Street food, crafts, and live music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1005840" y="2148840"/>
            <a:ext cx="39318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5"/>
          <p:cNvSpPr/>
          <p:nvPr/>
        </p:nvSpPr>
        <p:spPr>
          <a:xfrm>
            <a:off x="1124712" y="2258568"/>
            <a:ext cx="3694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Tonight at the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1124712" y="2423160"/>
            <a:ext cx="3694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Local food, handmade goods, and music.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1005840" y="2761488"/>
            <a:ext cx="3931800" cy="411600"/>
          </a:xfrm>
          <a:prstGeom prst="roundRect">
            <a:avLst>
              <a:gd fmla="val 17778" name="adj"/>
            </a:avLst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1124712" y="2852928"/>
            <a:ext cx="3694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1124712" y="3017520"/>
            <a:ext cx="3694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Entry is free. Food sold separately.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5577840" y="8686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Page regions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5577840" y="1188720"/>
            <a:ext cx="2743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header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Date and time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title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Short description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Event information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What visitors can expect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 notice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Entry and payment details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Vendor information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Visit link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5577840" y="342900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state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35"/>
          <p:cNvSpPr/>
          <p:nvPr/>
        </p:nvSpPr>
        <p:spPr>
          <a:xfrm>
            <a:off x="5669280" y="3703320"/>
            <a:ext cx="274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is connected.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page has no styling utilities.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content remains in normal document flow.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512" name="Google Shape;5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6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Style the event heading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48640" y="822960"/>
            <a:ext cx="4160400" cy="3108900"/>
          </a:xfrm>
          <a:prstGeom prst="roundRect">
            <a:avLst>
              <a:gd fmla="val 117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603504" y="868680"/>
            <a:ext cx="40509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class="text-sm font-bold text-amber-700"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&lt;h1 class="text-3xl font-semibold"&gt;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Riverside Night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 class="text-lg text-stone-600"&gt;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Street food, local crafts, and live music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5074920" y="914400"/>
            <a:ext cx="347460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5074920" y="914400"/>
            <a:ext cx="34746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5148072" y="9784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5276088" y="9784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5404104" y="9784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5239512" y="1298448"/>
            <a:ext cx="3145500" cy="17373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5394960" y="1444752"/>
            <a:ext cx="28347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5394960" y="1609344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5394960" y="1892808"/>
            <a:ext cx="283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Street food, crafts, and live music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5486400" y="2240280"/>
            <a:ext cx="26517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36"/>
          <p:cNvSpPr/>
          <p:nvPr/>
        </p:nvSpPr>
        <p:spPr>
          <a:xfrm>
            <a:off x="5605272" y="2350008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Tonight at the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36"/>
          <p:cNvSpPr/>
          <p:nvPr/>
        </p:nvSpPr>
        <p:spPr>
          <a:xfrm>
            <a:off x="5605272" y="2514600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Local food, handmade goods, and music.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5486400" y="2852928"/>
            <a:ext cx="2651700" cy="411600"/>
          </a:xfrm>
          <a:prstGeom prst="roundRect">
            <a:avLst>
              <a:gd fmla="val 17778" name="adj"/>
            </a:avLst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5605272" y="2944368"/>
            <a:ext cx="2414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5605272" y="3108960"/>
            <a:ext cx="24141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Entry is free. Food sold separately.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5074920" y="342900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5166360" y="3703320"/>
            <a:ext cx="320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event time appears smaller and bold.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heading becomes larger and heavier.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description uses a softer text color.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538" name="Google Shape;5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7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Map text decisions to utilities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594360" y="914400"/>
            <a:ext cx="1874400" cy="3291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640080" y="94183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CSS decision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37"/>
          <p:cNvSpPr/>
          <p:nvPr/>
        </p:nvSpPr>
        <p:spPr>
          <a:xfrm>
            <a:off x="2468880" y="914400"/>
            <a:ext cx="1874400" cy="3291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2514600" y="941832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594360" y="1243584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5" name="Google Shape;545;p37"/>
          <p:cNvSpPr/>
          <p:nvPr/>
        </p:nvSpPr>
        <p:spPr>
          <a:xfrm>
            <a:off x="640080" y="1271016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Smaller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2468880" y="1243584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37"/>
          <p:cNvSpPr/>
          <p:nvPr/>
        </p:nvSpPr>
        <p:spPr>
          <a:xfrm>
            <a:off x="2514600" y="1271016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text-sm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594360" y="1572768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640080" y="1600200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Larger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2468880" y="1572768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2514600" y="1600200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text-3xl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594360" y="1901952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37"/>
          <p:cNvSpPr/>
          <p:nvPr/>
        </p:nvSpPr>
        <p:spPr>
          <a:xfrm>
            <a:off x="640080" y="192938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Medium-bold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2468880" y="1901952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2514600" y="1929384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font-semibold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594360" y="2231136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37"/>
          <p:cNvSpPr/>
          <p:nvPr/>
        </p:nvSpPr>
        <p:spPr>
          <a:xfrm>
            <a:off x="640080" y="2258568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Bold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37"/>
          <p:cNvSpPr/>
          <p:nvPr/>
        </p:nvSpPr>
        <p:spPr>
          <a:xfrm>
            <a:off x="2468880" y="2231136"/>
            <a:ext cx="1874400" cy="329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2514600" y="2258568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4572000" y="914400"/>
            <a:ext cx="1874400" cy="3315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4617720" y="94183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CSS decision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37"/>
          <p:cNvSpPr/>
          <p:nvPr/>
        </p:nvSpPr>
        <p:spPr>
          <a:xfrm>
            <a:off x="6446520" y="914400"/>
            <a:ext cx="1874400" cy="3315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37"/>
          <p:cNvSpPr/>
          <p:nvPr/>
        </p:nvSpPr>
        <p:spPr>
          <a:xfrm>
            <a:off x="6492240" y="94183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4572000" y="124587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4617720" y="127330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Stone text color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6446520" y="124587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6492240" y="127330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text-stone-600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4572000" y="157734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4617720" y="160477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Amber text color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6446520" y="157734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6492240" y="160477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text-amber-700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4572000" y="190881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4617720" y="193624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Center the 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6446520" y="1908810"/>
            <a:ext cx="1874400" cy="331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6492240" y="1936242"/>
            <a:ext cx="1783200" cy="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text-center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731520" y="2926080"/>
            <a:ext cx="7406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Read the complete utility name. text-* may control size, color, or alignment. The remaining part identifies the specific decision.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914400" y="3657600"/>
            <a:ext cx="20118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8" name="Google Shape;578;p37"/>
          <p:cNvSpPr/>
          <p:nvPr/>
        </p:nvSpPr>
        <p:spPr>
          <a:xfrm>
            <a:off x="914400" y="3657600"/>
            <a:ext cx="20118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9" name="Google Shape;579;p37"/>
          <p:cNvSpPr/>
          <p:nvPr/>
        </p:nvSpPr>
        <p:spPr>
          <a:xfrm>
            <a:off x="987552" y="37216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0" name="Google Shape;580;p37"/>
          <p:cNvSpPr/>
          <p:nvPr/>
        </p:nvSpPr>
        <p:spPr>
          <a:xfrm>
            <a:off x="1115568" y="37216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1" name="Google Shape;581;p37"/>
          <p:cNvSpPr/>
          <p:nvPr/>
        </p:nvSpPr>
        <p:spPr>
          <a:xfrm>
            <a:off x="1243584" y="37216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37"/>
          <p:cNvSpPr/>
          <p:nvPr/>
        </p:nvSpPr>
        <p:spPr>
          <a:xfrm flipH="1" rot="10800000">
            <a:off x="1143000" y="4114920"/>
            <a:ext cx="15546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text-sm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37"/>
          <p:cNvSpPr/>
          <p:nvPr/>
        </p:nvSpPr>
        <p:spPr>
          <a:xfrm>
            <a:off x="3154680" y="3657600"/>
            <a:ext cx="20118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37"/>
          <p:cNvSpPr/>
          <p:nvPr/>
        </p:nvSpPr>
        <p:spPr>
          <a:xfrm>
            <a:off x="3154680" y="3657600"/>
            <a:ext cx="20118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37"/>
          <p:cNvSpPr/>
          <p:nvPr/>
        </p:nvSpPr>
        <p:spPr>
          <a:xfrm>
            <a:off x="3227832" y="37216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37"/>
          <p:cNvSpPr/>
          <p:nvPr/>
        </p:nvSpPr>
        <p:spPr>
          <a:xfrm>
            <a:off x="3355848" y="37216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3483864" y="37216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37"/>
          <p:cNvSpPr/>
          <p:nvPr/>
        </p:nvSpPr>
        <p:spPr>
          <a:xfrm flipH="1" rot="10800000">
            <a:off x="3383280" y="4114920"/>
            <a:ext cx="15546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text-3xl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5394960" y="3657600"/>
            <a:ext cx="20118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5394960" y="3657600"/>
            <a:ext cx="20118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5468112" y="37216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5596128" y="37216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5724144" y="37216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37"/>
          <p:cNvSpPr/>
          <p:nvPr/>
        </p:nvSpPr>
        <p:spPr>
          <a:xfrm flipH="1" rot="10800000">
            <a:off x="5623560" y="4114920"/>
            <a:ext cx="1554600" cy="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600" name="Google Shape;60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8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33"/>
              <a:buFont typeface="Montserrat"/>
              <a:buNone/>
            </a:pPr>
            <a:r>
              <a:rPr b="1" i="0" lang="en" sz="21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Which class controls the color?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594360" y="1097280"/>
            <a:ext cx="3840600" cy="1005900"/>
          </a:xfrm>
          <a:prstGeom prst="roundRect">
            <a:avLst>
              <a:gd fmla="val 363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649224" y="1143000"/>
            <a:ext cx="373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&lt;h2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class="text-2xl font-semibold text-indigo-800"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Weekend reading list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&lt;/h2&gt;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p38"/>
          <p:cNvSpPr/>
          <p:nvPr/>
        </p:nvSpPr>
        <p:spPr>
          <a:xfrm>
            <a:off x="594360" y="2423160"/>
            <a:ext cx="3840600" cy="8229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594360" y="2423160"/>
            <a:ext cx="38406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6" name="Google Shape;606;p38"/>
          <p:cNvSpPr/>
          <p:nvPr/>
        </p:nvSpPr>
        <p:spPr>
          <a:xfrm>
            <a:off x="667512" y="248716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795528" y="248716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38"/>
          <p:cNvSpPr/>
          <p:nvPr/>
        </p:nvSpPr>
        <p:spPr>
          <a:xfrm>
            <a:off x="923544" y="248716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822960" y="2926080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Weekend reading list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4754880" y="105156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class changes the heading's text color?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38"/>
          <p:cNvSpPr/>
          <p:nvPr/>
        </p:nvSpPr>
        <p:spPr>
          <a:xfrm>
            <a:off x="4754880" y="1627632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A. text-2xl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4754880" y="2103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B. font-semibold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4754880" y="257860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C. text-indigo-800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4754880" y="305409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D. class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457200" y="4617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C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621" name="Google Shape;62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9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5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Practice: Change the event heading</a:t>
            </a:r>
            <a:endParaRPr b="0" i="0" sz="23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3" name="Google Shape;623;p39"/>
          <p:cNvSpPr/>
          <p:nvPr/>
        </p:nvSpPr>
        <p:spPr>
          <a:xfrm>
            <a:off x="548640" y="841248"/>
            <a:ext cx="4114800" cy="3017400"/>
          </a:xfrm>
          <a:prstGeom prst="roundRect">
            <a:avLst>
              <a:gd fmla="val 1212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4" name="Google Shape;624;p39"/>
          <p:cNvSpPr/>
          <p:nvPr/>
        </p:nvSpPr>
        <p:spPr>
          <a:xfrm>
            <a:off x="603504" y="886968"/>
            <a:ext cx="40050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class="text-sm font-bold text-amber-700"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&lt;h1 class="text-3xl font-semibold"&gt;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Riverside Night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 class="text-lg text-stone-600"&gt;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Street food, local crafts, and live music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5" name="Google Shape;625;p39"/>
          <p:cNvSpPr/>
          <p:nvPr/>
        </p:nvSpPr>
        <p:spPr>
          <a:xfrm>
            <a:off x="4983480" y="868680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Your task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4983480" y="1234440"/>
            <a:ext cx="356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1. Center the text inside the header.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2. Change the heading size to text-4xl.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3. Change the heading weight to font-bold.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4983480" y="224028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changes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5074920" y="2523744"/>
            <a:ext cx="3383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Add one utility to &lt;header&gt;.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Replace two utilities on &lt;h1&gt;.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4983480" y="324612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Time: 3 minutes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635" name="Google Shape;63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0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5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Space inside and around an element</a:t>
            </a:r>
            <a:endParaRPr b="0" i="0" sz="23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731520" y="1097280"/>
            <a:ext cx="3474600" cy="2286000"/>
          </a:xfrm>
          <a:prstGeom prst="rect">
            <a:avLst/>
          </a:prstGeom>
          <a:solidFill>
            <a:srgbClr val="FDF2F8"/>
          </a:solidFill>
          <a:ln cap="flat" cmpd="sng" w="13525">
            <a:solidFill>
              <a:srgbClr val="BE18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960120" y="1325880"/>
            <a:ext cx="3017400" cy="1828800"/>
          </a:xfrm>
          <a:prstGeom prst="rect">
            <a:avLst/>
          </a:prstGeom>
          <a:solidFill>
            <a:srgbClr val="FEF3C7"/>
          </a:solidFill>
          <a:ln cap="flat" cmpd="sng" w="135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1234440" y="1600200"/>
            <a:ext cx="2469000" cy="1280100"/>
          </a:xfrm>
          <a:prstGeom prst="rect">
            <a:avLst/>
          </a:prstGeom>
          <a:solidFill>
            <a:srgbClr val="DBEAFE"/>
          </a:solidFill>
          <a:ln cap="flat" cmpd="sng" w="13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0" name="Google Shape;640;p40"/>
          <p:cNvSpPr/>
          <p:nvPr/>
        </p:nvSpPr>
        <p:spPr>
          <a:xfrm>
            <a:off x="1554480" y="1920240"/>
            <a:ext cx="1828800" cy="640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1" name="Google Shape;641;p40"/>
          <p:cNvSpPr/>
          <p:nvPr/>
        </p:nvSpPr>
        <p:spPr>
          <a:xfrm>
            <a:off x="804672" y="1152144"/>
            <a:ext cx="332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174D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9D174D"/>
                </a:solidFill>
                <a:latin typeface="Montserrat"/>
                <a:ea typeface="Montserrat"/>
                <a:cs typeface="Montserrat"/>
                <a:sym typeface="Montserrat"/>
              </a:rPr>
              <a:t>Margin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2" name="Google Shape;642;p40"/>
          <p:cNvSpPr/>
          <p:nvPr/>
        </p:nvSpPr>
        <p:spPr>
          <a:xfrm>
            <a:off x="1024128" y="1389888"/>
            <a:ext cx="288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92400E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3" name="Google Shape;643;p40"/>
          <p:cNvSpPr/>
          <p:nvPr/>
        </p:nvSpPr>
        <p:spPr>
          <a:xfrm>
            <a:off x="1298448" y="1664208"/>
            <a:ext cx="2340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D4ED8"/>
                </a:solidFill>
                <a:latin typeface="Montserrat"/>
                <a:ea typeface="Montserrat"/>
                <a:cs typeface="Montserrat"/>
                <a:sym typeface="Montserrat"/>
              </a:rPr>
              <a:t>Padding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40"/>
          <p:cNvSpPr/>
          <p:nvPr/>
        </p:nvSpPr>
        <p:spPr>
          <a:xfrm>
            <a:off x="1572768" y="2103120"/>
            <a:ext cx="179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Content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5" name="Google Shape;645;p40"/>
          <p:cNvSpPr/>
          <p:nvPr/>
        </p:nvSpPr>
        <p:spPr>
          <a:xfrm>
            <a:off x="4709160" y="100584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Padding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40"/>
          <p:cNvSpPr/>
          <p:nvPr/>
        </p:nvSpPr>
        <p:spPr>
          <a:xfrm>
            <a:off x="4800600" y="1325880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Adds space inside the element's border.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Tailwind family: p-*</a:t>
            </a:r>
            <a:endParaRPr b="0" i="0" sz="800" u="none" cap="none" strike="noStrike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lang="en" sz="8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Specific sides: pt, pb, pr, pl</a:t>
            </a:r>
            <a:endParaRPr sz="8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7" name="Google Shape;647;p40"/>
          <p:cNvSpPr/>
          <p:nvPr/>
        </p:nvSpPr>
        <p:spPr>
          <a:xfrm>
            <a:off x="4709160" y="205740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Margin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8" name="Google Shape;648;p40"/>
          <p:cNvSpPr/>
          <p:nvPr/>
        </p:nvSpPr>
        <p:spPr>
          <a:xfrm>
            <a:off x="4800600" y="2377440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Adds space outside the element's border.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Tailwind family: m-*</a:t>
            </a:r>
            <a:endParaRPr b="0" i="0" sz="800" u="none" cap="none" strike="noStrike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lang="en" sz="800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margin: 8px 16px;</a:t>
            </a:r>
            <a:endParaRPr sz="800">
              <a:solidFill>
                <a:srgbClr val="22222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49" name="Google Shape;649;p40"/>
          <p:cNvSpPr/>
          <p:nvPr/>
        </p:nvSpPr>
        <p:spPr>
          <a:xfrm>
            <a:off x="4709160" y="3337560"/>
            <a:ext cx="1737300" cy="2400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0" name="Google Shape;650;p40"/>
          <p:cNvSpPr/>
          <p:nvPr/>
        </p:nvSpPr>
        <p:spPr>
          <a:xfrm>
            <a:off x="4754880" y="336499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Requirement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6446520" y="3337560"/>
            <a:ext cx="1737300" cy="2400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6492240" y="336499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4709160" y="357759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4754880" y="360502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Padding on every side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5" name="Google Shape;655;p40"/>
          <p:cNvSpPr/>
          <p:nvPr/>
        </p:nvSpPr>
        <p:spPr>
          <a:xfrm>
            <a:off x="6446520" y="357759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6" name="Google Shape;656;p40"/>
          <p:cNvSpPr/>
          <p:nvPr/>
        </p:nvSpPr>
        <p:spPr>
          <a:xfrm>
            <a:off x="6492240" y="360502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7" name="Google Shape;657;p40"/>
          <p:cNvSpPr/>
          <p:nvPr/>
        </p:nvSpPr>
        <p:spPr>
          <a:xfrm>
            <a:off x="4709160" y="381762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40"/>
          <p:cNvSpPr/>
          <p:nvPr/>
        </p:nvSpPr>
        <p:spPr>
          <a:xfrm>
            <a:off x="4754880" y="384505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Margin below an element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40"/>
          <p:cNvSpPr/>
          <p:nvPr/>
        </p:nvSpPr>
        <p:spPr>
          <a:xfrm>
            <a:off x="6446520" y="381762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6492240" y="384505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mb-6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4709160" y="405765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2" name="Google Shape;662;p40"/>
          <p:cNvSpPr/>
          <p:nvPr/>
        </p:nvSpPr>
        <p:spPr>
          <a:xfrm>
            <a:off x="4754880" y="408508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Margin above an element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3" name="Google Shape;663;p40"/>
          <p:cNvSpPr/>
          <p:nvPr/>
        </p:nvSpPr>
        <p:spPr>
          <a:xfrm>
            <a:off x="6446520" y="4057650"/>
            <a:ext cx="1737300" cy="2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6492240" y="4085082"/>
            <a:ext cx="16458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mt-3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670" name="Google Shape;67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41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Read padding utilities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p41"/>
          <p:cNvSpPr/>
          <p:nvPr/>
        </p:nvSpPr>
        <p:spPr>
          <a:xfrm>
            <a:off x="548640" y="868680"/>
            <a:ext cx="256020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3" name="Google Shape;673;p41"/>
          <p:cNvSpPr/>
          <p:nvPr/>
        </p:nvSpPr>
        <p:spPr>
          <a:xfrm>
            <a:off x="731520" y="98755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All sides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4" name="Google Shape;674;p41"/>
          <p:cNvSpPr/>
          <p:nvPr/>
        </p:nvSpPr>
        <p:spPr>
          <a:xfrm>
            <a:off x="749808" y="1280160"/>
            <a:ext cx="2103000" cy="347400"/>
          </a:xfrm>
          <a:prstGeom prst="roundRect">
            <a:avLst>
              <a:gd fmla="val 1052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5" name="Google Shape;675;p41"/>
          <p:cNvSpPr/>
          <p:nvPr/>
        </p:nvSpPr>
        <p:spPr>
          <a:xfrm>
            <a:off x="804672" y="1325880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class="p-6"&gt;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6" name="Google Shape;676;p41"/>
          <p:cNvSpPr/>
          <p:nvPr/>
        </p:nvSpPr>
        <p:spPr>
          <a:xfrm>
            <a:off x="868680" y="1755648"/>
            <a:ext cx="1737300" cy="5670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41"/>
          <p:cNvSpPr/>
          <p:nvPr/>
        </p:nvSpPr>
        <p:spPr>
          <a:xfrm>
            <a:off x="1188720" y="2011680"/>
            <a:ext cx="1097400" cy="54900"/>
          </a:xfrm>
          <a:prstGeom prst="roundRect">
            <a:avLst>
              <a:gd fmla="val 133333" name="adj"/>
            </a:avLst>
          </a:prstGeom>
          <a:solidFill>
            <a:srgbClr val="DBEAFE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1371600" y="2258568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9" name="Google Shape;679;p41"/>
          <p:cNvSpPr/>
          <p:nvPr/>
        </p:nvSpPr>
        <p:spPr>
          <a:xfrm>
            <a:off x="3337560" y="868680"/>
            <a:ext cx="256020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0" name="Google Shape;680;p41"/>
          <p:cNvSpPr/>
          <p:nvPr/>
        </p:nvSpPr>
        <p:spPr>
          <a:xfrm>
            <a:off x="3520440" y="98755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Horizontal and vertical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3493008" y="1280160"/>
            <a:ext cx="2103000" cy="347400"/>
          </a:xfrm>
          <a:prstGeom prst="roundRect">
            <a:avLst>
              <a:gd fmla="val 1052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2" name="Google Shape;682;p41"/>
          <p:cNvSpPr/>
          <p:nvPr/>
        </p:nvSpPr>
        <p:spPr>
          <a:xfrm>
            <a:off x="3547872" y="1325880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class="px-6 py-4"&gt;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41"/>
          <p:cNvSpPr/>
          <p:nvPr/>
        </p:nvSpPr>
        <p:spPr>
          <a:xfrm>
            <a:off x="3611880" y="1755648"/>
            <a:ext cx="1737300" cy="5670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41"/>
          <p:cNvSpPr/>
          <p:nvPr/>
        </p:nvSpPr>
        <p:spPr>
          <a:xfrm>
            <a:off x="3931920" y="2011680"/>
            <a:ext cx="1097400" cy="54900"/>
          </a:xfrm>
          <a:prstGeom prst="roundRect">
            <a:avLst>
              <a:gd fmla="val 133333" name="adj"/>
            </a:avLst>
          </a:prstGeom>
          <a:solidFill>
            <a:srgbClr val="DBEAFE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41"/>
          <p:cNvSpPr/>
          <p:nvPr/>
        </p:nvSpPr>
        <p:spPr>
          <a:xfrm>
            <a:off x="4114800" y="2258568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6" name="Google Shape;686;p41"/>
          <p:cNvSpPr/>
          <p:nvPr/>
        </p:nvSpPr>
        <p:spPr>
          <a:xfrm>
            <a:off x="6126480" y="868680"/>
            <a:ext cx="2560200" cy="18288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7" name="Google Shape;687;p41"/>
          <p:cNvSpPr/>
          <p:nvPr/>
        </p:nvSpPr>
        <p:spPr>
          <a:xfrm>
            <a:off x="6309360" y="987552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One side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8" name="Google Shape;688;p41"/>
          <p:cNvSpPr/>
          <p:nvPr/>
        </p:nvSpPr>
        <p:spPr>
          <a:xfrm>
            <a:off x="6327648" y="1280160"/>
            <a:ext cx="2103000" cy="347400"/>
          </a:xfrm>
          <a:prstGeom prst="roundRect">
            <a:avLst>
              <a:gd fmla="val 1052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9" name="Google Shape;689;p41"/>
          <p:cNvSpPr/>
          <p:nvPr/>
        </p:nvSpPr>
        <p:spPr>
          <a:xfrm>
            <a:off x="6382512" y="1325880"/>
            <a:ext cx="1993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class="pt-4"&gt;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0" name="Google Shape;690;p41"/>
          <p:cNvSpPr/>
          <p:nvPr/>
        </p:nvSpPr>
        <p:spPr>
          <a:xfrm>
            <a:off x="6446520" y="1755648"/>
            <a:ext cx="1737300" cy="5670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1" name="Google Shape;691;p41"/>
          <p:cNvSpPr/>
          <p:nvPr/>
        </p:nvSpPr>
        <p:spPr>
          <a:xfrm>
            <a:off x="6766560" y="2011680"/>
            <a:ext cx="1097400" cy="54900"/>
          </a:xfrm>
          <a:prstGeom prst="roundRect">
            <a:avLst>
              <a:gd fmla="val 133333" name="adj"/>
            </a:avLst>
          </a:prstGeom>
          <a:solidFill>
            <a:srgbClr val="DBEAFE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2" name="Google Shape;692;p41"/>
          <p:cNvSpPr/>
          <p:nvPr/>
        </p:nvSpPr>
        <p:spPr>
          <a:xfrm>
            <a:off x="6949440" y="2258568"/>
            <a:ext cx="73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3" name="Google Shape;693;p41"/>
          <p:cNvSpPr/>
          <p:nvPr/>
        </p:nvSpPr>
        <p:spPr>
          <a:xfrm>
            <a:off x="2377440" y="3063240"/>
            <a:ext cx="2194500" cy="1893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41"/>
          <p:cNvSpPr/>
          <p:nvPr/>
        </p:nvSpPr>
        <p:spPr>
          <a:xfrm>
            <a:off x="2423160" y="3090672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Letter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5" name="Google Shape;695;p41"/>
          <p:cNvSpPr/>
          <p:nvPr/>
        </p:nvSpPr>
        <p:spPr>
          <a:xfrm>
            <a:off x="4572000" y="3063240"/>
            <a:ext cx="2194500" cy="1893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4617720" y="3090672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Side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7" name="Google Shape;697;p41"/>
          <p:cNvSpPr/>
          <p:nvPr/>
        </p:nvSpPr>
        <p:spPr>
          <a:xfrm>
            <a:off x="2377440" y="3252651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8" name="Google Shape;698;p41"/>
          <p:cNvSpPr/>
          <p:nvPr/>
        </p:nvSpPr>
        <p:spPr>
          <a:xfrm>
            <a:off x="2423160" y="3280083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9" name="Google Shape;699;p41"/>
          <p:cNvSpPr/>
          <p:nvPr/>
        </p:nvSpPr>
        <p:spPr>
          <a:xfrm>
            <a:off x="4572000" y="3252651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4617720" y="3280083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Top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1" name="Google Shape;701;p41"/>
          <p:cNvSpPr/>
          <p:nvPr/>
        </p:nvSpPr>
        <p:spPr>
          <a:xfrm>
            <a:off x="2377440" y="3442063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41"/>
          <p:cNvSpPr/>
          <p:nvPr/>
        </p:nvSpPr>
        <p:spPr>
          <a:xfrm>
            <a:off x="2423160" y="3469495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3" name="Google Shape;703;p41"/>
          <p:cNvSpPr/>
          <p:nvPr/>
        </p:nvSpPr>
        <p:spPr>
          <a:xfrm>
            <a:off x="4572000" y="3442063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4" name="Google Shape;704;p41"/>
          <p:cNvSpPr/>
          <p:nvPr/>
        </p:nvSpPr>
        <p:spPr>
          <a:xfrm>
            <a:off x="4617720" y="3469495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Right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p41"/>
          <p:cNvSpPr/>
          <p:nvPr/>
        </p:nvSpPr>
        <p:spPr>
          <a:xfrm>
            <a:off x="2377440" y="3631474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6" name="Google Shape;706;p41"/>
          <p:cNvSpPr/>
          <p:nvPr/>
        </p:nvSpPr>
        <p:spPr>
          <a:xfrm>
            <a:off x="2423160" y="3658906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4572000" y="3631474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41"/>
          <p:cNvSpPr/>
          <p:nvPr/>
        </p:nvSpPr>
        <p:spPr>
          <a:xfrm>
            <a:off x="4617720" y="3658906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Bottom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9" name="Google Shape;709;p41"/>
          <p:cNvSpPr/>
          <p:nvPr/>
        </p:nvSpPr>
        <p:spPr>
          <a:xfrm>
            <a:off x="2377440" y="3820886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41"/>
          <p:cNvSpPr/>
          <p:nvPr/>
        </p:nvSpPr>
        <p:spPr>
          <a:xfrm>
            <a:off x="2423160" y="3848318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1" name="Google Shape;711;p41"/>
          <p:cNvSpPr/>
          <p:nvPr/>
        </p:nvSpPr>
        <p:spPr>
          <a:xfrm>
            <a:off x="4572000" y="3820886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2" name="Google Shape;712;p41"/>
          <p:cNvSpPr/>
          <p:nvPr/>
        </p:nvSpPr>
        <p:spPr>
          <a:xfrm>
            <a:off x="4617720" y="3848318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Left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3" name="Google Shape;713;p41"/>
          <p:cNvSpPr/>
          <p:nvPr/>
        </p:nvSpPr>
        <p:spPr>
          <a:xfrm>
            <a:off x="2377440" y="4010297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4" name="Google Shape;714;p41"/>
          <p:cNvSpPr/>
          <p:nvPr/>
        </p:nvSpPr>
        <p:spPr>
          <a:xfrm>
            <a:off x="2423160" y="4037729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x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4572000" y="4010297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6" name="Google Shape;716;p41"/>
          <p:cNvSpPr/>
          <p:nvPr/>
        </p:nvSpPr>
        <p:spPr>
          <a:xfrm>
            <a:off x="4617720" y="4037729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Horizontal sides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7" name="Google Shape;717;p41"/>
          <p:cNvSpPr/>
          <p:nvPr/>
        </p:nvSpPr>
        <p:spPr>
          <a:xfrm>
            <a:off x="2377440" y="4199709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41"/>
          <p:cNvSpPr/>
          <p:nvPr/>
        </p:nvSpPr>
        <p:spPr>
          <a:xfrm>
            <a:off x="2423160" y="4227141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9" name="Google Shape;719;p41"/>
          <p:cNvSpPr/>
          <p:nvPr/>
        </p:nvSpPr>
        <p:spPr>
          <a:xfrm>
            <a:off x="4572000" y="4199709"/>
            <a:ext cx="2194500" cy="189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1"/>
          <p:cNvSpPr/>
          <p:nvPr/>
        </p:nvSpPr>
        <p:spPr>
          <a:xfrm>
            <a:off x="4617720" y="4227141"/>
            <a:ext cx="2103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Vertical sides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726" name="Google Shape;72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42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Read margin utilities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8" name="Google Shape;728;p42"/>
          <p:cNvSpPr/>
          <p:nvPr/>
        </p:nvSpPr>
        <p:spPr>
          <a:xfrm>
            <a:off x="3200400" y="960120"/>
            <a:ext cx="274320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9" name="Google Shape;729;p42"/>
          <p:cNvSpPr/>
          <p:nvPr/>
        </p:nvSpPr>
        <p:spPr>
          <a:xfrm>
            <a:off x="3657600" y="1481328"/>
            <a:ext cx="1828800" cy="8229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42"/>
          <p:cNvSpPr/>
          <p:nvPr/>
        </p:nvSpPr>
        <p:spPr>
          <a:xfrm>
            <a:off x="4251960" y="1847088"/>
            <a:ext cx="640200" cy="91500"/>
          </a:xfrm>
          <a:prstGeom prst="roundRect">
            <a:avLst>
              <a:gd fmla="val 80000" name="adj"/>
            </a:avLst>
          </a:prstGeom>
          <a:solidFill>
            <a:srgbClr val="DBEAFE"/>
          </a:solidFill>
          <a:ln cap="flat" cmpd="sng" w="1270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1" name="Google Shape;731;p42"/>
          <p:cNvSpPr/>
          <p:nvPr/>
        </p:nvSpPr>
        <p:spPr>
          <a:xfrm>
            <a:off x="4163373" y="2048325"/>
            <a:ext cx="8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Element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2" name="Google Shape;732;p42"/>
          <p:cNvSpPr/>
          <p:nvPr/>
        </p:nvSpPr>
        <p:spPr>
          <a:xfrm>
            <a:off x="3474720" y="1078992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Margin examples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3" name="Google Shape;733;p42"/>
          <p:cNvSpPr/>
          <p:nvPr/>
        </p:nvSpPr>
        <p:spPr>
          <a:xfrm>
            <a:off x="594360" y="91440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Every side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4" name="Google Shape;734;p42"/>
          <p:cNvSpPr/>
          <p:nvPr/>
        </p:nvSpPr>
        <p:spPr>
          <a:xfrm>
            <a:off x="594360" y="1143000"/>
            <a:ext cx="2377500" cy="292500"/>
          </a:xfrm>
          <a:prstGeom prst="roundRect">
            <a:avLst>
              <a:gd fmla="val 125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5" name="Google Shape;735;p42"/>
          <p:cNvSpPr/>
          <p:nvPr/>
        </p:nvSpPr>
        <p:spPr>
          <a:xfrm>
            <a:off x="649224" y="1188720"/>
            <a:ext cx="226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6" name="Google Shape;736;p42"/>
          <p:cNvSpPr/>
          <p:nvPr/>
        </p:nvSpPr>
        <p:spPr>
          <a:xfrm>
            <a:off x="594360" y="164592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Top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7" name="Google Shape;737;p42"/>
          <p:cNvSpPr/>
          <p:nvPr/>
        </p:nvSpPr>
        <p:spPr>
          <a:xfrm>
            <a:off x="594360" y="1874520"/>
            <a:ext cx="2377500" cy="292500"/>
          </a:xfrm>
          <a:prstGeom prst="roundRect">
            <a:avLst>
              <a:gd fmla="val 125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42"/>
          <p:cNvSpPr/>
          <p:nvPr/>
        </p:nvSpPr>
        <p:spPr>
          <a:xfrm>
            <a:off x="649224" y="1920240"/>
            <a:ext cx="226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class="mt-4"&gt;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42"/>
          <p:cNvSpPr/>
          <p:nvPr/>
        </p:nvSpPr>
        <p:spPr>
          <a:xfrm>
            <a:off x="594360" y="237744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Bottom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2"/>
          <p:cNvSpPr/>
          <p:nvPr/>
        </p:nvSpPr>
        <p:spPr>
          <a:xfrm>
            <a:off x="594360" y="2606040"/>
            <a:ext cx="2377500" cy="292500"/>
          </a:xfrm>
          <a:prstGeom prst="roundRect">
            <a:avLst>
              <a:gd fmla="val 125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1" name="Google Shape;741;p42"/>
          <p:cNvSpPr/>
          <p:nvPr/>
        </p:nvSpPr>
        <p:spPr>
          <a:xfrm>
            <a:off x="649224" y="2651760"/>
            <a:ext cx="226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class="mb-6"&gt;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2" name="Google Shape;742;p42"/>
          <p:cNvSpPr/>
          <p:nvPr/>
        </p:nvSpPr>
        <p:spPr>
          <a:xfrm>
            <a:off x="6309360" y="91440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Horizontal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3" name="Google Shape;743;p42"/>
          <p:cNvSpPr/>
          <p:nvPr/>
        </p:nvSpPr>
        <p:spPr>
          <a:xfrm>
            <a:off x="6309360" y="1143000"/>
            <a:ext cx="2377500" cy="292500"/>
          </a:xfrm>
          <a:prstGeom prst="roundRect">
            <a:avLst>
              <a:gd fmla="val 125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4" name="Google Shape;744;p42"/>
          <p:cNvSpPr/>
          <p:nvPr/>
        </p:nvSpPr>
        <p:spPr>
          <a:xfrm>
            <a:off x="6364224" y="1188720"/>
            <a:ext cx="226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class="mx-4"&gt;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5" name="Google Shape;745;p42"/>
          <p:cNvSpPr/>
          <p:nvPr/>
        </p:nvSpPr>
        <p:spPr>
          <a:xfrm>
            <a:off x="6309360" y="164592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Vertical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42"/>
          <p:cNvSpPr/>
          <p:nvPr/>
        </p:nvSpPr>
        <p:spPr>
          <a:xfrm>
            <a:off x="6309360" y="1874520"/>
            <a:ext cx="2377500" cy="292500"/>
          </a:xfrm>
          <a:prstGeom prst="roundRect">
            <a:avLst>
              <a:gd fmla="val 125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7" name="Google Shape;747;p42"/>
          <p:cNvSpPr/>
          <p:nvPr/>
        </p:nvSpPr>
        <p:spPr>
          <a:xfrm>
            <a:off x="6364224" y="1920240"/>
            <a:ext cx="2267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class="my-4"&gt;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8" name="Google Shape;748;p42"/>
          <p:cNvSpPr/>
          <p:nvPr/>
        </p:nvSpPr>
        <p:spPr>
          <a:xfrm>
            <a:off x="731520" y="3977640"/>
            <a:ext cx="768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 identifies margin.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Side letters identify where the margin is added.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number comes from Tailwind spacing scale.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754" name="Google Shape;7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43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Add spacing to the event page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6" name="Google Shape;756;p43"/>
          <p:cNvSpPr/>
          <p:nvPr/>
        </p:nvSpPr>
        <p:spPr>
          <a:xfrm>
            <a:off x="594360" y="822960"/>
            <a:ext cx="3383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Changed opening tags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7" name="Google Shape;757;p43"/>
          <p:cNvSpPr/>
          <p:nvPr/>
        </p:nvSpPr>
        <p:spPr>
          <a:xfrm>
            <a:off x="594360" y="1097280"/>
            <a:ext cx="3931800" cy="2331600"/>
          </a:xfrm>
          <a:prstGeom prst="roundRect">
            <a:avLst>
              <a:gd fmla="val 1569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8" name="Google Shape;758;p43"/>
          <p:cNvSpPr/>
          <p:nvPr/>
        </p:nvSpPr>
        <p:spPr>
          <a:xfrm>
            <a:off x="649224" y="1143000"/>
            <a:ext cx="3822300" cy="22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 class="p-6"&gt;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 class="mb-8 text-center"&gt;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class="mb-6"&gt;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 class="mb-6"&gt;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class="mt-3 text-lg text-stone-600"&gt;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9" name="Google Shape;759;p43"/>
          <p:cNvSpPr/>
          <p:nvPr/>
        </p:nvSpPr>
        <p:spPr>
          <a:xfrm>
            <a:off x="4937760" y="914400"/>
            <a:ext cx="3566100" cy="265170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0" name="Google Shape;760;p43"/>
          <p:cNvSpPr/>
          <p:nvPr/>
        </p:nvSpPr>
        <p:spPr>
          <a:xfrm>
            <a:off x="4937760" y="914400"/>
            <a:ext cx="35661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1" name="Google Shape;761;p43"/>
          <p:cNvSpPr/>
          <p:nvPr/>
        </p:nvSpPr>
        <p:spPr>
          <a:xfrm>
            <a:off x="5010912" y="9784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3"/>
          <p:cNvSpPr/>
          <p:nvPr/>
        </p:nvSpPr>
        <p:spPr>
          <a:xfrm>
            <a:off x="5138928" y="9784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3" name="Google Shape;763;p43"/>
          <p:cNvSpPr/>
          <p:nvPr/>
        </p:nvSpPr>
        <p:spPr>
          <a:xfrm>
            <a:off x="5266944" y="9784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4" name="Google Shape;764;p43"/>
          <p:cNvSpPr/>
          <p:nvPr/>
        </p:nvSpPr>
        <p:spPr>
          <a:xfrm>
            <a:off x="5102352" y="1298448"/>
            <a:ext cx="3237000" cy="21030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5" name="Google Shape;765;p43"/>
          <p:cNvSpPr/>
          <p:nvPr/>
        </p:nvSpPr>
        <p:spPr>
          <a:xfrm>
            <a:off x="5257800" y="1444752"/>
            <a:ext cx="29262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6" name="Google Shape;766;p43"/>
          <p:cNvSpPr/>
          <p:nvPr/>
        </p:nvSpPr>
        <p:spPr>
          <a:xfrm>
            <a:off x="5257800" y="1609344"/>
            <a:ext cx="2926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7" name="Google Shape;767;p43"/>
          <p:cNvSpPr/>
          <p:nvPr/>
        </p:nvSpPr>
        <p:spPr>
          <a:xfrm>
            <a:off x="5257800" y="1892808"/>
            <a:ext cx="2926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Street food, crafts, and live music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8" name="Google Shape;768;p43"/>
          <p:cNvSpPr/>
          <p:nvPr/>
        </p:nvSpPr>
        <p:spPr>
          <a:xfrm>
            <a:off x="5349240" y="2240280"/>
            <a:ext cx="27432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9" name="Google Shape;769;p43"/>
          <p:cNvSpPr/>
          <p:nvPr/>
        </p:nvSpPr>
        <p:spPr>
          <a:xfrm>
            <a:off x="5468112" y="2350008"/>
            <a:ext cx="2505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Tonight at the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43"/>
          <p:cNvSpPr/>
          <p:nvPr/>
        </p:nvSpPr>
        <p:spPr>
          <a:xfrm>
            <a:off x="5468112" y="2514600"/>
            <a:ext cx="2505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Local food, handmade goods, and music.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1" name="Google Shape;771;p43"/>
          <p:cNvSpPr/>
          <p:nvPr/>
        </p:nvSpPr>
        <p:spPr>
          <a:xfrm>
            <a:off x="5349240" y="2852928"/>
            <a:ext cx="2743200" cy="411600"/>
          </a:xfrm>
          <a:prstGeom prst="roundRect">
            <a:avLst>
              <a:gd fmla="val 17778" name="adj"/>
            </a:avLst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2" name="Google Shape;772;p43"/>
          <p:cNvSpPr/>
          <p:nvPr/>
        </p:nvSpPr>
        <p:spPr>
          <a:xfrm>
            <a:off x="5468112" y="2944368"/>
            <a:ext cx="25056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3" name="Google Shape;773;p43"/>
          <p:cNvSpPr/>
          <p:nvPr/>
        </p:nvSpPr>
        <p:spPr>
          <a:xfrm>
            <a:off x="5468112" y="3108960"/>
            <a:ext cx="25056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Entry is free. Food sold separately.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4" name="Google Shape;774;p43"/>
          <p:cNvSpPr/>
          <p:nvPr/>
        </p:nvSpPr>
        <p:spPr>
          <a:xfrm>
            <a:off x="4937760" y="374904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Expected result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5" name="Google Shape;775;p43"/>
          <p:cNvSpPr/>
          <p:nvPr/>
        </p:nvSpPr>
        <p:spPr>
          <a:xfrm>
            <a:off x="5029200" y="4005072"/>
            <a:ext cx="3291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Page content moves away from the viewport edges.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header has clear space beneath it.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Sections no longer touch.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description separates from the title.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4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33"/>
              <a:buFont typeface="Montserrat"/>
              <a:buNone/>
            </a:pPr>
            <a:r>
              <a:rPr b="1" i="0" lang="en" sz="25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Padding or margin?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2" name="Google Shape;782;p44"/>
          <p:cNvSpPr/>
          <p:nvPr/>
        </p:nvSpPr>
        <p:spPr>
          <a:xfrm>
            <a:off x="777240" y="1234440"/>
            <a:ext cx="32004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203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3" name="Google Shape;783;p44"/>
          <p:cNvSpPr/>
          <p:nvPr/>
        </p:nvSpPr>
        <p:spPr>
          <a:xfrm>
            <a:off x="896112" y="1783080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Library closes early today.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4" name="Google Shape;784;p44"/>
          <p:cNvSpPr/>
          <p:nvPr/>
        </p:nvSpPr>
        <p:spPr>
          <a:xfrm>
            <a:off x="4572000" y="1097280"/>
            <a:ext cx="3840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library notice already has a border. The text needs more space inside the border.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67"/>
              <a:buFont typeface="Montserrat"/>
              <a:buNone/>
            </a:pPr>
            <a:r>
              <a:rPr b="0" i="0" lang="en" sz="14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utility should be added?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4"/>
          <p:cNvSpPr/>
          <p:nvPr/>
        </p:nvSpPr>
        <p:spPr>
          <a:xfrm>
            <a:off x="4663440" y="21488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A. m-4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6" name="Google Shape;786;p44"/>
          <p:cNvSpPr/>
          <p:nvPr/>
        </p:nvSpPr>
        <p:spPr>
          <a:xfrm>
            <a:off x="4663440" y="26060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B. p-4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7" name="Google Shape;787;p44"/>
          <p:cNvSpPr/>
          <p:nvPr/>
        </p:nvSpPr>
        <p:spPr>
          <a:xfrm>
            <a:off x="4663440" y="30632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C. mt-4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8" name="Google Shape;788;p44"/>
          <p:cNvSpPr/>
          <p:nvPr/>
        </p:nvSpPr>
        <p:spPr>
          <a:xfrm>
            <a:off x="4663440" y="3520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D. border-4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9" name="Google Shape;789;p44"/>
          <p:cNvSpPr/>
          <p:nvPr/>
        </p:nvSpPr>
        <p:spPr>
          <a:xfrm>
            <a:off x="457200" y="4617720"/>
            <a:ext cx="2194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B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795" name="Google Shape;79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45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Practice: Space the page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7" name="Google Shape;797;p45"/>
          <p:cNvSpPr/>
          <p:nvPr/>
        </p:nvSpPr>
        <p:spPr>
          <a:xfrm>
            <a:off x="594360" y="86868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elements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594360" y="1188720"/>
            <a:ext cx="3749100" cy="1234500"/>
          </a:xfrm>
          <a:prstGeom prst="roundRect">
            <a:avLst>
              <a:gd fmla="val 2963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649224" y="1234440"/>
            <a:ext cx="3639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Montserrat"/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&lt;h2&gt;Tonight at the market&lt;/h2&gt;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4754880" y="86868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Your task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4754880" y="1234440"/>
            <a:ext cx="35661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9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1. Add padding value 6 to &lt;main&gt;.</a:t>
            </a:r>
            <a:endParaRPr b="0" i="0" sz="11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9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2. Add bottom margin value 6 to the first &lt;section&gt;.</a:t>
            </a:r>
            <a:endParaRPr b="0" i="0" sz="11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4754880" y="224028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 the result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4846320" y="2514600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Is there space between page content and the viewport edge?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Is there space after the first section?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4754880" y="32918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Time: 3 minutes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810" name="Google Shape;81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46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Add background color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2" name="Google Shape;812;p46"/>
          <p:cNvSpPr/>
          <p:nvPr/>
        </p:nvSpPr>
        <p:spPr>
          <a:xfrm>
            <a:off x="594360" y="914400"/>
            <a:ext cx="2377500" cy="1280100"/>
          </a:xfrm>
          <a:prstGeom prst="roundRect">
            <a:avLst>
              <a:gd fmla="val 5714" name="adj"/>
            </a:avLst>
          </a:prstGeom>
          <a:solidFill>
            <a:srgbClr val="F5F5F4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3" name="Google Shape;813;p46"/>
          <p:cNvSpPr/>
          <p:nvPr/>
        </p:nvSpPr>
        <p:spPr>
          <a:xfrm>
            <a:off x="667512" y="1060704"/>
            <a:ext cx="223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Page background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4" name="Google Shape;814;p46"/>
          <p:cNvSpPr/>
          <p:nvPr/>
        </p:nvSpPr>
        <p:spPr>
          <a:xfrm>
            <a:off x="731520" y="1600200"/>
            <a:ext cx="2103000" cy="384000"/>
          </a:xfrm>
          <a:prstGeom prst="roundRect">
            <a:avLst>
              <a:gd fmla="val 952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5" name="Google Shape;815;p46"/>
          <p:cNvSpPr/>
          <p:nvPr/>
        </p:nvSpPr>
        <p:spPr>
          <a:xfrm>
            <a:off x="786384" y="1645920"/>
            <a:ext cx="199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&lt;body class="bg-stone-100 text-stone-900"&gt;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6" name="Google Shape;816;p46"/>
          <p:cNvSpPr/>
          <p:nvPr/>
        </p:nvSpPr>
        <p:spPr>
          <a:xfrm>
            <a:off x="3337560" y="914400"/>
            <a:ext cx="2377500" cy="12801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7" name="Google Shape;817;p46"/>
          <p:cNvSpPr/>
          <p:nvPr/>
        </p:nvSpPr>
        <p:spPr>
          <a:xfrm>
            <a:off x="3410712" y="1060704"/>
            <a:ext cx="223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Content section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8" name="Google Shape;818;p46"/>
          <p:cNvSpPr/>
          <p:nvPr/>
        </p:nvSpPr>
        <p:spPr>
          <a:xfrm>
            <a:off x="3474720" y="1600200"/>
            <a:ext cx="2103000" cy="384000"/>
          </a:xfrm>
          <a:prstGeom prst="roundRect">
            <a:avLst>
              <a:gd fmla="val 952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9" name="Google Shape;819;p46"/>
          <p:cNvSpPr/>
          <p:nvPr/>
        </p:nvSpPr>
        <p:spPr>
          <a:xfrm>
            <a:off x="3529584" y="1645920"/>
            <a:ext cx="199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class="bg-white"&gt;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0" name="Google Shape;820;p46"/>
          <p:cNvSpPr/>
          <p:nvPr/>
        </p:nvSpPr>
        <p:spPr>
          <a:xfrm>
            <a:off x="6080760" y="914400"/>
            <a:ext cx="2377500" cy="1280100"/>
          </a:xfrm>
          <a:prstGeom prst="roundRect">
            <a:avLst>
              <a:gd fmla="val 5714" name="adj"/>
            </a:avLst>
          </a:prstGeom>
          <a:solidFill>
            <a:srgbClr val="FEF3C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1" name="Google Shape;821;p46"/>
          <p:cNvSpPr/>
          <p:nvPr/>
        </p:nvSpPr>
        <p:spPr>
          <a:xfrm>
            <a:off x="6153912" y="1060704"/>
            <a:ext cx="2231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 notice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2" name="Google Shape;822;p46"/>
          <p:cNvSpPr/>
          <p:nvPr/>
        </p:nvSpPr>
        <p:spPr>
          <a:xfrm>
            <a:off x="6217920" y="1600200"/>
            <a:ext cx="2103000" cy="384000"/>
          </a:xfrm>
          <a:prstGeom prst="roundRect">
            <a:avLst>
              <a:gd fmla="val 952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3" name="Google Shape;823;p46"/>
          <p:cNvSpPr/>
          <p:nvPr/>
        </p:nvSpPr>
        <p:spPr>
          <a:xfrm>
            <a:off x="6272784" y="1645920"/>
            <a:ext cx="1993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 class="bg-amber-100"&gt;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4" name="Google Shape;824;p46"/>
          <p:cNvSpPr/>
          <p:nvPr/>
        </p:nvSpPr>
        <p:spPr>
          <a:xfrm>
            <a:off x="731520" y="2834640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Naming pattern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5" name="Google Shape;825;p46"/>
          <p:cNvSpPr/>
          <p:nvPr/>
        </p:nvSpPr>
        <p:spPr>
          <a:xfrm>
            <a:off x="731520" y="3127248"/>
            <a:ext cx="237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 + color + shade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6" name="Google Shape;826;p46"/>
          <p:cNvSpPr/>
          <p:nvPr/>
        </p:nvSpPr>
        <p:spPr>
          <a:xfrm>
            <a:off x="822960" y="3520440"/>
            <a:ext cx="2286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bg-white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bg-stone-100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bg-amber-100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7" name="Google Shape;827;p46"/>
          <p:cNvSpPr/>
          <p:nvPr/>
        </p:nvSpPr>
        <p:spPr>
          <a:xfrm>
            <a:off x="3657600" y="3154680"/>
            <a:ext cx="4389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33"/>
              <a:buFont typeface="Consolas"/>
              <a:buChar char="•"/>
            </a:pPr>
            <a:r>
              <a:rPr b="0" i="0" lang="en" sz="9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 background utility changes the element background color.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33"/>
              <a:buFont typeface="Consolas"/>
              <a:buChar char="•"/>
            </a:pPr>
            <a:r>
              <a:rPr b="0" i="0" lang="en" sz="9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 color uses a separate text-* utility.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7"/>
          <p:cNvSpPr/>
          <p:nvPr/>
        </p:nvSpPr>
        <p:spPr>
          <a:xfrm>
            <a:off x="594360" y="868680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Content section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4" name="Google Shape;834;p47"/>
          <p:cNvSpPr/>
          <p:nvPr/>
        </p:nvSpPr>
        <p:spPr>
          <a:xfrm>
            <a:off x="594360" y="1143000"/>
            <a:ext cx="3794700" cy="777300"/>
          </a:xfrm>
          <a:prstGeom prst="roundRect">
            <a:avLst>
              <a:gd fmla="val 470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5" name="Google Shape;835;p47"/>
          <p:cNvSpPr/>
          <p:nvPr/>
        </p:nvSpPr>
        <p:spPr>
          <a:xfrm>
            <a:off x="649224" y="1188720"/>
            <a:ext cx="3684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class="rounded-lg border border-stone-300"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6" name="Google Shape;836;p47"/>
          <p:cNvSpPr/>
          <p:nvPr/>
        </p:nvSpPr>
        <p:spPr>
          <a:xfrm>
            <a:off x="594360" y="2103120"/>
            <a:ext cx="1897500" cy="2742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7" name="Google Shape;837;p47"/>
          <p:cNvSpPr/>
          <p:nvPr/>
        </p:nvSpPr>
        <p:spPr>
          <a:xfrm>
            <a:off x="640080" y="213055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8" name="Google Shape;838;p47"/>
          <p:cNvSpPr/>
          <p:nvPr/>
        </p:nvSpPr>
        <p:spPr>
          <a:xfrm>
            <a:off x="2491740" y="2103120"/>
            <a:ext cx="1897500" cy="2742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9" name="Google Shape;839;p47"/>
          <p:cNvSpPr/>
          <p:nvPr/>
        </p:nvSpPr>
        <p:spPr>
          <a:xfrm>
            <a:off x="2537460" y="213055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Applies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0" name="Google Shape;840;p47"/>
          <p:cNvSpPr/>
          <p:nvPr/>
        </p:nvSpPr>
        <p:spPr>
          <a:xfrm>
            <a:off x="594360" y="237744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1" name="Google Shape;841;p47"/>
          <p:cNvSpPr/>
          <p:nvPr/>
        </p:nvSpPr>
        <p:spPr>
          <a:xfrm>
            <a:off x="640080" y="240487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2" name="Google Shape;842;p47"/>
          <p:cNvSpPr/>
          <p:nvPr/>
        </p:nvSpPr>
        <p:spPr>
          <a:xfrm>
            <a:off x="2491740" y="237744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3" name="Google Shape;843;p47"/>
          <p:cNvSpPr/>
          <p:nvPr/>
        </p:nvSpPr>
        <p:spPr>
          <a:xfrm>
            <a:off x="2537460" y="240487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1px 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4" name="Google Shape;844;p47"/>
          <p:cNvSpPr/>
          <p:nvPr/>
        </p:nvSpPr>
        <p:spPr>
          <a:xfrm>
            <a:off x="594360" y="265176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5" name="Google Shape;845;p47"/>
          <p:cNvSpPr/>
          <p:nvPr/>
        </p:nvSpPr>
        <p:spPr>
          <a:xfrm>
            <a:off x="640080" y="267919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border-stone-300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6" name="Google Shape;846;p47"/>
          <p:cNvSpPr/>
          <p:nvPr/>
        </p:nvSpPr>
        <p:spPr>
          <a:xfrm>
            <a:off x="2491740" y="265176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7" name="Google Shape;847;p47"/>
          <p:cNvSpPr/>
          <p:nvPr/>
        </p:nvSpPr>
        <p:spPr>
          <a:xfrm>
            <a:off x="2537460" y="267919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 color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8" name="Google Shape;848;p47"/>
          <p:cNvSpPr/>
          <p:nvPr/>
        </p:nvSpPr>
        <p:spPr>
          <a:xfrm>
            <a:off x="594360" y="292608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9" name="Google Shape;849;p47"/>
          <p:cNvSpPr/>
          <p:nvPr/>
        </p:nvSpPr>
        <p:spPr>
          <a:xfrm>
            <a:off x="640080" y="295351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rounded-lg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0" name="Google Shape;850;p47"/>
          <p:cNvSpPr/>
          <p:nvPr/>
        </p:nvSpPr>
        <p:spPr>
          <a:xfrm>
            <a:off x="2491740" y="292608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1" name="Google Shape;851;p47"/>
          <p:cNvSpPr/>
          <p:nvPr/>
        </p:nvSpPr>
        <p:spPr>
          <a:xfrm>
            <a:off x="2537460" y="295351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Rounded corners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2" name="Google Shape;852;p47"/>
          <p:cNvSpPr/>
          <p:nvPr/>
        </p:nvSpPr>
        <p:spPr>
          <a:xfrm>
            <a:off x="4709160" y="868680"/>
            <a:ext cx="201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Admission notice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3" name="Google Shape;853;p47"/>
          <p:cNvSpPr/>
          <p:nvPr/>
        </p:nvSpPr>
        <p:spPr>
          <a:xfrm>
            <a:off x="4709160" y="1143000"/>
            <a:ext cx="3794700" cy="1005900"/>
          </a:xfrm>
          <a:prstGeom prst="roundRect">
            <a:avLst>
              <a:gd fmla="val 363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4" name="Google Shape;854;p47"/>
          <p:cNvSpPr/>
          <p:nvPr/>
        </p:nvSpPr>
        <p:spPr>
          <a:xfrm>
            <a:off x="4764024" y="1188720"/>
            <a:ext cx="368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rounded-lg border-l-4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border-amber-500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5" name="Google Shape;855;p47"/>
          <p:cNvSpPr/>
          <p:nvPr/>
        </p:nvSpPr>
        <p:spPr>
          <a:xfrm>
            <a:off x="4709160" y="2331720"/>
            <a:ext cx="1897500" cy="2742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6" name="Google Shape;856;p47"/>
          <p:cNvSpPr/>
          <p:nvPr/>
        </p:nvSpPr>
        <p:spPr>
          <a:xfrm>
            <a:off x="4754880" y="235915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Utility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7" name="Google Shape;857;p47"/>
          <p:cNvSpPr/>
          <p:nvPr/>
        </p:nvSpPr>
        <p:spPr>
          <a:xfrm>
            <a:off x="6606540" y="2331720"/>
            <a:ext cx="1897500" cy="2742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8" name="Google Shape;858;p47"/>
          <p:cNvSpPr/>
          <p:nvPr/>
        </p:nvSpPr>
        <p:spPr>
          <a:xfrm>
            <a:off x="6652260" y="235915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Applies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9" name="Google Shape;859;p47"/>
          <p:cNvSpPr/>
          <p:nvPr/>
        </p:nvSpPr>
        <p:spPr>
          <a:xfrm>
            <a:off x="4709160" y="260604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0" name="Google Shape;860;p47"/>
          <p:cNvSpPr/>
          <p:nvPr/>
        </p:nvSpPr>
        <p:spPr>
          <a:xfrm>
            <a:off x="4754880" y="263347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border-l-4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1" name="Google Shape;861;p47"/>
          <p:cNvSpPr/>
          <p:nvPr/>
        </p:nvSpPr>
        <p:spPr>
          <a:xfrm>
            <a:off x="6606540" y="260604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6652260" y="263347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</a:t>
            </a:r>
            <a:r>
              <a:rPr b="0" i="1" lang="en" sz="1067" u="sng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4px</a:t>
            </a: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 left border (not unit)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3" name="Google Shape;863;p47"/>
          <p:cNvSpPr/>
          <p:nvPr/>
        </p:nvSpPr>
        <p:spPr>
          <a:xfrm>
            <a:off x="4709160" y="288036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4" name="Google Shape;864;p47"/>
          <p:cNvSpPr/>
          <p:nvPr/>
        </p:nvSpPr>
        <p:spPr>
          <a:xfrm>
            <a:off x="4754880" y="290779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border-amber-500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5" name="Google Shape;865;p47"/>
          <p:cNvSpPr/>
          <p:nvPr/>
        </p:nvSpPr>
        <p:spPr>
          <a:xfrm>
            <a:off x="6606540" y="288036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6" name="Google Shape;866;p47"/>
          <p:cNvSpPr/>
          <p:nvPr/>
        </p:nvSpPr>
        <p:spPr>
          <a:xfrm>
            <a:off x="6652260" y="290779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 color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7" name="Google Shape;867;p47"/>
          <p:cNvSpPr/>
          <p:nvPr/>
        </p:nvSpPr>
        <p:spPr>
          <a:xfrm>
            <a:off x="4709160" y="315468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47"/>
          <p:cNvSpPr/>
          <p:nvPr/>
        </p:nvSpPr>
        <p:spPr>
          <a:xfrm>
            <a:off x="4754880" y="318211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rounded-lg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47"/>
          <p:cNvSpPr/>
          <p:nvPr/>
        </p:nvSpPr>
        <p:spPr>
          <a:xfrm>
            <a:off x="6606540" y="3154680"/>
            <a:ext cx="1897500" cy="274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0" name="Google Shape;870;p47"/>
          <p:cNvSpPr/>
          <p:nvPr/>
        </p:nvSpPr>
        <p:spPr>
          <a:xfrm>
            <a:off x="6652260" y="3182112"/>
            <a:ext cx="180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Rounded corners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1" name="Google Shape;871;p47"/>
          <p:cNvSpPr/>
          <p:nvPr/>
        </p:nvSpPr>
        <p:spPr>
          <a:xfrm>
            <a:off x="1874520" y="39319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border width first, then color, then radius.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47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Add </a:t>
            </a:r>
            <a:r>
              <a:rPr b="1" lang="en" sz="28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 borders and rounded corners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878" name="Google Shape;87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48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Complete the Night Market page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0" name="Google Shape;880;p48"/>
          <p:cNvSpPr/>
          <p:nvPr/>
        </p:nvSpPr>
        <p:spPr>
          <a:xfrm>
            <a:off x="594360" y="822960"/>
            <a:ext cx="4572000" cy="3612000"/>
          </a:xfrm>
          <a:prstGeom prst="roundRect">
            <a:avLst>
              <a:gd fmla="val 2025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1" name="Google Shape;881;p48"/>
          <p:cNvSpPr/>
          <p:nvPr/>
        </p:nvSpPr>
        <p:spPr>
          <a:xfrm>
            <a:off x="594360" y="822960"/>
            <a:ext cx="45720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2" name="Google Shape;882;p48"/>
          <p:cNvSpPr/>
          <p:nvPr/>
        </p:nvSpPr>
        <p:spPr>
          <a:xfrm>
            <a:off x="667512" y="88696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48"/>
          <p:cNvSpPr/>
          <p:nvPr/>
        </p:nvSpPr>
        <p:spPr>
          <a:xfrm>
            <a:off x="795528" y="88696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4" name="Google Shape;884;p48"/>
          <p:cNvSpPr/>
          <p:nvPr/>
        </p:nvSpPr>
        <p:spPr>
          <a:xfrm>
            <a:off x="923544" y="88696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5" name="Google Shape;885;p48"/>
          <p:cNvSpPr/>
          <p:nvPr/>
        </p:nvSpPr>
        <p:spPr>
          <a:xfrm>
            <a:off x="758952" y="1207008"/>
            <a:ext cx="4242900" cy="30633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6" name="Google Shape;886;p48"/>
          <p:cNvSpPr/>
          <p:nvPr/>
        </p:nvSpPr>
        <p:spPr>
          <a:xfrm>
            <a:off x="914400" y="1353312"/>
            <a:ext cx="3931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B45309"/>
                </a:solidFill>
                <a:latin typeface="Montserrat"/>
                <a:ea typeface="Montserrat"/>
                <a:cs typeface="Montserrat"/>
                <a:sym typeface="Montserrat"/>
              </a:rPr>
              <a:t>Saturday, 5 PM to 11 PM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7" name="Google Shape;887;p48"/>
          <p:cNvSpPr/>
          <p:nvPr/>
        </p:nvSpPr>
        <p:spPr>
          <a:xfrm>
            <a:off x="914400" y="1517904"/>
            <a:ext cx="393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Riverside Night Market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8" name="Google Shape;888;p48"/>
          <p:cNvSpPr/>
          <p:nvPr/>
        </p:nvSpPr>
        <p:spPr>
          <a:xfrm>
            <a:off x="914400" y="180136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Street food, crafts, and live music beside the river.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9" name="Google Shape;889;p48"/>
          <p:cNvSpPr/>
          <p:nvPr/>
        </p:nvSpPr>
        <p:spPr>
          <a:xfrm>
            <a:off x="1005840" y="2148840"/>
            <a:ext cx="37491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0" name="Google Shape;890;p48"/>
          <p:cNvSpPr/>
          <p:nvPr/>
        </p:nvSpPr>
        <p:spPr>
          <a:xfrm>
            <a:off x="1124712" y="2258568"/>
            <a:ext cx="3511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Tonight at the market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1" name="Google Shape;891;p48"/>
          <p:cNvSpPr/>
          <p:nvPr/>
        </p:nvSpPr>
        <p:spPr>
          <a:xfrm>
            <a:off x="1124712" y="2423160"/>
            <a:ext cx="3511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Local food, handmade goods, and music.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48"/>
          <p:cNvSpPr/>
          <p:nvPr/>
        </p:nvSpPr>
        <p:spPr>
          <a:xfrm>
            <a:off x="1005840" y="2761488"/>
            <a:ext cx="3749100" cy="411600"/>
          </a:xfrm>
          <a:prstGeom prst="roundRect">
            <a:avLst>
              <a:gd fmla="val 17778" name="adj"/>
            </a:avLst>
          </a:prstGeom>
          <a:solidFill>
            <a:srgbClr val="FEF3C7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3" name="Google Shape;893;p48"/>
          <p:cNvSpPr/>
          <p:nvPr/>
        </p:nvSpPr>
        <p:spPr>
          <a:xfrm>
            <a:off x="1124712" y="2852928"/>
            <a:ext cx="35112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Admission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4" name="Google Shape;894;p48"/>
          <p:cNvSpPr/>
          <p:nvPr/>
        </p:nvSpPr>
        <p:spPr>
          <a:xfrm>
            <a:off x="1124712" y="3017520"/>
            <a:ext cx="3511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Entry is free. Food sold separately.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5" name="Google Shape;895;p48"/>
          <p:cNvSpPr/>
          <p:nvPr/>
        </p:nvSpPr>
        <p:spPr>
          <a:xfrm>
            <a:off x="5440680" y="868680"/>
            <a:ext cx="3200400" cy="868800"/>
          </a:xfrm>
          <a:prstGeom prst="roundRect">
            <a:avLst>
              <a:gd fmla="val 4211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6" name="Google Shape;896;p48"/>
          <p:cNvSpPr/>
          <p:nvPr/>
        </p:nvSpPr>
        <p:spPr>
          <a:xfrm>
            <a:off x="5495544" y="914400"/>
            <a:ext cx="3090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&lt;body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class="bg-stone-100 text-stone-900"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 class="p-6"&gt;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 class="mb-8 text-center"&gt;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7" name="Google Shape;897;p48"/>
          <p:cNvSpPr/>
          <p:nvPr/>
        </p:nvSpPr>
        <p:spPr>
          <a:xfrm>
            <a:off x="5440680" y="1874520"/>
            <a:ext cx="3200400" cy="914400"/>
          </a:xfrm>
          <a:prstGeom prst="roundRect">
            <a:avLst>
              <a:gd fmla="val 40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8" name="Google Shape;898;p48"/>
          <p:cNvSpPr/>
          <p:nvPr/>
        </p:nvSpPr>
        <p:spPr>
          <a:xfrm>
            <a:off x="5495544" y="1920240"/>
            <a:ext cx="309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border-stone-300 bg-white p-6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9" name="Google Shape;899;p48"/>
          <p:cNvSpPr/>
          <p:nvPr/>
        </p:nvSpPr>
        <p:spPr>
          <a:xfrm>
            <a:off x="5440680" y="2907792"/>
            <a:ext cx="3200400" cy="914400"/>
          </a:xfrm>
          <a:prstGeom prst="roundRect">
            <a:avLst>
              <a:gd fmla="val 40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0" name="Google Shape;900;p48"/>
          <p:cNvSpPr/>
          <p:nvPr/>
        </p:nvSpPr>
        <p:spPr>
          <a:xfrm>
            <a:off x="5495544" y="2953512"/>
            <a:ext cx="309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border-l-4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border-amber-500 bg-amber-100 p-4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48"/>
          <p:cNvSpPr/>
          <p:nvPr/>
        </p:nvSpPr>
        <p:spPr>
          <a:xfrm>
            <a:off x="5532120" y="3977640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91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 utilities create the hierarchy.</a:t>
            </a:r>
            <a:endParaRPr b="0" i="0" sz="8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91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Spacing utilities separate the content.</a:t>
            </a:r>
            <a:endParaRPr b="0" i="0" sz="8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91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Backgrounds group related information.</a:t>
            </a:r>
            <a:endParaRPr b="0" i="0" sz="8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918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Montserrat"/>
              <a:buChar char="•"/>
            </a:pPr>
            <a:r>
              <a:rPr b="0" i="0" lang="en" sz="11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Borders mark section and notice edges.</a:t>
            </a:r>
            <a:endParaRPr b="0" i="0" sz="8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9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33"/>
              <a:buFont typeface="Montserrat"/>
              <a:buNone/>
            </a:pPr>
            <a:r>
              <a:rPr b="1" i="0" lang="en" sz="25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Checkpoint: Style the service notice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8" name="Google Shape;908;p49"/>
          <p:cNvSpPr/>
          <p:nvPr/>
        </p:nvSpPr>
        <p:spPr>
          <a:xfrm>
            <a:off x="594360" y="777240"/>
            <a:ext cx="795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 service notice needs a pale blue background, a blue border, rounded corners, and padding inside the notice. Which option meets all four requirements?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49"/>
          <p:cNvSpPr/>
          <p:nvPr/>
        </p:nvSpPr>
        <p:spPr>
          <a:xfrm>
            <a:off x="594360" y="1325880"/>
            <a:ext cx="38406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0" name="Google Shape;910;p49"/>
          <p:cNvSpPr/>
          <p:nvPr/>
        </p:nvSpPr>
        <p:spPr>
          <a:xfrm>
            <a:off x="649224" y="1371600"/>
            <a:ext cx="373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1" name="Google Shape;911;p49"/>
          <p:cNvSpPr/>
          <p:nvPr/>
        </p:nvSpPr>
        <p:spPr>
          <a:xfrm>
            <a:off x="649224" y="1591056"/>
            <a:ext cx="3730800" cy="905400"/>
          </a:xfrm>
          <a:prstGeom prst="roundRect">
            <a:avLst>
              <a:gd fmla="val 404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2" name="Google Shape;912;p49"/>
          <p:cNvSpPr/>
          <p:nvPr/>
        </p:nvSpPr>
        <p:spPr>
          <a:xfrm>
            <a:off x="704088" y="1636776"/>
            <a:ext cx="3621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rounded-lg border border-blue-400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bg-blue-100 p-4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4663440" y="1325880"/>
            <a:ext cx="38406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4" name="Google Shape;914;p49"/>
          <p:cNvSpPr/>
          <p:nvPr/>
        </p:nvSpPr>
        <p:spPr>
          <a:xfrm>
            <a:off x="4718304" y="1371600"/>
            <a:ext cx="373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5" name="Google Shape;915;p49"/>
          <p:cNvSpPr/>
          <p:nvPr/>
        </p:nvSpPr>
        <p:spPr>
          <a:xfrm>
            <a:off x="4718304" y="1591056"/>
            <a:ext cx="3730800" cy="905400"/>
          </a:xfrm>
          <a:prstGeom prst="roundRect">
            <a:avLst>
              <a:gd fmla="val 404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6" name="Google Shape;916;p49"/>
          <p:cNvSpPr/>
          <p:nvPr/>
        </p:nvSpPr>
        <p:spPr>
          <a:xfrm>
            <a:off x="4773168" y="1636776"/>
            <a:ext cx="3621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rounded-lg border-blue-400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bg-blue-100 p-4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7" name="Google Shape;917;p49"/>
          <p:cNvSpPr/>
          <p:nvPr/>
        </p:nvSpPr>
        <p:spPr>
          <a:xfrm>
            <a:off x="594360" y="2761488"/>
            <a:ext cx="38406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8" name="Google Shape;918;p49"/>
          <p:cNvSpPr/>
          <p:nvPr/>
        </p:nvSpPr>
        <p:spPr>
          <a:xfrm>
            <a:off x="649224" y="2807208"/>
            <a:ext cx="373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9" name="Google Shape;919;p49"/>
          <p:cNvSpPr/>
          <p:nvPr/>
        </p:nvSpPr>
        <p:spPr>
          <a:xfrm>
            <a:off x="649224" y="3026664"/>
            <a:ext cx="3730800" cy="905400"/>
          </a:xfrm>
          <a:prstGeom prst="roundRect">
            <a:avLst>
              <a:gd fmla="val 404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0" name="Google Shape;920;p49"/>
          <p:cNvSpPr/>
          <p:nvPr/>
        </p:nvSpPr>
        <p:spPr>
          <a:xfrm>
            <a:off x="704088" y="3072384"/>
            <a:ext cx="3621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rounded-lg border border-blue-400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1" name="Google Shape;921;p49"/>
          <p:cNvSpPr/>
          <p:nvPr/>
        </p:nvSpPr>
        <p:spPr>
          <a:xfrm>
            <a:off x="4663440" y="2761488"/>
            <a:ext cx="38406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2" name="Google Shape;922;p49"/>
          <p:cNvSpPr/>
          <p:nvPr/>
        </p:nvSpPr>
        <p:spPr>
          <a:xfrm>
            <a:off x="4718304" y="2807208"/>
            <a:ext cx="3730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3" name="Google Shape;923;p49"/>
          <p:cNvSpPr/>
          <p:nvPr/>
        </p:nvSpPr>
        <p:spPr>
          <a:xfrm>
            <a:off x="4718304" y="3026664"/>
            <a:ext cx="3730800" cy="905400"/>
          </a:xfrm>
          <a:prstGeom prst="roundRect">
            <a:avLst>
              <a:gd fmla="val 404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4" name="Google Shape;924;p49"/>
          <p:cNvSpPr/>
          <p:nvPr/>
        </p:nvSpPr>
        <p:spPr>
          <a:xfrm>
            <a:off x="4773168" y="3072384"/>
            <a:ext cx="36210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border: 1px solid blue;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background: lightblue;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1rem;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5" name="Google Shape;925;p49"/>
          <p:cNvSpPr txBox="1"/>
          <p:nvPr/>
        </p:nvSpPr>
        <p:spPr>
          <a:xfrm>
            <a:off x="666600" y="4572000"/>
            <a:ext cx="2137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33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Answer: 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931" name="Google Shape;9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0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Compare the completed versions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3" name="Google Shape;933;p50"/>
          <p:cNvSpPr/>
          <p:nvPr/>
        </p:nvSpPr>
        <p:spPr>
          <a:xfrm>
            <a:off x="594360" y="8229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Conventional CSS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4" name="Google Shape;934;p50"/>
          <p:cNvSpPr/>
          <p:nvPr/>
        </p:nvSpPr>
        <p:spPr>
          <a:xfrm>
            <a:off x="594360" y="1078992"/>
            <a:ext cx="3749100" cy="2148900"/>
          </a:xfrm>
          <a:prstGeom prst="roundRect">
            <a:avLst>
              <a:gd fmla="val 1702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5" name="Google Shape;935;p50"/>
          <p:cNvSpPr/>
          <p:nvPr/>
        </p:nvSpPr>
        <p:spPr>
          <a:xfrm>
            <a:off x="649224" y="1124712"/>
            <a:ext cx="3639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 class="info-section"&gt;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.info-section {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margin-bottom: 1.5rem;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padding: 1.5rem;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background-color: white;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border: 1px solid #d6d3d1;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border-radius: 0.5rem;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6" name="Google Shape;936;p50"/>
          <p:cNvSpPr/>
          <p:nvPr/>
        </p:nvSpPr>
        <p:spPr>
          <a:xfrm>
            <a:off x="4663440" y="8229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Tailwind utilities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7" name="Google Shape;937;p50"/>
          <p:cNvSpPr/>
          <p:nvPr/>
        </p:nvSpPr>
        <p:spPr>
          <a:xfrm>
            <a:off x="4663440" y="1078992"/>
            <a:ext cx="3749100" cy="1737300"/>
          </a:xfrm>
          <a:prstGeom prst="roundRect">
            <a:avLst>
              <a:gd fmla="val 2105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8" name="Google Shape;938;p50"/>
          <p:cNvSpPr/>
          <p:nvPr/>
        </p:nvSpPr>
        <p:spPr>
          <a:xfrm>
            <a:off x="4718304" y="1124712"/>
            <a:ext cx="36393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border-stone-300 bg-white p-6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&lt;/section&gt;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9" name="Google Shape;939;p50"/>
          <p:cNvSpPr/>
          <p:nvPr/>
        </p:nvSpPr>
        <p:spPr>
          <a:xfrm>
            <a:off x="914400" y="3520440"/>
            <a:ext cx="27432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0" name="Google Shape;940;p50"/>
          <p:cNvSpPr/>
          <p:nvPr/>
        </p:nvSpPr>
        <p:spPr>
          <a:xfrm>
            <a:off x="1078992" y="3730752"/>
            <a:ext cx="2414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Information section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1" name="Google Shape;941;p50"/>
          <p:cNvSpPr/>
          <p:nvPr/>
        </p:nvSpPr>
        <p:spPr>
          <a:xfrm>
            <a:off x="4709160" y="3017520"/>
            <a:ext cx="36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Conventional CSS uses a custom class name.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lists styling decisions on the element.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Both approaches require CSS knowledge.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2" name="Google Shape;942;p50"/>
          <p:cNvSpPr/>
          <p:nvPr/>
        </p:nvSpPr>
        <p:spPr>
          <a:xfrm>
            <a:off x="731520" y="4343400"/>
            <a:ext cx="749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Discussion: Which version makes the styling decisions easier to find?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948" name="Google Shape;94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51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Where configuration fits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0" name="Google Shape;950;p51"/>
          <p:cNvSpPr/>
          <p:nvPr/>
        </p:nvSpPr>
        <p:spPr>
          <a:xfrm>
            <a:off x="640080" y="914400"/>
            <a:ext cx="38406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provides default values for: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5667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Colors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5667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 sizes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5667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Spacing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65667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◦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 radius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Configuration matters because it controls the design values available through utility classes.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1" name="Google Shape;951;p51"/>
          <p:cNvSpPr/>
          <p:nvPr/>
        </p:nvSpPr>
        <p:spPr>
          <a:xfrm>
            <a:off x="685800" y="2606040"/>
            <a:ext cx="2377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 project may need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2" name="Google Shape;952;p51"/>
          <p:cNvSpPr/>
          <p:nvPr/>
        </p:nvSpPr>
        <p:spPr>
          <a:xfrm>
            <a:off x="777240" y="2880360"/>
            <a:ext cx="3474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Brand colors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selected font family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 different spacing scale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6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Char char="•"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Additional radius values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3" name="Google Shape;953;p51"/>
          <p:cNvSpPr/>
          <p:nvPr/>
        </p:nvSpPr>
        <p:spPr>
          <a:xfrm>
            <a:off x="4754880" y="1051560"/>
            <a:ext cx="1714500" cy="3087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4" name="Google Shape;954;p51"/>
          <p:cNvSpPr/>
          <p:nvPr/>
        </p:nvSpPr>
        <p:spPr>
          <a:xfrm>
            <a:off x="4800600" y="107899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default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5" name="Google Shape;955;p51"/>
          <p:cNvSpPr/>
          <p:nvPr/>
        </p:nvSpPr>
        <p:spPr>
          <a:xfrm>
            <a:off x="6469380" y="1051560"/>
            <a:ext cx="1714500" cy="3087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6" name="Google Shape;956;p51"/>
          <p:cNvSpPr/>
          <p:nvPr/>
        </p:nvSpPr>
        <p:spPr>
          <a:xfrm>
            <a:off x="6515100" y="107899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Possible project choice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7" name="Google Shape;957;p51"/>
          <p:cNvSpPr/>
          <p:nvPr/>
        </p:nvSpPr>
        <p:spPr>
          <a:xfrm>
            <a:off x="4754880" y="136017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8" name="Google Shape;958;p51"/>
          <p:cNvSpPr/>
          <p:nvPr/>
        </p:nvSpPr>
        <p:spPr>
          <a:xfrm>
            <a:off x="4800600" y="138760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Existing color scale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9" name="Google Shape;959;p51"/>
          <p:cNvSpPr/>
          <p:nvPr/>
        </p:nvSpPr>
        <p:spPr>
          <a:xfrm>
            <a:off x="6469380" y="136017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0" name="Google Shape;960;p51"/>
          <p:cNvSpPr/>
          <p:nvPr/>
        </p:nvSpPr>
        <p:spPr>
          <a:xfrm>
            <a:off x="6515100" y="138760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Brand color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1" name="Google Shape;961;p51"/>
          <p:cNvSpPr/>
          <p:nvPr/>
        </p:nvSpPr>
        <p:spPr>
          <a:xfrm>
            <a:off x="4754880" y="166878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2" name="Google Shape;962;p51"/>
          <p:cNvSpPr/>
          <p:nvPr/>
        </p:nvSpPr>
        <p:spPr>
          <a:xfrm>
            <a:off x="4800600" y="169621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Existing type scale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3" name="Google Shape;963;p51"/>
          <p:cNvSpPr/>
          <p:nvPr/>
        </p:nvSpPr>
        <p:spPr>
          <a:xfrm>
            <a:off x="6469380" y="166878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4" name="Google Shape;964;p51"/>
          <p:cNvSpPr/>
          <p:nvPr/>
        </p:nvSpPr>
        <p:spPr>
          <a:xfrm>
            <a:off x="6515100" y="169621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Project heading size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5" name="Google Shape;965;p51"/>
          <p:cNvSpPr/>
          <p:nvPr/>
        </p:nvSpPr>
        <p:spPr>
          <a:xfrm>
            <a:off x="4754880" y="197739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6" name="Google Shape;966;p51"/>
          <p:cNvSpPr/>
          <p:nvPr/>
        </p:nvSpPr>
        <p:spPr>
          <a:xfrm>
            <a:off x="4800600" y="200482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Existing spacing scale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7" name="Google Shape;967;p51"/>
          <p:cNvSpPr/>
          <p:nvPr/>
        </p:nvSpPr>
        <p:spPr>
          <a:xfrm>
            <a:off x="6469380" y="1977390"/>
            <a:ext cx="1714500" cy="308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8" name="Google Shape;968;p51"/>
          <p:cNvSpPr/>
          <p:nvPr/>
        </p:nvSpPr>
        <p:spPr>
          <a:xfrm>
            <a:off x="6515100" y="2004822"/>
            <a:ext cx="1623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Project spacing value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9" name="Google Shape;969;p51"/>
          <p:cNvSpPr/>
          <p:nvPr/>
        </p:nvSpPr>
        <p:spPr>
          <a:xfrm>
            <a:off x="4754880" y="2834640"/>
            <a:ext cx="3429000" cy="777300"/>
          </a:xfrm>
          <a:prstGeom prst="roundRect">
            <a:avLst>
              <a:gd fmla="val 9412" name="adj"/>
            </a:avLst>
          </a:prstGeom>
          <a:solidFill>
            <a:srgbClr val="F8FAFC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0" name="Google Shape;970;p51"/>
          <p:cNvSpPr/>
          <p:nvPr/>
        </p:nvSpPr>
        <p:spPr>
          <a:xfrm>
            <a:off x="4892040" y="2999232"/>
            <a:ext cx="315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 this course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We will use Tailwind defaults for now. We will configure Tailwind after Node.js and project tooling are covered.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2"/>
          <p:cNvSpPr/>
          <p:nvPr/>
        </p:nvSpPr>
        <p:spPr>
          <a:xfrm>
            <a:off x="414799" y="1949552"/>
            <a:ext cx="7466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540"/>
              <a:buFont typeface="Montserrat"/>
              <a:buNone/>
            </a:pPr>
            <a:r>
              <a:rPr b="1" i="0" lang="en" sz="254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Build a museum exhibit preview</a:t>
            </a:r>
            <a:endParaRPr b="0" i="0" sz="25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7" name="Google Shape;977;p52"/>
          <p:cNvSpPr/>
          <p:nvPr/>
        </p:nvSpPr>
        <p:spPr>
          <a:xfrm>
            <a:off x="414799" y="2364351"/>
            <a:ext cx="74664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31"/>
              <a:buFont typeface="Montserrat"/>
              <a:buNone/>
            </a:pPr>
            <a:r>
              <a:rPr b="0" i="0" lang="en" sz="1331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Apply text, spacing, background, and border utilities.</a:t>
            </a:r>
            <a:endParaRPr b="0" i="0" sz="1089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983" name="Google Shape;9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53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Activity goal and starter state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5" name="Google Shape;985;p53"/>
          <p:cNvSpPr/>
          <p:nvPr/>
        </p:nvSpPr>
        <p:spPr>
          <a:xfrm>
            <a:off x="594360" y="868680"/>
            <a:ext cx="4023300" cy="338340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6" name="Google Shape;986;p53"/>
          <p:cNvSpPr/>
          <p:nvPr/>
        </p:nvSpPr>
        <p:spPr>
          <a:xfrm>
            <a:off x="594360" y="868680"/>
            <a:ext cx="40233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7" name="Google Shape;987;p53"/>
          <p:cNvSpPr/>
          <p:nvPr/>
        </p:nvSpPr>
        <p:spPr>
          <a:xfrm>
            <a:off x="667512" y="93268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8" name="Google Shape;988;p53"/>
          <p:cNvSpPr/>
          <p:nvPr/>
        </p:nvSpPr>
        <p:spPr>
          <a:xfrm>
            <a:off x="795528" y="93268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9" name="Google Shape;989;p53"/>
          <p:cNvSpPr/>
          <p:nvPr/>
        </p:nvSpPr>
        <p:spPr>
          <a:xfrm>
            <a:off x="923544" y="93268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0" name="Google Shape;990;p53"/>
          <p:cNvSpPr/>
          <p:nvPr/>
        </p:nvSpPr>
        <p:spPr>
          <a:xfrm>
            <a:off x="758952" y="1252728"/>
            <a:ext cx="3694200" cy="28347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1" name="Google Shape;991;p53"/>
          <p:cNvSpPr/>
          <p:nvPr/>
        </p:nvSpPr>
        <p:spPr>
          <a:xfrm>
            <a:off x="914400" y="1417320"/>
            <a:ext cx="3383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3730A3"/>
                </a:solidFill>
                <a:latin typeface="Montserrat"/>
                <a:ea typeface="Montserrat"/>
                <a:cs typeface="Montserrat"/>
                <a:sym typeface="Montserrat"/>
              </a:rPr>
              <a:t>Featured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2" name="Google Shape;992;p53"/>
          <p:cNvSpPr/>
          <p:nvPr/>
        </p:nvSpPr>
        <p:spPr>
          <a:xfrm>
            <a:off x="914400" y="1618488"/>
            <a:ext cx="3383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Patterns of the Monsoon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3" name="Google Shape;993;p53"/>
          <p:cNvSpPr/>
          <p:nvPr/>
        </p:nvSpPr>
        <p:spPr>
          <a:xfrm>
            <a:off x="914400" y="1920240"/>
            <a:ext cx="3383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Textile works by Asha Menon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4" name="Google Shape;994;p53"/>
          <p:cNvSpPr/>
          <p:nvPr/>
        </p:nvSpPr>
        <p:spPr>
          <a:xfrm>
            <a:off x="1005840" y="2221992"/>
            <a:ext cx="32004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5" name="Google Shape;995;p53"/>
          <p:cNvSpPr/>
          <p:nvPr/>
        </p:nvSpPr>
        <p:spPr>
          <a:xfrm>
            <a:off x="1124712" y="2331720"/>
            <a:ext cx="296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About the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6" name="Google Shape;996;p53"/>
          <p:cNvSpPr/>
          <p:nvPr/>
        </p:nvSpPr>
        <p:spPr>
          <a:xfrm>
            <a:off x="1124712" y="2496312"/>
            <a:ext cx="2962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14 July to 29 September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7" name="Google Shape;997;p53"/>
          <p:cNvSpPr/>
          <p:nvPr/>
        </p:nvSpPr>
        <p:spPr>
          <a:xfrm>
            <a:off x="1005840" y="2834640"/>
            <a:ext cx="320040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8" name="Google Shape;998;p53"/>
          <p:cNvSpPr/>
          <p:nvPr/>
        </p:nvSpPr>
        <p:spPr>
          <a:xfrm>
            <a:off x="1124712" y="2935224"/>
            <a:ext cx="2962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Curator note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9" name="Google Shape;999;p53"/>
          <p:cNvSpPr/>
          <p:nvPr/>
        </p:nvSpPr>
        <p:spPr>
          <a:xfrm>
            <a:off x="4983480" y="86868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0" name="Google Shape;1000;p53"/>
          <p:cNvSpPr/>
          <p:nvPr/>
        </p:nvSpPr>
        <p:spPr>
          <a:xfrm>
            <a:off x="4983480" y="1143000"/>
            <a:ext cx="347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 a museum exhibit preview using Tailwind utility classes.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1" name="Google Shape;1001;p53"/>
          <p:cNvSpPr/>
          <p:nvPr/>
        </p:nvSpPr>
        <p:spPr>
          <a:xfrm>
            <a:off x="4983480" y="1664208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file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2" name="Google Shape;1002;p53"/>
          <p:cNvSpPr/>
          <p:nvPr/>
        </p:nvSpPr>
        <p:spPr>
          <a:xfrm>
            <a:off x="4983480" y="1920240"/>
            <a:ext cx="3566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14-museum-exhibit-starter/index.html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3" name="Google Shape;1003;p53"/>
          <p:cNvSpPr/>
          <p:nvPr/>
        </p:nvSpPr>
        <p:spPr>
          <a:xfrm>
            <a:off x="4983480" y="233172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Page regions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4" name="Google Shape;1004;p53"/>
          <p:cNvSpPr/>
          <p:nvPr/>
        </p:nvSpPr>
        <p:spPr>
          <a:xfrm>
            <a:off x="5074920" y="2606040"/>
            <a:ext cx="338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Exhibition header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◦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Category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◦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Exhibit title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◦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Artist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About section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◦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Dates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◦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Curator note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7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Char char="•"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Museum-visit link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1010" name="Google Shape;101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54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Activity rules and utility bank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2" name="Google Shape;1012;p54"/>
          <p:cNvSpPr/>
          <p:nvPr/>
        </p:nvSpPr>
        <p:spPr>
          <a:xfrm>
            <a:off x="640080" y="91440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Rules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3" name="Google Shape;1013;p54"/>
          <p:cNvSpPr/>
          <p:nvPr/>
        </p:nvSpPr>
        <p:spPr>
          <a:xfrm>
            <a:off x="731520" y="1207008"/>
            <a:ext cx="28347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only the utility groups covered today.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Keep the page in normal document flow.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Do not use: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Flexbox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Grid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prefixes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1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◦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State variants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Post M1, M2, or M3 in chat after each milestone.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4" name="Google Shape;1014;p54"/>
          <p:cNvSpPr/>
          <p:nvPr/>
        </p:nvSpPr>
        <p:spPr>
          <a:xfrm>
            <a:off x="3840480" y="822960"/>
            <a:ext cx="1554600" cy="3759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5" name="Google Shape;1015;p54"/>
          <p:cNvSpPr/>
          <p:nvPr/>
        </p:nvSpPr>
        <p:spPr>
          <a:xfrm>
            <a:off x="3886200" y="8503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6" name="Google Shape;1016;p54"/>
          <p:cNvSpPr/>
          <p:nvPr/>
        </p:nvSpPr>
        <p:spPr>
          <a:xfrm>
            <a:off x="5394960" y="822960"/>
            <a:ext cx="1554600" cy="3759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7" name="Google Shape;1017;p54"/>
          <p:cNvSpPr/>
          <p:nvPr/>
        </p:nvSpPr>
        <p:spPr>
          <a:xfrm>
            <a:off x="5440680" y="8503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Spacing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8" name="Google Shape;1018;p54"/>
          <p:cNvSpPr/>
          <p:nvPr/>
        </p:nvSpPr>
        <p:spPr>
          <a:xfrm>
            <a:off x="6949440" y="822960"/>
            <a:ext cx="1554600" cy="375900"/>
          </a:xfrm>
          <a:prstGeom prst="rect">
            <a:avLst/>
          </a:prstGeom>
          <a:solidFill>
            <a:srgbClr val="F2F4F7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9" name="Google Shape;1019;p54"/>
          <p:cNvSpPr/>
          <p:nvPr/>
        </p:nvSpPr>
        <p:spPr>
          <a:xfrm>
            <a:off x="6995160" y="8503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Backgrounds and borders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0" name="Google Shape;1020;p54"/>
          <p:cNvSpPr/>
          <p:nvPr/>
        </p:nvSpPr>
        <p:spPr>
          <a:xfrm>
            <a:off x="3840480" y="11988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1" name="Google Shape;1021;p54"/>
          <p:cNvSpPr/>
          <p:nvPr/>
        </p:nvSpPr>
        <p:spPr>
          <a:xfrm>
            <a:off x="3886200" y="12263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text-sm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2" name="Google Shape;1022;p54"/>
          <p:cNvSpPr/>
          <p:nvPr/>
        </p:nvSpPr>
        <p:spPr>
          <a:xfrm>
            <a:off x="5394960" y="11988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3" name="Google Shape;1023;p54"/>
          <p:cNvSpPr/>
          <p:nvPr/>
        </p:nvSpPr>
        <p:spPr>
          <a:xfrm>
            <a:off x="5440680" y="12263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4" name="Google Shape;1024;p54"/>
          <p:cNvSpPr/>
          <p:nvPr/>
        </p:nvSpPr>
        <p:spPr>
          <a:xfrm>
            <a:off x="6949440" y="11988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p54"/>
          <p:cNvSpPr/>
          <p:nvPr/>
        </p:nvSpPr>
        <p:spPr>
          <a:xfrm>
            <a:off x="6995160" y="12263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bg-white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6" name="Google Shape;1026;p54"/>
          <p:cNvSpPr/>
          <p:nvPr/>
        </p:nvSpPr>
        <p:spPr>
          <a:xfrm>
            <a:off x="3840480" y="15748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7" name="Google Shape;1027;p54"/>
          <p:cNvSpPr/>
          <p:nvPr/>
        </p:nvSpPr>
        <p:spPr>
          <a:xfrm>
            <a:off x="3886200" y="16022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text-lg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8" name="Google Shape;1028;p54"/>
          <p:cNvSpPr/>
          <p:nvPr/>
        </p:nvSpPr>
        <p:spPr>
          <a:xfrm>
            <a:off x="5394960" y="15748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9" name="Google Shape;1029;p54"/>
          <p:cNvSpPr/>
          <p:nvPr/>
        </p:nvSpPr>
        <p:spPr>
          <a:xfrm>
            <a:off x="5440680" y="16022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p-6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0" name="Google Shape;1030;p54"/>
          <p:cNvSpPr/>
          <p:nvPr/>
        </p:nvSpPr>
        <p:spPr>
          <a:xfrm>
            <a:off x="6949440" y="15748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p54"/>
          <p:cNvSpPr/>
          <p:nvPr/>
        </p:nvSpPr>
        <p:spPr>
          <a:xfrm>
            <a:off x="6995160" y="16022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bg-stone-100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54"/>
          <p:cNvSpPr/>
          <p:nvPr/>
        </p:nvSpPr>
        <p:spPr>
          <a:xfrm>
            <a:off x="3840480" y="19507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3" name="Google Shape;1033;p54"/>
          <p:cNvSpPr/>
          <p:nvPr/>
        </p:nvSpPr>
        <p:spPr>
          <a:xfrm>
            <a:off x="3886200" y="19781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text-4xl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4" name="Google Shape;1034;p54"/>
          <p:cNvSpPr/>
          <p:nvPr/>
        </p:nvSpPr>
        <p:spPr>
          <a:xfrm>
            <a:off x="5394960" y="19507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5" name="Google Shape;1035;p54"/>
          <p:cNvSpPr/>
          <p:nvPr/>
        </p:nvSpPr>
        <p:spPr>
          <a:xfrm>
            <a:off x="5440680" y="19781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mt-3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6" name="Google Shape;1036;p54"/>
          <p:cNvSpPr/>
          <p:nvPr/>
        </p:nvSpPr>
        <p:spPr>
          <a:xfrm>
            <a:off x="6949440" y="19507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7" name="Google Shape;1037;p54"/>
          <p:cNvSpPr/>
          <p:nvPr/>
        </p:nvSpPr>
        <p:spPr>
          <a:xfrm>
            <a:off x="6995160" y="19781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bg-indigo-50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8" name="Google Shape;1038;p54"/>
          <p:cNvSpPr/>
          <p:nvPr/>
        </p:nvSpPr>
        <p:spPr>
          <a:xfrm>
            <a:off x="3840480" y="232664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9" name="Google Shape;1039;p54"/>
          <p:cNvSpPr/>
          <p:nvPr/>
        </p:nvSpPr>
        <p:spPr>
          <a:xfrm>
            <a:off x="3886200" y="235407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font-semibold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0" name="Google Shape;1040;p54"/>
          <p:cNvSpPr/>
          <p:nvPr/>
        </p:nvSpPr>
        <p:spPr>
          <a:xfrm>
            <a:off x="5394960" y="232664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1" name="Google Shape;1041;p54"/>
          <p:cNvSpPr/>
          <p:nvPr/>
        </p:nvSpPr>
        <p:spPr>
          <a:xfrm>
            <a:off x="5440680" y="235407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mb-6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2" name="Google Shape;1042;p54"/>
          <p:cNvSpPr/>
          <p:nvPr/>
        </p:nvSpPr>
        <p:spPr>
          <a:xfrm>
            <a:off x="6949440" y="232664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3" name="Google Shape;1043;p54"/>
          <p:cNvSpPr/>
          <p:nvPr/>
        </p:nvSpPr>
        <p:spPr>
          <a:xfrm>
            <a:off x="6995160" y="235407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4" name="Google Shape;1044;p54"/>
          <p:cNvSpPr/>
          <p:nvPr/>
        </p:nvSpPr>
        <p:spPr>
          <a:xfrm>
            <a:off x="3840480" y="270256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5" name="Google Shape;1045;p54"/>
          <p:cNvSpPr/>
          <p:nvPr/>
        </p:nvSpPr>
        <p:spPr>
          <a:xfrm>
            <a:off x="3886200" y="27299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font-bold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54"/>
          <p:cNvSpPr/>
          <p:nvPr/>
        </p:nvSpPr>
        <p:spPr>
          <a:xfrm>
            <a:off x="5394960" y="270256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7" name="Google Shape;1047;p54"/>
          <p:cNvSpPr/>
          <p:nvPr/>
        </p:nvSpPr>
        <p:spPr>
          <a:xfrm>
            <a:off x="5440680" y="27299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mb-8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8" name="Google Shape;1048;p54"/>
          <p:cNvSpPr/>
          <p:nvPr/>
        </p:nvSpPr>
        <p:spPr>
          <a:xfrm>
            <a:off x="6949440" y="270256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9" name="Google Shape;1049;p54"/>
          <p:cNvSpPr/>
          <p:nvPr/>
        </p:nvSpPr>
        <p:spPr>
          <a:xfrm>
            <a:off x="6995160" y="272999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border-l-4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0" name="Google Shape;1050;p54"/>
          <p:cNvSpPr/>
          <p:nvPr/>
        </p:nvSpPr>
        <p:spPr>
          <a:xfrm>
            <a:off x="3840480" y="30784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1" name="Google Shape;1051;p54"/>
          <p:cNvSpPr/>
          <p:nvPr/>
        </p:nvSpPr>
        <p:spPr>
          <a:xfrm>
            <a:off x="3886200" y="31059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text-stone-600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2" name="Google Shape;1052;p54"/>
          <p:cNvSpPr/>
          <p:nvPr/>
        </p:nvSpPr>
        <p:spPr>
          <a:xfrm>
            <a:off x="5394960" y="30784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3" name="Google Shape;1053;p54"/>
          <p:cNvSpPr/>
          <p:nvPr/>
        </p:nvSpPr>
        <p:spPr>
          <a:xfrm>
            <a:off x="5440680" y="31059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4" name="Google Shape;1054;p54"/>
          <p:cNvSpPr/>
          <p:nvPr/>
        </p:nvSpPr>
        <p:spPr>
          <a:xfrm>
            <a:off x="6949440" y="307848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5" name="Google Shape;1055;p54"/>
          <p:cNvSpPr/>
          <p:nvPr/>
        </p:nvSpPr>
        <p:spPr>
          <a:xfrm>
            <a:off x="6995160" y="310591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border-stone-300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6" name="Google Shape;1056;p54"/>
          <p:cNvSpPr/>
          <p:nvPr/>
        </p:nvSpPr>
        <p:spPr>
          <a:xfrm>
            <a:off x="3840480" y="34544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7" name="Google Shape;1057;p54"/>
          <p:cNvSpPr/>
          <p:nvPr/>
        </p:nvSpPr>
        <p:spPr>
          <a:xfrm>
            <a:off x="3886200" y="34818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text-indigo-800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8" name="Google Shape;1058;p54"/>
          <p:cNvSpPr/>
          <p:nvPr/>
        </p:nvSpPr>
        <p:spPr>
          <a:xfrm>
            <a:off x="5394960" y="34544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9" name="Google Shape;1059;p54"/>
          <p:cNvSpPr/>
          <p:nvPr/>
        </p:nvSpPr>
        <p:spPr>
          <a:xfrm>
            <a:off x="5440680" y="34818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0" name="Google Shape;1060;p54"/>
          <p:cNvSpPr/>
          <p:nvPr/>
        </p:nvSpPr>
        <p:spPr>
          <a:xfrm>
            <a:off x="6949440" y="345440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1" name="Google Shape;1061;p54"/>
          <p:cNvSpPr/>
          <p:nvPr/>
        </p:nvSpPr>
        <p:spPr>
          <a:xfrm>
            <a:off x="6995160" y="348183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border-indigo-500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54"/>
          <p:cNvSpPr/>
          <p:nvPr/>
        </p:nvSpPr>
        <p:spPr>
          <a:xfrm>
            <a:off x="3840480" y="38303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3" name="Google Shape;1063;p54"/>
          <p:cNvSpPr/>
          <p:nvPr/>
        </p:nvSpPr>
        <p:spPr>
          <a:xfrm>
            <a:off x="3886200" y="38577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text-center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4" name="Google Shape;1064;p54"/>
          <p:cNvSpPr/>
          <p:nvPr/>
        </p:nvSpPr>
        <p:spPr>
          <a:xfrm>
            <a:off x="5394960" y="38303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5" name="Google Shape;1065;p54"/>
          <p:cNvSpPr/>
          <p:nvPr/>
        </p:nvSpPr>
        <p:spPr>
          <a:xfrm>
            <a:off x="5440680" y="38577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6" name="Google Shape;1066;p54"/>
          <p:cNvSpPr/>
          <p:nvPr/>
        </p:nvSpPr>
        <p:spPr>
          <a:xfrm>
            <a:off x="6949440" y="3830320"/>
            <a:ext cx="1554600" cy="375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7" name="Google Shape;1067;p54"/>
          <p:cNvSpPr/>
          <p:nvPr/>
        </p:nvSpPr>
        <p:spPr>
          <a:xfrm>
            <a:off x="6995160" y="3857752"/>
            <a:ext cx="14631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rounded-lg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55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67"/>
              <a:buFont typeface="Montserrat"/>
              <a:buNone/>
            </a:pPr>
            <a:r>
              <a:rPr b="1" i="0" lang="en" sz="26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1: Create a text hierarchy</a:t>
            </a:r>
            <a:endParaRPr b="0" i="0" sz="25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4" name="Google Shape;1074;p55"/>
          <p:cNvSpPr/>
          <p:nvPr/>
        </p:nvSpPr>
        <p:spPr>
          <a:xfrm>
            <a:off x="594350" y="914400"/>
            <a:ext cx="2926200" cy="33603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5" name="Google Shape;1075;p55"/>
          <p:cNvSpPr/>
          <p:nvPr/>
        </p:nvSpPr>
        <p:spPr>
          <a:xfrm>
            <a:off x="594360" y="914400"/>
            <a:ext cx="29262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6" name="Google Shape;1076;p55"/>
          <p:cNvSpPr/>
          <p:nvPr/>
        </p:nvSpPr>
        <p:spPr>
          <a:xfrm>
            <a:off x="667512" y="9784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7" name="Google Shape;1077;p55"/>
          <p:cNvSpPr/>
          <p:nvPr/>
        </p:nvSpPr>
        <p:spPr>
          <a:xfrm>
            <a:off x="795528" y="9784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8" name="Google Shape;1078;p55"/>
          <p:cNvSpPr/>
          <p:nvPr/>
        </p:nvSpPr>
        <p:spPr>
          <a:xfrm>
            <a:off x="923544" y="9784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55"/>
          <p:cNvSpPr/>
          <p:nvPr/>
        </p:nvSpPr>
        <p:spPr>
          <a:xfrm>
            <a:off x="758950" y="1298451"/>
            <a:ext cx="2596800" cy="28110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0" name="Google Shape;1080;p55"/>
          <p:cNvSpPr/>
          <p:nvPr/>
        </p:nvSpPr>
        <p:spPr>
          <a:xfrm>
            <a:off x="914400" y="1463040"/>
            <a:ext cx="2286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3730A3"/>
                </a:solidFill>
                <a:latin typeface="Montserrat"/>
                <a:ea typeface="Montserrat"/>
                <a:cs typeface="Montserrat"/>
                <a:sym typeface="Montserrat"/>
              </a:rPr>
              <a:t>Featured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1" name="Google Shape;1081;p55"/>
          <p:cNvSpPr/>
          <p:nvPr/>
        </p:nvSpPr>
        <p:spPr>
          <a:xfrm>
            <a:off x="914400" y="166420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Patterns of the Monsoon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2" name="Google Shape;1082;p55"/>
          <p:cNvSpPr/>
          <p:nvPr/>
        </p:nvSpPr>
        <p:spPr>
          <a:xfrm>
            <a:off x="914400" y="2201423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Textile works by Asha Menon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3" name="Google Shape;1083;p55"/>
          <p:cNvSpPr/>
          <p:nvPr/>
        </p:nvSpPr>
        <p:spPr>
          <a:xfrm>
            <a:off x="1005840" y="2848337"/>
            <a:ext cx="21030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4" name="Google Shape;1084;p55"/>
          <p:cNvSpPr/>
          <p:nvPr/>
        </p:nvSpPr>
        <p:spPr>
          <a:xfrm>
            <a:off x="1124712" y="2958065"/>
            <a:ext cx="1865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About the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5" name="Google Shape;1085;p55"/>
          <p:cNvSpPr/>
          <p:nvPr/>
        </p:nvSpPr>
        <p:spPr>
          <a:xfrm>
            <a:off x="1124712" y="3122657"/>
            <a:ext cx="1865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14 July to 29 September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6" name="Google Shape;1086;p55"/>
          <p:cNvSpPr/>
          <p:nvPr/>
        </p:nvSpPr>
        <p:spPr>
          <a:xfrm>
            <a:off x="1005840" y="3460985"/>
            <a:ext cx="210300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7" name="Google Shape;1087;p55"/>
          <p:cNvSpPr/>
          <p:nvPr/>
        </p:nvSpPr>
        <p:spPr>
          <a:xfrm>
            <a:off x="1124712" y="3561569"/>
            <a:ext cx="1865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Curator note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8" name="Google Shape;1088;p55"/>
          <p:cNvSpPr/>
          <p:nvPr/>
        </p:nvSpPr>
        <p:spPr>
          <a:xfrm>
            <a:off x="3840480" y="86868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Exhibition label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9" name="Google Shape;1089;p55"/>
          <p:cNvSpPr/>
          <p:nvPr/>
        </p:nvSpPr>
        <p:spPr>
          <a:xfrm>
            <a:off x="3931920" y="1143000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smaller text.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bold text.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Apply an indigo text color.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0" name="Google Shape;1090;p55"/>
          <p:cNvSpPr/>
          <p:nvPr/>
        </p:nvSpPr>
        <p:spPr>
          <a:xfrm>
            <a:off x="6217920" y="86868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Main heading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55"/>
          <p:cNvSpPr/>
          <p:nvPr/>
        </p:nvSpPr>
        <p:spPr>
          <a:xfrm>
            <a:off x="6309360" y="1143000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Make the heading the largest text on the page.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a bold weight.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2" name="Google Shape;1092;p55"/>
          <p:cNvSpPr/>
          <p:nvPr/>
        </p:nvSpPr>
        <p:spPr>
          <a:xfrm>
            <a:off x="3840480" y="2057400"/>
            <a:ext cx="182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Supporting text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3" name="Google Shape;1093;p55"/>
          <p:cNvSpPr/>
          <p:nvPr/>
        </p:nvSpPr>
        <p:spPr>
          <a:xfrm>
            <a:off x="3931920" y="2331720"/>
            <a:ext cx="2103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a softer stone text color.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Center the complete header.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4" name="Google Shape;1094;p55"/>
          <p:cNvSpPr/>
          <p:nvPr/>
        </p:nvSpPr>
        <p:spPr>
          <a:xfrm>
            <a:off x="3840480" y="3193875"/>
            <a:ext cx="4572000" cy="822900"/>
          </a:xfrm>
          <a:prstGeom prst="roundRect">
            <a:avLst>
              <a:gd fmla="val 444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5" name="Google Shape;1095;p55"/>
          <p:cNvSpPr/>
          <p:nvPr/>
        </p:nvSpPr>
        <p:spPr>
          <a:xfrm>
            <a:off x="3895344" y="3239595"/>
            <a:ext cx="4462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&lt;p&gt;Featured exhibition&lt;/p&gt;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&lt;h1&gt;Patterns of the Monsoon&lt;/h1&gt;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&lt;p&gt;Textile works by Asha Menon&lt;/p&gt;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33"/>
              <a:buFont typeface="Consolas"/>
              <a:buNone/>
            </a:pPr>
            <a:r>
              <a:rPr b="0" i="0" lang="en" sz="933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&lt;/header&gt;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56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67"/>
              <a:buFont typeface="Montserrat"/>
              <a:buNone/>
            </a:pPr>
            <a:r>
              <a:rPr b="1" i="0" lang="en" sz="26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2: Add section spacing</a:t>
            </a:r>
            <a:endParaRPr b="0" i="0" sz="25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2" name="Google Shape;1102;p56"/>
          <p:cNvSpPr/>
          <p:nvPr/>
        </p:nvSpPr>
        <p:spPr>
          <a:xfrm>
            <a:off x="4069080" y="868680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67"/>
              <a:buFont typeface="Montserrat"/>
              <a:buNone/>
            </a:pPr>
            <a:r>
              <a:rPr b="1" i="0" lang="en" sz="14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Task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56"/>
          <p:cNvSpPr/>
          <p:nvPr/>
        </p:nvSpPr>
        <p:spPr>
          <a:xfrm>
            <a:off x="4069080" y="1188720"/>
            <a:ext cx="438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1. Add padding around the complete page content.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2. Add space below the header.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3. Add space below the exhibition section.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33"/>
              <a:buFont typeface="Montserrat"/>
              <a:buNone/>
            </a:pPr>
            <a:r>
              <a:rPr b="0" i="0" lang="en" sz="1333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4. Add padding inside the exhibition section and curator note.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4" name="Google Shape;1104;p56"/>
          <p:cNvSpPr/>
          <p:nvPr/>
        </p:nvSpPr>
        <p:spPr>
          <a:xfrm>
            <a:off x="4069080" y="2331720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Elements to change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5" name="Google Shape;1105;p56"/>
          <p:cNvSpPr/>
          <p:nvPr/>
        </p:nvSpPr>
        <p:spPr>
          <a:xfrm>
            <a:off x="4069080" y="2606040"/>
            <a:ext cx="2011800" cy="777300"/>
          </a:xfrm>
          <a:prstGeom prst="roundRect">
            <a:avLst>
              <a:gd fmla="val 4706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6" name="Google Shape;1106;p56"/>
          <p:cNvSpPr/>
          <p:nvPr/>
        </p:nvSpPr>
        <p:spPr>
          <a:xfrm>
            <a:off x="4123944" y="2651760"/>
            <a:ext cx="190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7" name="Google Shape;1107;p56"/>
          <p:cNvSpPr/>
          <p:nvPr/>
        </p:nvSpPr>
        <p:spPr>
          <a:xfrm>
            <a:off x="6355080" y="2331720"/>
            <a:ext cx="2194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Completion check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8" name="Google Shape;1108;p56"/>
          <p:cNvSpPr/>
          <p:nvPr/>
        </p:nvSpPr>
        <p:spPr>
          <a:xfrm>
            <a:off x="6446520" y="2633472"/>
            <a:ext cx="2011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Content does not touch viewport edges.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Header and sections are separated.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Section and note have inner space.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9" name="Google Shape;1109;p56"/>
          <p:cNvSpPr/>
          <p:nvPr/>
        </p:nvSpPr>
        <p:spPr>
          <a:xfrm>
            <a:off x="594350" y="914400"/>
            <a:ext cx="2926200" cy="33603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0" name="Google Shape;1110;p56"/>
          <p:cNvSpPr/>
          <p:nvPr/>
        </p:nvSpPr>
        <p:spPr>
          <a:xfrm>
            <a:off x="594360" y="914400"/>
            <a:ext cx="29262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1" name="Google Shape;1111;p56"/>
          <p:cNvSpPr/>
          <p:nvPr/>
        </p:nvSpPr>
        <p:spPr>
          <a:xfrm>
            <a:off x="667512" y="97840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2" name="Google Shape;1112;p56"/>
          <p:cNvSpPr/>
          <p:nvPr/>
        </p:nvSpPr>
        <p:spPr>
          <a:xfrm>
            <a:off x="795528" y="97840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3" name="Google Shape;1113;p56"/>
          <p:cNvSpPr/>
          <p:nvPr/>
        </p:nvSpPr>
        <p:spPr>
          <a:xfrm>
            <a:off x="923544" y="97840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4" name="Google Shape;1114;p56"/>
          <p:cNvSpPr/>
          <p:nvPr/>
        </p:nvSpPr>
        <p:spPr>
          <a:xfrm>
            <a:off x="758950" y="1298451"/>
            <a:ext cx="2596800" cy="28110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56"/>
          <p:cNvSpPr/>
          <p:nvPr/>
        </p:nvSpPr>
        <p:spPr>
          <a:xfrm>
            <a:off x="914400" y="1463040"/>
            <a:ext cx="2286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3730A3"/>
                </a:solidFill>
                <a:latin typeface="Montserrat"/>
                <a:ea typeface="Montserrat"/>
                <a:cs typeface="Montserrat"/>
                <a:sym typeface="Montserrat"/>
              </a:rPr>
              <a:t>Featured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6" name="Google Shape;1116;p56"/>
          <p:cNvSpPr/>
          <p:nvPr/>
        </p:nvSpPr>
        <p:spPr>
          <a:xfrm>
            <a:off x="914400" y="1664208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Patterns of the Monsoon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7" name="Google Shape;1117;p56"/>
          <p:cNvSpPr/>
          <p:nvPr/>
        </p:nvSpPr>
        <p:spPr>
          <a:xfrm>
            <a:off x="914400" y="2201423"/>
            <a:ext cx="2286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Textile works by Asha Menon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8" name="Google Shape;1118;p56"/>
          <p:cNvSpPr/>
          <p:nvPr/>
        </p:nvSpPr>
        <p:spPr>
          <a:xfrm>
            <a:off x="1005840" y="2848337"/>
            <a:ext cx="21030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9" name="Google Shape;1119;p56"/>
          <p:cNvSpPr/>
          <p:nvPr/>
        </p:nvSpPr>
        <p:spPr>
          <a:xfrm>
            <a:off x="1124712" y="2958065"/>
            <a:ext cx="1865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About the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0" name="Google Shape;1120;p56"/>
          <p:cNvSpPr/>
          <p:nvPr/>
        </p:nvSpPr>
        <p:spPr>
          <a:xfrm>
            <a:off x="1124712" y="3122657"/>
            <a:ext cx="18654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14 July to 29 September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56"/>
          <p:cNvSpPr/>
          <p:nvPr/>
        </p:nvSpPr>
        <p:spPr>
          <a:xfrm>
            <a:off x="1005840" y="3460985"/>
            <a:ext cx="210300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2" name="Google Shape;1122;p56"/>
          <p:cNvSpPr/>
          <p:nvPr/>
        </p:nvSpPr>
        <p:spPr>
          <a:xfrm>
            <a:off x="1124712" y="3561569"/>
            <a:ext cx="1865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Curator note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57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67"/>
              <a:buFont typeface="Montserrat"/>
              <a:buNone/>
            </a:pPr>
            <a:r>
              <a:rPr b="1" i="0" lang="en" sz="2267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Milestone 3: Add backgrounds and borders</a:t>
            </a:r>
            <a:endParaRPr b="0" i="0" sz="21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9" name="Google Shape;1129;p57"/>
          <p:cNvSpPr/>
          <p:nvPr/>
        </p:nvSpPr>
        <p:spPr>
          <a:xfrm>
            <a:off x="594360" y="914400"/>
            <a:ext cx="2514600" cy="2057400"/>
          </a:xfrm>
          <a:prstGeom prst="roundRect">
            <a:avLst>
              <a:gd fmla="val 3556" name="adj"/>
            </a:avLst>
          </a:prstGeom>
          <a:solidFill>
            <a:srgbClr val="F5F5F4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0" name="Google Shape;1130;p57"/>
          <p:cNvSpPr/>
          <p:nvPr/>
        </p:nvSpPr>
        <p:spPr>
          <a:xfrm>
            <a:off x="704088" y="10515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Page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1" name="Google Shape;1131;p57"/>
          <p:cNvSpPr/>
          <p:nvPr/>
        </p:nvSpPr>
        <p:spPr>
          <a:xfrm>
            <a:off x="795528" y="1417320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light stone background.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2" name="Google Shape;1132;p57"/>
          <p:cNvSpPr/>
          <p:nvPr/>
        </p:nvSpPr>
        <p:spPr>
          <a:xfrm>
            <a:off x="3337560" y="914400"/>
            <a:ext cx="251460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3" name="Google Shape;1133;p57"/>
          <p:cNvSpPr/>
          <p:nvPr/>
        </p:nvSpPr>
        <p:spPr>
          <a:xfrm>
            <a:off x="3447288" y="10515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Exhibition section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4" name="Google Shape;1134;p57"/>
          <p:cNvSpPr/>
          <p:nvPr/>
        </p:nvSpPr>
        <p:spPr>
          <a:xfrm>
            <a:off x="3538728" y="1417320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white background.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border.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a stone border color.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Round the corners.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5" name="Google Shape;1135;p57"/>
          <p:cNvSpPr/>
          <p:nvPr/>
        </p:nvSpPr>
        <p:spPr>
          <a:xfrm>
            <a:off x="6080760" y="914400"/>
            <a:ext cx="2514600" cy="2057400"/>
          </a:xfrm>
          <a:prstGeom prst="roundRect">
            <a:avLst>
              <a:gd fmla="val 3556" name="adj"/>
            </a:avLst>
          </a:prstGeom>
          <a:solidFill>
            <a:srgbClr val="EEF2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6" name="Google Shape;1136;p57"/>
          <p:cNvSpPr/>
          <p:nvPr/>
        </p:nvSpPr>
        <p:spPr>
          <a:xfrm>
            <a:off x="6190488" y="105156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Curator note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7" name="Google Shape;1137;p57"/>
          <p:cNvSpPr/>
          <p:nvPr/>
        </p:nvSpPr>
        <p:spPr>
          <a:xfrm>
            <a:off x="6281928" y="1417320"/>
            <a:ext cx="2103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pale indigo background.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a thicker left border.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Use an indigo border color.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37068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Char char="•"/>
            </a:pPr>
            <a:r>
              <a:rPr b="0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Round the corners.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8" name="Google Shape;1138;p57"/>
          <p:cNvSpPr/>
          <p:nvPr/>
        </p:nvSpPr>
        <p:spPr>
          <a:xfrm>
            <a:off x="822960" y="3291840"/>
            <a:ext cx="2103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Elements to change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9" name="Google Shape;1139;p57"/>
          <p:cNvSpPr/>
          <p:nvPr/>
        </p:nvSpPr>
        <p:spPr>
          <a:xfrm>
            <a:off x="822960" y="3566160"/>
            <a:ext cx="2011800" cy="640200"/>
          </a:xfrm>
          <a:prstGeom prst="roundRect">
            <a:avLst>
              <a:gd fmla="val 5714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0" name="Google Shape;1140;p57"/>
          <p:cNvSpPr/>
          <p:nvPr/>
        </p:nvSpPr>
        <p:spPr>
          <a:xfrm>
            <a:off x="877824" y="3611880"/>
            <a:ext cx="190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&lt;aside&gt;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1" name="Google Shape;1141;p57"/>
          <p:cNvSpPr/>
          <p:nvPr/>
        </p:nvSpPr>
        <p:spPr>
          <a:xfrm>
            <a:off x="3657600" y="3291840"/>
            <a:ext cx="228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Completion check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2" name="Google Shape;1142;p57"/>
          <p:cNvSpPr/>
          <p:nvPr/>
        </p:nvSpPr>
        <p:spPr>
          <a:xfrm>
            <a:off x="3749040" y="3566160"/>
            <a:ext cx="4297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exhibition section is distinct from the page background.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curator note receives stronger emphasis.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Borders and backgrounds apply to the intended elements.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l9_bg_extracted.png" id="1148" name="Google Shape;114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58"/>
          <p:cNvSpPr/>
          <p:nvPr/>
        </p:nvSpPr>
        <p:spPr>
          <a:xfrm>
            <a:off x="457200" y="256032"/>
            <a:ext cx="649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Montserrat"/>
              <a:buNone/>
            </a:pPr>
            <a:r>
              <a:rPr b="1" i="0" lang="en" sz="280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Activity review</a:t>
            </a:r>
            <a:endParaRPr b="0" i="0" sz="2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0" name="Google Shape;1150;p58"/>
          <p:cNvSpPr/>
          <p:nvPr/>
        </p:nvSpPr>
        <p:spPr>
          <a:xfrm>
            <a:off x="502920" y="822960"/>
            <a:ext cx="3840600" cy="3337500"/>
          </a:xfrm>
          <a:prstGeom prst="roundRect">
            <a:avLst>
              <a:gd fmla="val 219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1" name="Google Shape;1151;p58"/>
          <p:cNvSpPr/>
          <p:nvPr/>
        </p:nvSpPr>
        <p:spPr>
          <a:xfrm>
            <a:off x="502920" y="822960"/>
            <a:ext cx="3840600" cy="201300"/>
          </a:xfrm>
          <a:prstGeom prst="rect">
            <a:avLst/>
          </a:prstGeom>
          <a:solidFill>
            <a:srgbClr val="F2F4F7"/>
          </a:solidFill>
          <a:ln cap="flat" cmpd="sng" w="16925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2" name="Google Shape;1152;p58"/>
          <p:cNvSpPr/>
          <p:nvPr/>
        </p:nvSpPr>
        <p:spPr>
          <a:xfrm>
            <a:off x="576072" y="886968"/>
            <a:ext cx="73200" cy="73200"/>
          </a:xfrm>
          <a:prstGeom prst="ellipse">
            <a:avLst/>
          </a:prstGeom>
          <a:solidFill>
            <a:srgbClr val="EF4444"/>
          </a:solidFill>
          <a:ln cap="flat" cmpd="sng" w="169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3" name="Google Shape;1153;p58"/>
          <p:cNvSpPr/>
          <p:nvPr/>
        </p:nvSpPr>
        <p:spPr>
          <a:xfrm>
            <a:off x="704088" y="886968"/>
            <a:ext cx="73200" cy="73200"/>
          </a:xfrm>
          <a:prstGeom prst="ellipse">
            <a:avLst/>
          </a:prstGeom>
          <a:solidFill>
            <a:srgbClr val="F59E0B"/>
          </a:solidFill>
          <a:ln cap="flat" cmpd="sng" w="169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4" name="Google Shape;1154;p58"/>
          <p:cNvSpPr/>
          <p:nvPr/>
        </p:nvSpPr>
        <p:spPr>
          <a:xfrm>
            <a:off x="832104" y="886968"/>
            <a:ext cx="73200" cy="73200"/>
          </a:xfrm>
          <a:prstGeom prst="ellipse">
            <a:avLst/>
          </a:prstGeom>
          <a:solidFill>
            <a:srgbClr val="22C55E"/>
          </a:solidFill>
          <a:ln cap="flat" cmpd="sng" w="169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5" name="Google Shape;1155;p58"/>
          <p:cNvSpPr/>
          <p:nvPr/>
        </p:nvSpPr>
        <p:spPr>
          <a:xfrm>
            <a:off x="667512" y="1207008"/>
            <a:ext cx="3511200" cy="2788800"/>
          </a:xfrm>
          <a:prstGeom prst="rect">
            <a:avLst/>
          </a:prstGeom>
          <a:solidFill>
            <a:srgbClr val="F5F5F4"/>
          </a:solidFill>
          <a:ln cap="flat" cmpd="sng" w="16925">
            <a:solidFill>
              <a:srgbClr val="F5F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6" name="Google Shape;1156;p58"/>
          <p:cNvSpPr/>
          <p:nvPr/>
        </p:nvSpPr>
        <p:spPr>
          <a:xfrm>
            <a:off x="822960" y="1371600"/>
            <a:ext cx="3200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730A3"/>
              </a:buClr>
              <a:buSzPts val="933"/>
              <a:buFont typeface="Montserrat"/>
              <a:buNone/>
            </a:pPr>
            <a:r>
              <a:rPr b="1" i="0" lang="en" sz="933" u="none" cap="none" strike="noStrike">
                <a:solidFill>
                  <a:srgbClr val="3730A3"/>
                </a:solidFill>
                <a:latin typeface="Montserrat"/>
                <a:ea typeface="Montserrat"/>
                <a:cs typeface="Montserrat"/>
                <a:sym typeface="Montserrat"/>
              </a:rPr>
              <a:t>Featured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7" name="Google Shape;1157;p58"/>
          <p:cNvSpPr/>
          <p:nvPr/>
        </p:nvSpPr>
        <p:spPr>
          <a:xfrm>
            <a:off x="822960" y="1572768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ontserrat"/>
              <a:buNone/>
            </a:pPr>
            <a:r>
              <a:rPr b="1" i="0" lang="en" sz="16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Patterns of the Monsoon</a:t>
            </a:r>
            <a:endParaRPr b="0" i="0" sz="13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8" name="Google Shape;1158;p58"/>
          <p:cNvSpPr/>
          <p:nvPr/>
        </p:nvSpPr>
        <p:spPr>
          <a:xfrm>
            <a:off x="822960" y="1874520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7534E"/>
                </a:solidFill>
                <a:latin typeface="Montserrat"/>
                <a:ea typeface="Montserrat"/>
                <a:cs typeface="Montserrat"/>
                <a:sym typeface="Montserrat"/>
              </a:rPr>
              <a:t>Textile works by Asha Menon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9" name="Google Shape;1159;p58"/>
          <p:cNvSpPr/>
          <p:nvPr/>
        </p:nvSpPr>
        <p:spPr>
          <a:xfrm>
            <a:off x="914400" y="2176272"/>
            <a:ext cx="3017400" cy="5028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 cap="flat" cmpd="sng" w="12700">
            <a:solidFill>
              <a:srgbClr val="D6D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0" name="Google Shape;1160;p58"/>
          <p:cNvSpPr/>
          <p:nvPr/>
        </p:nvSpPr>
        <p:spPr>
          <a:xfrm>
            <a:off x="1033272" y="2286000"/>
            <a:ext cx="2779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About the exhibition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1" name="Google Shape;1161;p58"/>
          <p:cNvSpPr/>
          <p:nvPr/>
        </p:nvSpPr>
        <p:spPr>
          <a:xfrm>
            <a:off x="1033272" y="2450592"/>
            <a:ext cx="27798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33"/>
              <a:buFont typeface="Montserrat"/>
              <a:buNone/>
            </a:pPr>
            <a:r>
              <a:rPr b="0" i="0" lang="en" sz="933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14 July to 29 September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2" name="Google Shape;1162;p58"/>
          <p:cNvSpPr/>
          <p:nvPr/>
        </p:nvSpPr>
        <p:spPr>
          <a:xfrm>
            <a:off x="914400" y="2788920"/>
            <a:ext cx="3017400" cy="457200"/>
          </a:xfrm>
          <a:prstGeom prst="roundRect">
            <a:avLst>
              <a:gd fmla="val 16000" name="adj"/>
            </a:avLst>
          </a:prstGeom>
          <a:solidFill>
            <a:srgbClr val="EEF2FF"/>
          </a:solidFill>
          <a:ln cap="flat" cmpd="sng" w="254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3" name="Google Shape;1163;p58"/>
          <p:cNvSpPr/>
          <p:nvPr/>
        </p:nvSpPr>
        <p:spPr>
          <a:xfrm>
            <a:off x="1033272" y="2889504"/>
            <a:ext cx="2779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67"/>
              <a:buFont typeface="Montserrat"/>
              <a:buNone/>
            </a:pPr>
            <a:r>
              <a:rPr b="1" i="0" lang="en" sz="106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Curator note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4" name="Google Shape;1164;p58"/>
          <p:cNvSpPr/>
          <p:nvPr/>
        </p:nvSpPr>
        <p:spPr>
          <a:xfrm>
            <a:off x="4572000" y="822960"/>
            <a:ext cx="3977700" cy="1326000"/>
          </a:xfrm>
          <a:prstGeom prst="roundRect">
            <a:avLst>
              <a:gd fmla="val 2759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5" name="Google Shape;1165;p58"/>
          <p:cNvSpPr/>
          <p:nvPr/>
        </p:nvSpPr>
        <p:spPr>
          <a:xfrm>
            <a:off x="4626864" y="868680"/>
            <a:ext cx="38679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&lt;body class="bg-stone-100 text-stone-900"&gt;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&lt;main class="p-6"&gt;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&lt;header class="mb-8 text-center"&gt;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class="text-sm font-bold text-indigo-800"&gt;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&lt;h1 class="text-4xl font-bold"&gt;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&lt;p class="mt-3 text-lg text-stone-600"&gt;</a:t>
            </a:r>
            <a:endParaRPr b="0" i="0" sz="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6" name="Google Shape;1166;p58"/>
          <p:cNvSpPr/>
          <p:nvPr/>
        </p:nvSpPr>
        <p:spPr>
          <a:xfrm>
            <a:off x="4572000" y="2286000"/>
            <a:ext cx="1828800" cy="914400"/>
          </a:xfrm>
          <a:prstGeom prst="roundRect">
            <a:avLst>
              <a:gd fmla="val 40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7" name="Google Shape;1167;p58"/>
          <p:cNvSpPr/>
          <p:nvPr/>
        </p:nvSpPr>
        <p:spPr>
          <a:xfrm>
            <a:off x="4626864" y="2331720"/>
            <a:ext cx="171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&lt;section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border-stone-300 bg-white p-6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8" name="Google Shape;1168;p58"/>
          <p:cNvSpPr/>
          <p:nvPr/>
        </p:nvSpPr>
        <p:spPr>
          <a:xfrm>
            <a:off x="6537960" y="2286000"/>
            <a:ext cx="2011800" cy="914400"/>
          </a:xfrm>
          <a:prstGeom prst="roundRect">
            <a:avLst>
              <a:gd fmla="val 4000" name="adj"/>
            </a:avLst>
          </a:prstGeom>
          <a:solidFill>
            <a:srgbClr val="1F2937"/>
          </a:solidFill>
          <a:ln cap="flat" cmpd="sng" w="1692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9" name="Google Shape;1169;p58"/>
          <p:cNvSpPr/>
          <p:nvPr/>
        </p:nvSpPr>
        <p:spPr>
          <a:xfrm>
            <a:off x="6592824" y="2331720"/>
            <a:ext cx="1902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mb-6 rounded-lg border-l-4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border-indigo-500 bg-indigo-50 p-4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6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0" name="Google Shape;1170;p58"/>
          <p:cNvSpPr/>
          <p:nvPr/>
        </p:nvSpPr>
        <p:spPr>
          <a:xfrm>
            <a:off x="4572000" y="3401568"/>
            <a:ext cx="1097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33"/>
              <a:buFont typeface="Montserrat"/>
              <a:buNone/>
            </a:pPr>
            <a:r>
              <a:rPr b="1" i="0" lang="en" sz="133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Review</a:t>
            </a:r>
            <a:endParaRPr b="0" i="0" sz="10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1" name="Google Shape;1171;p58"/>
          <p:cNvSpPr/>
          <p:nvPr/>
        </p:nvSpPr>
        <p:spPr>
          <a:xfrm>
            <a:off x="4663440" y="3657600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utility creates inner space?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utility creates the left border?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534" lvl="0" marL="23706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Char char="•"/>
            </a:pPr>
            <a:r>
              <a:rPr b="0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Which element controls the page background?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2" name="Google Shape;1172;p58"/>
          <p:cNvSpPr/>
          <p:nvPr/>
        </p:nvSpPr>
        <p:spPr>
          <a:xfrm>
            <a:off x="704095" y="4517043"/>
            <a:ext cx="7498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Montserrat"/>
              <a:buNone/>
            </a:pPr>
            <a:r>
              <a:rPr b="1" i="0" lang="en" sz="120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Optional extension: Create a second curator-note treatment using only taught utility groups.</a:t>
            </a:r>
            <a:endParaRPr b="0" i="0" sz="933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9"/>
          <p:cNvSpPr/>
          <p:nvPr/>
        </p:nvSpPr>
        <p:spPr>
          <a:xfrm>
            <a:off x="342900" y="192025"/>
            <a:ext cx="7009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735"/>
              <a:buFont typeface="Montserrat"/>
              <a:buNone/>
            </a:pPr>
            <a:r>
              <a:rPr b="1" i="0" lang="en" sz="2735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Debug clinic: Setup and class names</a:t>
            </a:r>
            <a:endParaRPr b="0" i="0" sz="259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9" name="Google Shape;1179;p59"/>
          <p:cNvSpPr/>
          <p:nvPr/>
        </p:nvSpPr>
        <p:spPr>
          <a:xfrm>
            <a:off x="490981" y="804092"/>
            <a:ext cx="4195500" cy="38007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3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0" name="Google Shape;1180;p59"/>
          <p:cNvSpPr/>
          <p:nvPr/>
        </p:nvSpPr>
        <p:spPr>
          <a:xfrm>
            <a:off x="639061" y="952172"/>
            <a:ext cx="3751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83"/>
              <a:buFont typeface="Montserrat"/>
              <a:buNone/>
            </a:pPr>
            <a:r>
              <a:rPr b="1" i="0" lang="en" sz="15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Case 1: Tailwind does not load</a:t>
            </a:r>
            <a:endParaRPr b="0" i="0" sz="12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1" name="Google Shape;1181;p59"/>
          <p:cNvSpPr/>
          <p:nvPr/>
        </p:nvSpPr>
        <p:spPr>
          <a:xfrm>
            <a:off x="639061" y="1277949"/>
            <a:ext cx="38502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6"/>
              <a:buFont typeface="Montserrat"/>
              <a:buNone/>
            </a:pPr>
            <a:r>
              <a:rPr b="0" i="0" lang="en" sz="129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Symptom: All Tailwind classes are ignored.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2" name="Google Shape;1182;p59"/>
          <p:cNvSpPr/>
          <p:nvPr/>
        </p:nvSpPr>
        <p:spPr>
          <a:xfrm>
            <a:off x="639061" y="1741935"/>
            <a:ext cx="3899400" cy="1036500"/>
          </a:xfrm>
          <a:prstGeom prst="roundRect">
            <a:avLst>
              <a:gd fmla="val 3810" name="adj"/>
            </a:avLst>
          </a:prstGeom>
          <a:solidFill>
            <a:srgbClr val="1F2937"/>
          </a:solidFill>
          <a:ln cap="flat" cmpd="sng" w="1827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3" name="Google Shape;1183;p59"/>
          <p:cNvSpPr/>
          <p:nvPr/>
        </p:nvSpPr>
        <p:spPr>
          <a:xfrm>
            <a:off x="698293" y="1791295"/>
            <a:ext cx="37809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&lt;title&gt;Museum Exhibit&lt;/title&gt;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4" name="Google Shape;1184;p59"/>
          <p:cNvSpPr/>
          <p:nvPr/>
        </p:nvSpPr>
        <p:spPr>
          <a:xfrm>
            <a:off x="639061" y="2926579"/>
            <a:ext cx="3850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6"/>
              <a:buFont typeface="Montserrat"/>
              <a:buNone/>
            </a:pPr>
            <a:r>
              <a:rPr b="1" i="0" lang="en" sz="129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Question: What required setup is missing?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5" name="Google Shape;1185;p59"/>
          <p:cNvSpPr/>
          <p:nvPr/>
        </p:nvSpPr>
        <p:spPr>
          <a:xfrm>
            <a:off x="639061" y="3420181"/>
            <a:ext cx="1579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96"/>
              <a:buFont typeface="Montserrat"/>
              <a:buNone/>
            </a:pPr>
            <a:r>
              <a:rPr b="1" i="0" lang="en" sz="1296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Correction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6" name="Google Shape;1186;p59"/>
          <p:cNvSpPr/>
          <p:nvPr/>
        </p:nvSpPr>
        <p:spPr>
          <a:xfrm>
            <a:off x="639061" y="3647238"/>
            <a:ext cx="3899400" cy="493500"/>
          </a:xfrm>
          <a:prstGeom prst="roundRect">
            <a:avLst>
              <a:gd fmla="val 16000" name="adj"/>
            </a:avLst>
          </a:prstGeom>
          <a:solidFill>
            <a:srgbClr val="F8FAFC"/>
          </a:solidFill>
          <a:ln cap="flat" cmpd="sng" w="13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7" name="Google Shape;1187;p59"/>
          <p:cNvSpPr/>
          <p:nvPr/>
        </p:nvSpPr>
        <p:spPr>
          <a:xfrm>
            <a:off x="737781" y="3795319"/>
            <a:ext cx="37020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6"/>
              <a:buFont typeface="Montserrat"/>
              <a:buNone/>
            </a:pPr>
            <a:r>
              <a:rPr b="1" i="0" lang="en" sz="129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the Play CDN script from Slide 17.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8" name="Google Shape;1188;p59"/>
          <p:cNvSpPr/>
          <p:nvPr/>
        </p:nvSpPr>
        <p:spPr>
          <a:xfrm>
            <a:off x="4884036" y="804092"/>
            <a:ext cx="4195500" cy="3800700"/>
          </a:xfrm>
          <a:prstGeom prst="roundRect">
            <a:avLst>
              <a:gd fmla="val 2078" name="adj"/>
            </a:avLst>
          </a:prstGeom>
          <a:solidFill>
            <a:srgbClr val="FFFFFF"/>
          </a:solidFill>
          <a:ln cap="flat" cmpd="sng" w="13700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9" name="Google Shape;1189;p59"/>
          <p:cNvSpPr/>
          <p:nvPr/>
        </p:nvSpPr>
        <p:spPr>
          <a:xfrm>
            <a:off x="5032116" y="952172"/>
            <a:ext cx="37515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83"/>
              <a:buFont typeface="Montserrat"/>
              <a:buNone/>
            </a:pPr>
            <a:r>
              <a:rPr b="1" i="0" lang="en" sz="15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Case 2: One background class fails</a:t>
            </a:r>
            <a:endParaRPr b="0" i="0" sz="12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0" name="Google Shape;1190;p59"/>
          <p:cNvSpPr/>
          <p:nvPr/>
        </p:nvSpPr>
        <p:spPr>
          <a:xfrm>
            <a:off x="5032116" y="1277949"/>
            <a:ext cx="38502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6"/>
              <a:buFont typeface="Montserrat"/>
              <a:buNone/>
            </a:pPr>
            <a:r>
              <a:rPr b="0" i="0" lang="en" sz="129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Symptom: The border and padding work, but the background does not change.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1" name="Google Shape;1191;p59"/>
          <p:cNvSpPr/>
          <p:nvPr/>
        </p:nvSpPr>
        <p:spPr>
          <a:xfrm>
            <a:off x="5032116" y="1741935"/>
            <a:ext cx="3899400" cy="1036500"/>
          </a:xfrm>
          <a:prstGeom prst="roundRect">
            <a:avLst>
              <a:gd fmla="val 3810" name="adj"/>
            </a:avLst>
          </a:prstGeom>
          <a:solidFill>
            <a:srgbClr val="1F2937"/>
          </a:solidFill>
          <a:ln cap="flat" cmpd="sng" w="1827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2" name="Google Shape;1192;p59"/>
          <p:cNvSpPr/>
          <p:nvPr/>
        </p:nvSpPr>
        <p:spPr>
          <a:xfrm>
            <a:off x="5091348" y="1791295"/>
            <a:ext cx="3780900" cy="9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rounded-lg border-l-4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border-indigo-500 bg-indgo-50 p-4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3" name="Google Shape;1193;p59"/>
          <p:cNvSpPr/>
          <p:nvPr/>
        </p:nvSpPr>
        <p:spPr>
          <a:xfrm>
            <a:off x="5032116" y="2926579"/>
            <a:ext cx="38502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6"/>
              <a:buFont typeface="Montserrat"/>
              <a:buNone/>
            </a:pPr>
            <a:r>
              <a:rPr b="1" i="0" lang="en" sz="129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Question: Which class is misspelled?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4" name="Google Shape;1194;p59"/>
          <p:cNvSpPr/>
          <p:nvPr/>
        </p:nvSpPr>
        <p:spPr>
          <a:xfrm>
            <a:off x="5032116" y="3420181"/>
            <a:ext cx="15795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96"/>
              <a:buFont typeface="Montserrat"/>
              <a:buNone/>
            </a:pPr>
            <a:r>
              <a:rPr b="1" i="0" lang="en" sz="1296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Correction</a:t>
            </a:r>
            <a:endParaRPr b="0" i="0" sz="100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5" name="Google Shape;1195;p59"/>
          <p:cNvSpPr/>
          <p:nvPr/>
        </p:nvSpPr>
        <p:spPr>
          <a:xfrm>
            <a:off x="5032116" y="3647238"/>
            <a:ext cx="3899400" cy="493500"/>
          </a:xfrm>
          <a:prstGeom prst="roundRect">
            <a:avLst>
              <a:gd fmla="val 8000" name="adj"/>
            </a:avLst>
          </a:prstGeom>
          <a:solidFill>
            <a:srgbClr val="1F2937"/>
          </a:solidFill>
          <a:ln cap="flat" cmpd="sng" w="1827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9350" lIns="98725" spcFirstLastPara="1" rIns="98725" wrap="square" tIns="49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6" name="Google Shape;1196;p59"/>
          <p:cNvSpPr/>
          <p:nvPr/>
        </p:nvSpPr>
        <p:spPr>
          <a:xfrm>
            <a:off x="5091348" y="3696598"/>
            <a:ext cx="3780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864"/>
              <a:buFont typeface="Consolas"/>
              <a:buNone/>
            </a:pPr>
            <a:r>
              <a:rPr b="0" i="0" lang="en" sz="864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bg-indigo-50</a:t>
            </a:r>
            <a:endParaRPr b="0" i="0" sz="86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60"/>
          <p:cNvSpPr/>
          <p:nvPr/>
        </p:nvSpPr>
        <p:spPr>
          <a:xfrm>
            <a:off x="342900" y="192025"/>
            <a:ext cx="6735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905"/>
              <a:buFont typeface="Montserrat"/>
              <a:buNone/>
            </a:pPr>
            <a:r>
              <a:rPr b="1" i="0" lang="en" sz="2905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Tailwind CSS summary</a:t>
            </a:r>
            <a:endParaRPr b="0" i="0" sz="276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3" name="Google Shape;1203;p60"/>
          <p:cNvSpPr/>
          <p:nvPr/>
        </p:nvSpPr>
        <p:spPr>
          <a:xfrm>
            <a:off x="390332" y="780186"/>
            <a:ext cx="3936900" cy="12807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17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400" lIns="94850" spcFirstLastPara="1" rIns="94850" wrap="square" tIns="47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4" name="Google Shape;1204;p60"/>
          <p:cNvSpPr/>
          <p:nvPr/>
        </p:nvSpPr>
        <p:spPr>
          <a:xfrm>
            <a:off x="504170" y="875050"/>
            <a:ext cx="35100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83"/>
              <a:buFont typeface="Montserrat"/>
              <a:buNone/>
            </a:pPr>
            <a:r>
              <a:rPr b="1" i="0" lang="en" sz="13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Utility classes</a:t>
            </a:r>
            <a:endParaRPr b="0" i="0" sz="110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5" name="Google Shape;1205;p60"/>
          <p:cNvSpPr/>
          <p:nvPr/>
        </p:nvSpPr>
        <p:spPr>
          <a:xfrm>
            <a:off x="580061" y="1140671"/>
            <a:ext cx="3604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Tailwind classes are written inside the HTML class attribute.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Each utility applies a small styling decision.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Several utilities can be combined on one element.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6" name="Google Shape;1206;p60"/>
          <p:cNvSpPr/>
          <p:nvPr/>
        </p:nvSpPr>
        <p:spPr>
          <a:xfrm>
            <a:off x="4706670" y="780186"/>
            <a:ext cx="3936900" cy="12807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17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400" lIns="94850" spcFirstLastPara="1" rIns="94850" wrap="square" tIns="47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7" name="Google Shape;1207;p60"/>
          <p:cNvSpPr/>
          <p:nvPr/>
        </p:nvSpPr>
        <p:spPr>
          <a:xfrm>
            <a:off x="4820508" y="875050"/>
            <a:ext cx="35100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83"/>
              <a:buFont typeface="Montserrat"/>
              <a:buNone/>
            </a:pPr>
            <a:r>
              <a:rPr b="1" i="0" lang="en" sz="13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CSS knowledge</a:t>
            </a:r>
            <a:endParaRPr b="0" i="0" sz="110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8" name="Google Shape;1208;p60"/>
          <p:cNvSpPr/>
          <p:nvPr/>
        </p:nvSpPr>
        <p:spPr>
          <a:xfrm>
            <a:off x="4896399" y="1140671"/>
            <a:ext cx="3604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 utilities control size, weight, color, or alignment.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Spacing utilities apply padding or margin.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Background and border utilities style surfaces and edges.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9" name="Google Shape;1209;p60"/>
          <p:cNvSpPr/>
          <p:nvPr/>
        </p:nvSpPr>
        <p:spPr>
          <a:xfrm>
            <a:off x="390332" y="2250586"/>
            <a:ext cx="3936900" cy="12807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17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400" lIns="94850" spcFirstLastPara="1" rIns="94850" wrap="square" tIns="47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0" name="Google Shape;1210;p60"/>
          <p:cNvSpPr/>
          <p:nvPr/>
        </p:nvSpPr>
        <p:spPr>
          <a:xfrm>
            <a:off x="504170" y="2345451"/>
            <a:ext cx="35100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83"/>
              <a:buFont typeface="Montserrat"/>
              <a:buNone/>
            </a:pPr>
            <a:r>
              <a:rPr b="1" i="0" lang="en" sz="13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Page setup</a:t>
            </a:r>
            <a:endParaRPr b="0" i="0" sz="110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1" name="Google Shape;1211;p60"/>
          <p:cNvSpPr/>
          <p:nvPr/>
        </p:nvSpPr>
        <p:spPr>
          <a:xfrm>
            <a:off x="580061" y="2611072"/>
            <a:ext cx="3604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Play CDN loads Tailwind into the browser.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The browser needs an internet connection.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Node.js and npm are not required for this setup.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2" name="Google Shape;1212;p60"/>
          <p:cNvSpPr/>
          <p:nvPr/>
        </p:nvSpPr>
        <p:spPr>
          <a:xfrm>
            <a:off x="4706670" y="2250586"/>
            <a:ext cx="3936900" cy="12807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175">
            <a:solidFill>
              <a:srgbClr val="D9DE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400" lIns="94850" spcFirstLastPara="1" rIns="94850" wrap="square" tIns="47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3" name="Google Shape;1213;p60"/>
          <p:cNvSpPr/>
          <p:nvPr/>
        </p:nvSpPr>
        <p:spPr>
          <a:xfrm>
            <a:off x="4820508" y="2345451"/>
            <a:ext cx="3510000" cy="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83"/>
              <a:buFont typeface="Montserrat"/>
              <a:buNone/>
            </a:pPr>
            <a:r>
              <a:rPr b="1" i="0" lang="en" sz="1383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Styling process</a:t>
            </a:r>
            <a:endParaRPr b="0" i="0" sz="110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4" name="Google Shape;1214;p60"/>
          <p:cNvSpPr/>
          <p:nvPr/>
        </p:nvSpPr>
        <p:spPr>
          <a:xfrm>
            <a:off x="4896399" y="2611072"/>
            <a:ext cx="36048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Identify the CSS decision.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Choose the matching utility family.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Add the utility to the correct element.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Check the browser result.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45945" lvl="0" marL="245946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7"/>
              <a:buFont typeface="Montserrat"/>
              <a:buChar char="•"/>
            </a:pPr>
            <a:r>
              <a:rPr b="0" i="0" lang="en" sz="1107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Change one utility at a time when debugging.</a:t>
            </a:r>
            <a:endParaRPr b="0" i="0" sz="968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5" name="Google Shape;1215;p60"/>
          <p:cNvSpPr/>
          <p:nvPr/>
        </p:nvSpPr>
        <p:spPr>
          <a:xfrm>
            <a:off x="1101817" y="3815852"/>
            <a:ext cx="7020000" cy="806400"/>
          </a:xfrm>
          <a:prstGeom prst="roundRect">
            <a:avLst>
              <a:gd fmla="val 4706" name="adj"/>
            </a:avLst>
          </a:prstGeom>
          <a:solidFill>
            <a:srgbClr val="1F2937"/>
          </a:solidFill>
          <a:ln cap="flat" cmpd="sng" w="17575">
            <a:solidFill>
              <a:srgbClr val="1F293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7400" lIns="94850" spcFirstLastPara="1" rIns="94850" wrap="square" tIns="47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37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6" name="Google Shape;1216;p60"/>
          <p:cNvSpPr/>
          <p:nvPr/>
        </p:nvSpPr>
        <p:spPr>
          <a:xfrm>
            <a:off x="1158735" y="3863284"/>
            <a:ext cx="6906000" cy="7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&lt;aside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class="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rounded-lg border-l-4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  border-indigo-500 bg-indigo-50 p-4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"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  Curator note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968"/>
              <a:buFont typeface="Consolas"/>
              <a:buNone/>
            </a:pPr>
            <a:r>
              <a:rPr b="0" i="0" lang="en" sz="968" u="none" cap="none" strike="noStrike">
                <a:solidFill>
                  <a:srgbClr val="F8FAFC"/>
                </a:solidFill>
                <a:latin typeface="Consolas"/>
                <a:ea typeface="Consolas"/>
                <a:cs typeface="Consolas"/>
                <a:sym typeface="Consolas"/>
              </a:rPr>
              <a:t>&lt;/aside&gt;</a:t>
            </a:r>
            <a:endParaRPr b="0" i="0" sz="8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61"/>
          <p:cNvSpPr/>
          <p:nvPr/>
        </p:nvSpPr>
        <p:spPr>
          <a:xfrm>
            <a:off x="342900" y="192025"/>
            <a:ext cx="70608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45"/>
              <a:buFont typeface="Montserrat"/>
              <a:buNone/>
            </a:pPr>
            <a:r>
              <a:rPr b="1" i="0" lang="en" sz="2545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Homework: Build a neighborhood guide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3" name="Google Shape;1223;p61"/>
          <p:cNvSpPr/>
          <p:nvPr/>
        </p:nvSpPr>
        <p:spPr>
          <a:xfrm>
            <a:off x="442347" y="758875"/>
            <a:ext cx="1491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Goal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4" name="Google Shape;1224;p61"/>
          <p:cNvSpPr/>
          <p:nvPr/>
        </p:nvSpPr>
        <p:spPr>
          <a:xfrm>
            <a:off x="442347" y="1027382"/>
            <a:ext cx="4077300" cy="3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50"/>
              <a:buFont typeface="Montserrat"/>
              <a:buNone/>
            </a:pPr>
            <a:r>
              <a:rPr b="0" i="0" lang="en" sz="145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Style a neighborhood guide using Tailwind utility groups covered today.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5" name="Google Shape;1225;p61"/>
          <p:cNvSpPr/>
          <p:nvPr/>
        </p:nvSpPr>
        <p:spPr>
          <a:xfrm>
            <a:off x="442347" y="1455005"/>
            <a:ext cx="19890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Starting file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6" name="Google Shape;1226;p61"/>
          <p:cNvSpPr/>
          <p:nvPr/>
        </p:nvSpPr>
        <p:spPr>
          <a:xfrm>
            <a:off x="442347" y="1723513"/>
            <a:ext cx="40773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70"/>
              <a:buFont typeface="Consolas"/>
              <a:buNone/>
            </a:pPr>
            <a:r>
              <a:rPr b="1" i="0" lang="en" sz="870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22-neighborhood-guide-starter/index.html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7" name="Google Shape;1227;p61"/>
          <p:cNvSpPr/>
          <p:nvPr/>
        </p:nvSpPr>
        <p:spPr>
          <a:xfrm>
            <a:off x="442347" y="2151136"/>
            <a:ext cx="29835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Required page structure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8" name="Google Shape;1228;p61"/>
          <p:cNvSpPr/>
          <p:nvPr/>
        </p:nvSpPr>
        <p:spPr>
          <a:xfrm>
            <a:off x="541795" y="2449478"/>
            <a:ext cx="3978000" cy="11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Guide title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Short introduction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Local notice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Three place entries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97236" lvl="1" marL="994474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◦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Place name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97236" lvl="1" marL="994474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◦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Short description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97236" lvl="1" marL="994474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◦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One useful detail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Closing link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9" name="Google Shape;1229;p61"/>
          <p:cNvSpPr/>
          <p:nvPr/>
        </p:nvSpPr>
        <p:spPr>
          <a:xfrm>
            <a:off x="4818036" y="758875"/>
            <a:ext cx="29835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Required Tailwind work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0" name="Google Shape;1230;p61"/>
          <p:cNvSpPr/>
          <p:nvPr/>
        </p:nvSpPr>
        <p:spPr>
          <a:xfrm>
            <a:off x="4917483" y="1047272"/>
            <a:ext cx="21879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 size or weight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Text color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Padding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Margin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Background color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Border radius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1" name="Google Shape;1231;p61"/>
          <p:cNvSpPr/>
          <p:nvPr/>
        </p:nvSpPr>
        <p:spPr>
          <a:xfrm>
            <a:off x="7055603" y="758875"/>
            <a:ext cx="1392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Do not use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2" name="Google Shape;1232;p61"/>
          <p:cNvSpPr/>
          <p:nvPr/>
        </p:nvSpPr>
        <p:spPr>
          <a:xfrm>
            <a:off x="7155051" y="1047272"/>
            <a:ext cx="19890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Flexbox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Grid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prefixes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Hover or focus variants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JavaScript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7826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0"/>
              <a:buFont typeface="Montserrat"/>
              <a:buChar char="•"/>
            </a:pPr>
            <a:r>
              <a:rPr b="0" i="0" lang="en" sz="1160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Custom configuration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3" name="Google Shape;1233;p61"/>
          <p:cNvSpPr/>
          <p:nvPr/>
        </p:nvSpPr>
        <p:spPr>
          <a:xfrm>
            <a:off x="4818036" y="2648372"/>
            <a:ext cx="14916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50"/>
              <a:buFont typeface="Montserrat"/>
              <a:buNone/>
            </a:pPr>
            <a:r>
              <a:rPr b="1" i="0" lang="en" sz="1450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Submission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4" name="Google Shape;1234;p61"/>
          <p:cNvSpPr/>
          <p:nvPr/>
        </p:nvSpPr>
        <p:spPr>
          <a:xfrm>
            <a:off x="4917483" y="2916880"/>
            <a:ext cx="27846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index.html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67034" lvl="0" marL="257827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Char char="•"/>
            </a:pPr>
            <a:r>
              <a:rPr b="0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One browser screenshot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5" name="Google Shape;1235;p61"/>
          <p:cNvSpPr/>
          <p:nvPr/>
        </p:nvSpPr>
        <p:spPr>
          <a:xfrm>
            <a:off x="4818036" y="3543397"/>
            <a:ext cx="15912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00" lIns="300" spcFirstLastPara="1" rIns="300" wrap="square" tIns="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5"/>
              <a:buFont typeface="Montserrat"/>
              <a:buNone/>
            </a:pPr>
            <a:r>
              <a:rPr b="1" i="0" lang="en" sz="1305" u="none" cap="none" strike="noStrike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Folder name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6" name="Google Shape;1236;p61"/>
          <p:cNvSpPr/>
          <p:nvPr/>
        </p:nvSpPr>
        <p:spPr>
          <a:xfrm>
            <a:off x="4818036" y="3792015"/>
            <a:ext cx="4176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15"/>
              <a:buFont typeface="Consolas"/>
              <a:buNone/>
            </a:pPr>
            <a:r>
              <a:rPr b="1" i="0" lang="en" sz="1015" u="none" cap="none" strike="noStrike">
                <a:solidFill>
                  <a:srgbClr val="222222"/>
                </a:solidFill>
                <a:latin typeface="Consolas"/>
                <a:ea typeface="Consolas"/>
                <a:cs typeface="Consolas"/>
                <a:sym typeface="Consolas"/>
              </a:rPr>
              <a:t>lecture-10-neighborhood-guide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7" name="Google Shape;1237;p61"/>
          <p:cNvSpPr/>
          <p:nvPr/>
        </p:nvSpPr>
        <p:spPr>
          <a:xfrm>
            <a:off x="641242" y="4637317"/>
            <a:ext cx="825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05"/>
              <a:buFont typeface="Montserrat"/>
              <a:buNone/>
            </a:pPr>
            <a:r>
              <a:rPr b="1" i="0" lang="en" sz="1305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Optional extension: Create a second visual treatment for the local notice.</a:t>
            </a:r>
            <a:endParaRPr b="0" i="0" sz="1015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62"/>
          <p:cNvSpPr/>
          <p:nvPr/>
        </p:nvSpPr>
        <p:spPr>
          <a:xfrm>
            <a:off x="342900" y="1028700"/>
            <a:ext cx="8801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994"/>
              <a:buFont typeface="Montserrat"/>
              <a:buNone/>
            </a:pPr>
            <a:r>
              <a:rPr b="1" i="0" lang="en" sz="2994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Next: Tailwind layouts</a:t>
            </a:r>
            <a:endParaRPr b="0" i="0" sz="2994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4" name="Google Shape;1244;p62"/>
          <p:cNvSpPr/>
          <p:nvPr/>
        </p:nvSpPr>
        <p:spPr>
          <a:xfrm>
            <a:off x="342900" y="1566543"/>
            <a:ext cx="8801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54"/>
              <a:buFont typeface="Montserrat"/>
              <a:buNone/>
            </a:pPr>
            <a:r>
              <a:rPr b="0" i="0" lang="en" sz="1854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Arrange page content using Flexbox and Grid utilities.</a:t>
            </a:r>
            <a:endParaRPr b="0" i="0" sz="171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5" name="Google Shape;1245;p62"/>
          <p:cNvSpPr/>
          <p:nvPr/>
        </p:nvSpPr>
        <p:spPr>
          <a:xfrm>
            <a:off x="1076325" y="2153281"/>
            <a:ext cx="2933700" cy="13203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6" name="Google Shape;1246;p62"/>
          <p:cNvSpPr/>
          <p:nvPr/>
        </p:nvSpPr>
        <p:spPr>
          <a:xfrm>
            <a:off x="1076325" y="2153281"/>
            <a:ext cx="2933700" cy="215100"/>
          </a:xfrm>
          <a:prstGeom prst="rect">
            <a:avLst/>
          </a:prstGeom>
          <a:solidFill>
            <a:srgbClr val="F2F4F7"/>
          </a:solidFill>
          <a:ln cap="flat" cmpd="sng" w="181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7" name="Google Shape;1247;p62"/>
          <p:cNvSpPr/>
          <p:nvPr/>
        </p:nvSpPr>
        <p:spPr>
          <a:xfrm>
            <a:off x="1154557" y="2221733"/>
            <a:ext cx="78300" cy="78300"/>
          </a:xfrm>
          <a:prstGeom prst="ellipse">
            <a:avLst/>
          </a:prstGeom>
          <a:solidFill>
            <a:srgbClr val="EF4444"/>
          </a:solidFill>
          <a:ln cap="flat" cmpd="sng" w="1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8" name="Google Shape;1248;p62"/>
          <p:cNvSpPr/>
          <p:nvPr/>
        </p:nvSpPr>
        <p:spPr>
          <a:xfrm>
            <a:off x="1291463" y="2221733"/>
            <a:ext cx="78300" cy="78300"/>
          </a:xfrm>
          <a:prstGeom prst="ellipse">
            <a:avLst/>
          </a:prstGeom>
          <a:solidFill>
            <a:srgbClr val="F59E0B"/>
          </a:solidFill>
          <a:ln cap="flat" cmpd="sng" w="1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9" name="Google Shape;1249;p62"/>
          <p:cNvSpPr/>
          <p:nvPr/>
        </p:nvSpPr>
        <p:spPr>
          <a:xfrm>
            <a:off x="1428369" y="2221733"/>
            <a:ext cx="78300" cy="78300"/>
          </a:xfrm>
          <a:prstGeom prst="ellipse">
            <a:avLst/>
          </a:prstGeom>
          <a:solidFill>
            <a:srgbClr val="22C55E"/>
          </a:solidFill>
          <a:ln cap="flat" cmpd="sng" w="1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0" name="Google Shape;1250;p62"/>
          <p:cNvSpPr/>
          <p:nvPr/>
        </p:nvSpPr>
        <p:spPr>
          <a:xfrm>
            <a:off x="1320800" y="2691123"/>
            <a:ext cx="24447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" lIns="400" spcFirstLastPara="1" rIns="400" wrap="square" tIns="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None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Stacked entries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1" name="Google Shape;1251;p62"/>
          <p:cNvSpPr/>
          <p:nvPr/>
        </p:nvSpPr>
        <p:spPr>
          <a:xfrm>
            <a:off x="5476875" y="2153281"/>
            <a:ext cx="2933700" cy="13203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35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2" name="Google Shape;1252;p62"/>
          <p:cNvSpPr/>
          <p:nvPr/>
        </p:nvSpPr>
        <p:spPr>
          <a:xfrm>
            <a:off x="5476875" y="2153281"/>
            <a:ext cx="2933700" cy="215100"/>
          </a:xfrm>
          <a:prstGeom prst="rect">
            <a:avLst/>
          </a:prstGeom>
          <a:solidFill>
            <a:srgbClr val="F2F4F7"/>
          </a:solidFill>
          <a:ln cap="flat" cmpd="sng" w="18100">
            <a:solidFill>
              <a:srgbClr val="F2F4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3" name="Google Shape;1253;p62"/>
          <p:cNvSpPr/>
          <p:nvPr/>
        </p:nvSpPr>
        <p:spPr>
          <a:xfrm>
            <a:off x="5555107" y="2221733"/>
            <a:ext cx="78300" cy="78300"/>
          </a:xfrm>
          <a:prstGeom prst="ellipse">
            <a:avLst/>
          </a:prstGeom>
          <a:solidFill>
            <a:srgbClr val="EF4444"/>
          </a:solidFill>
          <a:ln cap="flat" cmpd="sng" w="181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62"/>
          <p:cNvSpPr/>
          <p:nvPr/>
        </p:nvSpPr>
        <p:spPr>
          <a:xfrm>
            <a:off x="5692013" y="2221733"/>
            <a:ext cx="78300" cy="78300"/>
          </a:xfrm>
          <a:prstGeom prst="ellipse">
            <a:avLst/>
          </a:prstGeom>
          <a:solidFill>
            <a:srgbClr val="F59E0B"/>
          </a:solidFill>
          <a:ln cap="flat" cmpd="sng" w="181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5" name="Google Shape;1255;p62"/>
          <p:cNvSpPr/>
          <p:nvPr/>
        </p:nvSpPr>
        <p:spPr>
          <a:xfrm>
            <a:off x="5828919" y="2221733"/>
            <a:ext cx="78300" cy="78300"/>
          </a:xfrm>
          <a:prstGeom prst="ellipse">
            <a:avLst/>
          </a:prstGeom>
          <a:solidFill>
            <a:srgbClr val="22C55E"/>
          </a:solidFill>
          <a:ln cap="flat" cmpd="sng" w="181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875" lIns="97775" spcFirstLastPara="1" rIns="97775" wrap="square" tIns="48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6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62"/>
          <p:cNvSpPr/>
          <p:nvPr/>
        </p:nvSpPr>
        <p:spPr>
          <a:xfrm>
            <a:off x="5721350" y="2691123"/>
            <a:ext cx="24447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00" lIns="400" spcFirstLastPara="1" rIns="400" wrap="square" tIns="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None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Layout preview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62"/>
          <p:cNvSpPr/>
          <p:nvPr/>
        </p:nvSpPr>
        <p:spPr>
          <a:xfrm>
            <a:off x="2983230" y="3717914"/>
            <a:ext cx="42051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-253529" lvl="0" marL="253529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Char char="•"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Flexbox utilities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3529" lvl="0" marL="253529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Char char="•"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Grid utilities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3529" lvl="0" marL="253529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Char char="•"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Gaps and alignment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53529" lvl="0" marL="253529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26"/>
              <a:buFont typeface="Montserrat"/>
              <a:buChar char="•"/>
            </a:pPr>
            <a:r>
              <a:rPr b="0" i="0" lang="en" sz="1426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Responsive layout classes</a:t>
            </a:r>
            <a:endParaRPr b="0" i="0" sz="1141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8" name="Google Shape;1258;p62"/>
          <p:cNvSpPr/>
          <p:nvPr/>
        </p:nvSpPr>
        <p:spPr>
          <a:xfrm>
            <a:off x="342900" y="4695817"/>
            <a:ext cx="88011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00" lIns="400" spcFirstLastPara="1" rIns="400" wrap="square" tIns="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711"/>
              <a:buFont typeface="Montserrat"/>
              <a:buNone/>
            </a:pPr>
            <a:r>
              <a:rPr b="1" i="0" lang="en" sz="1711" u="none" cap="none" strike="noStrike">
                <a:solidFill>
                  <a:srgbClr val="222222"/>
                </a:solidFill>
                <a:latin typeface="Montserrat"/>
                <a:ea typeface="Montserrat"/>
                <a:cs typeface="Montserrat"/>
                <a:sym typeface="Montserrat"/>
              </a:rPr>
              <a:t>Any questions?</a:t>
            </a:r>
            <a:endParaRPr b="0" i="0" sz="1569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