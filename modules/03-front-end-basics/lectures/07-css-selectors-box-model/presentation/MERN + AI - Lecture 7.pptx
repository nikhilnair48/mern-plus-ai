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5143500" cx="9144000"/>
  <p:notesSz cx="6858000" cy="9144000"/>
  <p:embeddedFontLst>
    <p:embeddedFont>
      <p:font typeface="Montserrat"/>
      <p:regular r:id="rId46"/>
      <p:bold r:id="rId47"/>
      <p:italic r:id="rId48"/>
      <p:boldItalic r:id="rId49"/>
    </p:embeddedFont>
    <p:embeddedFont>
      <p:font typeface="Montserrat Medium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Montserrat-regular.fntdata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Montserrat-italic.fntdata"/><Relationship Id="rId47" Type="http://schemas.openxmlformats.org/officeDocument/2006/relationships/font" Target="fonts/Montserrat-bold.fntdata"/><Relationship Id="rId49" Type="http://schemas.openxmlformats.org/officeDocument/2006/relationships/font" Target="fonts/Montserrat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MontserratMedium-bold.fntdata"/><Relationship Id="rId50" Type="http://schemas.openxmlformats.org/officeDocument/2006/relationships/font" Target="fonts/MontserratMedium-regular.fntdata"/><Relationship Id="rId53" Type="http://schemas.openxmlformats.org/officeDocument/2006/relationships/font" Target="fonts/MontserratMedium-boldItalic.fntdata"/><Relationship Id="rId52" Type="http://schemas.openxmlformats.org/officeDocument/2006/relationships/font" Target="fonts/MontserratMedium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0b6469c73_2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0b6469c73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0b6469c73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0b6469c73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0b6469c73_2_6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0b6469c73_2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0b6469c73_2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0b6469c73_2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0b6469c73_2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0b6469c73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0b6469c7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0b6469c7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0b6469c73_2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0b6469c73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0b6469c7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0b6469c7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0b6469c73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0b6469c73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0b6469c73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0b6469c73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0b6469c73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f0b6469c73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0b6469c73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0b6469c73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0b6469c73_0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f0b6469c73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0b6469c73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f0b6469c73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0b6469c73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f0b6469c73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0b6469c73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f0b6469c73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0b6469c73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0b6469c73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0b6469c73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f0b6469c73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0b6469c73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f0b6469c73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0b6469c73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f0b6469c73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0b6469c73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f0b6469c7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0b6469c73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f0b6469c73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0b6469c73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f0b6469c73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0b6469c73_0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f0b6469c73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0b6469c73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f0b6469c73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0b6469c73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f0b6469c73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0b6469c73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f0b6469c73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0b6469c73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f0b6469c73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0b6469c73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f0b6469c73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0b6469c73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f0b6469c73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0b6469c73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f0b6469c73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0b6469c73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f0b6469c73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0b6469c73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f0b6469c73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0b6469c73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f0b6469c73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f0b6469c73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f0b6469c73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f0b6469c73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f0b6469c73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0b6469c73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f0b6469c73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f0b6469c73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f0b6469c73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f0b6469c73_2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f0b6469c73_2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2f8fecb86_10_0)">
  <p:cSld name="Generated (g3f2f8fecb86_10_0)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7" name="Google Shape;5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8" name="Google Shape;5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0" name="Google Shape;8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4" name="Google Shape;84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" name="Google Shape;85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9" name="Google Shape;8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2" name="Google Shape;92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hyperlink" Target="https://paulgraham.com/index.html" TargetMode="External"/><Relationship Id="rId5" Type="http://schemas.openxmlformats.org/officeDocument/2006/relationships/image" Target="../media/image4.png"/><Relationship Id="rId6" Type="http://schemas.openxmlformats.org/officeDocument/2006/relationships/hyperlink" Target="https://www.emporiumpies.com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26"/>
          <p:cNvGrpSpPr/>
          <p:nvPr/>
        </p:nvGrpSpPr>
        <p:grpSpPr>
          <a:xfrm>
            <a:off x="311708" y="744575"/>
            <a:ext cx="8520600" cy="2052600"/>
            <a:chOff x="0" y="0"/>
            <a:chExt cx="8520600" cy="2052600"/>
          </a:xfrm>
        </p:grpSpPr>
        <p:sp>
          <p:nvSpPr>
            <p:cNvPr id="101" name="Google Shape;101;p26"/>
            <p:cNvSpPr/>
            <p:nvPr/>
          </p:nvSpPr>
          <p:spPr>
            <a:xfrm>
              <a:off x="0" y="0"/>
              <a:ext cx="8520600" cy="2052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6"/>
            <p:cNvSpPr txBox="1"/>
            <p:nvPr/>
          </p:nvSpPr>
          <p:spPr>
            <a:xfrm>
              <a:off x="0" y="0"/>
              <a:ext cx="8520600" cy="20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00" lIns="91400" spcFirstLastPara="1" rIns="91400" wrap="square" tIns="91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4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Lecture 6: HTML Foundations</a:t>
              </a:r>
              <a:endParaRPr b="0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" name="Google Shape;103;p26"/>
          <p:cNvGrpSpPr/>
          <p:nvPr/>
        </p:nvGrpSpPr>
        <p:grpSpPr>
          <a:xfrm>
            <a:off x="311700" y="2834126"/>
            <a:ext cx="8520600" cy="792600"/>
            <a:chOff x="0" y="0"/>
            <a:chExt cx="8520600" cy="792600"/>
          </a:xfrm>
        </p:grpSpPr>
        <p:sp>
          <p:nvSpPr>
            <p:cNvPr id="104" name="Google Shape;104;p26"/>
            <p:cNvSpPr/>
            <p:nvPr/>
          </p:nvSpPr>
          <p:spPr>
            <a:xfrm>
              <a:off x="0" y="0"/>
              <a:ext cx="8520600" cy="792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6"/>
            <p:cNvSpPr txBox="1"/>
            <p:nvPr/>
          </p:nvSpPr>
          <p:spPr>
            <a:xfrm>
              <a:off x="0" y="0"/>
              <a:ext cx="8520600" cy="7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00" lIns="91400" spcFirstLastPara="1" rIns="91400" wrap="square" tIns="91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Build your first developer profile page.</a:t>
              </a:r>
              <a:endParaRPr b="0" sz="2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" name="Google Shape;106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6"/>
          <p:cNvSpPr txBox="1"/>
          <p:nvPr/>
        </p:nvSpPr>
        <p:spPr>
          <a:xfrm>
            <a:off x="125" y="1386800"/>
            <a:ext cx="91440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Welcome to lecture 7!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27"/>
          <p:cNvGrpSpPr/>
          <p:nvPr/>
        </p:nvGrpSpPr>
        <p:grpSpPr>
          <a:xfrm>
            <a:off x="311700" y="445025"/>
            <a:ext cx="8520600" cy="572700"/>
            <a:chOff x="0" y="0"/>
            <a:chExt cx="8520600" cy="572700"/>
          </a:xfrm>
        </p:grpSpPr>
        <p:sp>
          <p:nvSpPr>
            <p:cNvPr id="114" name="Google Shape;114;p27"/>
            <p:cNvSpPr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7"/>
            <p:cNvSpPr txBox="1"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00" lIns="91400" spcFirstLastPara="1" rIns="91400" wrap="square" tIns="91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80"/>
                <a:t>Today’s Agenda</a:t>
              </a:r>
              <a:endParaRPr b="0" sz="23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27"/>
          <p:cNvGrpSpPr/>
          <p:nvPr/>
        </p:nvGrpSpPr>
        <p:grpSpPr>
          <a:xfrm>
            <a:off x="311700" y="1152477"/>
            <a:ext cx="8520600" cy="3416400"/>
            <a:chOff x="0" y="0"/>
            <a:chExt cx="8520600" cy="3416400"/>
          </a:xfrm>
        </p:grpSpPr>
        <p:sp>
          <p:nvSpPr>
            <p:cNvPr id="117" name="Google Shape;117;p27"/>
            <p:cNvSpPr/>
            <p:nvPr/>
          </p:nvSpPr>
          <p:spPr>
            <a:xfrm>
              <a:off x="0" y="0"/>
              <a:ext cx="8520600" cy="341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7"/>
            <p:cNvSpPr txBox="1"/>
            <p:nvPr/>
          </p:nvSpPr>
          <p:spPr>
            <a:xfrm>
              <a:off x="0" y="0"/>
              <a:ext cx="8520600" cy="341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00" lIns="228600" spcFirstLastPara="1" rIns="91400" wrap="square" tIns="91400">
              <a:noAutofit/>
            </a:bodyPr>
            <a:lstStyle/>
            <a:p>
              <a:pPr indent="0" lvl="0" marL="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Session Objectives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0" marL="4572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Complete: </a:t>
              </a: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Semantic</a:t>
              </a: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HTML &amp; Forms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0" marL="4572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Review</a:t>
              </a: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HTML fundamentals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0" marL="4572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Introduction to CSS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1" marL="9144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○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Introduction to CSS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1" marL="9144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○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CSS Selectors (Class vs ID)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1" marL="9144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○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display Property: inline, block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1" marL="9144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○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Intro to Pseudo-classes (link, visited, hover, active)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0" marL="4572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Q&amp;A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0" marL="4572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Homework (due next Saturday)</a:t>
              </a:r>
              <a:endParaRPr sz="180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28"/>
          <p:cNvGrpSpPr/>
          <p:nvPr/>
        </p:nvGrpSpPr>
        <p:grpSpPr>
          <a:xfrm>
            <a:off x="311700" y="445025"/>
            <a:ext cx="8520600" cy="572700"/>
            <a:chOff x="0" y="0"/>
            <a:chExt cx="8520600" cy="572700"/>
          </a:xfrm>
        </p:grpSpPr>
        <p:sp>
          <p:nvSpPr>
            <p:cNvPr id="124" name="Google Shape;124;p28"/>
            <p:cNvSpPr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8"/>
            <p:cNvSpPr txBox="1"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00" lIns="91400" spcFirstLastPara="1" rIns="91400" wrap="square" tIns="91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80"/>
                <a:t>Question 1</a:t>
              </a:r>
              <a:endParaRPr b="0" sz="23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Google Shape;126;p28"/>
          <p:cNvSpPr/>
          <p:nvPr/>
        </p:nvSpPr>
        <p:spPr>
          <a:xfrm>
            <a:off x="311700" y="1152476"/>
            <a:ext cx="8520600" cy="2255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8"/>
          <p:cNvSpPr txBox="1"/>
          <p:nvPr/>
        </p:nvSpPr>
        <p:spPr>
          <a:xfrm>
            <a:off x="408350" y="1076925"/>
            <a:ext cx="5532300" cy="31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This HTML works, but the structure can be improved. Which improvement is best?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A. Replace the first div with header, wrap the links inside nav, and replace the last div with footer.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B. Replace every div with span because span is more modern.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C. Remove the h1 and use only paragraphs so the page looks simpler.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8" name="Google Shape;128;p28"/>
          <p:cNvSpPr txBox="1"/>
          <p:nvPr/>
        </p:nvSpPr>
        <p:spPr>
          <a:xfrm>
            <a:off x="6077092" y="856150"/>
            <a:ext cx="2835900" cy="3990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rgbClr val="000000"/>
                </a:highlight>
              </a:rPr>
              <a:t>body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rgbClr val="0000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rgbClr val="000000"/>
                </a:highlight>
              </a:rPr>
              <a:t>  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rgbClr val="000000"/>
                </a:highlight>
              </a:rPr>
              <a:t>div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rgbClr val="0000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rgbClr val="000000"/>
                </a:highlight>
              </a:rPr>
              <a:t>    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rgbClr val="000000"/>
                </a:highlight>
              </a:rPr>
              <a:t>h1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rgbClr val="000000"/>
                </a:highlight>
              </a:rPr>
              <a:t>My Course Profile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rgbClr val="000000"/>
                </a:highlight>
              </a:rPr>
              <a:t>h1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rgbClr val="0000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rgbClr val="000000"/>
                </a:highlight>
              </a:rPr>
              <a:t>    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rgbClr val="000000"/>
                </a:highlight>
              </a:rPr>
              <a:t>p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rgbClr val="000000"/>
                </a:highlight>
              </a:rPr>
              <a:t>I am learning full-stack development</a:t>
            </a:r>
            <a:r>
              <a:rPr lang="en" sz="1100">
                <a:solidFill>
                  <a:srgbClr val="00A800"/>
                </a:solidFill>
                <a:highlight>
                  <a:srgbClr val="000000"/>
                </a:highlight>
              </a:rPr>
              <a:t>.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rgbClr val="000000"/>
                </a:highlight>
              </a:rPr>
              <a:t>p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rgbClr val="0000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rgbClr val="000000"/>
                </a:highlight>
              </a:rPr>
              <a:t>  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rgbClr val="000000"/>
                </a:highlight>
              </a:rPr>
              <a:t>div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rgbClr val="0000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1D1D1"/>
              </a:solidFill>
              <a:highlight>
                <a:srgbClr val="0000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rgbClr val="000000"/>
                </a:highlight>
              </a:rPr>
              <a:t>  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rgbClr val="000000"/>
                </a:highlight>
              </a:rPr>
              <a:t>div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rgbClr val="0000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rgbClr val="000000"/>
                </a:highlight>
              </a:rPr>
              <a:t>    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rgbClr val="000000"/>
                </a:highlight>
              </a:rPr>
              <a:t>h2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rgbClr val="000000"/>
                </a:highlight>
              </a:rPr>
              <a:t>Useful Links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rgbClr val="000000"/>
                </a:highlight>
              </a:rPr>
              <a:t>h2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rgbClr val="0000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rgbClr val="000000"/>
                </a:highlight>
              </a:rPr>
              <a:t>    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rgbClr val="000000"/>
                </a:highlight>
              </a:rPr>
              <a:t>a</a:t>
            </a:r>
            <a:r>
              <a:rPr lang="en" sz="1100">
                <a:solidFill>
                  <a:srgbClr val="D1D1D1"/>
                </a:solidFill>
                <a:highlight>
                  <a:srgbClr val="000000"/>
                </a:highlight>
              </a:rPr>
              <a:t> href</a:t>
            </a:r>
            <a:r>
              <a:rPr lang="en" sz="1100">
                <a:solidFill>
                  <a:srgbClr val="D2CD86"/>
                </a:solidFill>
                <a:highlight>
                  <a:srgbClr val="000000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rgbClr val="000000"/>
                </a:highlight>
              </a:rPr>
              <a:t>"https://developer.mozilla.org"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rgbClr val="000000"/>
                </a:highlight>
              </a:rPr>
              <a:t>MDN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rgbClr val="000000"/>
                </a:highlight>
              </a:rPr>
              <a:t>a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rgbClr val="0000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rgbClr val="000000"/>
                </a:highlight>
              </a:rPr>
              <a:t>    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rgbClr val="000000"/>
                </a:highlight>
              </a:rPr>
              <a:t>a</a:t>
            </a:r>
            <a:r>
              <a:rPr lang="en" sz="1100">
                <a:solidFill>
                  <a:srgbClr val="D1D1D1"/>
                </a:solidFill>
                <a:highlight>
                  <a:srgbClr val="000000"/>
                </a:highlight>
              </a:rPr>
              <a:t> href</a:t>
            </a:r>
            <a:r>
              <a:rPr lang="en" sz="1100">
                <a:solidFill>
                  <a:srgbClr val="D2CD86"/>
                </a:solidFill>
                <a:highlight>
                  <a:srgbClr val="000000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rgbClr val="000000"/>
                </a:highlight>
              </a:rPr>
              <a:t>"https://github.com"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rgbClr val="000000"/>
                </a:highlight>
              </a:rPr>
              <a:t>GitHub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rgbClr val="000000"/>
                </a:highlight>
              </a:rPr>
              <a:t>a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rgbClr val="0000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rgbClr val="000000"/>
                </a:highlight>
              </a:rPr>
              <a:t>  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rgbClr val="000000"/>
                </a:highlight>
              </a:rPr>
              <a:t>div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rgbClr val="0000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1D1D1"/>
              </a:solidFill>
              <a:highlight>
                <a:srgbClr val="0000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rgbClr val="000000"/>
                </a:highlight>
              </a:rPr>
              <a:t>  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rgbClr val="000000"/>
                </a:highlight>
              </a:rPr>
              <a:t>div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rgbClr val="0000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rgbClr val="000000"/>
                </a:highlight>
              </a:rPr>
              <a:t>    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rgbClr val="000000"/>
                </a:highlight>
              </a:rPr>
              <a:t>p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rgbClr val="000000"/>
                </a:highlight>
              </a:rPr>
              <a:t>Created by me</a:t>
            </a:r>
            <a:r>
              <a:rPr lang="en" sz="1100">
                <a:solidFill>
                  <a:srgbClr val="00A800"/>
                </a:solidFill>
                <a:highlight>
                  <a:srgbClr val="000000"/>
                </a:highlight>
              </a:rPr>
              <a:t>.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rgbClr val="000000"/>
                </a:highlight>
              </a:rPr>
              <a:t>p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rgbClr val="0000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rgbClr val="000000"/>
                </a:highlight>
              </a:rPr>
              <a:t>  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rgbClr val="000000"/>
                </a:highlight>
              </a:rPr>
              <a:t>div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rgbClr val="0000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rgbClr val="000000"/>
                </a:highlight>
              </a:rPr>
              <a:t>body</a:t>
            </a:r>
            <a:r>
              <a:rPr lang="en" sz="1100">
                <a:solidFill>
                  <a:srgbClr val="FF8906"/>
                </a:solidFill>
                <a:highlight>
                  <a:srgbClr val="000000"/>
                </a:highlight>
              </a:rPr>
              <a:t>&gt;</a:t>
            </a:r>
            <a:endParaRPr sz="1100">
              <a:solidFill>
                <a:srgbClr val="FF8906"/>
              </a:solidFill>
              <a:highlight>
                <a:srgbClr val="0000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4A43"/>
              </a:solidFill>
              <a:highlight>
                <a:srgbClr val="001800"/>
              </a:highlight>
            </a:endParaRPr>
          </a:p>
        </p:txBody>
      </p:sp>
      <p:sp>
        <p:nvSpPr>
          <p:cNvPr id="129" name="Google Shape;129;p28"/>
          <p:cNvSpPr txBox="1"/>
          <p:nvPr/>
        </p:nvSpPr>
        <p:spPr>
          <a:xfrm>
            <a:off x="408350" y="4586100"/>
            <a:ext cx="3245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Answer: A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/>
        </p:nvSpPr>
        <p:spPr>
          <a:xfrm>
            <a:off x="408350" y="1076925"/>
            <a:ext cx="8424000" cy="3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You are creating a workshop registration form. The learner should: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enter their name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choose one preferred session time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select multiple topics they are interested in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write a short question for the instructor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Which form structure fits best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A. text input, checkboxes, radio buttons, input type="password"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B. text input, radio buttons, checkboxes, textarea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C. textarea, select, input type="email", button</a:t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135" name="Google Shape;135;p29"/>
          <p:cNvGrpSpPr/>
          <p:nvPr/>
        </p:nvGrpSpPr>
        <p:grpSpPr>
          <a:xfrm>
            <a:off x="311700" y="445025"/>
            <a:ext cx="8520600" cy="572700"/>
            <a:chOff x="0" y="0"/>
            <a:chExt cx="8520600" cy="572700"/>
          </a:xfrm>
        </p:grpSpPr>
        <p:sp>
          <p:nvSpPr>
            <p:cNvPr id="136" name="Google Shape;136;p29"/>
            <p:cNvSpPr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9"/>
            <p:cNvSpPr txBox="1"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00" lIns="91400" spcFirstLastPara="1" rIns="91400" wrap="square" tIns="91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80"/>
                <a:t>Question 2</a:t>
              </a:r>
              <a:endParaRPr b="0" sz="23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" name="Google Shape;138;p29"/>
          <p:cNvSpPr txBox="1"/>
          <p:nvPr/>
        </p:nvSpPr>
        <p:spPr>
          <a:xfrm>
            <a:off x="408350" y="4586100"/>
            <a:ext cx="3245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Answer: B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30"/>
          <p:cNvGrpSpPr/>
          <p:nvPr/>
        </p:nvGrpSpPr>
        <p:grpSpPr>
          <a:xfrm>
            <a:off x="311700" y="445025"/>
            <a:ext cx="8520600" cy="572700"/>
            <a:chOff x="0" y="0"/>
            <a:chExt cx="8520600" cy="572700"/>
          </a:xfrm>
        </p:grpSpPr>
        <p:sp>
          <p:nvSpPr>
            <p:cNvPr id="144" name="Google Shape;144;p30"/>
            <p:cNvSpPr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0"/>
            <p:cNvSpPr txBox="1"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00" lIns="91400" spcFirstLastPara="1" rIns="91400" wrap="square" tIns="91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80"/>
                <a:t>Question 3</a:t>
              </a:r>
              <a:endParaRPr b="0" sz="23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" name="Google Shape;146;p30"/>
          <p:cNvSpPr/>
          <p:nvPr/>
        </p:nvSpPr>
        <p:spPr>
          <a:xfrm>
            <a:off x="311700" y="1152476"/>
            <a:ext cx="8520600" cy="2255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0"/>
          <p:cNvSpPr txBox="1"/>
          <p:nvPr/>
        </p:nvSpPr>
        <p:spPr>
          <a:xfrm>
            <a:off x="408350" y="1076925"/>
            <a:ext cx="5504100" cy="25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Complete the missing parts so the image, link, and form label work correctly. Which option correctly fills the blanks?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A. href, title, src, id, for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B. src, alt, href, for, id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C. src, name, href, id, for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48" name="Google Shape;148;p30"/>
          <p:cNvSpPr txBox="1"/>
          <p:nvPr/>
        </p:nvSpPr>
        <p:spPr>
          <a:xfrm>
            <a:off x="6105325" y="1017725"/>
            <a:ext cx="2835900" cy="3856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section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h2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My Profile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h2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img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___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"profile.jpg"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___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"A profile photo"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  Visit my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___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"https://github.com"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GitHub profile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form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label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___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"learner-email"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Email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label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input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type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"email"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___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"learner-email"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name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"email"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form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section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FF8906"/>
              </a:solidFill>
              <a:highlight>
                <a:srgbClr val="000000"/>
              </a:highlight>
            </a:endParaRPr>
          </a:p>
        </p:txBody>
      </p:sp>
      <p:sp>
        <p:nvSpPr>
          <p:cNvPr id="149" name="Google Shape;149;p30"/>
          <p:cNvSpPr txBox="1"/>
          <p:nvPr/>
        </p:nvSpPr>
        <p:spPr>
          <a:xfrm>
            <a:off x="408350" y="4586100"/>
            <a:ext cx="3245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Answer: B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31"/>
          <p:cNvGrpSpPr/>
          <p:nvPr/>
        </p:nvGrpSpPr>
        <p:grpSpPr>
          <a:xfrm>
            <a:off x="311700" y="445025"/>
            <a:ext cx="8520600" cy="572700"/>
            <a:chOff x="0" y="0"/>
            <a:chExt cx="8520600" cy="572700"/>
          </a:xfrm>
        </p:grpSpPr>
        <p:sp>
          <p:nvSpPr>
            <p:cNvPr id="155" name="Google Shape;155;p31"/>
            <p:cNvSpPr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31"/>
            <p:cNvSpPr txBox="1"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00" lIns="91400" spcFirstLastPara="1" rIns="91400" wrap="square" tIns="91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80"/>
                <a:t>Question 4</a:t>
              </a:r>
              <a:endParaRPr b="0" sz="23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" name="Google Shape;157;p31"/>
          <p:cNvSpPr txBox="1"/>
          <p:nvPr/>
        </p:nvSpPr>
        <p:spPr>
          <a:xfrm>
            <a:off x="408350" y="1076925"/>
            <a:ext cx="67038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Both snippets create a blog preview section. Which one is better structured?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A)									B)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8" name="Google Shape;158;p31"/>
          <p:cNvSpPr txBox="1"/>
          <p:nvPr/>
        </p:nvSpPr>
        <p:spPr>
          <a:xfrm>
            <a:off x="845775" y="1963175"/>
            <a:ext cx="3175500" cy="2389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section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h2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Latest Blog Post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h2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article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h3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Why HTML Structure Matters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h3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HTML helps browsers and developers understand page content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.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href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"blog.html"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Read more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article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section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FF8906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8906"/>
              </a:solidFill>
              <a:highlight>
                <a:schemeClr val="dk1"/>
              </a:highlight>
            </a:endParaRPr>
          </a:p>
        </p:txBody>
      </p:sp>
      <p:sp>
        <p:nvSpPr>
          <p:cNvPr id="159" name="Google Shape;159;p31"/>
          <p:cNvSpPr txBox="1"/>
          <p:nvPr/>
        </p:nvSpPr>
        <p:spPr>
          <a:xfrm>
            <a:off x="4994450" y="1921850"/>
            <a:ext cx="3091800" cy="2389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article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h2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Latest Blog Post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h2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section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h3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Why HTML Structure Matters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h3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HTML helps browsers and developers understand page content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.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href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"blog.html"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Read more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section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article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FF8906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8906"/>
              </a:solidFill>
              <a:highlight>
                <a:schemeClr val="dk1"/>
              </a:highlight>
            </a:endParaRPr>
          </a:p>
        </p:txBody>
      </p:sp>
      <p:sp>
        <p:nvSpPr>
          <p:cNvPr id="160" name="Google Shape;160;p31"/>
          <p:cNvSpPr txBox="1"/>
          <p:nvPr/>
        </p:nvSpPr>
        <p:spPr>
          <a:xfrm>
            <a:off x="408350" y="4549699"/>
            <a:ext cx="737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Answer: A. </a:t>
            </a:r>
            <a:r>
              <a:rPr lang="en" sz="1200">
                <a:solidFill>
                  <a:schemeClr val="dk1"/>
                </a:solidFill>
              </a:rPr>
              <a:t>Why? because the page section groups the “Latest Blog Post” area, and the individual blog preview can be treated as an article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/>
          <p:nvPr/>
        </p:nvSpPr>
        <p:spPr>
          <a:xfrm>
            <a:off x="0" y="2301000"/>
            <a:ext cx="9144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80">
                <a:solidFill>
                  <a:schemeClr val="dk1"/>
                </a:solidFill>
              </a:rPr>
              <a:t>Introduction to CSS</a:t>
            </a:r>
            <a:endParaRPr sz="238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3"/>
          <p:cNvSpPr txBox="1"/>
          <p:nvPr>
            <p:ph type="title"/>
          </p:nvPr>
        </p:nvSpPr>
        <p:spPr>
          <a:xfrm>
            <a:off x="2355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>
                <a:latin typeface="Montserrat"/>
                <a:ea typeface="Montserrat"/>
                <a:cs typeface="Montserrat"/>
                <a:sym typeface="Montserrat"/>
              </a:rPr>
              <a:t>What </a:t>
            </a:r>
            <a:r>
              <a:rPr b="1" lang="en" sz="2720">
                <a:latin typeface="Montserrat"/>
                <a:ea typeface="Montserrat"/>
                <a:cs typeface="Montserrat"/>
                <a:sym typeface="Montserrat"/>
              </a:rPr>
              <a:t>differences do you see in the in design?</a:t>
            </a:r>
            <a:endParaRPr b="1" sz="272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1" name="Google Shape;17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2100"/>
            <a:ext cx="2946701" cy="345899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3"/>
          <p:cNvSpPr txBox="1"/>
          <p:nvPr>
            <p:ph type="title"/>
          </p:nvPr>
        </p:nvSpPr>
        <p:spPr>
          <a:xfrm>
            <a:off x="866850" y="1135200"/>
            <a:ext cx="1263000" cy="3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Website 1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3" name="Google Shape;173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58137" y="1532100"/>
            <a:ext cx="5133460" cy="306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3"/>
          <p:cNvSpPr txBox="1"/>
          <p:nvPr>
            <p:ph type="title"/>
          </p:nvPr>
        </p:nvSpPr>
        <p:spPr>
          <a:xfrm>
            <a:off x="5793363" y="1076463"/>
            <a:ext cx="1263000" cy="3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Website 2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4"/>
          <p:cNvSpPr txBox="1"/>
          <p:nvPr>
            <p:ph idx="1" type="body"/>
          </p:nvPr>
        </p:nvSpPr>
        <p:spPr>
          <a:xfrm>
            <a:off x="195825" y="941525"/>
            <a:ext cx="8636400" cy="3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is CSS?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Cascading Style Sheets.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stylesheet language used to describe the presentation of a document written in a markup language like HTML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Controls how HTML elements are displayed on screen, paper, or in other media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Defines the visual style of a webpage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Colors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change backgrounds, text, borders, and more.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Fonts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choose from a variety of fonts to enhance readability and aesthetics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Layout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control how elements are positioned and arranged on the page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Spacing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adjust margins and padding to create visual harmony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i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And much more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animations, transitions, responsiveness, etc.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Painting a webpage with CSS!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Why Use CSS?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35"/>
          <p:cNvSpPr txBox="1"/>
          <p:nvPr>
            <p:ph idx="1" type="body"/>
          </p:nvPr>
        </p:nvSpPr>
        <p:spPr>
          <a:xfrm>
            <a:off x="195825" y="941525"/>
            <a:ext cx="8811600" cy="35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Clean Code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Separates design from HTML structure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Easy Updates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Changing the theme of a website can be done by changing the CSS files </a:t>
            </a:r>
            <a:r>
              <a:rPr i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only</a:t>
            </a:r>
            <a:endParaRPr i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Consistent Look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Styles for headers, paragraphs and other elements for all HTML pages can be centrally defined</a:t>
            </a:r>
            <a:endParaRPr sz="13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Faster Loading: smaller file sizes and browser caching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 load a website, the browser needs to fetch the HTML/CSS files from a server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Large HTML/CSS files can impact website load times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Responsiveness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From a smartphone to a smart TV, adapts to different screen sizes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Good for Everyone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Well-structured CSS helps users with disabilities navigate and understand your content more easily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6"/>
          <p:cNvSpPr txBox="1"/>
          <p:nvPr>
            <p:ph idx="1" type="body"/>
          </p:nvPr>
        </p:nvSpPr>
        <p:spPr>
          <a:xfrm>
            <a:off x="195825" y="941525"/>
            <a:ext cx="8636400" cy="1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Every HTML element on a webpage is treated as a rectangular box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CSS Box Model defines how these rectangular boxes are structured and how they interact with each other on the page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Understanding the Box Model is crucial for controlling the layout and visual appearance of your webpages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What is the CSS Box Model?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3" name="Google Shape;19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2225" y="2621225"/>
            <a:ext cx="3223597" cy="2217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The Anatomy of a Box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37"/>
          <p:cNvSpPr txBox="1"/>
          <p:nvPr>
            <p:ph idx="1" type="body"/>
          </p:nvPr>
        </p:nvSpPr>
        <p:spPr>
          <a:xfrm>
            <a:off x="195825" y="941525"/>
            <a:ext cx="8520600" cy="388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Content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innermost part of the box, where the actual content (text, images, etc.) resides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Padding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space around the content, inside the element's border. It creates a visual buffer between the content and the border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Border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line that surrounds the padding and the content. It defines the edge of the element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Margin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space outside the border, separating the element from other elements on the page. It creates visual space between neighboring elements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8"/>
          <p:cNvSpPr txBox="1"/>
          <p:nvPr/>
        </p:nvSpPr>
        <p:spPr>
          <a:xfrm>
            <a:off x="0" y="2301000"/>
            <a:ext cx="9144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80">
                <a:solidFill>
                  <a:schemeClr val="dk1"/>
                </a:solidFill>
              </a:rPr>
              <a:t>CSS Selectors</a:t>
            </a:r>
            <a:endParaRPr sz="238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9"/>
          <p:cNvSpPr txBox="1"/>
          <p:nvPr/>
        </p:nvSpPr>
        <p:spPr>
          <a:xfrm>
            <a:off x="0" y="2301000"/>
            <a:ext cx="9144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80">
                <a:solidFill>
                  <a:schemeClr val="dk1"/>
                </a:solidFill>
              </a:rPr>
              <a:t>CSS Selectors</a:t>
            </a:r>
            <a:endParaRPr sz="238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0"/>
          <p:cNvSpPr txBox="1"/>
          <p:nvPr>
            <p:ph idx="1" type="body"/>
          </p:nvPr>
        </p:nvSpPr>
        <p:spPr>
          <a:xfrm>
            <a:off x="195825" y="941525"/>
            <a:ext cx="8636400" cy="3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are selectors?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Patterns used to select the HTML elements you want to style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They act as a bridge between your CSS rules and the HTML elements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Different types of selectors target elements with varying degrees of precision. Include: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u="sng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Basic selectors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</a:t>
            </a:r>
            <a:r>
              <a:rPr lang="en" sz="1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Select elements by their name, class, ID, or universally (all elements)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u="sng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Combinators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</a:t>
            </a:r>
            <a:r>
              <a:rPr lang="en" sz="1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Refine selections based on hierarchical or sibling relationships in the DOM</a:t>
            </a:r>
            <a:endParaRPr sz="13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u="sng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Attribute Selectors:</a:t>
            </a:r>
            <a:r>
              <a:rPr lang="en" sz="1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Select elements by the presence or value (exact or partial) of their attributes</a:t>
            </a:r>
            <a:endParaRPr u="sng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u="sng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Pseudo-class Selectors:</a:t>
            </a:r>
            <a:r>
              <a:rPr lang="en" sz="1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Select elements by the presence or value (exact or partial) of their attributes</a:t>
            </a:r>
            <a:endParaRPr u="sng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u="sng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Pseudo-element Selectors:</a:t>
            </a:r>
            <a:r>
              <a:rPr lang="en" sz="1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Style generated content or specific parts of elements (e.g., ::before, ::first-letter)</a:t>
            </a:r>
            <a:endParaRPr u="sng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5" name="Google Shape;21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Introduction to CSS Selectors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1"/>
          <p:cNvSpPr txBox="1"/>
          <p:nvPr>
            <p:ph idx="1" type="body"/>
          </p:nvPr>
        </p:nvSpPr>
        <p:spPr>
          <a:xfrm>
            <a:off x="195825" y="941525"/>
            <a:ext cx="8636400" cy="39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are basic selectors?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foundation of CSS element targeting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Types of basic selectors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Element (Tag) Name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Targets all HTML elements of a specific type (e.g., p, h1).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Class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Targets elements with a specific class attribute.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ID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Targets a single, unique element with a specific id attribute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Universal Selectors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Targets all elements in an HTML page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Basic Selectors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2"/>
          <p:cNvSpPr txBox="1"/>
          <p:nvPr>
            <p:ph idx="1" type="body"/>
          </p:nvPr>
        </p:nvSpPr>
        <p:spPr>
          <a:xfrm>
            <a:off x="195825" y="941525"/>
            <a:ext cx="5622300" cy="16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Targets all HTML elements of a specific type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basic selector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Syntax: elementname (e.g., p, h1, div) { … }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Targets all HTML elements of a specific type.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Example: p { color: blue; }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Will turn all paragraph text to blue color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7" name="Google Shape;227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Basic Selectors: Tag based selector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42"/>
          <p:cNvSpPr txBox="1"/>
          <p:nvPr>
            <p:ph idx="1" type="body"/>
          </p:nvPr>
        </p:nvSpPr>
        <p:spPr>
          <a:xfrm>
            <a:off x="692700" y="2980500"/>
            <a:ext cx="2751600" cy="20712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4A43"/>
                </a:solidFill>
              </a:rPr>
              <a:t>&lt;!DOCTYPE html&gt;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html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head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link</a:t>
            </a:r>
            <a:r>
              <a:rPr lang="en" sz="1000">
                <a:solidFill>
                  <a:srgbClr val="477766"/>
                </a:solidFill>
              </a:rPr>
              <a:t> rel</a:t>
            </a:r>
            <a:r>
              <a:rPr lang="en" sz="1000">
                <a:solidFill>
                  <a:srgbClr val="808030"/>
                </a:solidFill>
              </a:rPr>
              <a:t>=</a:t>
            </a:r>
            <a:r>
              <a:rPr lang="en" sz="1000">
                <a:solidFill>
                  <a:srgbClr val="CC5555"/>
                </a:solidFill>
              </a:rPr>
              <a:t>"stylesheet"</a:t>
            </a:r>
            <a:r>
              <a:rPr lang="en" sz="1000">
                <a:solidFill>
                  <a:srgbClr val="477766"/>
                </a:solidFill>
              </a:rPr>
              <a:t> href</a:t>
            </a:r>
            <a:r>
              <a:rPr lang="en" sz="1000">
                <a:solidFill>
                  <a:srgbClr val="808030"/>
                </a:solidFill>
              </a:rPr>
              <a:t>=</a:t>
            </a:r>
            <a:r>
              <a:rPr lang="en" sz="1000">
                <a:solidFill>
                  <a:srgbClr val="CC5555"/>
                </a:solidFill>
              </a:rPr>
              <a:t>"styles.css"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head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body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h1</a:t>
            </a:r>
            <a:r>
              <a:rPr lang="en" sz="1000">
                <a:solidFill>
                  <a:srgbClr val="865700"/>
                </a:solidFill>
              </a:rPr>
              <a:t>&gt;</a:t>
            </a:r>
            <a:r>
              <a:rPr lang="en" sz="1000">
                <a:solidFill>
                  <a:srgbClr val="55CC66"/>
                </a:solidFill>
              </a:rPr>
              <a:t>Welcome</a:t>
            </a: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h1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p</a:t>
            </a:r>
            <a:r>
              <a:rPr lang="en" sz="1000">
                <a:solidFill>
                  <a:srgbClr val="865700"/>
                </a:solidFill>
              </a:rPr>
              <a:t>&gt;</a:t>
            </a:r>
            <a:r>
              <a:rPr lang="en" sz="1000">
                <a:solidFill>
                  <a:srgbClr val="55CC66"/>
                </a:solidFill>
              </a:rPr>
              <a:t>This is the first paragraph</a:t>
            </a:r>
            <a:r>
              <a:rPr lang="en" sz="1000">
                <a:solidFill>
                  <a:srgbClr val="778C77"/>
                </a:solidFill>
              </a:rPr>
              <a:t>.</a:t>
            </a: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p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p</a:t>
            </a:r>
            <a:r>
              <a:rPr lang="en" sz="1000">
                <a:solidFill>
                  <a:srgbClr val="865700"/>
                </a:solidFill>
              </a:rPr>
              <a:t>&gt;</a:t>
            </a:r>
            <a:r>
              <a:rPr lang="en" sz="1000">
                <a:solidFill>
                  <a:srgbClr val="55CC66"/>
                </a:solidFill>
              </a:rPr>
              <a:t>This is the second paragraph</a:t>
            </a:r>
            <a:r>
              <a:rPr lang="en" sz="1000">
                <a:solidFill>
                  <a:srgbClr val="778C77"/>
                </a:solidFill>
              </a:rPr>
              <a:t>.</a:t>
            </a: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p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body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html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004A43"/>
              </a:solidFill>
            </a:endParaRPr>
          </a:p>
        </p:txBody>
      </p:sp>
      <p:sp>
        <p:nvSpPr>
          <p:cNvPr id="229" name="Google Shape;229;p42"/>
          <p:cNvSpPr txBox="1"/>
          <p:nvPr>
            <p:ph idx="1" type="body"/>
          </p:nvPr>
        </p:nvSpPr>
        <p:spPr>
          <a:xfrm>
            <a:off x="3555750" y="3417600"/>
            <a:ext cx="1522500" cy="16341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508050"/>
                </a:solidFill>
              </a:rPr>
              <a:t>h1</a:t>
            </a:r>
            <a:r>
              <a:rPr lang="en" sz="1100">
                <a:solidFill>
                  <a:srgbClr val="55CC66"/>
                </a:solidFill>
              </a:rPr>
              <a:t> </a:t>
            </a:r>
            <a:r>
              <a:rPr lang="en" sz="1100">
                <a:solidFill>
                  <a:srgbClr val="800080"/>
                </a:solidFill>
              </a:rPr>
              <a:t>{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b="1" lang="en" sz="1100">
                <a:solidFill>
                  <a:srgbClr val="BB7977"/>
                </a:solidFill>
              </a:rPr>
              <a:t>color</a:t>
            </a:r>
            <a:r>
              <a:rPr lang="en" sz="1100">
                <a:solidFill>
                  <a:srgbClr val="808030"/>
                </a:solidFill>
              </a:rPr>
              <a:t>:</a:t>
            </a:r>
            <a:r>
              <a:rPr lang="en" sz="1100">
                <a:solidFill>
                  <a:srgbClr val="55CC66"/>
                </a:solidFill>
              </a:rPr>
              <a:t> green</a:t>
            </a:r>
            <a:r>
              <a:rPr lang="en" sz="1100">
                <a:solidFill>
                  <a:srgbClr val="800080"/>
                </a:solidFill>
              </a:rPr>
              <a:t>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b="1" lang="en" sz="1100">
                <a:solidFill>
                  <a:srgbClr val="BB7977"/>
                </a:solidFill>
              </a:rPr>
              <a:t>text-align</a:t>
            </a:r>
            <a:r>
              <a:rPr lang="en" sz="1100">
                <a:solidFill>
                  <a:srgbClr val="808030"/>
                </a:solidFill>
              </a:rPr>
              <a:t>:</a:t>
            </a:r>
            <a:r>
              <a:rPr lang="en" sz="1100">
                <a:solidFill>
                  <a:srgbClr val="55CC66"/>
                </a:solidFill>
              </a:rPr>
              <a:t> </a:t>
            </a:r>
            <a:r>
              <a:rPr lang="en" sz="1100">
                <a:solidFill>
                  <a:srgbClr val="477766"/>
                </a:solidFill>
              </a:rPr>
              <a:t>center</a:t>
            </a:r>
            <a:r>
              <a:rPr lang="en" sz="1100">
                <a:solidFill>
                  <a:srgbClr val="800080"/>
                </a:solidFill>
              </a:rPr>
              <a:t>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00080"/>
                </a:solidFill>
              </a:rPr>
              <a:t>}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55CC66"/>
                </a:solidFill>
              </a:rPr>
              <a:t> </a:t>
            </a:r>
            <a:r>
              <a:rPr lang="en" sz="1100">
                <a:solidFill>
                  <a:srgbClr val="800080"/>
                </a:solidFill>
              </a:rPr>
              <a:t>{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b="1" lang="en" sz="1100">
                <a:solidFill>
                  <a:srgbClr val="BB7977"/>
                </a:solidFill>
              </a:rPr>
              <a:t>color</a:t>
            </a:r>
            <a:r>
              <a:rPr lang="en" sz="1100">
                <a:solidFill>
                  <a:srgbClr val="808030"/>
                </a:solidFill>
              </a:rPr>
              <a:t>:</a:t>
            </a:r>
            <a:r>
              <a:rPr lang="en" sz="1100">
                <a:solidFill>
                  <a:srgbClr val="55CC66"/>
                </a:solidFill>
              </a:rPr>
              <a:t> blue</a:t>
            </a:r>
            <a:r>
              <a:rPr lang="en" sz="1100">
                <a:solidFill>
                  <a:srgbClr val="800080"/>
                </a:solidFill>
              </a:rPr>
              <a:t>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00080"/>
                </a:solidFill>
              </a:rPr>
              <a:t>}</a:t>
            </a:r>
            <a:endParaRPr sz="1100">
              <a:solidFill>
                <a:srgbClr val="55CC66"/>
              </a:solidFill>
            </a:endParaRPr>
          </a:p>
        </p:txBody>
      </p:sp>
      <p:sp>
        <p:nvSpPr>
          <p:cNvPr id="230" name="Google Shape;230;p42"/>
          <p:cNvSpPr txBox="1"/>
          <p:nvPr>
            <p:ph idx="1" type="body"/>
          </p:nvPr>
        </p:nvSpPr>
        <p:spPr>
          <a:xfrm>
            <a:off x="692700" y="2618400"/>
            <a:ext cx="27516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Index.html (Linked CSS)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42"/>
          <p:cNvSpPr txBox="1"/>
          <p:nvPr>
            <p:ph idx="1" type="body"/>
          </p:nvPr>
        </p:nvSpPr>
        <p:spPr>
          <a:xfrm>
            <a:off x="3572550" y="2980488"/>
            <a:ext cx="14889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styles.css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p42"/>
          <p:cNvSpPr txBox="1"/>
          <p:nvPr>
            <p:ph idx="1" type="body"/>
          </p:nvPr>
        </p:nvSpPr>
        <p:spPr>
          <a:xfrm>
            <a:off x="6034750" y="1499100"/>
            <a:ext cx="2835900" cy="3552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4A43"/>
                </a:solidFill>
              </a:rPr>
              <a:t>&lt;!DOCTYPE html&gt;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html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head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&lt;style&gt;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  </a:t>
            </a:r>
            <a:r>
              <a:rPr b="1" lang="en" sz="1000">
                <a:solidFill>
                  <a:srgbClr val="508050"/>
                </a:solidFill>
              </a:rPr>
              <a:t>h1</a:t>
            </a:r>
            <a:r>
              <a:rPr lang="en" sz="1000">
                <a:solidFill>
                  <a:srgbClr val="55CC66"/>
                </a:solidFill>
              </a:rPr>
              <a:t> </a:t>
            </a:r>
            <a:r>
              <a:rPr lang="en" sz="1000">
                <a:solidFill>
                  <a:srgbClr val="800080"/>
                </a:solidFill>
              </a:rPr>
              <a:t>{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    </a:t>
            </a:r>
            <a:r>
              <a:rPr b="1" lang="en" sz="1000">
                <a:solidFill>
                  <a:srgbClr val="BB7977"/>
                </a:solidFill>
              </a:rPr>
              <a:t>color</a:t>
            </a:r>
            <a:r>
              <a:rPr lang="en" sz="1000">
                <a:solidFill>
                  <a:srgbClr val="808030"/>
                </a:solidFill>
              </a:rPr>
              <a:t>:</a:t>
            </a:r>
            <a:r>
              <a:rPr lang="en" sz="1000">
                <a:solidFill>
                  <a:srgbClr val="55CC66"/>
                </a:solidFill>
              </a:rPr>
              <a:t> green</a:t>
            </a:r>
            <a:r>
              <a:rPr lang="en" sz="1000">
                <a:solidFill>
                  <a:srgbClr val="800080"/>
                </a:solidFill>
              </a:rPr>
              <a:t>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    </a:t>
            </a:r>
            <a:r>
              <a:rPr b="1" lang="en" sz="1000">
                <a:solidFill>
                  <a:srgbClr val="BB7977"/>
                </a:solidFill>
              </a:rPr>
              <a:t>text-align</a:t>
            </a:r>
            <a:r>
              <a:rPr lang="en" sz="1000">
                <a:solidFill>
                  <a:srgbClr val="808030"/>
                </a:solidFill>
              </a:rPr>
              <a:t>:</a:t>
            </a:r>
            <a:r>
              <a:rPr lang="en" sz="1000">
                <a:solidFill>
                  <a:srgbClr val="55CC66"/>
                </a:solidFill>
              </a:rPr>
              <a:t> </a:t>
            </a:r>
            <a:r>
              <a:rPr lang="en" sz="1000">
                <a:solidFill>
                  <a:srgbClr val="477766"/>
                </a:solidFill>
              </a:rPr>
              <a:t>center</a:t>
            </a:r>
            <a:r>
              <a:rPr lang="en" sz="1000">
                <a:solidFill>
                  <a:srgbClr val="800080"/>
                </a:solidFill>
              </a:rPr>
              <a:t>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00080"/>
                </a:solidFill>
              </a:rPr>
              <a:t>    }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08050"/>
                </a:solidFill>
              </a:rPr>
              <a:t>    p</a:t>
            </a:r>
            <a:r>
              <a:rPr lang="en" sz="1000">
                <a:solidFill>
                  <a:srgbClr val="55CC66"/>
                </a:solidFill>
              </a:rPr>
              <a:t> </a:t>
            </a:r>
            <a:r>
              <a:rPr lang="en" sz="1000">
                <a:solidFill>
                  <a:srgbClr val="800080"/>
                </a:solidFill>
              </a:rPr>
              <a:t>{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    </a:t>
            </a:r>
            <a:r>
              <a:rPr b="1" lang="en" sz="1000">
                <a:solidFill>
                  <a:srgbClr val="BB7977"/>
                </a:solidFill>
              </a:rPr>
              <a:t>color</a:t>
            </a:r>
            <a:r>
              <a:rPr lang="en" sz="1000">
                <a:solidFill>
                  <a:srgbClr val="808030"/>
                </a:solidFill>
              </a:rPr>
              <a:t>:</a:t>
            </a:r>
            <a:r>
              <a:rPr lang="en" sz="1000">
                <a:solidFill>
                  <a:srgbClr val="55CC66"/>
                </a:solidFill>
              </a:rPr>
              <a:t> blue</a:t>
            </a:r>
            <a:r>
              <a:rPr lang="en" sz="1000">
                <a:solidFill>
                  <a:srgbClr val="800080"/>
                </a:solidFill>
              </a:rPr>
              <a:t>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00080"/>
                </a:solidFill>
              </a:rPr>
              <a:t>    }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&lt;/style&gt;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head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body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h1</a:t>
            </a:r>
            <a:r>
              <a:rPr lang="en" sz="1000">
                <a:solidFill>
                  <a:srgbClr val="865700"/>
                </a:solidFill>
              </a:rPr>
              <a:t>&gt;</a:t>
            </a:r>
            <a:r>
              <a:rPr lang="en" sz="1000">
                <a:solidFill>
                  <a:srgbClr val="55CC66"/>
                </a:solidFill>
              </a:rPr>
              <a:t>Welcome</a:t>
            </a: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h1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p</a:t>
            </a:r>
            <a:r>
              <a:rPr lang="en" sz="1000">
                <a:solidFill>
                  <a:srgbClr val="865700"/>
                </a:solidFill>
              </a:rPr>
              <a:t>&gt;</a:t>
            </a:r>
            <a:r>
              <a:rPr lang="en" sz="1000">
                <a:solidFill>
                  <a:srgbClr val="55CC66"/>
                </a:solidFill>
              </a:rPr>
              <a:t>This is the first paragraph</a:t>
            </a:r>
            <a:r>
              <a:rPr lang="en" sz="1000">
                <a:solidFill>
                  <a:srgbClr val="778C77"/>
                </a:solidFill>
              </a:rPr>
              <a:t>.</a:t>
            </a: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p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</a:t>
            </a:r>
            <a:r>
              <a:rPr lang="en" sz="1000">
                <a:solidFill>
                  <a:srgbClr val="865700"/>
                </a:solidFill>
              </a:rPr>
              <a:t>&lt;</a:t>
            </a:r>
            <a:r>
              <a:rPr b="1" lang="en" sz="1000">
                <a:solidFill>
                  <a:srgbClr val="508050"/>
                </a:solidFill>
              </a:rPr>
              <a:t>p</a:t>
            </a:r>
            <a:r>
              <a:rPr lang="en" sz="1000">
                <a:solidFill>
                  <a:srgbClr val="865700"/>
                </a:solidFill>
              </a:rPr>
              <a:t>&gt;</a:t>
            </a:r>
            <a:r>
              <a:rPr lang="en" sz="1000">
                <a:solidFill>
                  <a:srgbClr val="55CC66"/>
                </a:solidFill>
              </a:rPr>
              <a:t>This is the second paragraph</a:t>
            </a:r>
            <a:r>
              <a:rPr lang="en" sz="1000">
                <a:solidFill>
                  <a:srgbClr val="778C77"/>
                </a:solidFill>
              </a:rPr>
              <a:t>.</a:t>
            </a: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p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body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65700"/>
                </a:solidFill>
              </a:rPr>
              <a:t>&lt;/</a:t>
            </a:r>
            <a:r>
              <a:rPr b="1" lang="en" sz="1000">
                <a:solidFill>
                  <a:srgbClr val="508050"/>
                </a:solidFill>
              </a:rPr>
              <a:t>html</a:t>
            </a:r>
            <a:r>
              <a:rPr lang="en" sz="1000">
                <a:solidFill>
                  <a:srgbClr val="865700"/>
                </a:solidFill>
              </a:rPr>
              <a:t>&gt;</a:t>
            </a:r>
            <a:endParaRPr sz="1000">
              <a:solidFill>
                <a:srgbClr val="004A43"/>
              </a:solidFill>
            </a:endParaRPr>
          </a:p>
        </p:txBody>
      </p:sp>
      <p:sp>
        <p:nvSpPr>
          <p:cNvPr id="233" name="Google Shape;233;p42"/>
          <p:cNvSpPr txBox="1"/>
          <p:nvPr>
            <p:ph idx="1" type="body"/>
          </p:nvPr>
        </p:nvSpPr>
        <p:spPr>
          <a:xfrm>
            <a:off x="5294900" y="3948300"/>
            <a:ext cx="52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42"/>
          <p:cNvSpPr txBox="1"/>
          <p:nvPr>
            <p:ph idx="1" type="body"/>
          </p:nvPr>
        </p:nvSpPr>
        <p:spPr>
          <a:xfrm>
            <a:off x="6034750" y="1137000"/>
            <a:ext cx="28359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Index.html (internal CSS)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3"/>
          <p:cNvSpPr txBox="1"/>
          <p:nvPr>
            <p:ph idx="1" type="body"/>
          </p:nvPr>
        </p:nvSpPr>
        <p:spPr>
          <a:xfrm>
            <a:off x="195825" y="941525"/>
            <a:ext cx="8466600" cy="39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are class selectors?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Targets HTML elements with a specific class attribute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Allows you to apply the same styles to multiple elements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Syntax: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.classname (e.g., .important, .highlight)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classname, like variable names in Javascript, is decided by the developer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Key features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class attribute can be added to any HTML element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Multiple classes can be applied to an element, separated by spaces.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Example: .important { font-weight: bold; }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Will make text in elements with the class "important" bold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Classes promote reusability of styles across different elements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0" name="Google Shape;24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Class Selector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Example: Class Selector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44"/>
          <p:cNvSpPr txBox="1"/>
          <p:nvPr>
            <p:ph idx="1" type="body"/>
          </p:nvPr>
        </p:nvSpPr>
        <p:spPr>
          <a:xfrm>
            <a:off x="464100" y="1397450"/>
            <a:ext cx="3624900" cy="31608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div</a:t>
            </a:r>
            <a:r>
              <a:rPr lang="en" sz="1200">
                <a:solidFill>
                  <a:srgbClr val="477766"/>
                </a:solidFill>
              </a:rPr>
              <a:t> class</a:t>
            </a:r>
            <a:r>
              <a:rPr lang="en" sz="1200">
                <a:solidFill>
                  <a:srgbClr val="808030"/>
                </a:solidFill>
              </a:rPr>
              <a:t>=</a:t>
            </a:r>
            <a:r>
              <a:rPr lang="en" sz="1200">
                <a:solidFill>
                  <a:srgbClr val="CC5555"/>
                </a:solidFill>
              </a:rPr>
              <a:t>"card"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</a:t>
            </a: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h2</a:t>
            </a:r>
            <a:r>
              <a:rPr lang="en" sz="1200">
                <a:solidFill>
                  <a:srgbClr val="865700"/>
                </a:solidFill>
              </a:rPr>
              <a:t>&gt;</a:t>
            </a:r>
            <a:r>
              <a:rPr lang="en" sz="1200">
                <a:solidFill>
                  <a:srgbClr val="55CC66"/>
                </a:solidFill>
              </a:rPr>
              <a:t>Card Title </a:t>
            </a:r>
            <a:r>
              <a:rPr lang="en" sz="1200">
                <a:solidFill>
                  <a:srgbClr val="778C77"/>
                </a:solidFill>
              </a:rPr>
              <a:t>1</a:t>
            </a: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h2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</a:t>
            </a: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p</a:t>
            </a:r>
            <a:r>
              <a:rPr lang="en" sz="1200">
                <a:solidFill>
                  <a:srgbClr val="477766"/>
                </a:solidFill>
              </a:rPr>
              <a:t> class</a:t>
            </a:r>
            <a:r>
              <a:rPr lang="en" sz="1200">
                <a:solidFill>
                  <a:srgbClr val="808030"/>
                </a:solidFill>
              </a:rPr>
              <a:t>=</a:t>
            </a:r>
            <a:r>
              <a:rPr lang="en" sz="1200">
                <a:solidFill>
                  <a:srgbClr val="CC5555"/>
                </a:solidFill>
              </a:rPr>
              <a:t>"important"</a:t>
            </a:r>
            <a:r>
              <a:rPr lang="en" sz="1200">
                <a:solidFill>
                  <a:srgbClr val="865700"/>
                </a:solidFill>
              </a:rPr>
              <a:t>&gt;</a:t>
            </a:r>
            <a:r>
              <a:rPr lang="en" sz="1200">
                <a:solidFill>
                  <a:srgbClr val="55CC66"/>
                </a:solidFill>
              </a:rPr>
              <a:t>This is important content</a:t>
            </a:r>
            <a:r>
              <a:rPr lang="en" sz="1200">
                <a:solidFill>
                  <a:srgbClr val="778C77"/>
                </a:solidFill>
              </a:rPr>
              <a:t>.</a:t>
            </a: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p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div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div</a:t>
            </a:r>
            <a:r>
              <a:rPr lang="en" sz="1200">
                <a:solidFill>
                  <a:srgbClr val="477766"/>
                </a:solidFill>
              </a:rPr>
              <a:t> class</a:t>
            </a:r>
            <a:r>
              <a:rPr lang="en" sz="1200">
                <a:solidFill>
                  <a:srgbClr val="808030"/>
                </a:solidFill>
              </a:rPr>
              <a:t>=</a:t>
            </a:r>
            <a:r>
              <a:rPr lang="en" sz="1200">
                <a:solidFill>
                  <a:srgbClr val="CC5555"/>
                </a:solidFill>
              </a:rPr>
              <a:t>"card highlight"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</a:t>
            </a: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h2</a:t>
            </a:r>
            <a:r>
              <a:rPr lang="en" sz="1200">
                <a:solidFill>
                  <a:srgbClr val="865700"/>
                </a:solidFill>
              </a:rPr>
              <a:t>&gt;</a:t>
            </a:r>
            <a:r>
              <a:rPr lang="en" sz="1200">
                <a:solidFill>
                  <a:srgbClr val="55CC66"/>
                </a:solidFill>
              </a:rPr>
              <a:t>Card Title </a:t>
            </a:r>
            <a:r>
              <a:rPr lang="en" sz="1200">
                <a:solidFill>
                  <a:srgbClr val="778C77"/>
                </a:solidFill>
              </a:rPr>
              <a:t>2</a:t>
            </a: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h2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5CC66"/>
                </a:solidFill>
              </a:rPr>
              <a:t>  </a:t>
            </a:r>
            <a:r>
              <a:rPr lang="en" sz="1200">
                <a:solidFill>
                  <a:srgbClr val="865700"/>
                </a:solidFill>
              </a:rPr>
              <a:t>&lt;</a:t>
            </a:r>
            <a:r>
              <a:rPr b="1" lang="en" sz="1200">
                <a:solidFill>
                  <a:srgbClr val="508050"/>
                </a:solidFill>
              </a:rPr>
              <a:t>p</a:t>
            </a:r>
            <a:r>
              <a:rPr lang="en" sz="1200">
                <a:solidFill>
                  <a:srgbClr val="865700"/>
                </a:solidFill>
              </a:rPr>
              <a:t>&gt;</a:t>
            </a:r>
            <a:r>
              <a:rPr lang="en" sz="1200">
                <a:solidFill>
                  <a:srgbClr val="55CC66"/>
                </a:solidFill>
              </a:rPr>
              <a:t>Some regular content</a:t>
            </a:r>
            <a:r>
              <a:rPr lang="en" sz="1200">
                <a:solidFill>
                  <a:srgbClr val="778C77"/>
                </a:solidFill>
              </a:rPr>
              <a:t>.</a:t>
            </a: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p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65700"/>
                </a:solidFill>
              </a:rPr>
              <a:t>&lt;/</a:t>
            </a:r>
            <a:r>
              <a:rPr b="1" lang="en" sz="1200">
                <a:solidFill>
                  <a:srgbClr val="508050"/>
                </a:solidFill>
              </a:rPr>
              <a:t>div</a:t>
            </a:r>
            <a:r>
              <a:rPr lang="en" sz="1200">
                <a:solidFill>
                  <a:srgbClr val="865700"/>
                </a:solidFill>
              </a:rPr>
              <a:t>&gt;</a:t>
            </a:r>
            <a:endParaRPr sz="1200">
              <a:solidFill>
                <a:srgbClr val="004A43"/>
              </a:solidFill>
            </a:endParaRPr>
          </a:p>
        </p:txBody>
      </p:sp>
      <p:sp>
        <p:nvSpPr>
          <p:cNvPr id="247" name="Google Shape;247;p44"/>
          <p:cNvSpPr txBox="1"/>
          <p:nvPr>
            <p:ph idx="1" type="body"/>
          </p:nvPr>
        </p:nvSpPr>
        <p:spPr>
          <a:xfrm>
            <a:off x="464100" y="959150"/>
            <a:ext cx="32880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HTML Snippet from Index.html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44"/>
          <p:cNvSpPr txBox="1"/>
          <p:nvPr>
            <p:ph idx="1" type="body"/>
          </p:nvPr>
        </p:nvSpPr>
        <p:spPr>
          <a:xfrm>
            <a:off x="5813250" y="1017713"/>
            <a:ext cx="14889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styles.css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p44"/>
          <p:cNvSpPr txBox="1"/>
          <p:nvPr>
            <p:ph idx="1" type="body"/>
          </p:nvPr>
        </p:nvSpPr>
        <p:spPr>
          <a:xfrm>
            <a:off x="4979950" y="1397450"/>
            <a:ext cx="3624900" cy="31608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08030"/>
                </a:solidFill>
              </a:rPr>
              <a:t>.</a:t>
            </a:r>
            <a:r>
              <a:rPr lang="en" sz="1100">
                <a:solidFill>
                  <a:srgbClr val="55CC66"/>
                </a:solidFill>
              </a:rPr>
              <a:t>card </a:t>
            </a:r>
            <a:r>
              <a:rPr lang="en" sz="1100">
                <a:solidFill>
                  <a:srgbClr val="800080"/>
                </a:solidFill>
              </a:rPr>
              <a:t>{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b="1" lang="en" sz="1100">
                <a:solidFill>
                  <a:srgbClr val="BB7977"/>
                </a:solidFill>
              </a:rPr>
              <a:t>border</a:t>
            </a:r>
            <a:r>
              <a:rPr lang="en" sz="1100">
                <a:solidFill>
                  <a:srgbClr val="808030"/>
                </a:solidFill>
              </a:rPr>
              <a:t>:</a:t>
            </a:r>
            <a:r>
              <a:rPr lang="en" sz="1100">
                <a:solidFill>
                  <a:srgbClr val="55CC66"/>
                </a:solidFill>
              </a:rPr>
              <a:t> </a:t>
            </a:r>
            <a:r>
              <a:rPr lang="en" sz="1100">
                <a:solidFill>
                  <a:srgbClr val="778C77"/>
                </a:solidFill>
              </a:rPr>
              <a:t>1px</a:t>
            </a:r>
            <a:r>
              <a:rPr lang="en" sz="1100">
                <a:solidFill>
                  <a:srgbClr val="55CC66"/>
                </a:solidFill>
              </a:rPr>
              <a:t> </a:t>
            </a:r>
            <a:r>
              <a:rPr lang="en" sz="1100">
                <a:solidFill>
                  <a:srgbClr val="477766"/>
                </a:solidFill>
              </a:rPr>
              <a:t>solid</a:t>
            </a:r>
            <a:r>
              <a:rPr lang="en" sz="1100">
                <a:solidFill>
                  <a:srgbClr val="55CC66"/>
                </a:solidFill>
              </a:rPr>
              <a:t> </a:t>
            </a:r>
            <a:r>
              <a:rPr lang="en" sz="1100">
                <a:solidFill>
                  <a:srgbClr val="778C77"/>
                </a:solidFill>
              </a:rPr>
              <a:t>#ccc</a:t>
            </a:r>
            <a:r>
              <a:rPr lang="en" sz="1100">
                <a:solidFill>
                  <a:srgbClr val="800080"/>
                </a:solidFill>
              </a:rPr>
              <a:t>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b="1" lang="en" sz="1100">
                <a:solidFill>
                  <a:srgbClr val="BB7977"/>
                </a:solidFill>
              </a:rPr>
              <a:t>padding</a:t>
            </a:r>
            <a:r>
              <a:rPr lang="en" sz="1100">
                <a:solidFill>
                  <a:srgbClr val="808030"/>
                </a:solidFill>
              </a:rPr>
              <a:t>:</a:t>
            </a:r>
            <a:r>
              <a:rPr lang="en" sz="1100">
                <a:solidFill>
                  <a:srgbClr val="55CC66"/>
                </a:solidFill>
              </a:rPr>
              <a:t> </a:t>
            </a:r>
            <a:r>
              <a:rPr lang="en" sz="1100">
                <a:solidFill>
                  <a:srgbClr val="778C77"/>
                </a:solidFill>
              </a:rPr>
              <a:t>10px</a:t>
            </a:r>
            <a:r>
              <a:rPr lang="en" sz="1100">
                <a:solidFill>
                  <a:srgbClr val="800080"/>
                </a:solidFill>
              </a:rPr>
              <a:t>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b="1" lang="en" sz="1100">
                <a:solidFill>
                  <a:srgbClr val="BB7977"/>
                </a:solidFill>
              </a:rPr>
              <a:t>margin-bottom</a:t>
            </a:r>
            <a:r>
              <a:rPr lang="en" sz="1100">
                <a:solidFill>
                  <a:srgbClr val="808030"/>
                </a:solidFill>
              </a:rPr>
              <a:t>:</a:t>
            </a:r>
            <a:r>
              <a:rPr lang="en" sz="1100">
                <a:solidFill>
                  <a:srgbClr val="55CC66"/>
                </a:solidFill>
              </a:rPr>
              <a:t> </a:t>
            </a:r>
            <a:r>
              <a:rPr lang="en" sz="1100">
                <a:solidFill>
                  <a:srgbClr val="778C77"/>
                </a:solidFill>
              </a:rPr>
              <a:t>10px</a:t>
            </a:r>
            <a:r>
              <a:rPr lang="en" sz="1100">
                <a:solidFill>
                  <a:srgbClr val="800080"/>
                </a:solidFill>
              </a:rPr>
              <a:t>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00080"/>
                </a:solidFill>
              </a:rPr>
              <a:t>}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08030"/>
                </a:solidFill>
              </a:rPr>
              <a:t>.</a:t>
            </a:r>
            <a:r>
              <a:rPr lang="en" sz="1100">
                <a:solidFill>
                  <a:srgbClr val="55CC66"/>
                </a:solidFill>
              </a:rPr>
              <a:t>important </a:t>
            </a:r>
            <a:r>
              <a:rPr lang="en" sz="1100">
                <a:solidFill>
                  <a:srgbClr val="800080"/>
                </a:solidFill>
              </a:rPr>
              <a:t>{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b="1" lang="en" sz="1100">
                <a:solidFill>
                  <a:srgbClr val="BB7977"/>
                </a:solidFill>
              </a:rPr>
              <a:t>font-weight</a:t>
            </a:r>
            <a:r>
              <a:rPr lang="en" sz="1100">
                <a:solidFill>
                  <a:srgbClr val="808030"/>
                </a:solidFill>
              </a:rPr>
              <a:t>:</a:t>
            </a:r>
            <a:r>
              <a:rPr lang="en" sz="1100">
                <a:solidFill>
                  <a:srgbClr val="55CC66"/>
                </a:solidFill>
              </a:rPr>
              <a:t> </a:t>
            </a:r>
            <a:r>
              <a:rPr lang="en" sz="1100">
                <a:solidFill>
                  <a:srgbClr val="477766"/>
                </a:solidFill>
              </a:rPr>
              <a:t>bold</a:t>
            </a:r>
            <a:r>
              <a:rPr lang="en" sz="1100">
                <a:solidFill>
                  <a:srgbClr val="800080"/>
                </a:solidFill>
              </a:rPr>
              <a:t>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b="1" lang="en" sz="1100">
                <a:solidFill>
                  <a:srgbClr val="BB7977"/>
                </a:solidFill>
              </a:rPr>
              <a:t>color</a:t>
            </a:r>
            <a:r>
              <a:rPr lang="en" sz="1100">
                <a:solidFill>
                  <a:srgbClr val="808030"/>
                </a:solidFill>
              </a:rPr>
              <a:t>:</a:t>
            </a:r>
            <a:r>
              <a:rPr lang="en" sz="1100">
                <a:solidFill>
                  <a:srgbClr val="55CC66"/>
                </a:solidFill>
              </a:rPr>
              <a:t> red</a:t>
            </a:r>
            <a:r>
              <a:rPr lang="en" sz="1100">
                <a:solidFill>
                  <a:srgbClr val="800080"/>
                </a:solidFill>
              </a:rPr>
              <a:t>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00080"/>
                </a:solidFill>
              </a:rPr>
              <a:t>}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08030"/>
                </a:solidFill>
              </a:rPr>
              <a:t>.</a:t>
            </a:r>
            <a:r>
              <a:rPr lang="en" sz="1100">
                <a:solidFill>
                  <a:srgbClr val="55CC66"/>
                </a:solidFill>
              </a:rPr>
              <a:t>highlight </a:t>
            </a:r>
            <a:r>
              <a:rPr lang="en" sz="1100">
                <a:solidFill>
                  <a:srgbClr val="800080"/>
                </a:solidFill>
              </a:rPr>
              <a:t>{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b="1" lang="en" sz="1100">
                <a:solidFill>
                  <a:srgbClr val="BB7977"/>
                </a:solidFill>
              </a:rPr>
              <a:t>background-color</a:t>
            </a:r>
            <a:r>
              <a:rPr lang="en" sz="1100">
                <a:solidFill>
                  <a:srgbClr val="808030"/>
                </a:solidFill>
              </a:rPr>
              <a:t>:</a:t>
            </a:r>
            <a:r>
              <a:rPr lang="en" sz="1100">
                <a:solidFill>
                  <a:srgbClr val="55CC66"/>
                </a:solidFill>
              </a:rPr>
              <a:t> yellow</a:t>
            </a:r>
            <a:r>
              <a:rPr lang="en" sz="1100">
                <a:solidFill>
                  <a:srgbClr val="800080"/>
                </a:solidFill>
              </a:rPr>
              <a:t>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00080"/>
                </a:solidFill>
              </a:rPr>
              <a:t>}</a:t>
            </a:r>
            <a:endParaRPr sz="1200">
              <a:solidFill>
                <a:srgbClr val="8657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5"/>
          <p:cNvSpPr txBox="1"/>
          <p:nvPr>
            <p:ph idx="1" type="body"/>
          </p:nvPr>
        </p:nvSpPr>
        <p:spPr>
          <a:xfrm>
            <a:off x="195825" y="941525"/>
            <a:ext cx="8466600" cy="39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are ID selectors?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Targets a single, unique HTML element with a specific id attribute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Syntax: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#idname (e.g., #main-header, #submit-button)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i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idname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like variable names in Javascript, will be defined by the developer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Key features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id attribute should be unique within an HTML document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Primarily used for JavaScript interaction or very specific styling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Example: #main-header { font-size: 24px; }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element with the ID "main-header" will have a font size of 24 pixels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ID selectors have a </a:t>
            </a:r>
            <a:r>
              <a:rPr i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higher specificity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than class selectors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If you have an element with id and class attribute, the styles in the id attribute generally overrides class styles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5" name="Google Shape;255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ID Selector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6"/>
          <p:cNvSpPr txBox="1"/>
          <p:nvPr>
            <p:ph idx="1" type="body"/>
          </p:nvPr>
        </p:nvSpPr>
        <p:spPr>
          <a:xfrm>
            <a:off x="5124650" y="2522713"/>
            <a:ext cx="14889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styles.css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" name="Google Shape;261;p46"/>
          <p:cNvSpPr txBox="1"/>
          <p:nvPr>
            <p:ph idx="1" type="body"/>
          </p:nvPr>
        </p:nvSpPr>
        <p:spPr>
          <a:xfrm>
            <a:off x="5124650" y="1093925"/>
            <a:ext cx="32880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HTML Snippet from Index.html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46"/>
          <p:cNvSpPr txBox="1"/>
          <p:nvPr>
            <p:ph idx="1" type="body"/>
          </p:nvPr>
        </p:nvSpPr>
        <p:spPr>
          <a:xfrm>
            <a:off x="464100" y="2997538"/>
            <a:ext cx="14889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styles.css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Examples: ID Selector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46"/>
          <p:cNvSpPr txBox="1"/>
          <p:nvPr>
            <p:ph idx="1" type="body"/>
          </p:nvPr>
        </p:nvSpPr>
        <p:spPr>
          <a:xfrm>
            <a:off x="464100" y="1930850"/>
            <a:ext cx="3624900" cy="8379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h1</a:t>
            </a:r>
            <a:r>
              <a:rPr lang="en" sz="1100">
                <a:solidFill>
                  <a:srgbClr val="477766"/>
                </a:solidFill>
              </a:rPr>
              <a:t> id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"main-title"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Welcome to Our Website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h1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Some introductory text</a:t>
            </a:r>
            <a:r>
              <a:rPr lang="en" sz="1100">
                <a:solidFill>
                  <a:srgbClr val="778C77"/>
                </a:solidFill>
              </a:rPr>
              <a:t>.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8657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865700"/>
              </a:solidFill>
            </a:endParaRPr>
          </a:p>
        </p:txBody>
      </p:sp>
      <p:sp>
        <p:nvSpPr>
          <p:cNvPr id="265" name="Google Shape;265;p46"/>
          <p:cNvSpPr txBox="1"/>
          <p:nvPr>
            <p:ph idx="1" type="body"/>
          </p:nvPr>
        </p:nvSpPr>
        <p:spPr>
          <a:xfrm>
            <a:off x="464100" y="1568750"/>
            <a:ext cx="32880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HTML Snippet from Index.html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p46"/>
          <p:cNvSpPr txBox="1"/>
          <p:nvPr>
            <p:ph idx="1" type="body"/>
          </p:nvPr>
        </p:nvSpPr>
        <p:spPr>
          <a:xfrm>
            <a:off x="464100" y="3375625"/>
            <a:ext cx="3624900" cy="10965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08030"/>
                </a:solidFill>
              </a:rPr>
              <a:t>#</a:t>
            </a:r>
            <a:r>
              <a:rPr lang="en" sz="1100">
                <a:solidFill>
                  <a:srgbClr val="55CC66"/>
                </a:solidFill>
              </a:rPr>
              <a:t>main-title </a:t>
            </a:r>
            <a:r>
              <a:rPr lang="en" sz="1100">
                <a:solidFill>
                  <a:srgbClr val="800080"/>
                </a:solidFill>
              </a:rPr>
              <a:t>{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b="1" lang="en" sz="1100">
                <a:solidFill>
                  <a:srgbClr val="BB7977"/>
                </a:solidFill>
              </a:rPr>
              <a:t>color</a:t>
            </a:r>
            <a:r>
              <a:rPr lang="en" sz="1100">
                <a:solidFill>
                  <a:srgbClr val="808030"/>
                </a:solidFill>
              </a:rPr>
              <a:t>:</a:t>
            </a:r>
            <a:r>
              <a:rPr lang="en" sz="1100">
                <a:solidFill>
                  <a:srgbClr val="55CC66"/>
                </a:solidFill>
              </a:rPr>
              <a:t> purple</a:t>
            </a:r>
            <a:r>
              <a:rPr lang="en" sz="1100">
                <a:solidFill>
                  <a:srgbClr val="800080"/>
                </a:solidFill>
              </a:rPr>
              <a:t>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b="1" lang="en" sz="1100">
                <a:solidFill>
                  <a:srgbClr val="BB7977"/>
                </a:solidFill>
              </a:rPr>
              <a:t>text-align</a:t>
            </a:r>
            <a:r>
              <a:rPr lang="en" sz="1100">
                <a:solidFill>
                  <a:srgbClr val="808030"/>
                </a:solidFill>
              </a:rPr>
              <a:t>:</a:t>
            </a:r>
            <a:r>
              <a:rPr lang="en" sz="1100">
                <a:solidFill>
                  <a:srgbClr val="55CC66"/>
                </a:solidFill>
              </a:rPr>
              <a:t> </a:t>
            </a:r>
            <a:r>
              <a:rPr lang="en" sz="1100">
                <a:solidFill>
                  <a:srgbClr val="477766"/>
                </a:solidFill>
              </a:rPr>
              <a:t>center</a:t>
            </a:r>
            <a:r>
              <a:rPr lang="en" sz="1100">
                <a:solidFill>
                  <a:srgbClr val="800080"/>
                </a:solidFill>
              </a:rPr>
              <a:t>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b="1" lang="en" sz="1100">
                <a:solidFill>
                  <a:srgbClr val="BB7977"/>
                </a:solidFill>
              </a:rPr>
              <a:t>border-bottom</a:t>
            </a:r>
            <a:r>
              <a:rPr lang="en" sz="1100">
                <a:solidFill>
                  <a:srgbClr val="808030"/>
                </a:solidFill>
              </a:rPr>
              <a:t>:</a:t>
            </a:r>
            <a:r>
              <a:rPr lang="en" sz="1100">
                <a:solidFill>
                  <a:srgbClr val="55CC66"/>
                </a:solidFill>
              </a:rPr>
              <a:t> </a:t>
            </a:r>
            <a:r>
              <a:rPr lang="en" sz="1100">
                <a:solidFill>
                  <a:srgbClr val="778C77"/>
                </a:solidFill>
              </a:rPr>
              <a:t>2px</a:t>
            </a:r>
            <a:r>
              <a:rPr lang="en" sz="1100">
                <a:solidFill>
                  <a:srgbClr val="55CC66"/>
                </a:solidFill>
              </a:rPr>
              <a:t> </a:t>
            </a:r>
            <a:r>
              <a:rPr lang="en" sz="1100">
                <a:solidFill>
                  <a:srgbClr val="477766"/>
                </a:solidFill>
              </a:rPr>
              <a:t>solid</a:t>
            </a:r>
            <a:r>
              <a:rPr lang="en" sz="1100">
                <a:solidFill>
                  <a:srgbClr val="55CC66"/>
                </a:solidFill>
              </a:rPr>
              <a:t> purple</a:t>
            </a:r>
            <a:r>
              <a:rPr lang="en" sz="1100">
                <a:solidFill>
                  <a:srgbClr val="800080"/>
                </a:solidFill>
              </a:rPr>
              <a:t>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00080"/>
                </a:solidFill>
              </a:rPr>
              <a:t>}</a:t>
            </a:r>
            <a:endParaRPr sz="1100">
              <a:solidFill>
                <a:srgbClr val="808030"/>
              </a:solidFill>
            </a:endParaRPr>
          </a:p>
        </p:txBody>
      </p:sp>
      <p:sp>
        <p:nvSpPr>
          <p:cNvPr id="267" name="Google Shape;267;p46"/>
          <p:cNvSpPr txBox="1"/>
          <p:nvPr>
            <p:ph idx="1" type="body"/>
          </p:nvPr>
        </p:nvSpPr>
        <p:spPr>
          <a:xfrm>
            <a:off x="5124650" y="2900800"/>
            <a:ext cx="3624900" cy="20580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08030"/>
                </a:solidFill>
              </a:rPr>
              <a:t>.</a:t>
            </a:r>
            <a:r>
              <a:rPr lang="en" sz="1100">
                <a:solidFill>
                  <a:srgbClr val="55CC66"/>
                </a:solidFill>
              </a:rPr>
              <a:t>section-heading </a:t>
            </a:r>
            <a:r>
              <a:rPr lang="en" sz="1100">
                <a:solidFill>
                  <a:srgbClr val="800080"/>
                </a:solidFill>
              </a:rPr>
              <a:t>{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b="1" lang="en" sz="1100">
                <a:solidFill>
                  <a:srgbClr val="BB7977"/>
                </a:solidFill>
              </a:rPr>
              <a:t>color</a:t>
            </a:r>
            <a:r>
              <a:rPr lang="en" sz="1100">
                <a:solidFill>
                  <a:srgbClr val="808030"/>
                </a:solidFill>
              </a:rPr>
              <a:t>:</a:t>
            </a:r>
            <a:r>
              <a:rPr lang="en" sz="1100">
                <a:solidFill>
                  <a:srgbClr val="55CC66"/>
                </a:solidFill>
              </a:rPr>
              <a:t> orange</a:t>
            </a:r>
            <a:r>
              <a:rPr lang="en" sz="1100">
                <a:solidFill>
                  <a:srgbClr val="800080"/>
                </a:solidFill>
              </a:rPr>
              <a:t>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b="1" lang="en" sz="1100">
                <a:solidFill>
                  <a:srgbClr val="BB7977"/>
                </a:solidFill>
              </a:rPr>
              <a:t>font-size</a:t>
            </a:r>
            <a:r>
              <a:rPr lang="en" sz="1100">
                <a:solidFill>
                  <a:srgbClr val="808030"/>
                </a:solidFill>
              </a:rPr>
              <a:t>:</a:t>
            </a:r>
            <a:r>
              <a:rPr lang="en" sz="1100">
                <a:solidFill>
                  <a:srgbClr val="55CC66"/>
                </a:solidFill>
              </a:rPr>
              <a:t> </a:t>
            </a:r>
            <a:r>
              <a:rPr lang="en" sz="1100">
                <a:solidFill>
                  <a:srgbClr val="778C77"/>
                </a:solidFill>
              </a:rPr>
              <a:t>1.5em</a:t>
            </a:r>
            <a:r>
              <a:rPr lang="en" sz="1100">
                <a:solidFill>
                  <a:srgbClr val="800080"/>
                </a:solidFill>
              </a:rPr>
              <a:t>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00080"/>
                </a:solidFill>
              </a:rPr>
              <a:t>}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08030"/>
                </a:solidFill>
              </a:rPr>
              <a:t>#</a:t>
            </a:r>
            <a:r>
              <a:rPr lang="en" sz="1100">
                <a:solidFill>
                  <a:srgbClr val="55CC66"/>
                </a:solidFill>
              </a:rPr>
              <a:t>page-title </a:t>
            </a:r>
            <a:r>
              <a:rPr lang="en" sz="1100">
                <a:solidFill>
                  <a:srgbClr val="800080"/>
                </a:solidFill>
              </a:rPr>
              <a:t>{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b="1" lang="en" sz="1100">
                <a:solidFill>
                  <a:srgbClr val="BB7977"/>
                </a:solidFill>
              </a:rPr>
              <a:t>color</a:t>
            </a:r>
            <a:r>
              <a:rPr lang="en" sz="1100">
                <a:solidFill>
                  <a:srgbClr val="808030"/>
                </a:solidFill>
              </a:rPr>
              <a:t>:</a:t>
            </a:r>
            <a:r>
              <a:rPr lang="en" sz="1100">
                <a:solidFill>
                  <a:srgbClr val="55CC66"/>
                </a:solidFill>
              </a:rPr>
              <a:t> green</a:t>
            </a:r>
            <a:r>
              <a:rPr lang="en" sz="1100">
                <a:solidFill>
                  <a:srgbClr val="800080"/>
                </a:solidFill>
              </a:rPr>
              <a:t>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b="1" lang="en" sz="1100">
                <a:solidFill>
                  <a:srgbClr val="BB7977"/>
                </a:solidFill>
              </a:rPr>
              <a:t>text-align</a:t>
            </a:r>
            <a:r>
              <a:rPr lang="en" sz="1100">
                <a:solidFill>
                  <a:srgbClr val="808030"/>
                </a:solidFill>
              </a:rPr>
              <a:t>:</a:t>
            </a:r>
            <a:r>
              <a:rPr lang="en" sz="1100">
                <a:solidFill>
                  <a:srgbClr val="55CC66"/>
                </a:solidFill>
              </a:rPr>
              <a:t> </a:t>
            </a:r>
            <a:r>
              <a:rPr lang="en" sz="1100">
                <a:solidFill>
                  <a:srgbClr val="477766"/>
                </a:solidFill>
              </a:rPr>
              <a:t>center</a:t>
            </a:r>
            <a:r>
              <a:rPr lang="en" sz="1100">
                <a:solidFill>
                  <a:srgbClr val="800080"/>
                </a:solidFill>
              </a:rPr>
              <a:t>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00080"/>
                </a:solidFill>
              </a:rPr>
              <a:t>}</a:t>
            </a:r>
            <a:endParaRPr sz="1100">
              <a:solidFill>
                <a:srgbClr val="808030"/>
              </a:solidFill>
            </a:endParaRPr>
          </a:p>
        </p:txBody>
      </p:sp>
      <p:sp>
        <p:nvSpPr>
          <p:cNvPr id="268" name="Google Shape;268;p46"/>
          <p:cNvSpPr txBox="1"/>
          <p:nvPr>
            <p:ph idx="1" type="body"/>
          </p:nvPr>
        </p:nvSpPr>
        <p:spPr>
          <a:xfrm>
            <a:off x="5124650" y="487057"/>
            <a:ext cx="3288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Example 2: what will be the color of the header?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" name="Google Shape;269;p46"/>
          <p:cNvSpPr txBox="1"/>
          <p:nvPr>
            <p:ph idx="1" type="body"/>
          </p:nvPr>
        </p:nvSpPr>
        <p:spPr>
          <a:xfrm>
            <a:off x="464100" y="1074088"/>
            <a:ext cx="32880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Example 1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46"/>
          <p:cNvSpPr txBox="1"/>
          <p:nvPr>
            <p:ph idx="1" type="body"/>
          </p:nvPr>
        </p:nvSpPr>
        <p:spPr>
          <a:xfrm>
            <a:off x="5124650" y="1456025"/>
            <a:ext cx="3624900" cy="8379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h2</a:t>
            </a:r>
            <a:r>
              <a:rPr lang="en" sz="1100">
                <a:solidFill>
                  <a:srgbClr val="477766"/>
                </a:solidFill>
              </a:rPr>
              <a:t> class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"section-heading"</a:t>
            </a:r>
            <a:r>
              <a:rPr lang="en" sz="1100">
                <a:solidFill>
                  <a:srgbClr val="477766"/>
                </a:solidFill>
              </a:rPr>
              <a:t> id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"page-title"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Page Title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h2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8657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7"/>
          <p:cNvSpPr txBox="1"/>
          <p:nvPr>
            <p:ph idx="1" type="body"/>
          </p:nvPr>
        </p:nvSpPr>
        <p:spPr>
          <a:xfrm>
            <a:off x="195825" y="941525"/>
            <a:ext cx="8466600" cy="39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When to use class selector?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 when you want to style multiple elements the same way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Reusable across different elements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Can be used multiple times on a single page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When to use ID selector?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 when you want to style a single, unique element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Should be unique within the HTML document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Often used for specific layout elements or JavaScript targeting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Has higher specificity than class selectors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Best Practice: Generally, prefer using classes for styling and IDs for JavaScript functionality or unique layout sections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6" name="Google Shape;276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Class vs ID: Choosing the Right Selector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8"/>
          <p:cNvSpPr txBox="1"/>
          <p:nvPr/>
        </p:nvSpPr>
        <p:spPr>
          <a:xfrm>
            <a:off x="0" y="2301000"/>
            <a:ext cx="9144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80">
                <a:solidFill>
                  <a:schemeClr val="dk1"/>
                </a:solidFill>
              </a:rPr>
              <a:t>Basic CSS properties</a:t>
            </a:r>
            <a:endParaRPr sz="238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9"/>
          <p:cNvSpPr txBox="1"/>
          <p:nvPr>
            <p:ph idx="1" type="body"/>
          </p:nvPr>
        </p:nvSpPr>
        <p:spPr>
          <a:xfrm>
            <a:off x="195825" y="941525"/>
            <a:ext cx="8466600" cy="39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Any ideas?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Color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Font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Font-size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Font-family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Font-weight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Line-height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Alignment: Text-align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Space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Padding, Margin, Width, Height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Shape &amp; Surface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Background-color, border, border-radius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What can CSS change?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8" name="Google Shape;288;p49"/>
          <p:cNvPicPr preferRelativeResize="0"/>
          <p:nvPr/>
        </p:nvPicPr>
        <p:blipFill rotWithShape="1">
          <a:blip r:embed="rId3">
            <a:alphaModFix/>
          </a:blip>
          <a:srcRect b="15101" l="0" r="0" t="15115"/>
          <a:stretch/>
        </p:blipFill>
        <p:spPr>
          <a:xfrm>
            <a:off x="5302625" y="1552725"/>
            <a:ext cx="3086200" cy="2038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0"/>
          <p:cNvSpPr txBox="1"/>
          <p:nvPr/>
        </p:nvSpPr>
        <p:spPr>
          <a:xfrm>
            <a:off x="0" y="2301000"/>
            <a:ext cx="9144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80">
                <a:solidFill>
                  <a:schemeClr val="dk1"/>
                </a:solidFill>
              </a:rPr>
              <a:t>Live coding! Let’s code a basic profile.</a:t>
            </a:r>
            <a:endParaRPr sz="238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1"/>
          <p:cNvSpPr txBox="1"/>
          <p:nvPr/>
        </p:nvSpPr>
        <p:spPr>
          <a:xfrm>
            <a:off x="0" y="2301000"/>
            <a:ext cx="9144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80">
                <a:solidFill>
                  <a:schemeClr val="dk1"/>
                </a:solidFill>
              </a:rPr>
              <a:t>Controlling element display</a:t>
            </a:r>
            <a:endParaRPr sz="238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2"/>
          <p:cNvSpPr txBox="1"/>
          <p:nvPr>
            <p:ph idx="1" type="body"/>
          </p:nvPr>
        </p:nvSpPr>
        <p:spPr>
          <a:xfrm>
            <a:off x="195825" y="941525"/>
            <a:ext cx="8466600" cy="39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display property in CSS controls how an element is rendered on the page.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Dictates the flow of the element in relation to other elements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Key values for the display property that we will cover today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block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Inline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does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display: block; </a:t>
            </a: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mean?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Block-level elements behave like a block of content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They always start on a new line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They take up the full width available in their parent container (stretching to the left and right)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By default, their height is determined by their content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width and height properties on block-level elements can be set by the developer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Examples of block-level elements by default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&lt;div&gt;, &lt;p&gt;, &lt;h1&gt; to &lt;h6&gt;, &lt;ul&gt;, &lt;ol&gt;, &lt;li&gt;, &lt;form&gt;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4" name="Google Shape;304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Introduction to the ‘display’ property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Example: display property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53"/>
          <p:cNvSpPr txBox="1"/>
          <p:nvPr>
            <p:ph idx="1" type="body"/>
          </p:nvPr>
        </p:nvSpPr>
        <p:spPr>
          <a:xfrm>
            <a:off x="464100" y="1397450"/>
            <a:ext cx="4271100" cy="1445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div</a:t>
            </a:r>
            <a:r>
              <a:rPr lang="en" sz="1100">
                <a:solidFill>
                  <a:srgbClr val="477766"/>
                </a:solidFill>
              </a:rPr>
              <a:t> style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</a:t>
            </a:r>
            <a:r>
              <a:rPr b="1" lang="en" sz="1100">
                <a:solidFill>
                  <a:srgbClr val="BB7977"/>
                </a:solidFill>
              </a:rPr>
              <a:t>border</a:t>
            </a:r>
            <a:r>
              <a:rPr lang="en" sz="1100">
                <a:solidFill>
                  <a:srgbClr val="808030"/>
                </a:solidFill>
              </a:rPr>
              <a:t>:</a:t>
            </a:r>
            <a:r>
              <a:rPr lang="en" sz="1100">
                <a:solidFill>
                  <a:srgbClr val="477766"/>
                </a:solidFill>
              </a:rPr>
              <a:t> </a:t>
            </a:r>
            <a:r>
              <a:rPr lang="en" sz="1100">
                <a:solidFill>
                  <a:srgbClr val="778C77"/>
                </a:solidFill>
              </a:rPr>
              <a:t>1px</a:t>
            </a:r>
            <a:r>
              <a:rPr lang="en" sz="1100">
                <a:solidFill>
                  <a:srgbClr val="477766"/>
                </a:solidFill>
              </a:rPr>
              <a:t> solid red</a:t>
            </a:r>
            <a:r>
              <a:rPr lang="en" sz="1100">
                <a:solidFill>
                  <a:srgbClr val="800080"/>
                </a:solidFill>
              </a:rPr>
              <a:t>;</a:t>
            </a:r>
            <a:r>
              <a:rPr lang="en" sz="1100">
                <a:solidFill>
                  <a:srgbClr val="CC5555"/>
                </a:solidFill>
              </a:rPr>
              <a:t>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First div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div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div</a:t>
            </a:r>
            <a:r>
              <a:rPr lang="en" sz="1100">
                <a:solidFill>
                  <a:srgbClr val="477766"/>
                </a:solidFill>
              </a:rPr>
              <a:t> style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</a:t>
            </a:r>
            <a:r>
              <a:rPr b="1" lang="en" sz="1100">
                <a:solidFill>
                  <a:srgbClr val="BB7977"/>
                </a:solidFill>
              </a:rPr>
              <a:t>border</a:t>
            </a:r>
            <a:r>
              <a:rPr lang="en" sz="1100">
                <a:solidFill>
                  <a:srgbClr val="808030"/>
                </a:solidFill>
              </a:rPr>
              <a:t>:</a:t>
            </a:r>
            <a:r>
              <a:rPr lang="en" sz="1100">
                <a:solidFill>
                  <a:srgbClr val="477766"/>
                </a:solidFill>
              </a:rPr>
              <a:t> </a:t>
            </a:r>
            <a:r>
              <a:rPr lang="en" sz="1100">
                <a:solidFill>
                  <a:srgbClr val="778C77"/>
                </a:solidFill>
              </a:rPr>
              <a:t>1px</a:t>
            </a:r>
            <a:r>
              <a:rPr lang="en" sz="1100">
                <a:solidFill>
                  <a:srgbClr val="477766"/>
                </a:solidFill>
              </a:rPr>
              <a:t> solid blue</a:t>
            </a:r>
            <a:r>
              <a:rPr lang="en" sz="1100">
                <a:solidFill>
                  <a:srgbClr val="800080"/>
                </a:solidFill>
              </a:rPr>
              <a:t>;</a:t>
            </a:r>
            <a:r>
              <a:rPr lang="en" sz="1100">
                <a:solidFill>
                  <a:srgbClr val="CC5555"/>
                </a:solidFill>
              </a:rPr>
              <a:t>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Second div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div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477766"/>
                </a:solidFill>
              </a:rPr>
              <a:t> style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</a:t>
            </a:r>
            <a:r>
              <a:rPr b="1" lang="en" sz="1100">
                <a:solidFill>
                  <a:srgbClr val="BB7977"/>
                </a:solidFill>
              </a:rPr>
              <a:t>border</a:t>
            </a:r>
            <a:r>
              <a:rPr lang="en" sz="1100">
                <a:solidFill>
                  <a:srgbClr val="808030"/>
                </a:solidFill>
              </a:rPr>
              <a:t>:</a:t>
            </a:r>
            <a:r>
              <a:rPr lang="en" sz="1100">
                <a:solidFill>
                  <a:srgbClr val="477766"/>
                </a:solidFill>
              </a:rPr>
              <a:t> </a:t>
            </a:r>
            <a:r>
              <a:rPr lang="en" sz="1100">
                <a:solidFill>
                  <a:srgbClr val="778C77"/>
                </a:solidFill>
              </a:rPr>
              <a:t>1px</a:t>
            </a:r>
            <a:r>
              <a:rPr lang="en" sz="1100">
                <a:solidFill>
                  <a:srgbClr val="477766"/>
                </a:solidFill>
              </a:rPr>
              <a:t> solid green</a:t>
            </a:r>
            <a:r>
              <a:rPr lang="en" sz="1100">
                <a:solidFill>
                  <a:srgbClr val="800080"/>
                </a:solidFill>
              </a:rPr>
              <a:t>;</a:t>
            </a:r>
            <a:r>
              <a:rPr lang="en" sz="1100">
                <a:solidFill>
                  <a:srgbClr val="CC5555"/>
                </a:solidFill>
              </a:rPr>
              <a:t>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First paragraph</a:t>
            </a:r>
            <a:r>
              <a:rPr lang="en" sz="1100">
                <a:solidFill>
                  <a:srgbClr val="778C77"/>
                </a:solidFill>
              </a:rPr>
              <a:t>.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477766"/>
                </a:solidFill>
              </a:rPr>
              <a:t> style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</a:t>
            </a:r>
            <a:r>
              <a:rPr b="1" lang="en" sz="1100">
                <a:solidFill>
                  <a:srgbClr val="BB7977"/>
                </a:solidFill>
              </a:rPr>
              <a:t>border</a:t>
            </a:r>
            <a:r>
              <a:rPr lang="en" sz="1100">
                <a:solidFill>
                  <a:srgbClr val="808030"/>
                </a:solidFill>
              </a:rPr>
              <a:t>:</a:t>
            </a:r>
            <a:r>
              <a:rPr lang="en" sz="1100">
                <a:solidFill>
                  <a:srgbClr val="477766"/>
                </a:solidFill>
              </a:rPr>
              <a:t> </a:t>
            </a:r>
            <a:r>
              <a:rPr lang="en" sz="1100">
                <a:solidFill>
                  <a:srgbClr val="778C77"/>
                </a:solidFill>
              </a:rPr>
              <a:t>1px</a:t>
            </a:r>
            <a:r>
              <a:rPr lang="en" sz="1100">
                <a:solidFill>
                  <a:srgbClr val="477766"/>
                </a:solidFill>
              </a:rPr>
              <a:t> solid orange</a:t>
            </a:r>
            <a:r>
              <a:rPr lang="en" sz="1100">
                <a:solidFill>
                  <a:srgbClr val="800080"/>
                </a:solidFill>
              </a:rPr>
              <a:t>;</a:t>
            </a:r>
            <a:r>
              <a:rPr lang="en" sz="1100">
                <a:solidFill>
                  <a:srgbClr val="CC5555"/>
                </a:solidFill>
              </a:rPr>
              <a:t>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Second paragraph</a:t>
            </a:r>
            <a:r>
              <a:rPr lang="en" sz="1100">
                <a:solidFill>
                  <a:srgbClr val="778C77"/>
                </a:solidFill>
              </a:rPr>
              <a:t>.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200">
              <a:solidFill>
                <a:srgbClr val="865700"/>
              </a:solidFill>
            </a:endParaRPr>
          </a:p>
        </p:txBody>
      </p:sp>
      <p:sp>
        <p:nvSpPr>
          <p:cNvPr id="311" name="Google Shape;311;p53"/>
          <p:cNvSpPr txBox="1"/>
          <p:nvPr>
            <p:ph idx="1" type="body"/>
          </p:nvPr>
        </p:nvSpPr>
        <p:spPr>
          <a:xfrm>
            <a:off x="464100" y="959150"/>
            <a:ext cx="32880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HTML Snippet from Index.html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2" name="Google Shape;312;p53"/>
          <p:cNvSpPr txBox="1"/>
          <p:nvPr>
            <p:ph idx="1" type="body"/>
          </p:nvPr>
        </p:nvSpPr>
        <p:spPr>
          <a:xfrm>
            <a:off x="5813250" y="1017713"/>
            <a:ext cx="14889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styles.css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3" name="Google Shape;313;p53"/>
          <p:cNvSpPr txBox="1"/>
          <p:nvPr>
            <p:ph idx="1" type="body"/>
          </p:nvPr>
        </p:nvSpPr>
        <p:spPr>
          <a:xfrm>
            <a:off x="4979950" y="1397450"/>
            <a:ext cx="3624900" cy="19023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B96969"/>
                </a:solidFill>
              </a:rPr>
              <a:t>/* You can optionally add this to explicitly set display: block */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508050"/>
                </a:solidFill>
              </a:rPr>
              <a:t>div</a:t>
            </a:r>
            <a:r>
              <a:rPr lang="en" sz="1100">
                <a:solidFill>
                  <a:srgbClr val="55CC66"/>
                </a:solidFill>
              </a:rPr>
              <a:t> </a:t>
            </a:r>
            <a:r>
              <a:rPr lang="en" sz="1100">
                <a:solidFill>
                  <a:srgbClr val="800080"/>
                </a:solidFill>
              </a:rPr>
              <a:t>{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b="1" lang="en" sz="1100">
                <a:solidFill>
                  <a:srgbClr val="BB7977"/>
                </a:solidFill>
              </a:rPr>
              <a:t>display</a:t>
            </a:r>
            <a:r>
              <a:rPr lang="en" sz="1100">
                <a:solidFill>
                  <a:srgbClr val="808030"/>
                </a:solidFill>
              </a:rPr>
              <a:t>:</a:t>
            </a:r>
            <a:r>
              <a:rPr lang="en" sz="1100">
                <a:solidFill>
                  <a:srgbClr val="55CC66"/>
                </a:solidFill>
              </a:rPr>
              <a:t> </a:t>
            </a:r>
            <a:r>
              <a:rPr lang="en" sz="1100">
                <a:solidFill>
                  <a:srgbClr val="477766"/>
                </a:solidFill>
              </a:rPr>
              <a:t>block</a:t>
            </a:r>
            <a:r>
              <a:rPr lang="en" sz="1100">
                <a:solidFill>
                  <a:srgbClr val="800080"/>
                </a:solidFill>
              </a:rPr>
              <a:t>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00080"/>
                </a:solidFill>
              </a:rPr>
              <a:t>}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55CC66"/>
                </a:solidFill>
              </a:rPr>
              <a:t> </a:t>
            </a:r>
            <a:r>
              <a:rPr lang="en" sz="1100">
                <a:solidFill>
                  <a:srgbClr val="800080"/>
                </a:solidFill>
              </a:rPr>
              <a:t>{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b="1" lang="en" sz="1100">
                <a:solidFill>
                  <a:srgbClr val="BB7977"/>
                </a:solidFill>
              </a:rPr>
              <a:t>display</a:t>
            </a:r>
            <a:r>
              <a:rPr lang="en" sz="1100">
                <a:solidFill>
                  <a:srgbClr val="808030"/>
                </a:solidFill>
              </a:rPr>
              <a:t>:</a:t>
            </a:r>
            <a:r>
              <a:rPr lang="en" sz="1100">
                <a:solidFill>
                  <a:srgbClr val="55CC66"/>
                </a:solidFill>
              </a:rPr>
              <a:t> </a:t>
            </a:r>
            <a:r>
              <a:rPr lang="en" sz="1100">
                <a:solidFill>
                  <a:srgbClr val="477766"/>
                </a:solidFill>
              </a:rPr>
              <a:t>block</a:t>
            </a:r>
            <a:r>
              <a:rPr lang="en" sz="1100">
                <a:solidFill>
                  <a:srgbClr val="800080"/>
                </a:solidFill>
              </a:rPr>
              <a:t>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00080"/>
                </a:solidFill>
              </a:rPr>
              <a:t>}</a:t>
            </a:r>
            <a:endParaRPr sz="1100">
              <a:solidFill>
                <a:srgbClr val="80008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80803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Display property: Inline elements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9" name="Google Shape;319;p54"/>
          <p:cNvSpPr txBox="1"/>
          <p:nvPr>
            <p:ph idx="1" type="body"/>
          </p:nvPr>
        </p:nvSpPr>
        <p:spPr>
          <a:xfrm>
            <a:off x="195825" y="941525"/>
            <a:ext cx="8466600" cy="21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are inline elements?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Inline elements flow along with the surrounding content, like words in a sentence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They do not start on a new line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They only take up as much width as their content requires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 cannot set the width and height properties on inline elements directly; they are determined by the content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Examples of inline elements by default: &lt;span&gt;, &lt;a&gt;, &lt;img&gt;, &lt;strong&gt;, &lt;em&gt;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Example: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54"/>
          <p:cNvSpPr txBox="1"/>
          <p:nvPr>
            <p:ph idx="1" type="body"/>
          </p:nvPr>
        </p:nvSpPr>
        <p:spPr>
          <a:xfrm>
            <a:off x="464100" y="3531050"/>
            <a:ext cx="4271100" cy="1445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span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First span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span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span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Second span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span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a</a:t>
            </a:r>
            <a:r>
              <a:rPr lang="en" sz="1100">
                <a:solidFill>
                  <a:srgbClr val="477766"/>
                </a:solidFill>
              </a:rPr>
              <a:t> href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"#"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First link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a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a</a:t>
            </a:r>
            <a:r>
              <a:rPr lang="en" sz="1100">
                <a:solidFill>
                  <a:srgbClr val="477766"/>
                </a:solidFill>
              </a:rPr>
              <a:t> href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"#"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Second link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a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865700"/>
              </a:solidFill>
            </a:endParaRPr>
          </a:p>
        </p:txBody>
      </p:sp>
      <p:sp>
        <p:nvSpPr>
          <p:cNvPr id="321" name="Google Shape;321;p54"/>
          <p:cNvSpPr txBox="1"/>
          <p:nvPr>
            <p:ph idx="1" type="body"/>
          </p:nvPr>
        </p:nvSpPr>
        <p:spPr>
          <a:xfrm>
            <a:off x="464100" y="3168950"/>
            <a:ext cx="32880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HTML Snippet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2" name="Google Shape;322;p54"/>
          <p:cNvSpPr txBox="1"/>
          <p:nvPr>
            <p:ph idx="1" type="body"/>
          </p:nvPr>
        </p:nvSpPr>
        <p:spPr>
          <a:xfrm>
            <a:off x="5841225" y="3168938"/>
            <a:ext cx="14889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styles.css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" name="Google Shape;323;p54"/>
          <p:cNvSpPr txBox="1"/>
          <p:nvPr>
            <p:ph idx="1" type="body"/>
          </p:nvPr>
        </p:nvSpPr>
        <p:spPr>
          <a:xfrm>
            <a:off x="4979950" y="3531050"/>
            <a:ext cx="3624900" cy="15213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08050"/>
                </a:solidFill>
              </a:rPr>
              <a:t>span</a:t>
            </a:r>
            <a:r>
              <a:rPr lang="en" sz="1000">
                <a:solidFill>
                  <a:srgbClr val="55CC66"/>
                </a:solidFill>
              </a:rPr>
              <a:t> </a:t>
            </a:r>
            <a:r>
              <a:rPr lang="en" sz="1000">
                <a:solidFill>
                  <a:srgbClr val="800080"/>
                </a:solidFill>
              </a:rPr>
              <a:t>{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</a:t>
            </a:r>
            <a:r>
              <a:rPr b="1" lang="en" sz="1000">
                <a:solidFill>
                  <a:srgbClr val="BB7977"/>
                </a:solidFill>
              </a:rPr>
              <a:t>display</a:t>
            </a:r>
            <a:r>
              <a:rPr lang="en" sz="1000">
                <a:solidFill>
                  <a:srgbClr val="808030"/>
                </a:solidFill>
              </a:rPr>
              <a:t>:</a:t>
            </a:r>
            <a:r>
              <a:rPr lang="en" sz="1000">
                <a:solidFill>
                  <a:srgbClr val="55CC66"/>
                </a:solidFill>
              </a:rPr>
              <a:t> </a:t>
            </a:r>
            <a:r>
              <a:rPr lang="en" sz="1000">
                <a:solidFill>
                  <a:srgbClr val="477766"/>
                </a:solidFill>
              </a:rPr>
              <a:t>inline</a:t>
            </a:r>
            <a:r>
              <a:rPr lang="en" sz="1000">
                <a:solidFill>
                  <a:srgbClr val="800080"/>
                </a:solidFill>
              </a:rPr>
              <a:t>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</a:t>
            </a:r>
            <a:r>
              <a:rPr b="1" lang="en" sz="1000">
                <a:solidFill>
                  <a:srgbClr val="BB7977"/>
                </a:solidFill>
              </a:rPr>
              <a:t>border</a:t>
            </a:r>
            <a:r>
              <a:rPr lang="en" sz="1000">
                <a:solidFill>
                  <a:srgbClr val="808030"/>
                </a:solidFill>
              </a:rPr>
              <a:t>:</a:t>
            </a:r>
            <a:r>
              <a:rPr lang="en" sz="1000">
                <a:solidFill>
                  <a:srgbClr val="55CC66"/>
                </a:solidFill>
              </a:rPr>
              <a:t> </a:t>
            </a:r>
            <a:r>
              <a:rPr lang="en" sz="1000">
                <a:solidFill>
                  <a:srgbClr val="778C77"/>
                </a:solidFill>
              </a:rPr>
              <a:t>1px</a:t>
            </a:r>
            <a:r>
              <a:rPr lang="en" sz="1000">
                <a:solidFill>
                  <a:srgbClr val="55CC66"/>
                </a:solidFill>
              </a:rPr>
              <a:t> </a:t>
            </a:r>
            <a:r>
              <a:rPr lang="en" sz="1000">
                <a:solidFill>
                  <a:srgbClr val="477766"/>
                </a:solidFill>
              </a:rPr>
              <a:t>solid</a:t>
            </a:r>
            <a:r>
              <a:rPr lang="en" sz="1000">
                <a:solidFill>
                  <a:srgbClr val="55CC66"/>
                </a:solidFill>
              </a:rPr>
              <a:t> purple</a:t>
            </a:r>
            <a:r>
              <a:rPr lang="en" sz="1000">
                <a:solidFill>
                  <a:srgbClr val="800080"/>
                </a:solidFill>
              </a:rPr>
              <a:t>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00080"/>
                </a:solidFill>
              </a:rPr>
              <a:t>}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08050"/>
                </a:solidFill>
              </a:rPr>
              <a:t>a</a:t>
            </a:r>
            <a:r>
              <a:rPr lang="en" sz="1000">
                <a:solidFill>
                  <a:srgbClr val="55CC66"/>
                </a:solidFill>
              </a:rPr>
              <a:t> </a:t>
            </a:r>
            <a:r>
              <a:rPr lang="en" sz="1000">
                <a:solidFill>
                  <a:srgbClr val="800080"/>
                </a:solidFill>
              </a:rPr>
              <a:t>{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</a:t>
            </a:r>
            <a:r>
              <a:rPr b="1" lang="en" sz="1000">
                <a:solidFill>
                  <a:srgbClr val="BB7977"/>
                </a:solidFill>
              </a:rPr>
              <a:t>display</a:t>
            </a:r>
            <a:r>
              <a:rPr lang="en" sz="1000">
                <a:solidFill>
                  <a:srgbClr val="808030"/>
                </a:solidFill>
              </a:rPr>
              <a:t>:</a:t>
            </a:r>
            <a:r>
              <a:rPr lang="en" sz="1000">
                <a:solidFill>
                  <a:srgbClr val="55CC66"/>
                </a:solidFill>
              </a:rPr>
              <a:t> </a:t>
            </a:r>
            <a:r>
              <a:rPr lang="en" sz="1000">
                <a:solidFill>
                  <a:srgbClr val="477766"/>
                </a:solidFill>
              </a:rPr>
              <a:t>inline</a:t>
            </a:r>
            <a:r>
              <a:rPr lang="en" sz="1000">
                <a:solidFill>
                  <a:srgbClr val="800080"/>
                </a:solidFill>
              </a:rPr>
              <a:t>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CC66"/>
                </a:solidFill>
              </a:rPr>
              <a:t>  </a:t>
            </a:r>
            <a:r>
              <a:rPr b="1" lang="en" sz="1000">
                <a:solidFill>
                  <a:srgbClr val="BB7977"/>
                </a:solidFill>
              </a:rPr>
              <a:t>border</a:t>
            </a:r>
            <a:r>
              <a:rPr lang="en" sz="1000">
                <a:solidFill>
                  <a:srgbClr val="808030"/>
                </a:solidFill>
              </a:rPr>
              <a:t>:</a:t>
            </a:r>
            <a:r>
              <a:rPr lang="en" sz="1000">
                <a:solidFill>
                  <a:srgbClr val="55CC66"/>
                </a:solidFill>
              </a:rPr>
              <a:t> </a:t>
            </a:r>
            <a:r>
              <a:rPr lang="en" sz="1000">
                <a:solidFill>
                  <a:srgbClr val="778C77"/>
                </a:solidFill>
              </a:rPr>
              <a:t>1px</a:t>
            </a:r>
            <a:r>
              <a:rPr lang="en" sz="1000">
                <a:solidFill>
                  <a:srgbClr val="55CC66"/>
                </a:solidFill>
              </a:rPr>
              <a:t> </a:t>
            </a:r>
            <a:r>
              <a:rPr lang="en" sz="1000">
                <a:solidFill>
                  <a:srgbClr val="477766"/>
                </a:solidFill>
              </a:rPr>
              <a:t>solid</a:t>
            </a:r>
            <a:r>
              <a:rPr lang="en" sz="1000">
                <a:solidFill>
                  <a:srgbClr val="55CC66"/>
                </a:solidFill>
              </a:rPr>
              <a:t> brown</a:t>
            </a:r>
            <a:r>
              <a:rPr lang="en" sz="1000">
                <a:solidFill>
                  <a:srgbClr val="800080"/>
                </a:solidFill>
              </a:rPr>
              <a:t>;</a:t>
            </a:r>
            <a:endParaRPr sz="10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00080"/>
                </a:solidFill>
              </a:rPr>
              <a:t>}</a:t>
            </a:r>
            <a:endParaRPr sz="1000">
              <a:solidFill>
                <a:srgbClr val="B96969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5"/>
          <p:cNvSpPr txBox="1"/>
          <p:nvPr>
            <p:ph idx="1" type="body"/>
          </p:nvPr>
        </p:nvSpPr>
        <p:spPr>
          <a:xfrm>
            <a:off x="195825" y="941525"/>
            <a:ext cx="8466600" cy="30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Setting display to block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 for structural elements and content that needs to be on its own line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Good for containers and larger blocks of text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Allows setting width and height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Setting display to inline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 for small elements within a line of text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Good for formatting specific words or phrases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width and height properties are ignored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29" name="Google Shape;329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Key Differences: inline vs block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6"/>
          <p:cNvSpPr txBox="1"/>
          <p:nvPr>
            <p:ph idx="1" type="body"/>
          </p:nvPr>
        </p:nvSpPr>
        <p:spPr>
          <a:xfrm>
            <a:off x="150675" y="1151475"/>
            <a:ext cx="84666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</a:t>
            </a: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rite down the CSS selector(s) you would use to target each of the following elements: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main title "Awesome Gadget".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All elements with the class "price".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"Add to Cart" button.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entire product card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" sz="1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Display: How would you use the display property to make the "price" ($19.99) and the "Add to Cart" button appear on the same line, next to each other? Briefly explain which display value(s) you would use and why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5" name="Google Shape;33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Exercise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6" name="Google Shape;336;p56"/>
          <p:cNvSpPr txBox="1"/>
          <p:nvPr>
            <p:ph idx="1" type="body"/>
          </p:nvPr>
        </p:nvSpPr>
        <p:spPr>
          <a:xfrm>
            <a:off x="3602400" y="3466125"/>
            <a:ext cx="5315700" cy="1523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div</a:t>
            </a:r>
            <a:r>
              <a:rPr lang="en" sz="1100">
                <a:solidFill>
                  <a:srgbClr val="477766"/>
                </a:solidFill>
              </a:rPr>
              <a:t> class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"product-card"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h2</a:t>
            </a:r>
            <a:r>
              <a:rPr lang="en" sz="1100">
                <a:solidFill>
                  <a:srgbClr val="477766"/>
                </a:solidFill>
              </a:rPr>
              <a:t> id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"product-title"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Awesome Gadget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h2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span</a:t>
            </a:r>
            <a:r>
              <a:rPr lang="en" sz="1100">
                <a:solidFill>
                  <a:srgbClr val="477766"/>
                </a:solidFill>
              </a:rPr>
              <a:t> class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"price"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$</a:t>
            </a:r>
            <a:r>
              <a:rPr lang="en" sz="1100">
                <a:solidFill>
                  <a:srgbClr val="778C77"/>
                </a:solidFill>
              </a:rPr>
              <a:t>19.99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span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477766"/>
                </a:solidFill>
              </a:rPr>
              <a:t> class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"description"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This is a brief description of the awesome gadget</a:t>
            </a:r>
            <a:r>
              <a:rPr lang="en" sz="1100">
                <a:solidFill>
                  <a:srgbClr val="778C77"/>
                </a:solidFill>
              </a:rPr>
              <a:t>.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button</a:t>
            </a:r>
            <a:r>
              <a:rPr lang="en" sz="1100">
                <a:solidFill>
                  <a:srgbClr val="477766"/>
                </a:solidFill>
              </a:rPr>
              <a:t> class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"add-to-cart"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Add to Cart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button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div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8657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7"/>
          <p:cNvSpPr txBox="1"/>
          <p:nvPr/>
        </p:nvSpPr>
        <p:spPr>
          <a:xfrm>
            <a:off x="0" y="2301000"/>
            <a:ext cx="9144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80">
                <a:solidFill>
                  <a:schemeClr val="dk1"/>
                </a:solidFill>
              </a:rPr>
              <a:t>Introduction to Pseudo-classes</a:t>
            </a:r>
            <a:endParaRPr sz="238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Styling Link States: Pseudo-classes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" name="Google Shape;347;p58"/>
          <p:cNvSpPr txBox="1"/>
          <p:nvPr>
            <p:ph idx="1" type="body"/>
          </p:nvPr>
        </p:nvSpPr>
        <p:spPr>
          <a:xfrm>
            <a:off x="158550" y="1027050"/>
            <a:ext cx="8466600" cy="38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Style elements in different states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For links, we often style them based on whether they've been visited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Pseudo-classes are denoted by a colon(:) followed by the name of the pseudo-class (e.g., :hover, :active)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Commonly used pseudo-classes: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:link: Applies style to links that the user has not yet clicked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Allows you to set a default style for unvisited links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Example: a:link { color: blue; text-decoration: none; } (Blue, no underline)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:visited: Applies style to links that the user has already been clicked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Useful for providing feedback to the user about which links they have already clicked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Think: Links on a search results page that you've already clicked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Example: a:visited { color: purple; text-decoration: underline; } (Purple, underlined)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Example: Pseudo-classes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3" name="Google Shape;353;p59"/>
          <p:cNvSpPr txBox="1"/>
          <p:nvPr>
            <p:ph idx="1" type="body"/>
          </p:nvPr>
        </p:nvSpPr>
        <p:spPr>
          <a:xfrm>
            <a:off x="464100" y="1321250"/>
            <a:ext cx="4271100" cy="1445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&gt;&lt;</a:t>
            </a:r>
            <a:r>
              <a:rPr b="1" lang="en" sz="1100">
                <a:solidFill>
                  <a:srgbClr val="508050"/>
                </a:solidFill>
              </a:rPr>
              <a:t>a</a:t>
            </a:r>
            <a:r>
              <a:rPr lang="en" sz="1100">
                <a:solidFill>
                  <a:srgbClr val="477766"/>
                </a:solidFill>
              </a:rPr>
              <a:t> href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"https://www.google.com"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Visit Google (Unvisited)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a</a:t>
            </a:r>
            <a:r>
              <a:rPr lang="en" sz="1100">
                <a:solidFill>
                  <a:srgbClr val="865700"/>
                </a:solidFill>
              </a:rPr>
              <a:t>&gt;&lt;/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&gt;&lt;</a:t>
            </a:r>
            <a:r>
              <a:rPr b="1" lang="en" sz="1100">
                <a:solidFill>
                  <a:srgbClr val="508050"/>
                </a:solidFill>
              </a:rPr>
              <a:t>a</a:t>
            </a:r>
            <a:r>
              <a:rPr lang="en" sz="1100">
                <a:solidFill>
                  <a:srgbClr val="477766"/>
                </a:solidFill>
              </a:rPr>
              <a:t> href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"https://www.example.com"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Visit Example (Might be visited)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a</a:t>
            </a:r>
            <a:r>
              <a:rPr lang="en" sz="1100">
                <a:solidFill>
                  <a:srgbClr val="865700"/>
                </a:solidFill>
              </a:rPr>
              <a:t>&gt;&lt;/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865700"/>
              </a:solidFill>
            </a:endParaRPr>
          </a:p>
        </p:txBody>
      </p:sp>
      <p:sp>
        <p:nvSpPr>
          <p:cNvPr id="354" name="Google Shape;354;p59"/>
          <p:cNvSpPr txBox="1"/>
          <p:nvPr>
            <p:ph idx="1" type="body"/>
          </p:nvPr>
        </p:nvSpPr>
        <p:spPr>
          <a:xfrm>
            <a:off x="464100" y="959150"/>
            <a:ext cx="32880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HTML Snippet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5" name="Google Shape;355;p59"/>
          <p:cNvSpPr txBox="1"/>
          <p:nvPr>
            <p:ph idx="1" type="body"/>
          </p:nvPr>
        </p:nvSpPr>
        <p:spPr>
          <a:xfrm>
            <a:off x="5020950" y="959138"/>
            <a:ext cx="14889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styles.css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6" name="Google Shape;356;p59"/>
          <p:cNvSpPr txBox="1"/>
          <p:nvPr>
            <p:ph idx="1" type="body"/>
          </p:nvPr>
        </p:nvSpPr>
        <p:spPr>
          <a:xfrm>
            <a:off x="4979950" y="1321250"/>
            <a:ext cx="3624900" cy="19023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508050"/>
                </a:solidFill>
              </a:rPr>
              <a:t>a</a:t>
            </a:r>
            <a:r>
              <a:rPr lang="en" sz="1100">
                <a:solidFill>
                  <a:srgbClr val="800080"/>
                </a:solidFill>
              </a:rPr>
              <a:t>:</a:t>
            </a:r>
            <a:r>
              <a:rPr b="1" lang="en" sz="1100">
                <a:solidFill>
                  <a:srgbClr val="508050"/>
                </a:solidFill>
              </a:rPr>
              <a:t>link</a:t>
            </a:r>
            <a:r>
              <a:rPr lang="en" sz="1100">
                <a:solidFill>
                  <a:srgbClr val="55CC66"/>
                </a:solidFill>
              </a:rPr>
              <a:t> </a:t>
            </a:r>
            <a:r>
              <a:rPr lang="en" sz="1100">
                <a:solidFill>
                  <a:srgbClr val="800080"/>
                </a:solidFill>
              </a:rPr>
              <a:t>{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b="1" lang="en" sz="1100">
                <a:solidFill>
                  <a:srgbClr val="BB7977"/>
                </a:solidFill>
              </a:rPr>
              <a:t>color</a:t>
            </a:r>
            <a:r>
              <a:rPr lang="en" sz="1100">
                <a:solidFill>
                  <a:srgbClr val="808030"/>
                </a:solidFill>
              </a:rPr>
              <a:t>:</a:t>
            </a:r>
            <a:r>
              <a:rPr lang="en" sz="1100">
                <a:solidFill>
                  <a:srgbClr val="55CC66"/>
                </a:solidFill>
              </a:rPr>
              <a:t> blue</a:t>
            </a:r>
            <a:r>
              <a:rPr lang="en" sz="1100">
                <a:solidFill>
                  <a:srgbClr val="800080"/>
                </a:solidFill>
              </a:rPr>
              <a:t>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b="1" lang="en" sz="1100">
                <a:solidFill>
                  <a:srgbClr val="BB7977"/>
                </a:solidFill>
              </a:rPr>
              <a:t>text-decoration</a:t>
            </a:r>
            <a:r>
              <a:rPr lang="en" sz="1100">
                <a:solidFill>
                  <a:srgbClr val="808030"/>
                </a:solidFill>
              </a:rPr>
              <a:t>:</a:t>
            </a:r>
            <a:r>
              <a:rPr lang="en" sz="1100">
                <a:solidFill>
                  <a:srgbClr val="55CC66"/>
                </a:solidFill>
              </a:rPr>
              <a:t> </a:t>
            </a:r>
            <a:r>
              <a:rPr lang="en" sz="1100">
                <a:solidFill>
                  <a:srgbClr val="477766"/>
                </a:solidFill>
              </a:rPr>
              <a:t>none</a:t>
            </a:r>
            <a:r>
              <a:rPr lang="en" sz="1100">
                <a:solidFill>
                  <a:srgbClr val="800080"/>
                </a:solidFill>
              </a:rPr>
              <a:t>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00080"/>
                </a:solidFill>
              </a:rPr>
              <a:t>}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508050"/>
                </a:solidFill>
              </a:rPr>
              <a:t>a</a:t>
            </a:r>
            <a:r>
              <a:rPr lang="en" sz="1100">
                <a:solidFill>
                  <a:srgbClr val="800080"/>
                </a:solidFill>
              </a:rPr>
              <a:t>:</a:t>
            </a:r>
            <a:r>
              <a:rPr b="1" lang="en" sz="1100">
                <a:solidFill>
                  <a:srgbClr val="508050"/>
                </a:solidFill>
              </a:rPr>
              <a:t>visited</a:t>
            </a:r>
            <a:r>
              <a:rPr lang="en" sz="1100">
                <a:solidFill>
                  <a:srgbClr val="55CC66"/>
                </a:solidFill>
              </a:rPr>
              <a:t> </a:t>
            </a:r>
            <a:r>
              <a:rPr lang="en" sz="1100">
                <a:solidFill>
                  <a:srgbClr val="800080"/>
                </a:solidFill>
              </a:rPr>
              <a:t>{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b="1" lang="en" sz="1100">
                <a:solidFill>
                  <a:srgbClr val="BB7977"/>
                </a:solidFill>
              </a:rPr>
              <a:t>color</a:t>
            </a:r>
            <a:r>
              <a:rPr lang="en" sz="1100">
                <a:solidFill>
                  <a:srgbClr val="808030"/>
                </a:solidFill>
              </a:rPr>
              <a:t>:</a:t>
            </a:r>
            <a:r>
              <a:rPr lang="en" sz="1100">
                <a:solidFill>
                  <a:srgbClr val="55CC66"/>
                </a:solidFill>
              </a:rPr>
              <a:t> purple</a:t>
            </a:r>
            <a:r>
              <a:rPr lang="en" sz="1100">
                <a:solidFill>
                  <a:srgbClr val="800080"/>
                </a:solidFill>
              </a:rPr>
              <a:t>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b="1" lang="en" sz="1100">
                <a:solidFill>
                  <a:srgbClr val="BB7977"/>
                </a:solidFill>
              </a:rPr>
              <a:t>text-decoration</a:t>
            </a:r>
            <a:r>
              <a:rPr lang="en" sz="1100">
                <a:solidFill>
                  <a:srgbClr val="808030"/>
                </a:solidFill>
              </a:rPr>
              <a:t>:</a:t>
            </a:r>
            <a:r>
              <a:rPr lang="en" sz="1100">
                <a:solidFill>
                  <a:srgbClr val="55CC66"/>
                </a:solidFill>
              </a:rPr>
              <a:t> </a:t>
            </a:r>
            <a:r>
              <a:rPr lang="en" sz="1100">
                <a:solidFill>
                  <a:srgbClr val="477766"/>
                </a:solidFill>
              </a:rPr>
              <a:t>underline</a:t>
            </a:r>
            <a:r>
              <a:rPr lang="en" sz="1100">
                <a:solidFill>
                  <a:srgbClr val="800080"/>
                </a:solidFill>
              </a:rPr>
              <a:t>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00080"/>
                </a:solidFill>
              </a:rPr>
              <a:t>}</a:t>
            </a:r>
            <a:endParaRPr sz="1100">
              <a:solidFill>
                <a:srgbClr val="B96969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60"/>
          <p:cNvSpPr txBox="1"/>
          <p:nvPr>
            <p:ph idx="1" type="body"/>
          </p:nvPr>
        </p:nvSpPr>
        <p:spPr>
          <a:xfrm>
            <a:off x="195825" y="941525"/>
            <a:ext cx="8466600" cy="19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:hover pseudo-class applies styles when the user moves their mouse pointer over an element.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Commonly used to provide interactive feedback, such as changing the appearance of buttons or links.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Example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a:hover { color: red; }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</a:t>
            </a: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urn the color of the link text</a:t>
            </a: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red when the mouse is over it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62" name="Google Shape;36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Pseudo-classes: hover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p60"/>
          <p:cNvSpPr txBox="1"/>
          <p:nvPr>
            <p:ph idx="1" type="body"/>
          </p:nvPr>
        </p:nvSpPr>
        <p:spPr>
          <a:xfrm>
            <a:off x="358750" y="3251525"/>
            <a:ext cx="4271100" cy="1445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&gt;&lt;</a:t>
            </a:r>
            <a:r>
              <a:rPr b="1" lang="en" sz="1100">
                <a:solidFill>
                  <a:srgbClr val="508050"/>
                </a:solidFill>
              </a:rPr>
              <a:t>a</a:t>
            </a:r>
            <a:r>
              <a:rPr lang="en" sz="1100">
                <a:solidFill>
                  <a:srgbClr val="477766"/>
                </a:solidFill>
              </a:rPr>
              <a:t> href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"https://www.google.com"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Visit Google (Unvisited)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a</a:t>
            </a:r>
            <a:r>
              <a:rPr lang="en" sz="1100">
                <a:solidFill>
                  <a:srgbClr val="865700"/>
                </a:solidFill>
              </a:rPr>
              <a:t>&gt;&lt;/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&gt;&lt;</a:t>
            </a:r>
            <a:r>
              <a:rPr b="1" lang="en" sz="1100">
                <a:solidFill>
                  <a:srgbClr val="508050"/>
                </a:solidFill>
              </a:rPr>
              <a:t>a</a:t>
            </a:r>
            <a:r>
              <a:rPr lang="en" sz="1100">
                <a:solidFill>
                  <a:srgbClr val="477766"/>
                </a:solidFill>
              </a:rPr>
              <a:t> href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"https://www.example.com"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Visit Example (Might be visited)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a</a:t>
            </a:r>
            <a:r>
              <a:rPr lang="en" sz="1100">
                <a:solidFill>
                  <a:srgbClr val="865700"/>
                </a:solidFill>
              </a:rPr>
              <a:t>&gt;&lt;/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865700"/>
              </a:solidFill>
            </a:endParaRPr>
          </a:p>
        </p:txBody>
      </p:sp>
      <p:sp>
        <p:nvSpPr>
          <p:cNvPr id="364" name="Google Shape;364;p60"/>
          <p:cNvSpPr txBox="1"/>
          <p:nvPr>
            <p:ph idx="1" type="body"/>
          </p:nvPr>
        </p:nvSpPr>
        <p:spPr>
          <a:xfrm>
            <a:off x="358750" y="2889425"/>
            <a:ext cx="32880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HTML Snippet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60"/>
          <p:cNvSpPr txBox="1"/>
          <p:nvPr>
            <p:ph idx="1" type="body"/>
          </p:nvPr>
        </p:nvSpPr>
        <p:spPr>
          <a:xfrm>
            <a:off x="4915600" y="2889413"/>
            <a:ext cx="14889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styles.css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6" name="Google Shape;366;p60"/>
          <p:cNvSpPr txBox="1"/>
          <p:nvPr>
            <p:ph idx="1" type="body"/>
          </p:nvPr>
        </p:nvSpPr>
        <p:spPr>
          <a:xfrm>
            <a:off x="4874600" y="3251525"/>
            <a:ext cx="3624900" cy="10641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508050"/>
                </a:solidFill>
              </a:rPr>
              <a:t>a</a:t>
            </a:r>
            <a:r>
              <a:rPr lang="en" sz="1100">
                <a:solidFill>
                  <a:srgbClr val="800080"/>
                </a:solidFill>
              </a:rPr>
              <a:t>:</a:t>
            </a:r>
            <a:r>
              <a:rPr b="1" lang="en" sz="1100">
                <a:solidFill>
                  <a:srgbClr val="508050"/>
                </a:solidFill>
              </a:rPr>
              <a:t>hover</a:t>
            </a:r>
            <a:r>
              <a:rPr lang="en" sz="1100">
                <a:solidFill>
                  <a:srgbClr val="55CC66"/>
                </a:solidFill>
              </a:rPr>
              <a:t> </a:t>
            </a:r>
            <a:r>
              <a:rPr lang="en" sz="1100">
                <a:solidFill>
                  <a:srgbClr val="800080"/>
                </a:solidFill>
              </a:rPr>
              <a:t>{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b="1" lang="en" sz="1100">
                <a:solidFill>
                  <a:srgbClr val="BB7977"/>
                </a:solidFill>
              </a:rPr>
              <a:t>color</a:t>
            </a:r>
            <a:r>
              <a:rPr lang="en" sz="1100">
                <a:solidFill>
                  <a:srgbClr val="808030"/>
                </a:solidFill>
              </a:rPr>
              <a:t>:</a:t>
            </a:r>
            <a:r>
              <a:rPr lang="en" sz="1100">
                <a:solidFill>
                  <a:srgbClr val="55CC66"/>
                </a:solidFill>
              </a:rPr>
              <a:t> red</a:t>
            </a:r>
            <a:r>
              <a:rPr lang="en" sz="1100">
                <a:solidFill>
                  <a:srgbClr val="800080"/>
                </a:solidFill>
              </a:rPr>
              <a:t>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b="1" lang="en" sz="1100">
                <a:solidFill>
                  <a:srgbClr val="BB7977"/>
                </a:solidFill>
              </a:rPr>
              <a:t>font-weight</a:t>
            </a:r>
            <a:r>
              <a:rPr lang="en" sz="1100">
                <a:solidFill>
                  <a:srgbClr val="808030"/>
                </a:solidFill>
              </a:rPr>
              <a:t>:</a:t>
            </a:r>
            <a:r>
              <a:rPr lang="en" sz="1100">
                <a:solidFill>
                  <a:srgbClr val="55CC66"/>
                </a:solidFill>
              </a:rPr>
              <a:t> </a:t>
            </a:r>
            <a:r>
              <a:rPr lang="en" sz="1100">
                <a:solidFill>
                  <a:srgbClr val="477766"/>
                </a:solidFill>
              </a:rPr>
              <a:t>bold</a:t>
            </a:r>
            <a:r>
              <a:rPr lang="en" sz="1100">
                <a:solidFill>
                  <a:srgbClr val="800080"/>
                </a:solidFill>
              </a:rPr>
              <a:t>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00080"/>
                </a:solidFill>
              </a:rPr>
              <a:t>}</a:t>
            </a:r>
            <a:endParaRPr b="1" sz="1100">
              <a:solidFill>
                <a:srgbClr val="50805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1"/>
          <p:cNvSpPr txBox="1"/>
          <p:nvPr>
            <p:ph idx="1" type="body"/>
          </p:nvPr>
        </p:nvSpPr>
        <p:spPr>
          <a:xfrm>
            <a:off x="195825" y="941525"/>
            <a:ext cx="8466600" cy="18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Styles an element at the moment it is being clicked. Eg: when the mouse button is pressed down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Provides immediate visual feedback to the user that their action is being registered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effect is usually very brief, lasting only while the mouse button is held down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Example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a:active { background-color: yellow; color: black; }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2" marL="13716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Yellow background, black text while clicking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2" name="Google Shape;372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Pseudo-classes: active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p61"/>
          <p:cNvSpPr txBox="1"/>
          <p:nvPr>
            <p:ph idx="1" type="body"/>
          </p:nvPr>
        </p:nvSpPr>
        <p:spPr>
          <a:xfrm>
            <a:off x="358750" y="3556325"/>
            <a:ext cx="4271100" cy="1445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&gt;&lt;</a:t>
            </a:r>
            <a:r>
              <a:rPr b="1" lang="en" sz="1100">
                <a:solidFill>
                  <a:srgbClr val="508050"/>
                </a:solidFill>
              </a:rPr>
              <a:t>a</a:t>
            </a:r>
            <a:r>
              <a:rPr lang="en" sz="1100">
                <a:solidFill>
                  <a:srgbClr val="477766"/>
                </a:solidFill>
              </a:rPr>
              <a:t> href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"https://www.google.com"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Visit Google (Unvisited)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a</a:t>
            </a:r>
            <a:r>
              <a:rPr lang="en" sz="1100">
                <a:solidFill>
                  <a:srgbClr val="865700"/>
                </a:solidFill>
              </a:rPr>
              <a:t>&gt;&lt;/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65700"/>
                </a:solidFill>
              </a:rPr>
              <a:t>&lt;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&gt;&lt;</a:t>
            </a:r>
            <a:r>
              <a:rPr b="1" lang="en" sz="1100">
                <a:solidFill>
                  <a:srgbClr val="508050"/>
                </a:solidFill>
              </a:rPr>
              <a:t>a</a:t>
            </a:r>
            <a:r>
              <a:rPr lang="en" sz="1100">
                <a:solidFill>
                  <a:srgbClr val="477766"/>
                </a:solidFill>
              </a:rPr>
              <a:t> href</a:t>
            </a:r>
            <a:r>
              <a:rPr lang="en" sz="1100">
                <a:solidFill>
                  <a:srgbClr val="808030"/>
                </a:solidFill>
              </a:rPr>
              <a:t>=</a:t>
            </a:r>
            <a:r>
              <a:rPr lang="en" sz="1100">
                <a:solidFill>
                  <a:srgbClr val="CC5555"/>
                </a:solidFill>
              </a:rPr>
              <a:t>"https://www.example.com"</a:t>
            </a:r>
            <a:r>
              <a:rPr lang="en" sz="1100">
                <a:solidFill>
                  <a:srgbClr val="865700"/>
                </a:solidFill>
              </a:rPr>
              <a:t>&gt;</a:t>
            </a:r>
            <a:r>
              <a:rPr lang="en" sz="1100">
                <a:solidFill>
                  <a:srgbClr val="55CC66"/>
                </a:solidFill>
              </a:rPr>
              <a:t>Visit Example (Might be visited)</a:t>
            </a:r>
            <a:r>
              <a:rPr lang="en" sz="1100">
                <a:solidFill>
                  <a:srgbClr val="865700"/>
                </a:solidFill>
              </a:rPr>
              <a:t>&lt;/</a:t>
            </a:r>
            <a:r>
              <a:rPr b="1" lang="en" sz="1100">
                <a:solidFill>
                  <a:srgbClr val="508050"/>
                </a:solidFill>
              </a:rPr>
              <a:t>a</a:t>
            </a:r>
            <a:r>
              <a:rPr lang="en" sz="1100">
                <a:solidFill>
                  <a:srgbClr val="865700"/>
                </a:solidFill>
              </a:rPr>
              <a:t>&gt;&lt;/</a:t>
            </a:r>
            <a:r>
              <a:rPr b="1" lang="en" sz="1100">
                <a:solidFill>
                  <a:srgbClr val="508050"/>
                </a:solidFill>
              </a:rPr>
              <a:t>p</a:t>
            </a:r>
            <a:r>
              <a:rPr lang="en" sz="1100">
                <a:solidFill>
                  <a:srgbClr val="865700"/>
                </a:solidFill>
              </a:rPr>
              <a:t>&gt;</a:t>
            </a:r>
            <a:endParaRPr sz="1100">
              <a:solidFill>
                <a:srgbClr val="865700"/>
              </a:solidFill>
            </a:endParaRPr>
          </a:p>
        </p:txBody>
      </p:sp>
      <p:sp>
        <p:nvSpPr>
          <p:cNvPr id="374" name="Google Shape;374;p61"/>
          <p:cNvSpPr txBox="1"/>
          <p:nvPr>
            <p:ph idx="1" type="body"/>
          </p:nvPr>
        </p:nvSpPr>
        <p:spPr>
          <a:xfrm>
            <a:off x="358750" y="3194225"/>
            <a:ext cx="32880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HTML Snippet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p61"/>
          <p:cNvSpPr txBox="1"/>
          <p:nvPr>
            <p:ph idx="1" type="body"/>
          </p:nvPr>
        </p:nvSpPr>
        <p:spPr>
          <a:xfrm>
            <a:off x="4915600" y="3194213"/>
            <a:ext cx="14889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styles.css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6" name="Google Shape;376;p61"/>
          <p:cNvSpPr txBox="1"/>
          <p:nvPr>
            <p:ph idx="1" type="body"/>
          </p:nvPr>
        </p:nvSpPr>
        <p:spPr>
          <a:xfrm>
            <a:off x="4874600" y="3556325"/>
            <a:ext cx="3624900" cy="10641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508050"/>
                </a:solidFill>
              </a:rPr>
              <a:t>a</a:t>
            </a:r>
            <a:r>
              <a:rPr lang="en" sz="1100">
                <a:solidFill>
                  <a:srgbClr val="800080"/>
                </a:solidFill>
              </a:rPr>
              <a:t>:</a:t>
            </a:r>
            <a:r>
              <a:rPr b="1" lang="en" sz="1100">
                <a:solidFill>
                  <a:srgbClr val="508050"/>
                </a:solidFill>
              </a:rPr>
              <a:t>active</a:t>
            </a:r>
            <a:r>
              <a:rPr lang="en" sz="1100">
                <a:solidFill>
                  <a:srgbClr val="55CC66"/>
                </a:solidFill>
              </a:rPr>
              <a:t> </a:t>
            </a:r>
            <a:r>
              <a:rPr lang="en" sz="1100">
                <a:solidFill>
                  <a:srgbClr val="800080"/>
                </a:solidFill>
              </a:rPr>
              <a:t>{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5CC66"/>
                </a:solidFill>
              </a:rPr>
              <a:t>  </a:t>
            </a:r>
            <a:r>
              <a:rPr b="1" lang="en" sz="1100">
                <a:solidFill>
                  <a:srgbClr val="BB7977"/>
                </a:solidFill>
              </a:rPr>
              <a:t>background-color</a:t>
            </a:r>
            <a:r>
              <a:rPr lang="en" sz="1100">
                <a:solidFill>
                  <a:srgbClr val="808030"/>
                </a:solidFill>
              </a:rPr>
              <a:t>:</a:t>
            </a:r>
            <a:r>
              <a:rPr lang="en" sz="1100">
                <a:solidFill>
                  <a:srgbClr val="55CC66"/>
                </a:solidFill>
              </a:rPr>
              <a:t> yellow</a:t>
            </a:r>
            <a:r>
              <a:rPr lang="en" sz="1100">
                <a:solidFill>
                  <a:srgbClr val="800080"/>
                </a:solidFill>
              </a:rPr>
              <a:t>;</a:t>
            </a:r>
            <a:endParaRPr sz="1100">
              <a:solidFill>
                <a:srgbClr val="55C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00080"/>
                </a:solidFill>
              </a:rPr>
              <a:t>}</a:t>
            </a:r>
            <a:endParaRPr b="1" sz="1100">
              <a:solidFill>
                <a:srgbClr val="50805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Order of Pseudo-classes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2" name="Google Shape;382;p62"/>
          <p:cNvSpPr txBox="1"/>
          <p:nvPr>
            <p:ph idx="1" type="body"/>
          </p:nvPr>
        </p:nvSpPr>
        <p:spPr>
          <a:xfrm>
            <a:off x="158550" y="1027050"/>
            <a:ext cx="8466600" cy="38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When styling links, it's important to define the pseudo-classes in a specific order for them to work correctly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recommended order is (acronym LVHA):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:link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:visited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:hover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:active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If these are not in the correct order, some styles might not be applied as expected (e.g., :hover might override :visited)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Homework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p63"/>
          <p:cNvSpPr txBox="1"/>
          <p:nvPr>
            <p:ph idx="1" type="body"/>
          </p:nvPr>
        </p:nvSpPr>
        <p:spPr>
          <a:xfrm>
            <a:off x="158550" y="1027050"/>
            <a:ext cx="8466600" cy="38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4"/>
          <p:cNvSpPr txBox="1"/>
          <p:nvPr/>
        </p:nvSpPr>
        <p:spPr>
          <a:xfrm>
            <a:off x="0" y="2301000"/>
            <a:ext cx="9144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80">
                <a:solidFill>
                  <a:schemeClr val="dk1"/>
                </a:solidFill>
              </a:rPr>
              <a:t>That’s it for today!</a:t>
            </a:r>
            <a:endParaRPr sz="238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80">
                <a:solidFill>
                  <a:schemeClr val="dk1"/>
                </a:solidFill>
              </a:rPr>
              <a:t>Any questions?</a:t>
            </a:r>
            <a:endParaRPr sz="238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