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4738a3223a4c891d_3_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h4738a3223a4c891d_3_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h4738a3223a4c891d_3_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4738a3223a4c891d_3_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h4738a3223a4c891d_3_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h4738a3223a4c891d_3_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738a3223a4c891d_3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h4738a3223a4c891d_3_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4738a3223a4c891d_3_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4738a3223a4c891d_3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h4738a3223a4c891d_3_7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4738a3223a4c891d_3_7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738a3223a4c891d_3_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4738a3223a4c891d_3_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h4738a3223a4c891d_3_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4738a3223a4c891d_3_1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4738a3223a4c891d_3_1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4738a3223a4c891d_3_1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4738a3223a4c891d_3_1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h4738a3223a4c891d_3_12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h4738a3223a4c891d_3_12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4738a3223a4c891d_3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h4738a3223a4c891d_3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h4738a3223a4c891d_3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738a3223a4c891d_3_1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h4738a3223a4c891d_3_1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4738a3223a4c891d_3_1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4738a3223a4c891d_3_1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h4738a3223a4c891d_3_1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4738a3223a4c891d_3_1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4738a3223a4c891d_3_1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h4738a3223a4c891d_3_1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4738a3223a4c891d_3_19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4738a3223a4c891d_3_2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h4738a3223a4c891d_3_2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4738a3223a4c891d_3_2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4738a3223a4c891d_3_2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h4738a3223a4c891d_3_2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h4738a3223a4c891d_3_2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4738a3223a4c891d_3_2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h4738a3223a4c891d_3_2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h4738a3223a4c891d_3_2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4738a3223a4c891d_3_2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h4738a3223a4c891d_3_2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h4738a3223a4c891d_3_2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4738a3223a4c891d_3_2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h4738a3223a4c891d_3_2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h4738a3223a4c891d_3_2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4738a3223a4c891d_3_3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h4738a3223a4c891d_3_3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h4738a3223a4c891d_3_3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h4738a3223a4c891d_3_3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h4738a3223a4c891d_3_3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h4738a3223a4c891d_3_3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4738a3223a4c891d_3_4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h4738a3223a4c891d_3_4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h4738a3223a4c891d_3_4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4738a3223a4c891d_3_4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h4738a3223a4c891d_3_4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h4738a3223a4c891d_3_4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4738a3223a4c891d_3_4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h4738a3223a4c891d_3_4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4738a3223a4c891d_3_4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h4738a3223a4c891d_3_5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h4738a3223a4c891d_3_5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h4738a3223a4c891d_3_5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h4738a3223a4c891d_3_5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h4738a3223a4c891d_3_5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h4738a3223a4c891d_3_5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h4738a3223a4c891d_3_5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h4738a3223a4c891d_3_5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h4738a3223a4c891d_3_5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h4738a3223a4c891d_3_6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h4738a3223a4c891d_3_61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h4738a3223a4c891d_3_61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h4738a3223a4c891d_3_6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h4738a3223a4c891d_3_6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h4738a3223a4c891d_3_6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4738a3223a4c891d_3_6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h4738a3223a4c891d_3_66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h4738a3223a4c891d_3_66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h4738a3223a4c891d_3_7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h4738a3223a4c891d_3_7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h4738a3223a4c891d_3_7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h4738a3223a4c891d_3_7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h4738a3223a4c891d_3_7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h4738a3223a4c891d_3_7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h4738a3223a4c891d_3_7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2" name="Google Shape;842;h4738a3223a4c891d_3_7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h4738a3223a4c891d_3_7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h4738a3223a4c891d_3_7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h4738a3223a4c891d_3_7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h4738a3223a4c891d_3_7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h4738a3223a4c891d_3_8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2" name="Google Shape;912;h4738a3223a4c891d_3_8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h4738a3223a4c891d_3_8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h4738a3223a4c891d_3_8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7" name="Google Shape;957;h4738a3223a4c891d_3_8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h4738a3223a4c891d_3_8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h4738a3223a4c891d_3_8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h4738a3223a4c891d_3_89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h4738a3223a4c891d_3_89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h4738a3223a4c891d_3_9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" name="Google Shape;1005;h4738a3223a4c891d_3_92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h4738a3223a4c891d_3_92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h4738a3223a4c891d_3_9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h4738a3223a4c891d_3_92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h4738a3223a4c891d_3_92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h4738a3223a4c891d_3_9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6" name="Google Shape;1026;h4738a3223a4c891d_3_9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h4738a3223a4c891d_3_9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h4738a3223a4c891d_3_10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h4738a3223a4c891d_3_10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h4738a3223a4c891d_3_10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h4738a3223a4c891d_3_105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4" name="Google Shape;1144;h4738a3223a4c891d_3_105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h4738a3223a4c891d_3_105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h4738a3223a4c891d_3_10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3" name="Google Shape;1163;h4738a3223a4c891d_3_10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h4738a3223a4c891d_3_10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h4738a3223a4c891d_3_10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h4738a3223a4c891d_3_10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h4738a3223a4c891d_3_10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h4738a3223a4c891d_3_109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h4738a3223a4c891d_3_109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h4738a3223a4c891d_3_109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h4738a3223a4c891d_3_11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6" name="Google Shape;1256;h4738a3223a4c891d_3_11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h4738a3223a4c891d_3_11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h4738a3223a4c891d_3_11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9" name="Google Shape;1279;h4738a3223a4c891d_3_11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h4738a3223a4c891d_3_11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h4738a3223a4c891d_3_12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h4738a3223a4c891d_3_12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h4738a3223a4c891d_3_122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h4738a3223a4c891d_3_12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2" name="Google Shape;1332;h4738a3223a4c891d_3_12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h4738a3223a4c891d_3_12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h4738a3223a4c891d_3_12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9" name="Google Shape;1349;h4738a3223a4c891d_3_12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h4738a3223a4c891d_3_12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h4738a3223a4c891d_3_12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2" name="Google Shape;1392;h4738a3223a4c891d_3_12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h4738a3223a4c891d_3_12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h4738a3223a4c891d_3_13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9" name="Google Shape;1409;h4738a3223a4c891d_3_13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h4738a3223a4c891d_3_13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h4738a3223a4c891d_3_13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2" name="Google Shape;1432;h4738a3223a4c891d_3_13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h4738a3223a4c891d_3_13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h4738a3223a4c891d_3_14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7" name="Google Shape;1507;h4738a3223a4c891d_3_14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h4738a3223a4c891d_3_14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h4738a3223a4c891d_3_14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6" name="Google Shape;1536;h4738a3223a4c891d_3_14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h4738a3223a4c891d_3_14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h4738a3223a4c891d_3_14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5" name="Google Shape;1565;h4738a3223a4c891d_3_14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h4738a3223a4c891d_3_146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h4738a3223a4c891d_3_148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h4738a3223a4c891d_3_148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h4738a3223a4c891d_3_148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h4738a3223a4c891d_3_150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1" name="Google Shape;1611;h4738a3223a4c891d_3_150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h4738a3223a4c891d_3_150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h4738a3223a4c891d_3_15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4" name="Google Shape;1634;h4738a3223a4c891d_3_15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h4738a3223a4c891d_3_15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RSE">
  <p:cSld name="COURSE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(9)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594360" y="1005840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Databases | Lecture 32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594360" y="1417320"/>
            <a:ext cx="5303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Introduction to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3100"/>
              <a:buFont typeface="Arial"/>
              <a:buNone/>
            </a:pPr>
            <a:r>
              <a:rPr b="1" i="0" lang="en" sz="3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Databases &amp; MySQL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16"/>
          <p:cNvCxnSpPr/>
          <p:nvPr/>
        </p:nvCxnSpPr>
        <p:spPr>
          <a:xfrm>
            <a:off x="594360" y="2432304"/>
            <a:ext cx="1170432" cy="0"/>
          </a:xfrm>
          <a:prstGeom prst="straightConnector1">
            <a:avLst/>
          </a:prstGeom>
          <a:noFill/>
          <a:ln cap="flat" cmpd="sng" w="1905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6"/>
          <p:cNvSpPr/>
          <p:nvPr/>
        </p:nvSpPr>
        <p:spPr>
          <a:xfrm>
            <a:off x="713232" y="2907792"/>
            <a:ext cx="1417320" cy="274320"/>
          </a:xfrm>
          <a:prstGeom prst="roundRect">
            <a:avLst>
              <a:gd fmla="val 26667" name="adj"/>
            </a:avLst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768096" y="2962656"/>
            <a:ext cx="13075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Store 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2267712" y="2907792"/>
            <a:ext cx="1600200" cy="274320"/>
          </a:xfrm>
          <a:prstGeom prst="roundRect">
            <a:avLst>
              <a:gd fmla="val 26667" name="adj"/>
            </a:avLst>
          </a:prstGeom>
          <a:solidFill>
            <a:srgbClr val="FFF3C4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2322576" y="2962656"/>
            <a:ext cx="14904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Work with tables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4005072" y="2907792"/>
            <a:ext cx="1234440" cy="274320"/>
          </a:xfrm>
          <a:prstGeom prst="roundRect">
            <a:avLst>
              <a:gd fmla="val 26667" name="adj"/>
            </a:avLst>
          </a:prstGeom>
          <a:solidFill>
            <a:srgbClr val="DDF7E7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4059936" y="2962656"/>
            <a:ext cx="1124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Write SQL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5376672" y="2907792"/>
            <a:ext cx="1874520" cy="274320"/>
          </a:xfrm>
          <a:prstGeom prst="roundRect">
            <a:avLst>
              <a:gd fmla="val 26667" name="adj"/>
            </a:avLst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5431536" y="2962656"/>
            <a:ext cx="17647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Connect related data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Today's Plan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713232" y="914400"/>
            <a:ext cx="7699248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/>
          <p:nvPr/>
        </p:nvSpPr>
        <p:spPr>
          <a:xfrm>
            <a:off x="877824" y="1024128"/>
            <a:ext cx="365760" cy="237744"/>
          </a:xfrm>
          <a:prstGeom prst="roundRect">
            <a:avLst>
              <a:gd fmla="val 23077" name="adj"/>
            </a:avLst>
          </a:prstGeom>
          <a:solidFill>
            <a:srgbClr val="2854A6"/>
          </a:solidFill>
          <a:ln cap="flat" cmpd="sng" w="1270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877824" y="1083564"/>
            <a:ext cx="3657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i="0" lang="en" sz="7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481328" y="1051560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Understand databases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3977640" y="1051560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What databases and database management systems do.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713232" y="1581912"/>
            <a:ext cx="7699248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877824" y="1691640"/>
            <a:ext cx="365760" cy="237744"/>
          </a:xfrm>
          <a:prstGeom prst="roundRect">
            <a:avLst>
              <a:gd fmla="val 23077" name="adj"/>
            </a:avLst>
          </a:prstGeom>
          <a:solidFill>
            <a:srgbClr val="2854A6"/>
          </a:solidFill>
          <a:ln cap="flat" cmpd="sng" w="1270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877824" y="1751076"/>
            <a:ext cx="3657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i="0" lang="en" sz="7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481328" y="1719072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Build a table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977640" y="1719072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Represent structured data with columns, rows, types, and keys.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13232" y="2249424"/>
            <a:ext cx="7699248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877824" y="2359152"/>
            <a:ext cx="365760" cy="237744"/>
          </a:xfrm>
          <a:prstGeom prst="roundRect">
            <a:avLst>
              <a:gd fmla="val 23077" name="adj"/>
            </a:avLst>
          </a:prstGeom>
          <a:solidFill>
            <a:srgbClr val="2854A6"/>
          </a:solidFill>
          <a:ln cap="flat" cmpd="sng" w="1270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877824" y="2418588"/>
            <a:ext cx="3657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i="0" lang="en" sz="7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481328" y="2386584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977640" y="2386584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Add, read, filter, sort, update, and delete records with SQL.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713232" y="2916936"/>
            <a:ext cx="7699248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877824" y="3026664"/>
            <a:ext cx="365760" cy="237744"/>
          </a:xfrm>
          <a:prstGeom prst="roundRect">
            <a:avLst>
              <a:gd fmla="val 23077" name="adj"/>
            </a:avLst>
          </a:prstGeom>
          <a:solidFill>
            <a:srgbClr val="2854A6"/>
          </a:solidFill>
          <a:ln cap="flat" cmpd="sng" w="1270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877824" y="3086100"/>
            <a:ext cx="3657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i="0" lang="en" sz="7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481328" y="3054096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Connect related tables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977640" y="305409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Use relationships to query data across more than one table.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13232" y="3584448"/>
            <a:ext cx="7699248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877824" y="3694176"/>
            <a:ext cx="365760" cy="237744"/>
          </a:xfrm>
          <a:prstGeom prst="roundRect">
            <a:avLst>
              <a:gd fmla="val 23077" name="adj"/>
            </a:avLst>
          </a:prstGeom>
          <a:solidFill>
            <a:srgbClr val="2854A6"/>
          </a:solidFill>
          <a:ln cap="flat" cmpd="sng" w="1270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877824" y="3753612"/>
            <a:ext cx="3657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i="0" lang="en" sz="7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1481328" y="372160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Apply the pattern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977640" y="3721608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Work with a new database and verify the results.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18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Warm-up 1: When Is Generated Code Actually Ready?</a:t>
            </a:r>
            <a:endParaRPr b="0" i="0" sz="1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developer describes a feature in natural language. The AI modifies several files, and the preview appears to work. What should happen next?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Accept the change because a working preview proves the implementation is correct.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Inspect the generated changes, test them against the requirement, then decide whether to accept, refine, or revert.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Keep prompting the AI until it says the feature is complete.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Rewrite the entire feature manually because AI-generated code should never be kept.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AI can produce a first implementation quickly, but the developer still owns inspection, testing, and the decision to keep the change.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Warm-up 2: Explicit Choice or Inferred Signal?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Study Coach adapts its response strategy. The learner selects Detailed, then says: "I've tried this three times and it still doesn't work." The application infers appears_frustrated. What is the best response strategy?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Switch to Concise because frustrated learners always need shorter answers.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Tell the learner they are definitely frustrated and override the selected preference.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Keep the explicit Detailed choice, while adapting cautiously to make the response focused and useful.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Ignore both the learner selection and the current interaction and use a random response style.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An inferred signal can guide strategy, but it is uncertain evidence. Explicit user choice should not be silently overridden.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Warm-up 3: What State Does the Interface Need?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WARM-UP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learner sends a message to an AI assistant. The app must show that a response is being generated, preserve the learner message if the request fails, display the failure, and allow Retry. Which design best supports this?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Store only the latest assistant response.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Clear the conversation whenever a request fails.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Treat the conversation text itself as the only application state.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Keep conversation messages and track a separate request state such as idle, responding, or failed.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Messages represent what has been said. Request state represents what is happening now.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Where Does Application Data Live?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713232" y="960120"/>
            <a:ext cx="772668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An application can hold data while it is running.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But some information must still exist after the program stops: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user accounts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orders and bookings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messages and comments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product or course information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That data must be stored somewhere it can be found, changed, and used again later.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database gives applications an organized way to store data beyond one program run.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585216" y="1499616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Databases &amp; MySQL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>
            <a:off x="585216" y="1993392"/>
            <a:ext cx="1133856" cy="0"/>
          </a:xfrm>
          <a:prstGeom prst="straightConnector1">
            <a:avLst/>
          </a:prstGeom>
          <a:noFill/>
          <a:ln cap="flat" cmpd="sng" w="1905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22"/>
          <p:cNvSpPr/>
          <p:nvPr/>
        </p:nvSpPr>
        <p:spPr>
          <a:xfrm>
            <a:off x="585216" y="23317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From stored data to the system that manages it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Applications Need Durable, Organized Data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713232" y="960120"/>
            <a:ext cx="2834640" cy="1325880"/>
          </a:xfrm>
          <a:prstGeom prst="roundRect">
            <a:avLst>
              <a:gd fmla="val 3448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932688" y="1143000"/>
            <a:ext cx="10972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932688" y="1444752"/>
            <a:ext cx="2084832" cy="603504"/>
          </a:xfrm>
          <a:prstGeom prst="roundRect">
            <a:avLst>
              <a:gd fmla="val 7576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/>
          <p:nvPr/>
        </p:nvSpPr>
        <p:spPr>
          <a:xfrm>
            <a:off x="1069848" y="1563624"/>
            <a:ext cx="1810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ID: 104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Name: Maya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City: Mysuru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3977640" y="950976"/>
            <a:ext cx="4251960" cy="566928"/>
          </a:xfrm>
          <a:prstGeom prst="roundRect">
            <a:avLst>
              <a:gd fmla="val 8065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4206240" y="1088136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Store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5285232" y="1078992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Keep the customer record for future use.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977640" y="1709928"/>
            <a:ext cx="4251960" cy="566928"/>
          </a:xfrm>
          <a:prstGeom prst="roundRect">
            <a:avLst>
              <a:gd fmla="val 8065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4206240" y="184708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285232" y="1837944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Find Maya's record later.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3977640" y="2468880"/>
            <a:ext cx="4251960" cy="566928"/>
          </a:xfrm>
          <a:prstGeom prst="roundRect">
            <a:avLst>
              <a:gd fmla="val 8065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4206240" y="2606040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285232" y="2596896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Update the city or another stored value.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data needs to survive after the current program finishes running.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 and DBMS Are Not the Same Thing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713232" y="1078992"/>
            <a:ext cx="2834640" cy="2578608"/>
          </a:xfrm>
          <a:prstGeom prst="roundRect">
            <a:avLst>
              <a:gd fmla="val 1773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987552" y="135331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987552" y="1719072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 Management System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987552" y="2221992"/>
            <a:ext cx="2148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Software that creates, reads, changes, and manages databases.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24"/>
          <p:cNvCxnSpPr/>
          <p:nvPr/>
        </p:nvCxnSpPr>
        <p:spPr>
          <a:xfrm>
            <a:off x="3602736" y="2359152"/>
            <a:ext cx="1014984" cy="0"/>
          </a:xfrm>
          <a:prstGeom prst="straightConnector1">
            <a:avLst/>
          </a:prstGeom>
          <a:noFill/>
          <a:ln cap="flat" cmpd="sng" w="27925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24"/>
          <p:cNvSpPr/>
          <p:nvPr/>
        </p:nvSpPr>
        <p:spPr>
          <a:xfrm>
            <a:off x="3730752" y="2048256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manages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4709160" y="1078992"/>
            <a:ext cx="3703320" cy="2578608"/>
          </a:xfrm>
          <a:prstGeom prst="roundRect">
            <a:avLst>
              <a:gd fmla="val 177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5010912" y="13350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5010912" y="1737360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An organized collection of stored data.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010912" y="2267712"/>
            <a:ext cx="2377440" cy="292608"/>
          </a:xfrm>
          <a:prstGeom prst="roundRect">
            <a:avLst>
              <a:gd fmla="val 15625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138928" y="2340864"/>
            <a:ext cx="2057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customers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5010912" y="2660904"/>
            <a:ext cx="2377440" cy="292608"/>
          </a:xfrm>
          <a:prstGeom prst="roundRect">
            <a:avLst>
              <a:gd fmla="val 15625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5138928" y="2734056"/>
            <a:ext cx="2057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orders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5010912" y="3054096"/>
            <a:ext cx="2377440" cy="292608"/>
          </a:xfrm>
          <a:prstGeom prst="roundRect">
            <a:avLst>
              <a:gd fmla="val 15625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5138928" y="3127248"/>
            <a:ext cx="2057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products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 = the organized data   •   DBMS = the software that manages it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Relational and Non-relational Databases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713232" y="987552"/>
            <a:ext cx="3703320" cy="2487168"/>
          </a:xfrm>
          <a:prstGeom prst="roundRect">
            <a:avLst>
              <a:gd fmla="val 1838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960120" y="12070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Relational databases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960120" y="1591056"/>
            <a:ext cx="30358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Organize structured data into tables. Tables can be connected through relationships.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960120" y="2267712"/>
            <a:ext cx="3035808" cy="713232"/>
          </a:xfrm>
          <a:prstGeom prst="roundRect">
            <a:avLst>
              <a:gd fmla="val 641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1097280" y="2386584"/>
            <a:ext cx="2761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customers        orders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---------        --------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customer_id  ←   customer_id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     order_id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4709160" y="987552"/>
            <a:ext cx="3703320" cy="2487168"/>
          </a:xfrm>
          <a:prstGeom prst="roundRect">
            <a:avLst>
              <a:gd fmla="val 1838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4983480" y="1207008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Non-relational databases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4983480" y="1591056"/>
            <a:ext cx="2880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Use other data models, such as documents or key-value data.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4983480" y="2267712"/>
            <a:ext cx="2880360" cy="713232"/>
          </a:xfrm>
          <a:prstGeom prst="roundRect">
            <a:avLst>
              <a:gd fmla="val 641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5120640" y="2386584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document data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key-value data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graph data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Today: relational databases with MySQL. MongoDB and deeper comparison come next lecture.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SQL and MySQL Play Different Roles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731520" y="960120"/>
            <a:ext cx="3520440" cy="2468880"/>
          </a:xfrm>
          <a:prstGeom prst="roundRect">
            <a:avLst>
              <a:gd fmla="val 1852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987552" y="118872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987552" y="1627632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Structured Query Language: a language used to define, read, and change data in relational databases.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987552" y="2395728"/>
            <a:ext cx="2286000" cy="502920"/>
          </a:xfrm>
          <a:prstGeom prst="roundRect">
            <a:avLst>
              <a:gd fmla="val 9091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1124712" y="2514600"/>
            <a:ext cx="2011680" cy="265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0"/>
              <a:buFont typeface="Courier New"/>
              <a:buNone/>
            </a:pPr>
            <a:r>
              <a:rPr b="0" i="0" lang="en" sz="106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customers;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4617720" y="960120"/>
            <a:ext cx="3749040" cy="2468880"/>
          </a:xfrm>
          <a:prstGeom prst="roundRect">
            <a:avLst>
              <a:gd fmla="val 1852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4892040" y="11887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892040" y="1627632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relational database management system that can execute SQL and manage databases.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868680" y="3712464"/>
            <a:ext cx="7406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You write SQL  →  MySQL executes it  →  database data is read or changed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SQL is the language. MySQL is the database system.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Server, Client, Database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868680" y="2148840"/>
            <a:ext cx="1143000" cy="585216"/>
          </a:xfrm>
          <a:prstGeom prst="roundRect">
            <a:avLst>
              <a:gd fmla="val 781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"/>
          <p:cNvSpPr/>
          <p:nvPr/>
        </p:nvSpPr>
        <p:spPr>
          <a:xfrm>
            <a:off x="941832" y="2359152"/>
            <a:ext cx="9966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2194560" y="2148840"/>
            <a:ext cx="1143000" cy="585216"/>
          </a:xfrm>
          <a:prstGeom prst="roundRect">
            <a:avLst>
              <a:gd fmla="val 7813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"/>
          <p:cNvSpPr/>
          <p:nvPr/>
        </p:nvSpPr>
        <p:spPr>
          <a:xfrm>
            <a:off x="2267712" y="2359152"/>
            <a:ext cx="9966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MySQL client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3931920" y="2148840"/>
            <a:ext cx="1143000" cy="585216"/>
          </a:xfrm>
          <a:prstGeom prst="roundRect">
            <a:avLst>
              <a:gd fmla="val 7813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4005072" y="2359152"/>
            <a:ext cx="9966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MySQL Server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5806440" y="2148840"/>
            <a:ext cx="1143000" cy="585216"/>
          </a:xfrm>
          <a:prstGeom prst="roundRect">
            <a:avLst>
              <a:gd fmla="val 7813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5879592" y="2359152"/>
            <a:ext cx="9966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7333488" y="2148840"/>
            <a:ext cx="1143000" cy="585216"/>
          </a:xfrm>
          <a:prstGeom prst="roundRect">
            <a:avLst>
              <a:gd fmla="val 7813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7"/>
          <p:cNvSpPr/>
          <p:nvPr/>
        </p:nvSpPr>
        <p:spPr>
          <a:xfrm>
            <a:off x="7406640" y="2359152"/>
            <a:ext cx="9966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1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27"/>
          <p:cNvCxnSpPr/>
          <p:nvPr/>
        </p:nvCxnSpPr>
        <p:spPr>
          <a:xfrm>
            <a:off x="2011680" y="2441448"/>
            <a:ext cx="109728" cy="0"/>
          </a:xfrm>
          <a:prstGeom prst="straightConnector1">
            <a:avLst/>
          </a:prstGeom>
          <a:noFill/>
          <a:ln cap="flat" cmpd="sng" w="2285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" name="Google Shape;288;p27"/>
          <p:cNvCxnSpPr/>
          <p:nvPr/>
        </p:nvCxnSpPr>
        <p:spPr>
          <a:xfrm>
            <a:off x="3337560" y="2441448"/>
            <a:ext cx="521208" cy="0"/>
          </a:xfrm>
          <a:prstGeom prst="straightConnector1">
            <a:avLst/>
          </a:prstGeom>
          <a:noFill/>
          <a:ln cap="flat" cmpd="sng" w="2285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" name="Google Shape;289;p27"/>
          <p:cNvCxnSpPr/>
          <p:nvPr/>
        </p:nvCxnSpPr>
        <p:spPr>
          <a:xfrm>
            <a:off x="5074920" y="2441448"/>
            <a:ext cx="658368" cy="0"/>
          </a:xfrm>
          <a:prstGeom prst="straightConnector1">
            <a:avLst/>
          </a:prstGeom>
          <a:noFill/>
          <a:ln cap="flat" cmpd="sng" w="2285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0" name="Google Shape;290;p27"/>
          <p:cNvCxnSpPr/>
          <p:nvPr/>
        </p:nvCxnSpPr>
        <p:spPr>
          <a:xfrm>
            <a:off x="6949440" y="2441448"/>
            <a:ext cx="310896" cy="0"/>
          </a:xfrm>
          <a:prstGeom prst="straightConnector1">
            <a:avLst/>
          </a:prstGeom>
          <a:noFill/>
          <a:ln cap="flat" cmpd="sng" w="2285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27"/>
          <p:cNvSpPr/>
          <p:nvPr/>
        </p:nvSpPr>
        <p:spPr>
          <a:xfrm>
            <a:off x="822960" y="960120"/>
            <a:ext cx="2011680" cy="658368"/>
          </a:xfrm>
          <a:prstGeom prst="roundRect">
            <a:avLst>
              <a:gd fmla="val 694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1005840" y="111556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1005840" y="1353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tool where we enter SQL commands.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3611875" y="960126"/>
            <a:ext cx="2011800" cy="772500"/>
          </a:xfrm>
          <a:prstGeom prst="roundRect">
            <a:avLst>
              <a:gd fmla="val 694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3794760" y="1080815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3794760" y="1353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Receives SQL and performs database operations.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6355080" y="960120"/>
            <a:ext cx="2011680" cy="658368"/>
          </a:xfrm>
          <a:prstGeom prst="roundRect">
            <a:avLst>
              <a:gd fmla="val 6944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6537960" y="111556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6537960" y="13533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Contains tables and stored data.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client sends the request. The server manages the data.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8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Connect and Verify MySQL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FOUNDATIONS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713232" y="1005840"/>
            <a:ext cx="3154680" cy="1097280"/>
          </a:xfrm>
          <a:prstGeom prst="roundRect">
            <a:avLst>
              <a:gd fmla="val 4167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8"/>
          <p:cNvSpPr/>
          <p:nvPr/>
        </p:nvSpPr>
        <p:spPr>
          <a:xfrm>
            <a:off x="850392" y="1124712"/>
            <a:ext cx="28803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VERSION();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SHOW DATABASES;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251960" y="941832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4480560" y="106984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1. Open the MySQL client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6217920" y="106984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Connect using the setup details.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4251960" y="1581912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4480560" y="170992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2. Verify the server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6217920" y="170992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The server returns its version.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4251960" y="2221992"/>
            <a:ext cx="3977640" cy="457200"/>
          </a:xfrm>
          <a:prstGeom prst="roundRect">
            <a:avLst>
              <a:gd fmla="val 10000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"/>
          <p:cNvSpPr/>
          <p:nvPr/>
        </p:nvSpPr>
        <p:spPr>
          <a:xfrm>
            <a:off x="4480560" y="235000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3. See databases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6217920" y="2350008"/>
            <a:ext cx="16916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Database names are visible.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713232" y="2761488"/>
            <a:ext cx="7516368" cy="530352"/>
          </a:xfrm>
          <a:prstGeom prst="roundRect">
            <a:avLst>
              <a:gd fmla="val 8621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8"/>
          <p:cNvSpPr/>
          <p:nvPr/>
        </p:nvSpPr>
        <p:spPr>
          <a:xfrm>
            <a:off x="969264" y="2935224"/>
            <a:ext cx="120700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Success check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2331720" y="2935224"/>
            <a:ext cx="4434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You can send SQL to MySQL and receive a result.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713232" y="3547872"/>
            <a:ext cx="7516368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8"/>
          <p:cNvSpPr/>
          <p:nvPr/>
        </p:nvSpPr>
        <p:spPr>
          <a:xfrm>
            <a:off x="960120" y="3712464"/>
            <a:ext cx="6995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Setup links: installation guide + browser fallback will be shared for this class.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/>
          <p:nvPr/>
        </p:nvSpPr>
        <p:spPr>
          <a:xfrm>
            <a:off x="585216" y="1499616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29"/>
          <p:cNvCxnSpPr/>
          <p:nvPr/>
        </p:nvCxnSpPr>
        <p:spPr>
          <a:xfrm>
            <a:off x="585216" y="1993392"/>
            <a:ext cx="1133856" cy="0"/>
          </a:xfrm>
          <a:prstGeom prst="straightConnector1">
            <a:avLst/>
          </a:prstGeom>
          <a:noFill/>
          <a:ln cap="flat" cmpd="sng" w="1905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29"/>
          <p:cNvSpPr/>
          <p:nvPr/>
        </p:nvSpPr>
        <p:spPr>
          <a:xfrm>
            <a:off x="585216" y="23317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From application requirements to structured data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Meet Workshop Lab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713232" y="960120"/>
            <a:ext cx="3337560" cy="2103120"/>
          </a:xfrm>
          <a:prstGeom prst="roundRect">
            <a:avLst>
              <a:gd fmla="val 217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960120" y="11887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960120" y="1627632"/>
            <a:ext cx="2423160" cy="932688"/>
          </a:xfrm>
          <a:prstGeom prst="roundRect">
            <a:avLst>
              <a:gd fmla="val 4902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0"/>
          <p:cNvSpPr/>
          <p:nvPr/>
        </p:nvSpPr>
        <p:spPr>
          <a:xfrm>
            <a:off x="1097280" y="1746504"/>
            <a:ext cx="21488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ID        101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Category  Craft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Seats     12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Fee       ₹1200.00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4389120" y="960120"/>
            <a:ext cx="3977640" cy="2103120"/>
          </a:xfrm>
          <a:prstGeom prst="roundRect">
            <a:avLst>
              <a:gd fmla="val 217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0"/>
          <p:cNvSpPr/>
          <p:nvPr/>
        </p:nvSpPr>
        <p:spPr>
          <a:xfrm>
            <a:off x="4645152" y="118872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Workshop Lab needs to store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4645152" y="1572768"/>
            <a:ext cx="315468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a unique workshop ID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the workshop title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its category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available seats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0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• the participation fee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Before writing SQL, understand what the application needs to store.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Table Stores Structured Workshop Records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713232" y="960120"/>
            <a:ext cx="1280160" cy="43891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/>
          <p:nvPr/>
        </p:nvSpPr>
        <p:spPr>
          <a:xfrm>
            <a:off x="768096" y="103327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1993392" y="960120"/>
            <a:ext cx="2926080" cy="43891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2048256" y="1033272"/>
            <a:ext cx="2816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4919472" y="960120"/>
            <a:ext cx="1325880" cy="43891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"/>
          <p:cNvSpPr/>
          <p:nvPr/>
        </p:nvSpPr>
        <p:spPr>
          <a:xfrm>
            <a:off x="4974336" y="1033272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6245352" y="960120"/>
            <a:ext cx="914400" cy="43891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6300216" y="1033272"/>
            <a:ext cx="804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7159752" y="960120"/>
            <a:ext cx="1280160" cy="43891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7214616" y="1033272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713232" y="1399032"/>
            <a:ext cx="128016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768096" y="147218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1993392" y="1399032"/>
            <a:ext cx="292608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2048256" y="1472184"/>
            <a:ext cx="2816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4919472" y="1399032"/>
            <a:ext cx="132588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1"/>
          <p:cNvSpPr/>
          <p:nvPr/>
        </p:nvSpPr>
        <p:spPr>
          <a:xfrm>
            <a:off x="4974336" y="1472184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Craft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6245352" y="1399032"/>
            <a:ext cx="91440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6300216" y="1472184"/>
            <a:ext cx="804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7159752" y="1399032"/>
            <a:ext cx="128016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1"/>
          <p:cNvSpPr/>
          <p:nvPr/>
        </p:nvSpPr>
        <p:spPr>
          <a:xfrm>
            <a:off x="7214616" y="1472184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1200.00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713232" y="1837944"/>
            <a:ext cx="128016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1"/>
          <p:cNvSpPr/>
          <p:nvPr/>
        </p:nvSpPr>
        <p:spPr>
          <a:xfrm>
            <a:off x="768096" y="191109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1993392" y="1837944"/>
            <a:ext cx="292608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2048256" y="1911096"/>
            <a:ext cx="2816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4919472" y="1837944"/>
            <a:ext cx="132588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1"/>
          <p:cNvSpPr/>
          <p:nvPr/>
        </p:nvSpPr>
        <p:spPr>
          <a:xfrm>
            <a:off x="4974336" y="1911096"/>
            <a:ext cx="12161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Photography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6245352" y="1837944"/>
            <a:ext cx="91440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"/>
          <p:cNvSpPr/>
          <p:nvPr/>
        </p:nvSpPr>
        <p:spPr>
          <a:xfrm>
            <a:off x="6300216" y="1911096"/>
            <a:ext cx="80467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7159752" y="1837944"/>
            <a:ext cx="1280160" cy="43891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1"/>
          <p:cNvSpPr/>
          <p:nvPr/>
        </p:nvSpPr>
        <p:spPr>
          <a:xfrm>
            <a:off x="7214616" y="1911096"/>
            <a:ext cx="1170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800.00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713232" y="2697480"/>
            <a:ext cx="2331720" cy="786384"/>
          </a:xfrm>
          <a:prstGeom prst="roundRect">
            <a:avLst>
              <a:gd fmla="val 5814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1"/>
          <p:cNvSpPr/>
          <p:nvPr/>
        </p:nvSpPr>
        <p:spPr>
          <a:xfrm>
            <a:off x="896112" y="288950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1719072" y="2807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workshops stores one kind of record.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3364992" y="2697480"/>
            <a:ext cx="2331720" cy="786384"/>
          </a:xfrm>
          <a:prstGeom prst="roundRect">
            <a:avLst>
              <a:gd fmla="val 581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1"/>
          <p:cNvSpPr/>
          <p:nvPr/>
        </p:nvSpPr>
        <p:spPr>
          <a:xfrm>
            <a:off x="3547872" y="288950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4370832" y="2807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One row represents one workshop.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6016752" y="2697480"/>
            <a:ext cx="2331720" cy="786384"/>
          </a:xfrm>
          <a:prstGeom prst="roundRect">
            <a:avLst>
              <a:gd fmla="val 5814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1"/>
          <p:cNvSpPr/>
          <p:nvPr/>
        </p:nvSpPr>
        <p:spPr>
          <a:xfrm>
            <a:off x="6199632" y="2889504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7022592" y="2807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Each column stores the same property for every workshop.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1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Rows represent records. Columns describe properties of those records.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 Types Describe What Each Column Stores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TABLE DESIGN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685800" y="987552"/>
            <a:ext cx="182880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740664" y="1060704"/>
            <a:ext cx="17190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2514600" y="987552"/>
            <a:ext cx="24688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2"/>
          <p:cNvSpPr/>
          <p:nvPr/>
        </p:nvSpPr>
        <p:spPr>
          <a:xfrm>
            <a:off x="2569464" y="1060704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Example value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4983480" y="987552"/>
            <a:ext cx="192024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5038344" y="1060704"/>
            <a:ext cx="18105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SQL type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6903720" y="987552"/>
            <a:ext cx="15544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2"/>
          <p:cNvSpPr/>
          <p:nvPr/>
        </p:nvSpPr>
        <p:spPr>
          <a:xfrm>
            <a:off x="6958584" y="1060704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685800" y="1380744"/>
            <a:ext cx="18288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2"/>
          <p:cNvSpPr/>
          <p:nvPr/>
        </p:nvSpPr>
        <p:spPr>
          <a:xfrm>
            <a:off x="740664" y="1453896"/>
            <a:ext cx="17190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2514600" y="1380744"/>
            <a:ext cx="2468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2"/>
          <p:cNvSpPr/>
          <p:nvPr/>
        </p:nvSpPr>
        <p:spPr>
          <a:xfrm>
            <a:off x="2569464" y="1453896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4983480" y="1380744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2"/>
          <p:cNvSpPr/>
          <p:nvPr/>
        </p:nvSpPr>
        <p:spPr>
          <a:xfrm>
            <a:off x="5038344" y="1453896"/>
            <a:ext cx="18105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6903720" y="1380744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2"/>
          <p:cNvSpPr/>
          <p:nvPr/>
        </p:nvSpPr>
        <p:spPr>
          <a:xfrm>
            <a:off x="6958584" y="1453896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whole number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685800" y="1773936"/>
            <a:ext cx="18288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2"/>
          <p:cNvSpPr/>
          <p:nvPr/>
        </p:nvSpPr>
        <p:spPr>
          <a:xfrm>
            <a:off x="740664" y="1847088"/>
            <a:ext cx="17190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2514600" y="1773936"/>
            <a:ext cx="2468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2"/>
          <p:cNvSpPr/>
          <p:nvPr/>
        </p:nvSpPr>
        <p:spPr>
          <a:xfrm>
            <a:off x="2569464" y="1847088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983480" y="1773936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2"/>
          <p:cNvSpPr/>
          <p:nvPr/>
        </p:nvSpPr>
        <p:spPr>
          <a:xfrm>
            <a:off x="5038344" y="1847088"/>
            <a:ext cx="18105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VARCHAR(100)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6903720" y="1773936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2"/>
          <p:cNvSpPr/>
          <p:nvPr/>
        </p:nvSpPr>
        <p:spPr>
          <a:xfrm>
            <a:off x="6958584" y="1847088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685800" y="2167128"/>
            <a:ext cx="18288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2"/>
          <p:cNvSpPr/>
          <p:nvPr/>
        </p:nvSpPr>
        <p:spPr>
          <a:xfrm>
            <a:off x="740664" y="2240280"/>
            <a:ext cx="17190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2514600" y="2167128"/>
            <a:ext cx="2468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"/>
          <p:cNvSpPr/>
          <p:nvPr/>
        </p:nvSpPr>
        <p:spPr>
          <a:xfrm>
            <a:off x="2569464" y="2240280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Craft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4983480" y="2167128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2"/>
          <p:cNvSpPr/>
          <p:nvPr/>
        </p:nvSpPr>
        <p:spPr>
          <a:xfrm>
            <a:off x="5038344" y="2240280"/>
            <a:ext cx="18105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VARCHAR(40)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2"/>
          <p:cNvSpPr/>
          <p:nvPr/>
        </p:nvSpPr>
        <p:spPr>
          <a:xfrm>
            <a:off x="6903720" y="2167128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/>
          <p:nvPr/>
        </p:nvSpPr>
        <p:spPr>
          <a:xfrm>
            <a:off x="6958584" y="2240280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685800" y="2560320"/>
            <a:ext cx="18288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>
            <a:off x="740664" y="2633472"/>
            <a:ext cx="17190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2"/>
          <p:cNvSpPr/>
          <p:nvPr/>
        </p:nvSpPr>
        <p:spPr>
          <a:xfrm>
            <a:off x="2514600" y="2560320"/>
            <a:ext cx="2468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"/>
          <p:cNvSpPr/>
          <p:nvPr/>
        </p:nvSpPr>
        <p:spPr>
          <a:xfrm>
            <a:off x="2569464" y="2633472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4983480" y="2560320"/>
            <a:ext cx="19202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"/>
          <p:cNvSpPr/>
          <p:nvPr/>
        </p:nvSpPr>
        <p:spPr>
          <a:xfrm>
            <a:off x="5038344" y="2633472"/>
            <a:ext cx="18105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6903720" y="2560320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6958584" y="2633472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whole number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2"/>
          <p:cNvSpPr/>
          <p:nvPr/>
        </p:nvSpPr>
        <p:spPr>
          <a:xfrm>
            <a:off x="685800" y="2953512"/>
            <a:ext cx="18288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2"/>
          <p:cNvSpPr/>
          <p:nvPr/>
        </p:nvSpPr>
        <p:spPr>
          <a:xfrm>
            <a:off x="740664" y="3026664"/>
            <a:ext cx="17190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2514600" y="2953512"/>
            <a:ext cx="2468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2"/>
          <p:cNvSpPr/>
          <p:nvPr/>
        </p:nvSpPr>
        <p:spPr>
          <a:xfrm>
            <a:off x="2569464" y="3026664"/>
            <a:ext cx="2359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1200.00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4983480" y="2953512"/>
            <a:ext cx="1920240" cy="393192"/>
          </a:xfrm>
          <a:prstGeom prst="rect">
            <a:avLst/>
          </a:prstGeom>
          <a:solidFill>
            <a:srgbClr val="FFF0A8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2"/>
          <p:cNvSpPr/>
          <p:nvPr/>
        </p:nvSpPr>
        <p:spPr>
          <a:xfrm>
            <a:off x="5038344" y="3026664"/>
            <a:ext cx="18105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DECIMAL(8,2)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6903720" y="2953512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2"/>
          <p:cNvSpPr/>
          <p:nvPr/>
        </p:nvSpPr>
        <p:spPr>
          <a:xfrm>
            <a:off x="6958584" y="3026664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exact decimal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685800" y="3547872"/>
            <a:ext cx="1965960" cy="749808"/>
          </a:xfrm>
          <a:prstGeom prst="roundRect">
            <a:avLst>
              <a:gd fmla="val 6098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/>
          <p:cNvSpPr/>
          <p:nvPr/>
        </p:nvSpPr>
        <p:spPr>
          <a:xfrm>
            <a:off x="832104" y="3666744"/>
            <a:ext cx="16733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832104" y="3913632"/>
            <a:ext cx="16733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Whole numbers.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2"/>
          <p:cNvSpPr/>
          <p:nvPr/>
        </p:nvSpPr>
        <p:spPr>
          <a:xfrm>
            <a:off x="2907792" y="3547872"/>
            <a:ext cx="2331720" cy="749808"/>
          </a:xfrm>
          <a:prstGeom prst="roundRect">
            <a:avLst>
              <a:gd fmla="val 6098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>
            <a:off x="3054096" y="366674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VARCHAR(n)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3054096" y="3913632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Variable-length text, max n.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5532120" y="3547872"/>
            <a:ext cx="2926080" cy="749808"/>
          </a:xfrm>
          <a:prstGeom prst="roundRect">
            <a:avLst>
              <a:gd fmla="val 6098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"/>
          <p:cNvSpPr/>
          <p:nvPr/>
        </p:nvSpPr>
        <p:spPr>
          <a:xfrm>
            <a:off x="5678424" y="3666744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17653A"/>
                </a:solidFill>
                <a:latin typeface="Courier New"/>
                <a:ea typeface="Courier New"/>
                <a:cs typeface="Courier New"/>
                <a:sym typeface="Courier New"/>
              </a:rPr>
              <a:t>DECIMAL(8,2)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2"/>
          <p:cNvSpPr/>
          <p:nvPr/>
        </p:nvSpPr>
        <p:spPr>
          <a:xfrm>
            <a:off x="5678424" y="3913632"/>
            <a:ext cx="26334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Up to 8 digits total, 2 after the decimal.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3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Every Workshop Needs a Unique Identity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713232" y="960120"/>
            <a:ext cx="3401568" cy="2423160"/>
          </a:xfrm>
          <a:prstGeom prst="roundRect">
            <a:avLst>
              <a:gd fmla="val 1887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960120" y="121615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Titles are useful, but not ideal identifiers.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960120" y="1618488"/>
            <a:ext cx="2606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title could be changed, and two workshops could eventually have the same title.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960120" y="2331720"/>
            <a:ext cx="2286000" cy="347472"/>
          </a:xfrm>
          <a:prstGeom prst="roundRect">
            <a:avLst>
              <a:gd fmla="val 13158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097280" y="2450592"/>
            <a:ext cx="20116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Intro to Pottery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4462272" y="960120"/>
            <a:ext cx="3931920" cy="2423160"/>
          </a:xfrm>
          <a:prstGeom prst="roundRect">
            <a:avLst>
              <a:gd fmla="val 1887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4736592" y="121615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3"/>
          <p:cNvSpPr/>
          <p:nvPr/>
        </p:nvSpPr>
        <p:spPr>
          <a:xfrm>
            <a:off x="4736592" y="161848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Arial"/>
              <a:buNone/>
            </a:pPr>
            <a:r>
              <a:rPr b="0" i="0" lang="en" sz="10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primary key uniquely identifies each row in a table.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4736592" y="2331720"/>
            <a:ext cx="2606040" cy="530352"/>
          </a:xfrm>
          <a:prstGeom prst="roundRect">
            <a:avLst>
              <a:gd fmla="val 8621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4873752" y="2450592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workshop_id = 103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→ Sourdough Basics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For Workshop Lab, workshop_id is the primary key.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4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Create and Select the Lecture Database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713232" y="960120"/>
            <a:ext cx="3611880" cy="1143000"/>
          </a:xfrm>
          <a:prstGeom prst="roundRect">
            <a:avLst>
              <a:gd fmla="val 4000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850392" y="1078992"/>
            <a:ext cx="333756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CREATE DATABASE workshop_lab;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 workshop_lab;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4645152" y="960120"/>
            <a:ext cx="3703320" cy="1143000"/>
          </a:xfrm>
          <a:prstGeom prst="roundRect">
            <a:avLst>
              <a:gd fmla="val 4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4892040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What changed?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4892040" y="1463040"/>
            <a:ext cx="2743200" cy="438912"/>
          </a:xfrm>
          <a:prstGeom prst="roundRect">
            <a:avLst>
              <a:gd fmla="val 10417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5029200" y="1581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MySQL Server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workshop_lab  ← current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713232" y="2560320"/>
            <a:ext cx="7635240" cy="694944"/>
          </a:xfrm>
          <a:prstGeom prst="roundRect">
            <a:avLst>
              <a:gd fmla="val 6579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941832" y="2807208"/>
            <a:ext cx="7132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Expected state: workshop_lab exists, but it does not contain our table yet.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4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CREATE DATABASE creates the database. USE selects it for following commands.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Create the Workshops Table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685800" y="987552"/>
            <a:ext cx="5230368" cy="2578608"/>
          </a:xfrm>
          <a:prstGeom prst="roundRect">
            <a:avLst>
              <a:gd fmla="val 1773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5"/>
          <p:cNvSpPr/>
          <p:nvPr/>
        </p:nvSpPr>
        <p:spPr>
          <a:xfrm>
            <a:off x="822960" y="1106424"/>
            <a:ext cx="4956048" cy="2340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workshops (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workshop_id INT PRIMARY KEY,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title VARCHAR(100) NOT NULL,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category VARCHAR(40) NOT NULL,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seats INT NOT NULL,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fee DECIMAL(8, 2) NOT NULL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685800" y="3730752"/>
            <a:ext cx="5230368" cy="457200"/>
          </a:xfrm>
          <a:prstGeom prst="roundRect">
            <a:avLst>
              <a:gd fmla="val 10000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5"/>
          <p:cNvSpPr/>
          <p:nvPr/>
        </p:nvSpPr>
        <p:spPr>
          <a:xfrm>
            <a:off x="896112" y="3867912"/>
            <a:ext cx="4800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Expected state: workshop_lab → workshops → 0 rows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6199632" y="1060704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Read the statement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6199632" y="1444752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Table name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6199632" y="1673352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Courier New"/>
                <a:ea typeface="Courier New"/>
                <a:cs typeface="Courier New"/>
                <a:sym typeface="Courier New"/>
              </a:rPr>
              <a:t>workshops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6199632" y="2020824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Column definition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6199632" y="2249424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name + type + constraints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6199632" y="2596896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6199632" y="2825496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unique row identity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6199632" y="3172968"/>
            <a:ext cx="1874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80"/>
              <a:buFont typeface="Arial"/>
              <a:buNone/>
            </a:pPr>
            <a:r>
              <a:rPr b="1" i="0" lang="en" sz="10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NOT NULL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6199632" y="3401568"/>
            <a:ext cx="1874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value required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Inspect the Table Structure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713232" y="932688"/>
            <a:ext cx="2240280" cy="658368"/>
          </a:xfrm>
          <a:prstGeom prst="roundRect">
            <a:avLst>
              <a:gd fmla="val 694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6"/>
          <p:cNvSpPr/>
          <p:nvPr/>
        </p:nvSpPr>
        <p:spPr>
          <a:xfrm>
            <a:off x="850392" y="1051560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90"/>
              <a:buFont typeface="Courier New"/>
              <a:buNone/>
            </a:pPr>
            <a:r>
              <a:rPr b="0" i="0" lang="en" sz="109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SHOW TABLES;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90"/>
              <a:buFont typeface="Courier New"/>
              <a:buNone/>
            </a:pPr>
            <a:r>
              <a:rPr b="0" i="0" lang="en" sz="109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DESCRIBE workshops;</a:t>
            </a:r>
            <a:endParaRPr b="0" i="0" sz="10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713232" y="1901952"/>
            <a:ext cx="182880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>
            <a:off x="768096" y="197510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2542032" y="1901952"/>
            <a:ext cx="182880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6"/>
          <p:cNvSpPr/>
          <p:nvPr/>
        </p:nvSpPr>
        <p:spPr>
          <a:xfrm>
            <a:off x="2596896" y="197510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4370832" y="1901952"/>
            <a:ext cx="114300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4425696" y="197510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6"/>
          <p:cNvSpPr/>
          <p:nvPr/>
        </p:nvSpPr>
        <p:spPr>
          <a:xfrm>
            <a:off x="5513832" y="1901952"/>
            <a:ext cx="114300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6"/>
          <p:cNvSpPr/>
          <p:nvPr/>
        </p:nvSpPr>
        <p:spPr>
          <a:xfrm>
            <a:off x="5568696" y="197510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713232" y="226771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6"/>
          <p:cNvSpPr/>
          <p:nvPr/>
        </p:nvSpPr>
        <p:spPr>
          <a:xfrm>
            <a:off x="768096" y="234086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2542032" y="226771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2596896" y="234086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4370832" y="226771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6"/>
          <p:cNvSpPr/>
          <p:nvPr/>
        </p:nvSpPr>
        <p:spPr>
          <a:xfrm>
            <a:off x="4425696" y="234086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5513832" y="226771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5568696" y="234086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PRI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713232" y="263347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>
            <a:off x="768096" y="270662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6"/>
          <p:cNvSpPr/>
          <p:nvPr/>
        </p:nvSpPr>
        <p:spPr>
          <a:xfrm>
            <a:off x="2542032" y="263347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6"/>
          <p:cNvSpPr/>
          <p:nvPr/>
        </p:nvSpPr>
        <p:spPr>
          <a:xfrm>
            <a:off x="2596896" y="270662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varchar(100)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6"/>
          <p:cNvSpPr/>
          <p:nvPr/>
        </p:nvSpPr>
        <p:spPr>
          <a:xfrm>
            <a:off x="4370832" y="263347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6"/>
          <p:cNvSpPr/>
          <p:nvPr/>
        </p:nvSpPr>
        <p:spPr>
          <a:xfrm>
            <a:off x="4425696" y="270662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6"/>
          <p:cNvSpPr/>
          <p:nvPr/>
        </p:nvSpPr>
        <p:spPr>
          <a:xfrm>
            <a:off x="5513832" y="263347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6"/>
          <p:cNvSpPr/>
          <p:nvPr/>
        </p:nvSpPr>
        <p:spPr>
          <a:xfrm>
            <a:off x="5568696" y="270662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713232" y="299923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6"/>
          <p:cNvSpPr/>
          <p:nvPr/>
        </p:nvSpPr>
        <p:spPr>
          <a:xfrm>
            <a:off x="768096" y="307238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6"/>
          <p:cNvSpPr/>
          <p:nvPr/>
        </p:nvSpPr>
        <p:spPr>
          <a:xfrm>
            <a:off x="2542032" y="299923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6"/>
          <p:cNvSpPr/>
          <p:nvPr/>
        </p:nvSpPr>
        <p:spPr>
          <a:xfrm>
            <a:off x="2596896" y="307238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varchar(40)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4370832" y="299923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6"/>
          <p:cNvSpPr/>
          <p:nvPr/>
        </p:nvSpPr>
        <p:spPr>
          <a:xfrm>
            <a:off x="4425696" y="307238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5513832" y="299923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6"/>
          <p:cNvSpPr/>
          <p:nvPr/>
        </p:nvSpPr>
        <p:spPr>
          <a:xfrm>
            <a:off x="5568696" y="307238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713232" y="336499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6"/>
          <p:cNvSpPr/>
          <p:nvPr/>
        </p:nvSpPr>
        <p:spPr>
          <a:xfrm>
            <a:off x="768096" y="343814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2542032" y="336499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2596896" y="343814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6"/>
          <p:cNvSpPr/>
          <p:nvPr/>
        </p:nvSpPr>
        <p:spPr>
          <a:xfrm>
            <a:off x="4370832" y="336499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4425696" y="343814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6"/>
          <p:cNvSpPr/>
          <p:nvPr/>
        </p:nvSpPr>
        <p:spPr>
          <a:xfrm>
            <a:off x="5513832" y="336499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6"/>
          <p:cNvSpPr/>
          <p:nvPr/>
        </p:nvSpPr>
        <p:spPr>
          <a:xfrm>
            <a:off x="5568696" y="343814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6"/>
          <p:cNvSpPr/>
          <p:nvPr/>
        </p:nvSpPr>
        <p:spPr>
          <a:xfrm>
            <a:off x="713232" y="373075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6"/>
          <p:cNvSpPr/>
          <p:nvPr/>
        </p:nvSpPr>
        <p:spPr>
          <a:xfrm>
            <a:off x="768096" y="380390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6"/>
          <p:cNvSpPr/>
          <p:nvPr/>
        </p:nvSpPr>
        <p:spPr>
          <a:xfrm>
            <a:off x="2542032" y="3730752"/>
            <a:ext cx="18288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6"/>
          <p:cNvSpPr/>
          <p:nvPr/>
        </p:nvSpPr>
        <p:spPr>
          <a:xfrm>
            <a:off x="2596896" y="3803904"/>
            <a:ext cx="1719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decimal(8,2)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6"/>
          <p:cNvSpPr/>
          <p:nvPr/>
        </p:nvSpPr>
        <p:spPr>
          <a:xfrm>
            <a:off x="4370832" y="373075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6"/>
          <p:cNvSpPr/>
          <p:nvPr/>
        </p:nvSpPr>
        <p:spPr>
          <a:xfrm>
            <a:off x="4425696" y="380390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5513832" y="3730752"/>
            <a:ext cx="11430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6"/>
          <p:cNvSpPr/>
          <p:nvPr/>
        </p:nvSpPr>
        <p:spPr>
          <a:xfrm>
            <a:off x="5568696" y="3803904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3246120" y="932688"/>
            <a:ext cx="5166360" cy="658368"/>
          </a:xfrm>
          <a:prstGeom prst="roundRect">
            <a:avLst>
              <a:gd fmla="val 694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6"/>
          <p:cNvSpPr/>
          <p:nvPr/>
        </p:nvSpPr>
        <p:spPr>
          <a:xfrm>
            <a:off x="3474720" y="1170432"/>
            <a:ext cx="4709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989"/>
              <a:buFont typeface="Arial"/>
              <a:buNone/>
            </a:pPr>
            <a:r>
              <a:rPr b="1" i="0" lang="en" sz="99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Field → column name     Type → data type     NO → value required     PRI → primary key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6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6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structure reported by MySQL matches the table we defined.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Insert the Starter Workshops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685800" y="932688"/>
            <a:ext cx="7772400" cy="2926080"/>
          </a:xfrm>
          <a:prstGeom prst="roundRect">
            <a:avLst>
              <a:gd fmla="val 1563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7"/>
          <p:cNvSpPr/>
          <p:nvPr/>
        </p:nvSpPr>
        <p:spPr>
          <a:xfrm>
            <a:off x="822960" y="1051560"/>
            <a:ext cx="7498080" cy="2688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workshops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(workshop_id, title, category, seats, fee)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(101, 'Intro to Pottery', 'Craft', 12, 1200.00),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(102, 'Street Photography Walk', 'Photography', 15, 800.00),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(103, 'Sourdough Basics', 'Food', 10, 1500.00),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(104, 'Watercolour Landscapes', 'Art', 18, 950.00),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(105, 'Podcast Storytelling', 'Media', 20, 700.00);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685800" y="4169664"/>
            <a:ext cx="7772400" cy="365760"/>
          </a:xfrm>
          <a:prstGeom prst="roundRect">
            <a:avLst>
              <a:gd fmla="val 15000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7"/>
          <p:cNvSpPr/>
          <p:nvPr/>
        </p:nvSpPr>
        <p:spPr>
          <a:xfrm>
            <a:off x="822960" y="4251960"/>
            <a:ext cx="7498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Each group inside VALUES becomes one new row.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8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Read Every Workshop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BUILD THE FIRST TABLE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8"/>
          <p:cNvSpPr/>
          <p:nvPr/>
        </p:nvSpPr>
        <p:spPr>
          <a:xfrm>
            <a:off x="685800" y="914400"/>
            <a:ext cx="2011680" cy="713232"/>
          </a:xfrm>
          <a:prstGeom prst="roundRect">
            <a:avLst>
              <a:gd fmla="val 6410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8"/>
          <p:cNvSpPr/>
          <p:nvPr/>
        </p:nvSpPr>
        <p:spPr>
          <a:xfrm>
            <a:off x="822960" y="103327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40"/>
              <a:buFont typeface="Courier New"/>
              <a:buNone/>
            </a:pPr>
            <a:r>
              <a:rPr b="0" i="0" lang="en" sz="114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workshops;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2907792" y="1042416"/>
            <a:ext cx="5166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SELECT reads data. * asks for all columns.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685800" y="1847088"/>
            <a:ext cx="13258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740664" y="1920240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2011680" y="1847088"/>
            <a:ext cx="278892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8"/>
          <p:cNvSpPr/>
          <p:nvPr/>
        </p:nvSpPr>
        <p:spPr>
          <a:xfrm>
            <a:off x="2066544" y="1920240"/>
            <a:ext cx="26791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4800600" y="1847088"/>
            <a:ext cx="141732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4855464" y="1920240"/>
            <a:ext cx="13075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6217920" y="1847088"/>
            <a:ext cx="91440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6272784" y="1920240"/>
            <a:ext cx="8046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7132320" y="1847088"/>
            <a:ext cx="13258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8"/>
          <p:cNvSpPr/>
          <p:nvPr/>
        </p:nvSpPr>
        <p:spPr>
          <a:xfrm>
            <a:off x="7187184" y="1920240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685800" y="2240280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8"/>
          <p:cNvSpPr/>
          <p:nvPr/>
        </p:nvSpPr>
        <p:spPr>
          <a:xfrm>
            <a:off x="740664" y="2313432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2011680" y="2240280"/>
            <a:ext cx="27889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8"/>
          <p:cNvSpPr/>
          <p:nvPr/>
        </p:nvSpPr>
        <p:spPr>
          <a:xfrm>
            <a:off x="2066544" y="2313432"/>
            <a:ext cx="26791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4800600" y="2240280"/>
            <a:ext cx="14173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4855464" y="2313432"/>
            <a:ext cx="13075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Craft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6217920" y="2240280"/>
            <a:ext cx="9144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8"/>
          <p:cNvSpPr/>
          <p:nvPr/>
        </p:nvSpPr>
        <p:spPr>
          <a:xfrm>
            <a:off x="6272784" y="2313432"/>
            <a:ext cx="8046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7132320" y="2240280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8"/>
          <p:cNvSpPr/>
          <p:nvPr/>
        </p:nvSpPr>
        <p:spPr>
          <a:xfrm>
            <a:off x="7187184" y="2313432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685800" y="2633472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740664" y="2706624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8"/>
          <p:cNvSpPr/>
          <p:nvPr/>
        </p:nvSpPr>
        <p:spPr>
          <a:xfrm>
            <a:off x="2011680" y="2633472"/>
            <a:ext cx="27889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8"/>
          <p:cNvSpPr/>
          <p:nvPr/>
        </p:nvSpPr>
        <p:spPr>
          <a:xfrm>
            <a:off x="2066544" y="2706624"/>
            <a:ext cx="26791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8"/>
          <p:cNvSpPr/>
          <p:nvPr/>
        </p:nvSpPr>
        <p:spPr>
          <a:xfrm>
            <a:off x="4800600" y="2633472"/>
            <a:ext cx="14173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8"/>
          <p:cNvSpPr/>
          <p:nvPr/>
        </p:nvSpPr>
        <p:spPr>
          <a:xfrm>
            <a:off x="4855464" y="2706624"/>
            <a:ext cx="13075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Photography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8"/>
          <p:cNvSpPr/>
          <p:nvPr/>
        </p:nvSpPr>
        <p:spPr>
          <a:xfrm>
            <a:off x="6217920" y="2633472"/>
            <a:ext cx="9144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8"/>
          <p:cNvSpPr/>
          <p:nvPr/>
        </p:nvSpPr>
        <p:spPr>
          <a:xfrm>
            <a:off x="6272784" y="2706624"/>
            <a:ext cx="8046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7132320" y="2633472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8"/>
          <p:cNvSpPr/>
          <p:nvPr/>
        </p:nvSpPr>
        <p:spPr>
          <a:xfrm>
            <a:off x="7187184" y="2706624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800.00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8"/>
          <p:cNvSpPr/>
          <p:nvPr/>
        </p:nvSpPr>
        <p:spPr>
          <a:xfrm>
            <a:off x="685800" y="3026664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8"/>
          <p:cNvSpPr/>
          <p:nvPr/>
        </p:nvSpPr>
        <p:spPr>
          <a:xfrm>
            <a:off x="740664" y="3099816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2011680" y="3026664"/>
            <a:ext cx="27889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8"/>
          <p:cNvSpPr/>
          <p:nvPr/>
        </p:nvSpPr>
        <p:spPr>
          <a:xfrm>
            <a:off x="2066544" y="3099816"/>
            <a:ext cx="26791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4800600" y="3026664"/>
            <a:ext cx="14173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8"/>
          <p:cNvSpPr/>
          <p:nvPr/>
        </p:nvSpPr>
        <p:spPr>
          <a:xfrm>
            <a:off x="4855464" y="3099816"/>
            <a:ext cx="13075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Food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6217920" y="3026664"/>
            <a:ext cx="9144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8"/>
          <p:cNvSpPr/>
          <p:nvPr/>
        </p:nvSpPr>
        <p:spPr>
          <a:xfrm>
            <a:off x="6272784" y="3099816"/>
            <a:ext cx="8046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7132320" y="3026664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8"/>
          <p:cNvSpPr/>
          <p:nvPr/>
        </p:nvSpPr>
        <p:spPr>
          <a:xfrm>
            <a:off x="7187184" y="3099816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1500.00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685800" y="3419856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8"/>
          <p:cNvSpPr/>
          <p:nvPr/>
        </p:nvSpPr>
        <p:spPr>
          <a:xfrm>
            <a:off x="740664" y="3493008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104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2011680" y="3419856"/>
            <a:ext cx="27889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8"/>
          <p:cNvSpPr/>
          <p:nvPr/>
        </p:nvSpPr>
        <p:spPr>
          <a:xfrm>
            <a:off x="2066544" y="3493008"/>
            <a:ext cx="26791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8"/>
          <p:cNvSpPr/>
          <p:nvPr/>
        </p:nvSpPr>
        <p:spPr>
          <a:xfrm>
            <a:off x="4800600" y="3419856"/>
            <a:ext cx="14173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8"/>
          <p:cNvSpPr/>
          <p:nvPr/>
        </p:nvSpPr>
        <p:spPr>
          <a:xfrm>
            <a:off x="4855464" y="3493008"/>
            <a:ext cx="13075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8"/>
          <p:cNvSpPr/>
          <p:nvPr/>
        </p:nvSpPr>
        <p:spPr>
          <a:xfrm>
            <a:off x="6217920" y="3419856"/>
            <a:ext cx="9144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8"/>
          <p:cNvSpPr/>
          <p:nvPr/>
        </p:nvSpPr>
        <p:spPr>
          <a:xfrm>
            <a:off x="6272784" y="3493008"/>
            <a:ext cx="8046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"/>
          <p:cNvSpPr/>
          <p:nvPr/>
        </p:nvSpPr>
        <p:spPr>
          <a:xfrm>
            <a:off x="7132320" y="3419856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8"/>
          <p:cNvSpPr/>
          <p:nvPr/>
        </p:nvSpPr>
        <p:spPr>
          <a:xfrm>
            <a:off x="7187184" y="3493008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950.00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"/>
          <p:cNvSpPr/>
          <p:nvPr/>
        </p:nvSpPr>
        <p:spPr>
          <a:xfrm>
            <a:off x="685800" y="3813048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8"/>
          <p:cNvSpPr/>
          <p:nvPr/>
        </p:nvSpPr>
        <p:spPr>
          <a:xfrm>
            <a:off x="740664" y="3886200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105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8"/>
          <p:cNvSpPr/>
          <p:nvPr/>
        </p:nvSpPr>
        <p:spPr>
          <a:xfrm>
            <a:off x="2011680" y="3813048"/>
            <a:ext cx="27889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8"/>
          <p:cNvSpPr/>
          <p:nvPr/>
        </p:nvSpPr>
        <p:spPr>
          <a:xfrm>
            <a:off x="2066544" y="3886200"/>
            <a:ext cx="26791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4800600" y="3813048"/>
            <a:ext cx="14173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8"/>
          <p:cNvSpPr/>
          <p:nvPr/>
        </p:nvSpPr>
        <p:spPr>
          <a:xfrm>
            <a:off x="4855464" y="3886200"/>
            <a:ext cx="13075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8"/>
          <p:cNvSpPr/>
          <p:nvPr/>
        </p:nvSpPr>
        <p:spPr>
          <a:xfrm>
            <a:off x="6217920" y="3813048"/>
            <a:ext cx="9144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8"/>
          <p:cNvSpPr/>
          <p:nvPr/>
        </p:nvSpPr>
        <p:spPr>
          <a:xfrm>
            <a:off x="6272784" y="3886200"/>
            <a:ext cx="8046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8"/>
          <p:cNvSpPr/>
          <p:nvPr/>
        </p:nvSpPr>
        <p:spPr>
          <a:xfrm>
            <a:off x="7132320" y="3813048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8"/>
          <p:cNvSpPr/>
          <p:nvPr/>
        </p:nvSpPr>
        <p:spPr>
          <a:xfrm>
            <a:off x="7187184" y="3886200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700.00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685800" y="4315968"/>
            <a:ext cx="7772400" cy="347472"/>
          </a:xfrm>
          <a:prstGeom prst="roundRect">
            <a:avLst>
              <a:gd fmla="val 15789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8"/>
          <p:cNvSpPr/>
          <p:nvPr/>
        </p:nvSpPr>
        <p:spPr>
          <a:xfrm>
            <a:off x="822960" y="4398264"/>
            <a:ext cx="7498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result table is the observable proof that the five records were stored.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9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Checkpoint: Read the Table Definition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9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713232" y="932688"/>
            <a:ext cx="3429000" cy="768096"/>
          </a:xfrm>
          <a:prstGeom prst="roundRect">
            <a:avLst>
              <a:gd fmla="val 5952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9"/>
          <p:cNvSpPr/>
          <p:nvPr/>
        </p:nvSpPr>
        <p:spPr>
          <a:xfrm>
            <a:off x="850392" y="1051560"/>
            <a:ext cx="3154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workshop_id INT PRIMARY KEY,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title VARCHAR(100) NOT NULL,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fee DECIMAL(8, 2) NOT NULL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9"/>
          <p:cNvSpPr/>
          <p:nvPr/>
        </p:nvSpPr>
        <p:spPr>
          <a:xfrm>
            <a:off x="4434840" y="950976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Given this part of the workshops table, which statement reads the structure correctly?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9"/>
          <p:cNvSpPr/>
          <p:nvPr/>
        </p:nvSpPr>
        <p:spPr>
          <a:xfrm>
            <a:off x="713232" y="1856232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9"/>
          <p:cNvSpPr/>
          <p:nvPr/>
        </p:nvSpPr>
        <p:spPr>
          <a:xfrm>
            <a:off x="822960" y="1956816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9"/>
          <p:cNvSpPr/>
          <p:nvPr/>
        </p:nvSpPr>
        <p:spPr>
          <a:xfrm>
            <a:off x="1216152" y="1938528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workshop_id can contain the same ID in several rows.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9"/>
          <p:cNvSpPr/>
          <p:nvPr/>
        </p:nvSpPr>
        <p:spPr>
          <a:xfrm>
            <a:off x="4709160" y="1856232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9"/>
          <p:cNvSpPr/>
          <p:nvPr/>
        </p:nvSpPr>
        <p:spPr>
          <a:xfrm>
            <a:off x="4818888" y="1956816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9"/>
          <p:cNvSpPr/>
          <p:nvPr/>
        </p:nvSpPr>
        <p:spPr>
          <a:xfrm>
            <a:off x="5212080" y="1938528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title stores whole numbers up to 100.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9"/>
          <p:cNvSpPr/>
          <p:nvPr/>
        </p:nvSpPr>
        <p:spPr>
          <a:xfrm>
            <a:off x="713232" y="2523744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9"/>
          <p:cNvSpPr/>
          <p:nvPr/>
        </p:nvSpPr>
        <p:spPr>
          <a:xfrm>
            <a:off x="822960" y="2624328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9"/>
          <p:cNvSpPr/>
          <p:nvPr/>
        </p:nvSpPr>
        <p:spPr>
          <a:xfrm>
            <a:off x="1216152" y="2606040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workshop_id identifies each row, title stores text, and fee stores decimal values.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9"/>
          <p:cNvSpPr/>
          <p:nvPr/>
        </p:nvSpPr>
        <p:spPr>
          <a:xfrm>
            <a:off x="4709160" y="2523744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9"/>
          <p:cNvSpPr/>
          <p:nvPr/>
        </p:nvSpPr>
        <p:spPr>
          <a:xfrm>
            <a:off x="4818888" y="2624328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9"/>
          <p:cNvSpPr/>
          <p:nvPr/>
        </p:nvSpPr>
        <p:spPr>
          <a:xfrm>
            <a:off x="5212080" y="2606040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NOT NULL means that title and fee are optional.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685800" y="3986784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9"/>
          <p:cNvSpPr/>
          <p:nvPr/>
        </p:nvSpPr>
        <p:spPr>
          <a:xfrm>
            <a:off x="868680" y="406908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9"/>
          <p:cNvSpPr/>
          <p:nvPr/>
        </p:nvSpPr>
        <p:spPr>
          <a:xfrm>
            <a:off x="2395728" y="4069080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workshop_id is the primary key. VARCHAR stores text; DECIMAL(8,2) stores decimal values.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0"/>
          <p:cNvSpPr/>
          <p:nvPr/>
        </p:nvSpPr>
        <p:spPr>
          <a:xfrm>
            <a:off x="585216" y="1499616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2" name="Google Shape;692;p40"/>
          <p:cNvCxnSpPr/>
          <p:nvPr/>
        </p:nvCxnSpPr>
        <p:spPr>
          <a:xfrm>
            <a:off x="585216" y="1993392"/>
            <a:ext cx="1133856" cy="0"/>
          </a:xfrm>
          <a:prstGeom prst="straightConnector1">
            <a:avLst/>
          </a:prstGeom>
          <a:noFill/>
          <a:ln cap="flat" cmpd="sng" w="1905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3" name="Google Shape;693;p40"/>
          <p:cNvSpPr/>
          <p:nvPr/>
        </p:nvSpPr>
        <p:spPr>
          <a:xfrm>
            <a:off x="585216" y="23317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Read exactly what you need. Change exactly what you intend.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1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CRUD Acts on Records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41"/>
          <p:cNvSpPr/>
          <p:nvPr/>
        </p:nvSpPr>
        <p:spPr>
          <a:xfrm>
            <a:off x="713232" y="950976"/>
            <a:ext cx="1920240" cy="384048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41"/>
          <p:cNvSpPr/>
          <p:nvPr/>
        </p:nvSpPr>
        <p:spPr>
          <a:xfrm>
            <a:off x="768096" y="1024128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Operation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633472" y="950976"/>
            <a:ext cx="1828800" cy="384048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1"/>
          <p:cNvSpPr/>
          <p:nvPr/>
        </p:nvSpPr>
        <p:spPr>
          <a:xfrm>
            <a:off x="2688336" y="1024128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SQL statement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1"/>
          <p:cNvSpPr/>
          <p:nvPr/>
        </p:nvSpPr>
        <p:spPr>
          <a:xfrm>
            <a:off x="4462272" y="950976"/>
            <a:ext cx="3977640" cy="384048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1"/>
          <p:cNvSpPr/>
          <p:nvPr/>
        </p:nvSpPr>
        <p:spPr>
          <a:xfrm>
            <a:off x="4517136" y="1024128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Example need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1"/>
          <p:cNvSpPr/>
          <p:nvPr/>
        </p:nvSpPr>
        <p:spPr>
          <a:xfrm>
            <a:off x="713232" y="1335024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1"/>
          <p:cNvSpPr/>
          <p:nvPr/>
        </p:nvSpPr>
        <p:spPr>
          <a:xfrm>
            <a:off x="768096" y="1408176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1"/>
          <p:cNvSpPr/>
          <p:nvPr/>
        </p:nvSpPr>
        <p:spPr>
          <a:xfrm>
            <a:off x="2633472" y="1335024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1"/>
          <p:cNvSpPr/>
          <p:nvPr/>
        </p:nvSpPr>
        <p:spPr>
          <a:xfrm>
            <a:off x="2688336" y="1408176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1"/>
          <p:cNvSpPr/>
          <p:nvPr/>
        </p:nvSpPr>
        <p:spPr>
          <a:xfrm>
            <a:off x="4462272" y="1335024"/>
            <a:ext cx="39776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1"/>
          <p:cNvSpPr/>
          <p:nvPr/>
        </p:nvSpPr>
        <p:spPr>
          <a:xfrm>
            <a:off x="4517136" y="1408176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Add a workshop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1"/>
          <p:cNvSpPr/>
          <p:nvPr/>
        </p:nvSpPr>
        <p:spPr>
          <a:xfrm>
            <a:off x="713232" y="1719072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1"/>
          <p:cNvSpPr/>
          <p:nvPr/>
        </p:nvSpPr>
        <p:spPr>
          <a:xfrm>
            <a:off x="768096" y="1792224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1"/>
          <p:cNvSpPr/>
          <p:nvPr/>
        </p:nvSpPr>
        <p:spPr>
          <a:xfrm>
            <a:off x="2633472" y="1719072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1"/>
          <p:cNvSpPr/>
          <p:nvPr/>
        </p:nvSpPr>
        <p:spPr>
          <a:xfrm>
            <a:off x="2688336" y="1792224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4462272" y="1719072"/>
            <a:ext cx="39776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41"/>
          <p:cNvSpPr/>
          <p:nvPr/>
        </p:nvSpPr>
        <p:spPr>
          <a:xfrm>
            <a:off x="4517136" y="1792224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Retrieve workshop data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1"/>
          <p:cNvSpPr/>
          <p:nvPr/>
        </p:nvSpPr>
        <p:spPr>
          <a:xfrm>
            <a:off x="713232" y="2103120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1"/>
          <p:cNvSpPr/>
          <p:nvPr/>
        </p:nvSpPr>
        <p:spPr>
          <a:xfrm>
            <a:off x="768096" y="2176272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1"/>
          <p:cNvSpPr/>
          <p:nvPr/>
        </p:nvSpPr>
        <p:spPr>
          <a:xfrm>
            <a:off x="2633472" y="2103120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1"/>
          <p:cNvSpPr/>
          <p:nvPr/>
        </p:nvSpPr>
        <p:spPr>
          <a:xfrm>
            <a:off x="2688336" y="2176272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1"/>
          <p:cNvSpPr/>
          <p:nvPr/>
        </p:nvSpPr>
        <p:spPr>
          <a:xfrm>
            <a:off x="4462272" y="2103120"/>
            <a:ext cx="39776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1"/>
          <p:cNvSpPr/>
          <p:nvPr/>
        </p:nvSpPr>
        <p:spPr>
          <a:xfrm>
            <a:off x="4517136" y="2176272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Change available seats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1"/>
          <p:cNvSpPr/>
          <p:nvPr/>
        </p:nvSpPr>
        <p:spPr>
          <a:xfrm>
            <a:off x="713232" y="2487168"/>
            <a:ext cx="19202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41"/>
          <p:cNvSpPr/>
          <p:nvPr/>
        </p:nvSpPr>
        <p:spPr>
          <a:xfrm>
            <a:off x="768096" y="2560320"/>
            <a:ext cx="1810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1"/>
          <p:cNvSpPr/>
          <p:nvPr/>
        </p:nvSpPr>
        <p:spPr>
          <a:xfrm>
            <a:off x="2633472" y="2487168"/>
            <a:ext cx="182880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1"/>
          <p:cNvSpPr/>
          <p:nvPr/>
        </p:nvSpPr>
        <p:spPr>
          <a:xfrm>
            <a:off x="2688336" y="2560320"/>
            <a:ext cx="1719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4462272" y="2487168"/>
            <a:ext cx="3977640" cy="38404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41"/>
          <p:cNvSpPr/>
          <p:nvPr/>
        </p:nvSpPr>
        <p:spPr>
          <a:xfrm>
            <a:off x="4517136" y="2560320"/>
            <a:ext cx="38679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Remove a workshop record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1"/>
          <p:cNvSpPr/>
          <p:nvPr/>
        </p:nvSpPr>
        <p:spPr>
          <a:xfrm>
            <a:off x="713232" y="3337560"/>
            <a:ext cx="3703320" cy="640080"/>
          </a:xfrm>
          <a:prstGeom prst="roundRect">
            <a:avLst>
              <a:gd fmla="val 7143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1"/>
          <p:cNvSpPr/>
          <p:nvPr/>
        </p:nvSpPr>
        <p:spPr>
          <a:xfrm>
            <a:off x="960120" y="3547872"/>
            <a:ext cx="2514600" cy="274320"/>
          </a:xfrm>
          <a:prstGeom prst="roundRect">
            <a:avLst>
              <a:gd fmla="val 16667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1"/>
          <p:cNvSpPr/>
          <p:nvPr/>
        </p:nvSpPr>
        <p:spPr>
          <a:xfrm>
            <a:off x="1097280" y="3666744"/>
            <a:ext cx="2240280" cy="36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80"/>
              <a:buFont typeface="Courier New"/>
              <a:buNone/>
            </a:pPr>
            <a:r>
              <a:rPr b="0" i="0" lang="en" sz="9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workshops (...);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1"/>
          <p:cNvSpPr/>
          <p:nvPr/>
        </p:nvSpPr>
        <p:spPr>
          <a:xfrm>
            <a:off x="3547872" y="3657600"/>
            <a:ext cx="65836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defines structure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1"/>
          <p:cNvSpPr/>
          <p:nvPr/>
        </p:nvSpPr>
        <p:spPr>
          <a:xfrm>
            <a:off x="4709160" y="3337560"/>
            <a:ext cx="3703320" cy="640080"/>
          </a:xfrm>
          <a:prstGeom prst="roundRect">
            <a:avLst>
              <a:gd fmla="val 7143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41"/>
          <p:cNvSpPr/>
          <p:nvPr/>
        </p:nvSpPr>
        <p:spPr>
          <a:xfrm>
            <a:off x="4956048" y="3493008"/>
            <a:ext cx="2011680" cy="365760"/>
          </a:xfrm>
          <a:prstGeom prst="roundRect">
            <a:avLst>
              <a:gd fmla="val 125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1"/>
          <p:cNvSpPr/>
          <p:nvPr/>
        </p:nvSpPr>
        <p:spPr>
          <a:xfrm>
            <a:off x="5093208" y="3611880"/>
            <a:ext cx="17373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workshops (...)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VALUES (...);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1"/>
          <p:cNvSpPr/>
          <p:nvPr/>
        </p:nvSpPr>
        <p:spPr>
          <a:xfrm>
            <a:off x="7260336" y="3657600"/>
            <a:ext cx="71323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creates record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1"/>
          <p:cNvSpPr/>
          <p:nvPr/>
        </p:nvSpPr>
        <p:spPr>
          <a:xfrm>
            <a:off x="685800" y="4160520"/>
            <a:ext cx="7772400" cy="365760"/>
          </a:xfrm>
          <a:prstGeom prst="roundRect">
            <a:avLst>
              <a:gd fmla="val 15000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1"/>
          <p:cNvSpPr/>
          <p:nvPr/>
        </p:nvSpPr>
        <p:spPr>
          <a:xfrm>
            <a:off x="822960" y="4242816"/>
            <a:ext cx="7498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For the records we work with today, CRUD Create means INSERT.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2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Select Only the Columns You Need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2"/>
          <p:cNvSpPr/>
          <p:nvPr/>
        </p:nvSpPr>
        <p:spPr>
          <a:xfrm>
            <a:off x="685800" y="914400"/>
            <a:ext cx="2468880" cy="640080"/>
          </a:xfrm>
          <a:prstGeom prst="roundRect">
            <a:avLst>
              <a:gd fmla="val 7143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2"/>
          <p:cNvSpPr/>
          <p:nvPr/>
        </p:nvSpPr>
        <p:spPr>
          <a:xfrm>
            <a:off x="822960" y="1033272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title, fee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2"/>
          <p:cNvSpPr/>
          <p:nvPr/>
        </p:nvSpPr>
        <p:spPr>
          <a:xfrm>
            <a:off x="3657600" y="914400"/>
            <a:ext cx="3383280" cy="37490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2"/>
          <p:cNvSpPr/>
          <p:nvPr/>
        </p:nvSpPr>
        <p:spPr>
          <a:xfrm>
            <a:off x="3712464" y="987552"/>
            <a:ext cx="3273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2"/>
          <p:cNvSpPr/>
          <p:nvPr/>
        </p:nvSpPr>
        <p:spPr>
          <a:xfrm>
            <a:off x="7040880" y="914400"/>
            <a:ext cx="1389888" cy="37490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2"/>
          <p:cNvSpPr/>
          <p:nvPr/>
        </p:nvSpPr>
        <p:spPr>
          <a:xfrm>
            <a:off x="7095744" y="987552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40"/>
              <a:buFont typeface="Arial"/>
              <a:buNone/>
            </a:pPr>
            <a:r>
              <a:rPr b="1" i="0" lang="en" sz="104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42"/>
          <p:cNvSpPr/>
          <p:nvPr/>
        </p:nvSpPr>
        <p:spPr>
          <a:xfrm>
            <a:off x="3657600" y="1289304"/>
            <a:ext cx="3383280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42"/>
          <p:cNvSpPr/>
          <p:nvPr/>
        </p:nvSpPr>
        <p:spPr>
          <a:xfrm>
            <a:off x="3712464" y="1362456"/>
            <a:ext cx="3273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2"/>
          <p:cNvSpPr/>
          <p:nvPr/>
        </p:nvSpPr>
        <p:spPr>
          <a:xfrm>
            <a:off x="7040880" y="1289304"/>
            <a:ext cx="1389888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2"/>
          <p:cNvSpPr/>
          <p:nvPr/>
        </p:nvSpPr>
        <p:spPr>
          <a:xfrm>
            <a:off x="7095744" y="1362456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1200.00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2"/>
          <p:cNvSpPr/>
          <p:nvPr/>
        </p:nvSpPr>
        <p:spPr>
          <a:xfrm>
            <a:off x="3657600" y="1664208"/>
            <a:ext cx="3383280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2"/>
          <p:cNvSpPr/>
          <p:nvPr/>
        </p:nvSpPr>
        <p:spPr>
          <a:xfrm>
            <a:off x="3712464" y="1737360"/>
            <a:ext cx="3273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2"/>
          <p:cNvSpPr/>
          <p:nvPr/>
        </p:nvSpPr>
        <p:spPr>
          <a:xfrm>
            <a:off x="7040880" y="1664208"/>
            <a:ext cx="1389888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2"/>
          <p:cNvSpPr/>
          <p:nvPr/>
        </p:nvSpPr>
        <p:spPr>
          <a:xfrm>
            <a:off x="7095744" y="1737360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800.00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2"/>
          <p:cNvSpPr/>
          <p:nvPr/>
        </p:nvSpPr>
        <p:spPr>
          <a:xfrm>
            <a:off x="3657600" y="2039112"/>
            <a:ext cx="3383280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2"/>
          <p:cNvSpPr/>
          <p:nvPr/>
        </p:nvSpPr>
        <p:spPr>
          <a:xfrm>
            <a:off x="3712464" y="2112264"/>
            <a:ext cx="3273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2"/>
          <p:cNvSpPr/>
          <p:nvPr/>
        </p:nvSpPr>
        <p:spPr>
          <a:xfrm>
            <a:off x="7040880" y="2039112"/>
            <a:ext cx="1389888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42"/>
          <p:cNvSpPr/>
          <p:nvPr/>
        </p:nvSpPr>
        <p:spPr>
          <a:xfrm>
            <a:off x="7095744" y="2112264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1500.00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2"/>
          <p:cNvSpPr/>
          <p:nvPr/>
        </p:nvSpPr>
        <p:spPr>
          <a:xfrm>
            <a:off x="3657600" y="2414016"/>
            <a:ext cx="3383280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2"/>
          <p:cNvSpPr/>
          <p:nvPr/>
        </p:nvSpPr>
        <p:spPr>
          <a:xfrm>
            <a:off x="3712464" y="2487168"/>
            <a:ext cx="3273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2"/>
          <p:cNvSpPr/>
          <p:nvPr/>
        </p:nvSpPr>
        <p:spPr>
          <a:xfrm>
            <a:off x="7040880" y="2414016"/>
            <a:ext cx="1389888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42"/>
          <p:cNvSpPr/>
          <p:nvPr/>
        </p:nvSpPr>
        <p:spPr>
          <a:xfrm>
            <a:off x="7095744" y="2487168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950.00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2"/>
          <p:cNvSpPr/>
          <p:nvPr/>
        </p:nvSpPr>
        <p:spPr>
          <a:xfrm>
            <a:off x="3657600" y="2788920"/>
            <a:ext cx="3383280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42"/>
          <p:cNvSpPr/>
          <p:nvPr/>
        </p:nvSpPr>
        <p:spPr>
          <a:xfrm>
            <a:off x="3712464" y="2862072"/>
            <a:ext cx="327355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2"/>
          <p:cNvSpPr/>
          <p:nvPr/>
        </p:nvSpPr>
        <p:spPr>
          <a:xfrm>
            <a:off x="7040880" y="2788920"/>
            <a:ext cx="1389888" cy="37490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2"/>
          <p:cNvSpPr/>
          <p:nvPr/>
        </p:nvSpPr>
        <p:spPr>
          <a:xfrm>
            <a:off x="7095744" y="2862072"/>
            <a:ext cx="128016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10"/>
              <a:buFont typeface="Arial"/>
              <a:buNone/>
            </a:pPr>
            <a:r>
              <a:rPr b="0" i="0" lang="en" sz="10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700.00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2"/>
          <p:cNvSpPr/>
          <p:nvPr/>
        </p:nvSpPr>
        <p:spPr>
          <a:xfrm>
            <a:off x="685800" y="1874520"/>
            <a:ext cx="2468880" cy="1234440"/>
          </a:xfrm>
          <a:prstGeom prst="roundRect">
            <a:avLst>
              <a:gd fmla="val 370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2"/>
          <p:cNvSpPr/>
          <p:nvPr/>
        </p:nvSpPr>
        <p:spPr>
          <a:xfrm>
            <a:off x="896112" y="2103120"/>
            <a:ext cx="2011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SELECT * asks for all columns.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SELECT title, fee asks only for title and fee.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2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2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column list controls what appears in the result.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3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WHERE Filters Qualifying Rows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3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3"/>
          <p:cNvSpPr/>
          <p:nvPr/>
        </p:nvSpPr>
        <p:spPr>
          <a:xfrm>
            <a:off x="685800" y="941832"/>
            <a:ext cx="2971800" cy="960120"/>
          </a:xfrm>
          <a:prstGeom prst="roundRect">
            <a:avLst>
              <a:gd fmla="val 4762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43"/>
          <p:cNvSpPr/>
          <p:nvPr/>
        </p:nvSpPr>
        <p:spPr>
          <a:xfrm>
            <a:off x="822960" y="1060704"/>
            <a:ext cx="2697480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title, fee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WHERE fee &lt;= 1000;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3"/>
          <p:cNvSpPr/>
          <p:nvPr/>
        </p:nvSpPr>
        <p:spPr>
          <a:xfrm>
            <a:off x="3950208" y="941832"/>
            <a:ext cx="310896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3"/>
          <p:cNvSpPr/>
          <p:nvPr/>
        </p:nvSpPr>
        <p:spPr>
          <a:xfrm>
            <a:off x="4005072" y="1014984"/>
            <a:ext cx="29992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3"/>
          <p:cNvSpPr/>
          <p:nvPr/>
        </p:nvSpPr>
        <p:spPr>
          <a:xfrm>
            <a:off x="7059168" y="941832"/>
            <a:ext cx="13258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43"/>
          <p:cNvSpPr/>
          <p:nvPr/>
        </p:nvSpPr>
        <p:spPr>
          <a:xfrm>
            <a:off x="7114032" y="1014984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3"/>
          <p:cNvSpPr/>
          <p:nvPr/>
        </p:nvSpPr>
        <p:spPr>
          <a:xfrm>
            <a:off x="3950208" y="1335024"/>
            <a:ext cx="310896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43"/>
          <p:cNvSpPr/>
          <p:nvPr/>
        </p:nvSpPr>
        <p:spPr>
          <a:xfrm>
            <a:off x="4005072" y="1408176"/>
            <a:ext cx="29992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7059168" y="1335024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43"/>
          <p:cNvSpPr/>
          <p:nvPr/>
        </p:nvSpPr>
        <p:spPr>
          <a:xfrm>
            <a:off x="7114032" y="1408176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800.00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3"/>
          <p:cNvSpPr/>
          <p:nvPr/>
        </p:nvSpPr>
        <p:spPr>
          <a:xfrm>
            <a:off x="3950208" y="1728216"/>
            <a:ext cx="310896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3"/>
          <p:cNvSpPr/>
          <p:nvPr/>
        </p:nvSpPr>
        <p:spPr>
          <a:xfrm>
            <a:off x="4005072" y="1801368"/>
            <a:ext cx="29992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43"/>
          <p:cNvSpPr/>
          <p:nvPr/>
        </p:nvSpPr>
        <p:spPr>
          <a:xfrm>
            <a:off x="7059168" y="1728216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3"/>
          <p:cNvSpPr/>
          <p:nvPr/>
        </p:nvSpPr>
        <p:spPr>
          <a:xfrm>
            <a:off x="7114032" y="1801368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950.00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3"/>
          <p:cNvSpPr/>
          <p:nvPr/>
        </p:nvSpPr>
        <p:spPr>
          <a:xfrm>
            <a:off x="3950208" y="2121408"/>
            <a:ext cx="310896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43"/>
          <p:cNvSpPr/>
          <p:nvPr/>
        </p:nvSpPr>
        <p:spPr>
          <a:xfrm>
            <a:off x="4005072" y="2194560"/>
            <a:ext cx="29992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3"/>
          <p:cNvSpPr/>
          <p:nvPr/>
        </p:nvSpPr>
        <p:spPr>
          <a:xfrm>
            <a:off x="7059168" y="2121408"/>
            <a:ext cx="13258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3"/>
          <p:cNvSpPr/>
          <p:nvPr/>
        </p:nvSpPr>
        <p:spPr>
          <a:xfrm>
            <a:off x="7114032" y="2194560"/>
            <a:ext cx="12161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700.00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3"/>
          <p:cNvSpPr/>
          <p:nvPr/>
        </p:nvSpPr>
        <p:spPr>
          <a:xfrm>
            <a:off x="685800" y="2423160"/>
            <a:ext cx="2971800" cy="713232"/>
          </a:xfrm>
          <a:prstGeom prst="roundRect">
            <a:avLst>
              <a:gd fmla="val 6410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43"/>
          <p:cNvSpPr/>
          <p:nvPr/>
        </p:nvSpPr>
        <p:spPr>
          <a:xfrm>
            <a:off x="914400" y="2615184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Predict before reveal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43"/>
          <p:cNvSpPr/>
          <p:nvPr/>
        </p:nvSpPr>
        <p:spPr>
          <a:xfrm>
            <a:off x="914400" y="2871216"/>
            <a:ext cx="2240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Which IDs remain? 102, 104, 105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3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3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WHERE keeps rows that satisfy the condition.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4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Order the Result, Then Limit It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4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4"/>
          <p:cNvSpPr/>
          <p:nvPr/>
        </p:nvSpPr>
        <p:spPr>
          <a:xfrm>
            <a:off x="685800" y="914400"/>
            <a:ext cx="3017520" cy="1170432"/>
          </a:xfrm>
          <a:prstGeom prst="roundRect">
            <a:avLst>
              <a:gd fmla="val 3906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4"/>
          <p:cNvSpPr/>
          <p:nvPr/>
        </p:nvSpPr>
        <p:spPr>
          <a:xfrm>
            <a:off x="822960" y="1033272"/>
            <a:ext cx="27432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title, fee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fee ASC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LIMIT 3;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4023360" y="914400"/>
            <a:ext cx="4343400" cy="1170432"/>
          </a:xfrm>
          <a:prstGeom prst="roundRect">
            <a:avLst>
              <a:gd fmla="val 3906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4"/>
          <p:cNvSpPr/>
          <p:nvPr/>
        </p:nvSpPr>
        <p:spPr>
          <a:xfrm>
            <a:off x="4315968" y="1133856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ORDER BY fee ASC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4"/>
          <p:cNvSpPr/>
          <p:nvPr/>
        </p:nvSpPr>
        <p:spPr>
          <a:xfrm>
            <a:off x="6172200" y="1133856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requests lower-to-higher fee order.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4315968" y="15727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LIMIT 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4"/>
          <p:cNvSpPr/>
          <p:nvPr/>
        </p:nvSpPr>
        <p:spPr>
          <a:xfrm>
            <a:off x="5285232" y="1536192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returns at most three rows. It does not mean cheapest unless the result is ordered.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4"/>
          <p:cNvSpPr/>
          <p:nvPr/>
        </p:nvSpPr>
        <p:spPr>
          <a:xfrm>
            <a:off x="2057400" y="2514600"/>
            <a:ext cx="347472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4"/>
          <p:cNvSpPr/>
          <p:nvPr/>
        </p:nvSpPr>
        <p:spPr>
          <a:xfrm>
            <a:off x="2112264" y="2587752"/>
            <a:ext cx="33649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4"/>
          <p:cNvSpPr/>
          <p:nvPr/>
        </p:nvSpPr>
        <p:spPr>
          <a:xfrm>
            <a:off x="5532120" y="2514600"/>
            <a:ext cx="15544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44"/>
          <p:cNvSpPr/>
          <p:nvPr/>
        </p:nvSpPr>
        <p:spPr>
          <a:xfrm>
            <a:off x="5586984" y="2587752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2057400" y="2907792"/>
            <a:ext cx="34747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4"/>
          <p:cNvSpPr/>
          <p:nvPr/>
        </p:nvSpPr>
        <p:spPr>
          <a:xfrm>
            <a:off x="2112264" y="2980944"/>
            <a:ext cx="33649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4"/>
          <p:cNvSpPr/>
          <p:nvPr/>
        </p:nvSpPr>
        <p:spPr>
          <a:xfrm>
            <a:off x="5532120" y="2907792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4"/>
          <p:cNvSpPr/>
          <p:nvPr/>
        </p:nvSpPr>
        <p:spPr>
          <a:xfrm>
            <a:off x="5586984" y="2980944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700.00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4"/>
          <p:cNvSpPr/>
          <p:nvPr/>
        </p:nvSpPr>
        <p:spPr>
          <a:xfrm>
            <a:off x="2057400" y="3300984"/>
            <a:ext cx="34747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44"/>
          <p:cNvSpPr/>
          <p:nvPr/>
        </p:nvSpPr>
        <p:spPr>
          <a:xfrm>
            <a:off x="2112264" y="3374136"/>
            <a:ext cx="33649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4"/>
          <p:cNvSpPr/>
          <p:nvPr/>
        </p:nvSpPr>
        <p:spPr>
          <a:xfrm>
            <a:off x="5532120" y="3300984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4"/>
          <p:cNvSpPr/>
          <p:nvPr/>
        </p:nvSpPr>
        <p:spPr>
          <a:xfrm>
            <a:off x="5586984" y="3374136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800.00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4"/>
          <p:cNvSpPr/>
          <p:nvPr/>
        </p:nvSpPr>
        <p:spPr>
          <a:xfrm>
            <a:off x="2057400" y="3694176"/>
            <a:ext cx="347472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4"/>
          <p:cNvSpPr/>
          <p:nvPr/>
        </p:nvSpPr>
        <p:spPr>
          <a:xfrm>
            <a:off x="2112264" y="3767328"/>
            <a:ext cx="336499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4"/>
          <p:cNvSpPr/>
          <p:nvPr/>
        </p:nvSpPr>
        <p:spPr>
          <a:xfrm>
            <a:off x="5532120" y="3694176"/>
            <a:ext cx="15544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44"/>
          <p:cNvSpPr/>
          <p:nvPr/>
        </p:nvSpPr>
        <p:spPr>
          <a:xfrm>
            <a:off x="5586984" y="3767328"/>
            <a:ext cx="14447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950.00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4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4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Order first when the meaning of “first N” depends on a ranking.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5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Predict, Run, and Explain the Query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5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5"/>
          <p:cNvSpPr/>
          <p:nvPr/>
        </p:nvSpPr>
        <p:spPr>
          <a:xfrm>
            <a:off x="685800" y="941832"/>
            <a:ext cx="4251960" cy="1444752"/>
          </a:xfrm>
          <a:prstGeom prst="roundRect">
            <a:avLst>
              <a:gd fmla="val 3165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5"/>
          <p:cNvSpPr/>
          <p:nvPr/>
        </p:nvSpPr>
        <p:spPr>
          <a:xfrm>
            <a:off x="822960" y="1060704"/>
            <a:ext cx="397764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title, fee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WHERE fee &lt;= 1200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fee ASC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30"/>
              <a:buFont typeface="Courier New"/>
              <a:buNone/>
            </a:pPr>
            <a:r>
              <a:rPr b="0" i="0" lang="en" sz="11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LIMIT 3;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5"/>
          <p:cNvSpPr/>
          <p:nvPr/>
        </p:nvSpPr>
        <p:spPr>
          <a:xfrm>
            <a:off x="5138928" y="941832"/>
            <a:ext cx="3273552" cy="1444752"/>
          </a:xfrm>
          <a:prstGeom prst="roundRect">
            <a:avLst>
              <a:gd fmla="val 3165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5"/>
          <p:cNvSpPr/>
          <p:nvPr/>
        </p:nvSpPr>
        <p:spPr>
          <a:xfrm>
            <a:off x="5376672" y="1133856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Before executing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5"/>
          <p:cNvSpPr/>
          <p:nvPr/>
        </p:nvSpPr>
        <p:spPr>
          <a:xfrm>
            <a:off x="5376672" y="1517904"/>
            <a:ext cx="267004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1. Which rows qualify?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2. What order will they appear in?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3. Which 3 remain after LIMIT?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5"/>
          <p:cNvSpPr/>
          <p:nvPr/>
        </p:nvSpPr>
        <p:spPr>
          <a:xfrm>
            <a:off x="685800" y="2633472"/>
            <a:ext cx="3675888" cy="1353312"/>
          </a:xfrm>
          <a:prstGeom prst="roundRect">
            <a:avLst>
              <a:gd fmla="val 3378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5"/>
          <p:cNvSpPr/>
          <p:nvPr/>
        </p:nvSpPr>
        <p:spPr>
          <a:xfrm>
            <a:off x="896112" y="28163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5"/>
          <p:cNvSpPr/>
          <p:nvPr/>
        </p:nvSpPr>
        <p:spPr>
          <a:xfrm>
            <a:off x="1783080" y="2816352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101, 102, 104, 105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5"/>
          <p:cNvSpPr/>
          <p:nvPr/>
        </p:nvSpPr>
        <p:spPr>
          <a:xfrm>
            <a:off x="2331720" y="305409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5"/>
          <p:cNvSpPr/>
          <p:nvPr/>
        </p:nvSpPr>
        <p:spPr>
          <a:xfrm>
            <a:off x="896112" y="32918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ORDER BY fee ASC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5"/>
          <p:cNvSpPr/>
          <p:nvPr/>
        </p:nvSpPr>
        <p:spPr>
          <a:xfrm>
            <a:off x="2331720" y="329184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Courier New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105 → 102 → 104 → 101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5"/>
          <p:cNvSpPr/>
          <p:nvPr/>
        </p:nvSpPr>
        <p:spPr>
          <a:xfrm>
            <a:off x="2194560" y="35935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↓ LIMIT 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5"/>
          <p:cNvSpPr/>
          <p:nvPr/>
        </p:nvSpPr>
        <p:spPr>
          <a:xfrm>
            <a:off x="4590288" y="2633472"/>
            <a:ext cx="2606040" cy="338328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45"/>
          <p:cNvSpPr/>
          <p:nvPr/>
        </p:nvSpPr>
        <p:spPr>
          <a:xfrm>
            <a:off x="4645152" y="2706624"/>
            <a:ext cx="2496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5"/>
          <p:cNvSpPr/>
          <p:nvPr/>
        </p:nvSpPr>
        <p:spPr>
          <a:xfrm>
            <a:off x="7196328" y="2633472"/>
            <a:ext cx="1216152" cy="338328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45"/>
          <p:cNvSpPr/>
          <p:nvPr/>
        </p:nvSpPr>
        <p:spPr>
          <a:xfrm>
            <a:off x="7251192" y="2706624"/>
            <a:ext cx="1106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5"/>
          <p:cNvSpPr/>
          <p:nvPr/>
        </p:nvSpPr>
        <p:spPr>
          <a:xfrm>
            <a:off x="4590288" y="2971800"/>
            <a:ext cx="2606040" cy="338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45"/>
          <p:cNvSpPr/>
          <p:nvPr/>
        </p:nvSpPr>
        <p:spPr>
          <a:xfrm>
            <a:off x="4645152" y="3044952"/>
            <a:ext cx="2496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5"/>
          <p:cNvSpPr/>
          <p:nvPr/>
        </p:nvSpPr>
        <p:spPr>
          <a:xfrm>
            <a:off x="7196328" y="2971800"/>
            <a:ext cx="1216152" cy="338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5"/>
          <p:cNvSpPr/>
          <p:nvPr/>
        </p:nvSpPr>
        <p:spPr>
          <a:xfrm>
            <a:off x="7251192" y="3044952"/>
            <a:ext cx="1106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700.00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5"/>
          <p:cNvSpPr/>
          <p:nvPr/>
        </p:nvSpPr>
        <p:spPr>
          <a:xfrm>
            <a:off x="4590288" y="3310128"/>
            <a:ext cx="2606040" cy="338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45"/>
          <p:cNvSpPr/>
          <p:nvPr/>
        </p:nvSpPr>
        <p:spPr>
          <a:xfrm>
            <a:off x="4645152" y="3383280"/>
            <a:ext cx="2496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5"/>
          <p:cNvSpPr/>
          <p:nvPr/>
        </p:nvSpPr>
        <p:spPr>
          <a:xfrm>
            <a:off x="7196328" y="3310128"/>
            <a:ext cx="1216152" cy="338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5"/>
          <p:cNvSpPr/>
          <p:nvPr/>
        </p:nvSpPr>
        <p:spPr>
          <a:xfrm>
            <a:off x="7251192" y="3383280"/>
            <a:ext cx="1106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800.00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5"/>
          <p:cNvSpPr/>
          <p:nvPr/>
        </p:nvSpPr>
        <p:spPr>
          <a:xfrm>
            <a:off x="4590288" y="3648456"/>
            <a:ext cx="2606040" cy="338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5"/>
          <p:cNvSpPr/>
          <p:nvPr/>
        </p:nvSpPr>
        <p:spPr>
          <a:xfrm>
            <a:off x="4645152" y="3721608"/>
            <a:ext cx="2496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5"/>
          <p:cNvSpPr/>
          <p:nvPr/>
        </p:nvSpPr>
        <p:spPr>
          <a:xfrm>
            <a:off x="7196328" y="3648456"/>
            <a:ext cx="1216152" cy="3383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45"/>
          <p:cNvSpPr/>
          <p:nvPr/>
        </p:nvSpPr>
        <p:spPr>
          <a:xfrm>
            <a:off x="7251192" y="3721608"/>
            <a:ext cx="11064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950.00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5"/>
          <p:cNvSpPr/>
          <p:nvPr/>
        </p:nvSpPr>
        <p:spPr>
          <a:xfrm>
            <a:off x="685800" y="4187952"/>
            <a:ext cx="7772400" cy="402336"/>
          </a:xfrm>
          <a:prstGeom prst="roundRect">
            <a:avLst>
              <a:gd fmla="val 1363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45"/>
          <p:cNvSpPr/>
          <p:nvPr/>
        </p:nvSpPr>
        <p:spPr>
          <a:xfrm>
            <a:off x="822960" y="4270248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Each clause changes the result: qualify → order → limit.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6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Insert One Temporary Workshop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6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6"/>
          <p:cNvSpPr/>
          <p:nvPr/>
        </p:nvSpPr>
        <p:spPr>
          <a:xfrm>
            <a:off x="685800" y="932688"/>
            <a:ext cx="3931920" cy="1298448"/>
          </a:xfrm>
          <a:prstGeom prst="roundRect">
            <a:avLst>
              <a:gd fmla="val 3521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46"/>
          <p:cNvSpPr/>
          <p:nvPr/>
        </p:nvSpPr>
        <p:spPr>
          <a:xfrm>
            <a:off x="822960" y="1051560"/>
            <a:ext cx="3657600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workshops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(workshop_id, title, category, seats, fee)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(106, 'Test Workshop', 'Test', 5, 100.00);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46"/>
          <p:cNvSpPr/>
          <p:nvPr/>
        </p:nvSpPr>
        <p:spPr>
          <a:xfrm>
            <a:off x="4919472" y="932688"/>
            <a:ext cx="3456432" cy="932688"/>
          </a:xfrm>
          <a:prstGeom prst="roundRect">
            <a:avLst>
              <a:gd fmla="val 4902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6"/>
          <p:cNvSpPr/>
          <p:nvPr/>
        </p:nvSpPr>
        <p:spPr>
          <a:xfrm>
            <a:off x="5056632" y="1051560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Courier New"/>
              <a:buNone/>
            </a:pPr>
            <a:r>
              <a:rPr b="0" i="0" lang="en" sz="108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WHERE workshop_id = 106;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6"/>
          <p:cNvSpPr/>
          <p:nvPr/>
        </p:nvSpPr>
        <p:spPr>
          <a:xfrm>
            <a:off x="1207008" y="2743200"/>
            <a:ext cx="128016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6"/>
          <p:cNvSpPr/>
          <p:nvPr/>
        </p:nvSpPr>
        <p:spPr>
          <a:xfrm>
            <a:off x="1261872" y="2816352"/>
            <a:ext cx="11704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6"/>
          <p:cNvSpPr/>
          <p:nvPr/>
        </p:nvSpPr>
        <p:spPr>
          <a:xfrm>
            <a:off x="2487168" y="2743200"/>
            <a:ext cx="228600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46"/>
          <p:cNvSpPr/>
          <p:nvPr/>
        </p:nvSpPr>
        <p:spPr>
          <a:xfrm>
            <a:off x="2542032" y="2816352"/>
            <a:ext cx="21762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6"/>
          <p:cNvSpPr/>
          <p:nvPr/>
        </p:nvSpPr>
        <p:spPr>
          <a:xfrm>
            <a:off x="4773168" y="2743200"/>
            <a:ext cx="114300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46"/>
          <p:cNvSpPr/>
          <p:nvPr/>
        </p:nvSpPr>
        <p:spPr>
          <a:xfrm>
            <a:off x="4828032" y="2816352"/>
            <a:ext cx="10332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6"/>
          <p:cNvSpPr/>
          <p:nvPr/>
        </p:nvSpPr>
        <p:spPr>
          <a:xfrm>
            <a:off x="5916168" y="2743200"/>
            <a:ext cx="82296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46"/>
          <p:cNvSpPr/>
          <p:nvPr/>
        </p:nvSpPr>
        <p:spPr>
          <a:xfrm>
            <a:off x="5971032" y="2816352"/>
            <a:ext cx="7132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6739128" y="2743200"/>
            <a:ext cx="105156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46"/>
          <p:cNvSpPr/>
          <p:nvPr/>
        </p:nvSpPr>
        <p:spPr>
          <a:xfrm>
            <a:off x="6793992" y="2816352"/>
            <a:ext cx="9418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fee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1207008" y="3136392"/>
            <a:ext cx="128016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6"/>
          <p:cNvSpPr/>
          <p:nvPr/>
        </p:nvSpPr>
        <p:spPr>
          <a:xfrm>
            <a:off x="1261872" y="3209544"/>
            <a:ext cx="11704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106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2487168" y="3136392"/>
            <a:ext cx="22860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46"/>
          <p:cNvSpPr/>
          <p:nvPr/>
        </p:nvSpPr>
        <p:spPr>
          <a:xfrm>
            <a:off x="2542032" y="3209544"/>
            <a:ext cx="21762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Test Workshop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4773168" y="3136392"/>
            <a:ext cx="114300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46"/>
          <p:cNvSpPr/>
          <p:nvPr/>
        </p:nvSpPr>
        <p:spPr>
          <a:xfrm>
            <a:off x="4828032" y="3209544"/>
            <a:ext cx="103327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6"/>
          <p:cNvSpPr/>
          <p:nvPr/>
        </p:nvSpPr>
        <p:spPr>
          <a:xfrm>
            <a:off x="5916168" y="3136392"/>
            <a:ext cx="82296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6"/>
          <p:cNvSpPr/>
          <p:nvPr/>
        </p:nvSpPr>
        <p:spPr>
          <a:xfrm>
            <a:off x="5971032" y="3209544"/>
            <a:ext cx="7132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6"/>
          <p:cNvSpPr/>
          <p:nvPr/>
        </p:nvSpPr>
        <p:spPr>
          <a:xfrm>
            <a:off x="6739128" y="3136392"/>
            <a:ext cx="105156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6"/>
          <p:cNvSpPr/>
          <p:nvPr/>
        </p:nvSpPr>
        <p:spPr>
          <a:xfrm>
            <a:off x="6793992" y="3209544"/>
            <a:ext cx="94183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100.00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6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6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table now contains 6 rows; use a targeted SELECT to inspect one known record.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7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Update Safely: Preview → Change → Verify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7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7"/>
          <p:cNvSpPr/>
          <p:nvPr/>
        </p:nvSpPr>
        <p:spPr>
          <a:xfrm>
            <a:off x="713232" y="960120"/>
            <a:ext cx="2331720" cy="3063240"/>
          </a:xfrm>
          <a:prstGeom prst="roundRect">
            <a:avLst>
              <a:gd fmla="val 1961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7"/>
          <p:cNvSpPr/>
          <p:nvPr/>
        </p:nvSpPr>
        <p:spPr>
          <a:xfrm>
            <a:off x="877824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1. Preview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47"/>
          <p:cNvSpPr/>
          <p:nvPr/>
        </p:nvSpPr>
        <p:spPr>
          <a:xfrm>
            <a:off x="3401568" y="960120"/>
            <a:ext cx="2331720" cy="3063240"/>
          </a:xfrm>
          <a:prstGeom prst="roundRect">
            <a:avLst>
              <a:gd fmla="val 1961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7"/>
          <p:cNvSpPr/>
          <p:nvPr/>
        </p:nvSpPr>
        <p:spPr>
          <a:xfrm>
            <a:off x="3566160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2. Change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47"/>
          <p:cNvSpPr/>
          <p:nvPr/>
        </p:nvSpPr>
        <p:spPr>
          <a:xfrm>
            <a:off x="6080760" y="960120"/>
            <a:ext cx="2331720" cy="3063240"/>
          </a:xfrm>
          <a:prstGeom prst="roundRect">
            <a:avLst>
              <a:gd fmla="val 1961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7"/>
          <p:cNvSpPr/>
          <p:nvPr/>
        </p:nvSpPr>
        <p:spPr>
          <a:xfrm>
            <a:off x="6245352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3. Verify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47"/>
          <p:cNvSpPr/>
          <p:nvPr/>
        </p:nvSpPr>
        <p:spPr>
          <a:xfrm>
            <a:off x="877824" y="1572768"/>
            <a:ext cx="1993392" cy="749808"/>
          </a:xfrm>
          <a:prstGeom prst="roundRect">
            <a:avLst>
              <a:gd fmla="val 6098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47"/>
          <p:cNvSpPr/>
          <p:nvPr/>
        </p:nvSpPr>
        <p:spPr>
          <a:xfrm>
            <a:off x="1014984" y="1691640"/>
            <a:ext cx="17190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SELECT workshop_id, title, seats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0"/>
              <a:buFont typeface="Courier New"/>
              <a:buNone/>
            </a:pPr>
            <a:r>
              <a:rPr b="0" i="0" lang="en" sz="8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WHERE workshop_id = 103;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7"/>
          <p:cNvSpPr/>
          <p:nvPr/>
        </p:nvSpPr>
        <p:spPr>
          <a:xfrm>
            <a:off x="877824" y="2505456"/>
            <a:ext cx="530352" cy="32918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7"/>
          <p:cNvSpPr/>
          <p:nvPr/>
        </p:nvSpPr>
        <p:spPr>
          <a:xfrm>
            <a:off x="932688" y="2578608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7"/>
          <p:cNvSpPr/>
          <p:nvPr/>
        </p:nvSpPr>
        <p:spPr>
          <a:xfrm>
            <a:off x="1408176" y="2505456"/>
            <a:ext cx="960120" cy="32918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7"/>
          <p:cNvSpPr/>
          <p:nvPr/>
        </p:nvSpPr>
        <p:spPr>
          <a:xfrm>
            <a:off x="1463040" y="2578608"/>
            <a:ext cx="850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47"/>
          <p:cNvSpPr/>
          <p:nvPr/>
        </p:nvSpPr>
        <p:spPr>
          <a:xfrm>
            <a:off x="2368296" y="2505456"/>
            <a:ext cx="502920" cy="32918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47"/>
          <p:cNvSpPr/>
          <p:nvPr/>
        </p:nvSpPr>
        <p:spPr>
          <a:xfrm>
            <a:off x="2423160" y="2578608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7"/>
          <p:cNvSpPr/>
          <p:nvPr/>
        </p:nvSpPr>
        <p:spPr>
          <a:xfrm>
            <a:off x="877824" y="2834640"/>
            <a:ext cx="530352" cy="32918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7"/>
          <p:cNvSpPr/>
          <p:nvPr/>
        </p:nvSpPr>
        <p:spPr>
          <a:xfrm>
            <a:off x="932688" y="2907792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7"/>
          <p:cNvSpPr/>
          <p:nvPr/>
        </p:nvSpPr>
        <p:spPr>
          <a:xfrm>
            <a:off x="1408176" y="2834640"/>
            <a:ext cx="960120" cy="32918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7"/>
          <p:cNvSpPr/>
          <p:nvPr/>
        </p:nvSpPr>
        <p:spPr>
          <a:xfrm>
            <a:off x="1463040" y="2907792"/>
            <a:ext cx="850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7"/>
          <p:cNvSpPr/>
          <p:nvPr/>
        </p:nvSpPr>
        <p:spPr>
          <a:xfrm>
            <a:off x="2368296" y="2834640"/>
            <a:ext cx="502920" cy="32918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7"/>
          <p:cNvSpPr/>
          <p:nvPr/>
        </p:nvSpPr>
        <p:spPr>
          <a:xfrm>
            <a:off x="2423160" y="2907792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47"/>
          <p:cNvSpPr/>
          <p:nvPr/>
        </p:nvSpPr>
        <p:spPr>
          <a:xfrm>
            <a:off x="3584448" y="1572768"/>
            <a:ext cx="1993392" cy="749808"/>
          </a:xfrm>
          <a:prstGeom prst="roundRect">
            <a:avLst>
              <a:gd fmla="val 6098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7"/>
          <p:cNvSpPr/>
          <p:nvPr/>
        </p:nvSpPr>
        <p:spPr>
          <a:xfrm>
            <a:off x="3721608" y="1691640"/>
            <a:ext cx="17190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UPDATE workshops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SET seats = 12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WHERE workshop_id = 103;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47"/>
          <p:cNvSpPr/>
          <p:nvPr/>
        </p:nvSpPr>
        <p:spPr>
          <a:xfrm>
            <a:off x="6254496" y="1572768"/>
            <a:ext cx="1993392" cy="475488"/>
          </a:xfrm>
          <a:prstGeom prst="roundRect">
            <a:avLst>
              <a:gd fmla="val 9615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7"/>
          <p:cNvSpPr/>
          <p:nvPr/>
        </p:nvSpPr>
        <p:spPr>
          <a:xfrm>
            <a:off x="6391656" y="1691640"/>
            <a:ext cx="1719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Run the targeted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Courier New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SELECT again.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47"/>
          <p:cNvSpPr/>
          <p:nvPr/>
        </p:nvSpPr>
        <p:spPr>
          <a:xfrm>
            <a:off x="6254496" y="2505456"/>
            <a:ext cx="530352" cy="32918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7"/>
          <p:cNvSpPr/>
          <p:nvPr/>
        </p:nvSpPr>
        <p:spPr>
          <a:xfrm>
            <a:off x="6309360" y="2578608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47"/>
          <p:cNvSpPr/>
          <p:nvPr/>
        </p:nvSpPr>
        <p:spPr>
          <a:xfrm>
            <a:off x="6784848" y="2505456"/>
            <a:ext cx="960120" cy="32918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7"/>
          <p:cNvSpPr/>
          <p:nvPr/>
        </p:nvSpPr>
        <p:spPr>
          <a:xfrm>
            <a:off x="6839712" y="2578608"/>
            <a:ext cx="850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7"/>
          <p:cNvSpPr/>
          <p:nvPr/>
        </p:nvSpPr>
        <p:spPr>
          <a:xfrm>
            <a:off x="7744968" y="2505456"/>
            <a:ext cx="502920" cy="329184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7"/>
          <p:cNvSpPr/>
          <p:nvPr/>
        </p:nvSpPr>
        <p:spPr>
          <a:xfrm>
            <a:off x="7799832" y="2578608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seats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7"/>
          <p:cNvSpPr/>
          <p:nvPr/>
        </p:nvSpPr>
        <p:spPr>
          <a:xfrm>
            <a:off x="6254496" y="2834640"/>
            <a:ext cx="530352" cy="32918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7"/>
          <p:cNvSpPr/>
          <p:nvPr/>
        </p:nvSpPr>
        <p:spPr>
          <a:xfrm>
            <a:off x="6309360" y="2907792"/>
            <a:ext cx="4206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7"/>
          <p:cNvSpPr/>
          <p:nvPr/>
        </p:nvSpPr>
        <p:spPr>
          <a:xfrm>
            <a:off x="6784848" y="2834640"/>
            <a:ext cx="960120" cy="32918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7"/>
          <p:cNvSpPr/>
          <p:nvPr/>
        </p:nvSpPr>
        <p:spPr>
          <a:xfrm>
            <a:off x="6839712" y="2907792"/>
            <a:ext cx="8503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7"/>
          <p:cNvSpPr/>
          <p:nvPr/>
        </p:nvSpPr>
        <p:spPr>
          <a:xfrm>
            <a:off x="7744968" y="2834640"/>
            <a:ext cx="502920" cy="329184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7"/>
          <p:cNvSpPr/>
          <p:nvPr/>
        </p:nvSpPr>
        <p:spPr>
          <a:xfrm>
            <a:off x="7799832" y="2907792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7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7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Preview → mutate → verify. Before UPDATE, know how many rows should change.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8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Delete Safely: Preview → Remove → Verify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8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QUERY AND CHANGE DATA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48"/>
          <p:cNvSpPr/>
          <p:nvPr/>
        </p:nvSpPr>
        <p:spPr>
          <a:xfrm>
            <a:off x="713232" y="960120"/>
            <a:ext cx="2331720" cy="3063240"/>
          </a:xfrm>
          <a:prstGeom prst="roundRect">
            <a:avLst>
              <a:gd fmla="val 1961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48"/>
          <p:cNvSpPr/>
          <p:nvPr/>
        </p:nvSpPr>
        <p:spPr>
          <a:xfrm>
            <a:off x="877824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1. Preview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48"/>
          <p:cNvSpPr/>
          <p:nvPr/>
        </p:nvSpPr>
        <p:spPr>
          <a:xfrm>
            <a:off x="3401568" y="960120"/>
            <a:ext cx="2331720" cy="3063240"/>
          </a:xfrm>
          <a:prstGeom prst="roundRect">
            <a:avLst>
              <a:gd fmla="val 1961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8"/>
          <p:cNvSpPr/>
          <p:nvPr/>
        </p:nvSpPr>
        <p:spPr>
          <a:xfrm>
            <a:off x="3566160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2. Remove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48"/>
          <p:cNvSpPr/>
          <p:nvPr/>
        </p:nvSpPr>
        <p:spPr>
          <a:xfrm>
            <a:off x="6080760" y="960120"/>
            <a:ext cx="2331720" cy="3063240"/>
          </a:xfrm>
          <a:prstGeom prst="roundRect">
            <a:avLst>
              <a:gd fmla="val 1961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8"/>
          <p:cNvSpPr/>
          <p:nvPr/>
        </p:nvSpPr>
        <p:spPr>
          <a:xfrm>
            <a:off x="6245352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3. Verify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48"/>
          <p:cNvSpPr/>
          <p:nvPr/>
        </p:nvSpPr>
        <p:spPr>
          <a:xfrm>
            <a:off x="877824" y="1572768"/>
            <a:ext cx="1993392" cy="749808"/>
          </a:xfrm>
          <a:prstGeom prst="roundRect">
            <a:avLst>
              <a:gd fmla="val 6098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48"/>
          <p:cNvSpPr/>
          <p:nvPr/>
        </p:nvSpPr>
        <p:spPr>
          <a:xfrm>
            <a:off x="1014984" y="1691640"/>
            <a:ext cx="17190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SELECT workshop_id, title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WHERE workshop_id = 106;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8"/>
          <p:cNvSpPr/>
          <p:nvPr/>
        </p:nvSpPr>
        <p:spPr>
          <a:xfrm>
            <a:off x="877824" y="252374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106 | Test Workshop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8"/>
          <p:cNvSpPr/>
          <p:nvPr/>
        </p:nvSpPr>
        <p:spPr>
          <a:xfrm>
            <a:off x="3584448" y="1572768"/>
            <a:ext cx="1993392" cy="585216"/>
          </a:xfrm>
          <a:prstGeom prst="roundRect">
            <a:avLst>
              <a:gd fmla="val 7813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8"/>
          <p:cNvSpPr/>
          <p:nvPr/>
        </p:nvSpPr>
        <p:spPr>
          <a:xfrm>
            <a:off x="3721608" y="1691640"/>
            <a:ext cx="1719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workshops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0"/>
              <a:buFont typeface="Courier New"/>
              <a:buNone/>
            </a:pPr>
            <a:r>
              <a:rPr b="0" i="0" lang="en" sz="9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WHERE workshop_id = 106;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48"/>
          <p:cNvSpPr/>
          <p:nvPr/>
        </p:nvSpPr>
        <p:spPr>
          <a:xfrm>
            <a:off x="6254496" y="1572768"/>
            <a:ext cx="1993392" cy="749808"/>
          </a:xfrm>
          <a:prstGeom prst="roundRect">
            <a:avLst>
              <a:gd fmla="val 6098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8"/>
          <p:cNvSpPr/>
          <p:nvPr/>
        </p:nvSpPr>
        <p:spPr>
          <a:xfrm>
            <a:off x="6391656" y="1691640"/>
            <a:ext cx="17190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SELECT workshop_id, title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39"/>
              <a:buFont typeface="Courier New"/>
              <a:buNone/>
            </a:pPr>
            <a:r>
              <a:rPr b="0" i="0" lang="en" sz="8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WHERE workshop_id = 106;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48"/>
          <p:cNvSpPr/>
          <p:nvPr/>
        </p:nvSpPr>
        <p:spPr>
          <a:xfrm>
            <a:off x="6254496" y="252374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Courier New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No matching rows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8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8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We are back to five canonical workshops; workshop 103 still has seats = 12.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9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Checkpoint: Which Rows Would Change?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9"/>
          <p:cNvSpPr/>
          <p:nvPr/>
        </p:nvSpPr>
        <p:spPr>
          <a:xfrm>
            <a:off x="713232" y="932688"/>
            <a:ext cx="3429000" cy="768096"/>
          </a:xfrm>
          <a:prstGeom prst="roundRect">
            <a:avLst>
              <a:gd fmla="val 5952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49"/>
          <p:cNvSpPr/>
          <p:nvPr/>
        </p:nvSpPr>
        <p:spPr>
          <a:xfrm>
            <a:off x="850392" y="1051560"/>
            <a:ext cx="31546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UPDATE workshops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SET seats = 20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Courier New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WHERE category = 'Art';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49"/>
          <p:cNvSpPr/>
          <p:nvPr/>
        </p:nvSpPr>
        <p:spPr>
          <a:xfrm>
            <a:off x="4434840" y="950976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40"/>
              <a:buFont typeface="Arial"/>
              <a:buNone/>
            </a:pPr>
            <a:r>
              <a:rPr b="1" i="0" lang="en" sz="11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Consider the workshops categories and this SQL. How many workshop rows should change?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49"/>
          <p:cNvSpPr/>
          <p:nvPr/>
        </p:nvSpPr>
        <p:spPr>
          <a:xfrm>
            <a:off x="713232" y="1856232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49"/>
          <p:cNvSpPr/>
          <p:nvPr/>
        </p:nvSpPr>
        <p:spPr>
          <a:xfrm>
            <a:off x="822960" y="1956816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49"/>
          <p:cNvSpPr/>
          <p:nvPr/>
        </p:nvSpPr>
        <p:spPr>
          <a:xfrm>
            <a:off x="1216152" y="1938528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49"/>
          <p:cNvSpPr/>
          <p:nvPr/>
        </p:nvSpPr>
        <p:spPr>
          <a:xfrm>
            <a:off x="4709160" y="1856232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49"/>
          <p:cNvSpPr/>
          <p:nvPr/>
        </p:nvSpPr>
        <p:spPr>
          <a:xfrm>
            <a:off x="4818888" y="1956816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5212080" y="1938528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713232" y="2523744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9"/>
          <p:cNvSpPr/>
          <p:nvPr/>
        </p:nvSpPr>
        <p:spPr>
          <a:xfrm>
            <a:off x="822960" y="2624328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9"/>
          <p:cNvSpPr/>
          <p:nvPr/>
        </p:nvSpPr>
        <p:spPr>
          <a:xfrm>
            <a:off x="1216152" y="2606040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9"/>
          <p:cNvSpPr/>
          <p:nvPr/>
        </p:nvSpPr>
        <p:spPr>
          <a:xfrm>
            <a:off x="4709160" y="2523744"/>
            <a:ext cx="3703320" cy="530352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9"/>
          <p:cNvSpPr/>
          <p:nvPr/>
        </p:nvSpPr>
        <p:spPr>
          <a:xfrm>
            <a:off x="4818888" y="2624328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49"/>
          <p:cNvSpPr/>
          <p:nvPr/>
        </p:nvSpPr>
        <p:spPr>
          <a:xfrm>
            <a:off x="5212080" y="2606040"/>
            <a:ext cx="30815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Every workshop with fewer than 20 seats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9"/>
          <p:cNvSpPr/>
          <p:nvPr/>
        </p:nvSpPr>
        <p:spPr>
          <a:xfrm>
            <a:off x="685800" y="3986784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9"/>
          <p:cNvSpPr/>
          <p:nvPr/>
        </p:nvSpPr>
        <p:spPr>
          <a:xfrm>
            <a:off x="868680" y="4069080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49"/>
          <p:cNvSpPr/>
          <p:nvPr/>
        </p:nvSpPr>
        <p:spPr>
          <a:xfrm>
            <a:off x="2395728" y="4069080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Only workshop 104 has category = Art. Without the WHERE line, all workshop rows would be targeted.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0"/>
          <p:cNvSpPr/>
          <p:nvPr/>
        </p:nvSpPr>
        <p:spPr>
          <a:xfrm>
            <a:off x="585216" y="1499616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When One Table Stops Being Enough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9" name="Google Shape;1009;p50"/>
          <p:cNvCxnSpPr/>
          <p:nvPr/>
        </p:nvCxnSpPr>
        <p:spPr>
          <a:xfrm>
            <a:off x="585216" y="1993392"/>
            <a:ext cx="1133856" cy="0"/>
          </a:xfrm>
          <a:prstGeom prst="straightConnector1">
            <a:avLst/>
          </a:prstGeom>
          <a:noFill/>
          <a:ln cap="flat" cmpd="sng" w="1905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0" name="Google Shape;1010;p50"/>
          <p:cNvSpPr/>
          <p:nvPr/>
        </p:nvSpPr>
        <p:spPr>
          <a:xfrm>
            <a:off x="585216" y="23317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Related information can belong to different kinds of records.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1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 Lab Now Needs Instructors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51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51"/>
          <p:cNvSpPr/>
          <p:nvPr/>
        </p:nvSpPr>
        <p:spPr>
          <a:xfrm>
            <a:off x="713232" y="960120"/>
            <a:ext cx="3657600" cy="3063240"/>
          </a:xfrm>
          <a:prstGeom prst="roundRect">
            <a:avLst>
              <a:gd fmla="val 1493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1"/>
          <p:cNvSpPr/>
          <p:nvPr/>
        </p:nvSpPr>
        <p:spPr>
          <a:xfrm>
            <a:off x="4709160" y="960120"/>
            <a:ext cx="3703320" cy="3063240"/>
          </a:xfrm>
          <a:prstGeom prst="roundRect">
            <a:avLst>
              <a:gd fmla="val 1493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51"/>
          <p:cNvSpPr/>
          <p:nvPr/>
        </p:nvSpPr>
        <p:spPr>
          <a:xfrm>
            <a:off x="960120" y="1188720"/>
            <a:ext cx="31546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application now needs to show: Who teaches each workshop?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Instructor fields: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One instructor may lead more than one workshop.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51"/>
          <p:cNvSpPr/>
          <p:nvPr/>
        </p:nvSpPr>
        <p:spPr>
          <a:xfrm>
            <a:off x="4956048" y="1188720"/>
            <a:ext cx="315468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Two kinds of records: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Workshop: 101, Intro to Pottery, Craft, 12 seats, ₹1200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Instructor: 1, Meera Iyer, Mysuru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r>
              <a:t/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60"/>
              <a:buFont typeface="Arial"/>
              <a:buNone/>
            </a:pPr>
            <a:r>
              <a:rPr b="0" i="0" lang="en" sz="106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Workshops and instructors can live in separate tables and still be related.</a:t>
            </a:r>
            <a:endParaRPr b="0" i="0" sz="1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51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1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Different kinds of records can have their own tables. No formal normalization rules today.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2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Move to the Prepared Two-table State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52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2"/>
          <p:cNvSpPr/>
          <p:nvPr/>
        </p:nvSpPr>
        <p:spPr>
          <a:xfrm>
            <a:off x="685800" y="950976"/>
            <a:ext cx="1051560" cy="34747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52"/>
          <p:cNvSpPr/>
          <p:nvPr/>
        </p:nvSpPr>
        <p:spPr>
          <a:xfrm>
            <a:off x="740664" y="1024128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52"/>
          <p:cNvSpPr/>
          <p:nvPr/>
        </p:nvSpPr>
        <p:spPr>
          <a:xfrm>
            <a:off x="1737360" y="950976"/>
            <a:ext cx="1417320" cy="34747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52"/>
          <p:cNvSpPr/>
          <p:nvPr/>
        </p:nvSpPr>
        <p:spPr>
          <a:xfrm>
            <a:off x="1792224" y="1024128"/>
            <a:ext cx="1307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2"/>
          <p:cNvSpPr/>
          <p:nvPr/>
        </p:nvSpPr>
        <p:spPr>
          <a:xfrm>
            <a:off x="3154680" y="950976"/>
            <a:ext cx="868680" cy="34747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52"/>
          <p:cNvSpPr/>
          <p:nvPr/>
        </p:nvSpPr>
        <p:spPr>
          <a:xfrm>
            <a:off x="3209544" y="1024128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10"/>
              <a:buFont typeface="Arial"/>
              <a:buNone/>
            </a:pPr>
            <a:r>
              <a:rPr b="1" i="0" lang="en" sz="10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52"/>
          <p:cNvSpPr/>
          <p:nvPr/>
        </p:nvSpPr>
        <p:spPr>
          <a:xfrm>
            <a:off x="685800" y="1298448"/>
            <a:ext cx="105156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2"/>
          <p:cNvSpPr/>
          <p:nvPr/>
        </p:nvSpPr>
        <p:spPr>
          <a:xfrm>
            <a:off x="740664" y="1371600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52"/>
          <p:cNvSpPr/>
          <p:nvPr/>
        </p:nvSpPr>
        <p:spPr>
          <a:xfrm>
            <a:off x="1737360" y="1298448"/>
            <a:ext cx="141732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52"/>
          <p:cNvSpPr/>
          <p:nvPr/>
        </p:nvSpPr>
        <p:spPr>
          <a:xfrm>
            <a:off x="1792224" y="1371600"/>
            <a:ext cx="1307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2"/>
          <p:cNvSpPr/>
          <p:nvPr/>
        </p:nvSpPr>
        <p:spPr>
          <a:xfrm>
            <a:off x="3154680" y="1298448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52"/>
          <p:cNvSpPr/>
          <p:nvPr/>
        </p:nvSpPr>
        <p:spPr>
          <a:xfrm>
            <a:off x="3209544" y="1371600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Mysuru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52"/>
          <p:cNvSpPr/>
          <p:nvPr/>
        </p:nvSpPr>
        <p:spPr>
          <a:xfrm>
            <a:off x="685800" y="1645920"/>
            <a:ext cx="105156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52"/>
          <p:cNvSpPr/>
          <p:nvPr/>
        </p:nvSpPr>
        <p:spPr>
          <a:xfrm>
            <a:off x="740664" y="1719072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2"/>
          <p:cNvSpPr/>
          <p:nvPr/>
        </p:nvSpPr>
        <p:spPr>
          <a:xfrm>
            <a:off x="1737360" y="1645920"/>
            <a:ext cx="141732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52"/>
          <p:cNvSpPr/>
          <p:nvPr/>
        </p:nvSpPr>
        <p:spPr>
          <a:xfrm>
            <a:off x="1792224" y="1719072"/>
            <a:ext cx="1307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Arjun Rao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52"/>
          <p:cNvSpPr/>
          <p:nvPr/>
        </p:nvSpPr>
        <p:spPr>
          <a:xfrm>
            <a:off x="3154680" y="1645920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52"/>
          <p:cNvSpPr/>
          <p:nvPr/>
        </p:nvSpPr>
        <p:spPr>
          <a:xfrm>
            <a:off x="3209544" y="1719072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Bengaluru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2"/>
          <p:cNvSpPr/>
          <p:nvPr/>
        </p:nvSpPr>
        <p:spPr>
          <a:xfrm>
            <a:off x="685800" y="1993392"/>
            <a:ext cx="105156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52"/>
          <p:cNvSpPr/>
          <p:nvPr/>
        </p:nvSpPr>
        <p:spPr>
          <a:xfrm>
            <a:off x="740664" y="2066544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2"/>
          <p:cNvSpPr/>
          <p:nvPr/>
        </p:nvSpPr>
        <p:spPr>
          <a:xfrm>
            <a:off x="1737360" y="1993392"/>
            <a:ext cx="141732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52"/>
          <p:cNvSpPr/>
          <p:nvPr/>
        </p:nvSpPr>
        <p:spPr>
          <a:xfrm>
            <a:off x="1792224" y="2066544"/>
            <a:ext cx="1307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Kavya Menon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52"/>
          <p:cNvSpPr/>
          <p:nvPr/>
        </p:nvSpPr>
        <p:spPr>
          <a:xfrm>
            <a:off x="3154680" y="1993392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52"/>
          <p:cNvSpPr/>
          <p:nvPr/>
        </p:nvSpPr>
        <p:spPr>
          <a:xfrm>
            <a:off x="3209544" y="2066544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Kochi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52"/>
          <p:cNvSpPr/>
          <p:nvPr/>
        </p:nvSpPr>
        <p:spPr>
          <a:xfrm>
            <a:off x="685800" y="2340864"/>
            <a:ext cx="105156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52"/>
          <p:cNvSpPr/>
          <p:nvPr/>
        </p:nvSpPr>
        <p:spPr>
          <a:xfrm>
            <a:off x="740664" y="2414016"/>
            <a:ext cx="9418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52"/>
          <p:cNvSpPr/>
          <p:nvPr/>
        </p:nvSpPr>
        <p:spPr>
          <a:xfrm>
            <a:off x="1737360" y="2340864"/>
            <a:ext cx="141732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52"/>
          <p:cNvSpPr/>
          <p:nvPr/>
        </p:nvSpPr>
        <p:spPr>
          <a:xfrm>
            <a:off x="1792224" y="2414016"/>
            <a:ext cx="13075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Daniel Roy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2"/>
          <p:cNvSpPr/>
          <p:nvPr/>
        </p:nvSpPr>
        <p:spPr>
          <a:xfrm>
            <a:off x="3154680" y="2340864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2"/>
          <p:cNvSpPr/>
          <p:nvPr/>
        </p:nvSpPr>
        <p:spPr>
          <a:xfrm>
            <a:off x="3209544" y="2414016"/>
            <a:ext cx="7589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70"/>
              <a:buFont typeface="Arial"/>
              <a:buNone/>
            </a:pPr>
            <a:r>
              <a:rPr b="0" i="0" lang="en" sz="9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Chennai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2"/>
          <p:cNvSpPr/>
          <p:nvPr/>
        </p:nvSpPr>
        <p:spPr>
          <a:xfrm>
            <a:off x="4370832" y="950976"/>
            <a:ext cx="960120" cy="32004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52"/>
          <p:cNvSpPr/>
          <p:nvPr/>
        </p:nvSpPr>
        <p:spPr>
          <a:xfrm>
            <a:off x="4425696" y="1024128"/>
            <a:ext cx="8503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52"/>
          <p:cNvSpPr/>
          <p:nvPr/>
        </p:nvSpPr>
        <p:spPr>
          <a:xfrm>
            <a:off x="5330952" y="950976"/>
            <a:ext cx="2423160" cy="32004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5385816" y="1024128"/>
            <a:ext cx="23134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7754112" y="950976"/>
            <a:ext cx="685800" cy="32004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2"/>
          <p:cNvSpPr/>
          <p:nvPr/>
        </p:nvSpPr>
        <p:spPr>
          <a:xfrm>
            <a:off x="7808976" y="1024128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instructor_id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52"/>
          <p:cNvSpPr/>
          <p:nvPr/>
        </p:nvSpPr>
        <p:spPr>
          <a:xfrm>
            <a:off x="4370832" y="1271016"/>
            <a:ext cx="96012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52"/>
          <p:cNvSpPr/>
          <p:nvPr/>
        </p:nvSpPr>
        <p:spPr>
          <a:xfrm>
            <a:off x="4425696" y="1344168"/>
            <a:ext cx="8503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2"/>
          <p:cNvSpPr/>
          <p:nvPr/>
        </p:nvSpPr>
        <p:spPr>
          <a:xfrm>
            <a:off x="5330952" y="1271016"/>
            <a:ext cx="242316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52"/>
          <p:cNvSpPr/>
          <p:nvPr/>
        </p:nvSpPr>
        <p:spPr>
          <a:xfrm>
            <a:off x="5385816" y="1344168"/>
            <a:ext cx="23134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52"/>
          <p:cNvSpPr/>
          <p:nvPr/>
        </p:nvSpPr>
        <p:spPr>
          <a:xfrm>
            <a:off x="7754112" y="1271016"/>
            <a:ext cx="68580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52"/>
          <p:cNvSpPr/>
          <p:nvPr/>
        </p:nvSpPr>
        <p:spPr>
          <a:xfrm>
            <a:off x="7808976" y="1344168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2"/>
          <p:cNvSpPr/>
          <p:nvPr/>
        </p:nvSpPr>
        <p:spPr>
          <a:xfrm>
            <a:off x="4370832" y="1591056"/>
            <a:ext cx="96012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52"/>
          <p:cNvSpPr/>
          <p:nvPr/>
        </p:nvSpPr>
        <p:spPr>
          <a:xfrm>
            <a:off x="4425696" y="1664208"/>
            <a:ext cx="8503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2"/>
          <p:cNvSpPr/>
          <p:nvPr/>
        </p:nvSpPr>
        <p:spPr>
          <a:xfrm>
            <a:off x="5330952" y="1591056"/>
            <a:ext cx="242316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52"/>
          <p:cNvSpPr/>
          <p:nvPr/>
        </p:nvSpPr>
        <p:spPr>
          <a:xfrm>
            <a:off x="5385816" y="1664208"/>
            <a:ext cx="23134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2"/>
          <p:cNvSpPr/>
          <p:nvPr/>
        </p:nvSpPr>
        <p:spPr>
          <a:xfrm>
            <a:off x="7754112" y="1591056"/>
            <a:ext cx="68580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52"/>
          <p:cNvSpPr/>
          <p:nvPr/>
        </p:nvSpPr>
        <p:spPr>
          <a:xfrm>
            <a:off x="7808976" y="1664208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2"/>
          <p:cNvSpPr/>
          <p:nvPr/>
        </p:nvSpPr>
        <p:spPr>
          <a:xfrm>
            <a:off x="4370832" y="1911096"/>
            <a:ext cx="96012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52"/>
          <p:cNvSpPr/>
          <p:nvPr/>
        </p:nvSpPr>
        <p:spPr>
          <a:xfrm>
            <a:off x="4425696" y="1984248"/>
            <a:ext cx="8503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52"/>
          <p:cNvSpPr/>
          <p:nvPr/>
        </p:nvSpPr>
        <p:spPr>
          <a:xfrm>
            <a:off x="5330952" y="1911096"/>
            <a:ext cx="242316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52"/>
          <p:cNvSpPr/>
          <p:nvPr/>
        </p:nvSpPr>
        <p:spPr>
          <a:xfrm>
            <a:off x="5385816" y="1984248"/>
            <a:ext cx="23134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52"/>
          <p:cNvSpPr/>
          <p:nvPr/>
        </p:nvSpPr>
        <p:spPr>
          <a:xfrm>
            <a:off x="7754112" y="1911096"/>
            <a:ext cx="68580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52"/>
          <p:cNvSpPr/>
          <p:nvPr/>
        </p:nvSpPr>
        <p:spPr>
          <a:xfrm>
            <a:off x="7808976" y="1984248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52"/>
          <p:cNvSpPr/>
          <p:nvPr/>
        </p:nvSpPr>
        <p:spPr>
          <a:xfrm>
            <a:off x="4370832" y="2231136"/>
            <a:ext cx="96012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52"/>
          <p:cNvSpPr/>
          <p:nvPr/>
        </p:nvSpPr>
        <p:spPr>
          <a:xfrm>
            <a:off x="4425696" y="2304288"/>
            <a:ext cx="8503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104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52"/>
          <p:cNvSpPr/>
          <p:nvPr/>
        </p:nvSpPr>
        <p:spPr>
          <a:xfrm>
            <a:off x="5330952" y="2231136"/>
            <a:ext cx="242316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52"/>
          <p:cNvSpPr/>
          <p:nvPr/>
        </p:nvSpPr>
        <p:spPr>
          <a:xfrm>
            <a:off x="5385816" y="2304288"/>
            <a:ext cx="23134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2"/>
          <p:cNvSpPr/>
          <p:nvPr/>
        </p:nvSpPr>
        <p:spPr>
          <a:xfrm>
            <a:off x="7754112" y="2231136"/>
            <a:ext cx="68580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52"/>
          <p:cNvSpPr/>
          <p:nvPr/>
        </p:nvSpPr>
        <p:spPr>
          <a:xfrm>
            <a:off x="7808976" y="2304288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2"/>
          <p:cNvSpPr/>
          <p:nvPr/>
        </p:nvSpPr>
        <p:spPr>
          <a:xfrm>
            <a:off x="4370832" y="2551176"/>
            <a:ext cx="96012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2"/>
          <p:cNvSpPr/>
          <p:nvPr/>
        </p:nvSpPr>
        <p:spPr>
          <a:xfrm>
            <a:off x="4425696" y="2624328"/>
            <a:ext cx="85039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105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52"/>
          <p:cNvSpPr/>
          <p:nvPr/>
        </p:nvSpPr>
        <p:spPr>
          <a:xfrm>
            <a:off x="5330952" y="2551176"/>
            <a:ext cx="242316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52"/>
          <p:cNvSpPr/>
          <p:nvPr/>
        </p:nvSpPr>
        <p:spPr>
          <a:xfrm>
            <a:off x="5385816" y="2624328"/>
            <a:ext cx="23134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2"/>
          <p:cNvSpPr/>
          <p:nvPr/>
        </p:nvSpPr>
        <p:spPr>
          <a:xfrm>
            <a:off x="7754112" y="2551176"/>
            <a:ext cx="685800" cy="32004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52"/>
          <p:cNvSpPr/>
          <p:nvPr/>
        </p:nvSpPr>
        <p:spPr>
          <a:xfrm>
            <a:off x="7808976" y="2624328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2"/>
          <p:cNvSpPr/>
          <p:nvPr/>
        </p:nvSpPr>
        <p:spPr>
          <a:xfrm>
            <a:off x="685800" y="768096"/>
            <a:ext cx="11887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instructors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52"/>
          <p:cNvSpPr/>
          <p:nvPr/>
        </p:nvSpPr>
        <p:spPr>
          <a:xfrm>
            <a:off x="4370832" y="768096"/>
            <a:ext cx="2560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Courier New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workshops — relevant columns shown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2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52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Prepared checkpoint: focus on relationships, not schema-migration commands.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53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Primary Keys Identify; Foreign Keys Connect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53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53"/>
          <p:cNvSpPr/>
          <p:nvPr/>
        </p:nvSpPr>
        <p:spPr>
          <a:xfrm>
            <a:off x="868680" y="102412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workshops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53"/>
          <p:cNvSpPr/>
          <p:nvPr/>
        </p:nvSpPr>
        <p:spPr>
          <a:xfrm>
            <a:off x="777240" y="1389888"/>
            <a:ext cx="1417320" cy="48463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53"/>
          <p:cNvSpPr/>
          <p:nvPr/>
        </p:nvSpPr>
        <p:spPr>
          <a:xfrm>
            <a:off x="832104" y="1463040"/>
            <a:ext cx="13075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53"/>
          <p:cNvSpPr/>
          <p:nvPr/>
        </p:nvSpPr>
        <p:spPr>
          <a:xfrm>
            <a:off x="2194560" y="1389888"/>
            <a:ext cx="1463040" cy="48463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3"/>
          <p:cNvSpPr/>
          <p:nvPr/>
        </p:nvSpPr>
        <p:spPr>
          <a:xfrm>
            <a:off x="2249424" y="1463040"/>
            <a:ext cx="1353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53"/>
          <p:cNvSpPr/>
          <p:nvPr/>
        </p:nvSpPr>
        <p:spPr>
          <a:xfrm>
            <a:off x="777240" y="1874520"/>
            <a:ext cx="1417320" cy="4846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53"/>
          <p:cNvSpPr/>
          <p:nvPr/>
        </p:nvSpPr>
        <p:spPr>
          <a:xfrm>
            <a:off x="832104" y="1947672"/>
            <a:ext cx="13075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workshop_id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53"/>
          <p:cNvSpPr/>
          <p:nvPr/>
        </p:nvSpPr>
        <p:spPr>
          <a:xfrm>
            <a:off x="2194560" y="1874520"/>
            <a:ext cx="1463040" cy="4846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53"/>
          <p:cNvSpPr/>
          <p:nvPr/>
        </p:nvSpPr>
        <p:spPr>
          <a:xfrm>
            <a:off x="2249424" y="1947672"/>
            <a:ext cx="1353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53"/>
          <p:cNvSpPr/>
          <p:nvPr/>
        </p:nvSpPr>
        <p:spPr>
          <a:xfrm>
            <a:off x="777240" y="2359152"/>
            <a:ext cx="1417320" cy="484632"/>
          </a:xfrm>
          <a:prstGeom prst="rect">
            <a:avLst/>
          </a:prstGeom>
          <a:solidFill>
            <a:srgbClr val="FFF3C4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53"/>
          <p:cNvSpPr/>
          <p:nvPr/>
        </p:nvSpPr>
        <p:spPr>
          <a:xfrm>
            <a:off x="832104" y="2432304"/>
            <a:ext cx="13075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instructor_id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53"/>
          <p:cNvSpPr/>
          <p:nvPr/>
        </p:nvSpPr>
        <p:spPr>
          <a:xfrm>
            <a:off x="2194560" y="2359152"/>
            <a:ext cx="1463040" cy="484632"/>
          </a:xfrm>
          <a:prstGeom prst="rect">
            <a:avLst/>
          </a:prstGeom>
          <a:solidFill>
            <a:srgbClr val="FFF3C4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53"/>
          <p:cNvSpPr/>
          <p:nvPr/>
        </p:nvSpPr>
        <p:spPr>
          <a:xfrm>
            <a:off x="2249424" y="2432304"/>
            <a:ext cx="1353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53"/>
          <p:cNvSpPr/>
          <p:nvPr/>
        </p:nvSpPr>
        <p:spPr>
          <a:xfrm>
            <a:off x="5577840" y="102412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300"/>
              <a:buFont typeface="Courier New"/>
              <a:buNone/>
            </a:pPr>
            <a:r>
              <a:rPr b="1" i="0" lang="en" sz="130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instructors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53"/>
          <p:cNvSpPr/>
          <p:nvPr/>
        </p:nvSpPr>
        <p:spPr>
          <a:xfrm>
            <a:off x="5468112" y="1389888"/>
            <a:ext cx="1417320" cy="48463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53"/>
          <p:cNvSpPr/>
          <p:nvPr/>
        </p:nvSpPr>
        <p:spPr>
          <a:xfrm>
            <a:off x="5522976" y="1463040"/>
            <a:ext cx="13075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53"/>
          <p:cNvSpPr/>
          <p:nvPr/>
        </p:nvSpPr>
        <p:spPr>
          <a:xfrm>
            <a:off x="6885432" y="1389888"/>
            <a:ext cx="1463040" cy="48463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3"/>
          <p:cNvSpPr/>
          <p:nvPr/>
        </p:nvSpPr>
        <p:spPr>
          <a:xfrm>
            <a:off x="6940296" y="1463040"/>
            <a:ext cx="1353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53"/>
          <p:cNvSpPr/>
          <p:nvPr/>
        </p:nvSpPr>
        <p:spPr>
          <a:xfrm>
            <a:off x="5468112" y="1874520"/>
            <a:ext cx="1417320" cy="484632"/>
          </a:xfrm>
          <a:prstGeom prst="rect">
            <a:avLst/>
          </a:prstGeom>
          <a:solidFill>
            <a:srgbClr val="DDF7E7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53"/>
          <p:cNvSpPr/>
          <p:nvPr/>
        </p:nvSpPr>
        <p:spPr>
          <a:xfrm>
            <a:off x="5522976" y="1947672"/>
            <a:ext cx="13075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instructor_id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53"/>
          <p:cNvSpPr/>
          <p:nvPr/>
        </p:nvSpPr>
        <p:spPr>
          <a:xfrm>
            <a:off x="6885432" y="1874520"/>
            <a:ext cx="1463040" cy="484632"/>
          </a:xfrm>
          <a:prstGeom prst="rect">
            <a:avLst/>
          </a:prstGeom>
          <a:solidFill>
            <a:srgbClr val="DDF7E7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53"/>
          <p:cNvSpPr/>
          <p:nvPr/>
        </p:nvSpPr>
        <p:spPr>
          <a:xfrm>
            <a:off x="6940296" y="1947672"/>
            <a:ext cx="1353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3"/>
          <p:cNvSpPr/>
          <p:nvPr/>
        </p:nvSpPr>
        <p:spPr>
          <a:xfrm>
            <a:off x="5468112" y="2359152"/>
            <a:ext cx="1417320" cy="4846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53"/>
          <p:cNvSpPr/>
          <p:nvPr/>
        </p:nvSpPr>
        <p:spPr>
          <a:xfrm>
            <a:off x="5522976" y="2432304"/>
            <a:ext cx="130759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53"/>
          <p:cNvSpPr/>
          <p:nvPr/>
        </p:nvSpPr>
        <p:spPr>
          <a:xfrm>
            <a:off x="6885432" y="2359152"/>
            <a:ext cx="1463040" cy="4846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53"/>
          <p:cNvSpPr/>
          <p:nvPr/>
        </p:nvSpPr>
        <p:spPr>
          <a:xfrm>
            <a:off x="6940296" y="2432304"/>
            <a:ext cx="13533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4" name="Google Shape;1134;p53"/>
          <p:cNvCxnSpPr/>
          <p:nvPr/>
        </p:nvCxnSpPr>
        <p:spPr>
          <a:xfrm flipH="1" rot="10800000">
            <a:off x="3675888" y="2011680"/>
            <a:ext cx="1755648" cy="475488"/>
          </a:xfrm>
          <a:prstGeom prst="straightConnector1">
            <a:avLst/>
          </a:prstGeom>
          <a:noFill/>
          <a:ln cap="flat" cmpd="sng" w="3175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5" name="Google Shape;1135;p53"/>
          <p:cNvSpPr/>
          <p:nvPr/>
        </p:nvSpPr>
        <p:spPr>
          <a:xfrm>
            <a:off x="3950208" y="1975104"/>
            <a:ext cx="11704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3"/>
          <p:cNvSpPr/>
          <p:nvPr/>
        </p:nvSpPr>
        <p:spPr>
          <a:xfrm>
            <a:off x="777240" y="3291840"/>
            <a:ext cx="3675888" cy="841248"/>
          </a:xfrm>
          <a:prstGeom prst="roundRect">
            <a:avLst>
              <a:gd fmla="val 5435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3"/>
          <p:cNvSpPr/>
          <p:nvPr/>
        </p:nvSpPr>
        <p:spPr>
          <a:xfrm>
            <a:off x="987552" y="349300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53"/>
          <p:cNvSpPr/>
          <p:nvPr/>
        </p:nvSpPr>
        <p:spPr>
          <a:xfrm>
            <a:off x="2029968" y="3474720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Uniquely identifies a row in its own table.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53"/>
          <p:cNvSpPr/>
          <p:nvPr/>
        </p:nvSpPr>
        <p:spPr>
          <a:xfrm>
            <a:off x="4663440" y="3291840"/>
            <a:ext cx="3675888" cy="841248"/>
          </a:xfrm>
          <a:prstGeom prst="roundRect">
            <a:avLst>
              <a:gd fmla="val 5435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53"/>
          <p:cNvSpPr/>
          <p:nvPr/>
        </p:nvSpPr>
        <p:spPr>
          <a:xfrm>
            <a:off x="4882896" y="349300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53"/>
          <p:cNvSpPr/>
          <p:nvPr/>
        </p:nvSpPr>
        <p:spPr>
          <a:xfrm>
            <a:off x="5989320" y="3474720"/>
            <a:ext cx="19933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40"/>
              <a:buFont typeface="Arial"/>
              <a:buNone/>
            </a:pPr>
            <a:r>
              <a:rPr b="0" i="0" lang="en" sz="10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Defined to reference key values in another table.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4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Follow the Workshop–Instructor Relationship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54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54"/>
          <p:cNvSpPr/>
          <p:nvPr/>
        </p:nvSpPr>
        <p:spPr>
          <a:xfrm>
            <a:off x="822960" y="932688"/>
            <a:ext cx="2377440" cy="1234440"/>
          </a:xfrm>
          <a:prstGeom prst="roundRect">
            <a:avLst>
              <a:gd fmla="val 370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54"/>
          <p:cNvSpPr/>
          <p:nvPr/>
        </p:nvSpPr>
        <p:spPr>
          <a:xfrm>
            <a:off x="960120" y="1225296"/>
            <a:ext cx="2057400" cy="594360"/>
          </a:xfrm>
          <a:prstGeom prst="roundRect">
            <a:avLst>
              <a:gd fmla="val 7692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54"/>
          <p:cNvSpPr/>
          <p:nvPr/>
        </p:nvSpPr>
        <p:spPr>
          <a:xfrm>
            <a:off x="1097280" y="1344168"/>
            <a:ext cx="1783080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workshop_id      101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title            Intro to Pottery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60"/>
              <a:buFont typeface="Courier New"/>
              <a:buNone/>
            </a:pPr>
            <a:r>
              <a:rPr b="0" i="0" lang="en" sz="86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   1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2" name="Google Shape;1152;p54"/>
          <p:cNvCxnSpPr/>
          <p:nvPr/>
        </p:nvCxnSpPr>
        <p:spPr>
          <a:xfrm>
            <a:off x="3383280" y="1536192"/>
            <a:ext cx="1417320" cy="0"/>
          </a:xfrm>
          <a:prstGeom prst="straightConnector1">
            <a:avLst/>
          </a:prstGeom>
          <a:noFill/>
          <a:ln cap="flat" cmpd="sng" w="2540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3" name="Google Shape;1153;p54"/>
          <p:cNvSpPr/>
          <p:nvPr/>
        </p:nvSpPr>
        <p:spPr>
          <a:xfrm>
            <a:off x="3675888" y="1234440"/>
            <a:ext cx="777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follow id 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54"/>
          <p:cNvSpPr/>
          <p:nvPr/>
        </p:nvSpPr>
        <p:spPr>
          <a:xfrm>
            <a:off x="4983480" y="932688"/>
            <a:ext cx="2377440" cy="1234440"/>
          </a:xfrm>
          <a:prstGeom prst="roundRect">
            <a:avLst>
              <a:gd fmla="val 370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54"/>
          <p:cNvSpPr/>
          <p:nvPr/>
        </p:nvSpPr>
        <p:spPr>
          <a:xfrm>
            <a:off x="5120640" y="1316736"/>
            <a:ext cx="2057400" cy="420624"/>
          </a:xfrm>
          <a:prstGeom prst="roundRect">
            <a:avLst>
              <a:gd fmla="val 1087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54"/>
          <p:cNvSpPr/>
          <p:nvPr/>
        </p:nvSpPr>
        <p:spPr>
          <a:xfrm>
            <a:off x="5257800" y="1435608"/>
            <a:ext cx="1783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 1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0"/>
              <a:buFont typeface="Courier New"/>
              <a:buNone/>
            </a:pPr>
            <a:r>
              <a:rPr b="0" i="0" lang="en" sz="8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name           Meera Iyer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54"/>
          <p:cNvSpPr/>
          <p:nvPr/>
        </p:nvSpPr>
        <p:spPr>
          <a:xfrm>
            <a:off x="896112" y="2670048"/>
            <a:ext cx="7315200" cy="932688"/>
          </a:xfrm>
          <a:prstGeom prst="roundRect">
            <a:avLst>
              <a:gd fmla="val 4902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54"/>
          <p:cNvSpPr/>
          <p:nvPr/>
        </p:nvSpPr>
        <p:spPr>
          <a:xfrm>
            <a:off x="1097280" y="2962656"/>
            <a:ext cx="6903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 → Intro to Pottery, Watercolour Landscapes     |     Arjun Rao → Street Photography Walk, Podcast Storytelling     |     Kavya Menon → Sourdough Basics     |     Daniel Roy → no workshop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54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54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One instructor can be related to several workshops. The foreign key lets us follow the relationship.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55"/>
          <p:cNvSpPr/>
          <p:nvPr/>
        </p:nvSpPr>
        <p:spPr>
          <a:xfrm>
            <a:off x="585216" y="1499616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Query Across Related Tables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7" name="Google Shape;1167;p55"/>
          <p:cNvCxnSpPr/>
          <p:nvPr/>
        </p:nvCxnSpPr>
        <p:spPr>
          <a:xfrm>
            <a:off x="585216" y="1993392"/>
            <a:ext cx="1133856" cy="0"/>
          </a:xfrm>
          <a:prstGeom prst="straightConnector1">
            <a:avLst/>
          </a:prstGeom>
          <a:noFill/>
          <a:ln cap="flat" cmpd="sng" w="19050">
            <a:solidFill>
              <a:srgbClr val="285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8" name="Google Shape;1168;p55"/>
          <p:cNvSpPr/>
          <p:nvPr/>
        </p:nvSpPr>
        <p:spPr>
          <a:xfrm>
            <a:off x="585216" y="233172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184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47184"/>
                </a:solidFill>
                <a:latin typeface="Arial"/>
                <a:ea typeface="Arial"/>
                <a:cs typeface="Arial"/>
                <a:sym typeface="Arial"/>
              </a:rPr>
              <a:t>Use relationships to build results from more than one table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56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JOIN Follows a Relationship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56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56"/>
          <p:cNvSpPr/>
          <p:nvPr/>
        </p:nvSpPr>
        <p:spPr>
          <a:xfrm>
            <a:off x="822960" y="1097280"/>
            <a:ext cx="2331720" cy="1188720"/>
          </a:xfrm>
          <a:prstGeom prst="roundRect">
            <a:avLst>
              <a:gd fmla="val 3846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56"/>
          <p:cNvSpPr/>
          <p:nvPr/>
        </p:nvSpPr>
        <p:spPr>
          <a:xfrm>
            <a:off x="1078992" y="129844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200"/>
              <a:buFont typeface="Courier New"/>
              <a:buNone/>
            </a:pPr>
            <a:r>
              <a:rPr b="1" i="0" lang="en" sz="120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workshops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56"/>
          <p:cNvSpPr/>
          <p:nvPr/>
        </p:nvSpPr>
        <p:spPr>
          <a:xfrm>
            <a:off x="1078992" y="175564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56"/>
          <p:cNvSpPr/>
          <p:nvPr/>
        </p:nvSpPr>
        <p:spPr>
          <a:xfrm>
            <a:off x="5852160" y="1097280"/>
            <a:ext cx="2331720" cy="1188720"/>
          </a:xfrm>
          <a:prstGeom prst="roundRect">
            <a:avLst>
              <a:gd fmla="val 3846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56"/>
          <p:cNvSpPr/>
          <p:nvPr/>
        </p:nvSpPr>
        <p:spPr>
          <a:xfrm>
            <a:off x="6108192" y="129844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Courier New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Courier New"/>
                <a:ea typeface="Courier New"/>
                <a:cs typeface="Courier New"/>
                <a:sym typeface="Courier New"/>
              </a:rPr>
              <a:t>instructors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56"/>
          <p:cNvSpPr/>
          <p:nvPr/>
        </p:nvSpPr>
        <p:spPr>
          <a:xfrm>
            <a:off x="6108192" y="175564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2" name="Google Shape;1182;p56"/>
          <p:cNvCxnSpPr/>
          <p:nvPr/>
        </p:nvCxnSpPr>
        <p:spPr>
          <a:xfrm>
            <a:off x="3154680" y="1764792"/>
            <a:ext cx="2651760" cy="0"/>
          </a:xfrm>
          <a:prstGeom prst="straightConnector1">
            <a:avLst/>
          </a:prstGeom>
          <a:noFill/>
          <a:ln cap="flat" cmpd="sng" w="30475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3" name="Google Shape;1183;p56"/>
          <p:cNvSpPr/>
          <p:nvPr/>
        </p:nvSpPr>
        <p:spPr>
          <a:xfrm>
            <a:off x="3840480" y="1408176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relationship match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56"/>
          <p:cNvSpPr/>
          <p:nvPr/>
        </p:nvSpPr>
        <p:spPr>
          <a:xfrm>
            <a:off x="2148840" y="2798064"/>
            <a:ext cx="4846320" cy="658368"/>
          </a:xfrm>
          <a:prstGeom prst="roundRect">
            <a:avLst>
              <a:gd fmla="val 6944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56"/>
          <p:cNvSpPr/>
          <p:nvPr/>
        </p:nvSpPr>
        <p:spPr>
          <a:xfrm>
            <a:off x="2286000" y="2916936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 workshops.instructor_id =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Courier New"/>
              <a:buNone/>
            </a:pPr>
            <a:r>
              <a:rPr b="0" i="0" lang="en" sz="112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instructors.instructor_id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56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56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ON describes how rows from the two tables match.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57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Show Each Workshop With Its Instructor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57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57"/>
          <p:cNvSpPr/>
          <p:nvPr/>
        </p:nvSpPr>
        <p:spPr>
          <a:xfrm>
            <a:off x="713232" y="804672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Required result:  workshop title | instructor name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57"/>
          <p:cNvSpPr/>
          <p:nvPr/>
        </p:nvSpPr>
        <p:spPr>
          <a:xfrm>
            <a:off x="685800" y="1115568"/>
            <a:ext cx="713232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57"/>
          <p:cNvSpPr/>
          <p:nvPr/>
        </p:nvSpPr>
        <p:spPr>
          <a:xfrm>
            <a:off x="740664" y="1188720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57"/>
          <p:cNvSpPr/>
          <p:nvPr/>
        </p:nvSpPr>
        <p:spPr>
          <a:xfrm>
            <a:off x="1399032" y="1115568"/>
            <a:ext cx="2761488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57"/>
          <p:cNvSpPr/>
          <p:nvPr/>
        </p:nvSpPr>
        <p:spPr>
          <a:xfrm>
            <a:off x="1453896" y="118872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57"/>
          <p:cNvSpPr/>
          <p:nvPr/>
        </p:nvSpPr>
        <p:spPr>
          <a:xfrm>
            <a:off x="4160520" y="1115568"/>
            <a:ext cx="749808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57"/>
          <p:cNvSpPr/>
          <p:nvPr/>
        </p:nvSpPr>
        <p:spPr>
          <a:xfrm>
            <a:off x="4215384" y="118872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39"/>
              <a:buFont typeface="Arial"/>
              <a:buNone/>
            </a:pPr>
            <a:r>
              <a:rPr b="1" i="0" lang="en" sz="94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inst_id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57"/>
          <p:cNvSpPr/>
          <p:nvPr/>
        </p:nvSpPr>
        <p:spPr>
          <a:xfrm>
            <a:off x="685800" y="1426464"/>
            <a:ext cx="713232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57"/>
          <p:cNvSpPr/>
          <p:nvPr/>
        </p:nvSpPr>
        <p:spPr>
          <a:xfrm>
            <a:off x="740664" y="1499616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57"/>
          <p:cNvSpPr/>
          <p:nvPr/>
        </p:nvSpPr>
        <p:spPr>
          <a:xfrm>
            <a:off x="1399032" y="1426464"/>
            <a:ext cx="276148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57"/>
          <p:cNvSpPr/>
          <p:nvPr/>
        </p:nvSpPr>
        <p:spPr>
          <a:xfrm>
            <a:off x="1453896" y="1499616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57"/>
          <p:cNvSpPr/>
          <p:nvPr/>
        </p:nvSpPr>
        <p:spPr>
          <a:xfrm>
            <a:off x="4160520" y="1426464"/>
            <a:ext cx="74980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57"/>
          <p:cNvSpPr/>
          <p:nvPr/>
        </p:nvSpPr>
        <p:spPr>
          <a:xfrm>
            <a:off x="4215384" y="149961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57"/>
          <p:cNvSpPr/>
          <p:nvPr/>
        </p:nvSpPr>
        <p:spPr>
          <a:xfrm>
            <a:off x="685800" y="1737360"/>
            <a:ext cx="713232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7"/>
          <p:cNvSpPr/>
          <p:nvPr/>
        </p:nvSpPr>
        <p:spPr>
          <a:xfrm>
            <a:off x="740664" y="1810512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57"/>
          <p:cNvSpPr/>
          <p:nvPr/>
        </p:nvSpPr>
        <p:spPr>
          <a:xfrm>
            <a:off x="1399032" y="1737360"/>
            <a:ext cx="276148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57"/>
          <p:cNvSpPr/>
          <p:nvPr/>
        </p:nvSpPr>
        <p:spPr>
          <a:xfrm>
            <a:off x="1453896" y="181051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57"/>
          <p:cNvSpPr/>
          <p:nvPr/>
        </p:nvSpPr>
        <p:spPr>
          <a:xfrm>
            <a:off x="4160520" y="1737360"/>
            <a:ext cx="74980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7"/>
          <p:cNvSpPr/>
          <p:nvPr/>
        </p:nvSpPr>
        <p:spPr>
          <a:xfrm>
            <a:off x="4215384" y="181051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57"/>
          <p:cNvSpPr/>
          <p:nvPr/>
        </p:nvSpPr>
        <p:spPr>
          <a:xfrm>
            <a:off x="685800" y="2048256"/>
            <a:ext cx="713232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57"/>
          <p:cNvSpPr/>
          <p:nvPr/>
        </p:nvSpPr>
        <p:spPr>
          <a:xfrm>
            <a:off x="740664" y="2121408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57"/>
          <p:cNvSpPr/>
          <p:nvPr/>
        </p:nvSpPr>
        <p:spPr>
          <a:xfrm>
            <a:off x="1399032" y="2048256"/>
            <a:ext cx="276148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57"/>
          <p:cNvSpPr/>
          <p:nvPr/>
        </p:nvSpPr>
        <p:spPr>
          <a:xfrm>
            <a:off x="1453896" y="212140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57"/>
          <p:cNvSpPr/>
          <p:nvPr/>
        </p:nvSpPr>
        <p:spPr>
          <a:xfrm>
            <a:off x="4160520" y="2048256"/>
            <a:ext cx="74980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57"/>
          <p:cNvSpPr/>
          <p:nvPr/>
        </p:nvSpPr>
        <p:spPr>
          <a:xfrm>
            <a:off x="4215384" y="21214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57"/>
          <p:cNvSpPr/>
          <p:nvPr/>
        </p:nvSpPr>
        <p:spPr>
          <a:xfrm>
            <a:off x="685800" y="2359152"/>
            <a:ext cx="713232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57"/>
          <p:cNvSpPr/>
          <p:nvPr/>
        </p:nvSpPr>
        <p:spPr>
          <a:xfrm>
            <a:off x="740664" y="2432304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57"/>
          <p:cNvSpPr/>
          <p:nvPr/>
        </p:nvSpPr>
        <p:spPr>
          <a:xfrm>
            <a:off x="1399032" y="2359152"/>
            <a:ext cx="276148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57"/>
          <p:cNvSpPr/>
          <p:nvPr/>
        </p:nvSpPr>
        <p:spPr>
          <a:xfrm>
            <a:off x="1453896" y="2432304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57"/>
          <p:cNvSpPr/>
          <p:nvPr/>
        </p:nvSpPr>
        <p:spPr>
          <a:xfrm>
            <a:off x="4160520" y="2359152"/>
            <a:ext cx="74980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57"/>
          <p:cNvSpPr/>
          <p:nvPr/>
        </p:nvSpPr>
        <p:spPr>
          <a:xfrm>
            <a:off x="4215384" y="243230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57"/>
          <p:cNvSpPr/>
          <p:nvPr/>
        </p:nvSpPr>
        <p:spPr>
          <a:xfrm>
            <a:off x="685800" y="2670048"/>
            <a:ext cx="713232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57"/>
          <p:cNvSpPr/>
          <p:nvPr/>
        </p:nvSpPr>
        <p:spPr>
          <a:xfrm>
            <a:off x="740664" y="2743200"/>
            <a:ext cx="6035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105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57"/>
          <p:cNvSpPr/>
          <p:nvPr/>
        </p:nvSpPr>
        <p:spPr>
          <a:xfrm>
            <a:off x="1399032" y="2670048"/>
            <a:ext cx="276148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57"/>
          <p:cNvSpPr/>
          <p:nvPr/>
        </p:nvSpPr>
        <p:spPr>
          <a:xfrm>
            <a:off x="1453896" y="274320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57"/>
          <p:cNvSpPr/>
          <p:nvPr/>
        </p:nvSpPr>
        <p:spPr>
          <a:xfrm>
            <a:off x="4160520" y="2670048"/>
            <a:ext cx="749808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7"/>
          <p:cNvSpPr/>
          <p:nvPr/>
        </p:nvSpPr>
        <p:spPr>
          <a:xfrm>
            <a:off x="4215384" y="27432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57"/>
          <p:cNvSpPr/>
          <p:nvPr/>
        </p:nvSpPr>
        <p:spPr>
          <a:xfrm>
            <a:off x="5257800" y="1115568"/>
            <a:ext cx="100584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57"/>
          <p:cNvSpPr/>
          <p:nvPr/>
        </p:nvSpPr>
        <p:spPr>
          <a:xfrm>
            <a:off x="5312664" y="1188720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instructor_id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57"/>
          <p:cNvSpPr/>
          <p:nvPr/>
        </p:nvSpPr>
        <p:spPr>
          <a:xfrm>
            <a:off x="6263640" y="1115568"/>
            <a:ext cx="192024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57"/>
          <p:cNvSpPr/>
          <p:nvPr/>
        </p:nvSpPr>
        <p:spPr>
          <a:xfrm>
            <a:off x="6318504" y="118872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57"/>
          <p:cNvSpPr/>
          <p:nvPr/>
        </p:nvSpPr>
        <p:spPr>
          <a:xfrm>
            <a:off x="5257800" y="1481328"/>
            <a:ext cx="10058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57"/>
          <p:cNvSpPr/>
          <p:nvPr/>
        </p:nvSpPr>
        <p:spPr>
          <a:xfrm>
            <a:off x="5312664" y="1554480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57"/>
          <p:cNvSpPr/>
          <p:nvPr/>
        </p:nvSpPr>
        <p:spPr>
          <a:xfrm>
            <a:off x="6263640" y="1481328"/>
            <a:ext cx="19202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57"/>
          <p:cNvSpPr/>
          <p:nvPr/>
        </p:nvSpPr>
        <p:spPr>
          <a:xfrm>
            <a:off x="6318504" y="155448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57"/>
          <p:cNvSpPr/>
          <p:nvPr/>
        </p:nvSpPr>
        <p:spPr>
          <a:xfrm>
            <a:off x="5257800" y="1847088"/>
            <a:ext cx="10058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57"/>
          <p:cNvSpPr/>
          <p:nvPr/>
        </p:nvSpPr>
        <p:spPr>
          <a:xfrm>
            <a:off x="5312664" y="1920240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57"/>
          <p:cNvSpPr/>
          <p:nvPr/>
        </p:nvSpPr>
        <p:spPr>
          <a:xfrm>
            <a:off x="6263640" y="1847088"/>
            <a:ext cx="19202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7"/>
          <p:cNvSpPr/>
          <p:nvPr/>
        </p:nvSpPr>
        <p:spPr>
          <a:xfrm>
            <a:off x="6318504" y="192024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Arjun Rao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57"/>
          <p:cNvSpPr/>
          <p:nvPr/>
        </p:nvSpPr>
        <p:spPr>
          <a:xfrm>
            <a:off x="5257800" y="2212848"/>
            <a:ext cx="10058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57"/>
          <p:cNvSpPr/>
          <p:nvPr/>
        </p:nvSpPr>
        <p:spPr>
          <a:xfrm>
            <a:off x="5312664" y="2286000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57"/>
          <p:cNvSpPr/>
          <p:nvPr/>
        </p:nvSpPr>
        <p:spPr>
          <a:xfrm>
            <a:off x="6263640" y="2212848"/>
            <a:ext cx="19202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57"/>
          <p:cNvSpPr/>
          <p:nvPr/>
        </p:nvSpPr>
        <p:spPr>
          <a:xfrm>
            <a:off x="6318504" y="228600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Kavya Menon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57"/>
          <p:cNvSpPr/>
          <p:nvPr/>
        </p:nvSpPr>
        <p:spPr>
          <a:xfrm>
            <a:off x="5257800" y="2578608"/>
            <a:ext cx="10058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7"/>
          <p:cNvSpPr/>
          <p:nvPr/>
        </p:nvSpPr>
        <p:spPr>
          <a:xfrm>
            <a:off x="5312664" y="2651760"/>
            <a:ext cx="896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57"/>
          <p:cNvSpPr/>
          <p:nvPr/>
        </p:nvSpPr>
        <p:spPr>
          <a:xfrm>
            <a:off x="6263640" y="2578608"/>
            <a:ext cx="192024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7"/>
          <p:cNvSpPr/>
          <p:nvPr/>
        </p:nvSpPr>
        <p:spPr>
          <a:xfrm>
            <a:off x="6318504" y="2651760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Daniel Roy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1234440" y="3657600"/>
            <a:ext cx="6583680" cy="411480"/>
          </a:xfrm>
          <a:prstGeom prst="roundRect">
            <a:avLst>
              <a:gd fmla="val 11111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57"/>
          <p:cNvSpPr/>
          <p:nvPr/>
        </p:nvSpPr>
        <p:spPr>
          <a:xfrm>
            <a:off x="1444752" y="3785616"/>
            <a:ext cx="614476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Manual trace: Workshop 101 → instructor_id 1 → Meera Iyer → Intro to Pottery | Meera Iyer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58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Write the INNER JOIN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58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58"/>
          <p:cNvSpPr/>
          <p:nvPr/>
        </p:nvSpPr>
        <p:spPr>
          <a:xfrm>
            <a:off x="685800" y="932688"/>
            <a:ext cx="5212080" cy="2606040"/>
          </a:xfrm>
          <a:prstGeom prst="roundRect">
            <a:avLst>
              <a:gd fmla="val 1754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58"/>
          <p:cNvSpPr/>
          <p:nvPr/>
        </p:nvSpPr>
        <p:spPr>
          <a:xfrm>
            <a:off x="822960" y="1051560"/>
            <a:ext cx="4937760" cy="236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w.title,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i.name AS instructor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 AS w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instructors AS 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ON w.instructor_id = i.instructor_id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w.workshop_id;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58"/>
          <p:cNvSpPr/>
          <p:nvPr/>
        </p:nvSpPr>
        <p:spPr>
          <a:xfrm>
            <a:off x="6144768" y="1024128"/>
            <a:ext cx="2148840" cy="438912"/>
          </a:xfrm>
          <a:prstGeom prst="roundRect">
            <a:avLst>
              <a:gd fmla="val 10417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58"/>
          <p:cNvSpPr/>
          <p:nvPr/>
        </p:nvSpPr>
        <p:spPr>
          <a:xfrm>
            <a:off x="6309360" y="1115568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780"/>
              <a:buFont typeface="Courier New"/>
              <a:buNone/>
            </a:pPr>
            <a:r>
              <a:rPr b="1" i="0" lang="en" sz="78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 AS w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58"/>
          <p:cNvSpPr/>
          <p:nvPr/>
        </p:nvSpPr>
        <p:spPr>
          <a:xfrm>
            <a:off x="6309360" y="1271016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Start from workshops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58"/>
          <p:cNvSpPr/>
          <p:nvPr/>
        </p:nvSpPr>
        <p:spPr>
          <a:xfrm>
            <a:off x="6144768" y="1645920"/>
            <a:ext cx="2148840" cy="438912"/>
          </a:xfrm>
          <a:prstGeom prst="roundRect">
            <a:avLst>
              <a:gd fmla="val 10417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58"/>
          <p:cNvSpPr/>
          <p:nvPr/>
        </p:nvSpPr>
        <p:spPr>
          <a:xfrm>
            <a:off x="6309360" y="1737360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780"/>
              <a:buFont typeface="Courier New"/>
              <a:buNone/>
            </a:pPr>
            <a:r>
              <a:rPr b="1" i="0" lang="en" sz="780" u="none" cap="none" strike="noStrike">
                <a:solidFill>
                  <a:srgbClr val="17653A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instructors AS i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58"/>
          <p:cNvSpPr/>
          <p:nvPr/>
        </p:nvSpPr>
        <p:spPr>
          <a:xfrm>
            <a:off x="6309360" y="1892808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Join instructors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58"/>
          <p:cNvSpPr/>
          <p:nvPr/>
        </p:nvSpPr>
        <p:spPr>
          <a:xfrm>
            <a:off x="6144768" y="2267712"/>
            <a:ext cx="2148840" cy="438912"/>
          </a:xfrm>
          <a:prstGeom prst="roundRect">
            <a:avLst>
              <a:gd fmla="val 10417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58"/>
          <p:cNvSpPr/>
          <p:nvPr/>
        </p:nvSpPr>
        <p:spPr>
          <a:xfrm>
            <a:off x="6309360" y="2359152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780"/>
              <a:buFont typeface="Courier New"/>
              <a:buNone/>
            </a:pPr>
            <a:r>
              <a:rPr b="1" i="0" lang="en" sz="780" u="none" cap="none" strike="noStrike">
                <a:solidFill>
                  <a:srgbClr val="2854A6"/>
                </a:solidFill>
                <a:latin typeface="Courier New"/>
                <a:ea typeface="Courier New"/>
                <a:cs typeface="Courier New"/>
                <a:sym typeface="Courier New"/>
              </a:rPr>
              <a:t>ON w.instructor_id = i.instructor_id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58"/>
          <p:cNvSpPr/>
          <p:nvPr/>
        </p:nvSpPr>
        <p:spPr>
          <a:xfrm>
            <a:off x="6309360" y="2514600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Match related rows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58"/>
          <p:cNvSpPr/>
          <p:nvPr/>
        </p:nvSpPr>
        <p:spPr>
          <a:xfrm>
            <a:off x="6144768" y="2889504"/>
            <a:ext cx="2148840" cy="438912"/>
          </a:xfrm>
          <a:prstGeom prst="roundRect">
            <a:avLst>
              <a:gd fmla="val 10417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58"/>
          <p:cNvSpPr/>
          <p:nvPr/>
        </p:nvSpPr>
        <p:spPr>
          <a:xfrm>
            <a:off x="6309360" y="2980944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780"/>
              <a:buFont typeface="Courier New"/>
              <a:buNone/>
            </a:pPr>
            <a:r>
              <a:rPr b="1" i="0" lang="en" sz="780" u="none" cap="none" strike="noStrike">
                <a:solidFill>
                  <a:srgbClr val="17653A"/>
                </a:solidFill>
                <a:latin typeface="Courier New"/>
                <a:ea typeface="Courier New"/>
                <a:cs typeface="Courier New"/>
                <a:sym typeface="Courier New"/>
              </a:rPr>
              <a:t>w / i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8"/>
          <p:cNvSpPr/>
          <p:nvPr/>
        </p:nvSpPr>
        <p:spPr>
          <a:xfrm>
            <a:off x="6309360" y="3136392"/>
            <a:ext cx="17830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short aliases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8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58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INNER JOIN expresses the relationship we already traced manually.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9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Trace One INNER JOIN Result Row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59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9"/>
          <p:cNvSpPr/>
          <p:nvPr/>
        </p:nvSpPr>
        <p:spPr>
          <a:xfrm>
            <a:off x="731520" y="1078992"/>
            <a:ext cx="2286000" cy="1042416"/>
          </a:xfrm>
          <a:prstGeom prst="roundRect">
            <a:avLst>
              <a:gd fmla="val 4386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9"/>
          <p:cNvSpPr/>
          <p:nvPr/>
        </p:nvSpPr>
        <p:spPr>
          <a:xfrm>
            <a:off x="896112" y="1225296"/>
            <a:ext cx="19568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Workshop row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9"/>
          <p:cNvSpPr/>
          <p:nvPr/>
        </p:nvSpPr>
        <p:spPr>
          <a:xfrm>
            <a:off x="896112" y="151790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101 | Intro to Pottery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instructor_id = 1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59"/>
          <p:cNvSpPr/>
          <p:nvPr/>
        </p:nvSpPr>
        <p:spPr>
          <a:xfrm>
            <a:off x="3429000" y="1078992"/>
            <a:ext cx="2011680" cy="1042416"/>
          </a:xfrm>
          <a:prstGeom prst="roundRect">
            <a:avLst>
              <a:gd fmla="val 4386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59"/>
          <p:cNvSpPr/>
          <p:nvPr/>
        </p:nvSpPr>
        <p:spPr>
          <a:xfrm>
            <a:off x="3593592" y="1225296"/>
            <a:ext cx="16824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Matching instructor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9"/>
          <p:cNvSpPr/>
          <p:nvPr/>
        </p:nvSpPr>
        <p:spPr>
          <a:xfrm>
            <a:off x="3593592" y="1517904"/>
            <a:ext cx="16824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1 | Meera Iyer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9"/>
          <p:cNvSpPr/>
          <p:nvPr/>
        </p:nvSpPr>
        <p:spPr>
          <a:xfrm>
            <a:off x="5870448" y="1078992"/>
            <a:ext cx="2514600" cy="1042416"/>
          </a:xfrm>
          <a:prstGeom prst="roundRect">
            <a:avLst>
              <a:gd fmla="val 4386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59"/>
          <p:cNvSpPr/>
          <p:nvPr/>
        </p:nvSpPr>
        <p:spPr>
          <a:xfrm>
            <a:off x="6035040" y="1225296"/>
            <a:ext cx="218541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30"/>
              <a:buFont typeface="Arial"/>
              <a:buNone/>
            </a:pPr>
            <a:r>
              <a:rPr b="1" i="0" lang="en" sz="103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Result row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59"/>
          <p:cNvSpPr/>
          <p:nvPr/>
        </p:nvSpPr>
        <p:spPr>
          <a:xfrm>
            <a:off x="6035040" y="1517904"/>
            <a:ext cx="21854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Intro to Pottery | Meera Iyer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3" name="Google Shape;1293;p59"/>
          <p:cNvCxnSpPr/>
          <p:nvPr/>
        </p:nvCxnSpPr>
        <p:spPr>
          <a:xfrm>
            <a:off x="3017520" y="160020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4" name="Google Shape;1294;p59"/>
          <p:cNvCxnSpPr/>
          <p:nvPr/>
        </p:nvCxnSpPr>
        <p:spPr>
          <a:xfrm>
            <a:off x="5440680" y="1600200"/>
            <a:ext cx="374904" cy="0"/>
          </a:xfrm>
          <a:prstGeom prst="straightConnector1">
            <a:avLst/>
          </a:prstGeom>
          <a:noFill/>
          <a:ln cap="flat" cmpd="sng" w="25400">
            <a:solidFill>
              <a:srgbClr val="2854A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5" name="Google Shape;1295;p59"/>
          <p:cNvSpPr/>
          <p:nvPr/>
        </p:nvSpPr>
        <p:spPr>
          <a:xfrm>
            <a:off x="2697480" y="219456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match on instructor_id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9"/>
          <p:cNvSpPr/>
          <p:nvPr/>
        </p:nvSpPr>
        <p:spPr>
          <a:xfrm>
            <a:off x="1051560" y="2697480"/>
            <a:ext cx="4617720" cy="25603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59"/>
          <p:cNvSpPr/>
          <p:nvPr/>
        </p:nvSpPr>
        <p:spPr>
          <a:xfrm>
            <a:off x="1106424" y="2770632"/>
            <a:ext cx="4507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9"/>
          <p:cNvSpPr/>
          <p:nvPr/>
        </p:nvSpPr>
        <p:spPr>
          <a:xfrm>
            <a:off x="5669280" y="2697480"/>
            <a:ext cx="2423160" cy="25603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59"/>
          <p:cNvSpPr/>
          <p:nvPr/>
        </p:nvSpPr>
        <p:spPr>
          <a:xfrm>
            <a:off x="5724144" y="2770632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59"/>
          <p:cNvSpPr/>
          <p:nvPr/>
        </p:nvSpPr>
        <p:spPr>
          <a:xfrm>
            <a:off x="1051560" y="2953512"/>
            <a:ext cx="461772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59"/>
          <p:cNvSpPr/>
          <p:nvPr/>
        </p:nvSpPr>
        <p:spPr>
          <a:xfrm>
            <a:off x="1106424" y="3026664"/>
            <a:ext cx="4507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9"/>
          <p:cNvSpPr/>
          <p:nvPr/>
        </p:nvSpPr>
        <p:spPr>
          <a:xfrm>
            <a:off x="5669280" y="2953512"/>
            <a:ext cx="242316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59"/>
          <p:cNvSpPr/>
          <p:nvPr/>
        </p:nvSpPr>
        <p:spPr>
          <a:xfrm>
            <a:off x="5724144" y="3026664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9"/>
          <p:cNvSpPr/>
          <p:nvPr/>
        </p:nvSpPr>
        <p:spPr>
          <a:xfrm>
            <a:off x="1051560" y="3209544"/>
            <a:ext cx="461772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59"/>
          <p:cNvSpPr/>
          <p:nvPr/>
        </p:nvSpPr>
        <p:spPr>
          <a:xfrm>
            <a:off x="1106424" y="3282696"/>
            <a:ext cx="4507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9"/>
          <p:cNvSpPr/>
          <p:nvPr/>
        </p:nvSpPr>
        <p:spPr>
          <a:xfrm>
            <a:off x="5669280" y="3209544"/>
            <a:ext cx="242316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9"/>
          <p:cNvSpPr/>
          <p:nvPr/>
        </p:nvSpPr>
        <p:spPr>
          <a:xfrm>
            <a:off x="5724144" y="3282696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Arjun Rao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59"/>
          <p:cNvSpPr/>
          <p:nvPr/>
        </p:nvSpPr>
        <p:spPr>
          <a:xfrm>
            <a:off x="1051560" y="3465576"/>
            <a:ext cx="461772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59"/>
          <p:cNvSpPr/>
          <p:nvPr/>
        </p:nvSpPr>
        <p:spPr>
          <a:xfrm>
            <a:off x="1106424" y="3538728"/>
            <a:ext cx="4507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59"/>
          <p:cNvSpPr/>
          <p:nvPr/>
        </p:nvSpPr>
        <p:spPr>
          <a:xfrm>
            <a:off x="5669280" y="3465576"/>
            <a:ext cx="242316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59"/>
          <p:cNvSpPr/>
          <p:nvPr/>
        </p:nvSpPr>
        <p:spPr>
          <a:xfrm>
            <a:off x="5724144" y="3538728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Kavya Menon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9"/>
          <p:cNvSpPr/>
          <p:nvPr/>
        </p:nvSpPr>
        <p:spPr>
          <a:xfrm>
            <a:off x="1051560" y="3721608"/>
            <a:ext cx="461772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59"/>
          <p:cNvSpPr/>
          <p:nvPr/>
        </p:nvSpPr>
        <p:spPr>
          <a:xfrm>
            <a:off x="1106424" y="3794760"/>
            <a:ext cx="4507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9"/>
          <p:cNvSpPr/>
          <p:nvPr/>
        </p:nvSpPr>
        <p:spPr>
          <a:xfrm>
            <a:off x="5669280" y="3721608"/>
            <a:ext cx="242316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59"/>
          <p:cNvSpPr/>
          <p:nvPr/>
        </p:nvSpPr>
        <p:spPr>
          <a:xfrm>
            <a:off x="5724144" y="3794760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9"/>
          <p:cNvSpPr/>
          <p:nvPr/>
        </p:nvSpPr>
        <p:spPr>
          <a:xfrm>
            <a:off x="1051560" y="3977640"/>
            <a:ext cx="461772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59"/>
          <p:cNvSpPr/>
          <p:nvPr/>
        </p:nvSpPr>
        <p:spPr>
          <a:xfrm>
            <a:off x="1106424" y="4050792"/>
            <a:ext cx="4507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59"/>
          <p:cNvSpPr/>
          <p:nvPr/>
        </p:nvSpPr>
        <p:spPr>
          <a:xfrm>
            <a:off x="5669280" y="3977640"/>
            <a:ext cx="2423160" cy="25603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59"/>
          <p:cNvSpPr/>
          <p:nvPr/>
        </p:nvSpPr>
        <p:spPr>
          <a:xfrm>
            <a:off x="5724144" y="4050792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Arjun Rao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59"/>
          <p:cNvSpPr/>
          <p:nvPr/>
        </p:nvSpPr>
        <p:spPr>
          <a:xfrm>
            <a:off x="685800" y="4343400"/>
            <a:ext cx="7772400" cy="320040"/>
          </a:xfrm>
          <a:prstGeom prst="roundRect">
            <a:avLst>
              <a:gd fmla="val 17143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59"/>
          <p:cNvSpPr/>
          <p:nvPr/>
        </p:nvSpPr>
        <p:spPr>
          <a:xfrm>
            <a:off x="822960" y="4425696"/>
            <a:ext cx="74980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One result row represents one matched workshop–instructor combination.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60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What If Daniel Must Remain?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0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60"/>
          <p:cNvSpPr/>
          <p:nvPr/>
        </p:nvSpPr>
        <p:spPr>
          <a:xfrm>
            <a:off x="713232" y="960120"/>
            <a:ext cx="772668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The instructors table contains: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  Meera Iyer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  Arjun Rao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  Kavya Menon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4  Daniel Roy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But the INNER JOIN result contains workshop matches for Meera, Arjun, and Kavya only.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Daniel has no workshop row with instructor_id = 4.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New requirement: Show every instructor, even if they currently lead no workshop.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INNER JOIN cannot satisfy this requirement.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61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 Preserves the Left Table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61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61"/>
          <p:cNvSpPr/>
          <p:nvPr/>
        </p:nvSpPr>
        <p:spPr>
          <a:xfrm>
            <a:off x="685800" y="932688"/>
            <a:ext cx="5212080" cy="2606040"/>
          </a:xfrm>
          <a:prstGeom prst="roundRect">
            <a:avLst>
              <a:gd fmla="val 1754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61"/>
          <p:cNvSpPr/>
          <p:nvPr/>
        </p:nvSpPr>
        <p:spPr>
          <a:xfrm>
            <a:off x="822960" y="1051560"/>
            <a:ext cx="4937760" cy="2368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i.name AS instructor,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w.title AS workshop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instructors AS i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LEFT JOIN workshops AS 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ON w.instructor_id = i.instructor_id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i.instructor_id, w.workshop_id;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61"/>
          <p:cNvSpPr/>
          <p:nvPr/>
        </p:nvSpPr>
        <p:spPr>
          <a:xfrm>
            <a:off x="6172200" y="1115568"/>
            <a:ext cx="2057400" cy="1078992"/>
          </a:xfrm>
          <a:prstGeom prst="roundRect">
            <a:avLst>
              <a:gd fmla="val 4237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61"/>
          <p:cNvSpPr/>
          <p:nvPr/>
        </p:nvSpPr>
        <p:spPr>
          <a:xfrm>
            <a:off x="6492240" y="135331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LEFT TABLE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61"/>
          <p:cNvSpPr/>
          <p:nvPr/>
        </p:nvSpPr>
        <p:spPr>
          <a:xfrm>
            <a:off x="6492240" y="167335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61"/>
          <p:cNvSpPr/>
          <p:nvPr/>
        </p:nvSpPr>
        <p:spPr>
          <a:xfrm>
            <a:off x="6172200" y="2514600"/>
            <a:ext cx="2057400" cy="841248"/>
          </a:xfrm>
          <a:prstGeom prst="roundRect">
            <a:avLst>
              <a:gd fmla="val 5435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61"/>
          <p:cNvSpPr/>
          <p:nvPr/>
        </p:nvSpPr>
        <p:spPr>
          <a:xfrm>
            <a:off x="6419088" y="2715768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6419088" y="3017520"/>
            <a:ext cx="15087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0"/>
              <a:buFont typeface="Arial"/>
              <a:buNone/>
            </a:pPr>
            <a:r>
              <a:rPr b="0" i="0" lang="en" sz="9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show every instructor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61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61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 keeps every row from the left table.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2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 Keeps Daniel and Shows NULL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62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62"/>
          <p:cNvSpPr/>
          <p:nvPr/>
        </p:nvSpPr>
        <p:spPr>
          <a:xfrm>
            <a:off x="685800" y="987552"/>
            <a:ext cx="224028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62"/>
          <p:cNvSpPr/>
          <p:nvPr/>
        </p:nvSpPr>
        <p:spPr>
          <a:xfrm>
            <a:off x="740664" y="1060704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62"/>
          <p:cNvSpPr/>
          <p:nvPr/>
        </p:nvSpPr>
        <p:spPr>
          <a:xfrm>
            <a:off x="2926080" y="987552"/>
            <a:ext cx="2834640" cy="393192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62"/>
          <p:cNvSpPr/>
          <p:nvPr/>
        </p:nvSpPr>
        <p:spPr>
          <a:xfrm>
            <a:off x="2980944" y="1060704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workshop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62"/>
          <p:cNvSpPr/>
          <p:nvPr/>
        </p:nvSpPr>
        <p:spPr>
          <a:xfrm>
            <a:off x="685800" y="1380744"/>
            <a:ext cx="22402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62"/>
          <p:cNvSpPr/>
          <p:nvPr/>
        </p:nvSpPr>
        <p:spPr>
          <a:xfrm>
            <a:off x="740664" y="1453896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62"/>
          <p:cNvSpPr/>
          <p:nvPr/>
        </p:nvSpPr>
        <p:spPr>
          <a:xfrm>
            <a:off x="2926080" y="1380744"/>
            <a:ext cx="28346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62"/>
          <p:cNvSpPr/>
          <p:nvPr/>
        </p:nvSpPr>
        <p:spPr>
          <a:xfrm>
            <a:off x="2980944" y="1453896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2"/>
          <p:cNvSpPr/>
          <p:nvPr/>
        </p:nvSpPr>
        <p:spPr>
          <a:xfrm>
            <a:off x="685800" y="1773936"/>
            <a:ext cx="22402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62"/>
          <p:cNvSpPr/>
          <p:nvPr/>
        </p:nvSpPr>
        <p:spPr>
          <a:xfrm>
            <a:off x="740664" y="1847088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Iyer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2"/>
          <p:cNvSpPr/>
          <p:nvPr/>
        </p:nvSpPr>
        <p:spPr>
          <a:xfrm>
            <a:off x="2926080" y="1773936"/>
            <a:ext cx="28346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62"/>
          <p:cNvSpPr/>
          <p:nvPr/>
        </p:nvSpPr>
        <p:spPr>
          <a:xfrm>
            <a:off x="2980944" y="1847088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Watercolour Landscapes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2"/>
          <p:cNvSpPr/>
          <p:nvPr/>
        </p:nvSpPr>
        <p:spPr>
          <a:xfrm>
            <a:off x="685800" y="2167128"/>
            <a:ext cx="22402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62"/>
          <p:cNvSpPr/>
          <p:nvPr/>
        </p:nvSpPr>
        <p:spPr>
          <a:xfrm>
            <a:off x="740664" y="2240280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Arjun Rao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2"/>
          <p:cNvSpPr/>
          <p:nvPr/>
        </p:nvSpPr>
        <p:spPr>
          <a:xfrm>
            <a:off x="2926080" y="2167128"/>
            <a:ext cx="28346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62"/>
          <p:cNvSpPr/>
          <p:nvPr/>
        </p:nvSpPr>
        <p:spPr>
          <a:xfrm>
            <a:off x="2980944" y="2240280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Street Photography Walk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2"/>
          <p:cNvSpPr/>
          <p:nvPr/>
        </p:nvSpPr>
        <p:spPr>
          <a:xfrm>
            <a:off x="685800" y="2560320"/>
            <a:ext cx="22402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62"/>
          <p:cNvSpPr/>
          <p:nvPr/>
        </p:nvSpPr>
        <p:spPr>
          <a:xfrm>
            <a:off x="740664" y="2633472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Arjun Rao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2"/>
          <p:cNvSpPr/>
          <p:nvPr/>
        </p:nvSpPr>
        <p:spPr>
          <a:xfrm>
            <a:off x="2926080" y="2560320"/>
            <a:ext cx="28346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62"/>
          <p:cNvSpPr/>
          <p:nvPr/>
        </p:nvSpPr>
        <p:spPr>
          <a:xfrm>
            <a:off x="2980944" y="2633472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2"/>
          <p:cNvSpPr/>
          <p:nvPr/>
        </p:nvSpPr>
        <p:spPr>
          <a:xfrm>
            <a:off x="685800" y="2953512"/>
            <a:ext cx="224028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62"/>
          <p:cNvSpPr/>
          <p:nvPr/>
        </p:nvSpPr>
        <p:spPr>
          <a:xfrm>
            <a:off x="740664" y="3026664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Kavya Menon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62"/>
          <p:cNvSpPr/>
          <p:nvPr/>
        </p:nvSpPr>
        <p:spPr>
          <a:xfrm>
            <a:off x="2926080" y="2953512"/>
            <a:ext cx="2834640" cy="3931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62"/>
          <p:cNvSpPr/>
          <p:nvPr/>
        </p:nvSpPr>
        <p:spPr>
          <a:xfrm>
            <a:off x="2980944" y="3026664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62"/>
          <p:cNvSpPr/>
          <p:nvPr/>
        </p:nvSpPr>
        <p:spPr>
          <a:xfrm>
            <a:off x="685800" y="3346704"/>
            <a:ext cx="2240280" cy="393192"/>
          </a:xfrm>
          <a:prstGeom prst="rect">
            <a:avLst/>
          </a:prstGeom>
          <a:solidFill>
            <a:srgbClr val="DDF7E7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62"/>
          <p:cNvSpPr/>
          <p:nvPr/>
        </p:nvSpPr>
        <p:spPr>
          <a:xfrm>
            <a:off x="740664" y="3419856"/>
            <a:ext cx="213055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Daniel Roy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2926080" y="3346704"/>
            <a:ext cx="2834640" cy="393192"/>
          </a:xfrm>
          <a:prstGeom prst="rect">
            <a:avLst/>
          </a:prstGeom>
          <a:solidFill>
            <a:srgbClr val="DDF7E7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62"/>
          <p:cNvSpPr/>
          <p:nvPr/>
        </p:nvSpPr>
        <p:spPr>
          <a:xfrm>
            <a:off x="2980944" y="3419856"/>
            <a:ext cx="2724912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20"/>
              <a:buFont typeface="Arial"/>
              <a:buNone/>
            </a:pPr>
            <a:r>
              <a:rPr b="0" i="0" lang="en" sz="10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62"/>
          <p:cNvSpPr/>
          <p:nvPr/>
        </p:nvSpPr>
        <p:spPr>
          <a:xfrm>
            <a:off x="5989320" y="987552"/>
            <a:ext cx="2423160" cy="1325880"/>
          </a:xfrm>
          <a:prstGeom prst="roundRect">
            <a:avLst>
              <a:gd fmla="val 3448" name="adj"/>
            </a:avLst>
          </a:prstGeom>
          <a:solidFill>
            <a:srgbClr val="EAF2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62"/>
          <p:cNvSpPr/>
          <p:nvPr/>
        </p:nvSpPr>
        <p:spPr>
          <a:xfrm>
            <a:off x="6199632" y="1188720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Why does Daniel remain?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62"/>
          <p:cNvSpPr/>
          <p:nvPr/>
        </p:nvSpPr>
        <p:spPr>
          <a:xfrm>
            <a:off x="6199632" y="1591056"/>
            <a:ext cx="1874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instructors is the left table, so every instructor row is preserved.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62"/>
          <p:cNvSpPr/>
          <p:nvPr/>
        </p:nvSpPr>
        <p:spPr>
          <a:xfrm>
            <a:off x="5989320" y="2560320"/>
            <a:ext cx="2423160" cy="1097280"/>
          </a:xfrm>
          <a:prstGeom prst="roundRect">
            <a:avLst>
              <a:gd fmla="val 4167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62"/>
          <p:cNvSpPr/>
          <p:nvPr/>
        </p:nvSpPr>
        <p:spPr>
          <a:xfrm>
            <a:off x="6199632" y="276148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946800"/>
                </a:solidFill>
                <a:latin typeface="Courier New"/>
                <a:ea typeface="Courier New"/>
                <a:cs typeface="Courier New"/>
                <a:sym typeface="Courier New"/>
              </a:rPr>
              <a:t>NULL here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62"/>
          <p:cNvSpPr/>
          <p:nvPr/>
        </p:nvSpPr>
        <p:spPr>
          <a:xfrm>
            <a:off x="6199632" y="3063240"/>
            <a:ext cx="19019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30"/>
              <a:buFont typeface="Arial"/>
              <a:buNone/>
            </a:pPr>
            <a:r>
              <a:rPr b="0" i="0" lang="en" sz="103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 matching workshop row exists for Daniel. It is not 0 or an empty string.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62"/>
          <p:cNvSpPr/>
          <p:nvPr/>
        </p:nvSpPr>
        <p:spPr>
          <a:xfrm>
            <a:off x="685800" y="4133088"/>
            <a:ext cx="7772400" cy="402336"/>
          </a:xfrm>
          <a:prstGeom prst="roundRect">
            <a:avLst>
              <a:gd fmla="val 1363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62"/>
          <p:cNvSpPr/>
          <p:nvPr/>
        </p:nvSpPr>
        <p:spPr>
          <a:xfrm>
            <a:off x="822960" y="4215384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 preserves the left side even when related data is missing.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63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RIGHT JOIN Mirrors the Preservation Direction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63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JOINS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63"/>
          <p:cNvSpPr/>
          <p:nvPr/>
        </p:nvSpPr>
        <p:spPr>
          <a:xfrm>
            <a:off x="685800" y="932688"/>
            <a:ext cx="5074920" cy="2359152"/>
          </a:xfrm>
          <a:prstGeom prst="roundRect">
            <a:avLst>
              <a:gd fmla="val 1938" name="adj"/>
            </a:avLst>
          </a:prstGeom>
          <a:solidFill>
            <a:srgbClr val="0B1A2B"/>
          </a:solidFill>
          <a:ln cap="flat" cmpd="sng" w="12700">
            <a:solidFill>
              <a:srgbClr val="0B1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63"/>
          <p:cNvSpPr/>
          <p:nvPr/>
        </p:nvSpPr>
        <p:spPr>
          <a:xfrm>
            <a:off x="822960" y="1051560"/>
            <a:ext cx="4800600" cy="2121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i.name AS instructor,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w.title AS workshop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workshops AS w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RIGHT JOIN instructors AS i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ON w.instructor_id = i.instructor_id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ourier New"/>
              <a:buNone/>
            </a:pPr>
            <a:r>
              <a:rPr b="0" i="0" lang="en" sz="103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ORDER BY i.instructor_id, w.workshop_id;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63"/>
          <p:cNvSpPr/>
          <p:nvPr/>
        </p:nvSpPr>
        <p:spPr>
          <a:xfrm>
            <a:off x="6080760" y="1115568"/>
            <a:ext cx="2176272" cy="731520"/>
          </a:xfrm>
          <a:prstGeom prst="roundRect">
            <a:avLst>
              <a:gd fmla="val 6250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63"/>
          <p:cNvSpPr/>
          <p:nvPr/>
        </p:nvSpPr>
        <p:spPr>
          <a:xfrm>
            <a:off x="6236208" y="1353312"/>
            <a:ext cx="1874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860"/>
              <a:buFont typeface="Arial"/>
              <a:buNone/>
            </a:pPr>
            <a:r>
              <a:rPr b="1" i="0" lang="en" sz="86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workshops  RIGHT JOIN  instructors</a:t>
            </a:r>
            <a:endParaRPr b="0" i="0" sz="8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63"/>
          <p:cNvSpPr/>
          <p:nvPr/>
        </p:nvSpPr>
        <p:spPr>
          <a:xfrm>
            <a:off x="6236208" y="1554480"/>
            <a:ext cx="1874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0"/>
              <a:buFont typeface="Arial"/>
              <a:buNone/>
            </a:pPr>
            <a:r>
              <a:rPr b="0" i="0" lang="en" sz="88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preserve right side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63"/>
          <p:cNvSpPr/>
          <p:nvPr/>
        </p:nvSpPr>
        <p:spPr>
          <a:xfrm>
            <a:off x="6080760" y="2194560"/>
            <a:ext cx="2176272" cy="749808"/>
          </a:xfrm>
          <a:prstGeom prst="roundRect">
            <a:avLst>
              <a:gd fmla="val 6098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63"/>
          <p:cNvSpPr/>
          <p:nvPr/>
        </p:nvSpPr>
        <p:spPr>
          <a:xfrm>
            <a:off x="6355080" y="2359152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63"/>
          <p:cNvSpPr/>
          <p:nvPr/>
        </p:nvSpPr>
        <p:spPr>
          <a:xfrm>
            <a:off x="6263640" y="2542032"/>
            <a:ext cx="18105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instructors LEFT JOIN workshops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≈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760"/>
              <a:buFont typeface="Courier New"/>
              <a:buNone/>
            </a:pPr>
            <a:r>
              <a:rPr b="0" i="0" lang="en" sz="76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workshops RIGHT JOIN instructors</a:t>
            </a:r>
            <a:endParaRPr b="0" i="0" sz="7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63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63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Ask: which side must remain visible if there is no match?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64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Checkpoint: Which Join Fits the Requirement?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64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CHECKPOINT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64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Requirement: show every instructor, including instructors who currently have no workshop. The query starts with FROM instructors AS i. Which join best completes the requirement?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64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64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64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 workshops AS 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64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64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64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INNER JOIN workshops AS 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64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64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64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RIGHT JOIN workshops AS 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64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64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64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No join can include an instructor without a workshop.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64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64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64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instructors is the left table. LEFT JOIN preserves every instructor row, including Daniel.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65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Activity: Clubs and Members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5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5"/>
          <p:cNvSpPr/>
          <p:nvPr/>
        </p:nvSpPr>
        <p:spPr>
          <a:xfrm>
            <a:off x="685800" y="914400"/>
            <a:ext cx="914400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65"/>
          <p:cNvSpPr/>
          <p:nvPr/>
        </p:nvSpPr>
        <p:spPr>
          <a:xfrm>
            <a:off x="740664" y="98755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club_id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5"/>
          <p:cNvSpPr/>
          <p:nvPr/>
        </p:nvSpPr>
        <p:spPr>
          <a:xfrm>
            <a:off x="1600200" y="914400"/>
            <a:ext cx="1664208" cy="365760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65"/>
          <p:cNvSpPr/>
          <p:nvPr/>
        </p:nvSpPr>
        <p:spPr>
          <a:xfrm>
            <a:off x="1655064" y="98755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80"/>
              <a:buFont typeface="Arial"/>
              <a:buNone/>
            </a:pPr>
            <a:r>
              <a:rPr b="1" i="0" lang="en" sz="9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5"/>
          <p:cNvSpPr/>
          <p:nvPr/>
        </p:nvSpPr>
        <p:spPr>
          <a:xfrm>
            <a:off x="685800" y="128016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65"/>
          <p:cNvSpPr/>
          <p:nvPr/>
        </p:nvSpPr>
        <p:spPr>
          <a:xfrm>
            <a:off x="740664" y="135331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65"/>
          <p:cNvSpPr/>
          <p:nvPr/>
        </p:nvSpPr>
        <p:spPr>
          <a:xfrm>
            <a:off x="1600200" y="1280160"/>
            <a:ext cx="1664208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65"/>
          <p:cNvSpPr/>
          <p:nvPr/>
        </p:nvSpPr>
        <p:spPr>
          <a:xfrm>
            <a:off x="1655064" y="135331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Robotics Club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65"/>
          <p:cNvSpPr/>
          <p:nvPr/>
        </p:nvSpPr>
        <p:spPr>
          <a:xfrm>
            <a:off x="685800" y="164592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65"/>
          <p:cNvSpPr/>
          <p:nvPr/>
        </p:nvSpPr>
        <p:spPr>
          <a:xfrm>
            <a:off x="740664" y="171907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65"/>
          <p:cNvSpPr/>
          <p:nvPr/>
        </p:nvSpPr>
        <p:spPr>
          <a:xfrm>
            <a:off x="1600200" y="1645920"/>
            <a:ext cx="1664208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65"/>
          <p:cNvSpPr/>
          <p:nvPr/>
        </p:nvSpPr>
        <p:spPr>
          <a:xfrm>
            <a:off x="1655064" y="171907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Photography Club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65"/>
          <p:cNvSpPr/>
          <p:nvPr/>
        </p:nvSpPr>
        <p:spPr>
          <a:xfrm>
            <a:off x="685800" y="201168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65"/>
          <p:cNvSpPr/>
          <p:nvPr/>
        </p:nvSpPr>
        <p:spPr>
          <a:xfrm>
            <a:off x="740664" y="2084832"/>
            <a:ext cx="804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5"/>
          <p:cNvSpPr/>
          <p:nvPr/>
        </p:nvSpPr>
        <p:spPr>
          <a:xfrm>
            <a:off x="1600200" y="2011680"/>
            <a:ext cx="1664208" cy="365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65"/>
          <p:cNvSpPr/>
          <p:nvPr/>
        </p:nvSpPr>
        <p:spPr>
          <a:xfrm>
            <a:off x="1655064" y="2084832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Book Club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5"/>
          <p:cNvSpPr/>
          <p:nvPr/>
        </p:nvSpPr>
        <p:spPr>
          <a:xfrm>
            <a:off x="3639312" y="914400"/>
            <a:ext cx="914400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65"/>
          <p:cNvSpPr/>
          <p:nvPr/>
        </p:nvSpPr>
        <p:spPr>
          <a:xfrm>
            <a:off x="3694176" y="987552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member_id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5"/>
          <p:cNvSpPr/>
          <p:nvPr/>
        </p:nvSpPr>
        <p:spPr>
          <a:xfrm>
            <a:off x="4553712" y="914400"/>
            <a:ext cx="1600200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65"/>
          <p:cNvSpPr/>
          <p:nvPr/>
        </p:nvSpPr>
        <p:spPr>
          <a:xfrm>
            <a:off x="4608576" y="987552"/>
            <a:ext cx="1490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65"/>
          <p:cNvSpPr/>
          <p:nvPr/>
        </p:nvSpPr>
        <p:spPr>
          <a:xfrm>
            <a:off x="6153912" y="914400"/>
            <a:ext cx="1143000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65"/>
          <p:cNvSpPr/>
          <p:nvPr/>
        </p:nvSpPr>
        <p:spPr>
          <a:xfrm>
            <a:off x="6208776" y="987552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5"/>
          <p:cNvSpPr/>
          <p:nvPr/>
        </p:nvSpPr>
        <p:spPr>
          <a:xfrm>
            <a:off x="7296912" y="914400"/>
            <a:ext cx="1143000" cy="310896"/>
          </a:xfrm>
          <a:prstGeom prst="rect">
            <a:avLst/>
          </a:prstGeom>
          <a:solidFill>
            <a:srgbClr val="EAF2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65"/>
          <p:cNvSpPr/>
          <p:nvPr/>
        </p:nvSpPr>
        <p:spPr>
          <a:xfrm>
            <a:off x="7351776" y="987552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910"/>
              <a:buFont typeface="Arial"/>
              <a:buNone/>
            </a:pPr>
            <a:r>
              <a:rPr b="1" i="0" lang="en" sz="91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club_id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5"/>
          <p:cNvSpPr/>
          <p:nvPr/>
        </p:nvSpPr>
        <p:spPr>
          <a:xfrm>
            <a:off x="3639312" y="1225296"/>
            <a:ext cx="9144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65"/>
          <p:cNvSpPr/>
          <p:nvPr/>
        </p:nvSpPr>
        <p:spPr>
          <a:xfrm>
            <a:off x="3694176" y="1298448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5"/>
          <p:cNvSpPr/>
          <p:nvPr/>
        </p:nvSpPr>
        <p:spPr>
          <a:xfrm>
            <a:off x="4553712" y="1225296"/>
            <a:ext cx="16002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65"/>
          <p:cNvSpPr/>
          <p:nvPr/>
        </p:nvSpPr>
        <p:spPr>
          <a:xfrm>
            <a:off x="4608576" y="1298448"/>
            <a:ext cx="1490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Aanya Rao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5"/>
          <p:cNvSpPr/>
          <p:nvPr/>
        </p:nvSpPr>
        <p:spPr>
          <a:xfrm>
            <a:off x="6153912" y="1225296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65"/>
          <p:cNvSpPr/>
          <p:nvPr/>
        </p:nvSpPr>
        <p:spPr>
          <a:xfrm>
            <a:off x="6208776" y="1298448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5"/>
          <p:cNvSpPr/>
          <p:nvPr/>
        </p:nvSpPr>
        <p:spPr>
          <a:xfrm>
            <a:off x="7296912" y="1225296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65"/>
          <p:cNvSpPr/>
          <p:nvPr/>
        </p:nvSpPr>
        <p:spPr>
          <a:xfrm>
            <a:off x="7351776" y="1298448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5"/>
          <p:cNvSpPr/>
          <p:nvPr/>
        </p:nvSpPr>
        <p:spPr>
          <a:xfrm>
            <a:off x="3639312" y="1536192"/>
            <a:ext cx="9144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65"/>
          <p:cNvSpPr/>
          <p:nvPr/>
        </p:nvSpPr>
        <p:spPr>
          <a:xfrm>
            <a:off x="3694176" y="1609344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65"/>
          <p:cNvSpPr/>
          <p:nvPr/>
        </p:nvSpPr>
        <p:spPr>
          <a:xfrm>
            <a:off x="4553712" y="1536192"/>
            <a:ext cx="16002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65"/>
          <p:cNvSpPr/>
          <p:nvPr/>
        </p:nvSpPr>
        <p:spPr>
          <a:xfrm>
            <a:off x="4608576" y="1609344"/>
            <a:ext cx="1490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Kabir Shah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65"/>
          <p:cNvSpPr/>
          <p:nvPr/>
        </p:nvSpPr>
        <p:spPr>
          <a:xfrm>
            <a:off x="6153912" y="1536192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5"/>
          <p:cNvSpPr/>
          <p:nvPr/>
        </p:nvSpPr>
        <p:spPr>
          <a:xfrm>
            <a:off x="6208776" y="1609344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inactive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65"/>
          <p:cNvSpPr/>
          <p:nvPr/>
        </p:nvSpPr>
        <p:spPr>
          <a:xfrm>
            <a:off x="7296912" y="1536192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65"/>
          <p:cNvSpPr/>
          <p:nvPr/>
        </p:nvSpPr>
        <p:spPr>
          <a:xfrm>
            <a:off x="7351776" y="1609344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65"/>
          <p:cNvSpPr/>
          <p:nvPr/>
        </p:nvSpPr>
        <p:spPr>
          <a:xfrm>
            <a:off x="3639312" y="1847088"/>
            <a:ext cx="9144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65"/>
          <p:cNvSpPr/>
          <p:nvPr/>
        </p:nvSpPr>
        <p:spPr>
          <a:xfrm>
            <a:off x="3694176" y="1920240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203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65"/>
          <p:cNvSpPr/>
          <p:nvPr/>
        </p:nvSpPr>
        <p:spPr>
          <a:xfrm>
            <a:off x="4553712" y="1847088"/>
            <a:ext cx="16002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5"/>
          <p:cNvSpPr/>
          <p:nvPr/>
        </p:nvSpPr>
        <p:spPr>
          <a:xfrm>
            <a:off x="4608576" y="1920240"/>
            <a:ext cx="1490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Meera Das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65"/>
          <p:cNvSpPr/>
          <p:nvPr/>
        </p:nvSpPr>
        <p:spPr>
          <a:xfrm>
            <a:off x="6153912" y="1847088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65"/>
          <p:cNvSpPr/>
          <p:nvPr/>
        </p:nvSpPr>
        <p:spPr>
          <a:xfrm>
            <a:off x="6208776" y="1920240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5"/>
          <p:cNvSpPr/>
          <p:nvPr/>
        </p:nvSpPr>
        <p:spPr>
          <a:xfrm>
            <a:off x="7296912" y="1847088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65"/>
          <p:cNvSpPr/>
          <p:nvPr/>
        </p:nvSpPr>
        <p:spPr>
          <a:xfrm>
            <a:off x="7351776" y="1920240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65"/>
          <p:cNvSpPr/>
          <p:nvPr/>
        </p:nvSpPr>
        <p:spPr>
          <a:xfrm>
            <a:off x="3639312" y="2157984"/>
            <a:ext cx="9144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65"/>
          <p:cNvSpPr/>
          <p:nvPr/>
        </p:nvSpPr>
        <p:spPr>
          <a:xfrm>
            <a:off x="3694176" y="223113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204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65"/>
          <p:cNvSpPr/>
          <p:nvPr/>
        </p:nvSpPr>
        <p:spPr>
          <a:xfrm>
            <a:off x="4553712" y="2157984"/>
            <a:ext cx="16002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65"/>
          <p:cNvSpPr/>
          <p:nvPr/>
        </p:nvSpPr>
        <p:spPr>
          <a:xfrm>
            <a:off x="4608576" y="2231136"/>
            <a:ext cx="1490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Rohan Iyer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65"/>
          <p:cNvSpPr/>
          <p:nvPr/>
        </p:nvSpPr>
        <p:spPr>
          <a:xfrm>
            <a:off x="6153912" y="2157984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65"/>
          <p:cNvSpPr/>
          <p:nvPr/>
        </p:nvSpPr>
        <p:spPr>
          <a:xfrm>
            <a:off x="6208776" y="2231136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65"/>
          <p:cNvSpPr/>
          <p:nvPr/>
        </p:nvSpPr>
        <p:spPr>
          <a:xfrm>
            <a:off x="7296912" y="2157984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65"/>
          <p:cNvSpPr/>
          <p:nvPr/>
        </p:nvSpPr>
        <p:spPr>
          <a:xfrm>
            <a:off x="7351776" y="2231136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65"/>
          <p:cNvSpPr/>
          <p:nvPr/>
        </p:nvSpPr>
        <p:spPr>
          <a:xfrm>
            <a:off x="3639312" y="2468880"/>
            <a:ext cx="9144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65"/>
          <p:cNvSpPr/>
          <p:nvPr/>
        </p:nvSpPr>
        <p:spPr>
          <a:xfrm>
            <a:off x="3694176" y="2542032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205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65"/>
          <p:cNvSpPr/>
          <p:nvPr/>
        </p:nvSpPr>
        <p:spPr>
          <a:xfrm>
            <a:off x="4553712" y="2468880"/>
            <a:ext cx="16002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65"/>
          <p:cNvSpPr/>
          <p:nvPr/>
        </p:nvSpPr>
        <p:spPr>
          <a:xfrm>
            <a:off x="4608576" y="2542032"/>
            <a:ext cx="1490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Nisha Patel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65"/>
          <p:cNvSpPr/>
          <p:nvPr/>
        </p:nvSpPr>
        <p:spPr>
          <a:xfrm>
            <a:off x="6153912" y="2468880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65"/>
          <p:cNvSpPr/>
          <p:nvPr/>
        </p:nvSpPr>
        <p:spPr>
          <a:xfrm>
            <a:off x="6208776" y="2542032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inactive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65"/>
          <p:cNvSpPr/>
          <p:nvPr/>
        </p:nvSpPr>
        <p:spPr>
          <a:xfrm>
            <a:off x="7296912" y="2468880"/>
            <a:ext cx="1143000" cy="310896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65"/>
          <p:cNvSpPr/>
          <p:nvPr/>
        </p:nvSpPr>
        <p:spPr>
          <a:xfrm>
            <a:off x="7351776" y="2542032"/>
            <a:ext cx="10332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70"/>
              <a:buFont typeface="Arial"/>
              <a:buNone/>
            </a:pPr>
            <a:r>
              <a:rPr b="0" i="0" lang="en" sz="8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65"/>
          <p:cNvSpPr/>
          <p:nvPr/>
        </p:nvSpPr>
        <p:spPr>
          <a:xfrm>
            <a:off x="960120" y="3383280"/>
            <a:ext cx="7315200" cy="475488"/>
          </a:xfrm>
          <a:prstGeom prst="roundRect">
            <a:avLst>
              <a:gd fmla="val 9615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2" name="Google Shape;1502;p65"/>
          <p:cNvSpPr/>
          <p:nvPr/>
        </p:nvSpPr>
        <p:spPr>
          <a:xfrm>
            <a:off x="1143000" y="3547872"/>
            <a:ext cx="6949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970"/>
              <a:buFont typeface="Arial"/>
              <a:buNone/>
            </a:pPr>
            <a:r>
              <a:rPr b="1" i="0" lang="en" sz="97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Relationship: members.club_id → clubs.club_id. Book Club currently has no members.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65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65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Identify the primary keys and the foreign key before writing SQL.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66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Activity: Your Tasks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66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66"/>
          <p:cNvSpPr/>
          <p:nvPr/>
        </p:nvSpPr>
        <p:spPr>
          <a:xfrm>
            <a:off x="749808" y="914400"/>
            <a:ext cx="7589520" cy="448056"/>
          </a:xfrm>
          <a:prstGeom prst="roundRect">
            <a:avLst>
              <a:gd fmla="val 1020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66"/>
          <p:cNvSpPr/>
          <p:nvPr/>
        </p:nvSpPr>
        <p:spPr>
          <a:xfrm>
            <a:off x="941832" y="1033272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4" name="Google Shape;1514;p66"/>
          <p:cNvSpPr/>
          <p:nvPr/>
        </p:nvSpPr>
        <p:spPr>
          <a:xfrm>
            <a:off x="1325880" y="1033272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Add Tara Sen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66"/>
          <p:cNvSpPr/>
          <p:nvPr/>
        </p:nvSpPr>
        <p:spPr>
          <a:xfrm>
            <a:off x="3310128" y="1033272"/>
            <a:ext cx="4709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Insert member 206, active, club_id = 1.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66"/>
          <p:cNvSpPr/>
          <p:nvPr/>
        </p:nvSpPr>
        <p:spPr>
          <a:xfrm>
            <a:off x="749808" y="1517904"/>
            <a:ext cx="7589520" cy="448056"/>
          </a:xfrm>
          <a:prstGeom prst="roundRect">
            <a:avLst>
              <a:gd fmla="val 1020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66"/>
          <p:cNvSpPr/>
          <p:nvPr/>
        </p:nvSpPr>
        <p:spPr>
          <a:xfrm>
            <a:off x="941832" y="1636776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66"/>
          <p:cNvSpPr/>
          <p:nvPr/>
        </p:nvSpPr>
        <p:spPr>
          <a:xfrm>
            <a:off x="1325880" y="163677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Query active members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66"/>
          <p:cNvSpPr/>
          <p:nvPr/>
        </p:nvSpPr>
        <p:spPr>
          <a:xfrm>
            <a:off x="3310128" y="1636776"/>
            <a:ext cx="4709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Return name + status, ordered by name ASC.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66"/>
          <p:cNvSpPr/>
          <p:nvPr/>
        </p:nvSpPr>
        <p:spPr>
          <a:xfrm>
            <a:off x="749808" y="2121408"/>
            <a:ext cx="7589520" cy="448056"/>
          </a:xfrm>
          <a:prstGeom prst="roundRect">
            <a:avLst>
              <a:gd fmla="val 1020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66"/>
          <p:cNvSpPr/>
          <p:nvPr/>
        </p:nvSpPr>
        <p:spPr>
          <a:xfrm>
            <a:off x="941832" y="2240280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66"/>
          <p:cNvSpPr/>
          <p:nvPr/>
        </p:nvSpPr>
        <p:spPr>
          <a:xfrm>
            <a:off x="1325880" y="2240280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Update safely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66"/>
          <p:cNvSpPr/>
          <p:nvPr/>
        </p:nvSpPr>
        <p:spPr>
          <a:xfrm>
            <a:off x="3310128" y="2240280"/>
            <a:ext cx="4709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Kabir Shah: inactive → active using Preview → Update → Verify.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66"/>
          <p:cNvSpPr/>
          <p:nvPr/>
        </p:nvSpPr>
        <p:spPr>
          <a:xfrm>
            <a:off x="749808" y="2724912"/>
            <a:ext cx="7589520" cy="448056"/>
          </a:xfrm>
          <a:prstGeom prst="roundRect">
            <a:avLst>
              <a:gd fmla="val 1020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66"/>
          <p:cNvSpPr/>
          <p:nvPr/>
        </p:nvSpPr>
        <p:spPr>
          <a:xfrm>
            <a:off x="941832" y="2843784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66"/>
          <p:cNvSpPr/>
          <p:nvPr/>
        </p:nvSpPr>
        <p:spPr>
          <a:xfrm>
            <a:off x="1325880" y="2843784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INNER JOIN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66"/>
          <p:cNvSpPr/>
          <p:nvPr/>
        </p:nvSpPr>
        <p:spPr>
          <a:xfrm>
            <a:off x="3310128" y="2843784"/>
            <a:ext cx="4709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Return member | club for matching members.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66"/>
          <p:cNvSpPr/>
          <p:nvPr/>
        </p:nvSpPr>
        <p:spPr>
          <a:xfrm>
            <a:off x="749808" y="3328416"/>
            <a:ext cx="7589520" cy="448056"/>
          </a:xfrm>
          <a:prstGeom prst="roundRect">
            <a:avLst>
              <a:gd fmla="val 10204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66"/>
          <p:cNvSpPr/>
          <p:nvPr/>
        </p:nvSpPr>
        <p:spPr>
          <a:xfrm>
            <a:off x="941832" y="3447288"/>
            <a:ext cx="2560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66"/>
          <p:cNvSpPr/>
          <p:nvPr/>
        </p:nvSpPr>
        <p:spPr>
          <a:xfrm>
            <a:off x="1325880" y="3447288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66"/>
          <p:cNvSpPr/>
          <p:nvPr/>
        </p:nvSpPr>
        <p:spPr>
          <a:xfrm>
            <a:off x="3310128" y="3447288"/>
            <a:ext cx="4709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39"/>
              <a:buFont typeface="Arial"/>
              <a:buNone/>
            </a:pPr>
            <a:r>
              <a:rPr b="0" i="0" lang="en" sz="94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Return all clubs, including a club with no members.</a:t>
            </a:r>
            <a:endParaRPr b="0" i="0" sz="9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66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6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Use only today’s SQL ideas. Do not change the supplied table structure.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67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Activity Completion Check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67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67"/>
          <p:cNvSpPr/>
          <p:nvPr/>
        </p:nvSpPr>
        <p:spPr>
          <a:xfrm>
            <a:off x="749808" y="877824"/>
            <a:ext cx="7589520" cy="457200"/>
          </a:xfrm>
          <a:prstGeom prst="roundRect">
            <a:avLst>
              <a:gd fmla="val 10000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67"/>
          <p:cNvSpPr/>
          <p:nvPr/>
        </p:nvSpPr>
        <p:spPr>
          <a:xfrm>
            <a:off x="969264" y="987552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67"/>
          <p:cNvSpPr/>
          <p:nvPr/>
        </p:nvSpPr>
        <p:spPr>
          <a:xfrm>
            <a:off x="1371600" y="99669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67"/>
          <p:cNvSpPr/>
          <p:nvPr/>
        </p:nvSpPr>
        <p:spPr>
          <a:xfrm>
            <a:off x="2880360" y="996696"/>
            <a:ext cx="4983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6 rows; Tara exists; Kabir is active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67"/>
          <p:cNvSpPr/>
          <p:nvPr/>
        </p:nvSpPr>
        <p:spPr>
          <a:xfrm>
            <a:off x="749808" y="1481328"/>
            <a:ext cx="7589520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67"/>
          <p:cNvSpPr/>
          <p:nvPr/>
        </p:nvSpPr>
        <p:spPr>
          <a:xfrm>
            <a:off x="969264" y="1591056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67"/>
          <p:cNvSpPr/>
          <p:nvPr/>
        </p:nvSpPr>
        <p:spPr>
          <a:xfrm>
            <a:off x="1371600" y="16002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Active query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67"/>
          <p:cNvSpPr/>
          <p:nvPr/>
        </p:nvSpPr>
        <p:spPr>
          <a:xfrm>
            <a:off x="2880360" y="1600200"/>
            <a:ext cx="4983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5 active members ordered by name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67"/>
          <p:cNvSpPr/>
          <p:nvPr/>
        </p:nvSpPr>
        <p:spPr>
          <a:xfrm>
            <a:off x="749808" y="2084832"/>
            <a:ext cx="7589520" cy="457200"/>
          </a:xfrm>
          <a:prstGeom prst="roundRect">
            <a:avLst>
              <a:gd fmla="val 10000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67"/>
          <p:cNvSpPr/>
          <p:nvPr/>
        </p:nvSpPr>
        <p:spPr>
          <a:xfrm>
            <a:off x="969264" y="2194560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67"/>
          <p:cNvSpPr/>
          <p:nvPr/>
        </p:nvSpPr>
        <p:spPr>
          <a:xfrm>
            <a:off x="1371600" y="220370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INNER JOIN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67"/>
          <p:cNvSpPr/>
          <p:nvPr/>
        </p:nvSpPr>
        <p:spPr>
          <a:xfrm>
            <a:off x="2880360" y="2203704"/>
            <a:ext cx="4983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6 matched member rows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67"/>
          <p:cNvSpPr/>
          <p:nvPr/>
        </p:nvSpPr>
        <p:spPr>
          <a:xfrm>
            <a:off x="749808" y="2688336"/>
            <a:ext cx="7589520" cy="457200"/>
          </a:xfrm>
          <a:prstGeom prst="roundRect">
            <a:avLst>
              <a:gd fmla="val 10000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7"/>
          <p:cNvSpPr/>
          <p:nvPr/>
        </p:nvSpPr>
        <p:spPr>
          <a:xfrm>
            <a:off x="969264" y="2798064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67"/>
          <p:cNvSpPr/>
          <p:nvPr/>
        </p:nvSpPr>
        <p:spPr>
          <a:xfrm>
            <a:off x="1371600" y="28072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67"/>
          <p:cNvSpPr/>
          <p:nvPr/>
        </p:nvSpPr>
        <p:spPr>
          <a:xfrm>
            <a:off x="2880360" y="2807208"/>
            <a:ext cx="4983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7 rows including Book Club | NULL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67"/>
          <p:cNvSpPr/>
          <p:nvPr/>
        </p:nvSpPr>
        <p:spPr>
          <a:xfrm>
            <a:off x="749808" y="3291840"/>
            <a:ext cx="7589520" cy="457200"/>
          </a:xfrm>
          <a:prstGeom prst="roundRect">
            <a:avLst>
              <a:gd fmla="val 10000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7"/>
          <p:cNvSpPr/>
          <p:nvPr/>
        </p:nvSpPr>
        <p:spPr>
          <a:xfrm>
            <a:off x="969264" y="3401568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67"/>
          <p:cNvSpPr/>
          <p:nvPr/>
        </p:nvSpPr>
        <p:spPr>
          <a:xfrm>
            <a:off x="1371600" y="341071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70"/>
              <a:buFont typeface="Arial"/>
              <a:buNone/>
            </a:pPr>
            <a:r>
              <a:rPr b="1" i="0" lang="en" sz="107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67"/>
          <p:cNvSpPr/>
          <p:nvPr/>
        </p:nvSpPr>
        <p:spPr>
          <a:xfrm>
            <a:off x="2880360" y="3410712"/>
            <a:ext cx="4983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foreign key + why Book Club remains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67"/>
          <p:cNvSpPr/>
          <p:nvPr/>
        </p:nvSpPr>
        <p:spPr>
          <a:xfrm>
            <a:off x="685800" y="4242816"/>
            <a:ext cx="7772400" cy="384048"/>
          </a:xfrm>
          <a:prstGeom prst="roundRect">
            <a:avLst>
              <a:gd fmla="val 14286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67"/>
          <p:cNvSpPr/>
          <p:nvPr/>
        </p:nvSpPr>
        <p:spPr>
          <a:xfrm>
            <a:off x="822960" y="4325112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Completion means verified output and explanation, not only syntactically valid SQL.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68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Cool-down 1: SQL or MySQL?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68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68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Which statement is correct?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68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68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68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SQL is a database and MySQL is one table inside it.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68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68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68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MySQL is a programming language and SQL is the database server.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68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68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68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MySQL is a relational DBMS and SQL is a language used to work with relational data.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68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68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68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MySQL and SQL are two names for exactly the same thing.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68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68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68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MySQL is the database management system. SQL is the language used to define, retrieve, and change relational data.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69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Cool-down 2: Predict the Result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69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69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Workshop fees: 1200, 800, 1500, 950, 700. Query: WHERE fee &lt;= 1200, ORDER BY fee DESC, LIMIT 2. Which result should MySQL return?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69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69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69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 1200; Watercolour Landscapes 950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69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9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69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Sourdough Basics 1500; Intro to Pottery 1200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0" name="Google Shape;1600;p69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9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69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Podcast Storytelling 700; Street Photography Walk 800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69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69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69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Intro to Pottery 1200; Street Photography Walk 800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69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69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69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WHERE keeps 1200, 950, 800, 700. ORDER BY DESC gives 1200 → 950 → 800 → 700. LIMIT 2 keeps 1200 and 950.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70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Cool-down 3: Which Join Fits the Requirement?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70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COOL-DOWN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0"/>
          <p:cNvSpPr/>
          <p:nvPr/>
        </p:nvSpPr>
        <p:spPr>
          <a:xfrm>
            <a:off x="713232" y="914400"/>
            <a:ext cx="7635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120"/>
              <a:buFont typeface="Arial"/>
              <a:buNone/>
            </a:pPr>
            <a:r>
              <a:rPr b="1" i="0" lang="en" sz="11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Some departments have no employees. Requirement: show every department, including departments with no employee. The query begins FROM departments AS d. Which join should follow?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70"/>
          <p:cNvSpPr/>
          <p:nvPr/>
        </p:nvSpPr>
        <p:spPr>
          <a:xfrm>
            <a:off x="713232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70"/>
          <p:cNvSpPr/>
          <p:nvPr/>
        </p:nvSpPr>
        <p:spPr>
          <a:xfrm>
            <a:off x="822960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70"/>
          <p:cNvSpPr/>
          <p:nvPr/>
        </p:nvSpPr>
        <p:spPr>
          <a:xfrm>
            <a:off x="1216152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INNER JOIN employees AS 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70"/>
          <p:cNvSpPr/>
          <p:nvPr/>
        </p:nvSpPr>
        <p:spPr>
          <a:xfrm>
            <a:off x="4709160" y="1783080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70"/>
          <p:cNvSpPr/>
          <p:nvPr/>
        </p:nvSpPr>
        <p:spPr>
          <a:xfrm>
            <a:off x="4818888" y="188366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70"/>
          <p:cNvSpPr/>
          <p:nvPr/>
        </p:nvSpPr>
        <p:spPr>
          <a:xfrm>
            <a:off x="5212080" y="1865376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RIGHT JOIN employees AS 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3" name="Google Shape;1623;p70"/>
          <p:cNvSpPr/>
          <p:nvPr/>
        </p:nvSpPr>
        <p:spPr>
          <a:xfrm>
            <a:off x="713232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70"/>
          <p:cNvSpPr/>
          <p:nvPr/>
        </p:nvSpPr>
        <p:spPr>
          <a:xfrm>
            <a:off x="822960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5" name="Google Shape;1625;p70"/>
          <p:cNvSpPr/>
          <p:nvPr/>
        </p:nvSpPr>
        <p:spPr>
          <a:xfrm>
            <a:off x="1216152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A join cannot include departments with no employees.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70"/>
          <p:cNvSpPr/>
          <p:nvPr/>
        </p:nvSpPr>
        <p:spPr>
          <a:xfrm>
            <a:off x="4709160" y="2441448"/>
            <a:ext cx="3703320" cy="51206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70"/>
          <p:cNvSpPr/>
          <p:nvPr/>
        </p:nvSpPr>
        <p:spPr>
          <a:xfrm>
            <a:off x="4818888" y="2542032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020"/>
              <a:buFont typeface="Arial"/>
              <a:buNone/>
            </a:pPr>
            <a:r>
              <a:rPr b="1" i="0" lang="en" sz="102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8" name="Google Shape;1628;p70"/>
          <p:cNvSpPr/>
          <p:nvPr/>
        </p:nvSpPr>
        <p:spPr>
          <a:xfrm>
            <a:off x="5212080" y="2523744"/>
            <a:ext cx="3081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LEFT JOIN employees AS 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9" name="Google Shape;1629;p70"/>
          <p:cNvSpPr/>
          <p:nvPr/>
        </p:nvSpPr>
        <p:spPr>
          <a:xfrm>
            <a:off x="685800" y="3877056"/>
            <a:ext cx="7772400" cy="502920"/>
          </a:xfrm>
          <a:prstGeom prst="roundRect">
            <a:avLst>
              <a:gd fmla="val 9091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70"/>
          <p:cNvSpPr/>
          <p:nvPr/>
        </p:nvSpPr>
        <p:spPr>
          <a:xfrm>
            <a:off x="868680" y="3959352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Answer: 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70"/>
          <p:cNvSpPr/>
          <p:nvPr/>
        </p:nvSpPr>
        <p:spPr>
          <a:xfrm>
            <a:off x="2395728" y="3959352"/>
            <a:ext cx="5806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20"/>
              <a:buFont typeface="Arial"/>
              <a:buNone/>
            </a:pPr>
            <a:r>
              <a:rPr b="0" i="0" lang="en" sz="92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departments is on the left. LEFT JOIN preserves every department row even when no employee row matches.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71"/>
          <p:cNvSpPr/>
          <p:nvPr/>
        </p:nvSpPr>
        <p:spPr>
          <a:xfrm>
            <a:off x="566928" y="201168"/>
            <a:ext cx="6629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2150"/>
              <a:buFont typeface="Arial"/>
              <a:buNone/>
            </a:pPr>
            <a:r>
              <a:rPr b="1" i="0" lang="en" sz="215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Homework: Community Events Database</a:t>
            </a:r>
            <a:endParaRPr b="0" i="0" sz="2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71"/>
          <p:cNvSpPr/>
          <p:nvPr/>
        </p:nvSpPr>
        <p:spPr>
          <a:xfrm>
            <a:off x="566928" y="557784"/>
            <a:ext cx="2926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880"/>
              <a:buFont typeface="Arial"/>
              <a:buNone/>
            </a:pPr>
            <a:r>
              <a:rPr b="1" i="0" lang="en" sz="88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HOMEWORK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71"/>
          <p:cNvSpPr/>
          <p:nvPr/>
        </p:nvSpPr>
        <p:spPr>
          <a:xfrm>
            <a:off x="713232" y="914400"/>
            <a:ext cx="3767328" cy="1920240"/>
          </a:xfrm>
          <a:prstGeom prst="roundRect">
            <a:avLst>
              <a:gd fmla="val 2381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71"/>
          <p:cNvSpPr/>
          <p:nvPr/>
        </p:nvSpPr>
        <p:spPr>
          <a:xfrm>
            <a:off x="960120" y="109728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54A6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2854A6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71"/>
          <p:cNvSpPr/>
          <p:nvPr/>
        </p:nvSpPr>
        <p:spPr>
          <a:xfrm>
            <a:off x="960120" y="1389888"/>
            <a:ext cx="3218688" cy="1234440"/>
          </a:xfrm>
          <a:prstGeom prst="roundRect">
            <a:avLst>
              <a:gd fmla="val 3704" name="adj"/>
            </a:avLst>
          </a:prstGeom>
          <a:solidFill>
            <a:srgbClr val="F3F7FD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71"/>
          <p:cNvSpPr/>
          <p:nvPr/>
        </p:nvSpPr>
        <p:spPr>
          <a:xfrm>
            <a:off x="1097280" y="1508760"/>
            <a:ext cx="2944368" cy="99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organizers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organizer_id INT PRIMARY KEY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name VARCHAR(100)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city VARCHAR(60)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"/>
              <a:buFont typeface="Arial"/>
              <a:buNone/>
            </a:pPr>
            <a:r>
              <a:t/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events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event_id INT PRIMARY KEY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title VARCHAR(120)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category VARCHAR(50)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capacity INT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fee DECIMAL(8,2)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680"/>
              <a:buFont typeface="Courier New"/>
              <a:buNone/>
            </a:pPr>
            <a:r>
              <a:rPr b="0" i="0" lang="en" sz="680" u="none" cap="none" strike="noStrike">
                <a:solidFill>
                  <a:srgbClr val="182132"/>
                </a:solidFill>
                <a:latin typeface="Courier New"/>
                <a:ea typeface="Courier New"/>
                <a:cs typeface="Courier New"/>
                <a:sym typeface="Courier New"/>
              </a:rPr>
              <a:t>organizer_id INT NOT NULL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3" name="Google Shape;1643;p71"/>
          <p:cNvSpPr/>
          <p:nvPr/>
        </p:nvSpPr>
        <p:spPr>
          <a:xfrm>
            <a:off x="4736592" y="914400"/>
            <a:ext cx="3703320" cy="1920240"/>
          </a:xfrm>
          <a:prstGeom prst="roundRect">
            <a:avLst>
              <a:gd fmla="val 2381" name="adj"/>
            </a:avLst>
          </a:prstGeom>
          <a:solidFill>
            <a:srgbClr val="DDF7E7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71"/>
          <p:cNvSpPr/>
          <p:nvPr/>
        </p:nvSpPr>
        <p:spPr>
          <a:xfrm>
            <a:off x="4983480" y="10972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653A"/>
              </a:buClr>
              <a:buSzPts val="1150"/>
              <a:buFont typeface="Arial"/>
              <a:buNone/>
            </a:pPr>
            <a:r>
              <a:rPr b="1" i="0" lang="en" sz="1150" u="none" cap="none" strike="noStrike">
                <a:solidFill>
                  <a:srgbClr val="17653A"/>
                </a:solidFill>
                <a:latin typeface="Arial"/>
                <a:ea typeface="Arial"/>
                <a:cs typeface="Arial"/>
                <a:sym typeface="Arial"/>
              </a:rPr>
              <a:t>Build and query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71"/>
          <p:cNvSpPr/>
          <p:nvPr/>
        </p:nvSpPr>
        <p:spPr>
          <a:xfrm>
            <a:off x="4983480" y="1417320"/>
            <a:ext cx="30632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1. Create database and tables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2. Insert supplied records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3. SELECT / WHERE / ORDER BY / LIMIT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4. Safe UPDATE and DELETE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910"/>
              <a:buFont typeface="Arial"/>
              <a:buNone/>
            </a:pPr>
            <a:r>
              <a:rPr b="0" i="0" lang="en" sz="91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5. INNER JOIN and LEFT JOIN</a:t>
            </a:r>
            <a:endParaRPr b="0" i="0" sz="9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71"/>
          <p:cNvSpPr/>
          <p:nvPr/>
        </p:nvSpPr>
        <p:spPr>
          <a:xfrm>
            <a:off x="713232" y="3108960"/>
            <a:ext cx="3767328" cy="749808"/>
          </a:xfrm>
          <a:prstGeom prst="roundRect">
            <a:avLst>
              <a:gd fmla="val 6098" name="adj"/>
            </a:avLst>
          </a:prstGeom>
          <a:solidFill>
            <a:srgbClr val="FFF3C4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71"/>
          <p:cNvSpPr/>
          <p:nvPr/>
        </p:nvSpPr>
        <p:spPr>
          <a:xfrm>
            <a:off x="960120" y="331012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68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946800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71"/>
          <p:cNvSpPr/>
          <p:nvPr/>
        </p:nvSpPr>
        <p:spPr>
          <a:xfrm>
            <a:off x="1874520" y="329184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final structures, query results, updated event, deleted test event absent, both JOIN results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71"/>
          <p:cNvSpPr/>
          <p:nvPr/>
        </p:nvSpPr>
        <p:spPr>
          <a:xfrm>
            <a:off x="4736592" y="3108960"/>
            <a:ext cx="3703320" cy="749808"/>
          </a:xfrm>
          <a:prstGeom prst="roundRect">
            <a:avLst>
              <a:gd fmla="val 6098" name="adj"/>
            </a:avLst>
          </a:prstGeom>
          <a:solidFill>
            <a:srgbClr val="FDE4E2"/>
          </a:solidFill>
          <a:ln cap="flat" cmpd="sng" w="12700">
            <a:solidFill>
              <a:srgbClr val="C9D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71"/>
          <p:cNvSpPr/>
          <p:nvPr/>
        </p:nvSpPr>
        <p:spPr>
          <a:xfrm>
            <a:off x="4983480" y="3310128"/>
            <a:ext cx="685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2929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9D2929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71"/>
          <p:cNvSpPr/>
          <p:nvPr/>
        </p:nvSpPr>
        <p:spPr>
          <a:xfrm>
            <a:off x="5806440" y="3291840"/>
            <a:ext cx="2240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889"/>
              <a:buFont typeface="Arial"/>
              <a:buNone/>
            </a:pPr>
            <a:r>
              <a:rPr b="0" i="0" lang="en" sz="89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Lecture 32 SQL only. No MongoDB, Mongoose, Express integration, or extra DB features.</a:t>
            </a:r>
            <a:endParaRPr b="0" i="0" sz="8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71"/>
          <p:cNvSpPr/>
          <p:nvPr/>
        </p:nvSpPr>
        <p:spPr>
          <a:xfrm>
            <a:off x="685800" y="4206240"/>
            <a:ext cx="7772400" cy="347472"/>
          </a:xfrm>
          <a:prstGeom prst="roundRect">
            <a:avLst>
              <a:gd fmla="val 15789" name="adj"/>
            </a:avLst>
          </a:prstGeom>
          <a:solidFill>
            <a:srgbClr val="DDF7E7"/>
          </a:solidFill>
          <a:ln cap="flat" cmpd="sng" w="12700">
            <a:solidFill>
              <a:srgbClr val="DDF7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71"/>
          <p:cNvSpPr/>
          <p:nvPr/>
        </p:nvSpPr>
        <p:spPr>
          <a:xfrm>
            <a:off x="822960" y="4288536"/>
            <a:ext cx="74980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132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82132"/>
                </a:solidFill>
                <a:latin typeface="Arial"/>
                <a:ea typeface="Arial"/>
                <a:cs typeface="Arial"/>
                <a:sym typeface="Arial"/>
              </a:rPr>
              <a:t>Next: Lecture 33 introduces MongoDB and non-relational databases.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